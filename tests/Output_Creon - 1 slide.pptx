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369" r:id="rId5"/>
  </p:sldMasterIdLst>
  <p:notesMasterIdLst>
    <p:notesMasterId r:id="rId7"/>
  </p:notesMasterIdLst>
  <p:handoutMasterIdLst>
    <p:handoutMasterId r:id="rId8"/>
  </p:handoutMasterIdLst>
  <p:sldIdLst>
    <p:sldId id="11342" r:id="rId6"/>
  </p:sldIdLst>
  <p:sldSz cx="9144000" cy="6858000" type="screen4x3"/>
  <p:notesSz cx="6797675" cy="9925050"/>
  <p:custDataLst>
    <p:tags r:id="rId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A444E90-F86D-4FE0-9EC0-5FFCEBECA745}">
          <p14:sldIdLst>
            <p14:sldId id="11342"/>
          </p14:sldIdLst>
        </p14:section>
        <p14:section name="To be deleted" id="{95F93914-7D6B-4250-8CAA-8B7E8200C49E}">
          <p14:sldIdLst/>
        </p14:section>
      </p14:sectionLst>
    </p:ext>
    <p:ext uri="{EFAFB233-063F-42B5-8137-9DF3F51BA10A}">
      <p15:sldGuideLst xmlns:p15="http://schemas.microsoft.com/office/powerpoint/2012/main">
        <p15:guide id="2" pos="3107" userDrawn="1">
          <p15:clr>
            <a:srgbClr val="A4A3A4"/>
          </p15:clr>
        </p15:guide>
        <p15:guide id="3" pos="5216" userDrawn="1">
          <p15:clr>
            <a:srgbClr val="A4A3A4"/>
          </p15:clr>
        </p15:guide>
        <p15:guide id="5" orient="horz" pos="890" userDrawn="1">
          <p15:clr>
            <a:srgbClr val="A4A3A4"/>
          </p15:clr>
        </p15:guide>
        <p15:guide id="6" pos="725" userDrawn="1">
          <p15:clr>
            <a:srgbClr val="A4A3A4"/>
          </p15:clr>
        </p15:guide>
        <p15:guide id="7" pos="5443" userDrawn="1">
          <p15:clr>
            <a:srgbClr val="A4A3A4"/>
          </p15:clr>
        </p15:guide>
        <p15:guide id="9" pos="2925" userDrawn="1">
          <p15:clr>
            <a:srgbClr val="A4A3A4"/>
          </p15:clr>
        </p15:guide>
        <p15:guide id="10" orient="horz" pos="3612" userDrawn="1">
          <p15:clr>
            <a:srgbClr val="A4A3A4"/>
          </p15:clr>
        </p15:guide>
        <p15:guide id="11" pos="521" userDrawn="1">
          <p15:clr>
            <a:srgbClr val="A4A3A4"/>
          </p15:clr>
        </p15:guide>
        <p15:guide id="12" orient="horz" pos="624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49" roundtripDataSignature="AMtx7miUSr2EcdyuAHAA6quBG3s/FyW9B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EED500-8C28-20AB-CB4C-099CE09EFD8F}" name="Siva Murugan" initials="" userId="S::siva.murugan@zoomrx.com::d1a15fa0-6878-461a-bcb3-775d4295f607" providerId="AD"/>
  <p188:author id="{597CE110-6291-503A-8E56-3E41FBAA7757}" name="Vishnu Alagappan Sevugan" initials="VAS" userId="S::vishnu.alagappan@zoomrx.com::1348aaea-4aa0-432c-a274-ad06a43d0ee8" providerId="AD"/>
  <p188:author id="{3E2A9D1E-802C-BDBD-BE93-6066CE762F4A}" name="Devkaran Singh" initials="DS" userId="S::devkaran.singh@zoomrx.com::282d2239-ea10-4c89-b282-87c832fbfed3" providerId="AD"/>
  <p188:author id="{21D7C120-67CA-F051-14AD-B0ADBFE63E70}" name="Sohit Babel" initials="SB" userId="S::sohit.babel@zoomrx.com::f28724e9-6fe6-4168-956f-3e21067f4317" providerId="AD"/>
  <p188:author id="{71EBE824-9CA2-54F2-BBAD-FAA283AE12EB}" name="Jayadhar Gundu" initials="JG" userId="S::jayadhar.gundu@zoomrx.com::beb3b724-a86c-4628-84d8-875e71a4e5f8" providerId="AD"/>
  <p188:author id="{49012B25-D5F7-8484-F7D8-232952CD86F8}" name="Shridha C Halekote" initials="SH" userId="S::shridha.halekote@zoomrx.com::0aae662a-b9df-4497-8c1f-43195475cf3c" providerId="AD"/>
  <p188:author id="{53C03D26-3B95-52DF-3DDB-DDA307E890EC}" name="Harshit Tiwari" initials="HT" userId="S::harshit.tiwari@zoomrx.com::f7ecab87-e7d3-4b6d-85d6-f9450548dcdf" providerId="AD"/>
  <p188:author id="{61D83E32-5919-BD0E-D481-80B971B5AC3F}" name="vishnu.alagappan" initials="v" userId="S::vishnu.alagappan@zoomrx.com::a81aacbd-5db2-4b90-b583-fce4a0501689" providerId="AD"/>
  <p188:author id="{E5B6AB40-B68D-E223-E753-EA9B0B8F11EB}" name="Sohit Babel" initials="SB" userId="S::sohit.babel@zoomrxinc.onmicrosoft.com::f2e26ed4-0734-4732-986c-c4815b2adb3a" providerId="AD"/>
  <p188:author id="{BBF12247-FCE2-975B-50B5-A22144896562}" name="Vaibhav Dilip Patil" initials="" userId="S::vaibhav.patil@zoomrx.com::138f7a19-1129-4ab9-b03e-149ee0244e02" providerId="AD"/>
  <p188:author id="{72630E66-EF22-7EEE-D3B5-4950505D3A16}" name="jayadhar.gundu" initials="j" userId="jayadhar.gundu" providerId="None"/>
  <p188:author id="{5C604F6A-9EBA-890A-B0C4-00FCFC32F776}" name="Joyce George Joseph" initials="JJ" userId="S::joyce.joseph@zoomrx.com::1ffb9a91-bcf3-4e5b-9ee0-1313ddd12a6b" providerId="AD"/>
  <p188:author id="{2BDE3072-F247-E345-9853-93F8407FF3C8}" name="Austin Andrews" initials="AA" userId="S::austin.andrews@zoomrx.com::f1ef4b08-5d78-4222-a978-d97ffea0c13e" providerId="AD"/>
  <p188:author id="{1C745377-F123-FE60-E31B-EECAB99FF5B4}" name="Anna Chubaeva" initials="AC" userId="S::anna.chubaeva@zoomrx.com::90c0ab37-0cd9-42b3-a315-1fe0362faffe" providerId="AD"/>
  <p188:author id="{D53D5E77-637E-50F9-3EF6-76A9A7E5D8FB}" name="Austin  Andrews" initials="AA" userId="S::Austin.Andrews@zoomrx.com::b9b5dc88-645c-44eb-8483-e63f7e219329" providerId="AD"/>
  <p188:author id="{CB68527D-D6C2-3B4A-B59D-66B471EF8007}" name="Jayadhar Gundu" initials="JG" userId="S::jayadhar.gundu@zoomrxinc.onmicrosoft.com::beb3b724-a86c-4628-84d8-875e71a4e5f8" providerId="AD"/>
  <p188:author id="{59FE0588-52A7-75EA-AC2F-E82620FCA170}" name="Sohit Babel" initials="SB" userId="S::sohit.babel@zoomrx.com::f2e26ed4-0734-4732-986c-c4815b2adb3a" providerId="AD"/>
  <p188:author id="{529E958D-4257-2EEB-1BB8-49CF5555BDEB}" name="Jay Baxi" initials="JB" userId="S::jay.baxi@zoomrx.com::d3e3c8db-d775-48bb-8495-d55a519594f2" providerId="AD"/>
  <p188:author id="{9F994A9C-3561-EF2B-56A0-96655FE0CCFF}" name="Anna Chubaeva" initials="AC" userId="S::anna.chubaeva@zoomrx.com::50c66f10-13c2-4047-a289-4dcb7921c472" providerId="AD"/>
  <p188:author id="{546F75A6-2162-F4CE-F8BF-5AA7F0ECA9EF}" name="Ted Wassell" initials="TW" userId="S::ted.wassell@zoomrx.com::66543ca9-0eec-4dcb-91b5-69fcb93cae8f" providerId="AD"/>
  <p188:author id="{520228AA-0094-43BF-A232-79615F9FCFF2}" name="Austin  Andrews" initials="AA" userId="Austin  Andrews" providerId="None"/>
  <p188:author id="{938E5AAB-75C2-9F23-6517-8645F0258456}" name="jayadhar.gundu" initials="j" userId="S::jayadhar.gundu@zoomrx.com::f4758879-80fa-4c12-ab2b-4d3e712e3d3c" providerId="AD"/>
  <p188:author id="{71C81FB1-E3DF-09A7-B145-C65FC0113802}" name="Billy Sullivan" initials="BS" userId="S::Billy.Sullivan@zoomrx.com::3b1b62b9-0221-415a-9ead-3de2fa08d3a9" providerId="AD"/>
  <p188:author id="{DDEB3EB1-7641-3FC4-3E60-85BA7193ABEE}" name="Lynn Teng" initials="LT" userId="S::lynn.teng@zoomrx.com::7d500f7c-1146-4ce4-84b2-d4f00a965dfe" providerId="AD"/>
  <p188:author id="{6E63D2CF-0D59-EF66-61E4-64C9543878C4}" name="Sara Farina" initials="SF" userId="S::sara.farina@zoomrx.com::d7089d5c-cd98-4933-b2ce-7f1d22f33275" providerId="AD"/>
  <p188:author id="{63FAE3D6-985B-3439-295A-381D9F1E28EC}" name="Sneh Kumar Gupta" initials="SK" userId="S::sneh.gupta@zoomrx.com::911d5497-0243-453c-a8f3-dced702ce248" providerId="AD"/>
  <p188:author id="{E89F16EB-697A-DF8F-FDAD-72813A200D2D}" name="vishnu.alagappan" initials="v" userId="vishnu.alagappan" providerId="None"/>
  <p188:author id="{0432F6F8-E428-DABD-8F5F-06B675FCCFE4}" name="Billy Sullivan" initials="BS" userId="S::billy.sullivan@zoomrx.com::3b1b62b9-0221-415a-9ead-3de2fa08d3a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deboye Oye" initials="AO" lastIdx="39" clrIdx="6">
    <p:extLst>
      <p:ext uri="{19B8F6BF-5375-455C-9EA6-DF929625EA0E}">
        <p15:presenceInfo xmlns:p15="http://schemas.microsoft.com/office/powerpoint/2012/main" userId="S::adeboye.oye@zoomrx.com::c7b639b8-be0c-4266-a854-a1e26b0f5d92" providerId="AD"/>
      </p:ext>
    </p:extLst>
  </p:cmAuthor>
  <p:cmAuthor id="1" name="Hari Vignesh" initials="HV" lastIdx="25" clrIdx="0">
    <p:extLst>
      <p:ext uri="{19B8F6BF-5375-455C-9EA6-DF929625EA0E}">
        <p15:presenceInfo xmlns:p15="http://schemas.microsoft.com/office/powerpoint/2012/main" userId="Hari Vignesh" providerId="None"/>
      </p:ext>
    </p:extLst>
  </p:cmAuthor>
  <p:cmAuthor id="8" name="David Santucci" initials="DS" lastIdx="15" clrIdx="7">
    <p:extLst>
      <p:ext uri="{19B8F6BF-5375-455C-9EA6-DF929625EA0E}">
        <p15:presenceInfo xmlns:p15="http://schemas.microsoft.com/office/powerpoint/2012/main" userId="S::david.santucci@zoomrx.com::696d8359-941f-460e-b70d-df44b52010b7" providerId="AD"/>
      </p:ext>
    </p:extLst>
  </p:cmAuthor>
  <p:cmAuthor id="2" name="Lavanya R" initials="LR" lastIdx="1" clrIdx="1">
    <p:extLst>
      <p:ext uri="{19B8F6BF-5375-455C-9EA6-DF929625EA0E}">
        <p15:presenceInfo xmlns:p15="http://schemas.microsoft.com/office/powerpoint/2012/main" userId="Lavanya R" providerId="None"/>
      </p:ext>
    </p:extLst>
  </p:cmAuthor>
  <p:cmAuthor id="9" name="Menos, Denice" initials="MD" lastIdx="14" clrIdx="8">
    <p:extLst>
      <p:ext uri="{19B8F6BF-5375-455C-9EA6-DF929625EA0E}">
        <p15:presenceInfo xmlns:p15="http://schemas.microsoft.com/office/powerpoint/2012/main" userId="S::denice.menos@abbvie.com::c1c14c23-cf61-4da5-8846-c7496448c06c" providerId="AD"/>
      </p:ext>
    </p:extLst>
  </p:cmAuthor>
  <p:cmAuthor id="3" name="Wicher, Joanna A" initials="WJA" lastIdx="59" clrIdx="2">
    <p:extLst>
      <p:ext uri="{19B8F6BF-5375-455C-9EA6-DF929625EA0E}">
        <p15:presenceInfo xmlns:p15="http://schemas.microsoft.com/office/powerpoint/2012/main" userId="S::joanna.wicher@abbvie.com::c139aef2-9a8f-4fb0-bfe6-8c048f401d2a" providerId="AD"/>
      </p:ext>
    </p:extLst>
  </p:cmAuthor>
  <p:cmAuthor id="10" name="Yashaswi Jajodia" initials="YJ" lastIdx="1" clrIdx="9">
    <p:extLst>
      <p:ext uri="{19B8F6BF-5375-455C-9EA6-DF929625EA0E}">
        <p15:presenceInfo xmlns:p15="http://schemas.microsoft.com/office/powerpoint/2012/main" userId="S::yashaswi.jajodia@zoomrx.com::06070ef2-ba4c-42d0-aa7c-312004c439a1" providerId="AD"/>
      </p:ext>
    </p:extLst>
  </p:cmAuthor>
  <p:cmAuthor id="4" name="Lavanya R" initials="LR [2]" lastIdx="19" clrIdx="3">
    <p:extLst>
      <p:ext uri="{19B8F6BF-5375-455C-9EA6-DF929625EA0E}">
        <p15:presenceInfo xmlns:p15="http://schemas.microsoft.com/office/powerpoint/2012/main" userId="S::lavanya.raghu@zoomrx.com::889fd43f-ab9c-4293-b104-63e3c82b2f02" providerId="AD"/>
      </p:ext>
    </p:extLst>
  </p:cmAuthor>
  <p:cmAuthor id="5" name="Vishnu Aravind" initials="VA" lastIdx="11" clrIdx="4">
    <p:extLst>
      <p:ext uri="{19B8F6BF-5375-455C-9EA6-DF929625EA0E}">
        <p15:presenceInfo xmlns:p15="http://schemas.microsoft.com/office/powerpoint/2012/main" userId="S::vishnu.aravind@zoomrx.com::75cb931e-f995-4194-aec9-1cd9b8fd72e1" providerId="AD"/>
      </p:ext>
    </p:extLst>
  </p:cmAuthor>
  <p:cmAuthor id="6" name="Anna Chubaeva" initials="AC" lastIdx="27" clrIdx="5">
    <p:extLst>
      <p:ext uri="{19B8F6BF-5375-455C-9EA6-DF929625EA0E}">
        <p15:presenceInfo xmlns:p15="http://schemas.microsoft.com/office/powerpoint/2012/main" userId="S::anna.chubaeva@zoomrx.com::50c66f10-13c2-4047-a289-4dcb7921c4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FA5"/>
    <a:srgbClr val="D7FFBB"/>
    <a:srgbClr val="F2F2F2"/>
    <a:srgbClr val="FFFFFF"/>
    <a:srgbClr val="D3B0FF"/>
    <a:srgbClr val="203661"/>
    <a:srgbClr val="66C7FF"/>
    <a:srgbClr val="000000"/>
    <a:srgbClr val="9778D4"/>
    <a:srgbClr val="D7E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DD49D-D35C-462B-9EBF-C882FC660064}" v="558" dt="2026-04-21T13:25:39.274"/>
    <p1510:client id="{AF125028-D277-4518-AA97-318C612C542C}" v="10939" dt="2026-04-21T14:02:07.570"/>
  </p1510:revLst>
</p1510:revInfo>
</file>

<file path=ppt/tableStyles.xml><?xml version="1.0" encoding="utf-8"?>
<a:tblStyleLst xmlns:a="http://schemas.openxmlformats.org/drawingml/2006/main" def="{96BACEE3-1A1D-4107-9369-2142449FF59F}">
  <a:tblStyle styleId="{96BACEE3-1A1D-4107-9369-2142449FF5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614C7A-ED51-434A-BE06-0DEEFDE48CE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F0F5"/>
          </a:solidFill>
        </a:fill>
      </a:tcStyle>
    </a:wholeTbl>
    <a:band1H>
      <a:tcTxStyle/>
      <a:tcStyle>
        <a:tcBdr/>
        <a:fill>
          <a:solidFill>
            <a:srgbClr val="D6DF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6DF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pos="3107"/>
        <p:guide pos="5216"/>
        <p:guide orient="horz" pos="890"/>
        <p:guide pos="725"/>
        <p:guide pos="5443"/>
        <p:guide pos="2925"/>
        <p:guide orient="horz" pos="3612"/>
        <p:guide pos="521"/>
        <p:guide orient="horz" pos="6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49" Type="http://customschemas.google.com/relationships/presentationmetadata" Target="metadata"/><Relationship Id="rId150" Type="http://schemas.openxmlformats.org/officeDocument/2006/relationships/commentAuthors" Target="commentAuthors.xml"/><Relationship Id="rId151" Type="http://schemas.openxmlformats.org/officeDocument/2006/relationships/presProps" Target="presProps.xml"/><Relationship Id="rId152" Type="http://schemas.openxmlformats.org/officeDocument/2006/relationships/viewProps" Target="viewProps.xml"/><Relationship Id="rId153" Type="http://schemas.openxmlformats.org/officeDocument/2006/relationships/theme" Target="theme/theme1.xml"/><Relationship Id="rId154" Type="http://schemas.openxmlformats.org/officeDocument/2006/relationships/tableStyles" Target="tableStyles.xml"/><Relationship Id="rId155" Type="http://schemas.microsoft.com/office/2015/10/relationships/revisionInfo" Target="revisionInfo.xml"/><Relationship Id="rId156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884388310158598E-2"/>
          <c:y val="3.5597880027754623E-2"/>
          <c:w val="0.8204488515769125"/>
          <c:h val="0.94144664508384335"/>
        </c:manualLayout>
      </c:layout>
      <c:barChart>
        <c:barDir val="col"/>
        <c:grouping val="percentStacked"/>
        <c:varyColors val="0"/>
        <c:ser>
          <c:idx val="5"/>
          <c:order val="0"/>
          <c:tx>
            <c:strRef>
              <c:f>Sheet1!$B$1</c:f>
              <c:strCache>
                <c:ptCount val="1"/>
                <c:pt idx="0">
                  <c:v>Major academic center group practice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0.02</c:v>
                </c:pt>
                <c:pt idx="1">
                  <c:v>0.03</c:v>
                </c:pt>
                <c:pt idx="2">
                  <c:v>0.02</c:v>
                </c:pt>
                <c:pt idx="3">
                  <c:v>0.03</c:v>
                </c:pt>
                <c:pt idx="4">
                  <c:v>0.03</c:v>
                </c:pt>
                <c:pt idx="5">
                  <c:v>0.04</c:v>
                </c:pt>
                <c:pt idx="6">
                  <c:v>0.02</c:v>
                </c:pt>
                <c:pt idx="7">
                  <c:v>0.03</c:v>
                </c:pt>
                <c:pt idx="8">
                  <c:v>0.03</c:v>
                </c:pt>
                <c:pt idx="9">
                  <c:v>0.02</c:v>
                </c:pt>
                <c:pt idx="10">
                  <c:v>0.03</c:v>
                </c:pt>
                <c:pt idx="11">
                  <c:v>0.02</c:v>
                </c:pt>
                <c:pt idx="12">
                  <c:v>0.02</c:v>
                </c:pt>
                <c:pt idx="13">
                  <c:v>0.03</c:v>
                </c:pt>
                <c:pt idx="14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E5-4853-B5CF-853CF2373FAC}"/>
            </c:ext>
          </c:extLst>
        </c:ser>
        <c:ser>
          <c:idx val="3"/>
          <c:order val="1"/>
          <c:tx>
            <c:strRef>
              <c:f>Sheet1!$C$1</c:f>
              <c:strCache>
                <c:ptCount val="1"/>
                <c:pt idx="0">
                  <c:v>University teaching hospital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Sheet1!$C$2:$C$16</c:f>
              <c:numCache>
                <c:formatCode>0%</c:formatCode>
                <c:ptCount val="15"/>
                <c:pt idx="0">
                  <c:v>0.01</c:v>
                </c:pt>
                <c:pt idx="1">
                  <c:v>0.04</c:v>
                </c:pt>
                <c:pt idx="2">
                  <c:v>0.01</c:v>
                </c:pt>
                <c:pt idx="3">
                  <c:v>0.02</c:v>
                </c:pt>
                <c:pt idx="4">
                  <c:v>0.01</c:v>
                </c:pt>
                <c:pt idx="5">
                  <c:v>0.01</c:v>
                </c:pt>
                <c:pt idx="6">
                  <c:v>0.02</c:v>
                </c:pt>
                <c:pt idx="7">
                  <c:v>0.03</c:v>
                </c:pt>
                <c:pt idx="8">
                  <c:v>0.01</c:v>
                </c:pt>
                <c:pt idx="9">
                  <c:v>0.01</c:v>
                </c:pt>
                <c:pt idx="10">
                  <c:v>0.01</c:v>
                </c:pt>
                <c:pt idx="11">
                  <c:v>0.01</c:v>
                </c:pt>
                <c:pt idx="12">
                  <c:v>0.03</c:v>
                </c:pt>
                <c:pt idx="13">
                  <c:v>0.03</c:v>
                </c:pt>
                <c:pt idx="1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0E5-4853-B5CF-853CF2373FAC}"/>
            </c:ext>
          </c:extLst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Major academic center hospital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Sheet1!$D$2:$D$16</c:f>
              <c:numCache>
                <c:formatCode>0%</c:formatCode>
                <c:ptCount val="15"/>
                <c:pt idx="0">
                  <c:v>0.03</c:v>
                </c:pt>
                <c:pt idx="1">
                  <c:v>0.03</c:v>
                </c:pt>
                <c:pt idx="2">
                  <c:v>0.04</c:v>
                </c:pt>
                <c:pt idx="3">
                  <c:v>0.01</c:v>
                </c:pt>
                <c:pt idx="4">
                  <c:v>0.04</c:v>
                </c:pt>
                <c:pt idx="5">
                  <c:v>0.01</c:v>
                </c:pt>
                <c:pt idx="6">
                  <c:v>0.05</c:v>
                </c:pt>
                <c:pt idx="7">
                  <c:v>0.03</c:v>
                </c:pt>
                <c:pt idx="8">
                  <c:v>0.04</c:v>
                </c:pt>
                <c:pt idx="9">
                  <c:v>0.02</c:v>
                </c:pt>
                <c:pt idx="10">
                  <c:v>0.03</c:v>
                </c:pt>
                <c:pt idx="11">
                  <c:v>0.03</c:v>
                </c:pt>
                <c:pt idx="12">
                  <c:v>0.04</c:v>
                </c:pt>
                <c:pt idx="13">
                  <c:v>0.04</c:v>
                </c:pt>
                <c:pt idx="14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B2-435C-ADBD-82D98238F1ED}"/>
            </c:ext>
          </c:extLst>
        </c:ser>
        <c:ser>
          <c:idx val="1"/>
          <c:order val="3"/>
          <c:tx>
            <c:strRef>
              <c:f>Sheet1!$E$1</c:f>
              <c:strCache>
                <c:ptCount val="1"/>
                <c:pt idx="0">
                  <c:v>Community teaching hospital</c:v>
                </c:pt>
              </c:strCache>
            </c:strRef>
          </c:tx>
          <c:spPr>
            <a:solidFill>
              <a:srgbClr val="8FAAD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Sheet1!$E$2:$E$16</c:f>
              <c:numCache>
                <c:formatCode>0%</c:formatCode>
                <c:ptCount val="15"/>
                <c:pt idx="0">
                  <c:v>0.08</c:v>
                </c:pt>
                <c:pt idx="1">
                  <c:v>0.04</c:v>
                </c:pt>
                <c:pt idx="2">
                  <c:v>0.07</c:v>
                </c:pt>
                <c:pt idx="3">
                  <c:v>0.08</c:v>
                </c:pt>
                <c:pt idx="4">
                  <c:v>0.06</c:v>
                </c:pt>
                <c:pt idx="5">
                  <c:v>0.07</c:v>
                </c:pt>
                <c:pt idx="6">
                  <c:v>0.06</c:v>
                </c:pt>
                <c:pt idx="7">
                  <c:v>0.05</c:v>
                </c:pt>
                <c:pt idx="8">
                  <c:v>0.06</c:v>
                </c:pt>
                <c:pt idx="9">
                  <c:v>0.08</c:v>
                </c:pt>
                <c:pt idx="10">
                  <c:v>0.07</c:v>
                </c:pt>
                <c:pt idx="11">
                  <c:v>0.07</c:v>
                </c:pt>
                <c:pt idx="12">
                  <c:v>0.07</c:v>
                </c:pt>
                <c:pt idx="13">
                  <c:v>0.07</c:v>
                </c:pt>
                <c:pt idx="14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B2-435C-ADBD-82D98238F1ED}"/>
            </c:ext>
          </c:extLst>
        </c:ser>
        <c:ser>
          <c:idx val="2"/>
          <c:order val="4"/>
          <c:tx>
            <c:strRef>
              <c:f>Sheet1!$F$1</c:f>
              <c:strCache>
                <c:ptCount val="1"/>
                <c:pt idx="0">
                  <c:v>Community hospital (Non-teaching)</c:v>
                </c:pt>
              </c:strCache>
            </c:strRef>
          </c:tx>
          <c:spPr>
            <a:solidFill>
              <a:srgbClr val="B4C7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Sheet1!$F$2:$F$16</c:f>
              <c:numCache>
                <c:formatCode>0%</c:formatCode>
                <c:ptCount val="15"/>
                <c:pt idx="0">
                  <c:v>0.04</c:v>
                </c:pt>
                <c:pt idx="1">
                  <c:v>0.1</c:v>
                </c:pt>
                <c:pt idx="2">
                  <c:v>0.11</c:v>
                </c:pt>
                <c:pt idx="3">
                  <c:v>0.05</c:v>
                </c:pt>
                <c:pt idx="4">
                  <c:v>0.07</c:v>
                </c:pt>
                <c:pt idx="5">
                  <c:v>0.07</c:v>
                </c:pt>
                <c:pt idx="6">
                  <c:v>0.1</c:v>
                </c:pt>
                <c:pt idx="7">
                  <c:v>0.08</c:v>
                </c:pt>
                <c:pt idx="8">
                  <c:v>0.07</c:v>
                </c:pt>
                <c:pt idx="9">
                  <c:v>0.04</c:v>
                </c:pt>
                <c:pt idx="10">
                  <c:v>0.1</c:v>
                </c:pt>
                <c:pt idx="11">
                  <c:v>0.05</c:v>
                </c:pt>
                <c:pt idx="12">
                  <c:v>0.11</c:v>
                </c:pt>
                <c:pt idx="13">
                  <c:v>0.1</c:v>
                </c:pt>
                <c:pt idx="14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B2-435C-ADBD-82D98238F1ED}"/>
            </c:ext>
          </c:extLst>
        </c:ser>
        <c:ser>
          <c:idx val="4"/>
          <c:order val="5"/>
          <c:tx>
            <c:strRef>
              <c:f>Sheet1!$G$1</c:f>
              <c:strCache>
                <c:ptCount val="1"/>
                <c:pt idx="0">
                  <c:v>Private practice (solo)</c:v>
                </c:pt>
              </c:strCache>
            </c:strRef>
          </c:tx>
          <c:spPr>
            <a:solidFill>
              <a:srgbClr val="2F559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Sheet1!$G$2:$G$16</c:f>
              <c:numCache>
                <c:formatCode>0%</c:formatCode>
                <c:ptCount val="15"/>
                <c:pt idx="0">
                  <c:v>0.12</c:v>
                </c:pt>
                <c:pt idx="1">
                  <c:v>0.08</c:v>
                </c:pt>
                <c:pt idx="2">
                  <c:v>0.11</c:v>
                </c:pt>
                <c:pt idx="3">
                  <c:v>0.11</c:v>
                </c:pt>
                <c:pt idx="4">
                  <c:v>0.09</c:v>
                </c:pt>
                <c:pt idx="5">
                  <c:v>0.09</c:v>
                </c:pt>
                <c:pt idx="6">
                  <c:v>0.1</c:v>
                </c:pt>
                <c:pt idx="7">
                  <c:v>0.1</c:v>
                </c:pt>
                <c:pt idx="8">
                  <c:v>0.11</c:v>
                </c:pt>
                <c:pt idx="9">
                  <c:v>0.13</c:v>
                </c:pt>
                <c:pt idx="10">
                  <c:v>0.1</c:v>
                </c:pt>
                <c:pt idx="11">
                  <c:v>0.12</c:v>
                </c:pt>
                <c:pt idx="12">
                  <c:v>0.09</c:v>
                </c:pt>
                <c:pt idx="13">
                  <c:v>0.07</c:v>
                </c:pt>
                <c:pt idx="14">
                  <c:v>0.07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8B2-435C-ADBD-82D98238F1ED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Private practice (group)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Sheet1!$H$2:$H$16</c:f>
              <c:numCache>
                <c:formatCode>0%</c:formatCode>
                <c:ptCount val="15"/>
                <c:pt idx="0">
                  <c:v>0.7</c:v>
                </c:pt>
                <c:pt idx="1">
                  <c:v>0.67</c:v>
                </c:pt>
                <c:pt idx="2">
                  <c:v>0.63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  <c:pt idx="6">
                  <c:v>0.65</c:v>
                </c:pt>
                <c:pt idx="7">
                  <c:v>0.68</c:v>
                </c:pt>
                <c:pt idx="8">
                  <c:v>0.69</c:v>
                </c:pt>
                <c:pt idx="9">
                  <c:v>0.69</c:v>
                </c:pt>
                <c:pt idx="10">
                  <c:v>0.66</c:v>
                </c:pt>
                <c:pt idx="11">
                  <c:v>0.7</c:v>
                </c:pt>
                <c:pt idx="12">
                  <c:v>0.65</c:v>
                </c:pt>
                <c:pt idx="13">
                  <c:v>0.66</c:v>
                </c:pt>
                <c:pt idx="14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B2-435C-ADBD-82D98238F1E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1819402016"/>
        <c:axId val="1819413984"/>
      </c:barChart>
      <c:catAx>
        <c:axId val="18194020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19413984"/>
        <c:crosses val="autoZero"/>
        <c:auto val="1"/>
        <c:lblAlgn val="ctr"/>
        <c:lblOffset val="100"/>
        <c:noMultiLvlLbl val="0"/>
      </c:catAx>
      <c:valAx>
        <c:axId val="1819413984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181940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70669013134548E-2"/>
          <c:y val="0"/>
          <c:w val="0.97429330986865448"/>
          <c:h val="1"/>
        </c:manualLayout>
      </c:layout>
      <c:barChart>
        <c:barDir val="bar"/>
        <c:grouping val="percentStack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Gastroenterology</c:v>
                </c:pt>
              </c:strCache>
            </c:strRef>
          </c:tx>
          <c:spPr>
            <a:solidFill>
              <a:srgbClr val="2E554F"/>
            </a:solidFill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7BA-4103-AC12-8C83D8637984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0.71</c:v>
                </c:pt>
                <c:pt idx="1">
                  <c:v>0.75</c:v>
                </c:pt>
                <c:pt idx="2">
                  <c:v>0.66</c:v>
                </c:pt>
                <c:pt idx="3">
                  <c:v>0.63</c:v>
                </c:pt>
                <c:pt idx="4">
                  <c:v>0.72</c:v>
                </c:pt>
                <c:pt idx="5">
                  <c:v>0.65</c:v>
                </c:pt>
                <c:pt idx="6">
                  <c:v>0.69</c:v>
                </c:pt>
                <c:pt idx="7">
                  <c:v>0.69</c:v>
                </c:pt>
                <c:pt idx="8">
                  <c:v>0.69</c:v>
                </c:pt>
                <c:pt idx="9">
                  <c:v>0.69</c:v>
                </c:pt>
                <c:pt idx="10">
                  <c:v>0.65</c:v>
                </c:pt>
                <c:pt idx="11">
                  <c:v>0.67</c:v>
                </c:pt>
                <c:pt idx="12">
                  <c:v>0.65</c:v>
                </c:pt>
                <c:pt idx="13">
                  <c:v>0.67</c:v>
                </c:pt>
                <c:pt idx="14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BA-4103-AC12-8C83D8637984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Internal Medicine (PCP)</c:v>
                </c:pt>
              </c:strCache>
            </c:strRef>
          </c:tx>
          <c:spPr>
            <a:solidFill>
              <a:srgbClr val="468177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7BA-4103-AC12-8C83D863798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BA-4103-AC12-8C83D8637984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Sheet1!$C$2:$C$16</c:f>
              <c:numCache>
                <c:formatCode>0%</c:formatCode>
                <c:ptCount val="15"/>
                <c:pt idx="0">
                  <c:v>0.11</c:v>
                </c:pt>
                <c:pt idx="1">
                  <c:v>0.11</c:v>
                </c:pt>
                <c:pt idx="2">
                  <c:v>0.17</c:v>
                </c:pt>
                <c:pt idx="3">
                  <c:v>0.16</c:v>
                </c:pt>
                <c:pt idx="4">
                  <c:v>0.12</c:v>
                </c:pt>
                <c:pt idx="5">
                  <c:v>0.17</c:v>
                </c:pt>
                <c:pt idx="6">
                  <c:v>0.13</c:v>
                </c:pt>
                <c:pt idx="7">
                  <c:v>0.15</c:v>
                </c:pt>
                <c:pt idx="8">
                  <c:v>0.15</c:v>
                </c:pt>
                <c:pt idx="9">
                  <c:v>0.14</c:v>
                </c:pt>
                <c:pt idx="10">
                  <c:v>0.16</c:v>
                </c:pt>
                <c:pt idx="11">
                  <c:v>0.13</c:v>
                </c:pt>
                <c:pt idx="12">
                  <c:v>0.18</c:v>
                </c:pt>
                <c:pt idx="13">
                  <c:v>0.14</c:v>
                </c:pt>
                <c:pt idx="14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BA-4103-AC12-8C83D8637984}"/>
            </c:ext>
          </c:extLst>
        </c:ser>
        <c:ser>
          <c:idx val="3"/>
          <c:order val="2"/>
          <c:tx>
            <c:strRef>
              <c:f>Sheet1!$D$1</c:f>
              <c:strCache>
                <c:ptCount val="1"/>
                <c:pt idx="0">
                  <c:v>Family Medicine (PCP)</c:v>
                </c:pt>
              </c:strCache>
            </c:strRef>
          </c:tx>
          <c:spPr>
            <a:solidFill>
              <a:srgbClr val="BFDDD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2">
                        <a:lumMod val="10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Sheet1!$D$2:$D$16</c:f>
              <c:numCache>
                <c:formatCode>0%</c:formatCode>
                <c:ptCount val="15"/>
                <c:pt idx="0">
                  <c:v>0.15</c:v>
                </c:pt>
                <c:pt idx="1">
                  <c:v>0.11</c:v>
                </c:pt>
                <c:pt idx="2">
                  <c:v>0.14</c:v>
                </c:pt>
                <c:pt idx="3">
                  <c:v>0.16</c:v>
                </c:pt>
                <c:pt idx="4">
                  <c:v>0.14</c:v>
                </c:pt>
                <c:pt idx="5">
                  <c:v>0.13</c:v>
                </c:pt>
                <c:pt idx="6">
                  <c:v>0.15</c:v>
                </c:pt>
                <c:pt idx="7">
                  <c:v>0.12</c:v>
                </c:pt>
                <c:pt idx="8">
                  <c:v>0.13</c:v>
                </c:pt>
                <c:pt idx="9">
                  <c:v>0.14</c:v>
                </c:pt>
                <c:pt idx="10">
                  <c:v>0.16</c:v>
                </c:pt>
                <c:pt idx="11">
                  <c:v>0.16</c:v>
                </c:pt>
                <c:pt idx="12">
                  <c:v>0.14</c:v>
                </c:pt>
                <c:pt idx="13">
                  <c:v>0.15</c:v>
                </c:pt>
                <c:pt idx="1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254-48B3-9CBD-07141F772E1D}"/>
            </c:ext>
          </c:extLst>
        </c:ser>
        <c:ser>
          <c:idx val="1"/>
          <c:order val="3"/>
          <c:tx>
            <c:strRef>
              <c:f>Sheet1!$E$1</c:f>
              <c:strCache>
                <c:ptCount val="1"/>
                <c:pt idx="0">
                  <c:v>General Medicine / Practice (PCP)</c:v>
                </c:pt>
              </c:strCache>
            </c:strRef>
          </c:tx>
          <c:spPr>
            <a:solidFill>
              <a:srgbClr val="DEEDEA"/>
            </a:solidFill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7BA-4103-AC12-8C83D8637984}"/>
              </c:ext>
            </c:extLst>
          </c:dPt>
          <c:dLbls>
            <c:delete val="1"/>
          </c:dLbls>
          <c:cat>
            <c:strRef>
              <c:f>Sheet1!$A$2:$A$16</c:f>
              <c:strCache>
                <c:ptCount val="15"/>
                <c:pt idx="0">
                  <c:v>Apr'25</c:v>
                </c:pt>
                <c:pt idx="1">
                  <c:v>Aug'25</c:v>
                </c:pt>
                <c:pt idx="2">
                  <c:v>Dec'25</c:v>
                </c:pt>
                <c:pt idx="3">
                  <c:v>Feb'25</c:v>
                </c:pt>
                <c:pt idx="4">
                  <c:v>Feb'26</c:v>
                </c:pt>
                <c:pt idx="5">
                  <c:v>Jan'25</c:v>
                </c:pt>
                <c:pt idx="6">
                  <c:v>Jan'26</c:v>
                </c:pt>
                <c:pt idx="7">
                  <c:v>Jul'25</c:v>
                </c:pt>
                <c:pt idx="8">
                  <c:v>Jun'25</c:v>
                </c:pt>
                <c:pt idx="9">
                  <c:v>Mar'25</c:v>
                </c:pt>
                <c:pt idx="10">
                  <c:v>Mar'26</c:v>
                </c:pt>
                <c:pt idx="11">
                  <c:v>May'25</c:v>
                </c:pt>
                <c:pt idx="12">
                  <c:v>Nov'25</c:v>
                </c:pt>
                <c:pt idx="13">
                  <c:v>Oct'25</c:v>
                </c:pt>
                <c:pt idx="14">
                  <c:v>Sep'25</c:v>
                </c:pt>
              </c:strCache>
            </c:strRef>
          </c:cat>
          <c:val>
            <c:numRef>
              <c:f>Sheet1!$E$2:$E$16</c:f>
              <c:numCache>
                <c:formatCode>0%</c:formatCode>
                <c:ptCount val="15"/>
                <c:pt idx="0">
                  <c:v>0.02</c:v>
                </c:pt>
                <c:pt idx="1">
                  <c:v>0.03</c:v>
                </c:pt>
                <c:pt idx="2">
                  <c:v>0.03</c:v>
                </c:pt>
                <c:pt idx="3">
                  <c:v>0.05</c:v>
                </c:pt>
                <c:pt idx="4">
                  <c:v>0.03</c:v>
                </c:pt>
                <c:pt idx="5">
                  <c:v>0.04</c:v>
                </c:pt>
                <c:pt idx="6">
                  <c:v>0.03</c:v>
                </c:pt>
                <c:pt idx="7">
                  <c:v>0.03</c:v>
                </c:pt>
                <c:pt idx="8">
                  <c:v>0.04</c:v>
                </c:pt>
                <c:pt idx="9">
                  <c:v>0.03</c:v>
                </c:pt>
                <c:pt idx="10">
                  <c:v>0.03</c:v>
                </c:pt>
                <c:pt idx="11">
                  <c:v>0.03</c:v>
                </c:pt>
                <c:pt idx="12">
                  <c:v>0.03</c:v>
                </c:pt>
                <c:pt idx="13">
                  <c:v>0.04</c:v>
                </c:pt>
                <c:pt idx="1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BA-4103-AC12-8C83D86379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1819402016"/>
        <c:axId val="1819413984"/>
      </c:barChart>
      <c:catAx>
        <c:axId val="1819402016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819413984"/>
        <c:crosses val="autoZero"/>
        <c:auto val="1"/>
        <c:lblAlgn val="ctr"/>
        <c:lblOffset val="200"/>
        <c:noMultiLvlLbl val="0"/>
      </c:catAx>
      <c:valAx>
        <c:axId val="1819413984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1819402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  <a:latin typeface="+mn-lt"/>
          <a:cs typeface="Calibri" panose="020F0502020204030204" pitchFamily="34" charset="0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C881D-D3E9-EBAB-9E0D-76CCAE09E4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41352-D96F-5FEF-5CA9-04FE8B6333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A19AB-42E7-4757-982A-639633A5CC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A8B6E-704A-3EF3-E1E3-1F34AF664C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CC10F-E4F5-9088-94DF-0B026D2CCF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218EC-BE70-4DEF-B7A9-FD22F829A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478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593029" y="4716368"/>
            <a:ext cx="5562941" cy="4896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5725" rIns="93125" bIns="45725" anchor="t" anchorCtr="0">
            <a:noAutofit/>
          </a:bodyPr>
          <a:lstStyle>
            <a:lvl1pPr marL="457200" marR="0" lvl="0" indent="-2921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Char char="4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555625" y="228600"/>
            <a:ext cx="5638800" cy="4230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Google Shape;5;n"/>
          <p:cNvSpPr txBox="1">
            <a:spLocks noGrp="1"/>
          </p:cNvSpPr>
          <p:nvPr>
            <p:ph type="sldNum" idx="12"/>
          </p:nvPr>
        </p:nvSpPr>
        <p:spPr>
          <a:xfrm>
            <a:off x="6530667" y="9734689"/>
            <a:ext cx="222753" cy="149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038" y="228600"/>
            <a:ext cx="5641975" cy="4230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0" name="Google Shape;2200;p59:notes"/>
          <p:cNvSpPr txBox="1">
            <a:spLocks noGrp="1"/>
          </p:cNvSpPr>
          <p:nvPr>
            <p:ph type="body" idx="1"/>
          </p:nvPr>
        </p:nvSpPr>
        <p:spPr>
          <a:xfrm>
            <a:off x="593029" y="4716368"/>
            <a:ext cx="5562941" cy="4896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5725" rIns="931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  <a:t>S0_10 </a:t>
            </a:r>
            <a:r>
              <a:rPr lang="en-US" sz="4000" b="0" i="0">
                <a:solidFill>
                  <a:srgbClr val="212529"/>
                </a:solidFill>
                <a:effectLst/>
                <a:latin typeface="-apple-system"/>
              </a:rPr>
              <a:t>Which of the following best describes your medical role?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  <a:t>S0_20 What is your primary medical specialty?</a:t>
            </a:r>
            <a:b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  <a:t>S0_35 How many years have you practiced in this specialty post-residency?</a:t>
            </a:r>
            <a:b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  <a:t>S0_38 What percent of your total professional time is spent in direct patient care / clinical practice, as opposed to teaching, research, or administrative duties?</a:t>
            </a:r>
            <a:b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  <a:t>S0_60 In a typical month, how many unique adult patients, regardless of condition, do you personally see in your office?</a:t>
            </a:r>
            <a:br>
              <a:rPr lang="en-GB" sz="1800">
                <a:latin typeface="Calibri"/>
                <a:ea typeface="Calibri"/>
                <a:cs typeface="Calibri"/>
                <a:sym typeface="Calibri"/>
              </a:rPr>
            </a:br>
            <a: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  <a:t>S0_65 How many of the {S0_60Z.shown} unique adult patients do you personally treat in a typical month for Exocrine Pancreatic Insufficiency (EPI)?</a:t>
            </a:r>
            <a:endParaRPr lang="en-GB" sz="1800" b="1" i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  <a:t>S0_71 In a typical month, how many prescriptions do you write for pancreatic enzyme replacement therapy (PERT) for patients diagnosed with Exocrine Pancreatic Insufficiency (EPI)?</a:t>
            </a:r>
            <a:br>
              <a:rPr lang="en-GB" sz="4000" b="0" i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en-GB" b="0" i="0">
                <a:solidFill>
                  <a:srgbClr val="212529"/>
                </a:solidFill>
                <a:effectLst/>
                <a:latin typeface="-apple-system"/>
              </a:rPr>
              <a:t>S0_45 Which category best describes your primary practice setting?</a:t>
            </a:r>
            <a:endParaRPr b="1" i="1"/>
          </a:p>
        </p:txBody>
      </p:sp>
      <p:sp>
        <p:nvSpPr>
          <p:cNvPr id="2201" name="Google Shape;2201;p59:notes"/>
          <p:cNvSpPr txBox="1">
            <a:spLocks noGrp="1"/>
          </p:cNvSpPr>
          <p:nvPr>
            <p:ph type="sldNum" idx="12"/>
          </p:nvPr>
        </p:nvSpPr>
        <p:spPr>
          <a:xfrm>
            <a:off x="6530667" y="9734689"/>
            <a:ext cx="222753" cy="149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8401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paint splatter&#10;&#10;AI-generated content may be incorrect.">
            <a:extLst>
              <a:ext uri="{FF2B5EF4-FFF2-40B4-BE49-F238E27FC236}">
                <a16:creationId xmlns:a16="http://schemas.microsoft.com/office/drawing/2014/main" id="{C020CB5A-1548-218F-0447-3ED2A1F320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4"/>
          <a:stretch>
            <a:fillRect/>
          </a:stretch>
        </p:blipFill>
        <p:spPr>
          <a:xfrm>
            <a:off x="1143" y="0"/>
            <a:ext cx="91417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A545EF-A5ED-A461-E4C8-1CCAAC7DE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77" y="784079"/>
            <a:ext cx="6657079" cy="457048"/>
          </a:xfrm>
        </p:spPr>
        <p:txBody>
          <a:bodyPr wrap="square" tIns="0" bIns="0" anchor="b">
            <a:spAutoFit/>
          </a:bodyPr>
          <a:lstStyle>
            <a:lvl1pPr algn="l"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10431-50E8-6D96-64B6-5818FEEE8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77" y="1137992"/>
            <a:ext cx="6657079" cy="276999"/>
          </a:xfrm>
        </p:spPr>
        <p:txBody>
          <a:bodyPr wrap="square" tIns="0">
            <a:sp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D2C55055-4335-0A48-A514-47CAFD74C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728" y="187552"/>
            <a:ext cx="2090036" cy="1304383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10DC154-CB02-F925-91EC-2C95216283C5}"/>
              </a:ext>
            </a:extLst>
          </p:cNvPr>
          <p:cNvSpPr txBox="1">
            <a:spLocks/>
          </p:cNvSpPr>
          <p:nvPr/>
        </p:nvSpPr>
        <p:spPr bwMode="gray">
          <a:xfrm>
            <a:off x="7116797" y="6537776"/>
            <a:ext cx="1788952" cy="15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34281" rIns="0" bIns="34281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algn="r">
              <a:defRPr/>
            </a:pPr>
            <a:r>
              <a:rPr lang="en-US" sz="525" kern="12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cs"/>
              </a:rPr>
              <a:t>Presentation Title  |  Company Confidential. © 2025 AbbVie. </a:t>
            </a:r>
          </a:p>
        </p:txBody>
      </p:sp>
    </p:spTree>
    <p:extLst>
      <p:ext uri="{BB962C8B-B14F-4D97-AF65-F5344CB8AC3E}">
        <p14:creationId xmlns:p14="http://schemas.microsoft.com/office/powerpoint/2010/main" val="3434345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painting of a flower&#10;&#10;AI-generated content may be incorrect.">
            <a:extLst>
              <a:ext uri="{FF2B5EF4-FFF2-40B4-BE49-F238E27FC236}">
                <a16:creationId xmlns:a16="http://schemas.microsoft.com/office/drawing/2014/main" id="{F6F55A1A-37E5-DE5C-E3A1-9DECEA881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" y="0"/>
            <a:ext cx="91417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6C671C-EEAA-0F63-8489-EC23DE85A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130" y="712949"/>
            <a:ext cx="3703938" cy="731520"/>
          </a:xfrm>
        </p:spPr>
        <p:txBody>
          <a:bodyPr anchor="t" anchorCtr="0"/>
          <a:lstStyle>
            <a:lvl1pPr algn="l"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4E1C1C8-45C1-95EF-77F3-424DA7A27A47}"/>
              </a:ext>
            </a:extLst>
          </p:cNvPr>
          <p:cNvSpPr txBox="1">
            <a:spLocks/>
          </p:cNvSpPr>
          <p:nvPr/>
        </p:nvSpPr>
        <p:spPr bwMode="gray">
          <a:xfrm>
            <a:off x="6969320" y="6537776"/>
            <a:ext cx="1936428" cy="15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34281" rIns="0" bIns="34281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algn="r">
              <a:defRPr/>
            </a:pPr>
            <a:r>
              <a:rPr lang="en-US" sz="525" kern="12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cs"/>
              </a:rPr>
              <a:t>Presentation Title  |  Company Confidential. © 2025 AbbVie.  |  </a:t>
            </a:r>
            <a:fld id="{46A0009C-F711-4867-928A-A4FC23F39790}" type="slidenum">
              <a:rPr lang="en-US" sz="525" kern="1200" smtClean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cs"/>
              </a:rPr>
              <a:t>‹#›</a:t>
            </a:fld>
            <a:endParaRPr lang="en-US" sz="525" kern="1200">
              <a:solidFill>
                <a:schemeClr val="bg1"/>
              </a:solidFill>
              <a:latin typeface="+mn-lt"/>
              <a:ea typeface="Roboto" panose="02000000000000000000" pitchFamily="2" charset="0"/>
              <a:cs typeface="+mn-cs"/>
            </a:endParaRPr>
          </a:p>
        </p:txBody>
      </p:sp>
      <p:pic>
        <p:nvPicPr>
          <p:cNvPr id="4" name="Picture 3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1F65C791-9E9D-98EF-9427-B3DD17C69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4" y="6287733"/>
            <a:ext cx="904009" cy="56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787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98FA-5199-1958-53F4-4B43F96CA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rIns="0"/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marL="174978" lvl="0" indent="-174978" defTabSz="342815" eaLnBrk="0" fontAlgn="base" hangingPunct="0">
              <a:spcAft>
                <a:spcPts val="450"/>
              </a:spcAft>
              <a:tabLst/>
            </a:pPr>
            <a:r>
              <a:rPr lang="en-US"/>
              <a:t>Click to edit Master text styles</a:t>
            </a:r>
          </a:p>
          <a:p>
            <a:pPr marL="174978" lvl="1" indent="-174978" defTabSz="342815" eaLnBrk="0" fontAlgn="base" hangingPunct="0">
              <a:spcAft>
                <a:spcPts val="450"/>
              </a:spcAft>
              <a:tabLst/>
            </a:pPr>
            <a:r>
              <a:rPr lang="en-US"/>
              <a:t>Second level</a:t>
            </a:r>
          </a:p>
          <a:p>
            <a:pPr marL="174978" lvl="2" indent="-174978" defTabSz="342815" eaLnBrk="0" fontAlgn="base" hangingPunct="0">
              <a:spcAft>
                <a:spcPts val="450"/>
              </a:spcAft>
              <a:tabLst/>
            </a:pPr>
            <a:r>
              <a:rPr lang="en-US"/>
              <a:t>Third level</a:t>
            </a:r>
          </a:p>
          <a:p>
            <a:pPr marL="174978" lvl="3" indent="-174978" defTabSz="342815" eaLnBrk="0" fontAlgn="base" hangingPunct="0">
              <a:spcAft>
                <a:spcPts val="450"/>
              </a:spcAft>
              <a:tabLst/>
            </a:pPr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49C170-E087-0634-D135-6C6A9AE8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1D0C-A759-22F7-E2E9-A378A4F49A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7685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2A30-172C-0BE3-5E0D-5A3A78410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5BB71-04FE-1EE7-458D-FBA58E7164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2282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 bwMode="auto">
          <a:xfrm>
            <a:off x="274393" y="228600"/>
            <a:ext cx="8574733" cy="731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761A2C7-5736-4A67-A5FD-7A367D5A6E6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4391" y="1645921"/>
            <a:ext cx="2881110" cy="384048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algn="l">
              <a:buNone/>
              <a:defRPr sz="1050" b="1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E607C81-78E5-4AB0-AF66-0824DBDE88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05188" y="1645921"/>
            <a:ext cx="5443937" cy="3840480"/>
          </a:xfrm>
          <a:prstGeom prst="rect">
            <a:avLst/>
          </a:prstGeom>
        </p:spPr>
        <p:txBody>
          <a:bodyPr lIns="0" rIns="0"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marL="174978" lvl="0" indent="-174978" defTabSz="342815" eaLnBrk="0" fontAlgn="base" hangingPunct="0">
              <a:spcAft>
                <a:spcPts val="450"/>
              </a:spcAft>
              <a:tabLst/>
            </a:pPr>
            <a:r>
              <a:rPr lang="en-US"/>
              <a:t>Click to edit Master text styles</a:t>
            </a:r>
          </a:p>
          <a:p>
            <a:pPr marL="174978" lvl="1" indent="-174978" defTabSz="342815" eaLnBrk="0" fontAlgn="base" hangingPunct="0">
              <a:spcAft>
                <a:spcPts val="450"/>
              </a:spcAft>
              <a:tabLst/>
            </a:pPr>
            <a:r>
              <a:rPr lang="en-US"/>
              <a:t>Second level</a:t>
            </a:r>
          </a:p>
          <a:p>
            <a:pPr marL="174978" lvl="2" indent="-174978" defTabSz="342815" eaLnBrk="0" fontAlgn="base" hangingPunct="0">
              <a:spcAft>
                <a:spcPts val="450"/>
              </a:spcAft>
              <a:tabLst/>
            </a:pPr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1912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FB97E9-7B99-C5C3-398B-C0B96C9D47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84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eg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olorful border with white background&#10;&#10;AI-generated content may be incorrect.">
            <a:extLst>
              <a:ext uri="{FF2B5EF4-FFF2-40B4-BE49-F238E27FC236}">
                <a16:creationId xmlns:a16="http://schemas.microsoft.com/office/drawing/2014/main" id="{CE55CBAE-E697-0C4B-54A1-9D626834F8E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670" t="-1" b="2268"/>
          <a:stretch>
            <a:fillRect/>
          </a:stretch>
        </p:blipFill>
        <p:spPr>
          <a:xfrm>
            <a:off x="1068049" y="0"/>
            <a:ext cx="8074808" cy="673558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6B404-5244-B7E1-CE90-C90A299F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28600"/>
            <a:ext cx="8572500" cy="731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defTabSz="342815" eaLnBrk="0" fontAlgn="base" hangingPunct="0">
              <a:spcAft>
                <a:spcPct val="0"/>
              </a:spcAft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4D430-40C0-A619-D7AE-7F9E828D0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1188720"/>
            <a:ext cx="8572500" cy="5212080"/>
          </a:xfrm>
          <a:prstGeom prst="rect">
            <a:avLst/>
          </a:prstGeom>
        </p:spPr>
        <p:txBody>
          <a:bodyPr lIns="0" rIns="0"/>
          <a:lstStyle/>
          <a:p>
            <a:pPr marL="174978" lvl="0" indent="-174978" defTabSz="342815" eaLnBrk="0" fontAlgn="base" hangingPunct="0">
              <a:spcAft>
                <a:spcPts val="450"/>
              </a:spcAft>
              <a:tabLst/>
            </a:pPr>
            <a:r>
              <a:rPr lang="en-US"/>
              <a:t>Click to edit Master text styles</a:t>
            </a:r>
          </a:p>
          <a:p>
            <a:pPr marL="429816" lvl="1" indent="-173831" defTabSz="342815" eaLnBrk="0" fontAlgn="base" hangingPunct="0">
              <a:spcBef>
                <a:spcPts val="0"/>
              </a:spcBef>
              <a:spcAft>
                <a:spcPts val="450"/>
              </a:spcAft>
              <a:buChar char="–"/>
            </a:pPr>
            <a:r>
              <a:rPr lang="en-US"/>
              <a:t>Second level</a:t>
            </a:r>
          </a:p>
          <a:p>
            <a:pPr marL="598885" lvl="2" indent="-128588" defTabSz="342815" eaLnBrk="0" fontAlgn="base" hangingPunct="0">
              <a:spcBef>
                <a:spcPts val="0"/>
              </a:spcBef>
              <a:spcAft>
                <a:spcPts val="450"/>
              </a:spcAft>
            </a:pPr>
            <a:r>
              <a:rPr lang="en-US"/>
              <a:t>Third level</a:t>
            </a:r>
          </a:p>
          <a:p>
            <a:pPr marL="943930" lvl="3" indent="-174978" defTabSz="342815" eaLnBrk="0" fontAlgn="base" hangingPunct="0">
              <a:spcBef>
                <a:spcPts val="0"/>
              </a:spcBef>
              <a:spcAft>
                <a:spcPts val="450"/>
              </a:spcAft>
              <a:buFont typeface="Arial" charset="0"/>
              <a:buChar char="–"/>
            </a:pPr>
            <a:r>
              <a:rPr lang="en-US"/>
              <a:t>Fourth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CC5E8D2-F9D2-6499-AB51-10E531AFC06D}"/>
              </a:ext>
            </a:extLst>
          </p:cNvPr>
          <p:cNvSpPr txBox="1">
            <a:spLocks/>
          </p:cNvSpPr>
          <p:nvPr/>
        </p:nvSpPr>
        <p:spPr bwMode="gray">
          <a:xfrm>
            <a:off x="6969320" y="6537776"/>
            <a:ext cx="1936428" cy="15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34281" rIns="0" bIns="34281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algn="r">
              <a:defRPr/>
            </a:pPr>
            <a:r>
              <a:rPr lang="en-US" sz="525" kern="12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cs"/>
              </a:rPr>
              <a:t>Presentation Title  |  Company Confidential. © 2025 AbbVie.  |  </a:t>
            </a:r>
            <a:fld id="{46A0009C-F711-4867-928A-A4FC23F39790}" type="slidenum">
              <a:rPr lang="en-US" sz="525" kern="1200" smtClean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+mn-cs"/>
              </a:rPr>
              <a:t>‹#›</a:t>
            </a:fld>
            <a:endParaRPr lang="en-US" sz="525" kern="1200">
              <a:solidFill>
                <a:schemeClr val="bg1"/>
              </a:solidFill>
              <a:latin typeface="+mn-lt"/>
              <a:ea typeface="Roboto" panose="02000000000000000000" pitchFamily="2" charset="0"/>
              <a:cs typeface="+mn-cs"/>
            </a:endParaRPr>
          </a:p>
        </p:txBody>
      </p:sp>
      <p:pic>
        <p:nvPicPr>
          <p:cNvPr id="16" name="Picture 15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6971F8B3-D306-8C71-DF06-A0E5FCF720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64" y="6287733"/>
            <a:ext cx="904009" cy="564189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AA2441-24B2-BAA5-D059-FCF1A7F36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273" y="6035675"/>
            <a:ext cx="8829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A4FBAB-EB9F-E021-4477-59C756B6E27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986971" y="6570466"/>
            <a:ext cx="1124347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600" b="1">
                <a:solidFill>
                  <a:schemeClr val="tx1"/>
                </a:solidFill>
                <a:latin typeface="Arial" panose="020B060402020202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4976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0" r:id="rId1"/>
    <p:sldLayoutId id="2147484371" r:id="rId2"/>
    <p:sldLayoutId id="2147484372" r:id="rId3"/>
    <p:sldLayoutId id="2147484373" r:id="rId4"/>
    <p:sldLayoutId id="2147484374" r:id="rId5"/>
    <p:sldLayoutId id="2147484375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1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lang="en-US" sz="1050" kern="1200" dirty="0" smtClean="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Roboto" panose="02000000000000000000" pitchFamily="2" charset="0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24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Relationship Id="rId6" Type="http://schemas.openxmlformats.org/officeDocument/2006/relationships/chart" Target="../charts/chart1.xml"/><Relationship Id="rId7" Type="http://schemas.openxmlformats.org/officeDocument/2006/relationships/chart" Target="../charts/chart2.xml"/><Relationship Id="rId8" Type="http://schemas.openxmlformats.org/officeDocument/2006/relationships/image" Target="../media/image5.emf"/><Relationship Id="rId9" Type="http://schemas.openxmlformats.org/officeDocument/2006/relationships/image" Target="../media/image6.emf"/><Relationship Id="rId10" Type="http://schemas.openxmlformats.org/officeDocument/2006/relationships/image" Target="../media/image7.emf"/><Relationship Id="rId11" Type="http://schemas.openxmlformats.org/officeDocument/2006/relationships/image" Target="../media/image8.emf"/><Relationship Id="rId12" Type="http://schemas.openxmlformats.org/officeDocument/2006/relationships/image" Target="../media/image9.emf"/><Relationship Id="rId13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7BF91D1-C922-BEA0-B625-35999559D6A0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7297573"/>
              </p:ext>
            </p:extLst>
          </p:nvPr>
        </p:nvGraphicFramePr>
        <p:xfrm>
          <a:off x="2712159" y="1795170"/>
          <a:ext cx="3262545" cy="518160"/>
        </p:xfrm>
        <a:graphic>
          <a:graphicData uri="http://schemas.openxmlformats.org/drawingml/2006/table">
            <a:tbl>
              <a:tblPr firstRow="1" bandRow="1">
                <a:tableStyleId>{96BACEE3-1A1D-4107-9369-2142449FF59F}</a:tableStyleId>
              </a:tblPr>
              <a:tblGrid>
                <a:gridCol w="1087515">
                  <a:extLst>
                    <a:ext uri="{9D8B030D-6E8A-4147-A177-3AD203B41FA5}">
                      <a16:colId xmlns:a16="http://schemas.microsoft.com/office/drawing/2014/main" val="1728215594"/>
                    </a:ext>
                  </a:extLst>
                </a:gridCol>
                <a:gridCol w="1087515">
                  <a:extLst>
                    <a:ext uri="{9D8B030D-6E8A-4147-A177-3AD203B41FA5}">
                      <a16:colId xmlns:a16="http://schemas.microsoft.com/office/drawing/2014/main" val="3737529889"/>
                    </a:ext>
                  </a:extLst>
                </a:gridCol>
                <a:gridCol w="1087515">
                  <a:extLst>
                    <a:ext uri="{9D8B030D-6E8A-4147-A177-3AD203B41FA5}">
                      <a16:colId xmlns:a16="http://schemas.microsoft.com/office/drawing/2014/main" val="294085061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69095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239099"/>
                  </a:ext>
                </a:extLst>
              </a:tr>
            </a:tbl>
          </a:graphicData>
        </a:graphic>
      </p:graphicFrame>
      <p:graphicFrame>
        <p:nvGraphicFramePr>
          <p:cNvPr id="88" name="PS">
            <a:extLst>
              <a:ext uri="{FF2B5EF4-FFF2-40B4-BE49-F238E27FC236}">
                <a16:creationId xmlns:a16="http://schemas.microsoft.com/office/drawing/2014/main" id="{65C7BF37-CFB2-0CB7-954F-FEB9C365DAA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16509707"/>
              </p:ext>
            </p:extLst>
          </p:nvPr>
        </p:nvGraphicFramePr>
        <p:xfrm>
          <a:off x="6064351" y="1742660"/>
          <a:ext cx="1692000" cy="3924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203" name="Google Shape;2203;p59"/>
          <p:cNvSpPr txBox="1"/>
          <p:nvPr/>
        </p:nvSpPr>
        <p:spPr>
          <a:xfrm>
            <a:off x="549613" y="46549"/>
            <a:ext cx="8156448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951" b="1">
                <a:solidFill>
                  <a:srgbClr val="071D49"/>
                </a:solidFill>
                <a:latin typeface="+mn-lt"/>
                <a:ea typeface="Calibri"/>
                <a:cs typeface="Calibri"/>
                <a:sym typeface="Calibri"/>
              </a:rPr>
              <a:t>Respondent Demographics</a:t>
            </a:r>
            <a:endParaRPr lang="en-US" sz="1951" b="1">
              <a:latin typeface="+mn-lt"/>
            </a:endParaRPr>
          </a:p>
        </p:txBody>
      </p:sp>
      <p:sp>
        <p:nvSpPr>
          <p:cNvPr id="2206" name="Google Shape;2206;p59"/>
          <p:cNvSpPr/>
          <p:nvPr/>
        </p:nvSpPr>
        <p:spPr>
          <a:xfrm>
            <a:off x="592557" y="752464"/>
            <a:ext cx="7952437" cy="47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71D49"/>
              </a:buClr>
              <a:buSzPts val="1400"/>
              <a:defRPr/>
            </a:pPr>
            <a:r>
              <a:rPr lang="pl-PL" b="1" u="sng">
                <a:solidFill>
                  <a:srgbClr val="071D49"/>
                </a:solidFill>
                <a:latin typeface="+mn-lt"/>
                <a:ea typeface="Calibri"/>
                <a:cs typeface="Calibri"/>
                <a:sym typeface="Calibri"/>
              </a:rPr>
              <a:t>Respondent Profile</a:t>
            </a:r>
            <a:endParaRPr lang="pl-PL">
              <a:latin typeface="+mn-lt"/>
            </a:endParaRPr>
          </a:p>
          <a:p>
            <a:pPr algn="ctr">
              <a:spcBef>
                <a:spcPts val="91"/>
              </a:spcBef>
              <a:buClr>
                <a:srgbClr val="071D49"/>
              </a:buClr>
              <a:buSzPts val="900"/>
              <a:defRPr/>
            </a:pPr>
            <a:r>
              <a:rPr lang="pl-PL" sz="1000" u="sng">
                <a:solidFill>
                  <a:srgbClr val="071D49"/>
                </a:solidFill>
                <a:latin typeface="+mn-lt"/>
                <a:ea typeface="Calibri"/>
                <a:cs typeface="Calibri"/>
                <a:sym typeface="Calibri"/>
              </a:rPr>
              <a:t>(</a:t>
            </a:r>
            <a:r>
              <a:rPr lang="en-IN" sz="1000" u="sng">
                <a:solidFill>
                  <a:srgbClr val="071D49"/>
                </a:solidFill>
                <a:latin typeface="+mn-lt"/>
                <a:ea typeface="Calibri"/>
                <a:cs typeface="Calibri"/>
                <a:sym typeface="Calibri"/>
              </a:rPr>
              <a:t>Mar’26 vs. </a:t>
            </a:r>
            <a:r>
              <a:rPr lang="en-US" sz="1000" b="1" u="sng">
                <a:solidFill>
                  <a:srgbClr val="FFFFFF">
                    <a:lumMod val="50000"/>
                  </a:srgbClr>
                </a:solidFill>
                <a:latin typeface="+mn-lt"/>
                <a:ea typeface="Calibri"/>
                <a:cs typeface="Calibri"/>
                <a:sym typeface="Calibri"/>
              </a:rPr>
              <a:t>Feb’26 </a:t>
            </a:r>
            <a:r>
              <a:rPr lang="pl-PL" sz="1000" u="sng">
                <a:solidFill>
                  <a:srgbClr val="071D49"/>
                </a:solidFill>
                <a:latin typeface="+mn-lt"/>
                <a:ea typeface="Calibri"/>
                <a:cs typeface="Calibri"/>
                <a:sym typeface="Calibri"/>
              </a:rPr>
              <a:t>)</a:t>
            </a:r>
            <a:endParaRPr lang="pl-PL" sz="1000" u="sng" baseline="30000">
              <a:solidFill>
                <a:srgbClr val="071D49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cxnSp>
        <p:nvCxnSpPr>
          <p:cNvPr id="2237" name="Google Shape;2237;p59"/>
          <p:cNvCxnSpPr/>
          <p:nvPr/>
        </p:nvCxnSpPr>
        <p:spPr>
          <a:xfrm>
            <a:off x="6118135" y="1373934"/>
            <a:ext cx="0" cy="45720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A5A5A5"/>
            </a:solidFill>
            <a:prstDash val="dash"/>
            <a:round/>
            <a:headEnd type="none" w="sm" len="sm"/>
            <a:tailEnd type="none" w="sm" len="sm"/>
          </a:ln>
        </p:spPr>
      </p:cxnSp>
      <p:graphicFrame>
        <p:nvGraphicFramePr>
          <p:cNvPr id="2272" name="PMS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76307542"/>
              </p:ext>
            </p:extLst>
          </p:nvPr>
        </p:nvGraphicFramePr>
        <p:xfrm>
          <a:off x="3214670" y="3405202"/>
          <a:ext cx="2835728" cy="996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274" name="Google Shape;2274;p59"/>
          <p:cNvGrpSpPr/>
          <p:nvPr/>
        </p:nvGrpSpPr>
        <p:grpSpPr>
          <a:xfrm>
            <a:off x="2634132" y="4859874"/>
            <a:ext cx="3250391" cy="604837"/>
            <a:chOff x="2817034" y="4319588"/>
            <a:chExt cx="3250391" cy="604837"/>
          </a:xfrm>
        </p:grpSpPr>
        <p:sp>
          <p:nvSpPr>
            <p:cNvPr id="2275" name="Google Shape;2275;p59"/>
            <p:cNvSpPr/>
            <p:nvPr/>
          </p:nvSpPr>
          <p:spPr>
            <a:xfrm>
              <a:off x="3435931" y="4469575"/>
              <a:ext cx="2631494" cy="45485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12700" cap="flat" cmpd="sng">
              <a:solidFill>
                <a:srgbClr val="071D4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defRPr/>
              </a:pPr>
              <a:endParaRPr sz="900">
                <a:solidFill>
                  <a:srgbClr val="070605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76" name="Google Shape;2276;p59"/>
            <p:cNvGrpSpPr/>
            <p:nvPr/>
          </p:nvGrpSpPr>
          <p:grpSpPr>
            <a:xfrm>
              <a:off x="2817034" y="4640650"/>
              <a:ext cx="550055" cy="153888"/>
              <a:chOff x="10265269" y="3907543"/>
              <a:chExt cx="733407" cy="205184"/>
            </a:xfrm>
          </p:grpSpPr>
          <p:sp>
            <p:nvSpPr>
              <p:cNvPr id="2277" name="Google Shape;2277;p59"/>
              <p:cNvSpPr/>
              <p:nvPr/>
            </p:nvSpPr>
            <p:spPr>
              <a:xfrm>
                <a:off x="10265269" y="3982789"/>
                <a:ext cx="91440" cy="91440"/>
              </a:xfrm>
              <a:prstGeom prst="rect">
                <a:avLst/>
              </a:prstGeom>
              <a:solidFill>
                <a:srgbClr val="2E55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defRPr/>
                </a:pPr>
                <a:endParaRPr sz="1000">
                  <a:solidFill>
                    <a:srgbClr val="070605"/>
                  </a:solidFill>
                  <a:latin typeface="+mn-lt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8" name="Google Shape;2278;p59"/>
              <p:cNvSpPr txBox="1"/>
              <p:nvPr/>
            </p:nvSpPr>
            <p:spPr>
              <a:xfrm>
                <a:off x="10437984" y="3907543"/>
                <a:ext cx="560692" cy="205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>
                  <a:buClr>
                    <a:srgbClr val="0B1F65"/>
                  </a:buClr>
                  <a:buSzPts val="1000"/>
                  <a:defRPr/>
                </a:pPr>
                <a:r>
                  <a:rPr lang="en-US" sz="1000" b="1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rPr>
                  <a:t>Gastro</a:t>
                </a:r>
                <a:endParaRPr>
                  <a:latin typeface="+mn-lt"/>
                </a:endParaRPr>
              </a:p>
            </p:txBody>
          </p:sp>
        </p:grpSp>
        <p:grpSp>
          <p:nvGrpSpPr>
            <p:cNvPr id="2279" name="Google Shape;2279;p59"/>
            <p:cNvGrpSpPr/>
            <p:nvPr/>
          </p:nvGrpSpPr>
          <p:grpSpPr>
            <a:xfrm>
              <a:off x="3548805" y="4563727"/>
              <a:ext cx="704562" cy="307777"/>
              <a:chOff x="10329277" y="4136431"/>
              <a:chExt cx="939416" cy="410366"/>
            </a:xfrm>
          </p:grpSpPr>
          <p:sp>
            <p:nvSpPr>
              <p:cNvPr id="2280" name="Google Shape;2280;p59"/>
              <p:cNvSpPr txBox="1"/>
              <p:nvPr/>
            </p:nvSpPr>
            <p:spPr>
              <a:xfrm>
                <a:off x="10501994" y="4136431"/>
                <a:ext cx="766699" cy="410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>
                  <a:buClr>
                    <a:srgbClr val="0B1F65"/>
                  </a:buClr>
                  <a:buSzPts val="1000"/>
                  <a:defRPr/>
                </a:pPr>
                <a:r>
                  <a:rPr lang="en-US" sz="10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rPr>
                  <a:t>Internal Medicine</a:t>
                </a:r>
                <a:endParaRPr>
                  <a:latin typeface="+mn-lt"/>
                </a:endParaRPr>
              </a:p>
            </p:txBody>
          </p:sp>
          <p:sp>
            <p:nvSpPr>
              <p:cNvPr id="2281" name="Google Shape;2281;p59"/>
              <p:cNvSpPr/>
              <p:nvPr/>
            </p:nvSpPr>
            <p:spPr>
              <a:xfrm>
                <a:off x="10329277" y="4304250"/>
                <a:ext cx="91440" cy="91440"/>
              </a:xfrm>
              <a:prstGeom prst="rect">
                <a:avLst/>
              </a:prstGeom>
              <a:solidFill>
                <a:srgbClr val="46817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defRPr/>
                </a:pPr>
                <a:endParaRPr sz="1000">
                  <a:solidFill>
                    <a:srgbClr val="070605"/>
                  </a:solidFill>
                  <a:latin typeface="+mn-lt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2" name="Google Shape;2282;p59"/>
            <p:cNvGrpSpPr/>
            <p:nvPr/>
          </p:nvGrpSpPr>
          <p:grpSpPr>
            <a:xfrm>
              <a:off x="4370828" y="4563726"/>
              <a:ext cx="740758" cy="307777"/>
              <a:chOff x="10265269" y="4507410"/>
              <a:chExt cx="987678" cy="410366"/>
            </a:xfrm>
          </p:grpSpPr>
          <p:sp>
            <p:nvSpPr>
              <p:cNvPr id="2283" name="Google Shape;2283;p59"/>
              <p:cNvSpPr txBox="1"/>
              <p:nvPr/>
            </p:nvSpPr>
            <p:spPr>
              <a:xfrm>
                <a:off x="10437984" y="4507410"/>
                <a:ext cx="814963" cy="410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>
                  <a:buClr>
                    <a:srgbClr val="0B1F65"/>
                  </a:buClr>
                  <a:buSzPts val="1000"/>
                  <a:defRPr/>
                </a:pPr>
                <a:r>
                  <a:rPr lang="en-US" sz="10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rPr>
                  <a:t>Family Medicine</a:t>
                </a:r>
                <a:endParaRPr>
                  <a:latin typeface="+mn-lt"/>
                </a:endParaRPr>
              </a:p>
            </p:txBody>
          </p:sp>
          <p:sp>
            <p:nvSpPr>
              <p:cNvPr id="2284" name="Google Shape;2284;p59"/>
              <p:cNvSpPr/>
              <p:nvPr/>
            </p:nvSpPr>
            <p:spPr>
              <a:xfrm>
                <a:off x="10265269" y="4672399"/>
                <a:ext cx="91440" cy="91440"/>
              </a:xfrm>
              <a:prstGeom prst="rect">
                <a:avLst/>
              </a:prstGeom>
              <a:solidFill>
                <a:srgbClr val="BFDD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defRPr/>
                </a:pPr>
                <a:endParaRPr sz="1000">
                  <a:solidFill>
                    <a:srgbClr val="070605"/>
                  </a:solidFill>
                  <a:latin typeface="+mn-lt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5" name="Google Shape;2285;p59"/>
            <p:cNvGrpSpPr/>
            <p:nvPr/>
          </p:nvGrpSpPr>
          <p:grpSpPr>
            <a:xfrm>
              <a:off x="5293308" y="4563727"/>
              <a:ext cx="702675" cy="307777"/>
              <a:chOff x="10265269" y="4507410"/>
              <a:chExt cx="936902" cy="410366"/>
            </a:xfrm>
          </p:grpSpPr>
          <p:sp>
            <p:nvSpPr>
              <p:cNvPr id="2286" name="Google Shape;2286;p59"/>
              <p:cNvSpPr txBox="1"/>
              <p:nvPr/>
            </p:nvSpPr>
            <p:spPr>
              <a:xfrm>
                <a:off x="10437984" y="4507410"/>
                <a:ext cx="764187" cy="410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>
                  <a:buClr>
                    <a:srgbClr val="0B1F65"/>
                  </a:buClr>
                  <a:buSzPts val="1000"/>
                  <a:defRPr/>
                </a:pPr>
                <a:r>
                  <a:rPr lang="en-US" sz="10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rPr>
                  <a:t>General Medicine</a:t>
                </a:r>
                <a:endParaRPr>
                  <a:latin typeface="+mn-lt"/>
                </a:endParaRPr>
              </a:p>
            </p:txBody>
          </p:sp>
          <p:sp>
            <p:nvSpPr>
              <p:cNvPr id="2287" name="Google Shape;2287;p59"/>
              <p:cNvSpPr/>
              <p:nvPr/>
            </p:nvSpPr>
            <p:spPr>
              <a:xfrm>
                <a:off x="10265269" y="4672399"/>
                <a:ext cx="91440" cy="91440"/>
              </a:xfrm>
              <a:prstGeom prst="rect">
                <a:avLst/>
              </a:prstGeom>
              <a:solidFill>
                <a:srgbClr val="DEEDE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defRPr/>
                </a:pPr>
                <a:endParaRPr sz="1000">
                  <a:solidFill>
                    <a:srgbClr val="070605"/>
                  </a:solidFill>
                  <a:latin typeface="+mn-lt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8" name="Google Shape;2288;p59"/>
            <p:cNvSpPr/>
            <p:nvPr/>
          </p:nvSpPr>
          <p:spPr>
            <a:xfrm>
              <a:off x="3435932" y="4319588"/>
              <a:ext cx="832116" cy="18920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71D4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defRPr/>
              </a:pPr>
              <a:r>
                <a:rPr lang="en-US" sz="1000" b="1">
                  <a:solidFill>
                    <a:srgbClr val="070605"/>
                  </a:solidFill>
                  <a:latin typeface="+mn-lt"/>
                  <a:ea typeface="Calibri"/>
                  <a:cs typeface="Calibri"/>
                  <a:sym typeface="Calibri"/>
                </a:rPr>
                <a:t>PCPs</a:t>
              </a:r>
              <a:endParaRPr sz="751" b="1">
                <a:solidFill>
                  <a:srgbClr val="070605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89" name="Google Shape;2289;p59"/>
          <p:cNvCxnSpPr/>
          <p:nvPr/>
        </p:nvCxnSpPr>
        <p:spPr>
          <a:xfrm>
            <a:off x="2393223" y="1373934"/>
            <a:ext cx="0" cy="45720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A5A5A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292" name="Google Shape;2292;p59"/>
          <p:cNvSpPr txBox="1"/>
          <p:nvPr/>
        </p:nvSpPr>
        <p:spPr>
          <a:xfrm>
            <a:off x="142878" y="6248946"/>
            <a:ext cx="8763138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>
              <a:defRPr/>
            </a:pPr>
            <a:r>
              <a:rPr lang="en-US" sz="800">
                <a:solidFill>
                  <a:srgbClr val="001D49"/>
                </a:solidFill>
                <a:latin typeface="+mn-lt"/>
                <a:ea typeface="Calibri"/>
                <a:cs typeface="Calibri"/>
                <a:sym typeface="Calibri"/>
              </a:rPr>
              <a:t>Question text in speaker notes | n - No. of HCPs </a:t>
            </a:r>
            <a:r>
              <a:rPr lang="en-US" sz="800">
                <a:solidFill>
                  <a:srgbClr val="001D49"/>
                </a:solidFill>
                <a:latin typeface="+mn-lt"/>
              </a:rPr>
              <a:t>Detailed question text given in speaker notes </a:t>
            </a:r>
          </a:p>
        </p:txBody>
      </p:sp>
      <p:sp>
        <p:nvSpPr>
          <p:cNvPr id="2293" name="Google Shape;2293;p59"/>
          <p:cNvSpPr/>
          <p:nvPr/>
        </p:nvSpPr>
        <p:spPr>
          <a:xfrm>
            <a:off x="4031783" y="4360473"/>
            <a:ext cx="1330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rgbClr val="071D49"/>
                </a:solidFill>
                <a:latin typeface="+mn-lt"/>
                <a:ea typeface="Calibri"/>
                <a:cs typeface="Calibri"/>
                <a:sym typeface="Calibri"/>
              </a:rPr>
              <a:t>% of HCPs</a:t>
            </a:r>
            <a:endParaRPr lang="en-US" b="1" u="sng">
              <a:solidFill>
                <a:srgbClr val="071D49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59"/>
          <p:cNvSpPr/>
          <p:nvPr/>
        </p:nvSpPr>
        <p:spPr>
          <a:xfrm rot="-5400000">
            <a:off x="5583116" y="3754847"/>
            <a:ext cx="1330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en-US" sz="1000">
                <a:solidFill>
                  <a:srgbClr val="071D49"/>
                </a:solidFill>
                <a:latin typeface="+mn-lt"/>
                <a:ea typeface="Calibri"/>
                <a:cs typeface="Calibri"/>
                <a:sym typeface="Calibri"/>
              </a:rPr>
              <a:t>% of HCPs</a:t>
            </a:r>
            <a:endParaRPr lang="en-US" b="1" u="sng">
              <a:solidFill>
                <a:srgbClr val="071D49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D858F5E-0220-4AD3-A227-B1BF5A8473ED}"/>
              </a:ext>
            </a:extLst>
          </p:cNvPr>
          <p:cNvGrpSpPr/>
          <p:nvPr/>
        </p:nvGrpSpPr>
        <p:grpSpPr>
          <a:xfrm>
            <a:off x="358638" y="1295528"/>
            <a:ext cx="1728201" cy="518309"/>
            <a:chOff x="518620" y="1652705"/>
            <a:chExt cx="1728201" cy="51831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0931EBA-F922-44C8-AFF9-E181827B040E}"/>
                </a:ext>
              </a:extLst>
            </p:cNvPr>
            <p:cNvGrpSpPr/>
            <p:nvPr/>
          </p:nvGrpSpPr>
          <p:grpSpPr>
            <a:xfrm>
              <a:off x="1132534" y="1652705"/>
              <a:ext cx="1114287" cy="518310"/>
              <a:chOff x="1636870" y="1954058"/>
              <a:chExt cx="1485716" cy="691079"/>
            </a:xfrm>
          </p:grpSpPr>
          <p:sp>
            <p:nvSpPr>
              <p:cNvPr id="98" name="TextBox 130">
                <a:extLst>
                  <a:ext uri="{FF2B5EF4-FFF2-40B4-BE49-F238E27FC236}">
                    <a16:creationId xmlns:a16="http://schemas.microsoft.com/office/drawing/2014/main" id="{FD905437-CB05-42B5-8441-2DFE3608B194}"/>
                  </a:ext>
                </a:extLst>
              </p:cNvPr>
              <p:cNvSpPr txBox="1"/>
              <p:nvPr/>
            </p:nvSpPr>
            <p:spPr>
              <a:xfrm>
                <a:off x="1636874" y="1954058"/>
                <a:ext cx="1436352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b="1">
                    <a:solidFill>
                      <a:srgbClr val="071D49"/>
                    </a:solidFill>
                    <a:cs typeface="Calibri" panose="020F0502020204030204" pitchFamily="34" charset="0"/>
                  </a:rPr>
                  <a:t>288 </a:t>
                </a:r>
                <a:r>
                  <a:rPr lang="en-US" sz="1400" b="1">
                    <a:solidFill>
                      <a:srgbClr val="FFFFFF">
                        <a:lumMod val="50000"/>
                      </a:srgbClr>
                    </a:solidFill>
                    <a:cs typeface="Calibri" panose="020F0502020204030204" pitchFamily="34" charset="0"/>
                  </a:rPr>
                  <a:t>(256)</a:t>
                </a:r>
                <a:endParaRPr lang="en-US" sz="1600" b="1">
                  <a:solidFill>
                    <a:srgbClr val="FFFFFF">
                      <a:lumMod val="50000"/>
                    </a:srgbClr>
                  </a:solidFill>
                  <a:cs typeface="Calibri" panose="020F0502020204030204" pitchFamily="34" charset="0"/>
                </a:endParaRPr>
              </a:p>
            </p:txBody>
          </p:sp>
          <p:sp>
            <p:nvSpPr>
              <p:cNvPr id="99" name="TextBox 131">
                <a:extLst>
                  <a:ext uri="{FF2B5EF4-FFF2-40B4-BE49-F238E27FC236}">
                    <a16:creationId xmlns:a16="http://schemas.microsoft.com/office/drawing/2014/main" id="{E1BE9F66-6045-4D96-BC81-4ACAA867826A}"/>
                  </a:ext>
                </a:extLst>
              </p:cNvPr>
              <p:cNvSpPr txBox="1"/>
              <p:nvPr/>
            </p:nvSpPr>
            <p:spPr>
              <a:xfrm>
                <a:off x="1636870" y="2316842"/>
                <a:ext cx="1485716" cy="328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sz="1000">
                    <a:solidFill>
                      <a:srgbClr val="070605"/>
                    </a:solidFill>
                    <a:cs typeface="Calibri" panose="020F0502020204030204" pitchFamily="34" charset="0"/>
                  </a:rPr>
                  <a:t>Total HCPs</a:t>
                </a:r>
              </a:p>
            </p:txBody>
          </p:sp>
        </p:grp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27FBBF94-4DDB-4B70-AC78-3827E2813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8620" y="1757044"/>
              <a:ext cx="294813" cy="335759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A631D22-5515-43D4-BBC1-612E471EFB1D}"/>
              </a:ext>
            </a:extLst>
          </p:cNvPr>
          <p:cNvGrpSpPr/>
          <p:nvPr/>
        </p:nvGrpSpPr>
        <p:grpSpPr>
          <a:xfrm>
            <a:off x="350449" y="1969258"/>
            <a:ext cx="2001342" cy="672195"/>
            <a:chOff x="510431" y="2284630"/>
            <a:chExt cx="2001342" cy="672195"/>
          </a:xfrm>
        </p:grpSpPr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7CCC04FD-521D-40D1-862E-DD501A5DA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0431" y="2490480"/>
              <a:ext cx="311191" cy="286623"/>
            </a:xfrm>
            <a:prstGeom prst="rect">
              <a:avLst/>
            </a:prstGeom>
          </p:spPr>
        </p:pic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2DCDE2D-B754-4B73-8354-9A22022B6963}"/>
                </a:ext>
              </a:extLst>
            </p:cNvPr>
            <p:cNvGrpSpPr/>
            <p:nvPr/>
          </p:nvGrpSpPr>
          <p:grpSpPr>
            <a:xfrm>
              <a:off x="1132534" y="2284630"/>
              <a:ext cx="1379239" cy="672195"/>
              <a:chOff x="1636870" y="1954059"/>
              <a:chExt cx="1838986" cy="896259"/>
            </a:xfrm>
          </p:grpSpPr>
          <p:sp>
            <p:nvSpPr>
              <p:cNvPr id="103" name="TextBox 130">
                <a:extLst>
                  <a:ext uri="{FF2B5EF4-FFF2-40B4-BE49-F238E27FC236}">
                    <a16:creationId xmlns:a16="http://schemas.microsoft.com/office/drawing/2014/main" id="{DB8D89FE-3027-483C-9F1D-FEB7189825DC}"/>
                  </a:ext>
                </a:extLst>
              </p:cNvPr>
              <p:cNvSpPr txBox="1"/>
              <p:nvPr/>
            </p:nvSpPr>
            <p:spPr>
              <a:xfrm>
                <a:off x="1636870" y="1954059"/>
                <a:ext cx="1838986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b="1">
                    <a:solidFill>
                      <a:srgbClr val="071D49"/>
                    </a:solidFill>
                    <a:cs typeface="Calibri" panose="020F0502020204030204" pitchFamily="34" charset="0"/>
                  </a:rPr>
                  <a:t>14.9 </a:t>
                </a:r>
                <a:r>
                  <a:rPr lang="en-US" sz="1400" b="1">
                    <a:solidFill>
                      <a:srgbClr val="FFFFFF">
                        <a:lumMod val="50000"/>
                      </a:srgbClr>
                    </a:solidFill>
                    <a:cs typeface="Calibri" panose="020F0502020204030204" pitchFamily="34" charset="0"/>
                  </a:rPr>
                  <a:t>(15.6)</a:t>
                </a:r>
                <a:endParaRPr lang="en-US" sz="1600" b="1">
                  <a:solidFill>
                    <a:srgbClr val="071D49"/>
                  </a:solidFill>
                  <a:cs typeface="Calibri" panose="020F0502020204030204" pitchFamily="34" charset="0"/>
                </a:endParaRPr>
              </a:p>
            </p:txBody>
          </p:sp>
          <p:sp>
            <p:nvSpPr>
              <p:cNvPr id="104" name="TextBox 131">
                <a:extLst>
                  <a:ext uri="{FF2B5EF4-FFF2-40B4-BE49-F238E27FC236}">
                    <a16:creationId xmlns:a16="http://schemas.microsoft.com/office/drawing/2014/main" id="{FFE771AE-8712-4003-99B4-A7B668C43574}"/>
                  </a:ext>
                </a:extLst>
              </p:cNvPr>
              <p:cNvSpPr txBox="1"/>
              <p:nvPr/>
            </p:nvSpPr>
            <p:spPr>
              <a:xfrm>
                <a:off x="1636870" y="2316839"/>
                <a:ext cx="1578595" cy="533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sz="1000">
                    <a:solidFill>
                      <a:srgbClr val="070605"/>
                    </a:solidFill>
                    <a:cs typeface="Calibri" panose="020F0502020204030204" pitchFamily="34" charset="0"/>
                  </a:rPr>
                  <a:t>Avg. Years of Experience</a:t>
                </a: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B06BB74-F73C-42F8-9160-A8465E15ED66}"/>
              </a:ext>
            </a:extLst>
          </p:cNvPr>
          <p:cNvGrpSpPr/>
          <p:nvPr/>
        </p:nvGrpSpPr>
        <p:grpSpPr>
          <a:xfrm>
            <a:off x="297086" y="2757460"/>
            <a:ext cx="1993035" cy="672196"/>
            <a:chOff x="506336" y="3070443"/>
            <a:chExt cx="1993035" cy="672196"/>
          </a:xfrm>
        </p:grpSpPr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0C21C8D9-0196-45A9-BAD5-81D1AC3FC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6336" y="3259914"/>
              <a:ext cx="319381" cy="319381"/>
            </a:xfrm>
            <a:prstGeom prst="rect">
              <a:avLst/>
            </a:prstGeom>
          </p:spPr>
        </p:pic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2927C30-9EA4-4973-B307-1F0C029135B3}"/>
                </a:ext>
              </a:extLst>
            </p:cNvPr>
            <p:cNvGrpSpPr/>
            <p:nvPr/>
          </p:nvGrpSpPr>
          <p:grpSpPr>
            <a:xfrm>
              <a:off x="1132534" y="3070443"/>
              <a:ext cx="1366837" cy="672196"/>
              <a:chOff x="1636870" y="1954059"/>
              <a:chExt cx="1822449" cy="896260"/>
            </a:xfrm>
          </p:grpSpPr>
          <p:sp>
            <p:nvSpPr>
              <p:cNvPr id="108" name="TextBox 130">
                <a:extLst>
                  <a:ext uri="{FF2B5EF4-FFF2-40B4-BE49-F238E27FC236}">
                    <a16:creationId xmlns:a16="http://schemas.microsoft.com/office/drawing/2014/main" id="{374A2057-3B05-4EFE-80CE-2A4FACBB9AE6}"/>
                  </a:ext>
                </a:extLst>
              </p:cNvPr>
              <p:cNvSpPr txBox="1"/>
              <p:nvPr/>
            </p:nvSpPr>
            <p:spPr>
              <a:xfrm>
                <a:off x="1636873" y="1954059"/>
                <a:ext cx="1664264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b="1">
                    <a:solidFill>
                      <a:srgbClr val="071D49"/>
                    </a:solidFill>
                    <a:cs typeface="Calibri" panose="020F0502020204030204" pitchFamily="34" charset="0"/>
                  </a:rPr>
                  <a:t>96% </a:t>
                </a:r>
                <a:r>
                  <a:rPr lang="en-US" sz="1400" b="1">
                    <a:solidFill>
                      <a:srgbClr val="FFFFFF">
                        <a:lumMod val="50000"/>
                      </a:srgbClr>
                    </a:solidFill>
                    <a:cs typeface="Calibri" panose="020F0502020204030204" pitchFamily="34" charset="0"/>
                  </a:rPr>
                  <a:t>(96%)</a:t>
                </a:r>
                <a:endParaRPr lang="en-US" sz="1600" b="1">
                  <a:solidFill>
                    <a:srgbClr val="071D49"/>
                  </a:solidFill>
                  <a:cs typeface="Calibri" panose="020F0502020204030204" pitchFamily="34" charset="0"/>
                </a:endParaRPr>
              </a:p>
            </p:txBody>
          </p:sp>
          <p:sp>
            <p:nvSpPr>
              <p:cNvPr id="109" name="TextBox 131">
                <a:extLst>
                  <a:ext uri="{FF2B5EF4-FFF2-40B4-BE49-F238E27FC236}">
                    <a16:creationId xmlns:a16="http://schemas.microsoft.com/office/drawing/2014/main" id="{F58ED8DC-CD7E-4F0A-81D5-A83D7B5D4615}"/>
                  </a:ext>
                </a:extLst>
              </p:cNvPr>
              <p:cNvSpPr txBox="1"/>
              <p:nvPr/>
            </p:nvSpPr>
            <p:spPr>
              <a:xfrm>
                <a:off x="1636870" y="2316839"/>
                <a:ext cx="1822449" cy="533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sz="1000">
                    <a:solidFill>
                      <a:srgbClr val="070605"/>
                    </a:solidFill>
                    <a:cs typeface="Calibri" panose="020F0502020204030204" pitchFamily="34" charset="0"/>
                  </a:rPr>
                  <a:t>Avg. Time Spent on Direct Patient Care</a:t>
                </a:r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536395C-BF1E-4B34-8DB5-2F5225D8EF18}"/>
              </a:ext>
            </a:extLst>
          </p:cNvPr>
          <p:cNvGrpSpPr/>
          <p:nvPr/>
        </p:nvGrpSpPr>
        <p:grpSpPr>
          <a:xfrm>
            <a:off x="297218" y="3624489"/>
            <a:ext cx="1995223" cy="672196"/>
            <a:chOff x="457200" y="3856256"/>
            <a:chExt cx="1995223" cy="672196"/>
          </a:xfrm>
        </p:grpSpPr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8D5E6F67-A4E8-42A0-AB87-AE6FDF1B8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7200" y="4062105"/>
              <a:ext cx="417652" cy="286624"/>
            </a:xfrm>
            <a:prstGeom prst="rect">
              <a:avLst/>
            </a:prstGeom>
          </p:spPr>
        </p:pic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6BCDEECD-5B31-46C6-8F6D-EB1B1544C573}"/>
                </a:ext>
              </a:extLst>
            </p:cNvPr>
            <p:cNvGrpSpPr/>
            <p:nvPr/>
          </p:nvGrpSpPr>
          <p:grpSpPr>
            <a:xfrm>
              <a:off x="1132535" y="3856256"/>
              <a:ext cx="1319888" cy="672196"/>
              <a:chOff x="1636870" y="1954059"/>
              <a:chExt cx="1759850" cy="896260"/>
            </a:xfrm>
          </p:grpSpPr>
          <p:sp>
            <p:nvSpPr>
              <p:cNvPr id="113" name="TextBox 130">
                <a:extLst>
                  <a:ext uri="{FF2B5EF4-FFF2-40B4-BE49-F238E27FC236}">
                    <a16:creationId xmlns:a16="http://schemas.microsoft.com/office/drawing/2014/main" id="{7A8A4F35-1E61-41A5-96E0-9811FB47831D}"/>
                  </a:ext>
                </a:extLst>
              </p:cNvPr>
              <p:cNvSpPr txBox="1"/>
              <p:nvPr/>
            </p:nvSpPr>
            <p:spPr>
              <a:xfrm>
                <a:off x="1636874" y="1954059"/>
                <a:ext cx="1588751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b="1">
                    <a:solidFill>
                      <a:srgbClr val="071D49"/>
                    </a:solidFill>
                    <a:cs typeface="Calibri" panose="020F0502020204030204" pitchFamily="34" charset="0"/>
                  </a:rPr>
                  <a:t>294 </a:t>
                </a:r>
                <a:r>
                  <a:rPr lang="en-US" sz="1400" b="1">
                    <a:solidFill>
                      <a:srgbClr val="FFFFFF">
                        <a:lumMod val="50000"/>
                      </a:srgbClr>
                    </a:solidFill>
                    <a:cs typeface="Calibri" panose="020F0502020204030204" pitchFamily="34" charset="0"/>
                  </a:rPr>
                  <a:t>(299)</a:t>
                </a:r>
                <a:endParaRPr lang="en-US" sz="1600" b="1">
                  <a:solidFill>
                    <a:srgbClr val="071D49"/>
                  </a:solidFill>
                  <a:cs typeface="Calibri" panose="020F0502020204030204" pitchFamily="34" charset="0"/>
                </a:endParaRPr>
              </a:p>
            </p:txBody>
          </p:sp>
          <p:sp>
            <p:nvSpPr>
              <p:cNvPr id="114" name="TextBox 131">
                <a:extLst>
                  <a:ext uri="{FF2B5EF4-FFF2-40B4-BE49-F238E27FC236}">
                    <a16:creationId xmlns:a16="http://schemas.microsoft.com/office/drawing/2014/main" id="{E65FA080-19EE-4F65-A3A2-61BDB7F7F2EC}"/>
                  </a:ext>
                </a:extLst>
              </p:cNvPr>
              <p:cNvSpPr txBox="1"/>
              <p:nvPr/>
            </p:nvSpPr>
            <p:spPr>
              <a:xfrm>
                <a:off x="1636870" y="2316839"/>
                <a:ext cx="1759850" cy="533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sz="1000">
                    <a:solidFill>
                      <a:srgbClr val="070605"/>
                    </a:solidFill>
                    <a:cs typeface="Calibri" panose="020F0502020204030204" pitchFamily="34" charset="0"/>
                  </a:rPr>
                  <a:t>Avg. Patient Load in a Typical Month</a:t>
                </a:r>
                <a:endParaRPr lang="en-US" sz="1000" baseline="30000">
                  <a:solidFill>
                    <a:srgbClr val="070605"/>
                  </a:solidFill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D736287-93F2-440E-AA7C-C9C7DCE99AF2}"/>
              </a:ext>
            </a:extLst>
          </p:cNvPr>
          <p:cNvGrpSpPr/>
          <p:nvPr/>
        </p:nvGrpSpPr>
        <p:grpSpPr>
          <a:xfrm>
            <a:off x="362728" y="4452105"/>
            <a:ext cx="2066736" cy="672196"/>
            <a:chOff x="522714" y="4642069"/>
            <a:chExt cx="2066736" cy="67219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FCD00AC6-362E-464A-8F55-F73D56691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2714" y="4847918"/>
              <a:ext cx="286624" cy="286624"/>
            </a:xfrm>
            <a:prstGeom prst="rect">
              <a:avLst/>
            </a:prstGeom>
          </p:spPr>
        </p:pic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8E57AD32-58B1-480C-A8E8-864C95C5AC5C}"/>
                </a:ext>
              </a:extLst>
            </p:cNvPr>
            <p:cNvGrpSpPr/>
            <p:nvPr/>
          </p:nvGrpSpPr>
          <p:grpSpPr>
            <a:xfrm>
              <a:off x="1132533" y="4642069"/>
              <a:ext cx="1456917" cy="672196"/>
              <a:chOff x="1636869" y="1954059"/>
              <a:chExt cx="1942556" cy="896260"/>
            </a:xfrm>
          </p:grpSpPr>
          <p:sp>
            <p:nvSpPr>
              <p:cNvPr id="118" name="TextBox 130">
                <a:extLst>
                  <a:ext uri="{FF2B5EF4-FFF2-40B4-BE49-F238E27FC236}">
                    <a16:creationId xmlns:a16="http://schemas.microsoft.com/office/drawing/2014/main" id="{C7A58558-96BB-4DDF-8026-B6C1DDAFEBEF}"/>
                  </a:ext>
                </a:extLst>
              </p:cNvPr>
              <p:cNvSpPr txBox="1"/>
              <p:nvPr/>
            </p:nvSpPr>
            <p:spPr>
              <a:xfrm>
                <a:off x="1636873" y="1954059"/>
                <a:ext cx="126000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b="1">
                    <a:solidFill>
                      <a:srgbClr val="071D49"/>
                    </a:solidFill>
                    <a:cs typeface="Calibri" panose="020F0502020204030204" pitchFamily="34" charset="0"/>
                  </a:rPr>
                  <a:t>22 </a:t>
                </a:r>
                <a:r>
                  <a:rPr lang="en-US" sz="1400" b="1">
                    <a:solidFill>
                      <a:srgbClr val="FFFFFF">
                        <a:lumMod val="50000"/>
                      </a:srgbClr>
                    </a:solidFill>
                    <a:cs typeface="Calibri" panose="020F0502020204030204" pitchFamily="34" charset="0"/>
                  </a:rPr>
                  <a:t>(22)</a:t>
                </a:r>
                <a:endParaRPr lang="en-US" sz="1600" b="1">
                  <a:solidFill>
                    <a:srgbClr val="071D49"/>
                  </a:solidFill>
                  <a:cs typeface="Calibri" panose="020F0502020204030204" pitchFamily="34" charset="0"/>
                </a:endParaRPr>
              </a:p>
            </p:txBody>
          </p:sp>
          <p:sp>
            <p:nvSpPr>
              <p:cNvPr id="119" name="TextBox 131">
                <a:extLst>
                  <a:ext uri="{FF2B5EF4-FFF2-40B4-BE49-F238E27FC236}">
                    <a16:creationId xmlns:a16="http://schemas.microsoft.com/office/drawing/2014/main" id="{5EE9470D-3596-42FB-8445-8E5668B75A64}"/>
                  </a:ext>
                </a:extLst>
              </p:cNvPr>
              <p:cNvSpPr txBox="1"/>
              <p:nvPr/>
            </p:nvSpPr>
            <p:spPr>
              <a:xfrm>
                <a:off x="1636869" y="2316839"/>
                <a:ext cx="1942556" cy="533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sz="1000">
                    <a:solidFill>
                      <a:srgbClr val="070605"/>
                    </a:solidFill>
                    <a:cs typeface="Calibri" panose="020F0502020204030204" pitchFamily="34" charset="0"/>
                  </a:rPr>
                  <a:t>Avg. EPI Patient Load in a Typical Month</a:t>
                </a: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C4E511E-0AF0-4D9A-B34D-B849C5AEA422}"/>
              </a:ext>
            </a:extLst>
          </p:cNvPr>
          <p:cNvGrpSpPr/>
          <p:nvPr/>
        </p:nvGrpSpPr>
        <p:grpSpPr>
          <a:xfrm>
            <a:off x="387297" y="5279720"/>
            <a:ext cx="1833452" cy="672195"/>
            <a:chOff x="547282" y="5427880"/>
            <a:chExt cx="1833452" cy="672195"/>
          </a:xfrm>
        </p:grpSpPr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D883CE14-9342-4CB9-BED2-08ABA3BD3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7282" y="5629635"/>
              <a:ext cx="237488" cy="294813"/>
            </a:xfrm>
            <a:prstGeom prst="rect">
              <a:avLst/>
            </a:prstGeom>
          </p:spPr>
        </p:pic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37E6F23-F46B-401E-A125-26B158ABE4B1}"/>
                </a:ext>
              </a:extLst>
            </p:cNvPr>
            <p:cNvGrpSpPr/>
            <p:nvPr/>
          </p:nvGrpSpPr>
          <p:grpSpPr>
            <a:xfrm>
              <a:off x="1132534" y="5427880"/>
              <a:ext cx="1248200" cy="672195"/>
              <a:chOff x="1636870" y="1954059"/>
              <a:chExt cx="1664267" cy="896259"/>
            </a:xfrm>
          </p:grpSpPr>
          <p:sp>
            <p:nvSpPr>
              <p:cNvPr id="123" name="TextBox 130">
                <a:extLst>
                  <a:ext uri="{FF2B5EF4-FFF2-40B4-BE49-F238E27FC236}">
                    <a16:creationId xmlns:a16="http://schemas.microsoft.com/office/drawing/2014/main" id="{E2A17B2B-9E2C-4CE3-BA4D-35A07E1EEFCA}"/>
                  </a:ext>
                </a:extLst>
              </p:cNvPr>
              <p:cNvSpPr txBox="1"/>
              <p:nvPr/>
            </p:nvSpPr>
            <p:spPr>
              <a:xfrm>
                <a:off x="1636874" y="1954059"/>
                <a:ext cx="1260000" cy="49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b="1">
                    <a:solidFill>
                      <a:srgbClr val="071D49"/>
                    </a:solidFill>
                    <a:cs typeface="Calibri" panose="020F0502020204030204" pitchFamily="34" charset="0"/>
                  </a:rPr>
                  <a:t>19 </a:t>
                </a:r>
                <a:r>
                  <a:rPr lang="en-US" sz="1400" b="1">
                    <a:solidFill>
                      <a:srgbClr val="FFFFFF">
                        <a:lumMod val="50000"/>
                      </a:srgbClr>
                    </a:solidFill>
                    <a:cs typeface="Calibri" panose="020F0502020204030204" pitchFamily="34" charset="0"/>
                  </a:rPr>
                  <a:t>(19)</a:t>
                </a:r>
                <a:endParaRPr lang="en-US" sz="1600" b="1">
                  <a:solidFill>
                    <a:srgbClr val="071D49"/>
                  </a:solidFill>
                  <a:cs typeface="Calibri" panose="020F0502020204030204" pitchFamily="34" charset="0"/>
                </a:endParaRPr>
              </a:p>
            </p:txBody>
          </p:sp>
          <p:sp>
            <p:nvSpPr>
              <p:cNvPr id="124" name="TextBox 131">
                <a:extLst>
                  <a:ext uri="{FF2B5EF4-FFF2-40B4-BE49-F238E27FC236}">
                    <a16:creationId xmlns:a16="http://schemas.microsoft.com/office/drawing/2014/main" id="{BCA1C91A-BD0C-4440-B7D4-7E47D931A524}"/>
                  </a:ext>
                </a:extLst>
              </p:cNvPr>
              <p:cNvSpPr txBox="1"/>
              <p:nvPr/>
            </p:nvSpPr>
            <p:spPr>
              <a:xfrm>
                <a:off x="1636870" y="2316839"/>
                <a:ext cx="1664267" cy="533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ja-JP"/>
                </a:defPPr>
                <a:lvl1pPr marL="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356" fontAlgn="b">
                  <a:defRPr/>
                </a:pPr>
                <a:r>
                  <a:rPr lang="en-US" sz="1000">
                    <a:solidFill>
                      <a:srgbClr val="070605"/>
                    </a:solidFill>
                    <a:cs typeface="Calibri" panose="020F0502020204030204" pitchFamily="34" charset="0"/>
                  </a:rPr>
                  <a:t>Avg. Monthly EPI Prescriptions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FC7603-7485-186F-AB7B-A1F1BDD08484}"/>
              </a:ext>
            </a:extLst>
          </p:cNvPr>
          <p:cNvGrpSpPr/>
          <p:nvPr/>
        </p:nvGrpSpPr>
        <p:grpSpPr>
          <a:xfrm>
            <a:off x="7694559" y="2484901"/>
            <a:ext cx="1384642" cy="2790972"/>
            <a:chOff x="7694559" y="2484901"/>
            <a:chExt cx="1384642" cy="2790972"/>
          </a:xfrm>
        </p:grpSpPr>
        <p:grpSp>
          <p:nvGrpSpPr>
            <p:cNvPr id="2238" name="Google Shape;2238;p59"/>
            <p:cNvGrpSpPr/>
            <p:nvPr/>
          </p:nvGrpSpPr>
          <p:grpSpPr>
            <a:xfrm>
              <a:off x="7694562" y="2484901"/>
              <a:ext cx="1384639" cy="2426098"/>
              <a:chOff x="7807141" y="2737569"/>
              <a:chExt cx="1384639" cy="2426098"/>
            </a:xfrm>
          </p:grpSpPr>
          <p:grpSp>
            <p:nvGrpSpPr>
              <p:cNvPr id="2239" name="Google Shape;2239;p59"/>
              <p:cNvGrpSpPr/>
              <p:nvPr/>
            </p:nvGrpSpPr>
            <p:grpSpPr>
              <a:xfrm>
                <a:off x="7807141" y="2737569"/>
                <a:ext cx="1070419" cy="307777"/>
                <a:chOff x="10260509" y="3802665"/>
                <a:chExt cx="1427225" cy="410369"/>
              </a:xfrm>
            </p:grpSpPr>
            <p:sp>
              <p:nvSpPr>
                <p:cNvPr id="2240" name="Google Shape;2240;p59"/>
                <p:cNvSpPr/>
                <p:nvPr/>
              </p:nvSpPr>
              <p:spPr>
                <a:xfrm>
                  <a:off x="10260509" y="3962129"/>
                  <a:ext cx="91440" cy="91440"/>
                </a:xfrm>
                <a:prstGeom prst="rect">
                  <a:avLst/>
                </a:prstGeom>
                <a:solidFill>
                  <a:srgbClr val="20386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defRPr/>
                  </a:pPr>
                  <a:endParaRPr sz="15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1" name="Google Shape;2241;p59"/>
                <p:cNvSpPr txBox="1"/>
                <p:nvPr/>
              </p:nvSpPr>
              <p:spPr>
                <a:xfrm>
                  <a:off x="10437985" y="3802665"/>
                  <a:ext cx="1249749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>
                    <a:buClr>
                      <a:srgbClr val="0B1F65"/>
                    </a:buClr>
                    <a:buSzPts val="1000"/>
                    <a:defRPr/>
                  </a:pPr>
                  <a:r>
                    <a:rPr lang="en-US" sz="1000">
                      <a:solidFill>
                        <a:srgbClr val="070605"/>
                      </a:solidFill>
                      <a:latin typeface="+mn-lt"/>
                      <a:ea typeface="Calibri"/>
                      <a:cs typeface="Calibri"/>
                      <a:sym typeface="Calibri"/>
                    </a:rPr>
                    <a:t>Private Practice (Group)</a:t>
                  </a:r>
                  <a:endParaRPr>
                    <a:latin typeface="+mn-lt"/>
                  </a:endParaRPr>
                </a:p>
              </p:txBody>
            </p:sp>
          </p:grpSp>
          <p:grpSp>
            <p:nvGrpSpPr>
              <p:cNvPr id="2242" name="Google Shape;2242;p59"/>
              <p:cNvGrpSpPr/>
              <p:nvPr/>
            </p:nvGrpSpPr>
            <p:grpSpPr>
              <a:xfrm>
                <a:off x="7807143" y="4008560"/>
                <a:ext cx="1285695" cy="307777"/>
                <a:chOff x="10324517" y="4138395"/>
                <a:chExt cx="1714259" cy="410369"/>
              </a:xfrm>
            </p:grpSpPr>
            <p:sp>
              <p:nvSpPr>
                <p:cNvPr id="2243" name="Google Shape;2243;p59"/>
                <p:cNvSpPr txBox="1"/>
                <p:nvPr/>
              </p:nvSpPr>
              <p:spPr>
                <a:xfrm>
                  <a:off x="10501992" y="4138395"/>
                  <a:ext cx="1536784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>
                    <a:buClr>
                      <a:srgbClr val="0B1F65"/>
                    </a:buClr>
                    <a:buSzPts val="1000"/>
                    <a:defRPr/>
                  </a:pPr>
                  <a:r>
                    <a:rPr lang="en-US" sz="1000">
                      <a:solidFill>
                        <a:srgbClr val="070605"/>
                      </a:solidFill>
                      <a:latin typeface="+mn-lt"/>
                      <a:ea typeface="Calibri"/>
                      <a:cs typeface="Calibri"/>
                      <a:sym typeface="Calibri"/>
                    </a:rPr>
                    <a:t>Community hospital (Teaching)</a:t>
                  </a:r>
                </a:p>
              </p:txBody>
            </p:sp>
            <p:sp>
              <p:nvSpPr>
                <p:cNvPr id="2244" name="Google Shape;2244;p59"/>
                <p:cNvSpPr/>
                <p:nvPr/>
              </p:nvSpPr>
              <p:spPr>
                <a:xfrm>
                  <a:off x="10324517" y="4312739"/>
                  <a:ext cx="91440" cy="91440"/>
                </a:xfrm>
                <a:prstGeom prst="rect">
                  <a:avLst/>
                </a:prstGeom>
                <a:solidFill>
                  <a:srgbClr val="B4C7E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defRPr/>
                  </a:pPr>
                  <a:endParaRPr sz="15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45" name="Google Shape;2245;p59"/>
              <p:cNvGrpSpPr/>
              <p:nvPr/>
            </p:nvGrpSpPr>
            <p:grpSpPr>
              <a:xfrm>
                <a:off x="7807142" y="4855890"/>
                <a:ext cx="1176251" cy="307777"/>
                <a:chOff x="10260509" y="4507408"/>
                <a:chExt cx="1568334" cy="410369"/>
              </a:xfrm>
            </p:grpSpPr>
            <p:sp>
              <p:nvSpPr>
                <p:cNvPr id="2246" name="Google Shape;2246;p59"/>
                <p:cNvSpPr txBox="1"/>
                <p:nvPr/>
              </p:nvSpPr>
              <p:spPr>
                <a:xfrm>
                  <a:off x="10437985" y="4507408"/>
                  <a:ext cx="1390858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>
                    <a:buClr>
                      <a:srgbClr val="0B1F65"/>
                    </a:buClr>
                    <a:buSzPts val="1000"/>
                    <a:defRPr/>
                  </a:pPr>
                  <a:r>
                    <a:rPr lang="en-US" sz="1000">
                      <a:solidFill>
                        <a:srgbClr val="070605"/>
                      </a:solidFill>
                      <a:latin typeface="+mn-lt"/>
                      <a:ea typeface="Calibri"/>
                      <a:cs typeface="Calibri"/>
                      <a:sym typeface="Calibri"/>
                    </a:rPr>
                    <a:t>University teaching hospital</a:t>
                  </a:r>
                  <a:endParaRPr lang="en-US" sz="1000">
                    <a:latin typeface="+mn-lt"/>
                  </a:endParaRPr>
                </a:p>
              </p:txBody>
            </p:sp>
            <p:sp>
              <p:nvSpPr>
                <p:cNvPr id="2247" name="Google Shape;2247;p59"/>
                <p:cNvSpPr/>
                <p:nvPr/>
              </p:nvSpPr>
              <p:spPr>
                <a:xfrm>
                  <a:off x="10260509" y="4667636"/>
                  <a:ext cx="91440" cy="91440"/>
                </a:xfrm>
                <a:prstGeom prst="rect">
                  <a:avLst/>
                </a:prstGeom>
                <a:solidFill>
                  <a:srgbClr val="7F7F7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defRPr/>
                  </a:pPr>
                  <a:endParaRPr sz="15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48" name="Google Shape;2248;p59"/>
              <p:cNvGrpSpPr/>
              <p:nvPr/>
            </p:nvGrpSpPr>
            <p:grpSpPr>
              <a:xfrm>
                <a:off x="7807142" y="3161232"/>
                <a:ext cx="1118998" cy="307777"/>
                <a:chOff x="10324517" y="4152511"/>
                <a:chExt cx="1491997" cy="410369"/>
              </a:xfrm>
            </p:grpSpPr>
            <p:sp>
              <p:nvSpPr>
                <p:cNvPr id="2249" name="Google Shape;2249;p59"/>
                <p:cNvSpPr txBox="1"/>
                <p:nvPr/>
              </p:nvSpPr>
              <p:spPr>
                <a:xfrm>
                  <a:off x="10501992" y="4152511"/>
                  <a:ext cx="1314522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>
                    <a:buClr>
                      <a:srgbClr val="0B1F65"/>
                    </a:buClr>
                    <a:buSzPts val="1000"/>
                    <a:defRPr/>
                  </a:pPr>
                  <a:r>
                    <a:rPr lang="en-US" sz="1000">
                      <a:solidFill>
                        <a:srgbClr val="070605"/>
                      </a:solidFill>
                      <a:latin typeface="+mn-lt"/>
                      <a:ea typeface="Calibri"/>
                      <a:cs typeface="Calibri"/>
                      <a:sym typeface="Calibri"/>
                    </a:rPr>
                    <a:t>Private Practice (Solo)</a:t>
                  </a:r>
                  <a:endParaRPr>
                    <a:latin typeface="+mn-lt"/>
                  </a:endParaRPr>
                </a:p>
              </p:txBody>
            </p:sp>
            <p:sp>
              <p:nvSpPr>
                <p:cNvPr id="2250" name="Google Shape;2250;p59"/>
                <p:cNvSpPr/>
                <p:nvPr/>
              </p:nvSpPr>
              <p:spPr>
                <a:xfrm>
                  <a:off x="10324517" y="4312739"/>
                  <a:ext cx="91440" cy="91440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defRPr/>
                  </a:pPr>
                  <a:endParaRPr sz="15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51" name="Google Shape;2251;p59"/>
              <p:cNvGrpSpPr/>
              <p:nvPr/>
            </p:nvGrpSpPr>
            <p:grpSpPr>
              <a:xfrm>
                <a:off x="7807143" y="3584897"/>
                <a:ext cx="1285695" cy="307777"/>
                <a:chOff x="10260509" y="4507408"/>
                <a:chExt cx="1714259" cy="410369"/>
              </a:xfrm>
            </p:grpSpPr>
            <p:sp>
              <p:nvSpPr>
                <p:cNvPr id="2252" name="Google Shape;2252;p59"/>
                <p:cNvSpPr txBox="1"/>
                <p:nvPr/>
              </p:nvSpPr>
              <p:spPr>
                <a:xfrm>
                  <a:off x="10437984" y="4507408"/>
                  <a:ext cx="1536784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B1F65"/>
                    </a:buClr>
                    <a:buSzPts val="1000"/>
                    <a:buFont typeface="Arial"/>
                    <a:buNone/>
                    <a:tabLst/>
                    <a:defRPr/>
                  </a:pPr>
                  <a:r>
                    <a:rPr kumimoji="0" lang="en-US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70605"/>
                      </a:solidFill>
                      <a:effectLst/>
                      <a:uLnTx/>
                      <a:uFillTx/>
                      <a:latin typeface="+mn-lt"/>
                      <a:ea typeface="Calibri"/>
                      <a:cs typeface="Calibri"/>
                      <a:sym typeface="Calibri"/>
                    </a:rPr>
                    <a:t>Community hospital (Non-Teaching)</a:t>
                  </a:r>
                  <a:endPara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sym typeface="Arial"/>
                  </a:endParaRPr>
                </a:p>
              </p:txBody>
            </p:sp>
            <p:sp>
              <p:nvSpPr>
                <p:cNvPr id="2253" name="Google Shape;2253;p59"/>
                <p:cNvSpPr/>
                <p:nvPr/>
              </p:nvSpPr>
              <p:spPr>
                <a:xfrm>
                  <a:off x="10260509" y="4676514"/>
                  <a:ext cx="91440" cy="91440"/>
                </a:xfrm>
                <a:prstGeom prst="rect">
                  <a:avLst/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defRPr/>
                  </a:pPr>
                  <a:endParaRPr sz="15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54" name="Google Shape;2254;p59"/>
              <p:cNvGrpSpPr/>
              <p:nvPr/>
            </p:nvGrpSpPr>
            <p:grpSpPr>
              <a:xfrm>
                <a:off x="7807143" y="4432225"/>
                <a:ext cx="1384637" cy="307777"/>
                <a:chOff x="10260509" y="4518812"/>
                <a:chExt cx="1846182" cy="410369"/>
              </a:xfrm>
            </p:grpSpPr>
            <p:sp>
              <p:nvSpPr>
                <p:cNvPr id="2255" name="Google Shape;2255;p59"/>
                <p:cNvSpPr txBox="1"/>
                <p:nvPr/>
              </p:nvSpPr>
              <p:spPr>
                <a:xfrm>
                  <a:off x="10437982" y="4518812"/>
                  <a:ext cx="1668709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>
                    <a:buClr>
                      <a:srgbClr val="0B1F65"/>
                    </a:buClr>
                    <a:buSzPts val="1000"/>
                    <a:defRPr/>
                  </a:pPr>
                  <a:r>
                    <a:rPr lang="en-US" sz="1000">
                      <a:solidFill>
                        <a:srgbClr val="070605"/>
                      </a:solidFill>
                      <a:latin typeface="+mn-lt"/>
                      <a:ea typeface="Calibri"/>
                      <a:cs typeface="Calibri"/>
                      <a:sym typeface="Calibri"/>
                    </a:rPr>
                    <a:t>Major Academic Center group practice</a:t>
                  </a:r>
                  <a:endParaRPr lang="en-US" sz="1000">
                    <a:latin typeface="+mn-lt"/>
                  </a:endParaRPr>
                </a:p>
              </p:txBody>
            </p:sp>
            <p:sp>
              <p:nvSpPr>
                <p:cNvPr id="2256" name="Google Shape;2256;p59"/>
                <p:cNvSpPr/>
                <p:nvPr/>
              </p:nvSpPr>
              <p:spPr>
                <a:xfrm>
                  <a:off x="10260509" y="4667636"/>
                  <a:ext cx="91440" cy="91440"/>
                </a:xfrm>
                <a:prstGeom prst="rect">
                  <a:avLst/>
                </a:prstGeom>
                <a:solidFill>
                  <a:srgbClr val="A6A6A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defRPr/>
                  </a:pPr>
                  <a:endParaRPr sz="15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EACDE0F-1742-6E3C-2478-A29CAA1C093F}"/>
                </a:ext>
              </a:extLst>
            </p:cNvPr>
            <p:cNvGrpSpPr/>
            <p:nvPr/>
          </p:nvGrpSpPr>
          <p:grpSpPr>
            <a:xfrm>
              <a:off x="7694559" y="4968096"/>
              <a:ext cx="1354296" cy="307777"/>
              <a:chOff x="7694559" y="4968096"/>
              <a:chExt cx="1354296" cy="307777"/>
            </a:xfrm>
          </p:grpSpPr>
          <p:sp>
            <p:nvSpPr>
              <p:cNvPr id="126" name="Google Shape;2246;p59">
                <a:extLst>
                  <a:ext uri="{FF2B5EF4-FFF2-40B4-BE49-F238E27FC236}">
                    <a16:creationId xmlns:a16="http://schemas.microsoft.com/office/drawing/2014/main" id="{B7CF5A10-A20C-4FED-9C31-01199137BE8E}"/>
                  </a:ext>
                </a:extLst>
              </p:cNvPr>
              <p:cNvSpPr txBox="1"/>
              <p:nvPr/>
            </p:nvSpPr>
            <p:spPr>
              <a:xfrm>
                <a:off x="7827670" y="4968096"/>
                <a:ext cx="122118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>
                  <a:buClr>
                    <a:srgbClr val="0B1F65"/>
                  </a:buClr>
                  <a:buSzPts val="1000"/>
                  <a:defRPr/>
                </a:pPr>
                <a:r>
                  <a:rPr lang="en-US" sz="1000">
                    <a:solidFill>
                      <a:srgbClr val="070605"/>
                    </a:solidFill>
                    <a:latin typeface="+mn-lt"/>
                    <a:ea typeface="Calibri"/>
                    <a:cs typeface="Calibri"/>
                    <a:sym typeface="Calibri"/>
                  </a:rPr>
                  <a:t>Major Academic Center Hospital</a:t>
                </a:r>
                <a:endParaRPr lang="en-US" sz="1000">
                  <a:latin typeface="+mn-lt"/>
                </a:endParaRPr>
              </a:p>
            </p:txBody>
          </p:sp>
          <p:sp>
            <p:nvSpPr>
              <p:cNvPr id="132" name="Google Shape;2247;p59">
                <a:extLst>
                  <a:ext uri="{FF2B5EF4-FFF2-40B4-BE49-F238E27FC236}">
                    <a16:creationId xmlns:a16="http://schemas.microsoft.com/office/drawing/2014/main" id="{0B476100-D23F-4EE4-B9BB-3CD15B5D7CD0}"/>
                  </a:ext>
                </a:extLst>
              </p:cNvPr>
              <p:cNvSpPr/>
              <p:nvPr/>
            </p:nvSpPr>
            <p:spPr>
              <a:xfrm>
                <a:off x="7694559" y="5088264"/>
                <a:ext cx="68580" cy="6858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defRPr/>
                </a:pPr>
                <a:endParaRPr lang="en-US" sz="1500">
                  <a:solidFill>
                    <a:srgbClr val="070605"/>
                  </a:solidFill>
                  <a:latin typeface="+mn-lt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TextBox 130">
            <a:extLst>
              <a:ext uri="{FF2B5EF4-FFF2-40B4-BE49-F238E27FC236}">
                <a16:creationId xmlns:a16="http://schemas.microsoft.com/office/drawing/2014/main" id="{257E0EAF-52BF-1248-D59D-18C0FD1AEB1D}"/>
              </a:ext>
            </a:extLst>
          </p:cNvPr>
          <p:cNvSpPr txBox="1"/>
          <p:nvPr/>
        </p:nvSpPr>
        <p:spPr>
          <a:xfrm>
            <a:off x="3214670" y="3073970"/>
            <a:ext cx="2457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>
              <a:buClrTx/>
              <a:defRPr/>
            </a:pPr>
            <a:r>
              <a:rPr kumimoji="0" lang="en-US" sz="1200" b="1">
                <a:solidFill>
                  <a:srgbClr val="071D49"/>
                </a:solidFill>
                <a:ea typeface="Calibri"/>
                <a:cs typeface="Calibri"/>
                <a:sym typeface="Calibri"/>
              </a:rPr>
              <a:t>Primary Medical Specialty</a:t>
            </a:r>
            <a:endParaRPr kumimoji="0" lang="en-US" sz="1200">
              <a:solidFill>
                <a:srgbClr val="071D49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" name="TextBox 130">
            <a:extLst>
              <a:ext uri="{FF2B5EF4-FFF2-40B4-BE49-F238E27FC236}">
                <a16:creationId xmlns:a16="http://schemas.microsoft.com/office/drawing/2014/main" id="{0B997E8E-E419-2B43-15C0-4BB5A62407EE}"/>
              </a:ext>
            </a:extLst>
          </p:cNvPr>
          <p:cNvSpPr txBox="1"/>
          <p:nvPr/>
        </p:nvSpPr>
        <p:spPr>
          <a:xfrm>
            <a:off x="2125323" y="3489404"/>
            <a:ext cx="11565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783">
              <a:buClr>
                <a:srgbClr val="071D49"/>
              </a:buClr>
              <a:buSzPts val="1000"/>
              <a:defRPr/>
            </a:pPr>
            <a:r>
              <a:rPr kumimoji="0" lang="pt-BR" sz="800">
                <a:solidFill>
                  <a:srgbClr val="071D49"/>
                </a:solidFill>
                <a:ea typeface="Calibri"/>
                <a:cs typeface="Calibri"/>
                <a:sym typeface="Calibri"/>
              </a:rPr>
              <a:t>Mar’26 </a:t>
            </a:r>
          </a:p>
          <a:p>
            <a:pPr algn="r" defTabSz="685783">
              <a:buClr>
                <a:srgbClr val="071D49"/>
              </a:buClr>
              <a:buSzPts val="1000"/>
              <a:defRPr/>
            </a:pPr>
            <a:r>
              <a:rPr kumimoji="0" lang="pt-BR" sz="800">
                <a:solidFill>
                  <a:srgbClr val="071D49"/>
                </a:solidFill>
                <a:ea typeface="Calibri"/>
                <a:cs typeface="Calibri"/>
                <a:sym typeface="Calibri"/>
              </a:rPr>
              <a:t>n = 185</a:t>
            </a:r>
          </a:p>
        </p:txBody>
      </p:sp>
      <p:sp>
        <p:nvSpPr>
          <p:cNvPr id="5" name="TextBox 130">
            <a:extLst>
              <a:ext uri="{FF2B5EF4-FFF2-40B4-BE49-F238E27FC236}">
                <a16:creationId xmlns:a16="http://schemas.microsoft.com/office/drawing/2014/main" id="{C7775CB5-6AD0-6692-1043-AE5E835678FE}"/>
              </a:ext>
            </a:extLst>
          </p:cNvPr>
          <p:cNvSpPr txBox="1"/>
          <p:nvPr/>
        </p:nvSpPr>
        <p:spPr>
          <a:xfrm>
            <a:off x="2126271" y="3978640"/>
            <a:ext cx="11556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85783">
              <a:buClr>
                <a:srgbClr val="071D49"/>
              </a:buClr>
              <a:buSzPts val="1000"/>
              <a:defRPr/>
            </a:pPr>
            <a:r>
              <a:rPr kumimoji="0" lang="en-US" sz="800">
                <a:solidFill>
                  <a:srgbClr val="FFFFFF">
                    <a:lumMod val="50000"/>
                  </a:srgbClr>
                </a:solidFill>
                <a:ea typeface="Calibri"/>
                <a:cs typeface="Calibri"/>
                <a:sym typeface="Calibri"/>
              </a:rPr>
              <a:t>Feb’26 </a:t>
            </a:r>
          </a:p>
          <a:p>
            <a:pPr algn="r" defTabSz="685783">
              <a:buClr>
                <a:srgbClr val="071D49"/>
              </a:buClr>
              <a:buSzPts val="1000"/>
              <a:defRPr/>
            </a:pPr>
            <a:r>
              <a:rPr kumimoji="0" lang="en-US" sz="800">
                <a:solidFill>
                  <a:srgbClr val="FFFFFF">
                    <a:lumMod val="50000"/>
                  </a:srgbClr>
                </a:solidFill>
                <a:ea typeface="Calibri"/>
                <a:cs typeface="Calibri"/>
                <a:sym typeface="Calibri"/>
              </a:rPr>
              <a:t>n = 181</a:t>
            </a:r>
            <a:endParaRPr kumimoji="0" lang="en-US" sz="800">
              <a:solidFill>
                <a:srgbClr val="FFFFFF">
                  <a:lumMod val="50000"/>
                </a:srgbClr>
              </a:solidFill>
              <a:ea typeface="Calibri"/>
              <a:cs typeface="Calibri"/>
            </a:endParaRPr>
          </a:p>
        </p:txBody>
      </p:sp>
      <p:sp>
        <p:nvSpPr>
          <p:cNvPr id="6" name="TextBox 130">
            <a:extLst>
              <a:ext uri="{FF2B5EF4-FFF2-40B4-BE49-F238E27FC236}">
                <a16:creationId xmlns:a16="http://schemas.microsoft.com/office/drawing/2014/main" id="{C440AA4F-6BE5-8B83-1247-F6FCD06BBE6B}"/>
              </a:ext>
            </a:extLst>
          </p:cNvPr>
          <p:cNvSpPr txBox="1"/>
          <p:nvPr/>
        </p:nvSpPr>
        <p:spPr>
          <a:xfrm>
            <a:off x="6235600" y="5551800"/>
            <a:ext cx="701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>
              <a:buClr>
                <a:srgbClr val="071D49"/>
              </a:buClr>
              <a:buSzPts val="1000"/>
              <a:defRPr/>
            </a:pPr>
            <a:r>
              <a:rPr kumimoji="0" lang="pt-BR" sz="800">
                <a:solidFill>
                  <a:srgbClr val="071D49"/>
                </a:solidFill>
                <a:ea typeface="Calibri"/>
                <a:cs typeface="Calibri"/>
                <a:sym typeface="Calibri"/>
              </a:rPr>
              <a:t>Mar’26 </a:t>
            </a:r>
          </a:p>
          <a:p>
            <a:pPr algn="ctr" defTabSz="685783">
              <a:buClr>
                <a:srgbClr val="071D49"/>
              </a:buClr>
              <a:buSzPts val="1000"/>
              <a:defRPr/>
            </a:pPr>
            <a:r>
              <a:rPr kumimoji="0" lang="pt-BR" sz="800">
                <a:solidFill>
                  <a:srgbClr val="071D49"/>
                </a:solidFill>
                <a:ea typeface="Calibri"/>
                <a:cs typeface="Calibri"/>
                <a:sym typeface="Calibri"/>
              </a:rPr>
              <a:t>n = 288</a:t>
            </a:r>
          </a:p>
        </p:txBody>
      </p:sp>
      <p:sp>
        <p:nvSpPr>
          <p:cNvPr id="7" name="TextBox 130">
            <a:extLst>
              <a:ext uri="{FF2B5EF4-FFF2-40B4-BE49-F238E27FC236}">
                <a16:creationId xmlns:a16="http://schemas.microsoft.com/office/drawing/2014/main" id="{D1873FE3-1DAA-D8F4-116B-655A737DC7DD}"/>
              </a:ext>
            </a:extLst>
          </p:cNvPr>
          <p:cNvSpPr txBox="1"/>
          <p:nvPr/>
        </p:nvSpPr>
        <p:spPr>
          <a:xfrm>
            <a:off x="6919485" y="5569522"/>
            <a:ext cx="701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71D49"/>
              </a:buClr>
              <a:buSzPts val="1000"/>
            </a:pPr>
            <a:r>
              <a:rPr lang="pt-BR" sz="800">
                <a:solidFill>
                  <a:srgbClr val="7F7F7F"/>
                </a:solidFill>
                <a:ea typeface="Calibri"/>
                <a:cs typeface="Calibri"/>
                <a:sym typeface="Calibri"/>
              </a:rPr>
              <a:t>Feb’26</a:t>
            </a:r>
          </a:p>
          <a:p>
            <a:pPr algn="ctr">
              <a:buClr>
                <a:srgbClr val="071D49"/>
              </a:buClr>
              <a:buSzPts val="1000"/>
            </a:pPr>
            <a:r>
              <a:rPr lang="pt-BR" sz="800">
                <a:solidFill>
                  <a:srgbClr val="7F7F7F"/>
                </a:solidFill>
                <a:ea typeface="Calibri"/>
                <a:cs typeface="Calibri"/>
                <a:sym typeface="Calibri"/>
              </a:rPr>
              <a:t>n = 254</a:t>
            </a:r>
          </a:p>
        </p:txBody>
      </p:sp>
      <p:sp>
        <p:nvSpPr>
          <p:cNvPr id="12" name="TextBox 130">
            <a:extLst>
              <a:ext uri="{FF2B5EF4-FFF2-40B4-BE49-F238E27FC236}">
                <a16:creationId xmlns:a16="http://schemas.microsoft.com/office/drawing/2014/main" id="{369245F9-408F-8E56-84BC-86E9B0122307}"/>
              </a:ext>
            </a:extLst>
          </p:cNvPr>
          <p:cNvSpPr txBox="1"/>
          <p:nvPr/>
        </p:nvSpPr>
        <p:spPr>
          <a:xfrm>
            <a:off x="3149753" y="1399777"/>
            <a:ext cx="2457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>
              <a:buClrTx/>
              <a:defRPr/>
            </a:pPr>
            <a:r>
              <a:rPr kumimoji="0" lang="en-US" sz="1200" b="1">
                <a:solidFill>
                  <a:srgbClr val="071D49"/>
                </a:solidFill>
                <a:ea typeface="Calibri"/>
                <a:cs typeface="Calibri"/>
                <a:sym typeface="Calibri"/>
              </a:rPr>
              <a:t># of HCPs by Specialty</a:t>
            </a:r>
            <a:endParaRPr kumimoji="0" lang="en-US" sz="1200">
              <a:solidFill>
                <a:srgbClr val="071D49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65D076-C287-8882-35B1-CF63C3E1466C}"/>
              </a:ext>
            </a:extLst>
          </p:cNvPr>
          <p:cNvSpPr txBox="1"/>
          <p:nvPr/>
        </p:nvSpPr>
        <p:spPr>
          <a:xfrm>
            <a:off x="2699609" y="1755149"/>
            <a:ext cx="1034072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3">
              <a:lnSpc>
                <a:spcPct val="150000"/>
              </a:lnSpc>
              <a:buClrTx/>
              <a:defRPr/>
            </a:pPr>
            <a:r>
              <a:rPr lang="en-IN" sz="1000" kern="1200">
                <a:latin typeface="+mn-lt"/>
              </a:rPr>
              <a:t>Gastros</a:t>
            </a:r>
          </a:p>
          <a:p>
            <a:pPr algn="ctr" defTabSz="685783">
              <a:lnSpc>
                <a:spcPct val="150000"/>
              </a:lnSpc>
              <a:buClrTx/>
              <a:defRPr/>
            </a:pPr>
            <a:r>
              <a:rPr lang="en-IN" sz="1000">
                <a:solidFill>
                  <a:srgbClr val="071D49"/>
                </a:solidFill>
                <a:latin typeface="+mn-lt"/>
                <a:ea typeface="Calibri"/>
                <a:cs typeface="Calibri"/>
              </a:rPr>
              <a:t>121</a:t>
            </a:r>
            <a:r>
              <a:rPr lang="en-IN" sz="1000">
                <a:latin typeface="+mn-lt"/>
              </a:rPr>
              <a:t> (</a:t>
            </a:r>
            <a:r>
              <a:rPr lang="en-IN" sz="1000">
                <a:solidFill>
                  <a:srgbClr val="7F7F7F"/>
                </a:solidFill>
                <a:latin typeface="+mn-lt"/>
                <a:ea typeface="Calibri"/>
                <a:cs typeface="Calibri"/>
              </a:rPr>
              <a:t>129</a:t>
            </a:r>
            <a:r>
              <a:rPr lang="en-IN" sz="1000">
                <a:latin typeface="+mn-lt"/>
              </a:rPr>
              <a:t>)</a:t>
            </a:r>
            <a:endParaRPr lang="en-IN" sz="1000" kern="120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883227-7449-ED2C-7E77-0D3CE80196EA}"/>
              </a:ext>
            </a:extLst>
          </p:cNvPr>
          <p:cNvSpPr txBox="1"/>
          <p:nvPr/>
        </p:nvSpPr>
        <p:spPr>
          <a:xfrm>
            <a:off x="3974589" y="1755149"/>
            <a:ext cx="666829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3">
              <a:lnSpc>
                <a:spcPct val="150000"/>
              </a:lnSpc>
              <a:buClrTx/>
              <a:defRPr/>
            </a:pPr>
            <a:r>
              <a:rPr lang="en-IN" sz="1000" kern="1200">
                <a:latin typeface="+mn-lt"/>
              </a:rPr>
              <a:t>PCPs</a:t>
            </a:r>
          </a:p>
          <a:p>
            <a:pPr algn="ctr" defTabSz="685783">
              <a:lnSpc>
                <a:spcPct val="150000"/>
              </a:lnSpc>
              <a:buClrTx/>
              <a:defRPr/>
            </a:pPr>
            <a:r>
              <a:rPr lang="en-IN" sz="1000">
                <a:solidFill>
                  <a:srgbClr val="071D49"/>
                </a:solidFill>
                <a:latin typeface="+mn-lt"/>
                <a:ea typeface="Calibri"/>
                <a:cs typeface="Calibri"/>
              </a:rPr>
              <a:t>64 (</a:t>
            </a:r>
            <a:r>
              <a:rPr lang="en-IN" sz="1000">
                <a:solidFill>
                  <a:srgbClr val="7F7F7F"/>
                </a:solidFill>
                <a:latin typeface="+mn-lt"/>
                <a:ea typeface="Calibri"/>
                <a:cs typeface="Calibri"/>
              </a:rPr>
              <a:t>43</a:t>
            </a:r>
            <a:r>
              <a:rPr lang="en-IN" sz="1000">
                <a:solidFill>
                  <a:srgbClr val="071D49"/>
                </a:solidFill>
                <a:latin typeface="+mn-lt"/>
                <a:ea typeface="Calibri"/>
                <a:cs typeface="Calibri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375772-D762-2A58-A5C1-39008BD1E896}"/>
              </a:ext>
            </a:extLst>
          </p:cNvPr>
          <p:cNvSpPr txBox="1"/>
          <p:nvPr/>
        </p:nvSpPr>
        <p:spPr>
          <a:xfrm>
            <a:off x="5030369" y="1755149"/>
            <a:ext cx="666829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3">
              <a:lnSpc>
                <a:spcPct val="150000"/>
              </a:lnSpc>
              <a:buClrTx/>
              <a:defRPr/>
            </a:pPr>
            <a:r>
              <a:rPr lang="en-IN" sz="1000" kern="1200">
                <a:latin typeface="+mn-lt"/>
              </a:rPr>
              <a:t>NP/PAs</a:t>
            </a:r>
          </a:p>
          <a:p>
            <a:pPr algn="ctr" defTabSz="685783">
              <a:lnSpc>
                <a:spcPct val="150000"/>
              </a:lnSpc>
              <a:buClrTx/>
              <a:defRPr/>
            </a:pPr>
            <a:r>
              <a:rPr lang="en-IN" sz="1000">
                <a:solidFill>
                  <a:srgbClr val="071D49"/>
                </a:solidFill>
                <a:latin typeface="+mn-lt"/>
                <a:ea typeface="Calibri"/>
                <a:cs typeface="Calibri"/>
              </a:rPr>
              <a:t>53 (</a:t>
            </a:r>
            <a:r>
              <a:rPr lang="en-IN" sz="1000">
                <a:solidFill>
                  <a:srgbClr val="7F7F7F"/>
                </a:solidFill>
                <a:latin typeface="+mn-lt"/>
                <a:ea typeface="Calibri"/>
                <a:cs typeface="Calibri"/>
              </a:rPr>
              <a:t>49</a:t>
            </a:r>
            <a:r>
              <a:rPr lang="en-IN" sz="1000">
                <a:solidFill>
                  <a:srgbClr val="071D49"/>
                </a:solidFill>
                <a:latin typeface="+mn-lt"/>
                <a:ea typeface="Calibri"/>
                <a:cs typeface="Calibri"/>
              </a:rPr>
              <a:t>)</a:t>
            </a:r>
          </a:p>
        </p:txBody>
      </p:sp>
      <p:sp>
        <p:nvSpPr>
          <p:cNvPr id="9" name="TextBox 130">
            <a:extLst>
              <a:ext uri="{FF2B5EF4-FFF2-40B4-BE49-F238E27FC236}">
                <a16:creationId xmlns:a16="http://schemas.microsoft.com/office/drawing/2014/main" id="{5B5EB1A1-981E-40FA-0CA3-1CBB29528F69}"/>
              </a:ext>
            </a:extLst>
          </p:cNvPr>
          <p:cNvSpPr txBox="1"/>
          <p:nvPr/>
        </p:nvSpPr>
        <p:spPr>
          <a:xfrm>
            <a:off x="6465953" y="1428135"/>
            <a:ext cx="2457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>
              <a:buClrTx/>
              <a:defRPr/>
            </a:pPr>
            <a:r>
              <a:rPr kumimoji="0" lang="en-US" sz="1200" b="1">
                <a:solidFill>
                  <a:srgbClr val="071D49"/>
                </a:solidFill>
                <a:ea typeface="Calibri"/>
                <a:cs typeface="Calibri"/>
                <a:sym typeface="Calibri"/>
              </a:rPr>
              <a:t>Practice Setting</a:t>
            </a:r>
            <a:endParaRPr kumimoji="0" lang="en-US" sz="1200">
              <a:solidFill>
                <a:srgbClr val="071D49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8E8D1C-7B33-FF67-7F6A-782F78070997}"/>
              </a:ext>
            </a:extLst>
          </p:cNvPr>
          <p:cNvSpPr/>
          <p:nvPr/>
        </p:nvSpPr>
        <p:spPr>
          <a:xfrm>
            <a:off x="7017729" y="1813837"/>
            <a:ext cx="462786" cy="3766635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56FAC7-9679-118B-306D-FBC757ACDE72}"/>
              </a:ext>
            </a:extLst>
          </p:cNvPr>
          <p:cNvSpPr/>
          <p:nvPr/>
        </p:nvSpPr>
        <p:spPr>
          <a:xfrm>
            <a:off x="3261664" y="3957875"/>
            <a:ext cx="2819208" cy="375129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ANALYSISID" val="20"/>
  <p:tag name="GLOBALLIVEWAVE" val="False"/>
  <p:tag name="OLDDARWIN_PROJECT" val="523"/>
  <p:tag name="OLDDARWIN_SURVEY" val="48237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N_CONNECTED_SHAPE_ID" val="42993186"/>
  <p:tag name="UPDATE" val="unlock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DATE" val="unlock"/>
  <p:tag name="DARWINVERSION" val="CSharp"/>
  <p:tag name="MIGRATIONPHASE" val="Phase0"/>
  <p:tag name="VISUALISATION_ID" val="Darwin_83578184"/>
  <p:tag name="FAILEDREFRESHICONID" val="Darwin_83578184"/>
  <p:tag name="ANALYSISTYPE" val="SINGLE_QUESTION"/>
  <p:tag name="REPORTCONFIGHASH" val="b050184a6ca42f9c9259bcf065cbbf75442959a1e7c6f9f91e05e7d58bb62f07"/>
  <p:tag name="REPORTCONFIGHASH_BACKUP" val="{&quot;AnalysisIds&quot;:[641211],&quot;DynamicTimePeriod&quot;:{&quot;IncludeLiveWave&quot;:true,&quot;LatestNDeliverables&quot;:3},&quot;IncludeAlias&quot;:true,&quot;IncludeOverallSegment&quot;:true,&quot;NestSegments&quot;:false,&quot;ProjectId&quot;:523,&quot;ReportingPlanId&quot;:1143,&quot;RollUpDeliverables&quot;:false,&quot;SegmentIds&quot;:[],&quot;SurveyId&quot;:482371,&quot;TimePeriodType&quot;:1}"/>
  <p:tag name="DATAFRAMECONFIGHASH" val="11a0a7fd6c4e7569bc692901f26ba4fae3be1b5465e5592297d697b5cf881434"/>
  <p:tag name="DATAFRAMECONFIGHASH_BACKUP" val="{&quot;AggregationType&quot;:0,&quot;ColumnFields&quot;:[&quot;option&quot;],&quot;FilterCondition&quot;:0,&quot;Filters&quot;:[],&quot;LatestColumnsFirst&quot;:false,&quot;RowFields&quot;:[&quot;time_period_name&quot;],&quot;ValueFields&quot;:[&quot;decimal&quot;],&quot;columnDefinitions&quot;:[{&quot;IsDefaultAlias&quot;:true,&quot;Name&quot;:&quot;time_period_name&quot;},{&quot;Format&quot;:&quot;0%&quot;,&quot;IsDefaultAlias&quot;:true,&quot;Name&quot;:&quot;Major academic center group practice&quot;},{&quot;Format&quot;:&quot;0%&quot;,&quot;IsDefaultAlias&quot;:true,&quot;Name&quot;:&quot;University teaching hospital&quot;},{&quot;Format&quot;:&quot;0%&quot;,&quot;IsDefaultAlias&quot;:true,&quot;Name&quot;:&quot;Major academic center hospital&quot;},{&quot;Format&quot;:&quot;0%&quot;,&quot;IsDefaultAlias&quot;:true,&quot;Name&quot;:&quot;Community teaching hospital&quot;},{&quot;Format&quot;:&quot;0%&quot;,&quot;IsDefaultAlias&quot;:true,&quot;Name&quot;:&quot;Community hospital (Non-teaching)&quot;},{&quot;Format&quot;:&quot;0%&quot;,&quot;IsDefaultAlias&quot;:true,&quot;Name&quot;:&quot;Private practice (solo)&quot;},{&quot;Format&quot;:&quot;0%&quot;,&quot;IsDefaultAlias&quot;:true,&quot;Name&quot;:&quot;Private practice (group)&quot;}]}"/>
  <p:tag name="MAPPINGCONFIG" val="{&quot;addLegend&quot;:false,&quot;addQuestionText&quot;:false,&quot;addSplitObjectsToSingleSlide&quot;:false,&quot;applyTranspose&quot;:false,&quot;customChartType&quot;:null,&quot;insertEmptyColumnsAt&quot;:null,&quot;moveRowsToFirst&quot;:[],&quot;moveRowsToLast&quot;:[],&quot;rowIdentifierColumnName&quot;:null,&quot;rowsPerObject&quot;:null,&quot;selectAllRows&quot;:true,&quot;selectedColumns&quot;:[&quot;time_period_name&quot;,&quot;Major academic center group practice&quot;,&quot;University teaching hospital&quot;,&quot;Major academic center hospital&quot;,&quot;Community teaching hospital&quot;,&quot;Community hospital (Non-teaching)&quot;,&quot;Private practice (solo)&quot;,&quot;Private practice (group)&quot;],&quot;selectedRows&quot;:[],&quot;tableHeaderMode&quot;:0,&quot;topNRows&quot;:null}"/>
  <p:tag name="COLUMNKEYLABELMAP" val="{&quot;decimal&quot;:&quot;Value(%)&quot;,&quot;option&quot;:&quot;Option&quot;,&quot;time_period_name&quot;:&quot;Deliverable&quot;}"/>
  <p:tag name="LASTREFRESHTIME" val="2026-04-22T15:39:03.0000000Z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DATE" val="unlock"/>
  <p:tag name="DARWINVERSION" val="CSharp"/>
  <p:tag name="MIGRATIONPHASE" val="Phase0"/>
  <p:tag name="VISUALISATION_ID" val="Darwin_29389553"/>
  <p:tag name="FAILEDREFRESHICONID" val="Darwin_29389553"/>
  <p:tag name="ANALYSISTYPE" val="SINGLE_QUESTION"/>
  <p:tag name="REPORTCONFIGHASH" val="fe4132941b633ff100776c910671789ced5183c3ade3a774754e9c717142ab7b"/>
  <p:tag name="REPORTCONFIGHASH_BACKUP" val="{&quot;AnalysisIds&quot;:[641205],&quot;DynamicTimePeriod&quot;:{&quot;IncludeLiveWave&quot;:true,&quot;LatestNDeliverables&quot;:3},&quot;IncludeAlias&quot;:true,&quot;IncludeOverallSegment&quot;:true,&quot;NestSegments&quot;:false,&quot;ProjectId&quot;:523,&quot;ReportingPlanId&quot;:1143,&quot;RollUpDeliverables&quot;:false,&quot;SegmentIds&quot;:[],&quot;SurveyId&quot;:482371,&quot;TimePeriodType&quot;:1}"/>
  <p:tag name="DATAFRAMECONFIGHASH" val="30da00d5e68ca81539d220f5d48cc3bbd6b11fbe612f7f8cbceff6bddfa663a8"/>
  <p:tag name="DATAFRAMECONFIGHASH_BACKUP" val="{&quot;AggregationType&quot;:0,&quot;ColumnFields&quot;:[&quot;option&quot;],&quot;FilterCondition&quot;:0,&quot;Filters&quot;:[],&quot;LatestColumnsFirst&quot;:false,&quot;RowFields&quot;:[&quot;time_period_name&quot;],&quot;ValueFields&quot;:[&quot;decimal&quot;],&quot;columnDefinitions&quot;:[{&quot;IsDefaultAlias&quot;:true,&quot;Name&quot;:&quot;time_period_name&quot;},{&quot;Format&quot;:&quot;0%&quot;,&quot;IsDefaultAlias&quot;:true,&quot;Name&quot;:&quot;Gastroenterology&quot;},{&quot;Format&quot;:&quot;0%&quot;,&quot;IsDefaultAlias&quot;:true,&quot;Name&quot;:&quot;Internal Medicine (PCP)&quot;},{&quot;Format&quot;:&quot;0%&quot;,&quot;IsDefaultAlias&quot;:true,&quot;Name&quot;:&quot;Family Medicine (PCP)&quot;},{&quot;Format&quot;:&quot;0%&quot;,&quot;IsDefaultAlias&quot;:true,&quot;Name&quot;:&quot;General Medicine / Practice (PCP)&quot;}]}"/>
  <p:tag name="MAPPINGCONFIG" val="{&quot;addLegend&quot;:false,&quot;addQuestionText&quot;:false,&quot;addSplitObjectsToSingleSlide&quot;:false,&quot;applyTranspose&quot;:false,&quot;customChartType&quot;:null,&quot;insertEmptyColumnsAt&quot;:null,&quot;moveRowsToFirst&quot;:[],&quot;moveRowsToLast&quot;:[],&quot;rowIdentifierColumnName&quot;:null,&quot;rowsPerObject&quot;:null,&quot;selectAllRows&quot;:true,&quot;selectedColumns&quot;:[&quot;time_period_name&quot;,&quot;Gastroenterology&quot;,&quot;Internal Medicine (PCP)&quot;,&quot;Family Medicine (PCP)&quot;,&quot;General Medicine / Practice (PCP)&quot;],&quot;selectedRows&quot;:[],&quot;tableHeaderMode&quot;:0,&quot;topNRows&quot;:null}"/>
  <p:tag name="COLUMNKEYLABELMAP" val="{&quot;decimal&quot;:&quot;Value(%)&quot;,&quot;option&quot;:&quot;Option&quot;,&quot;time_period_name&quot;:&quot;Deliverable&quot;}"/>
  <p:tag name="LASTREFRESHTIME" val="2026-04-22T15:39:03.0000000Z"/>
</p:tagLst>
</file>

<file path=ppt/theme/theme1.xml><?xml version="1.0" encoding="utf-8"?>
<a:theme xmlns:a="http://schemas.openxmlformats.org/drawingml/2006/main" name="Apex">
  <a:themeElements>
    <a:clrScheme name="Apex">
      <a:dk1>
        <a:srgbClr val="4C4C51"/>
      </a:dk1>
      <a:lt1>
        <a:sysClr val="window" lastClr="FFFFFF"/>
      </a:lt1>
      <a:dk2>
        <a:srgbClr val="7F7F7F"/>
      </a:dk2>
      <a:lt2>
        <a:srgbClr val="EDF0FF"/>
      </a:lt2>
      <a:accent1>
        <a:srgbClr val="071D49"/>
      </a:accent1>
      <a:accent2>
        <a:srgbClr val="0066F5"/>
      </a:accent2>
      <a:accent3>
        <a:srgbClr val="CF451C"/>
      </a:accent3>
      <a:accent4>
        <a:srgbClr val="8A2ECC"/>
      </a:accent4>
      <a:accent5>
        <a:srgbClr val="45AB00"/>
      </a:accent5>
      <a:accent6>
        <a:srgbClr val="00A2FF"/>
      </a:accent6>
      <a:hlink>
        <a:srgbClr val="FFC000"/>
      </a:hlink>
      <a:folHlink>
        <a:srgbClr val="071D49"/>
      </a:folHlink>
    </a:clrScheme>
    <a:fontScheme name="AbbVie 2024">
      <a:majorFont>
        <a:latin typeface="F37 Linec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B69404"/>
      </a:dk2>
      <a:lt2>
        <a:srgbClr val="C0C0C0"/>
      </a:lt2>
      <a:accent1>
        <a:srgbClr val="0000FF"/>
      </a:accent1>
      <a:accent2>
        <a:srgbClr val="E2E1C0"/>
      </a:accent2>
      <a:accent3>
        <a:srgbClr val="FFFFFF"/>
      </a:accent3>
      <a:accent4>
        <a:srgbClr val="000000"/>
      </a:accent4>
      <a:accent5>
        <a:srgbClr val="AAAAFF"/>
      </a:accent5>
      <a:accent6>
        <a:srgbClr val="CDCCAE"/>
      </a:accent6>
      <a:hlink>
        <a:srgbClr val="3D97AF"/>
      </a:hlink>
      <a:folHlink>
        <a:srgbClr val="B72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3448585-7634-4BE4-BA59-32130204E584}">
  <we:reference id="wa104038830" version="1.0.0.3" store="en-US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AddinData xmlns="http://connector.synapse.com/">
  <ReportConfig>
    <Entry xmlns="http://connector.synapse.com/" key="6251a7e5c51ed6fa4f9782367cf9bd69429fa677368d61107c60bb6a8dd77448">
      <Data>
        <Value xmlns=""><![CDATA[{"AnalysisIds":[641205],"DynamicTimePeriod":{"IncludeLiveWave":false,"LatestNDeliverables":2},"IncludeAlias":true,"IncludeOverallSegment":true,"NestSegments":false,"ProjectId":523,"ReportingPlanId":1143,"RollUpDeliverables":false,"SegmentIds":[],"SurveyId":482371,"TimePeriodType":1}]]></Value>
      </Data>
    </Entry>
    <Entry xmlns="http://connector.synapse.com/" key="787fd2b5a1f93cad3ab94891cb823e7d843796d97480b92c85592be4ad7884e6">
      <Data>
        <Value xmlns=""><![CDATA[{"AnalysisIds":[641211],"DynamicTimePeriod":{"IncludeLiveWave":false,"LatestNDeliverables":2},"IncludeAlias":true,"IncludeOverallSegment":true,"NestSegments":false,"ProjectId":523,"ReportingPlanId":1143,"RollUpDeliverables":false,"SegmentIds":[],"SurveyId":482371,"TimePeriodType":1}]]></Value>
      </Data>
    </Entry>
    <Entry xmlns="http://connector.synapse.com/" key="8a0baccf7fb0c17914879b71690032d3390f6a2f52f2ebc0868ff192742fc256">
      <Data>
        <Value xmlns=""><![CDATA[{"AnalysisIds":[689321],"IncludeAlias":true,"IncludeOverallSegment":true,"NestSegments":false,"ProjectId":523,"ReportingPlanId":1143,"RollUpDeliverables":false,"SegmentIds":[],"StaticTimePeriodIds":[15186,15187,15188,25373,25374,25375],"SurveyId":396851,"TimePeriodType":0}]]></Value>
      </Data>
    </Entry>
    <Entry xmlns="http://connector.synapse.com/" key="c089c9dd4b1c941818578c9156c669a59c13f807bd6cac1ce2675e1493b8853f">
      <Data>
        <Value xmlns=""><![CDATA[{"AnalysisIds":[651720],"DynamicTimePeriod":{"IncludeLiveWave":false,"LatestNDeliverables":6},"IncludeAlias":false,"IncludeOverallSegment":false,"NestSegments":false,"ProjectId":523,"ReportingPlanId":96,"RollUpDeliverables":false,"SegmentIds":[],"SurveyId":482371,"TimePeriodType":1}]]></Value>
      </Data>
    </Entry>
    <Entry xmlns="http://connector.synapse.com/" key="02522cb480d7d0425dac60628b34a0332c5b06b7c572aaafc8fcde4962db8e6b">
      <Data>
        <Value xmlns=""><![CDATA[{"AnalysisIds":[654353],"DynamicTimePeriod":{"IncludeLiveWave":false,"LatestNDeliverables":1},"IncludeAlias":true,"IncludeOverallSegment":false,"NestSegments":false,"ProjectId":523,"ReportingPlanId":1602,"RollUpDeliverables":false,"SegmentIds":[],"SurveyId":482371,"TimePeriodType":1}]]></Value>
      </Data>
    </Entry>
    <Entry xmlns="http://connector.synapse.com/" key="f411afb8abdb2f43968a07501f8366209db01a5468305e575b4c7c58cfa92711">
      <Data>
        <Value xmlns=""><![CDATA[{"AnalysisIds":[651720],"DynamicTimePeriod":{"IncludeLiveWave":false,"LatestNDeliverables":6},"IncludeAlias":false,"IncludeOverallSegment":false,"NestSegments":false,"ProjectId":523,"ReportingPlanId":96,"RollUpDeliverables":false,"SegmentIds":[2447],"SurveyId":482371,"TimePeriodType":1}]]></Value>
      </Data>
    </Entry>
    <Entry xmlns="http://connector.synapse.com/" key="bb62fd23d87917e4272a115f5bf393242f71dc9bab41749175afec6efd35456c">
      <Data>
        <Value xmlns=""><![CDATA[{"AnalysisIds":[651669],"DynamicTimePeriod":{"IncludeLiveWave":false,"LatestNDeliverables":6},"IncludeAlias":false,"IncludeOverallSegment":false,"NestSegments":false,"ProjectId":523,"ReportingPlanId":96,"RollUpDeliverables":false,"SegmentIds":[],"SurveyId":482371,"TimePeriodType":1}]]></Value>
      </Data>
    </Entry>
    <Entry xmlns="http://connector.synapse.com/" key="cb971ae16e682331827d6a7ed279783731e0aa94cb63426b22b939876a26e6a1">
      <Data>
        <Value xmlns=""><![CDATA[{"AnalysisIds":[651669],"DynamicTimePeriod":{"IncludeLiveWave":false,"LatestNDeliverables":6},"IncludeAlias":false,"IncludeOverallSegment":false,"NestSegments":false,"ProjectId":523,"ReportingPlanId":96,"RollUpDeliverables":false,"SegmentIds":[2447],"SurveyId":482371,"TimePeriodType":1}]]></Value>
      </Data>
    </Entry>
    <Entry xmlns="http://connector.synapse.com/" key="e9952114cd3a7dcb110630a8f9deccc77efaa34458d3c8319481de3e22c17a2a">
      <Data>
        <Value xmlns=""><![CDATA[{"AnalysisIds":[651783],"DynamicTimePeriod":{"IncludeLiveWave":false,"LatestNDeliverables":6},"IncludeAlias":true,"IncludeOverallSegment":false,"NestSegments":false,"ProjectId":523,"ReportingPlanId":96,"RollUpDeliverables":false,"SegmentIds":[2447],"SurveyId":482371,"TimePeriodType":1}]]></Value>
      </Data>
    </Entry>
    <Entry xmlns="http://connector.synapse.com/" key="9f56c050b58ae0051006d4312dcf0702d7c2fc030bbff7be5b28d3000184d8bb">
      <Data>
        <Value xmlns=""><![CDATA[{"AnalysisIds":[651720],"DynamicTimePeriod":{"IncludeLiveWave":false,"LatestNDeliverables":6},"IncludeAlias":true,"IncludeOverallSegment":false,"NestSegments":false,"ProjectId":523,"ReportingPlanId":1602,"RollUpDeliverables":false,"SegmentIds":[2447],"SurveyId":482371,"TimePeriodType":1}]]></Value>
      </Data>
    </Entry>
    <Entry xmlns="http://connector.synapse.com/" key="6738fcecee2045247701ec03a45655c441dff341a0a5b0fef3f9590655c08ca4">
      <Data>
        <Value xmlns=""><![CDATA[{"AnalysisIds":[651669],"DynamicTimePeriod":{"IncludeLiveWave":false,"LatestNDeliverables":6},"IncludeAlias":true,"IncludeOverallSegment":false,"NestSegments":false,"ProjectId":523,"ReportingPlanId":96,"RollUpDeliverables":false,"SegmentIds":[],"SurveyId":482371,"TimePeriodType":1}]]></Value>
      </Data>
    </Entry>
    <Entry xmlns="http://connector.synapse.com/" key="008a063414191a7472177968e425eb7e40bb3a062abdf81d4e49dd45224583d8">
      <Data>
        <Value xmlns=""><![CDATA[{"AnalysisIds":[651783],"DynamicTimePeriod":{"IncludeLiveWave":false,"LatestNDeliverables":6},"IncludeAlias":true,"IncludeOverallSegment":false,"NestSegments":false,"ProjectId":523,"ReportingPlanId":96,"RollUpDeliverables":false,"SegmentIds":[],"SurveyId":482371,"TimePeriodType":1}]]></Value>
      </Data>
    </Entry>
    <Entry xmlns="http://connector.synapse.com/" key="9ddba404fc841feabc6de052d3f165b261742447a6ad6f69aef8457e1d7a5bc9">
      <Data>
        <Value xmlns=""><![CDATA[{"AnalysisIds":[502549],"DynamicTimePeriod":{"IncludeLiveWave":false,"LatestNDeliverables":2},"IncludeAlias":true,"IncludeOverallSegment":false,"NestSegments":false,"ProjectId":523,"ReportingPlanId":96,"RollUpDeliverables":false,"SegmentIds":[],"SurveyId":482371,"TimePeriodType":1}]]></Value>
      </Data>
    </Entry>
    <Entry xmlns="http://connector.synapse.com/" key="0c7ca63c413881ba2dc955a4a81f85e22ca751ce811989a08bc5b15210d441a7">
      <Data>
        <Value xmlns=""><![CDATA[{"AnalysisIds":[499929],"DynamicTimePeriod":{"IncludeLiveWave":false,"LatestNDeliverables":2},"IncludeAlias":true,"IncludeOverallSegment":false,"NestSegments":false,"ProjectId":523,"ReportingPlanId":96,"RollUpDeliverables":false,"SegmentIds":[],"SurveyId":482371,"TimePeriodType":1}]]></Value>
      </Data>
    </Entry>
    <Entry xmlns="http://connector.synapse.com/" key="cd54a93a0514e7be83829fa39c1c22f09c7ac7c8bd97fe4864c6ac69c010b505">
      <Data>
        <Value xmlns=""><![CDATA[{"AnalysisIds":[654353],"DynamicTimePeriod":{"IncludeLiveWave":false,"LatestNDeliverables":6},"IncludeAlias":false,"IncludeOverallSegment":false,"NestSegments":false,"ProjectId":523,"ReportingPlanId":96,"RollUpDeliverables":false,"SegmentIds":[2447],"SurveyId":482371,"TimePeriodType":1}]]></Value>
      </Data>
    </Entry>
    <Entry xmlns="http://connector.synapse.com/" key="480714a8ae118b82692f38e45c1cff28cd70a5430c421e0db757b12ad42d2f4e">
      <Data>
        <Value xmlns=""><![CDATA[{"AnalysisIds":[654352],"DynamicTimePeriod":{"IncludeLiveWave":false,"LatestNDeliverables":6},"IncludeAlias":false,"IncludeOverallSegment":false,"NestSegments":false,"ProjectId":523,"ReportingPlanId":96,"RollUpDeliverables":false,"SegmentIds":[2447],"SurveyId":482371,"TimePeriodType":1}]]></Value>
      </Data>
    </Entry>
    <Entry xmlns="http://connector.synapse.com/" key="805ecd44af05071b0d4d029dba1b79aa4a65420ad8086ff663d7bbbbd2b8787b">
      <Data>
        <Value xmlns=""><![CDATA[{"AnalysisIds":[117414],"DynamicTimePeriod":{"IncludeLiveWave":false,"LatestNDeliverables":6},"IncludeAlias":true,"IncludeOverallSegment":false,"NestSegments":false,"ProjectId":523,"ReportingPlanId":96,"RollUpDeliverables":false,"SegmentIds":[2447],"SurveyId":482371,"TimePeriodType":1}]]></Value>
      </Data>
    </Entry>
    <Entry xmlns="http://connector.synapse.com/" key="dc51faeea8ba61bc3a9fc231b912d8d431547167420f409e646df6f8c5dde34d">
      <Data>
        <Value xmlns=""><![CDATA[{"AnalysisIds":[117414],"DynamicTimePeriod":{"IncludeLiveWave":false,"LatestNDeliverables":6},"IncludeAlias":false,"IncludeOverallSegment":false,"NestSegments":false,"ProjectId":523,"ReportingPlanId":96,"RollUpDeliverables":false,"SegmentIds":[2447],"SurveyId":482371,"TimePeriodType":1}]]></Value>
      </Data>
    </Entry>
    <Entry xmlns="http://connector.synapse.com/" key="e2f26ff6c86b5dffd347cc38b2a9322c1c0061ab5cae129198b419449571c663">
      <Data>
        <Value xmlns=""><![CDATA[{"AnalysisIds":[654353],"DynamicTimePeriod":{"IncludeLiveWave":false,"LatestNDeliverables":6},"IncludeAlias":false,"IncludeOverallSegment":false,"NestSegments":false,"ProjectId":523,"ReportingPlanId":96,"RollUpDeliverables":false,"SegmentIds":[2447],"SurveyId":396851,"TimePeriodType":1}]]></Value>
      </Data>
    </Entry>
    <Entry xmlns="http://connector.synapse.com/" key="82d174d9bb487a97af5d2c8a7da663492d1d593d113d20f97b5b894ff0bd041a">
      <Data>
        <Value xmlns=""><![CDATA[{"AnalysisIds":[654353],"DynamicTimePeriod":{"IncludeLiveWave":false,"LatestNDeliverables":6},"IncludeAlias":true,"IncludeOverallSegment":false,"NestSegments":false,"ProjectId":523,"ReportingPlanId":96,"RollUpDeliverables":false,"SegmentIds":[2447],"SurveyId":482371,"TimePeriodType":1}]]></Value>
      </Data>
    </Entry>
    <Entry xmlns="http://connector.synapse.com/" key="80edf0d2eb0203301790d854d1e7546f71ae68cdf4905bff0f1784f6cc10e600">
      <Data>
        <Value xmlns=""><![CDATA[{"AnalysisIds":[654352],"DynamicTimePeriod":{"IncludeLiveWave":false,"LatestNDeliverables":6},"IncludeAlias":false,"IncludeOverallSegment":false,"NestSegments":false,"ProjectId":523,"ReportingPlanId":96,"RollUpDeliverables":false,"SegmentIds":[2447],"SurveyId":396851,"TimePeriodType":1}]]></Value>
      </Data>
    </Entry>
    <Entry xmlns="http://connector.synapse.com/" key="d663e8ff8271000ac33db6703abab78b6fb704fe479308f3fefa158feaff313d">
      <Data>
        <Value xmlns=""><![CDATA[{"AnalysisIds":[654352],"DynamicTimePeriod":{"IncludeLiveWave":false,"LatestNDeliverables":6},"IncludeAlias":true,"IncludeOverallSegment":false,"NestSegments":false,"ProjectId":523,"ReportingPlanId":96,"RollUpDeliverables":false,"SegmentIds":[2447],"SurveyId":482371,"TimePeriodType":1}]]></Value>
      </Data>
    </Entry>
    <Entry xmlns="http://connector.synapse.com/" key="bd25459098108f998cd96fc7a165b8f1383ac642b9da6f4f7906a77e75a429e9">
      <Data>
        <Value xmlns=""><![CDATA[{"AnalysisIds":[654352],"DynamicTimePeriod":{"IncludeLiveWave":false,"LatestNDeliverables":1},"IncludeAlias":false,"IncludeOverallSegment":false,"NestSegments":false,"ProjectId":523,"ReportingPlanId":96,"RollUpDeliverables":false,"SegmentIds":[2447],"SurveyId":396851,"TimePeriodType":1}]]></Value>
      </Data>
    </Entry>
    <Entry xmlns="http://connector.synapse.com/" key="c7e4355e37aa9661ccf959e9a8a10b52ca3f8f4eebed967e44508b845a8c7e29">
      <Data>
        <Value xmlns=""><![CDATA[{"AnalysisIds":[117394],"DynamicTimePeriod":{"IncludeLiveWave":false,"LatestNDeliverables":6},"IncludeAlias":true,"IncludeOverallSegment":false,"NestSegments":false,"ProjectId":523,"ReportingPlanId":96,"RollUpDeliverables":false,"SegmentIds":[2447],"SurveyId":482371,"TimePeriodType":1}]]></Value>
      </Data>
    </Entry>
    <Entry xmlns="http://connector.synapse.com/" key="2beddced1246acf7cd8bcd80c416d60ec7d5c1e61e0e6e353185d1ec07fb3560">
      <Data>
        <Value xmlns=""><![CDATA[{"AnalysisIds":[632091],"DynamicTimePeriod":{"IncludeLiveWave":false,"LatestNDeliverables":6},"IncludeAlias":true,"IncludeOverallSegment":true,"NestSegments":false,"ProjectId":523,"ReportingPlanId":1143,"RollUpDeliverables":false,"SegmentIds":[2445],"SurveyId":396851,"TimePeriodType":1}]]></Value>
      </Data>
    </Entry>
    <Entry xmlns="http://connector.synapse.com/" key="f37fb54163bc097905823f77cc881376f456dde11dcd9de14a60330257d4c6ca">
      <Data>
        <Value xmlns=""><![CDATA[{"AnalysisIds":[641432],"DynamicTimePeriod":{"IncludeLiveWave":false,"LatestNDeliverables":6},"IncludeAlias":true,"IncludeOverallSegment":true,"NestSegments":false,"ProjectId":523,"ReportingPlanId":1143,"RollUpDeliverables":false,"SegmentIds":[],"SurveyId":396851,"TimePeriodType":1}]]></Value>
      </Data>
    </Entry>
    <Entry xmlns="http://connector.synapse.com/" key="f743c2dcd411e96dfce832bf2ba1533d0a20c4017d9d092344e63a9d9628d78f">
      <Data>
        <Value xmlns=""><![CDATA[{"AnalysisIds":[690483],"DynamicTimePeriod":{"IncludeLiveWave":false,"LatestNDeliverables":6},"IncludeAlias":true,"IncludeOverallSegment":true,"NestSegments":false,"ProjectId":523,"ReportingPlanId":1143,"RollUpDeliverables":false,"SegmentIds":[],"SurveyId":396851,"TimePeriodType":1}]]></Value>
      </Data>
    </Entry>
    <Entry xmlns="http://connector.synapse.com/" key="85eab2d3af3711885ee4064f5f53f2b07bc64cacb0d410fe39542e2c5d2da981">
      <Data>
        <Value xmlns=""><![CDATA[{"AnalysisIds":[690503],"DynamicTimePeriod":{"IncludeLiveWave":false,"LatestNDeliverables":1},"IncludeAlias":true,"IncludeOverallSegment":true,"NestSegments":false,"ProjectId":523,"ReportingPlanId":1143,"RollUpDeliverables":false,"SegmentIds":[],"SurveyId":396851,"TimePeriodType":1}]]></Value>
      </Data>
    </Entry>
    <Entry xmlns="http://connector.synapse.com/" key="4f24f241eced144c2e1182786aef361ccf3a205f2696a97b8e693c7d4234e26b">
      <Data>
        <Value xmlns=""><![CDATA[{"AnalysisIds":[690515],"DynamicTimePeriod":{"IncludeLiveWave":false,"LatestNDeliverables":6},"IncludeAlias":true,"IncludeOverallSegment":true,"NestSegments":false,"ProjectId":523,"ReportingPlanId":1143,"RollUpDeliverables":false,"SegmentIds":[],"SurveyId":396851,"TimePeriodType":1}]]></Value>
      </Data>
    </Entry>
    <Entry xmlns="http://connector.synapse.com/" key="302c8a40e25ef298092fc97b936a0cbb2984618f90a155183e023b44faf4dd0f">
      <Data>
        <Value xmlns=""><![CDATA[{"AnalysisIds":[690510],"DynamicTimePeriod":{"IncludeLiveWave":false,"LatestNDeliverables":6},"IncludeAlias":true,"IncludeOverallSegment":true,"NestSegments":false,"ProjectId":523,"ReportingPlanId":1143,"RollUpDeliverables":false,"SegmentIds":[],"SurveyId":396851,"TimePeriodType":1}]]></Value>
      </Data>
    </Entry>
    <Entry xmlns="http://connector.synapse.com/" key="48466f8ac4fc177a0cf386b67af04270b34d5588505d3c254695f62269dbe180">
      <Data>
        <Value xmlns=""><![CDATA[{"AnalysisIds":[691709],"DynamicTimePeriod":{"IncludeLiveWave":false,"LatestNDeliverables":2},"IncludeAlias":true,"IncludeOverallSegment":true,"NestSegments":false,"ProjectId":523,"ReportingPlanId":1143,"RollUpDeliverables":false,"SegmentIds":[],"SurveyId":482371,"TimePeriodType":1}]]></Value>
      </Data>
    </Entry>
    <Entry xmlns="http://connector.synapse.com/" key="2a1b95d3f643d6d1adde040d39d859b58756c771cbd815455d91e6ae61d4f937">
      <Data>
        <Value xmlns=""><![CDATA[{"AnalysisIds":[691709],"DynamicTimePeriod":{"IncludeLiveWave":false,"LatestNDeliverables":1},"IncludeAlias":true,"IncludeOverallSegment":true,"NestSegments":false,"ProjectId":523,"ReportingPlanId":1143,"RollUpDeliverables":false,"SegmentIds":[],"SurveyId":482371,"TimePeriodType":1}]]></Value>
      </Data>
    </Entry>
    <Entry xmlns="http://connector.synapse.com/" key="af3afd06e668db11e59d1752dfa1e87d36c1a0023e0004ddb6723775db95feb6">
      <Data>
        <Value xmlns=""><![CDATA[{"AnalysisIds":[691710],"DynamicTimePeriod":{"IncludeLiveWave":false,"LatestNDeliverables":1},"IncludeAlias":true,"IncludeOverallSegment":true,"NestSegments":false,"ProjectId":523,"ReportingPlanId":1143,"RollUpDeliverables":false,"SegmentIds":[],"SurveyId":396851,"TimePeriodType":1}]]></Value>
      </Data>
    </Entry>
    <Entry xmlns="http://connector.synapse.com/" key="18f4c51d083537e1f513e5dd8c0751ddc6e907b901e1968742bfad69c11eaacf">
      <Data>
        <Value xmlns=""><![CDATA[{"AnalysisIds":[691710],"DynamicTimePeriod":{"IncludeLiveWave":false,"LatestNDeliverables":2},"IncludeAlias":true,"IncludeOverallSegment":true,"NestSegments":false,"ProjectId":523,"ReportingPlanId":1143,"RollUpDeliverables":false,"SegmentIds":[],"SurveyId":396851,"TimePeriodType":1}]]></Value>
      </Data>
    </Entry>
    <Entry xmlns="http://connector.synapse.com/" key="669df3f44e3d6fdcf17c8f58991f6dfd8330e42cceea1ee14952fcf622a354f0">
      <Data>
        <Value xmlns=""><![CDATA[{"AnalysisIds":[632076],"DynamicTimePeriod":{"IncludeLiveWave":false,"LatestNDeliverables":6},"IncludeAlias":true,"IncludeOverallSegment":true,"NestSegments":false,"ProjectId":523,"ReportingPlanId":1143,"RollUpDeliverables":false,"SegmentIds":[],"SurveyId":482371,"TimePeriodType":1}]]></Value>
      </Data>
    </Entry>
    <Entry xmlns="http://connector.synapse.com/" key="ce4d5e673d3184c135b62055977a491b90b4f8a671f410af7dad530d379a91b7">
      <Data>
        <Value xmlns=""><![CDATA[{"AnalysisIds":[691706],"DynamicTimePeriod":{"IncludeLiveWave":false,"LatestNDeliverables":6},"IncludeAlias":true,"IncludeOverallSegment":true,"NestSegments":false,"ProjectId":523,"ReportingPlanId":1143,"RollUpDeliverables":false,"SegmentIds":[],"SurveyId":482371,"TimePeriodType":1}]]></Value>
      </Data>
    </Entry>
    <Entry xmlns="http://connector.synapse.com/" key="986948a0acbdb15b651a107fd4c2d17ac0ccf74b42c346fcbb94d88903a7d3bb">
      <Data>
        <Value xmlns=""><![CDATA[{"AnalysisIds":[632090],"DynamicTimePeriod":{"IncludeLiveWave":false,"LatestNDeliverables":6},"IncludeAlias":true,"IncludeOverallSegment":true,"NestSegments":false,"ProjectId":523,"ReportingPlanId":1143,"RollUpDeliverables":false,"SegmentIds":[],"SurveyId":396851,"TimePeriodType":1}]]></Value>
      </Data>
    </Entry>
    <Entry xmlns="http://connector.synapse.com/" key="f3f575dbbe81d1f857a508435771ec45746edd387f3ca6a80bbc8435caadfdd6">
      <Data>
        <Value xmlns=""><![CDATA[{"AnalysisIds":[691708],"DynamicTimePeriod":{"IncludeLiveWave":false,"LatestNDeliverables":6},"IncludeAlias":true,"IncludeOverallSegment":true,"NestSegments":false,"ProjectId":523,"ReportingPlanId":1143,"RollUpDeliverables":false,"SegmentIds":[],"SurveyId":396851,"TimePeriodType":1}]]></Value>
      </Data>
    </Entry>
  </ReportConfig>
  <DataFrameConfigKey>
    <Entry xmlns="http://connector.synapse.com/" key="a774bef2ee17e9fb02cc3528dae13617b4ff7edad9f86fc50edcd727996a1e1c">
      <Data>
        <Value xmlns=""><![CDATA[{"AggregationType":0,"ColumnFields":["option"],"FilterCondition":0,"Filters":[],"LatestColumnsFirst":false,"RowFields":["time_period_name"],"ValueFields":["decimal"],"columnDefinitions":[{"IsDefaultAlias":true,"Name":"time_period_name"},{"IsDefaultAlias":true,"Name":"Family Medicine (PCP)"},{"IsDefaultAlias":true,"Name":"Gastroenterology"},{"IsDefaultAlias":true,"Name":"General Medicine / Practice (PCP)"},{"IsDefaultAlias":true,"Name":"Internal Medicine (PCP)"}]}]]></Value>
      </Data>
    </Entry>
    <Entry xmlns="http://connector.synapse.com/" key="a5b6a1091580e425bcfe7348474b80c9d96cb8f59daeb9073bdeb9cd59625964">
      <Data>
        <Value xmlns=""><![CDATA[{"AggregationType":0,"ColumnFields":["option"],"FilterCondition":0,"Filters":[],"LatestColumnsFirst":false,"RowFields":["time_period_name"],"ValueFields":["decimal"],"columnDefinitions":[{"IsDefaultAlias":true,"Name":"time_period_name","sortCriteria":{"CustomList":["Feb'26","Mar'26"],"Level":1,"Order":0}},{"Format":"0%","Formula":"","IsDefaultAlias":true,"Name":"Community hospital (Non-teaching)"},{"Format":"0%","IsDefaultAlias":true,"Name":"Community teaching hospital"},{"Format":"0%","IsDefaultAlias":true,"Name":"Major academic center group practice"},{"Format":"0%","IsDefaultAlias":true,"Name":"Major academic center hospital"},{"Format":"0%","IsDefaultAlias":true,"Name":"Private practice (group)"},{"Format":"0%","IsDefaultAlias":true,"Name":"Private practice (solo)"},{"Format":"0%","IsDefaultAlias":true,"Name":"University teaching hospital"}]}]]></Value>
      </Data>
    </Entry>
    <Entry xmlns="http://connector.synapse.com/" key="8ce98b38ade02d52ed74042a43e612098eae0ccf2615c95a210c5898caec265e">
      <Data>
        <Value xmlns=""><![CDATA[{"AggregationType":1,"ColumnFields":["alias_label","time_period_name"],"FilterCondition":0,"Filters":[{"ColumnKey":"alias_label","Type":1,"Value":"C_MR","filterCriteria":1}],"LatestColumnsFirst":false,"RowFields":["title","Code"],"ValueFields":["decimal"],"columnDefinitions":[{"Format":"","Formula":"","IsDefaultAlias":false,"Name":"title"},{"Format":"","Formula":"","IsDefaultAlias":false,"Name":"Code"},{"Format":"","Formula":"","IsDefaultAlias":false,"Name":"C_MR - Project Wave 33","sortCriteria":{"CustomList":[],"Level":1,"Order":1}}]}]]></Value>
      </Data>
    </Entry>
    <Entry xmlns="http://connector.synapse.com/" key="8ecfcf9ca510c3f878aeb944cefbb19e314494373258259751b24eea8e0dcf10">
      <Data>
        <Value xmlns=""><![CDATA[{"AggregationType":1,"ColumnFields":["alias_label"],"FilterCondition":0,"Filters":[{"ColumnKey":"segment_1","Type":1,"Value":"PCPs","filterCriteria":0}],"LatestColumnsFirst":false,"RowFields":["time_period_name","time_period_id"],"ValueFields":["decimal"],"columnDefinitions":[{"Format":"0%","Formula":"","IsDefaultAlias":false,"Name":"time_period_name"},{"IsDefaultAlias":false,"Name":"time_period_id"},{"Format":"0%","Formula":"","IsDefaultAlias":false,"Name":"EPI Deepdive Module - 482371 - 2_100bz_c895297"},{"Format":"0%","Formula":"","IsDefaultAlias":false,"Name":"EPI Deepdive Module - 482371 - 2_100bz_z895450"}]}]]></Value>
      </Data>
    </Entry>
    <Entry xmlns="http://connector.synapse.com/" key="585ce743b10058c74ccd6e57d9b5a87e242cfe227b98b40fc168e99ddc338a1f">
      <Data>
        <Value xmlns=""><![CDATA[{"AggregationType":1,"ColumnFields":["alias_label"],"FilterCondition":0,"Filters":[],"LatestColumnsFirst":false,"RowFields":["title","time_period_name","time_period_id"],"ValueFields":["decimal"],"columnDefinitions":[{"IsDefaultAlias":false,"Name":"title"},{"Format":"@","Formula":"","IsDefaultAlias":false,"Name":"time_period_name"},{"Format":"@","Formula":"","IsDefaultAlias":false,"Name":"time_period_id","sortCriteria":{"CustomList":[],"Level":1,"Order":0}},{"Format":"0%","Formula":"","IsDefaultAlias":false,"Name":"EPI Deepdive Module - 482371 - 2_100bz_c895297"},{"Format":"0%","Formula":"","IsDefaultAlias":false,"Name":"EPI Deepdive Module - 482371 - 2_100bz_z895450"}]}]]></Value>
      </Data>
    </Entry>
    <Entry xmlns="http://connector.synapse.com/" key="56cb3a3bd8fa1bce4ba3442d964a0098bf324dc6a1a0fa20e8648027b82c1240">
      <Data>
        <Value xmlns=""><![CDATA[{"AggregationType":1,"ColumnFields":["alias_label"],"FilterCondition":0,"Filters":[{"ColumnKey":"title","Type":1,"Value":"overall","filterCriteria":0}],"LatestColumnsFirst":false,"RowFields":["title","time_period_id","time_period_name"],"ValueFields":["decimal"],"columnDefinitions":[{"IsDefaultAlias":false,"Name":"title"},{"IsDefaultAlias":false,"Name":"time_period_id"},{"Format":"0%","Formula":"","IsDefaultAlias":false,"Name":"time_period_name"},{"Format":"0%","Formula":"","IsDefaultAlias":false,"Name":"EPI Deepdive Module - 482371 - Q2_40BZ_C1895288"},{"Format":"0%","Formula":"","IsDefaultAlias":false,"Name":"EPI Deepdive Module - 482371 - Q2_40BZ_Z1895441"}]}]]></Value>
      </Data>
    </Entry>
    <Entry xmlns="http://connector.synapse.com/" key="8b157e750ba3ecfe7150954268b220500afc632803268c81ed0d0798f1337771">
      <Data>
        <Value xmlns=""><![CDATA[{"AggregationType":1,"ColumnFields":["alias_label"],"FilterCondition":0,"Filters":[{"ColumnKey":"segment_1","Type":1,"Value":"Gastro","filterCriteria":0},{"ColumnKey":"title","Type":1,"Value":"overall","filterCriteria":0}],"LatestColumnsFirst":false,"RowFields":["title","time_period_name","time_period_id"],"ValueFields":["decimal"],"columnDefinitions":[{"IsDefaultAlias":false,"Name":"title"},{"Format":"0%","Formula":"","IsDefaultAlias":false,"Name":"time_period_name"},{"IsDefaultAlias":false,"Name":"time_period_id"},{"Format":"0%","Formula":"","IsDefaultAlias":false,"Name":"EPI Deepdive Module - 482371 - Q2_40BZ_C1895288"},{"Format":"0%","Formula":"","IsDefaultAlias":false,"Name":"EPI Deepdive Module - 482371 - Q2_40BZ_Z1895441"}]}]]></Value>
      </Data>
    </Entry>
    <Entry xmlns="http://connector.synapse.com/" key="67be6f0e1258b00daa26fb0178eaceaa25b9776aa47143465f469be0e8e17402">
      <Data>
        <Value xmlns=""><![CDATA[{"AggregationType":1,"ColumnFields":["alias_label"],"FilterCondition":0,"Filters":[{"ColumnKey":"segment_1","Type":1,"Value":"Gastro","filterCriteria":0}],"LatestColumnsFirst":false,"RowFields":["title","time_period_name","time_period_id"],"ValueFields":["decimal"],"columnDefinitions":[{"IsDefaultAlias":false,"Name":"title"},{"Format":"0%","Formula":"","IsDefaultAlias":false,"Name":"time_period_name"},{"IsDefaultAlias":false,"Name":"time_period_id"},{"Format":"0%","Formula":"","IsDefaultAlias":false,"Name":"EPI Deepdive Module - 482371 - 2_100bz_c895297"},{"Format":"0%","Formula":"","IsDefaultAlias":false,"Name":"EPI Deepdive Module - 482371 - 2_100bz_z895450"}]}]]></Value>
      </Data>
    </Entry>
    <Entry xmlns="http://connector.synapse.com/" key="23cc557f3da2f4c2751698c699decdc50b9a3c79022da1f611da5bf3e41f58d7">
      <Data>
        <Value xmlns=""><![CDATA[{"AggregationType":1,"ColumnFields":["alias_label"],"FilterCondition":0,"Filters":[{"ColumnKey":"segment_1","Type":1,"Value":"PCPs","filterCriteria":0},{"ColumnKey":"title","Type":1,"Value":"overall","filterCriteria":0}],"LatestColumnsFirst":false,"RowFields":["title","time_period_name","time_period_id"],"ValueFields":["decimal"],"columnDefinitions":[{"IsDefaultAlias":false,"Name":"title"},{"Format":"0%","Formula":"","IsDefaultAlias":false,"Name":"time_period_name"},{"IsDefaultAlias":false,"Name":"time_period_id"},{"Format":"0%","Formula":"","IsDefaultAlias":false,"Name":"EPI Deepdive Module - 482371 - Q2_40BZ_C1895288"},{"Format":"0%","Formula":"","IsDefaultAlias":false,"Name":"EPI Deepdive Module - 482371 - Q2_40BZ_Z1895441"}]}]]></Value>
      </Data>
    </Entry>
    <Entry xmlns="http://connector.synapse.com/" key="8dfedb1e8329c8d749134e72dc57d6ee0ea9e8233c056892ef979c1506c8013f">
      <Data>
        <Value xmlns=""><![CDATA[{"AggregationType":1,"ColumnFields":["segment_1","time_period_name"],"FilterCondition":0,"Filters":[{"ColumnKey":"segment_1","Type":1,"Value":"Speciality - NP/PA","filterCriteria":1},{"ColumnKey":"title","Type":1,"Value":"The overall quality of the rep’s interaction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Speciality - NP/PA - W28"},{"Format":"0%","Formula":"","IsDefaultAlias":false,"Name":"Speciality - NP/PA - W29"},{"Format":"0%","Formula":"","IsDefaultAlias":false,"Name":"Speciality - NP/PA - W30"},{"Format":"0%","Formula":"","IsDefaultAlias":false,"Name":"Speciality - NP/PA - W31"},{"Format":"0%","Formula":"","IsDefaultAlias":false,"Name":"Speciality - NP/PA - W32"},{"Format":"0%","Formula":"","IsDefaultAlias":false,"Name":"Speciality - NP/PA - Jan-Feb 2026"}]}]]></Value>
      </Data>
    </Entry>
    <Entry xmlns="http://connector.synapse.com/" key="17baf0828e43d618b407083eacb8d48ffeb822e55eec10327b10a18b4d14ee6d">
      <Data>
        <Value xmlns=""><![CDATA[{"AggregationType":1,"ColumnFields":["alias_label"],"FilterCondition":0,"Filters":[{"ColumnKey":"segment_1","Type":1,"Value":"Speciality - NP/PA","filterCriteria":1}],"LatestColumnsFirst":false,"RowFields":["time_period_name"],"ValueFields":["decimal"],"columnDefinitions":[{"Format":"","Formula":"","IsDefaultAlias":false,"Name":"time_period_name"},{"Format":"0%","Formula":"","IsDefaultAlias":false,"Name":"EPI Deepdive Module - 482371 - 2_100bz_c895297"},{"Format":"0%","Formula":"","IsDefaultAlias":false,"Name":"EPI Deepdive Module - 482371 - 2_100bz_z895450"}]}]]></Value>
      </Data>
    </Entry>
    <Entry xmlns="http://connector.synapse.com/" key="09eb37047ffb401effe6f7cd9576aaaeca7ef90d440f2d2bc544fca42c333d73">
      <Data>
        <Value xmlns=""><![CDATA[{"AggregationType":1,"ColumnFields":["alias_label"],"FilterCondition":0,"Filters":[{"ColumnKey":"title","Type":1,"Value":"reason","filterCriteria":0}],"LatestColumnsFirst":false,"RowFields":["title","time_period_name","time_period_id"],"ValueFields":["decimal"],"columnDefinitions":[{"IsDefaultAlias":false,"Name":"title"},{"Format":"0%","Formula":"","IsDefaultAlias":false,"Name":"time_period_name"},{"Format":"0%","Formula":"","IsDefaultAlias":false,"Name":"time_period_id","sortCriteria":{"CustomList":[],"Level":1,"Order":0}},{"Format":"0%","Formula":"","IsDefaultAlias":false,"Name":"EPI Deepdive Module - 482371 - Q2_40BZ_C1895288"},{"Format":"0%","Formula":"","IsDefaultAlias":false,"Name":"EPI Deepdive Module - 482371 - Q2_40BZ_Z1895441"}]}]]></Value>
      </Data>
    </Entry>
    <Entry xmlns="http://connector.synapse.com/" key="115d8a30d8c36bb67b00dba46353ca8524c5da67ed300b170bff5403483211a7">
      <Data>
        <Value xmlns=""><![CDATA[{"AggregationType":1,"ColumnFields":["alias_label"],"FilterCondition":0,"Filters":[{"ColumnKey":"title","Type":1,"Value":"overall","filterCriteria":0}],"LatestColumnsFirst":false,"RowFields":["title","time_period_name","time_period_id"],"ValueFields":["decimal"],"columnDefinitions":[{"IsDefaultAlias":false,"Name":"title"},{"Format":"0%","Formula":"","IsDefaultAlias":false,"Name":"time_period_name"},{"Format":"0%","Formula":"","IsDefaultAlias":false,"Name":"time_period_id","sortCriteria":{"CustomList":[],"Level":1,"Order":0}},{"Format":"0%","Formula":"","IsDefaultAlias":false,"Name":"EPI Deepdive Module - 482371 - Q2_40BZ_C1895288"},{"Format":"0%","Formula":"","IsDefaultAlias":false,"Name":"EPI Deepdive Module - 482371 - Q2_40BZ_Z1895441"}]}]]></Value>
      </Data>
    </Entry>
    <Entry xmlns="http://connector.synapse.com/" key="1669a328aeb2f0e3f6f9ff7b949843e0149474a6d4a201527b2f41e744148c8f">
      <Data>
        <Value xmlns=""><![CDATA[{"AggregationType":1,"ColumnFields":["alias_label"],"FilterCondition":0,"Filters":[{"ColumnKey":"title","Type":1,"Value":"The rep’s knowledge of the product being discussed","filterCriteria":1}],"LatestColumnsFirst":false,"RowFields":["time_period_name","title"],"ValueFields":["decimal"],"columnDefinitions":[{"Format":"","Formula":"","IsDefaultAlias":false,"Name":"time_period_name"},{"Format":"","Formula":"","IsDefaultAlias":false,"Name":"title"},{"Format":"0%","Formula":"","IsDefaultAlias":false,"Name":"EPI Deepdive Module - 482371 - Q2_40BZ_C1895288"},{"Format":"0%","Formula":"","IsDefaultAlias":false,"Name":"EPI Deepdive Module - 482371 - Q2_40BZ_Z1895441"}]}]]></Value>
      </Data>
    </Entry>
    <Entry xmlns="http://connector.synapse.com/" key="99e3d4ff774d4d7485cb1da66ec83461d293dbe4c293f8a26a580f769dd5f6e1">
      <Data>
        <Value xmlns=""><![CDATA[{"AggregationType":1,"ColumnFields":["alias_label"],"FilterCondition":0,"Filters":[{"ColumnKey":"title","Type":1,"Value":"The rep’s preparedness","filterCriteria":1}],"LatestColumnsFirst":false,"RowFields":["time_period_name","title"],"ValueFields":["decimal"],"columnDefinitions":[{"Format":"","Formula":"","IsDefaultAlias":false,"Name":"time_period_name"},{"Format":"","Formula":"","IsDefaultAlias":false,"Name":"title"},{"Format":"0%","Formula":"","IsDefaultAlias":false,"Name":"CREON"},{"Format":"0%","Formula":"","IsDefaultAlias":false,"Name":"ZENPEP"}]}]]></Value>
      </Data>
    </Entry>
    <Entry xmlns="http://connector.synapse.com/" key="5120fb4d936079520460ee4297bd5807f12056ee436b3ae5d2dd6d8394756f19">
      <Data>
        <Value xmlns=""><![CDATA[{"AggregationType":1,"ColumnFields":["alias_label"],"FilterCondition":0,"Filters":[{"ColumnKey":"title","Type":1,"Value":"The rep’s ability to execute a smooth interaction","filterCriteria":1}],"LatestColumnsFirst":false,"RowFields":["title","time_period_name","time_period_id"],"ValueFields":["decimal"],"columnDefinitions":[{"IsDefaultAlias":false,"Name":"title"},{"Format":"","Formula":"","IsDefaultAlias":false,"Name":"time_period_name"},{"Format":"","Formula":"","IsDefaultAlias":false,"Name":"time_period_id"},{"Format":"0%","Formula":"","IsDefaultAlias":false,"Name":"EPI Deepdive Module - 482371 - Q2_40BZ_C1895288"},{"Format":"0%","Formula":"","IsDefaultAlias":false,"Name":"EPI Deepdive Module - 482371 - Q2_40BZ_Z1895441"}]}]]></Value>
      </Data>
    </Entry>
    <Entry xmlns="http://connector.synapse.com/" key="a5a689011ffd9a79a2d3815dd13b722d36acfb8628416add066886bd6e46084e">
      <Data>
        <Value xmlns=""><![CDATA[{"AggregationType":1,"ColumnFields":["alias_label"],"FilterCondition":0,"Filters":[{"ColumnKey":"title","Type":1,"Value":"coverage","filterCriteria":0}],"LatestColumnsFirst":false,"RowFields":["title","time_period_name","time_period_id"],"ValueFields":["decimal"],"columnDefinitions":[{"IsDefaultAlias":false,"Name":"title"},{"Format":"0%","Formula":"","IsDefaultAlias":false,"Name":"time_period_name"},{"Format":"0%","Formula":"","IsDefaultAlias":false,"Name":"time_period_id","sortCriteria":{"CustomList":[],"Level":1,"Order":0}},{"Format":"0%","Formula":"","IsDefaultAlias":false,"Name":"EPI Deepdive Module - 482371 - Q2_40BZ_C1895288"},{"Format":"0%","Formula":"","IsDefaultAlias":false,"Name":"EPI Deepdive Module - 482371 - Q2_40BZ_Z1895441"}]}]]></Value>
      </Data>
    </Entry>
    <Entry xmlns="http://connector.synapse.com/" key="751f16e212a3bbbf9acc2cc1965f0e7f6b1de3b243a42f125f6f9c1de8190e31">
      <Data>
        <Value xmlns=""><![CDATA[{"AggregationType":1,"ColumnFields":["time_period_name"],"FilterCondition":0,"Filters":[{"ColumnKey":"title","Type":1,"Value":"How well the rep performed in discussing efficacy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"},{"Format":"0%","Formula":"","IsDefaultAlias":false,"Name":"W29"},{"Format":"0%","Formula":"","IsDefaultAlias":false,"Name":"W30"},{"Format":"0%","Formula":"","IsDefaultAlias":false,"Name":"W31"},{"Format":"0%","Formula":"","IsDefaultAlias":false,"Name":"W32"},{"Format":"0%","Formula":"","IsDefaultAlias":false,"Name":"Jan-Feb 2026"}]}]]></Value>
      </Data>
    </Entry>
    <Entry xmlns="http://connector.synapse.com/" key="522a6fa9a017a1942acef5f11ea90566e58cfef90fb87e7ff3b8455415cddbe3">
      <Data>
        <Value xmlns=""><![CDATA[{"AggregationType":1,"ColumnFields":["time_period_name"],"FilterCondition":0,"Filters":[{"ColumnKey":"title","Type":1,"Value":"How well the rep performed on providing credible support for product claims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"},{"Format":"0%","Formula":"","IsDefaultAlias":false,"Name":"W29"},{"Format":"0%","Formula":"","IsDefaultAlias":false,"Name":"W30"},{"Format":"0%","Formula":"","IsDefaultAlias":false,"Name":"W31"},{"Format":"0%","Formula":"","IsDefaultAlias":false,"Name":"W32"},{"Format":"0%","Formula":"","IsDefaultAlias":false,"Name":"Jan-Feb 2026"}]}]]></Value>
      </Data>
    </Entry>
    <Entry xmlns="http://connector.synapse.com/" key="579e2e5cbcc20b377d45843e4be1f22df2c39716110a2788bd2d08fe6f1f8136">
      <Data>
        <Value xmlns=""><![CDATA[{"AggregationType":1,"ColumnFields":["time_period_name"],"FilterCondition":0,"Filters":[{"ColumnKey":"title","Type":1,"Value":"The rep’s knowledge of EPI and its associated illnesses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"},{"Format":"0%","Formula":"","IsDefaultAlias":false,"Name":"W29"},{"Format":"0%","Formula":"","IsDefaultAlias":false,"Name":"W30"},{"Format":"0%","Formula":"","IsDefaultAlias":false,"Name":"W31"},{"Format":"0%","Formula":"","IsDefaultAlias":false,"Name":"W32"},{"Format":"0%","Formula":"","IsDefaultAlias":false,"Name":"Jan-Feb 2026"}]}]]></Value>
      </Data>
    </Entry>
    <Entry xmlns="http://connector.synapse.com/" key="65a181f65296248cc5df847f8fed3ea7b33ad1e6b87a80c3c3844bedde584e41">
      <Data>
        <Value xmlns=""><![CDATA[{"AggregationType":1,"ColumnFields":["time_period_name"],"FilterCondition":0,"Filters":[{"ColumnKey":"title","Type":1,"Value":"How well the rep explained dosing guidelines and considerations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"},{"Format":"0%","Formula":"","IsDefaultAlias":false,"Name":"W29"},{"Format":"0%","Formula":"","IsDefaultAlias":false,"Name":"W30"},{"Format":"0%","Formula":"","IsDefaultAlias":false,"Name":"W31"},{"Format":"0%","Formula":"","IsDefaultAlias":false,"Name":"W32"},{"Format":"0%","Formula":"","IsDefaultAlias":false,"Name":"Jan-Feb 2026"}]}]]></Value>
      </Data>
    </Entry>
    <Entry xmlns="http://connector.synapse.com/" key="090625fa15f2c5ac387b00b76528010e9f22631a0d762cc4237baee5d27161ec">
      <Data>
        <Value xmlns=""><![CDATA[{"AggregationType":1,"ColumnFields":["time_period_name"],"FilterCondition":0,"Filters":[{"ColumnKey":"title","Type":1,"Value":"How well the rep performed in discussing safety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"},{"Format":"0%","Formula":"","IsDefaultAlias":false,"Name":"W29"},{"Format":"0%","Formula":"","IsDefaultAlias":false,"Name":"W30"},{"Format":"0%","Formula":"","IsDefaultAlias":false,"Name":"W31"},{"Format":"0%","Formula":"","IsDefaultAlias":false,"Name":"W32"},{"Format":"0%","Formula":"","IsDefaultAlias":false,"Name":"Jan-Feb 2026"}]}]]></Value>
      </Data>
    </Entry>
    <Entry xmlns="http://connector.synapse.com/" key="9287c6f6d7b504edf218ef6f244857774b994d41c22e60da6ef9cd444d459789">
      <Data>
        <Value xmlns=""><![CDATA[{"AggregationType":1,"ColumnFields":["time_period_name"],"FilterCondition":0,"Filters":[{"ColumnKey":"title","Type":1,"Value":"How well the rep articulated differentiation as a treatment for exocrine pancreatic insufficiency (EPI)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"},{"Format":"0%","Formula":"","IsDefaultAlias":false,"Name":"W29"},{"Format":"0%","Formula":"","IsDefaultAlias":false,"Name":"W30"},{"Format":"0%","Formula":"","IsDefaultAlias":false,"Name":"W31"},{"Format":"0%","Formula":"","IsDefaultAlias":false,"Name":"W32"},{"Format":"0%","Formula":"","IsDefaultAlias":false,"Name":"Jan-Feb 2026"}]}]]></Value>
      </Data>
    </Entry>
    <Entry xmlns="http://connector.synapse.com/" key="b858e5242800da4848a9755390f9c0e9f04d331c95a0a3c9ad3c55bc79e143fb">
      <Data>
        <Value xmlns=""><![CDATA[{"AggregationType":1,"ColumnFields":["time_period_name","segment_1"],"FilterCondition":0,"Filters":[{"ColumnKey":"segment_1","Type":1,"Value":"Speciality - Gastro","filterCriteria":1},{"ColumnKey":"title","Type":1,"Value":"The overall quality of the rep’s interaction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Gastro"},{"Format":"0%","Formula":"","IsDefaultAlias":false,"Name":"W29 - Speciality - Gastro"},{"Format":"0%","Formula":"","IsDefaultAlias":false,"Name":"W30 - Speciality - Gastro"},{"Format":"0%","Formula":"","IsDefaultAlias":false,"Name":"W31 - Speciality - Gastro"},{"Format":"0%","Formula":"","IsDefaultAlias":false,"Name":"W32 - Speciality - Gastro"},{"Format":"0%","Formula":"","IsDefaultAlias":false,"Name":"Jan-Feb 2026 - Speciality - Gastro"}]}]]></Value>
      </Data>
    </Entry>
    <Entry xmlns="http://connector.synapse.com/" key="cde95db35dc94f98efdf00f02b7f0acafa2df33244f069ff5a44e1ed23fb5ae0">
      <Data>
        <Value xmlns=""><![CDATA[{"AggregationType":1,"ColumnFields":["time_period_name","segment_1"],"FilterCondition":0,"Filters":[{"ColumnKey":"segment_1","Type":1,"Value":"Speciality - Gastro","filterCriteria":1},{"ColumnKey":"title","Type":1,"Value":"The rep’s preparedness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Gastro"},{"Format":"0%","Formula":"","IsDefaultAlias":false,"Name":"W29 - Speciality - Gastro"},{"Format":"0%","Formula":"","IsDefaultAlias":false,"Name":"W30 - Speciality - Gastro"},{"Format":"0%","Formula":"","IsDefaultAlias":false,"Name":"W31 - Speciality - Gastro"},{"Format":"0%","Formula":"","IsDefaultAlias":false,"Name":"W32 - Speciality - Gastro"},{"Format":"0%","Formula":"","IsDefaultAlias":false,"Name":"Jan-Feb 2026 - Speciality - Gastro"}]}]]></Value>
      </Data>
    </Entry>
    <Entry xmlns="http://connector.synapse.com/" key="d7ed22e7a1a2ecaf15d1b48b42c2a29e09cf9aa5368e63cba4588fdacbc54d1d">
      <Data>
        <Value xmlns=""><![CDATA[{"AggregationType":1,"ColumnFields":["time_period_name","segment_1"],"FilterCondition":0,"Filters":[{"ColumnKey":"segment_1","Type":1,"Value":"Speciality - Gastro","filterCriteria":1},{"ColumnKey":"title","Type":1,"Value":"The rep’s understanding of insurance and access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Gastro"},{"Format":"0%","Formula":"","IsDefaultAlias":false,"Name":"W29 - Speciality - Gastro"},{"Format":"0%","Formula":"","IsDefaultAlias":false,"Name":"W30 - Speciality - Gastro"},{"Format":"0%","Formula":"","IsDefaultAlias":false,"Name":"W31 - Speciality - Gastro"},{"Format":"0%","Formula":"","IsDefaultAlias":false,"Name":"W32 - Speciality - Gastro"},{"Format":"0%","Formula":"","IsDefaultAlias":false,"Name":"Jan-Feb 2026 - Speciality - Gastro"}]}]]></Value>
      </Data>
    </Entry>
    <Entry xmlns="http://connector.synapse.com/" key="54d153a23e97e3a28d478f388ad250c587a9e3f61b3c7a39e781c43e231458d7">
      <Data>
        <Value xmlns=""><![CDATA[{"AggregationType":1,"ColumnFields":["time_period_name","segment_1"],"FilterCondition":0,"Filters":[{"ColumnKey":"segment_1","Type":1,"Value":"Speciality - Gastro","filterCriteria":1},{"ColumnKey":"title","Type":1,"Value":"How well the rep performed in providing a compelling reason to prescribe CREON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Gastro"},{"Format":"0%","Formula":"","IsDefaultAlias":false,"Name":"W29 - Speciality - Gastro"},{"Format":"0%","Formula":"","IsDefaultAlias":false,"Name":"W30 - Speciality - Gastro"},{"Format":"0%","Formula":"","IsDefaultAlias":false,"Name":"W31 - Speciality - Gastro"},{"Format":"0%","Formula":"","IsDefaultAlias":false,"Name":"W32 - Speciality - Gastro"},{"Format":"0%","Formula":"","IsDefaultAlias":false,"Name":"Jan-Feb 2026 - Speciality - Gastro"}]}]]></Value>
      </Data>
    </Entry>
    <Entry xmlns="http://connector.synapse.com/" key="f88c7975008aece1b1388da3da1ffc076b484a137b3be1f732d460c15b7f7881">
      <Data>
        <Value xmlns=""><![CDATA[{"AggregationType":1,"ColumnFields":["time_period_name","segment_1"],"FilterCondition":0,"Filters":[{"ColumnKey":"segment_1","Type":1,"Value":"Speciality - Gastro","filterCriteria":1},{"ColumnKey":"title","Type":1,"Value":"The rep’s knowledge of the product being discussed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Gastro"},{"Format":"0%","Formula":"","IsDefaultAlias":false,"Name":"W29 - Speciality - Gastro"},{"Format":"0%","Formula":"","IsDefaultAlias":false,"Name":"W30 - Speciality - Gastro"},{"Format":"0%","Formula":"","IsDefaultAlias":false,"Name":"W31 - Speciality - Gastro"},{"Format":"0%","Formula":"","IsDefaultAlias":false,"Name":"W32 - Speciality - Gastro"},{"Format":"0%","Formula":"","IsDefaultAlias":false,"Name":"Jan-Feb 2026 - Speciality - Gastro"}]}]]></Value>
      </Data>
    </Entry>
    <Entry xmlns="http://connector.synapse.com/" key="5d1ec62e47bf9eb78eddf2119fa926000bb7150927f24fbaf75437ff8e0c1896">
      <Data>
        <Value xmlns=""><![CDATA[{"AggregationType":1,"ColumnFields":["time_period_name","segment_1"],"FilterCondition":0,"Filters":[{"ColumnKey":"segment_1","Type":1,"Value":"Speciality - Gastro","filterCriteria":1},{"ColumnKey":"title","Type":1,"Value":"The rep’s ability to execute a smooth interaction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Gastro"},{"Format":"0%","Formula":"","IsDefaultAlias":false,"Name":"W29 - Speciality - Gastro"},{"Format":"0%","Formula":"","IsDefaultAlias":false,"Name":"W30 - Speciality - Gastro"},{"Format":"0%","Formula":"","IsDefaultAlias":false,"Name":"W31 - Speciality - Gastro"},{"Format":"0%","Formula":"","IsDefaultAlias":false,"Name":"W32 - Speciality - Gastro"},{"Format":"0%","Formula":"","IsDefaultAlias":false,"Name":"Jan-Feb 2026 - Speciality - Gastro"}]}]]></Value>
      </Data>
    </Entry>
    <Entry xmlns="http://connector.synapse.com/" key="c328e5e00920e20783f14047a49a89621761cce5a755675906171e67fdecb64f">
      <Data>
        <Value xmlns=""><![CDATA[{"AggregationType":1,"ColumnFields":["time_period_name","segment_1"],"FilterCondition":0,"Filters":[{"ColumnKey":"segment_1","Type":1,"Value":"Speciality - PCPs","filterCriteria":1},{"ColumnKey":"title","Type":1,"Value":"The overall quality of the rep’s interaction","filterCriteria":1}],"LatestColumnsFirst":false,"RowFields":["title","alias_label"],"ValueFields":["decimal"],"columnDefinitions":[{"Format":"","Formula":"","IsDefaultAlias":false,"Name":"title"},{"Format":"","Formula":"","IsDefaultAlias":false,"Name":"alias_label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}]}]]></Value>
      </Data>
    </Entry>
    <Entry xmlns="http://connector.synapse.com/" key="0f5ba0ef0bdb3ab55dc8adfaf65bbb11ad2cc2549294edf3751ccec4b3e11d56">
      <Data>
        <Value xmlns=""><![CDATA[{"AggregationType":1,"ColumnFields":["time_period_name","segment_1"],"FilterCondition":0,"Filters":[{"ColumnKey":"segment_1","Type":1,"Value":"Speciality - PCPs","filterCriteria":1},{"ColumnKey":"title","Type":1,"Value":"The rep’s preparedness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}]}]]></Value>
      </Data>
    </Entry>
    <Entry xmlns="http://connector.synapse.com/" key="477fd207df0b48a1b1b97fa4fecc1b0067914338ab09f003057f5788c73a92e5">
      <Data>
        <Value xmlns=""><![CDATA[{"AggregationType":1,"ColumnFields":["time_period_name","segment_1"],"FilterCondition":0,"Filters":[{"ColumnKey":"segment_1","Type":1,"Value":"Speciality - PCPs","filterCriteria":1},{"ColumnKey":"title","Type":1,"Value":"The rep’s understanding of insurance and access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}]}]]></Value>
      </Data>
    </Entry>
    <Entry xmlns="http://connector.synapse.com/" key="bcaa2344fd27d67be2f0a155b1b99093d2cfeb333a463d8edf219f8f5e88e3aa">
      <Data>
        <Value xmlns=""><![CDATA[{"AggregationType":1,"ColumnFields":["time_period_name","segment_1"],"FilterCondition":0,"Filters":[{"ColumnKey":"segment_1","Type":1,"Value":"Speciality - PCPs","filterCriteria":1},{"ColumnKey":"title","Type":1,"Value":"How well the rep performed in providing a compelling reason to prescribe CREON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}]}]]></Value>
      </Data>
    </Entry>
    <Entry xmlns="http://connector.synapse.com/" key="aa4dec50bb924b3bc11b5f73f66e32497ffeb68b3583acc5c4afcb2c10f2856f">
      <Data>
        <Value xmlns=""><![CDATA[{"AggregationType":1,"ColumnFields":["time_period_name","segment_1"],"FilterCondition":0,"Filters":[{"ColumnKey":"segment_1","Type":1,"Value":"Speciality - PCPs","filterCriteria":1},{"ColumnKey":"title","Type":1,"Value":"The rep’s knowledge of the product being discussed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}]}]]></Value>
      </Data>
    </Entry>
    <Entry xmlns="http://connector.synapse.com/" key="876f3e360120bd08e6ef9ca00919082b483fe2f9809240cf806eb7dd046e516a">
      <Data>
        <Value xmlns=""><![CDATA[{"AggregationType":1,"ColumnFields":["time_period_name","segment_1"],"FilterCondition":0,"Filters":[{"ColumnKey":"segment_1","Type":1,"Value":"Speciality - PCPs","filterCriteria":1},{"ColumnKey":"title","Type":1,"Value":"The rep’s ability to execute a smooth interaction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}]}]]></Value>
      </Data>
    </Entry>
    <Entry xmlns="http://connector.synapse.com/" key="510586e54f18d7c96f68dd3c78eeac51768578f4301bc93b9aa3f7244b73b904">
      <Data>
        <Value xmlns=""><![CDATA[{"AggregationType":1,"ColumnFields":["segment_1","time_period_name"],"FilterCondition":0,"Filters":[{"ColumnKey":"segment_1","Type":1,"Value":"Speciality - NP/PA","filterCriteria":1},{"ColumnKey":"title","Type":1,"Value":"The rep’s preparedness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Speciality - NP/PA - W28"},{"Format":"0%","Formula":"","IsDefaultAlias":false,"Name":"Speciality - NP/PA - W29"},{"Format":"0%","Formula":"","IsDefaultAlias":false,"Name":"Speciality - NP/PA - W30"},{"Format":"0%","Formula":"","IsDefaultAlias":false,"Name":"Speciality - NP/PA - W31"},{"Format":"0%","Formula":"","IsDefaultAlias":false,"Name":"Speciality - NP/PA - W32"},{"Format":"0%","Formula":"","IsDefaultAlias":false,"Name":"Speciality - NP/PA - Jan-Feb 2026"}]}]]></Value>
      </Data>
    </Entry>
    <Entry xmlns="http://connector.synapse.com/" key="413a3e3345f3c1c42dcef9f8b5a10bb1a30753b8d5eb451376659c78b630835a">
      <Data>
        <Value xmlns=""><![CDATA[{"AggregationType":1,"ColumnFields":["segment_1","time_period_name"],"FilterCondition":0,"Filters":[{"ColumnKey":"segment_1","Type":1,"Value":"Speciality - NP/PA","filterCriteria":1},{"ColumnKey":"title","Type":1,"Value":"The rep’s understanding of insurance and access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Speciality - NP/PA - W28"},{"Format":"0%","Formula":"","IsDefaultAlias":false,"Name":"Speciality - NP/PA - W29"},{"Format":"0%","Formula":"","IsDefaultAlias":false,"Name":"Speciality - NP/PA - W30"},{"Format":"0%","Formula":"","IsDefaultAlias":false,"Name":"Speciality - NP/PA - W31"},{"Format":"0%","Formula":"","IsDefaultAlias":false,"Name":"Speciality - NP/PA - W32"},{"Format":"0%","Formula":"","IsDefaultAlias":false,"Name":"Speciality - NP/PA - Jan-Feb 2026"}]}]]></Value>
      </Data>
    </Entry>
    <Entry xmlns="http://connector.synapse.com/" key="a9133df990232aa5ecfae3b9f95ecb202da6b9758758cbd265462d52a463dd7f">
      <Data>
        <Value xmlns=""><![CDATA[{"AggregationType":1,"ColumnFields":["segment_1","time_period_name"],"FilterCondition":0,"Filters":[{"ColumnKey":"segment_1","Type":1,"Value":"Speciality - NP/PA","filterCriteria":1},{"ColumnKey":"title","Type":1,"Value":"How well the rep performed in providing a compelling reason to prescribe CREON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Speciality - NP/PA - W28"},{"Format":"0%","Formula":"","IsDefaultAlias":false,"Name":"Speciality - NP/PA - W29"},{"Format":"0%","Formula":"","IsDefaultAlias":false,"Name":"Speciality - NP/PA - W30"},{"Format":"0%","Formula":"","IsDefaultAlias":false,"Name":"Speciality - NP/PA - W31"},{"Format":"0%","Formula":"","IsDefaultAlias":false,"Name":"Speciality - NP/PA - W32"},{"Format":"0%","Formula":"","IsDefaultAlias":false,"Name":"Speciality - NP/PA - Jan-Feb 2026"}]}]]></Value>
      </Data>
    </Entry>
    <Entry xmlns="http://connector.synapse.com/" key="5ea090f7eb272810c071cfc0b8892bef4f919a8841de7095bf01693d284effe2">
      <Data>
        <Value xmlns=""><![CDATA[{"AggregationType":1,"ColumnFields":["segment_1","time_period_name"],"FilterCondition":0,"Filters":[{"ColumnKey":"segment_1","Type":1,"Value":"Speciality - NP/PA","filterCriteria":1},{"ColumnKey":"title","Type":1,"Value":"The rep’s knowledge of the product being discussed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Speciality - NP/PA - W28"},{"Format":"0%","Formula":"","IsDefaultAlias":false,"Name":"Speciality - NP/PA - W29"},{"Format":"0%","Formula":"","IsDefaultAlias":false,"Name":"Speciality - NP/PA - W30"},{"Format":"0%","Formula":"","IsDefaultAlias":false,"Name":"Speciality - NP/PA - W31"},{"Format":"0%","Formula":"","IsDefaultAlias":false,"Name":"Speciality - NP/PA - W32"},{"Format":"0%","Formula":"","IsDefaultAlias":false,"Name":"Speciality - NP/PA - Jan-Feb 2026"}]}]]></Value>
      </Data>
    </Entry>
    <Entry xmlns="http://connector.synapse.com/" key="fbfceb8030702c12215b8ea8e581d2abefebdb1f6d806ca88e0da7fd1b2c7c43">
      <Data>
        <Value xmlns=""><![CDATA[{"AggregationType":1,"ColumnFields":["segment_1","time_period_name"],"FilterCondition":0,"Filters":[{"ColumnKey":"segment_1","Type":1,"Value":"Speciality - NP/PA","filterCriteria":1},{"ColumnKey":"title","Type":1,"Value":"The rep’s ability to execute a smooth interaction","filterCriteria":1}],"LatestColumnsFirst":false,"RowFields":["alias_label","title"],"ValueFields":["decimal"],"columnDefinitions":[{"Format":"","Formula":"","IsDefaultAlias":false,"Name":"alias_label"},{"Format":"","Formula":"","IsDefaultAlias":false,"Name":"title"},{"Format":"0%","Formula":"","IsDefaultAlias":false,"Name":"Speciality - NP/PA - W28"},{"Format":"0%","Formula":"","IsDefaultAlias":false,"Name":"Speciality - NP/PA - W29"},{"Format":"0%","Formula":"","IsDefaultAlias":false,"Name":"Speciality - NP/PA - W30"},{"Format":"0%","Formula":"","IsDefaultAlias":false,"Name":"Speciality - NP/PA - W31"},{"Format":"0%","Formula":"","IsDefaultAlias":false,"Name":"Speciality - NP/PA - W32"},{"Format":"0%","Formula":"","IsDefaultAlias":false,"Name":"Speciality - NP/PA - Jan-Feb 2026"}]}]]></Value>
      </Data>
    </Entry>
    <Entry xmlns="http://connector.synapse.com/" key="ec2c5daa3b5b05c8abb21e50e87869a7c37d34b96f5ef330241fdd53bf0ce6a9">
      <Data>
        <Value xmlns=""><![CDATA[{"AggregationType":1,"ColumnFields":["time_period_name"],"FilterCondition":0,"Filters":[],"LatestColumnsFirst":false,"RowFields":["value","title"],"ValueFields":["penetration"],"columnDefinitions":[{"Format":"","Formula":"","IsDefaultAlias":false,"Name":"value","sortCriteria":{"CustomList":["3K","6k","12k","15K","24K","30K","36K","50K","80K","I don’t remember","No specific dosing options were discussed"],"Level":1,"Order":0}},{"Format":"","Formula":"","IsDefaultAlias":false,"Name":"title"},{"Format":"0%","Formula":"","IsDefaultAlias":false,"Name":"Jan-Feb 2026"},{"Format":"0%","Formula":"","IsDefaultAlias":false,"Name":"W32"}]}]]></Value>
      </Data>
    </Entry>
    <Entry xmlns="http://connector.synapse.com/" key="f2eb95471b901050be46003b3ab40932dcdbfa072500739789196f2a8998b13a">
      <Data>
        <Value xmlns=""><![CDATA[{"AggregationType":1,"ColumnFields":["time_period_name"],"FilterCondition":0,"Filters":[],"LatestColumnsFirst":false,"RowFields":["value"],"ValueFields":["penetration"],"columnDefinitions":[{"Format":"","Formula":"","IsDefaultAlias":false,"Name":"value","sortCriteria":{"CustomList":["3K","5K","10K","15K","20K","25K","30K","40K","50K","60K","80K","I don’t remember","No specific dosing options were discussed"],"Level":1,"Order":0}},{"Format":"0%","Formula":"","IsDefaultAlias":false,"Name":"Jan-Feb 2026"},{"Format":"0%","Formula":"","IsDefaultAlias":false,"Name":"W32"}]}]]></Value>
      </Data>
    </Entry>
    <Entry xmlns="http://connector.synapse.com/" key="c3093b4899c777dd0504623b4cfd17250dd26a6515709ce5b2c206e89690a6cd">
      <Data>
        <Value xmlns=""><![CDATA[{"AggregationType":1,"ColumnFields":["time_period_name"],"FilterCondition":0,"Filters":[],"LatestColumnsFirst":false,"RowFields":["value"],"ValueFields":["penetration"],"columnDefinitions":[{"Format":"","Formula":"","IsDefaultAlias":false,"Name":"value","sortCriteria":{"CustomList":["3K","6k","12k","15K","24K","30K","36K","50K","80K","I don’t remember","No specific dosing options were discussed"],"Level":1,"Order":0}},{"Format":"0%","Formula":"","IsDefaultAlias":false,"Name":"Jan-Feb 2026"},{"Format":"0%","Formula":"","IsDefaultAlias":false,"Name":"W32"}]}]]></Value>
      </Data>
    </Entry>
    <Entry xmlns="http://connector.synapse.com/" key="888dde05e963323c989daaa68528ca4df6980ac2886cb43cf4e83bd9b34b1e65">
      <Data>
        <Value xmlns=""><![CDATA[{"AggregationType":1,"ColumnFields":["time_period_name","segment_2"],"FilterCondition":0,"Filters":[{"ColumnKey":"segment_1","Type":1,"Value":"Speciality - Gastro","filterCriteria":1}],"LatestColumnsFirst":false,"RowFields":["Code","title"],"ValueFields":["decimal"],"columnDefinitions":[{"Format":"","Formula":"","IsDefaultAlias":false,"Name":"Code"},{"Format":"","Formula":"","IsDefaultAlias":false,"Name":"title"},{"Format":"0%","Formula":"","IsDefaultAlias":false,"Name":"Jan-Feb 2026 - (blank)","sortCriteria":{"CustomList":[],"Level":1,"Order":1}},{"Format":"0%","Formula":"","IsDefaultAlias":false,"Name":"Jan-Feb 2026 - Options - Motivating to Prescribe"},{"Format":"0%","Formula":"","IsDefaultAlias":false,"Name":"Jan-Feb 2026 - Options - Differentiated"},{"Format":"0%","Formula":"","IsDefaultAlias":false,"Name":"Jan-Feb 2026 - Options - Believable"},{"Alias":"ME","Format":"0%","Formula":"=GEOMEAN(D2:D2, E2:E2, F2:F2)","IsDefaultAlias":false,"Name":"<blank:ME>"}]}]]></Value>
      </Data>
    </Entry>
    <Entry xmlns="http://connector.synapse.com/" key="de37d59b6c5e011b7972299480335973a932c984db3c2f44c4394a6b63db2a39">
      <Data>
        <Value xmlns=""><![CDATA[{"AggregationType":1,"ColumnFields":["time_period_name","segment_2"],"FilterCondition":0,"Filters":[{"ColumnKey":"segment_1","Type":1,"Value":"Speciality - Gastro","filterCriteria":1}],"LatestColumnsFirst":false,"RowFields":["Code","title"],"ValueFields":["decimal"],"columnDefinitions":[{"Format":"","Formula":"","IsDefaultAlias":false,"Name":"Code"},{"IsDefaultAlias":false,"Name":"title"},{"Format":"0%","Formula":"","IsDefaultAlias":false,"Name":"W28 - (blank)"},{"Format":"0%","Formula":"","IsDefaultAlias":false,"Name":"W29 - (blank)"},{"Format":"0%","Formula":"","IsDefaultAlias":false,"Name":"W30 - (blank)"},{"Format":"0%","Formula":"","IsDefaultAlias":false,"Name":"W31 - (blank)"},{"Format":"0%","Formula":"","IsDefaultAlias":false,"Name":"W32 - (blank)"},{"Format":"0%","Formula":"","IsDefaultAlias":false,"Name":"Jan-Feb 2026 - (blank)","sortCriteria":{"CustomList":[],"Level":1,"Order":1}}]}]]></Value>
      </Data>
    </Entry>
    <Entry xmlns="http://connector.synapse.com/" key="f3e8638554c47bee933093ae7e7aaf8db4198055af52bc8f26707a73bc6f33df">
      <Data>
        <Value xmlns=""><![CDATA[{"AggregationType":1,"ColumnFields":["time_period_name","segment_2"],"FilterCondition":0,"Filters":[{"ColumnKey":"segment_1","Type":1,"Value":"Speciality - PCPs","filterCriteria":1}],"LatestColumnsFirst":false,"RowFields":["Code","title"],"ValueFields":["decimal"],"columnDefinitions":[{"Format":"","Formula":"","IsDefaultAlias":false,"Name":"Code"},{"Format":"","Formula":"","IsDefaultAlias":false,"Name":"title"},{"Format":"0%","Formula":"","IsDefaultAlias":false,"Name":"Jan-Feb 2026 - (blank)","sortCriteria":{"CustomList":[],"Level":1,"Order":1}},{"Format":"0%","Formula":"","IsDefaultAlias":false,"Name":"Jan-Feb 2026 - Options - Motivating to Prescribe"},{"Format":"0%","Formula":"","IsDefaultAlias":false,"Name":"Jan-Feb 2026 - Options - Differentiated"},{"Format":"0%","Formula":"","IsDefaultAlias":false,"Name":"Jan-Feb 2026 - Options - Believable"},{"Alias":"ME","Format":"0%","Formula":"=GEOMEAN(D2:D2, E2:E2, F2:F2)","IsDefaultAlias":false,"Name":"<blank:ME>"}]}]]></Value>
      </Data>
    </Entry>
    <Entry xmlns="http://connector.synapse.com/" key="90375bc03bdc895a4bc7f2ce6d5c7a17c6113aac006c2513b872acc783253ba1">
      <Data>
        <Value xmlns=""><![CDATA[{"AggregationType":1,"ColumnFields":["time_period_name","segment_2"],"FilterCondition":0,"Filters":[{"ColumnKey":"segment_1","Type":1,"Value":"Speciality - PCPs","filterCriteria":1}],"LatestColumnsFirst":false,"RowFields":["Code","title"],"ValueFields":["decimal"],"columnDefinitions":[{"Format":"","Formula":"","IsDefaultAlias":false,"Name":"Code"},{"Format":"","Formula":"","IsDefaultAlias":false,"Name":"title"},{"Format":"0%","Formula":"","IsDefaultAlias":false,"Name":"W28 - (blank)"},{"Format":"0%","Formula":"","IsDefaultAlias":false,"Name":"W29 - (blank)"},{"Format":"0%","Formula":"","IsDefaultAlias":false,"Name":"W30 - (blank)"},{"Format":"0%","Formula":"","IsDefaultAlias":false,"Name":"W31 - (blank)"},{"Format":"0%","Formula":"","IsDefaultAlias":false,"Name":"W32 - (blank)"},{"Format":"0%","Formula":"","IsDefaultAlias":false,"Name":"Jan-Feb 2026 - (blank)","sortCriteria":{"CustomList":[],"Level":1,"Order":1}}]}]]></Value>
      </Data>
    </Entry>
    <Entry xmlns="http://connector.synapse.com/" key="b5a094e28a7aee7315cafde97f997537e1a42c884327e94a4d0a6c7043700013">
      <Data>
        <Value xmlns=""><![CDATA[{"AggregationType":1,"ColumnFields":["time_period_name","segment_2"],"FilterCondition":0,"Filters":[{"ColumnKey":"segment_1","Type":1,"Value":"Speciality - NP/PA","filterCriteria":1}],"LatestColumnsFirst":false,"RowFields":["Code","title"],"ValueFields":["decimal"],"columnDefinitions":[{"Format":"","Formula":"","IsDefaultAlias":false,"Name":"Code"},{"Format":"","Formula":"","IsDefaultAlias":false,"Name":"title"},{"Format":"0%","Formula":"","IsDefaultAlias":false,"Name":"W28 - (blank)"},{"Format":"0%","Formula":"","IsDefaultAlias":false,"Name":"W29 - (blank)"},{"Format":"0%","Formula":"","IsDefaultAlias":false,"Name":"W30 - (blank)"},{"Format":"0%","Formula":"","IsDefaultAlias":false,"Name":"W31 - (blank)"},{"Format":"0%","Formula":"","IsDefaultAlias":false,"Name":"W32 - (blank)"},{"Format":"0%","Formula":"","IsDefaultAlias":false,"Name":"Jan-Feb 2026 - (blank)","sortCriteria":{"CustomList":[],"Level":1,"Order":1}}]}]]></Value>
      </Data>
    </Entry>
    <Entry xmlns="http://connector.synapse.com/" key="cd67c7e653fde02cc25be9530408d9d1fe09340309966eea99c6b2c6fd0d9b3b">
      <Data>
        <Value xmlns=""><![CDATA[{"AggregationType":1,"ColumnFields":["time_period_name","segment_2"],"FilterCondition":0,"Filters":[{"ColumnKey":"segment_1","Type":1,"Value":"Speciality - NP/PA","filterCriteria":1}],"LatestColumnsFirst":false,"RowFields":["Code","title"],"ValueFields":["decimal"],"columnDefinitions":[{"Format":"","Formula":"","IsDefaultAlias":false,"Name":"Code"},{"Format":"","Formula":"","IsDefaultAlias":false,"Name":"title"},{"Format":"","Formula":"","IsDefaultAlias":false,"Name":"W28 - Options - Believable"},{"Format":"","Formula":"","IsDefaultAlias":false,"Name":"W28 - Options - Differentiated"},{"Format":"","Formula":"","IsDefaultAlias":false,"Name":"W28 - Options - Motivating to Prescribe"},{"Format":"","Formula":"","IsDefaultAlias":false,"Name":"W28 - (blank)"},{"Format":"","Formula":"","IsDefaultAlias":false,"Name":"W29 - Options - Believable"},{"Format":"","Formula":"","IsDefaultAlias":false,"Name":"W29 - Options - Differentiated"},{"Format":"","Formula":"","IsDefaultAlias":false,"Name":"W29 - Options - Motivating to Prescribe"},{"Format":"","Formula":"","IsDefaultAlias":false,"Name":"W29 - (blank)"},{"Format":"","Formula":"","IsDefaultAlias":false,"Name":"W30 - Options - Believable"},{"Format":"","Formula":"","IsDefaultAlias":false,"Name":"W30 - Options - Differentiated"},{"Format":"","Formula":"","IsDefaultAlias":false,"Name":"W30 - Options - Motivating to Prescribe"},{"Format":"","Formula":"","IsDefaultAlias":false,"Name":"W30 - (blank)"},{"Format":"","Formula":"","IsDefaultAlias":false,"Name":"W31 - Options - Believable"},{"Format":"","Formula":"","IsDefaultAlias":false,"Name":"W31 - Options - Differentiated"},{"Format":"","Formula":"","IsDefaultAlias":false,"Name":"W31 - Options - Motivating to Prescribe"},{"Format":"","Formula":"","IsDefaultAlias":false,"Name":"W31 - (blank)"},{"Format":"","Formula":"","IsDefaultAlias":false,"Name":"W32 - Options - Believable"},{"Format":"","Formula":"","IsDefaultAlias":false,"Name":"W32 - Options - Differentiated"},{"Format":"","Formula":"","IsDefaultAlias":false,"Name":"W32 - Options - Motivating to Prescribe"},{"Format":"","Formula":"","IsDefaultAlias":false,"Name":"W32 - (blank)"},{"Format":"","Formula":"","IsDefaultAlias":false,"Name":"Jan-Feb 2026 - Options - Believable"},{"Format":"","Formula":"","IsDefaultAlias":false,"Name":"Jan-Feb 2026 - Options - Differentiated"},{"Format":"","Formula":"","IsDefaultAlias":false,"Name":"Jan-Feb 2026 - Options - Motivating to Prescribe"},{"Format":"0%","Formula":"","IsDefaultAlias":false,"Name":"Jan-Feb 2026 - (blank)","sortCriteria":{"CustomList":[],"Level":1,"Order":1}}]}]]></Value>
      </Data>
    </Entry>
    <Entry xmlns="http://connector.synapse.com/" key="4403dcae4125a3f1021df72aa3e9ca292f624f84a090d7a906f450ca95647fd6">
      <Data>
        <Value xmlns=""><![CDATA[{"AggregationType":1,"ColumnFields":["time_period_name","segment_2"],"FilterCondition":0,"Filters":[{"ColumnKey":"segment_1","Type":1,"Value":"Speciality - Gastro","filterCriteria":1}],"LatestColumnsFirst":false,"RowFields":["code","title"],"ValueFields":["decimal"],"columnDefinitions":[{"Format":"","Formula":"","IsDefaultAlias":false,"Name":"code"},{"Format":"","Formula":"","IsDefaultAlias":false,"Name":"title"},{"Format":"0%","Formula":"","IsDefaultAlias":false,"Name":"W28 - (blank)"},{"Format":"0%","Formula":"","IsDefaultAlias":false,"Name":"W29 - (blank)"},{"Format":"0%","Formula":"","IsDefaultAlias":false,"Name":"W30 - (blank)"},{"Format":"0%","Formula":"","IsDefaultAlias":false,"Name":"W31 - (blank)"},{"Format":"0%","Formula":"","IsDefaultAlias":false,"Name":"W32 - (blank)"},{"Format":"0%","Formula":"","IsDefaultAlias":false,"Name":"Jan-Feb 2026 - (blank)","sortCriteria":{"CustomList":[],"Level":1,"Order":1}},{"Format":"0%","Formula":"","IsDefaultAlias":false,"Name":"Jan-Feb 2026 - Options - Believable"},{"Format":"0%","Formula":"","IsDefaultAlias":false,"Name":"Jan-Feb 2026 - Options - Differentiated"},{"Format":"0%","Formula":"","IsDefaultAlias":false,"Name":"Jan-Feb 2026 - Options - Motivating to Prescribe"},{"Alias":"ME","Format":"0%","Formula":"=GEOMEAN(I2:I2, J2:J2, K2:K2)","IsDefaultAlias":false,"Name":"<blank:ME>"}]}]]></Value>
      </Data>
    </Entry>
    <Entry xmlns="http://connector.synapse.com/" key="82660ca25b72ef321dcd31534981a5242ba1fe0d57344e71d08f30514b114cb1">
      <Data>
        <Value xmlns=""><![CDATA[{"AggregationType":1,"ColumnFields":["time_period_name","segment_2"],"FilterCondition":0,"Filters":[{"ColumnKey":"segment_1","Type":1,"Value":"Speciality - PCPs","filterCriteria":1}],"LatestColumnsFirst":false,"RowFields":["code","title"],"ValueFields":["decimal"],"columnDefinitions":[{"Format":"","Formula":"","IsDefaultAlias":false,"Name":"code"},{"Format":"","Formula":"","IsDefaultAlias":false,"Name":"title"},{"Format":"0%","Formula":"","IsDefaultAlias":false,"Name":"W28 - (blank)"},{"Format":"0%","Formula":"","IsDefaultAlias":false,"Name":"W29 - (blank)"},{"Format":"0%","Formula":"","IsDefaultAlias":false,"Name":"W30 - (blank)"},{"Format":"0%","Formula":"","IsDefaultAlias":false,"Name":"W31 - (blank)"},{"Format":"0%","Formula":"","IsDefaultAlias":false,"Name":"W32 - (blank)"},{"Format":"0%","Formula":"","IsDefaultAlias":false,"Name":"Jan-Feb 2026 - (blank)","sortCriteria":{"CustomList":[],"Level":1,"Order":1}},{"Format":"0%","Formula":"","IsDefaultAlias":false,"Name":"Jan-Feb 2026 - Options - Believable"},{"Format":"0%","Formula":"","IsDefaultAlias":false,"Name":"Jan-Feb 2026 - Options - Differentiated"},{"Format":"0%","Formula":"","IsDefaultAlias":false,"Name":"Jan-Feb 2026 - Options - Motivating to Prescribe"},{"Alias":"ME","Format":"0%","Formula":"=GEOMEAN(I2:I2, J2:J2, K2:K2)","IsDefaultAlias":false,"Name":"<blank:ME>"}]}]]></Value>
      </Data>
    </Entry>
    <Entry xmlns="http://connector.synapse.com/" key="d72f9111b33b73e2fecbcdedee4d911e4216e26098ccd4560c339167e949c915">
      <Data>
        <Value xmlns=""><![CDATA[{"AggregationType":1,"ColumnFields":["time_period_name","segment_1"],"FilterCondition":0,"Filters":[{"ColumnKey":"segment_1","Type":1,"Value":"Speciality - PCPs","filterCriteria":1}],"LatestColumnsFirst":false,"RowFields":["title"],"ValueFields":["decimal"],"columnDefinitions":[{"Format":"","Formula":"","IsDefaultAlias":false,"Name":"title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,"sortCriteria":{"CustomList":[],"Level":1,"Order":1}}]}]]></Value>
      </Data>
    </Entry>
    <Entry xmlns="http://connector.synapse.com/" key="c3fe147a0a69c46c667d4125c040de89f6f9dd0f71b09ccb8717630c13f53f68">
      <Data>
        <Value xmlns=""><![CDATA[{"AggregationType":1,"ColumnFields":["time_period_name","segment_2"],"FilterCondition":0,"Filters":[{"ColumnKey":"segment_1","Type":1,"Value":"Speciality - NP/PA","filterCriteria":1}],"LatestColumnsFirst":false,"RowFields":["code","title"],"ValueFields":["decimal"],"columnDefinitions":[{"Format":"","Formula":"","IsDefaultAlias":false,"Name":"code"},{"Format":"","Formula":"","IsDefaultAlias":false,"Name":"title"},{"Format":"","Formula":"","IsDefaultAlias":false,"Name":"W28 - Options - Believable"},{"Format":"","Formula":"","IsDefaultAlias":false,"Name":"W28 - Options - Differentiated"},{"Format":"","Formula":"","IsDefaultAlias":false,"Name":"W28 - Options - Motivating to Prescribe"},{"Format":"","Formula":"","IsDefaultAlias":false,"Name":"W28 - (blank)"},{"Format":"","Formula":"","IsDefaultAlias":false,"Name":"W29 - Options - Believable"},{"Format":"","Formula":"","IsDefaultAlias":false,"Name":"W29 - Options - Differentiated"},{"Format":"","Formula":"","IsDefaultAlias":false,"Name":"W29 - Options - Motivating to Prescribe"},{"Format":"","Formula":"","IsDefaultAlias":false,"Name":"W29 - (blank)"},{"Format":"","Formula":"","IsDefaultAlias":false,"Name":"W30 - Options - Believable"},{"Format":"","Formula":"","IsDefaultAlias":false,"Name":"W30 - Options - Differentiated"},{"Format":"","Formula":"","IsDefaultAlias":false,"Name":"W30 - Options - Motivating to Prescribe"},{"Format":"","Formula":"","IsDefaultAlias":false,"Name":"W30 - (blank)"},{"Format":"","Formula":"","IsDefaultAlias":false,"Name":"W31 - Options - Believable"},{"Format":"","Formula":"","IsDefaultAlias":false,"Name":"W31 - Options - Differentiated"},{"Format":"","Formula":"","IsDefaultAlias":false,"Name":"W31 - Options - Motivating to Prescribe"},{"Format":"","Formula":"","IsDefaultAlias":false,"Name":"W31 - (blank)"},{"Format":"","Formula":"","IsDefaultAlias":false,"Name":"W32 - Options - Believable"},{"Format":"","Formula":"","IsDefaultAlias":false,"Name":"W32 - Options - Differentiated"},{"Format":"","Formula":"","IsDefaultAlias":false,"Name":"W32 - Options - Motivating to Prescribe"},{"Format":"","Formula":"","IsDefaultAlias":false,"Name":"W32 - (blank)"},{"Format":"","Formula":"","IsDefaultAlias":false,"Name":"Jan-Feb 2026 - Options - Believable"},{"Format":"","Formula":"","IsDefaultAlias":false,"Name":"Jan-Feb 2026 - Options - Differentiated"},{"Format":"","Formula":"","IsDefaultAlias":false,"Name":"Jan-Feb 2026 - Options - Motivating to Prescribe"},{"Format":"0%","Formula":"","IsDefaultAlias":false,"Name":"Jan-Feb 2026 - (blank)","sortCriteria":{"CustomList":[],"Level":1,"Order":1}}]}]]></Value>
      </Data>
    </Entry>
    <Entry xmlns="http://connector.synapse.com/" key="81746c6b4784b86105a4cfc6e281fdb476064d3eb961ee16dedf2b6d9f73cd3c">
      <Data>
        <Value xmlns=""><![CDATA[{"AggregationType":1,"ColumnFields":["time_period_name","segment_1"],"FilterCondition":0,"Filters":[{"ColumnKey":"segment_1","Type":1,"Value":"Speciality - NP/PA","filterCriteria":1}],"LatestColumnsFirst":false,"RowFields":["title"],"ValueFields":["decimal"],"columnDefinitions":[{"Format":"","Formula":"","IsDefaultAlias":false,"Name":"title"},{"Format":"0%","Formula":"","IsDefaultAlias":false,"Name":"W28 - Speciality - NP/PA"},{"Format":"0%","Formula":"","IsDefaultAlias":false,"Name":"W29 - Speciality - NP/PA"},{"Format":"0%","Formula":"","IsDefaultAlias":false,"Name":"W30 - Speciality - NP/PA"},{"Format":"0%","Formula":"","IsDefaultAlias":false,"Name":"W31 - Speciality - NP/PA"},{"Format":"0%","Formula":"","IsDefaultAlias":false,"Name":"W32 - Speciality - NP/PA"},{"Format":"0%","Formula":"","IsDefaultAlias":false,"Name":"Jan-Feb 2026 - Speciality - NP/PA","sortCriteria":{"CustomList":[],"Level":1,"Order":1}}]}]]></Value>
      </Data>
    </Entry>
    <Entry xmlns="http://connector.synapse.com/" key="303c2354f42a9c2c08944c9caebc9f2f35006d5eaa353af26822515219b5d76b">
      <Data>
        <Value xmlns=""><![CDATA[{"AggregationType":1,"ColumnFields":["time_period_name","segment_1"],"FilterCondition":0,"Filters":[{"ColumnKey":"segment_1","Type":1,"Value":"Speciality - Gastro","filterCriteria":1}],"LatestColumnsFirst":false,"RowFields":["Code","title"],"ValueFields":["ME"],"columnDefinitions":[{"Format":"","Formula":"","IsDefaultAlias":false,"Name":"Code"},{"Format":"","Formula":"","IsDefaultAlias":false,"Name":"title"},{"Format":"","Formula":"","IsDefaultAlias":false,"Name":"W28 - Speciality - Gastro"},{"Format":"","Formula":"","IsDefaultAlias":false,"Name":"W29 - Speciality - Gastro"},{"Format":"","Formula":"","IsDefaultAlias":false,"Name":"W30 - Speciality - Gastro"},{"Format":"","Formula":"","IsDefaultAlias":false,"Name":"W31 - Speciality - Gastro"},{"Format":"","Formula":"","IsDefaultAlias":false,"Name":"W32 - Speciality - Gastro"},{"Format":"0%","Formula":"","IsDefaultAlias":false,"Name":"Jan-Feb 2026 - Speciality - Gastro","sortCriteria":{"CustomList":[],"Level":1,"Order":1}}]}]]></Value>
      </Data>
    </Entry>
    <Entry xmlns="http://connector.synapse.com/" key="cd1da6e1b2cef103c6b239b8875e48c90c68776402b099bddd0c2aa1da2b739e">
      <Data>
        <Value xmlns=""><![CDATA[{"AggregationType":1,"ColumnFields":["time_period_name","segment_1"],"FilterCondition":0,"Filters":[{"ColumnKey":"segment_1","Type":1,"Value":"Speciality - Gastro","filterCriteria":1}],"LatestColumnsFirst":false,"RowFields":["Code","title"],"ValueFields":["ME"],"columnDefinitions":[{"Format":"","Formula":"","IsDefaultAlias":false,"Name":"Code"},{"Format":"","Formula":"","IsDefaultAlias":false,"Name":"title"},{"Format":"0%","Formula":"","IsDefaultAlias":false,"Name":"W28 - Speciality - Gastro"},{"Format":"0%","Formula":"","IsDefaultAlias":false,"Name":"W29 - Speciality - Gastro"},{"Format":"0%","Formula":"","IsDefaultAlias":false,"Name":"W30 - Speciality - Gastro"},{"Format":"0%","Formula":"","IsDefaultAlias":false,"Name":"W31 - Speciality - Gastro"},{"Format":"0%","Formula":"","IsDefaultAlias":false,"Name":"W32 - Speciality - Gastro"},{"Format":"0%","Formula":"","IsDefaultAlias":false,"Name":"Jan-Feb 2026 - Speciality - Gastro","sortCriteria":{"CustomList":[],"Level":1,"Order":1}}]}]]></Value>
      </Data>
    </Entry>
    <Entry xmlns="http://connector.synapse.com/" key="bbf0fdfe1af5695a33beb0099907575a94963af076b2a9da5c507cc86f3089f7">
      <Data>
        <Value xmlns=""><![CDATA[{"AggregationType":1,"ColumnFields":["time_period_name","segment_1"],"FilterCondition":0,"Filters":[{"ColumnKey":"segment_1","Type":1,"Value":"Speciality - PCPs","filterCriteria":1}],"LatestColumnsFirst":false,"RowFields":["Code","title"],"ValueFields":["ME"],"columnDefinitions":[{"Format":"","Formula":"","IsDefaultAlias":false,"Name":"Code"},{"Format":"","Formula":"","IsDefaultAlias":false,"Name":"title"},{"Format":"","Formula":"","IsDefaultAlias":false,"Name":"W28 - Speciality - PCPs"},{"Format":"","Formula":"","IsDefaultAlias":false,"Name":"W29 - Speciality - PCPs"},{"Format":"","Formula":"","IsDefaultAlias":false,"Name":"W30 - Speciality - PCPs"},{"Format":"","Formula":"","IsDefaultAlias":false,"Name":"W31 - Speciality - PCPs"},{"Format":"","Formula":"","IsDefaultAlias":false,"Name":"W32 - Speciality - PCPs"},{"Format":"0%","Formula":"","IsDefaultAlias":false,"Name":"Jan-Feb 2026 - Speciality - PCPs","sortCriteria":{"CustomList":[],"Level":1,"Order":1}}]}]]></Value>
      </Data>
    </Entry>
    <Entry xmlns="http://connector.synapse.com/" key="be87308dceb72bfb5f61575931557e6d5e15a3acb705dbe525717d7be4e805ca">
      <Data>
        <Value xmlns=""><![CDATA[{"AggregationType":1,"ColumnFields":["time_period_name","segment_1"],"FilterCondition":0,"Filters":[{"ColumnKey":"segment_1","Type":1,"Value":"Speciality - PCPs","filterCriteria":1}],"LatestColumnsFirst":false,"RowFields":["Code","title"],"ValueFields":["ME"],"columnDefinitions":[{"Format":"","Formula":"","IsDefaultAlias":false,"Name":"Code"},{"Format":"","Formula":"","IsDefaultAlias":false,"Name":"title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,"sortCriteria":{"CustomList":[],"Level":1,"Order":1}}]}]]></Value>
      </Data>
    </Entry>
    <Entry xmlns="http://connector.synapse.com/" key="3fc97974e8cd7f10cfa0ef120ad0930ab0e421f2bbd82f6188b3ccdf95fb99af">
      <Data>
        <Value xmlns=""><![CDATA[{"AggregationType":1,"ColumnFields":["time_period_name","segment_1"],"FilterCondition":0,"Filters":[{"ColumnKey":"segment_1","Type":1,"Value":"Speciality - NP/PA","filterCriteria":1}],"LatestColumnsFirst":false,"RowFields":["Code","title"],"ValueFields":["ME"],"columnDefinitions":[{"Format":"","Formula":"","IsDefaultAlias":false,"Name":"Code"},{"Format":"","Formula":"","IsDefaultAlias":false,"Name":"title"},{"Format":"","Formula":"","IsDefaultAlias":false,"Name":"W28 - Speciality - NP/PA"},{"Format":"","Formula":"","IsDefaultAlias":false,"Name":"W29 - Speciality - NP/PA"},{"Format":"","Formula":"","IsDefaultAlias":false,"Name":"W30 - Speciality - NP/PA"},{"Format":"","Formula":"","IsDefaultAlias":false,"Name":"W31 - Speciality - NP/PA"},{"Format":"","Formula":"","IsDefaultAlias":false,"Name":"W32 - Speciality - NP/PA"},{"Format":"0%","Formula":"","IsDefaultAlias":false,"Name":"Jan-Feb 2026 - Speciality - NP/PA","sortCriteria":{"CustomList":[],"Level":1,"Order":1}}]}]]></Value>
      </Data>
    </Entry>
    <Entry xmlns="http://connector.synapse.com/" key="7cb589c38b013116041693111a6fd05ffdda14ba2812639c646b0e8c4c7e4f1c">
      <Data>
        <Value xmlns=""><![CDATA[{"AggregationType":1,"ColumnFields":["time_period_name","segment_1"],"FilterCondition":0,"Filters":[{"ColumnKey":"segment_1","Type":1,"Value":"Speciality - NP/PA","filterCriteria":1}],"LatestColumnsFirst":false,"RowFields":["Code","title"],"ValueFields":["ME"],"columnDefinitions":[{"Format":"","Formula":"","IsDefaultAlias":false,"Name":"Code"},{"Format":"","Formula":"","IsDefaultAlias":false,"Name":"title"},{"Format":"0%","Formula":"","IsDefaultAlias":false,"Name":"W28 - Speciality - NP/PA"},{"Format":"0%","Formula":"","IsDefaultAlias":false,"Name":"W29 - Speciality - NP/PA"},{"Format":"0%","Formula":"","IsDefaultAlias":false,"Name":"W30 - Speciality - NP/PA"},{"Format":"0%","Formula":"","IsDefaultAlias":false,"Name":"W31 - Speciality - NP/PA"},{"Format":"0%","Formula":"","IsDefaultAlias":false,"Name":"W32 - Speciality - NP/PA"},{"Format":"0%","Formula":"","IsDefaultAlias":false,"Name":"Jan-Feb 2026 - Speciality - NP/PA","sortCriteria":{"CustomList":[],"Level":1,"Order":1}}]}]]></Value>
      </Data>
    </Entry>
    <Entry xmlns="http://connector.synapse.com/" key="007daeb981607b8b5370a5a9379eb2478310fec55d1a0e6c53274c3b4bbdf605">
      <Data>
        <Value xmlns=""><![CDATA[{"AggregationType":1,"ColumnFields":["time_period_name","segment_1"],"FilterCondition":0,"Filters":[{"ColumnKey":"segment_1","Type":1,"Value":"Speciality - Gastro","filterCriteria":1}],"LatestColumnsFirst":false,"RowFields":["code","title"],"ValueFields":["ME"],"columnDefinitions":[{"Format":"","Formula":"","IsDefaultAlias":false,"Name":"code"},{"Format":"","Formula":"","IsDefaultAlias":false,"Name":"title"},{"Format":"","Formula":"","IsDefaultAlias":false,"Name":"W28 - Speciality - Gastro"},{"Format":"","Formula":"","IsDefaultAlias":false,"Name":"W29 - Speciality - Gastro"},{"Format":"","Formula":"","IsDefaultAlias":false,"Name":"W30 - Speciality - Gastro"},{"Format":"","Formula":"","IsDefaultAlias":false,"Name":"W31 - Speciality - Gastro"},{"Format":"","Formula":"","IsDefaultAlias":false,"Name":"W32 - Speciality - Gastro"},{"Format":"0%","Formula":"","IsDefaultAlias":false,"Name":"Jan-Feb 2026 - Speciality - Gastro","sortCriteria":{"CustomList":[],"Level":1,"Order":1}}]}]]></Value>
      </Data>
    </Entry>
    <Entry xmlns="http://connector.synapse.com/" key="d79130b43f4be9cab92c8591cf9df5180e737fcde2fc43a34c43c37eed4198f2">
      <Data>
        <Value xmlns=""><![CDATA[{"AggregationType":1,"ColumnFields":["time_period_name","segment_1"],"FilterCondition":0,"Filters":[{"ColumnKey":"segment_1","Type":1,"Value":"Speciality - Gastro","filterCriteria":1}],"LatestColumnsFirst":false,"RowFields":["code","title"],"ValueFields":["ME"],"columnDefinitions":[{"Format":"","Formula":"","IsDefaultAlias":false,"Name":"code"},{"Format":"","Formula":"","IsDefaultAlias":false,"Name":"title"},{"Format":"0%","Formula":"","IsDefaultAlias":false,"Name":"W28 - Speciality - Gastro"},{"Format":"0%","Formula":"","IsDefaultAlias":false,"Name":"W29 - Speciality - Gastro"},{"Format":"0%","Formula":"","IsDefaultAlias":false,"Name":"W30 - Speciality - Gastro"},{"Format":"0%","Formula":"","IsDefaultAlias":false,"Name":"W31 - Speciality - Gastro"},{"Format":"0%","Formula":"","IsDefaultAlias":false,"Name":"W32 - Speciality - Gastro"},{"Format":"0%","Formula":"","IsDefaultAlias":false,"Name":"Jan-Feb 2026 - Speciality - Gastro","sortCriteria":{"CustomList":[],"Level":1,"Order":1}}]}]]></Value>
      </Data>
    </Entry>
    <Entry xmlns="http://connector.synapse.com/" key="a8b1094720f04312104867fccbe7e9a0f0bdbafbbf7a6f5c3aa1f0bfeb830c82">
      <Data>
        <Value xmlns=""><![CDATA[{"AggregationType":1,"ColumnFields":["time_period_name","segment_1"],"FilterCondition":0,"Filters":[{"ColumnKey":"segment_1","Type":1,"Value":"Speciality - PCPs","filterCriteria":1}],"LatestColumnsFirst":false,"RowFields":["code","title"],"ValueFields":["ME"],"columnDefinitions":[{"Format":"","Formula":"","IsDefaultAlias":false,"Name":"code"},{"Format":"","Formula":"","IsDefaultAlias":false,"Name":"title"},{"Format":"0%","Formula":"","IsDefaultAlias":false,"Name":"Jan-Feb 2026 - Speciality - PCPs","sortCriteria":{"CustomList":[],"Level":1,"Order":1}},{"Format":"","Formula":"","IsDefaultAlias":false,"Name":"Column1"}]}]]></Value>
      </Data>
    </Entry>
    <Entry xmlns="http://connector.synapse.com/" key="559f62a6cf8dff92da451540588d09b12be2b765eadfb41fda50aecf4c1cc772">
      <Data>
        <Value xmlns=""><![CDATA[{"AggregationType":1,"ColumnFields":["time_period_name","segment_1"],"FilterCondition":0,"Filters":[{"ColumnKey":"segment_1","Type":1,"Value":"Speciality - PCPs","filterCriteria":1}],"LatestColumnsFirst":false,"RowFields":["code","title"],"ValueFields":["ME"],"columnDefinitions":[{"Format":"","Formula":"","IsDefaultAlias":false,"Name":"code"},{"Format":"","Formula":"","IsDefaultAlias":false,"Name":"title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,"sortCriteria":{"CustomList":[],"Level":1,"Order":1}}]}]]></Value>
      </Data>
    </Entry>
    <Entry xmlns="http://connector.synapse.com/" key="b1ddd3d32d14cccf9a9a73bd2e61662cdbc911d4c8e3898d44e5ecd851ec3508">
      <Data>
        <Value xmlns=""><![CDATA[{"AggregationType":1,"ColumnFields":["time_period_name","segment_1"],"FilterCondition":0,"Filters":[{"ColumnKey":"segment_1","Type":1,"Value":"Speciality - NP/PA","filterCriteria":1}],"LatestColumnsFirst":false,"RowFields":["code","title"],"ValueFields":["ME"],"columnDefinitions":[{"Format":"","Formula":"","IsDefaultAlias":false,"Name":"code"},{"Format":"","Formula":"","IsDefaultAlias":false,"Name":"title"},{"Format":"0%","Formula":"","IsDefaultAlias":false,"Name":"Jan-Feb 2026 - Speciality - NP/PA","sortCriteria":{"CustomList":[],"Level":1,"Order":1}},{"Format":"","Formula":"","IsDefaultAlias":false,"Name":"Column1"}]}]]></Value>
      </Data>
    </Entry>
    <Entry xmlns="http://connector.synapse.com/" key="dea9b94763a6055f983f2475e6ed40d186ba0ce78b034f1d5ef2c0e23b57c407">
      <Data>
        <Value xmlns=""><![CDATA[{"AggregationType":1,"ColumnFields":["time_period_name","segment_1"],"FilterCondition":0,"Filters":[{"ColumnKey":"segment_1","Type":1,"Value":"Speciality - NP/PA","filterCriteria":1}],"LatestColumnsFirst":false,"RowFields":["code","title"],"ValueFields":["ME"],"columnDefinitions":[{"Format":"","Formula":"","IsDefaultAlias":false,"Name":"code"},{"Format":"","Formula":"","IsDefaultAlias":false,"Name":"title"},{"Format":"0%","Formula":"","IsDefaultAlias":false,"Name":"W28 - Speciality - NP/PA"},{"Format":"0%","Formula":"","IsDefaultAlias":false,"Name":"W29 - Speciality - NP/PA"},{"Format":"0%","Formula":"","IsDefaultAlias":false,"Name":"W30 - Speciality - NP/PA"},{"Format":"0%","Formula":"","IsDefaultAlias":false,"Name":"W31 - Speciality - NP/PA"},{"Format":"0%","Formula":"","IsDefaultAlias":false,"Name":"W32 - Speciality - NP/PA"},{"Format":"0%","Formula":"","IsDefaultAlias":false,"Name":"Jan-Feb 2026 - Speciality - NP/PA","sortCriteria":{"CustomList":[],"Level":1,"Order":1}}]}]]></Value>
      </Data>
    </Entry>
    <Entry xmlns="http://connector.synapse.com/" key="9ae9e3a793d13c839ebaaf1aa5dcaa0314e934c461712c5246f01b72efbc5704">
      <Data>
        <Value xmlns=""><![CDATA[{"AggregationType":1,"ColumnFields":["time_period_name","segment_1"],"FilterCondition":0,"Filters":[{"ColumnKey":"question","Type":1,"Value":"The rep’s knowledge of the product being discussed;The overall quality of the rep’s interaction;The rep’s ability to execute a smooth interaction;The rep’s preparedness;How well the rep helped me understand insurance coverage / access for CREON;How well the rep performed in providing a compelling reason to prescribe CREON;The rep’s understanding of my patients needs in light of COVID-19","filterCriteria":2},{"ColumnKey":"segment_1","Type":1,"Value":"Speciality - Gastro","filterCriteria":1}],"LatestColumnsFirst":false,"RowFields":["question"],"ValueFields":["decimal"],"columnDefinitions":[{"Format":"","Formula":"","IsDefaultAlias":false,"Name":"question"},{"Format":"0%","Formula":"","IsDefaultAlias":false,"Name":"Jan-Feb 2026 - Speciality - Gastro","sortCriteria":{"CustomList":[],"Level":1,"Order":1}}]}]]></Value>
      </Data>
    </Entry>
    <Entry xmlns="http://connector.synapse.com/" key="781e84ce4648bd5aa63465585c5e41556635694413050e62bcb77e967d6253ce">
      <Data>
        <Value xmlns=""><![CDATA[{"AggregationType":1,"ColumnFields":["time_period_name","segment_1"],"FilterCondition":0,"Filters":[{"ColumnKey":"question","Type":1,"Value":"The rep’s knowledge of the product being discussed;The overall quality of the rep’s interaction;The rep’s ability to execute a smooth interaction;The rep’s preparedness;How well the rep helped me understand insurance coverage / access for CREON;How well the rep performed in providing a compelling reason to prescribe CREON;The rep’s understanding of my patients needs in light of COVID-19","filterCriteria":2},{"ColumnKey":"segment_1","Type":1,"Value":"Speciality - Gastro","filterCriteria":1}],"LatestColumnsFirst":false,"RowFields":["question"],"ValueFields":["decimal"],"columnDefinitions":[{"Format":"","Formula":"","IsDefaultAlias":false,"Name":"question"},{"Format":"0%","Formula":"","IsDefaultAlias":false,"Name":"W28 - Speciality - Gastro"},{"Format":"0%","Formula":"","IsDefaultAlias":false,"Name":"W29 - Speciality - Gastro"},{"Format":"0%","Formula":"","IsDefaultAlias":false,"Name":"W30 - Speciality - Gastro"},{"Format":"0%","Formula":"","IsDefaultAlias":false,"Name":"W31 - Speciality - Gastro"},{"Format":"0%","Formula":"","IsDefaultAlias":false,"Name":"W32 - Speciality - Gastro"},{"Format":"0%","Formula":"","IsDefaultAlias":false,"Name":"Jan-Feb 2026 - Speciality - Gastro","sortCriteria":{"CustomList":[],"Level":1,"Order":1}}]}]]></Value>
      </Data>
    </Entry>
    <Entry xmlns="http://connector.synapse.com/" key="8a3e4f64184e08a71e1621a940b8c35c7d07ccef725aa171598efe3b4497a77e">
      <Data>
        <Value xmlns=""><![CDATA[{"AggregationType":1,"ColumnFields":["time_period_name","segment_1"],"FilterCondition":0,"Filters":[{"ColumnKey":"question","Type":1,"Value":"The rep’s knowledge of the product being discussed;The overall quality of the rep’s interaction;The rep’s ability to execute a smooth interaction;The rep’s preparedness;How well the rep helped me understand insurance coverage / access for CREON;How well the rep performed in providing a compelling reason to prescribe CREON;The rep’s understanding of my patients needs in light of COVID-19","filterCriteria":2},{"ColumnKey":"segment_1","Type":1,"Value":"Speciality - PCPs","filterCriteria":1}],"LatestColumnsFirst":false,"RowFields":["question"],"ValueFields":["decimal"],"columnDefinitions":[{"Format":"","Formula":"","IsDefaultAlias":false,"Name":"question"},{"Format":"0%","Formula":"","IsDefaultAlias":false,"Name":"W28 - Speciality - PCPs"},{"Format":"0%","Formula":"","IsDefaultAlias":false,"Name":"W29 - Speciality - PCPs"},{"Format":"0%","Formula":"","IsDefaultAlias":false,"Name":"W30 - Speciality - PCPs"},{"Format":"0%","Formula":"","IsDefaultAlias":false,"Name":"W31 - Speciality - PCPs"},{"Format":"0%","Formula":"","IsDefaultAlias":false,"Name":"W32 - Speciality - PCPs"},{"Format":"0%","Formula":"","IsDefaultAlias":false,"Name":"Jan-Feb 2026 - Speciality - PCPs","sortCriteria":{"CustomList":[],"Level":1,"Order":1}}]}]]></Value>
      </Data>
    </Entry>
    <Entry xmlns="http://connector.synapse.com/" key="b52a4d13497b944237e2b600d61a56c06f2d9e9ac6b9aa07a0987ced7983b278">
      <Data>
        <Value xmlns=""><![CDATA[{"AggregationType":1,"ColumnFields":["time_period_name","segment_1"],"FilterCondition":0,"Filters":[{"ColumnKey":"question","Type":1,"Value":"The rep’s knowledge of the product being discussed;The overall quality of the rep’s interaction;The rep’s ability to execute a smooth interaction;The rep’s preparedness;How well the rep helped me understand insurance coverage / access for CREON;How well the rep performed in providing a compelling reason to prescribe CREON;The rep’s understanding of my patients needs in light of COVID-19","filterCriteria":2},{"ColumnKey":"segment_1","Type":1,"Value":"Speciality - PCPs","filterCriteria":1}],"LatestColumnsFirst":false,"RowFields":["question"],"ValueFields":["decimal"],"columnDefinitions":[{"Format":"","Formula":"","IsDefaultAlias":false,"Name":"question"},{"Format":"0%","Formula":"","IsDefaultAlias":false,"Name":"Jan-Feb 2026 - Speciality - PCPs","sortCriteria":{"CustomList":[],"Level":1,"Order":1}}]}]]></Value>
      </Data>
    </Entry>
    <Entry xmlns="http://connector.synapse.com/" key="a7849b924fea012049fb1cc2167135c3a5e26dde9afe3f69d520fd9a15abb33a">
      <Data>
        <Value xmlns=""><![CDATA[{"AggregationType":1,"ColumnFields":["time_period_name","segment_1"],"FilterCondition":0,"Filters":[{"ColumnKey":"question","Type":1,"Value":"The rep’s knowledge of the product being discussed;The overall quality of the rep’s interaction;The rep’s ability to execute a smooth interaction;The rep’s preparedness;How well the rep helped me understand insurance coverage / access for CREON;How well the rep performed in providing a compelling reason to prescribe CREON;The rep’s understanding of my patients needs in light of COVID-19","filterCriteria":2},{"ColumnKey":"segment_1","Type":1,"Value":"Speciality - NP/PA","filterCriteria":1}],"LatestColumnsFirst":false,"RowFields":["question"],"ValueFields":["decimal"],"columnDefinitions":[{"Format":"","Formula":"","IsDefaultAlias":false,"Name":"question"},{"Format":"0%","Formula":"","IsDefaultAlias":false,"Name":"W28 - Speciality - NP/PA"},{"Format":"0%","Formula":"","IsDefaultAlias":false,"Name":"W29 - Speciality - NP/PA"},{"Format":"0%","Formula":"","IsDefaultAlias":false,"Name":"W30 - Speciality - NP/PA"},{"Format":"0%","Formula":"","IsDefaultAlias":false,"Name":"W31 - Speciality - NP/PA"},{"Format":"0%","Formula":"","IsDefaultAlias":false,"Name":"W32 - Speciality - NP/PA"},{"Format":"0%","Formula":"","IsDefaultAlias":false,"Name":"Jan-Feb 2026 - Speciality - NP/PA","sortCriteria":{"CustomList":[],"Level":1,"Order":1}}]}]]></Value>
      </Data>
    </Entry>
    <Entry xmlns="http://connector.synapse.com/" key="44f429d2b28c90c96d348e9acf4daeaf9d1b85bc40bf9d52d69407e0e1de5b65">
      <Data>
        <Value xmlns=""><![CDATA[{"AggregationType":1,"ColumnFields":["time_period_name","segment_1"],"FilterCondition":0,"Filters":[{"ColumnKey":"question","Type":1,"Value":"The rep’s knowledge of the product being discussed;The overall quality of the rep’s interaction;The rep’s ability to execute a smooth interaction;The rep’s preparedness;How well the rep helped me understand insurance coverage / access for CREON;How well the rep performed in providing a compelling reason to prescribe CREON;The rep’s understanding of my patients needs in light of COVID-19","filterCriteria":2},{"ColumnKey":"segment_1","Type":1,"Value":"Speciality - NP/PA","filterCriteria":1}],"LatestColumnsFirst":false,"RowFields":["question"],"ValueFields":["decimal"],"columnDefinitions":[{"Format":"","Formula":"","IsDefaultAlias":false,"Name":"question"},{"Format":"0%","Formula":"","IsDefaultAlias":false,"Name":"Jan-Feb 2026 - Speciality - NP/PA","sortCriteria":{"CustomList":[],"Level":1,"Order":1}}]}]]></Value>
      </Data>
    </Entry>
    <Entry xmlns="http://connector.synapse.com/" key="92831ce91fab29789a1a049cbf163e288140ba8fba7ed80d7fe3412b632b7460">
      <Data>
        <Value xmlns=""><![CDATA[{"AggregationType":0,"ColumnFields":["y_label","alias_label"],"FilterCondition":0,"Filters":[],"LatestColumnsFirst":false,"RowFields":["time_period_name"],"ValueFields":["decimal"],"columnDefinitions":[{"IsDefaultAlias":true,"Name":"time_period_name","sortCriteria":{"CustomList":["Oct'25","Nov'25","Dec'25","Jan'26","Feb'26","Mar'26"],"Level":1,"Order":0}},{"Format":"0%","IsDefaultAlias":true,"Name":"Benefits patient outcomes beyond symptom relief @:@ CREON"},{"Format":"0%","IsDefaultAlias":true,"Name":"Benefits patient outcomes beyond symptom relief @:@ ZENPEP"},{"Format":"0%","IsDefaultAlias":true,"Name":"Best formulary / insurance coverage @:@ CREON"},{"Format":"0%","IsDefaultAlias":true,"Name":"Best formulary / insurance coverage @:@ ZENPEP"},{"Format":"0%","IsDefaultAlias":true,"Name":"Co-pay assistance @:@ CREON"},{"Format":"0%","IsDefaultAlias":true,"Name":"Co-pay assistance @:@ ZENPEP"},{"Format":"0%","IsDefaultAlias":true,"Name":"Dosing flexibility @:@ CREON"},{"Format":"0%","IsDefaultAlias":true,"Name":"Dosing flexibility @:@ ZENPEP"},{"Format":"0%","IsDefaultAlias":true,"Name":"Easiest to prescribe (less impact on practice resources) @:@ CREON"},{"Format":"0%","IsDefaultAlias":true,"Name":"Easiest to prescribe (less impact on practice resources) @:@ ZENPEP"},{"Format":"0%","IsDefaultAlias":true,"Name":"Highest efficacy @:@ CREON"},{"Format":"0%","IsDefaultAlias":true,"Name":"Highest efficacy @:@ ZENPEP"},{"Format":"0%","IsDefaultAlias":true,"Name":"Improves symptoms @:@ CREON"},{"Format":"0%","IsDefaultAlias":true,"Name":"Improves symptoms @:@ ZENPEP"},{"Format":"0%","IsDefaultAlias":true,"Name":"Lowest treatment cost @:@ CREON"},{"Format":"0%","IsDefaultAlias":true,"Name":"Lowest treatment cost @:@ ZENPEP"},{"Format":"0%","IsDefaultAlias":true,"Name":"Most dosing options @:@ CREON"},{"Format":"0%","IsDefaultAlias":true,"Name":"Most dosing options @:@ ZENPEP"},{"Format":"0%","IsDefaultAlias":true,"Name":"Most favorable safety profile @:@ CREON"},{"Format":"0%","IsDefaultAlias":true,"Name":"Most favorable safety profile @:@ ZENPEP"},{"Format":"0%","IsDefaultAlias":true,"Name":"Patient adherence @:@ CREON"},{"Format":"0%","IsDefaultAlias":true,"Name":"Patient adherence @:@ ZENPEP"},{"Format":"0%","IsDefaultAlias":true,"Name":"Patient support programs @:@ CREON"},{"Format":"0%","IsDefaultAlias":true,"Name":"Patient support programs @:@ ZENPEP"},{"Format":"0%","IsDefaultAlias":true,"Name":"Simplest dosing @:@ CREON"},{"Format":"0%","IsDefaultAlias":true,"Name":"Simplest dosing @:@ ZENPEP"},{"Format":"0%","IsDefaultAlias":true,"Name":"Successful personal experience with treatment @:@ CREON"},{"Format":"0%","IsDefaultAlias":true,"Name":"Successful personal experience with treatment @:@ ZENPEP"},{"Format":"0%","IsDefaultAlias":true,"Name":"Treatment is preferred by patients @:@ CREON"},{"Format":"0%","IsDefaultAlias":true,"Name":"Treatment is preferred by patients @:@ ZENPEP"}]}]]></Value>
      </Data>
    </Entry>
    <Entry xmlns="http://connector.synapse.com/" key="bd2fc55f3cbc3b3e85d5fc4f5e6347d62ee01e0484b4a88fd25f0ff59b46a03b">
      <Data>
        <Value xmlns=""><![CDATA[{"AggregationType":0,"ColumnFields":["time_period_name"],"FilterCondition":0,"Filters":[{"ColumnKey":"segment_1","Type":1,"Value":"Speciality - Gastro","filterCriteria":1}],"LatestColumnsFirst":false,"RowFields":["y_label"],"ValueFields":["decimal"],"columnDefinitions":[{"IsDefaultAlias":true,"Name":"y_label","sortCriteria":{"CustomList":["Improves symptoms","Highest efficacy","Benefits patient outcomes beyond symptom relief","Best formulary / insurance coverage","Easiest to prescribe (less impact on practice resources)","Patient Support Programs","Co-pay assistance","Lowest treatment cost","Simplest dosing","Dosing flexibility","Patient adherence","Most dosing options","Most favorable safety profile","Successful personal experience with treatment","Treatment is preferred by patients"],"Level":1,"Order":0}},{"Format":"0%","IsDefaultAlias":true,"Name":"Oct'25"},{"Format":"0%","IsDefaultAlias":true,"Name":"Nov'25"},{"Format":"0%","IsDefaultAlias":true,"Name":"Dec'25"},{"Format":"0%","IsDefaultAlias":true,"Name":"Mar'26"},{"Format":"0%","IsDefaultAlias":true,"Name":"Feb'26"},{"Format":"0%","IsDefaultAlias":true,"Name":"Jan'26"}]}]]></Value>
      </Data>
    </Entry>
    <Entry xmlns="http://connector.synapse.com/" key="596054c7eb472950fade1d1ae2b16a5f3fbd73d8a7c40f91fb36181f3ec74b4e">
      <Data>
        <Value xmlns=""><![CDATA[{"AggregationType":0,"ColumnFields":["time_period_name"],"FilterCondition":0,"Filters":[{"ColumnKey":"segment_1","Type":1,"Value":"Speciality - PCPs","filterCriteria":1}],"LatestColumnsFirst":false,"RowFields":["y_label"],"ValueFields":["decimal"],"columnDefinitions":[{"IsDefaultAlias":true,"Name":"y_label","sortCriteria":{"CustomList":["Improves symptoms","Highest efficacy","Benefits patient outcomes beyond symptom relief","Best formulary / insurance coverage","Easiest to prescribe (less impact on practice resources)","Patient Support Programs","Co-pay assistance","Lowest treatment cost","Simplest dosing","Dosing flexibility","Patient adherence","Most dosing options","Most favorable safety profile","Successful personal experience with treatment","Treatment is preferred by patients"],"Level":1,"Order":0}},{"Format":"0%","IsDefaultAlias":true,"Name":"Oct'25"},{"Format":"0%","IsDefaultAlias":true,"Name":"Nov'25"},{"Format":"0%","IsDefaultAlias":true,"Name":"Dec'25"},{"Format":"0%","IsDefaultAlias":true,"Name":"Mar'26"},{"Format":"0%","IsDefaultAlias":true,"Name":"Feb'26"},{"Format":"0%","IsDefaultAlias":true,"Name":"Jan'26"}]}]]></Value>
      </Data>
    </Entry>
    <Entry xmlns="http://connector.synapse.com/" key="343e1c5b4cffb9f412877d63883379ace6700dd0ef5d33af0ab649e7af52b6b2">
      <Data>
        <Value xmlns=""><![CDATA[{"AggregationType":0,"ColumnFields":["time_period_name"],"FilterCondition":0,"Filters":[{"ColumnKey":"segment_1","Type":1,"Value":"Speciality - NP/PA","filterCriteria":1}],"LatestColumnsFirst":false,"RowFields":["y_label"],"ValueFields":["decimal"],"columnDefinitions":[{"IsDefaultAlias":true,"Name":"y_label","sortCriteria":{"CustomList":["Improves symptoms","Highest efficacy","Benefits patient outcomes beyond symptom relief","Best formulary / insurance coverage","Easiest to prescribe (less impact on practice resources)","Patient Support Programs","Co-pay assistance","Lowest treatment cost","Simplest dosing","Dosing flexibility","Patient adherence","Most dosing options","Most favorable safety profile","Successful personal experience with treatment","Treatment is preferred by patients"],"Level":1,"Order":0}},{"Format":"0%","IsDefaultAlias":true,"Name":"Oct'25"},{"Format":"0%","IsDefaultAlias":true,"Name":"Nov'25"},{"Format":"0%","IsDefaultAlias":true,"Name":"Dec'25"},{"Format":"0%","IsDefaultAlias":true,"Name":"Mar'26"},{"Format":"0%","IsDefaultAlias":true,"Name":"Feb'26"},{"Format":"0%","IsDefaultAlias":true,"Name":"Jan'26"}]}]]></Value>
      </Data>
    </Entry>
    <Entry xmlns="http://connector.synapse.com/" key="695b701d293ad3645d4cb877637788cc10de7c10d2e4f1d4a281cb31b03c68f7">
      <Data>
        <Value xmlns=""><![CDATA[{"AggregationType":0,"ColumnFields":["y_label"],"FilterCondition":0,"Filters":[],"LatestColumnsFirst":false,"RowFields":["time_period_name"],"ValueFields":["decimal"],"columnDefinitions":[{"IsDefaultAlias":true,"Name":"time_period_name","sortCriteria":{"CustomList":["Oct'25","Nov'25","Dec'25","Jan'26","Feb'26","Mar'26"],"Level":1,"Order":0}},{"Format":"0%","IsDefaultAlias":true,"Name":"AbbVie"},{"Format":"0%","IsDefaultAlias":true,"Name":"Digestive Care, Inc"},{"Format":"0%","IsDefaultAlias":true,"Name":"Nestlé Health Science"},{"Format":"0%","IsDefaultAlias":true,"Name":"Vivus"}]}]]></Value>
      </Data>
    </Entry>
    <Entry xmlns="http://connector.synapse.com/" key="c8b33c79da3c5d4691b01a49efbea6e6791f09ae5015efb3bac8d875017887c6">
      <Data>
        <Value xmlns=""><![CDATA[{"AggregationType":0,"ColumnFields":["y_label","alias_label"],"FilterCondition":0,"Filters":[],"LatestColumnsFirst":false,"RowFields":["time_period_name"],"ValueFields":["decimal"],"columnDefinitions":[{"IsDefaultAlias":true,"Name":"time_period_name","sortCriteria":{"CustomList":["Oct'25","Nov'25","Dec'25","Jan'26","Feb'26","Mar'26"],"Level":1,"Order":0}},{"Format":"0%","IsDefaultAlias":true,"Name":"Company is a leader in the exocrine pancreatic insufficiency (EPI) space. @:@ CREON"},{"Format":"0%","IsDefaultAlias":true,"Name":"Company is a leader in the exocrine pancreatic insufficiency (EPI) space. @:@ ZENPEP"},{"Format":"0%","IsDefaultAlias":true,"Name":"Company is focused on affordability and access (e.g., offers reimbursement support programs, product pricing reflects value, products are well-covered by insurers, etc.) @:@ CREON"},{"Format":"0%","IsDefaultAlias":true,"Name":"Company is focused on affordability and access (e.g., offers reimbursement support programs, product pricing reflects value, products are well-covered by insurers, etc.) @:@ ZENPEP"},{"Format":"0%","IsDefaultAlias":true,"Name":"Company is focused on exocrine pancreatic insufficiency (EPI) patients (e.g., offers patient-focused programs for financial support, treatment logistics, disease education, peer network building, etc.) @:@ CREON"},{"Format":"0%","IsDefaultAlias":true,"Name":"Company is focused on exocrine pancreatic insufficiency (EPI) patients (e.g., offers patient-focused programs for financial support, treatment logistics, disease education, peer network building, etc.) @:@ ZENPEP"},{"Format":"0%","IsDefaultAlias":true,"Name":"Company offers innovative and differentiating exocrine pancreatic insufficiency (EPI) therapies @:@ CREON"},{"Format":"0%","IsDefaultAlias":true,"Name":"Company offers innovative and differentiating exocrine pancreatic insufficiency (EPI) therapies @:@ ZENPEP"},{"Format":"0%","IsDefaultAlias":true,"Name":"Company reps provide better support than the average exocrine pancreatic insufficiency (EPI) rep @:@ CREON"},{"Format":"0%","IsDefaultAlias":true,"Name":"Company reps provide better support than the average exocrine pancreatic insufficiency (EPI) rep @:@ ZENPEP"},{"Format":"0%","IsDefaultAlias":true,"Name":"I consider the Company rep a \"Best in Class\" sales representative. @:@ CREON"},{"Format":"0%","IsDefaultAlias":true,"Name":"I consider the Company rep a \"Best in Class\" sales representative. @:@ ZENPEP"}]}]]></Value>
      </Data>
    </Entry>
    <Entry xmlns="http://connector.synapse.com/" key="631fa6c1d260acf5a464a2bea45efbf2cad4f732567a038d3f2e5f2b6a5a0e96">
      <Data>
        <Value xmlns=""><![CDATA[{"AggregationType":0,"ColumnFields":["time_period_name"],"FilterCondition":0,"Filters":[],"LatestColumnsFirst":false,"RowFields":["y_label"],"ValueFields":["decimal"],"columnDefinitions":[{"IsDefaultAlias":true,"Name":"y_label"},{"Format":"0%","IsDefaultAlias":true,"Name":"Mar'26","sortCriteria":{"CustomList":[],"Level":1,"Order":1}}]}]]></Value>
      </Data>
    </Entry>
    <Entry xmlns="http://connector.synapse.com/" key="f3f3d9c5aaa21a1c335b42a6b4b5ba1466d2b6e3fc54744aadc9db26127aa900">
      <Data>
        <Value xmlns=""><![CDATA[{"AggregationType":0,"ColumnFields":["y_label","alias_label"],"FilterCondition":0,"Filters":[{"ColumnKey":"y_label","Type":1,"Value":"Discussed Product and gave patient a sample and/or prescription for ZENPEP","filterCriteria":1}],"LatestColumnsFirst":false,"RowFields":["time_period_name"],"ValueFields":["share"],"columnDefinitions":[{"IsDefaultAlias":true,"Name":"time_period_name","sortCriteria":{"CustomList":["Oct'25","Nov'25","Dec'25","Jan'26","Feb'26","Mar'26"],"Level":1,"Order":0}},{"Format":"0%","IsDefaultAlias":true,"Name":"Discussed Product and gave patient a sample and/or prescription for ZENPEP @:@ CREON"},{"Format":"0%","IsDefaultAlias":true,"Name":"Discussed Product and gave patient a sample and/or prescription for ZENPEP @:@ PANCREAZE"},{"Format":"0%","IsDefaultAlias":true,"Name":"Discussed Product and gave patient a sample and/or prescription for ZENPEP @:@ PERTZYE"},{"Format":"0%","IsDefaultAlias":true,"Name":"Discussed Product and gave patient a sample and/or prescription for ZENPEP @:@ ZENPEP"}]}]]></Value>
      </Data>
    </Entry>
    <Entry xmlns="http://connector.synapse.com/" key="ba9c4e7f809b8a81752e320f84ef3a6dac60f3feb966b5bb2f10a1804b0803a9">
      <Data>
        <Value xmlns=""><![CDATA[{"AggregationType":0,"ColumnFields":["y_label","alias_label"],"FilterCondition":0,"Filters":[{"ColumnKey":"y_label","Type":1,"Value":"Discussed Product and decided to recommend another Rx PERT medication instead","filterCriteria":1}],"LatestColumnsFirst":false,"RowFields":["time_period_name"],"ValueFields":["share"],"columnDefinitions":[{"IsDefaultAlias":true,"Name":"time_period_name","sortCriteria":{"CustomList":["Oct'25","Nov'25","Dec'25","Jan'26","Feb'26","Mar'26"],"Level":1,"Order":0}},{"Format":"0%","IsDefaultAlias":true,"Name":"Discussed Product and decided to recommend another Rx PERT medication instead @:@ CREON"},{"Format":"0%","IsDefaultAlias":true,"Name":"Discussed Product and decided to recommend another Rx PERT medication instead @:@ PANCREAZE"},{"Format":"0%","IsDefaultAlias":true,"Name":"Discussed Product and decided to recommend another Rx PERT medication instead @:@ PERTZYE"},{"Format":"0%","IsDefaultAlias":true,"Name":"Discussed Product and decided to recommend another Rx PERT medication instead @:@ ZENPEP"}]}]]></Value>
      </Data>
    </Entry>
    <Entry xmlns="http://connector.synapse.com/" key="91de9bdd4f975df77f85f9767713e88862c5e0103820c3012722b93d9665c8a7">
      <Data>
        <Value xmlns=""><![CDATA[{"AggregationType":0,"ColumnFields":["y_label","alias_label"],"FilterCondition":0,"Filters":[{"ColumnKey":"y_label","Type":1,"Value":"Discussed Product and decided to recommend an OTC product or supplement instead","filterCriteria":1}],"LatestColumnsFirst":false,"RowFields":["time_period_name"],"ValueFields":["share"],"columnDefinitions":[{"IsDefaultAlias":true,"Name":"time_period_name","sortCriteria":{"CustomList":["Oct'25","Nov'25","Dec'25","Jan'26","Feb'26","Mar'26"],"Level":1,"Order":0}},{"Format":"0%","IsDefaultAlias":true,"Name":"Discussed Product and decided to recommend an OTC product or supplement instead @:@ CREON"},{"Format":"0%","IsDefaultAlias":true,"Name":"Discussed Product and decided to recommend an OTC product or supplement instead @:@ PANCREAZE"},{"Format":"0%","IsDefaultAlias":true,"Name":"Discussed Product and decided to recommend an OTC product or supplement instead @:@ PERTZYE"},{"Format":"0%","IsDefaultAlias":true,"Name":"Discussed Product and decided to recommend an OTC product or supplement instead @:@ ZENPEP"}]}]]></Value>
      </Data>
    </Entry>
    <Entry xmlns="http://connector.synapse.com/" key="59133c7e2512f5b43e7b970f9eb08f78915d275b54c78452bd0b5b9fda7c0714">
      <Data>
        <Value xmlns=""><![CDATA[{"AggregationType":0,"ColumnFields":["y_label"],"FilterCondition":0,"Filters":[],"LatestColumnsFirst":false,"RowFields":["time_period_name"],"ValueFields":["decimal"],"columnDefinitions":[{"IsDefaultAlias":true,"Name":"time_period_name","sortCriteria":{"CustomList":["Oct'25","Nov'25","Dec'25","Jan'26","Feb'26","Mar'26"],"Level":1,"Order":0}},{"Format":"0%","IsDefaultAlias":true,"Name":"CREON"},{"Format":"0%","IsDefaultAlias":true,"Name":"None of the above"},{"Format":"0%","IsDefaultAlias":true,"Name":"PANCREAZE"},{"Format":"0%","IsDefaultAlias":true,"Name":"PERTZYE"},{"Format":"0%","IsDefaultAlias":true,"Name":"ZENPEP"}]}]]></Value>
      </Data>
    </Entry>
    <Entry xmlns="http://connector.synapse.com/" key="291ae2c0a2a191f51c0f8a7c075025cd09e4e15bed162cc0e88af73c08a75908">
      <Data>
        <Value xmlns=""><![CDATA[{"AggregationType":0,"ColumnFields":["Codes","y_label","decimal"],"FilterCondition":0,"Filters":[{"ColumnKey":"alias_label","Type":1,"Value":"CREON_MR","filterCriteria":1},{"ColumnKey":"time_period_name","Type":1,"Value":"Mar'26","filterCriteria":1},{"ColumnKey":"y_label","Type":1,"Value":"None of the above","filterCriteria":2}],"LatestColumnsFirst":false,"RowFields":[],"ValueFields":[],"columnDefinitions":[{"IsDefaultAlias":true,"Name":"time_period_name"},{"IsDefaultAlias":true,"Name":"base"},{"IsDefaultAlias":true,"Name":"count"},{"IsDefaultAlias":true,"Name":"respondents"},{"IsDefaultAlias":true,"Name":"y_label"},{"Format":"0%","Formula":"","IsDefaultAlias":true,"Name":"decimal","sortCriteria":{"CustomList":[],"Level":1,"Order":1}},{"IsDefaultAlias":true,"Name":"Codes"},{"IsDefaultAlias":true,"Name":"alias_label"},{"IsDefaultAlias":true,"Name":"x_label"},{"IsDefaultAlias":true,"Name":"measure"},{"IsDefaultAlias":true,"Name":"me_score"}]}]]></Value>
      </Data>
    </Entry>
    <Entry xmlns="http://connector.synapse.com/" key="a2cfac0818d38aa26ed597e3356a950400b9d85dd0a41ffd77af072f4036fc5d">
      <Data>
        <Value xmlns=""><![CDATA[{"AggregationType":1,"ColumnFields":["time_period_name","alias_label"],"FilterCondition":0,"Filters":[],"LatestColumnsFirst":false,"RowFields":["Codes"],"ValueFields":["decimal"],"columnDefinitions":[{"IsDefaultAlias":true,"Name":"Codes"},{"Format":"0%","IsDefaultAlias":true,"Name":"Feb'26 @:@ CREON_ME"},{"Format":"0%","IsDefaultAlias":true,"Name":"Feb'26 @:@ CREON_MR"},{"Format":"0%","IsDefaultAlias":true,"Name":"Mar'26 @:@ CREON_ME"},{"Format":"0%","IsDefaultAlias":true,"Name":"Mar'26 @:@ CREON_MR","sortCriteria":{"CustomList":[],"Level":1,"Order":1}}]}]]></Value>
      </Data>
    </Entry>
    <Entry xmlns="http://connector.synapse.com/" key="fff8755cf0d113bb100cf7830cca956cf44a5d745a1b476bd3419e777300fbf8">
      <Data>
        <Value xmlns=""><![CDATA[{"AggregationType":1,"ColumnFields":["time_period_name","x_label","alias_label"],"FilterCondition":0,"Filters":[],"LatestColumnsFirst":false,"RowFields":["Codes"],"ValueFields":["decimal"],"columnDefinitions":[{"IsDefaultAlias":true,"Name":"Codes"},{"Format":"0%","IsDefaultAlias":true,"Name":"Feb'26 @:@ (blank) @:@ CREON_MR"},{"Format":"0%","IsDefaultAlias":true,"Name":"Feb'26 @:@ Believable @:@ CREON_ME"},{"Format":"0%","IsDefaultAlias":true,"Name":"Feb'26 @:@ Differentiated @:@ CREON_ME"},{"Format":"0%","IsDefaultAlias":true,"Name":"Feb'26 @:@ Motivating to Prescribe @:@ CREON_ME"},{"Format":"0%","IsDefaultAlias":true,"Name":"Mar'26 @:@ (blank) @:@ CREON_MR","sortCriteria":{"CustomList":[],"Level":1,"Order":1}},{"Format":"0%","IsDefaultAlias":true,"Name":"Mar'26 @:@ Believable @:@ CREON_ME"},{"Format":"0%","IsDefaultAlias":true,"Name":"Mar'26 @:@ Differentiated @:@ CREON_ME"},{"Format":"0%","IsDefaultAlias":true,"Name":"Mar'26 @:@ Motivating to Prescribe @:@ CREON_ME"}]}]]></Value>
      </Data>
    </Entry>
    <Entry xmlns="http://connector.synapse.com/" key="a590dc9687e92a047870df9499a2f9637b709c415d26b6336d456fd4f4a165f5">
      <Data>
        <Value xmlns=""><![CDATA[{"AggregationType":0,"ColumnFields":["Codes","y_label","decimal"],"FilterCondition":0,"Filters":[{"ColumnKey":"alias_label","Type":1,"Value":"ZENPEP MR","filterCriteria":1}],"LatestColumnsFirst":false,"RowFields":[],"ValueFields":[],"columnDefinitions":[{"IsDefaultAlias":true,"Name":"time_period_name"},{"IsDefaultAlias":true,"Name":"base"},{"IsDefaultAlias":true,"Name":"count"},{"IsDefaultAlias":true,"Name":"respondents"},{"IsDefaultAlias":true,"Name":"y_label"},{"Format":"0%","Formula":"","IsDefaultAlias":true,"Name":"decimal","sortCriteria":{"CustomList":[],"Level":1,"Order":1}},{"IsDefaultAlias":true,"Name":"Codes"},{"IsDefaultAlias":true,"Name":"Short text"},{"IsDefaultAlias":true,"Name":"alias_label"},{"IsDefaultAlias":true,"Name":"x_label"},{"IsDefaultAlias":true,"Name":"measure"},{"IsDefaultAlias":true,"Name":"me_score"}]}]]></Value>
      </Data>
    </Entry>
    <Entry xmlns="http://connector.synapse.com/" key="706a0252dcdf1e2cd0a56efa55a7a30ead2687243f81b0e27f48b814ba634585">
      <Data>
        <Value xmlns=""><![CDATA[{"AggregationType":1,"ColumnFields":["time_period_name","alias_label"],"FilterCondition":0,"Filters":[],"LatestColumnsFirst":false,"RowFields":["Codes"],"ValueFields":["decimal","me_score"],"columnDefinitions":[{"IsDefaultAlias":true,"Name":"Codes"},{"Format":"0%","IsDefaultAlias":true,"Name":"Feb'26 @:@ ZENPEP ME @:@ Average of decimal"},{"Format":"0%","IsDefaultAlias":true,"Name":"Feb'26 @:@ ZENPEP ME @:@ Average of me_score"},{"Format":"0%","IsDefaultAlias":true,"Name":"Feb'26 @:@ ZENPEP MR @:@ Average of decimal"},{"Format":"0%","IsDefaultAlias":true,"Name":"Feb'26 @:@ ZENPEP MR @:@ Average of me_score"},{"Format":"0%","IsDefaultAlias":true,"Name":"Mar'26 @:@ ZENPEP ME @:@ Average of decimal"},{"Format":"0%","IsDefaultAlias":true,"Name":"Mar'26 @:@ ZENPEP ME @:@ Average of me_score"},{"Format":"0%","IsDefaultAlias":true,"Name":"Mar'26 @:@ ZENPEP MR @:@ Average of decimal","sortCriteria":{"CustomList":[],"Level":1,"Order":1}},{"Format":"0%","IsDefaultAlias":true,"Name":"Mar'26 @:@ ZENPEP MR @:@ Average of me_score"}]}]]></Value>
      </Data>
    </Entry>
    <Entry xmlns="http://connector.synapse.com/" key="e6006aee5c634186739432d06ed09c9193527165752bb4345d9c099bcbe63a2b">
      <Data>
        <Value xmlns=""><![CDATA[{"AggregationType":1,"ColumnFields":["time_period_name","x_label","alias_label"],"FilterCondition":0,"Filters":[],"LatestColumnsFirst":false,"RowFields":["Codes"],"ValueFields":["decimal"],"columnDefinitions":[{"IsDefaultAlias":true,"Name":"Codes"},{"Format":"0%","IsDefaultAlias":true,"Name":"Feb'26 @:@ (blank) @:@ ZENPEP MR"},{"Format":"0%","IsDefaultAlias":true,"Name":"Feb'26 @:@ Believable @:@ ZENPEP ME"},{"Format":"0%","IsDefaultAlias":true,"Name":"Feb'26 @:@ Differentiated @:@ ZENPEP ME"},{"Format":"0%","IsDefaultAlias":true,"Name":"Feb'26 @:@ Motivating to Prescribe @:@ ZENPEP ME"},{"Format":"0%","IsDefaultAlias":true,"Name":"Mar'26 @:@ (blank) @:@ ZENPEP MR","sortCriteria":{"CustomList":[],"Level":1,"Order":1}},{"Format":"0%","IsDefaultAlias":true,"Name":"Mar'26 @:@ Believable @:@ ZENPEP ME"},{"Format":"0%","IsDefaultAlias":true,"Name":"Mar'26 @:@ Differentiated @:@ ZENPEP ME"},{"Format":"0%","IsDefaultAlias":true,"Name":"Mar'26 @:@ Motivating to Prescribe @:@ ZENPEP ME"}]}]]></Value>
      </Data>
    </Entry>
    <Entry xmlns="http://connector.synapse.com/" key="da7823009ad18176a4e72ac9bae5fa58ed67bc5ae8661deaee0acb714beb6fd4">
      <Data>
        <Value xmlns=""><![CDATA[{"AggregationType":0,"ColumnFields":["time_period_name"],"FilterCondition":0,"Filters":[],"LatestColumnsFirst":false,"RowFields":["y_code","y_label"],"ValueFields":["decimal"],"columnDefinitions":[{"IsDefaultAlias":true,"Name":"y_code"},{"IsDefaultAlias":true,"Name":"y_label"},{"Format":"0%","IsDefaultAlias":true,"Name":"Oct'25"},{"Format":"0%","IsDefaultAlias":true,"Name":"Nov'25"},{"Format":"0%","IsDefaultAlias":true,"Name":"Dec'25"},{"Format":"0%","IsDefaultAlias":true,"Name":"Jan'26"},{"Format":"0%","IsDefaultAlias":true,"Name":"Feb'26"},{"Format":"0%","IsDefaultAlias":true,"Name":"Mar'26","sortCriteria":{"CustomList":[],"Level":1,"Order":1}}]}]]></Value>
      </Data>
    </Entry>
    <Entry xmlns="http://connector.synapse.com/" key="742ba49fbe8675741860167bb688efae8a320ccefa88075d7619a1ccdd4fb4ae">
      <Data>
        <Value xmlns=""><![CDATA[{"AggregationType":1,"ColumnFields":["time_period_name"],"FilterCondition":0,"Filters":[],"LatestColumnsFirst":false,"RowFields":["y_code","y_label"],"ValueFields":["me_score"],"columnDefinitions":[{"IsDefaultAlias":true,"Name":"y_code"},{"IsDefaultAlias":true,"Name":"y_label"},{"Format":"0%","IsDefaultAlias":true,"Name":"Oct'25"},{"Format":"0%","IsDefaultAlias":true,"Name":"Nov'25"},{"Format":"0%","IsDefaultAlias":true,"Name":"Dec'25"},{"Format":"0%","IsDefaultAlias":true,"Name":"Jan'26"},{"Format":"0%","IsDefaultAlias":true,"Name":"Feb'26"},{"Format":"0%","IsDefaultAlias":true,"Name":"Mar'26","sortCriteria":{"CustomList":[],"Level":1,"Order":1}}]}]]></Value>
      </Data>
    </Entry>
  </DataFrameConfigKey>
  <GlobalConfig>
    <Value xmlns=""><![CDATA[{"ProjectId":523,"SurveyId":null,"ReportingPlanId":1143,"TimePeriodType":1,"StaticTimePeriodIds":null,"DynamicTimePeriod":{"LatestNDeliverables":1,"IncludeLiveWave":false},"RollUpDeliverables":false,"SegmentIds":[],"NestSegments":false}]]></Value>
  </GlobalConfig>
</AddinDat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7c7519-65f4-4311-98ff-710488d5099d">
      <Terms xmlns="http://schemas.microsoft.com/office/infopath/2007/PartnerControls"/>
    </lcf76f155ced4ddcb4097134ff3c332f>
    <TaxCatchAll xmlns="4c31d0a7-7d65-4455-b0b7-66f65b242358" xsi:nil="true"/>
    <Link xmlns="457c7519-65f4-4311-98ff-710488d5099d">
      <Url xsi:nil="true"/>
      <Description xsi:nil="true"/>
    </Link>
    <LikesCount xmlns="http://schemas.microsoft.com/sharepoint/v3" xsi:nil="true"/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5D39138238E3428482F9AC847CC3B1" ma:contentTypeVersion="26" ma:contentTypeDescription="Create a new document." ma:contentTypeScope="" ma:versionID="dd5192036d17513511aa768119511b92">
  <xsd:schema xmlns:xsd="http://www.w3.org/2001/XMLSchema" xmlns:xs="http://www.w3.org/2001/XMLSchema" xmlns:p="http://schemas.microsoft.com/office/2006/metadata/properties" xmlns:ns1="http://schemas.microsoft.com/sharepoint/v3" xmlns:ns2="457c7519-65f4-4311-98ff-710488d5099d" xmlns:ns3="4c31d0a7-7d65-4455-b0b7-66f65b242358" targetNamespace="http://schemas.microsoft.com/office/2006/metadata/properties" ma:root="true" ma:fieldsID="7f3f13722d454f803d093c8998983f6c" ns1:_="" ns2:_="" ns3:_="">
    <xsd:import namespace="http://schemas.microsoft.com/sharepoint/v3"/>
    <xsd:import namespace="457c7519-65f4-4311-98ff-710488d5099d"/>
    <xsd:import namespace="4c31d0a7-7d65-4455-b0b7-66f65b242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CR" minOccurs="0"/>
                <xsd:element ref="ns2:Link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5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6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7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8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29" nillable="true" ma:displayName="Number of Likes" ma:internalName="LikesCount">
      <xsd:simpleType>
        <xsd:restriction base="dms:Unknown"/>
      </xsd:simpleType>
    </xsd:element>
    <xsd:element name="LikedBy" ma:index="30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c7519-65f4-4311-98ff-710488d509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fdb820a-fbe5-49ec-8492-f23f1cc1e7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ink" ma:index="21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d0a7-7d65-4455-b0b7-66f65b242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4b33b4c-756c-484c-a535-e67165055b61}" ma:internalName="TaxCatchAll" ma:showField="CatchAllData" ma:web="4c31d0a7-7d65-4455-b0b7-66f65b242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0A8F5F-425A-4A96-8349-354A6CD2FF64}">
  <ds:schemaRefs>
    <ds:schemaRef ds:uri=""/>
    <ds:schemaRef ds:uri="http://connector.synapse.com/"/>
  </ds:schemaRefs>
</ds:datastoreItem>
</file>

<file path=customXml/itemProps2.xml><?xml version="1.0" encoding="utf-8"?>
<ds:datastoreItem xmlns:ds="http://schemas.openxmlformats.org/officeDocument/2006/customXml" ds:itemID="{4FB6FA66-72A6-47DF-822B-FD32B17C85E0}">
  <ds:schemaRefs>
    <ds:schemaRef ds:uri="457c7519-65f4-4311-98ff-710488d5099d"/>
    <ds:schemaRef ds:uri="4c31d0a7-7d65-4455-b0b7-66f65b2423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678FFBE-3861-4EBD-B0E3-38F06DC22E7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96DDFF8-EFBA-4792-B288-D4A1C7B44329}">
  <ds:schemaRefs>
    <ds:schemaRef ds:uri="457c7519-65f4-4311-98ff-710488d5099d"/>
    <ds:schemaRef ds:uri="4c31d0a7-7d65-4455-b0b7-66f65b2423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Microsoft Office PowerPoint</Application>
  <PresentationFormat>On-screen Show (4:3)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-apple-system</vt:lpstr>
      <vt:lpstr>Arial</vt:lpstr>
      <vt:lpstr>Arimo</vt:lpstr>
      <vt:lpstr>Calibri</vt:lpstr>
      <vt:lpstr>F37 Lineca</vt:lpstr>
      <vt:lpstr>Roboto</vt:lpstr>
      <vt:lpstr>Apex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zoomrx</dc:creator>
  <cp:lastModifiedBy>Pradeep Suresh</cp:lastModifiedBy>
  <cp:revision>3</cp:revision>
  <cp:lastPrinted>2024-02-29T12:32:58Z</cp:lastPrinted>
  <dcterms:modified xsi:type="dcterms:W3CDTF">2026-04-22T12:12:56Z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0x0101000C5D39138238E3428482F9AC847CC3B1</vt:lpwstr>
  </property>
  <property fmtid="{D5CDD505-2E9C-101B-9397-08002B2CF9AE}" pid="3" name="MediaServiceImageTags">
    <vt:lpwstr/>
  </property>
</Properties>
</file>