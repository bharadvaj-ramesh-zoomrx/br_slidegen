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48.xml" ContentType="application/vnd.openxmlformats-officedocument.drawingml.chart+xml"/>
  <Override PartName="/ppt/charts/chart349.xml" ContentType="application/vnd.openxmlformats-officedocument.drawingml.chart+xml"/>
  <Override PartName="/ppt/charts/chart35.xml" ContentType="application/vnd.openxmlformats-officedocument.drawingml.chart+xml"/>
  <Override PartName="/ppt/charts/chart350.xml" ContentType="application/vnd.openxmlformats-officedocument.drawingml.chart+xml"/>
  <Override PartName="/ppt/charts/chart351.xml" ContentType="application/vnd.openxmlformats-officedocument.drawingml.chart+xml"/>
  <Override PartName="/ppt/charts/chart352.xml" ContentType="application/vnd.openxmlformats-officedocument.drawingml.chart+xml"/>
  <Override PartName="/ppt/charts/chart353.xml" ContentType="application/vnd.openxmlformats-officedocument.drawingml.chart+xml"/>
  <Override PartName="/ppt/charts/chart354.xml" ContentType="application/vnd.openxmlformats-officedocument.drawingml.chart+xml"/>
  <Override PartName="/ppt/charts/chart355.xml" ContentType="application/vnd.openxmlformats-officedocument.drawingml.chart+xml"/>
  <Override PartName="/ppt/charts/chart356.xml" ContentType="application/vnd.openxmlformats-officedocument.drawingml.chart+xml"/>
  <Override PartName="/ppt/charts/chart357.xml" ContentType="application/vnd.openxmlformats-officedocument.drawingml.chart+xml"/>
  <Override PartName="/ppt/charts/chart358.xml" ContentType="application/vnd.openxmlformats-officedocument.drawingml.chart+xml"/>
  <Override PartName="/ppt/charts/chart359.xml" ContentType="application/vnd.openxmlformats-officedocument.drawingml.chart+xml"/>
  <Override PartName="/ppt/charts/chart36.xml" ContentType="application/vnd.openxmlformats-officedocument.drawingml.chart+xml"/>
  <Override PartName="/ppt/charts/chart360.xml" ContentType="application/vnd.openxmlformats-officedocument.drawingml.chart+xml"/>
  <Override PartName="/ppt/charts/chart361.xml" ContentType="application/vnd.openxmlformats-officedocument.drawingml.chart+xml"/>
  <Override PartName="/ppt/charts/chart362.xml" ContentType="application/vnd.openxmlformats-officedocument.drawingml.chart+xml"/>
  <Override PartName="/ppt/charts/chart363.xml" ContentType="application/vnd.openxmlformats-officedocument.drawingml.chart+xml"/>
  <Override PartName="/ppt/charts/chart364.xml" ContentType="application/vnd.openxmlformats-officedocument.drawingml.chart+xml"/>
  <Override PartName="/ppt/charts/chart365.xml" ContentType="application/vnd.openxmlformats-officedocument.drawingml.chart+xml"/>
  <Override PartName="/ppt/charts/chart366.xml" ContentType="application/vnd.openxmlformats-officedocument.drawingml.chart+xml"/>
  <Override PartName="/ppt/charts/chart367.xml" ContentType="application/vnd.openxmlformats-officedocument.drawingml.chart+xml"/>
  <Override PartName="/ppt/charts/chart368.xml" ContentType="application/vnd.openxmlformats-officedocument.drawingml.chart+xml"/>
  <Override PartName="/ppt/charts/chart369.xml" ContentType="application/vnd.openxmlformats-officedocument.drawingml.chart+xml"/>
  <Override PartName="/ppt/charts/chart37.xml" ContentType="application/vnd.openxmlformats-officedocument.drawingml.chart+xml"/>
  <Override PartName="/ppt/charts/chart370.xml" ContentType="application/vnd.openxmlformats-officedocument.drawingml.chart+xml"/>
  <Override PartName="/ppt/charts/chart371.xml" ContentType="application/vnd.openxmlformats-officedocument.drawingml.chart+xml"/>
  <Override PartName="/ppt/charts/chart372.xml" ContentType="application/vnd.openxmlformats-officedocument.drawingml.chart+xml"/>
  <Override PartName="/ppt/charts/chart373.xml" ContentType="application/vnd.openxmlformats-officedocument.drawingml.chart+xml"/>
  <Override PartName="/ppt/charts/chart374.xml" ContentType="application/vnd.openxmlformats-officedocument.drawingml.chart+xml"/>
  <Override PartName="/ppt/charts/chart375.xml" ContentType="application/vnd.openxmlformats-officedocument.drawingml.chart+xml"/>
  <Override PartName="/ppt/charts/chart376.xml" ContentType="application/vnd.openxmlformats-officedocument.drawingml.chart+xml"/>
  <Override PartName="/ppt/charts/chart377.xml" ContentType="application/vnd.openxmlformats-officedocument.drawingml.chart+xml"/>
  <Override PartName="/ppt/charts/chart378.xml" ContentType="application/vnd.openxmlformats-officedocument.drawingml.chart+xml"/>
  <Override PartName="/ppt/charts/chart379.xml" ContentType="application/vnd.openxmlformats-officedocument.drawingml.chart+xml"/>
  <Override PartName="/ppt/charts/chart38.xml" ContentType="application/vnd.openxmlformats-officedocument.drawingml.chart+xml"/>
  <Override PartName="/ppt/charts/chart380.xml" ContentType="application/vnd.openxmlformats-officedocument.drawingml.chart+xml"/>
  <Override PartName="/ppt/charts/chart381.xml" ContentType="application/vnd.openxmlformats-officedocument.drawingml.chart+xml"/>
  <Override PartName="/ppt/charts/chart382.xml" ContentType="application/vnd.openxmlformats-officedocument.drawingml.chart+xml"/>
  <Override PartName="/ppt/charts/chart383.xml" ContentType="application/vnd.openxmlformats-officedocument.drawingml.chart+xml"/>
  <Override PartName="/ppt/charts/chart384.xml" ContentType="application/vnd.openxmlformats-officedocument.drawingml.chart+xml"/>
  <Override PartName="/ppt/charts/chart385.xml" ContentType="application/vnd.openxmlformats-officedocument.drawingml.chart+xml"/>
  <Override PartName="/ppt/charts/chart386.xml" ContentType="application/vnd.openxmlformats-officedocument.drawingml.chart+xml"/>
  <Override PartName="/ppt/charts/chart387.xml" ContentType="application/vnd.openxmlformats-officedocument.drawingml.chart+xml"/>
  <Override PartName="/ppt/charts/chart388.xml" ContentType="application/vnd.openxmlformats-officedocument.drawingml.chart+xml"/>
  <Override PartName="/ppt/charts/chart389.xml" ContentType="application/vnd.openxmlformats-officedocument.drawingml.chart+xml"/>
  <Override PartName="/ppt/charts/chart39.xml" ContentType="application/vnd.openxmlformats-officedocument.drawingml.chart+xml"/>
  <Override PartName="/ppt/charts/chart390.xml" ContentType="application/vnd.openxmlformats-officedocument.drawingml.chart+xml"/>
  <Override PartName="/ppt/charts/chart391.xml" ContentType="application/vnd.openxmlformats-officedocument.drawingml.chart+xml"/>
  <Override PartName="/ppt/charts/chart392.xml" ContentType="application/vnd.openxmlformats-officedocument.drawingml.chart+xml"/>
  <Override PartName="/ppt/charts/chart393.xml" ContentType="application/vnd.openxmlformats-officedocument.drawingml.chart+xml"/>
  <Override PartName="/ppt/charts/chart394.xml" ContentType="application/vnd.openxmlformats-officedocument.drawingml.chart+xml"/>
  <Override PartName="/ppt/charts/chart395.xml" ContentType="application/vnd.openxmlformats-officedocument.drawingml.chart+xml"/>
  <Override PartName="/ppt/charts/chart396.xml" ContentType="application/vnd.openxmlformats-officedocument.drawingml.chart+xml"/>
  <Override PartName="/ppt/charts/chart397.xml" ContentType="application/vnd.openxmlformats-officedocument.drawingml.chart+xml"/>
  <Override PartName="/ppt/charts/chart398.xml" ContentType="application/vnd.openxmlformats-officedocument.drawingml.chart+xml"/>
  <Override PartName="/ppt/charts/chart39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00.xml" ContentType="application/vnd.openxmlformats-officedocument.drawingml.chart+xml"/>
  <Override PartName="/ppt/charts/chart401.xml" ContentType="application/vnd.openxmlformats-officedocument.drawingml.chart+xml"/>
  <Override PartName="/ppt/charts/chart402.xml" ContentType="application/vnd.openxmlformats-officedocument.drawingml.chart+xml"/>
  <Override PartName="/ppt/charts/chart403.xml" ContentType="application/vnd.openxmlformats-officedocument.drawingml.chart+xml"/>
  <Override PartName="/ppt/charts/chart404.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charts/colors1.xml" ContentType="application/vnd.ms-office.chartcolorstyle+xml"/>
  <Override PartName="/ppt/charts/colors10.xml" ContentType="application/vnd.ms-office.chartcolorstyle+xml"/>
  <Override PartName="/ppt/charts/colors100.xml" ContentType="application/vnd.ms-office.chartcolorstyle+xml"/>
  <Override PartName="/ppt/charts/colors101.xml" ContentType="application/vnd.ms-office.chartcolorstyle+xml"/>
  <Override PartName="/ppt/charts/colors102.xml" ContentType="application/vnd.ms-office.chartcolorstyle+xml"/>
  <Override PartName="/ppt/charts/colors103.xml" ContentType="application/vnd.ms-office.chartcolorstyle+xml"/>
  <Override PartName="/ppt/charts/colors104.xml" ContentType="application/vnd.ms-office.chartcolorstyle+xml"/>
  <Override PartName="/ppt/charts/colors105.xml" ContentType="application/vnd.ms-office.chartcolorstyle+xml"/>
  <Override PartName="/ppt/charts/colors106.xml" ContentType="application/vnd.ms-office.chartcolorstyle+xml"/>
  <Override PartName="/ppt/charts/colors107.xml" ContentType="application/vnd.ms-office.chartcolorstyle+xml"/>
  <Override PartName="/ppt/charts/colors108.xml" ContentType="application/vnd.ms-office.chartcolorstyle+xml"/>
  <Override PartName="/ppt/charts/colors109.xml" ContentType="application/vnd.ms-office.chartcolorstyle+xml"/>
  <Override PartName="/ppt/charts/colors11.xml" ContentType="application/vnd.ms-office.chartcolorstyle+xml"/>
  <Override PartName="/ppt/charts/colors110.xml" ContentType="application/vnd.ms-office.chartcolorstyle+xml"/>
  <Override PartName="/ppt/charts/colors111.xml" ContentType="application/vnd.ms-office.chartcolorstyle+xml"/>
  <Override PartName="/ppt/charts/colors112.xml" ContentType="application/vnd.ms-office.chartcolorstyle+xml"/>
  <Override PartName="/ppt/charts/colors113.xml" ContentType="application/vnd.ms-office.chartcolorstyle+xml"/>
  <Override PartName="/ppt/charts/colors114.xml" ContentType="application/vnd.ms-office.chartcolorstyle+xml"/>
  <Override PartName="/ppt/charts/colors115.xml" ContentType="application/vnd.ms-office.chartcolorstyle+xml"/>
  <Override PartName="/ppt/charts/colors116.xml" ContentType="application/vnd.ms-office.chartcolorstyle+xml"/>
  <Override PartName="/ppt/charts/colors117.xml" ContentType="application/vnd.ms-office.chartcolorstyle+xml"/>
  <Override PartName="/ppt/charts/colors118.xml" ContentType="application/vnd.ms-office.chartcolorstyle+xml"/>
  <Override PartName="/ppt/charts/colors119.xml" ContentType="application/vnd.ms-office.chartcolorstyle+xml"/>
  <Override PartName="/ppt/charts/colors12.xml" ContentType="application/vnd.ms-office.chartcolorstyle+xml"/>
  <Override PartName="/ppt/charts/colors120.xml" ContentType="application/vnd.ms-office.chartcolorstyle+xml"/>
  <Override PartName="/ppt/charts/colors121.xml" ContentType="application/vnd.ms-office.chartcolorstyle+xml"/>
  <Override PartName="/ppt/charts/colors122.xml" ContentType="application/vnd.ms-office.chartcolorstyle+xml"/>
  <Override PartName="/ppt/charts/colors123.xml" ContentType="application/vnd.ms-office.chartcolorstyle+xml"/>
  <Override PartName="/ppt/charts/colors124.xml" ContentType="application/vnd.ms-office.chartcolorstyle+xml"/>
  <Override PartName="/ppt/charts/colors125.xml" ContentType="application/vnd.ms-office.chartcolorstyle+xml"/>
  <Override PartName="/ppt/charts/colors126.xml" ContentType="application/vnd.ms-office.chartcolorstyle+xml"/>
  <Override PartName="/ppt/charts/colors127.xml" ContentType="application/vnd.ms-office.chartcolorstyle+xml"/>
  <Override PartName="/ppt/charts/colors128.xml" ContentType="application/vnd.ms-office.chartcolorstyle+xml"/>
  <Override PartName="/ppt/charts/colors129.xml" ContentType="application/vnd.ms-office.chartcolorstyle+xml"/>
  <Override PartName="/ppt/charts/colors13.xml" ContentType="application/vnd.ms-office.chartcolorstyle+xml"/>
  <Override PartName="/ppt/charts/colors130.xml" ContentType="application/vnd.ms-office.chartcolorstyle+xml"/>
  <Override PartName="/ppt/charts/colors131.xml" ContentType="application/vnd.ms-office.chartcolorstyle+xml"/>
  <Override PartName="/ppt/charts/colors132.xml" ContentType="application/vnd.ms-office.chartcolorstyle+xml"/>
  <Override PartName="/ppt/charts/colors133.xml" ContentType="application/vnd.ms-office.chartcolorstyle+xml"/>
  <Override PartName="/ppt/charts/colors134.xml" ContentType="application/vnd.ms-office.chartcolorstyle+xml"/>
  <Override PartName="/ppt/charts/colors135.xml" ContentType="application/vnd.ms-office.chartcolorstyle+xml"/>
  <Override PartName="/ppt/charts/colors136.xml" ContentType="application/vnd.ms-office.chartcolorstyle+xml"/>
  <Override PartName="/ppt/charts/colors137.xml" ContentType="application/vnd.ms-office.chartcolorstyle+xml"/>
  <Override PartName="/ppt/charts/colors138.xml" ContentType="application/vnd.ms-office.chartcolorstyle+xml"/>
  <Override PartName="/ppt/charts/colors139.xml" ContentType="application/vnd.ms-office.chartcolorstyle+xml"/>
  <Override PartName="/ppt/charts/colors14.xml" ContentType="application/vnd.ms-office.chartcolorstyle+xml"/>
  <Override PartName="/ppt/charts/colors140.xml" ContentType="application/vnd.ms-office.chartcolorstyle+xml"/>
  <Override PartName="/ppt/charts/colors141.xml" ContentType="application/vnd.ms-office.chartcolorstyle+xml"/>
  <Override PartName="/ppt/charts/colors142.xml" ContentType="application/vnd.ms-office.chartcolorstyle+xml"/>
  <Override PartName="/ppt/charts/colors143.xml" ContentType="application/vnd.ms-office.chartcolorstyle+xml"/>
  <Override PartName="/ppt/charts/colors144.xml" ContentType="application/vnd.ms-office.chartcolorstyle+xml"/>
  <Override PartName="/ppt/charts/colors145.xml" ContentType="application/vnd.ms-office.chartcolorstyle+xml"/>
  <Override PartName="/ppt/charts/colors146.xml" ContentType="application/vnd.ms-office.chartcolorstyle+xml"/>
  <Override PartName="/ppt/charts/colors147.xml" ContentType="application/vnd.ms-office.chartcolorstyle+xml"/>
  <Override PartName="/ppt/charts/colors148.xml" ContentType="application/vnd.ms-office.chartcolorstyle+xml"/>
  <Override PartName="/ppt/charts/colors149.xml" ContentType="application/vnd.ms-office.chartcolorstyle+xml"/>
  <Override PartName="/ppt/charts/colors15.xml" ContentType="application/vnd.ms-office.chartcolorstyle+xml"/>
  <Override PartName="/ppt/charts/colors150.xml" ContentType="application/vnd.ms-office.chartcolorstyle+xml"/>
  <Override PartName="/ppt/charts/colors151.xml" ContentType="application/vnd.ms-office.chartcolorstyle+xml"/>
  <Override PartName="/ppt/charts/colors152.xml" ContentType="application/vnd.ms-office.chartcolorstyle+xml"/>
  <Override PartName="/ppt/charts/colors153.xml" ContentType="application/vnd.ms-office.chartcolorstyle+xml"/>
  <Override PartName="/ppt/charts/colors154.xml" ContentType="application/vnd.ms-office.chartcolorstyle+xml"/>
  <Override PartName="/ppt/charts/colors155.xml" ContentType="application/vnd.ms-office.chartcolorstyle+xml"/>
  <Override PartName="/ppt/charts/colors156.xml" ContentType="application/vnd.ms-office.chartcolorstyle+xml"/>
  <Override PartName="/ppt/charts/colors157.xml" ContentType="application/vnd.ms-office.chartcolorstyle+xml"/>
  <Override PartName="/ppt/charts/colors158.xml" ContentType="application/vnd.ms-office.chartcolorstyle+xml"/>
  <Override PartName="/ppt/charts/colors159.xml" ContentType="application/vnd.ms-office.chartcolorstyle+xml"/>
  <Override PartName="/ppt/charts/colors16.xml" ContentType="application/vnd.ms-office.chartcolorstyle+xml"/>
  <Override PartName="/ppt/charts/colors160.xml" ContentType="application/vnd.ms-office.chartcolorstyle+xml"/>
  <Override PartName="/ppt/charts/colors161.xml" ContentType="application/vnd.ms-office.chartcolorstyle+xml"/>
  <Override PartName="/ppt/charts/colors162.xml" ContentType="application/vnd.ms-office.chartcolorstyle+xml"/>
  <Override PartName="/ppt/charts/colors163.xml" ContentType="application/vnd.ms-office.chartcolorstyle+xml"/>
  <Override PartName="/ppt/charts/colors164.xml" ContentType="application/vnd.ms-office.chartcolorstyle+xml"/>
  <Override PartName="/ppt/charts/colors165.xml" ContentType="application/vnd.ms-office.chartcolorstyle+xml"/>
  <Override PartName="/ppt/charts/colors166.xml" ContentType="application/vnd.ms-office.chartcolorstyle+xml"/>
  <Override PartName="/ppt/charts/colors167.xml" ContentType="application/vnd.ms-office.chartcolorstyle+xml"/>
  <Override PartName="/ppt/charts/colors168.xml" ContentType="application/vnd.ms-office.chartcolorstyle+xml"/>
  <Override PartName="/ppt/charts/colors169.xml" ContentType="application/vnd.ms-office.chartcolorstyle+xml"/>
  <Override PartName="/ppt/charts/colors17.xml" ContentType="application/vnd.ms-office.chartcolorstyle+xml"/>
  <Override PartName="/ppt/charts/colors170.xml" ContentType="application/vnd.ms-office.chartcolorstyle+xml"/>
  <Override PartName="/ppt/charts/colors171.xml" ContentType="application/vnd.ms-office.chartcolorstyle+xml"/>
  <Override PartName="/ppt/charts/colors172.xml" ContentType="application/vnd.ms-office.chartcolorstyle+xml"/>
  <Override PartName="/ppt/charts/colors173.xml" ContentType="application/vnd.ms-office.chartcolorstyle+xml"/>
  <Override PartName="/ppt/charts/colors174.xml" ContentType="application/vnd.ms-office.chartcolorstyle+xml"/>
  <Override PartName="/ppt/charts/colors175.xml" ContentType="application/vnd.ms-office.chartcolorstyle+xml"/>
  <Override PartName="/ppt/charts/colors176.xml" ContentType="application/vnd.ms-office.chartcolorstyle+xml"/>
  <Override PartName="/ppt/charts/colors177.xml" ContentType="application/vnd.ms-office.chartcolorstyle+xml"/>
  <Override PartName="/ppt/charts/colors178.xml" ContentType="application/vnd.ms-office.chartcolorstyle+xml"/>
  <Override PartName="/ppt/charts/colors179.xml" ContentType="application/vnd.ms-office.chartcolorstyle+xml"/>
  <Override PartName="/ppt/charts/colors18.xml" ContentType="application/vnd.ms-office.chartcolorstyle+xml"/>
  <Override PartName="/ppt/charts/colors180.xml" ContentType="application/vnd.ms-office.chartcolorstyle+xml"/>
  <Override PartName="/ppt/charts/colors181.xml" ContentType="application/vnd.ms-office.chartcolorstyle+xml"/>
  <Override PartName="/ppt/charts/colors182.xml" ContentType="application/vnd.ms-office.chartcolorstyle+xml"/>
  <Override PartName="/ppt/charts/colors183.xml" ContentType="application/vnd.ms-office.chartcolorstyle+xml"/>
  <Override PartName="/ppt/charts/colors184.xml" ContentType="application/vnd.ms-office.chartcolorstyle+xml"/>
  <Override PartName="/ppt/charts/colors185.xml" ContentType="application/vnd.ms-office.chartcolorstyle+xml"/>
  <Override PartName="/ppt/charts/colors186.xml" ContentType="application/vnd.ms-office.chartcolorstyle+xml"/>
  <Override PartName="/ppt/charts/colors187.xml" ContentType="application/vnd.ms-office.chartcolorstyle+xml"/>
  <Override PartName="/ppt/charts/colors188.xml" ContentType="application/vnd.ms-office.chartcolorstyle+xml"/>
  <Override PartName="/ppt/charts/colors189.xml" ContentType="application/vnd.ms-office.chartcolorstyle+xml"/>
  <Override PartName="/ppt/charts/colors19.xml" ContentType="application/vnd.ms-office.chartcolorstyle+xml"/>
  <Override PartName="/ppt/charts/colors190.xml" ContentType="application/vnd.ms-office.chartcolorstyle+xml"/>
  <Override PartName="/ppt/charts/colors191.xml" ContentType="application/vnd.ms-office.chartcolorstyle+xml"/>
  <Override PartName="/ppt/charts/colors192.xml" ContentType="application/vnd.ms-office.chartcolorstyle+xml"/>
  <Override PartName="/ppt/charts/colors193.xml" ContentType="application/vnd.ms-office.chartcolorstyle+xml"/>
  <Override PartName="/ppt/charts/colors194.xml" ContentType="application/vnd.ms-office.chartcolorstyle+xml"/>
  <Override PartName="/ppt/charts/colors195.xml" ContentType="application/vnd.ms-office.chartcolorstyle+xml"/>
  <Override PartName="/ppt/charts/colors196.xml" ContentType="application/vnd.ms-office.chartcolorstyle+xml"/>
  <Override PartName="/ppt/charts/colors197.xml" ContentType="application/vnd.ms-office.chartcolorstyle+xml"/>
  <Override PartName="/ppt/charts/colors198.xml" ContentType="application/vnd.ms-office.chartcolorstyle+xml"/>
  <Override PartName="/ppt/charts/colors199.xml" ContentType="application/vnd.ms-office.chartcolorstyle+xml"/>
  <Override PartName="/ppt/charts/colors2.xml" ContentType="application/vnd.ms-office.chartcolorstyle+xml"/>
  <Override PartName="/ppt/charts/colors20.xml" ContentType="application/vnd.ms-office.chartcolorstyle+xml"/>
  <Override PartName="/ppt/charts/colors200.xml" ContentType="application/vnd.ms-office.chartcolorstyle+xml"/>
  <Override PartName="/ppt/charts/colors201.xml" ContentType="application/vnd.ms-office.chartcolorstyle+xml"/>
  <Override PartName="/ppt/charts/colors202.xml" ContentType="application/vnd.ms-office.chartcolorstyle+xml"/>
  <Override PartName="/ppt/charts/colors203.xml" ContentType="application/vnd.ms-office.chartcolorstyle+xml"/>
  <Override PartName="/ppt/charts/colors204.xml" ContentType="application/vnd.ms-office.chartcolorstyle+xml"/>
  <Override PartName="/ppt/charts/colors205.xml" ContentType="application/vnd.ms-office.chartcolorstyle+xml"/>
  <Override PartName="/ppt/charts/colors206.xml" ContentType="application/vnd.ms-office.chartcolorstyle+xml"/>
  <Override PartName="/ppt/charts/colors207.xml" ContentType="application/vnd.ms-office.chartcolorstyle+xml"/>
  <Override PartName="/ppt/charts/colors208.xml" ContentType="application/vnd.ms-office.chartcolorstyle+xml"/>
  <Override PartName="/ppt/charts/colors209.xml" ContentType="application/vnd.ms-office.chartcolorstyle+xml"/>
  <Override PartName="/ppt/charts/colors21.xml" ContentType="application/vnd.ms-office.chartcolorstyle+xml"/>
  <Override PartName="/ppt/charts/colors210.xml" ContentType="application/vnd.ms-office.chartcolorstyle+xml"/>
  <Override PartName="/ppt/charts/colors211.xml" ContentType="application/vnd.ms-office.chartcolorstyle+xml"/>
  <Override PartName="/ppt/charts/colors212.xml" ContentType="application/vnd.ms-office.chartcolorstyle+xml"/>
  <Override PartName="/ppt/charts/colors213.xml" ContentType="application/vnd.ms-office.chartcolorstyle+xml"/>
  <Override PartName="/ppt/charts/colors214.xml" ContentType="application/vnd.ms-office.chartcolorstyle+xml"/>
  <Override PartName="/ppt/charts/colors215.xml" ContentType="application/vnd.ms-office.chartcolorstyle+xml"/>
  <Override PartName="/ppt/charts/colors216.xml" ContentType="application/vnd.ms-office.chartcolorstyle+xml"/>
  <Override PartName="/ppt/charts/colors217.xml" ContentType="application/vnd.ms-office.chartcolorstyle+xml"/>
  <Override PartName="/ppt/charts/colors218.xml" ContentType="application/vnd.ms-office.chartcolorstyle+xml"/>
  <Override PartName="/ppt/charts/colors219.xml" ContentType="application/vnd.ms-office.chartcolorstyle+xml"/>
  <Override PartName="/ppt/charts/colors22.xml" ContentType="application/vnd.ms-office.chartcolorstyle+xml"/>
  <Override PartName="/ppt/charts/colors220.xml" ContentType="application/vnd.ms-office.chartcolorstyle+xml"/>
  <Override PartName="/ppt/charts/colors221.xml" ContentType="application/vnd.ms-office.chartcolorstyle+xml"/>
  <Override PartName="/ppt/charts/colors222.xml" ContentType="application/vnd.ms-office.chartcolorstyle+xml"/>
  <Override PartName="/ppt/charts/colors223.xml" ContentType="application/vnd.ms-office.chartcolorstyle+xml"/>
  <Override PartName="/ppt/charts/colors224.xml" ContentType="application/vnd.ms-office.chartcolorstyle+xml"/>
  <Override PartName="/ppt/charts/colors225.xml" ContentType="application/vnd.ms-office.chartcolorstyle+xml"/>
  <Override PartName="/ppt/charts/colors226.xml" ContentType="application/vnd.ms-office.chartcolorstyle+xml"/>
  <Override PartName="/ppt/charts/colors227.xml" ContentType="application/vnd.ms-office.chartcolorstyle+xml"/>
  <Override PartName="/ppt/charts/colors228.xml" ContentType="application/vnd.ms-office.chartcolorstyle+xml"/>
  <Override PartName="/ppt/charts/colors229.xml" ContentType="application/vnd.ms-office.chartcolorstyle+xml"/>
  <Override PartName="/ppt/charts/colors23.xml" ContentType="application/vnd.ms-office.chartcolorstyle+xml"/>
  <Override PartName="/ppt/charts/colors230.xml" ContentType="application/vnd.ms-office.chartcolorstyle+xml"/>
  <Override PartName="/ppt/charts/colors231.xml" ContentType="application/vnd.ms-office.chartcolorstyle+xml"/>
  <Override PartName="/ppt/charts/colors232.xml" ContentType="application/vnd.ms-office.chartcolorstyle+xml"/>
  <Override PartName="/ppt/charts/colors233.xml" ContentType="application/vnd.ms-office.chartcolorstyle+xml"/>
  <Override PartName="/ppt/charts/colors234.xml" ContentType="application/vnd.ms-office.chartcolorstyle+xml"/>
  <Override PartName="/ppt/charts/colors235.xml" ContentType="application/vnd.ms-office.chartcolorstyle+xml"/>
  <Override PartName="/ppt/charts/colors236.xml" ContentType="application/vnd.ms-office.chartcolorstyle+xml"/>
  <Override PartName="/ppt/charts/colors237.xml" ContentType="application/vnd.ms-office.chartcolorstyle+xml"/>
  <Override PartName="/ppt/charts/colors238.xml" ContentType="application/vnd.ms-office.chartcolorstyle+xml"/>
  <Override PartName="/ppt/charts/colors239.xml" ContentType="application/vnd.ms-office.chartcolorstyle+xml"/>
  <Override PartName="/ppt/charts/colors24.xml" ContentType="application/vnd.ms-office.chartcolorstyle+xml"/>
  <Override PartName="/ppt/charts/colors240.xml" ContentType="application/vnd.ms-office.chartcolorstyle+xml"/>
  <Override PartName="/ppt/charts/colors241.xml" ContentType="application/vnd.ms-office.chartcolorstyle+xml"/>
  <Override PartName="/ppt/charts/colors242.xml" ContentType="application/vnd.ms-office.chartcolorstyle+xml"/>
  <Override PartName="/ppt/charts/colors243.xml" ContentType="application/vnd.ms-office.chartcolorstyle+xml"/>
  <Override PartName="/ppt/charts/colors244.xml" ContentType="application/vnd.ms-office.chartcolorstyle+xml"/>
  <Override PartName="/ppt/charts/colors245.xml" ContentType="application/vnd.ms-office.chartcolorstyle+xml"/>
  <Override PartName="/ppt/charts/colors246.xml" ContentType="application/vnd.ms-office.chartcolorstyle+xml"/>
  <Override PartName="/ppt/charts/colors247.xml" ContentType="application/vnd.ms-office.chartcolorstyle+xml"/>
  <Override PartName="/ppt/charts/colors248.xml" ContentType="application/vnd.ms-office.chartcolorstyle+xml"/>
  <Override PartName="/ppt/charts/colors249.xml" ContentType="application/vnd.ms-office.chartcolorstyle+xml"/>
  <Override PartName="/ppt/charts/colors25.xml" ContentType="application/vnd.ms-office.chartcolorstyle+xml"/>
  <Override PartName="/ppt/charts/colors250.xml" ContentType="application/vnd.ms-office.chartcolorstyle+xml"/>
  <Override PartName="/ppt/charts/colors251.xml" ContentType="application/vnd.ms-office.chartcolorstyle+xml"/>
  <Override PartName="/ppt/charts/colors252.xml" ContentType="application/vnd.ms-office.chartcolorstyle+xml"/>
  <Override PartName="/ppt/charts/colors253.xml" ContentType="application/vnd.ms-office.chartcolorstyle+xml"/>
  <Override PartName="/ppt/charts/colors254.xml" ContentType="application/vnd.ms-office.chartcolorstyle+xml"/>
  <Override PartName="/ppt/charts/colors255.xml" ContentType="application/vnd.ms-office.chartcolorstyle+xml"/>
  <Override PartName="/ppt/charts/colors256.xml" ContentType="application/vnd.ms-office.chartcolorstyle+xml"/>
  <Override PartName="/ppt/charts/colors257.xml" ContentType="application/vnd.ms-office.chartcolorstyle+xml"/>
  <Override PartName="/ppt/charts/colors258.xml" ContentType="application/vnd.ms-office.chartcolorstyle+xml"/>
  <Override PartName="/ppt/charts/colors259.xml" ContentType="application/vnd.ms-office.chartcolorstyle+xml"/>
  <Override PartName="/ppt/charts/colors26.xml" ContentType="application/vnd.ms-office.chartcolorstyle+xml"/>
  <Override PartName="/ppt/charts/colors260.xml" ContentType="application/vnd.ms-office.chartcolorstyle+xml"/>
  <Override PartName="/ppt/charts/colors261.xml" ContentType="application/vnd.ms-office.chartcolorstyle+xml"/>
  <Override PartName="/ppt/charts/colors262.xml" ContentType="application/vnd.ms-office.chartcolorstyle+xml"/>
  <Override PartName="/ppt/charts/colors263.xml" ContentType="application/vnd.ms-office.chartcolorstyle+xml"/>
  <Override PartName="/ppt/charts/colors264.xml" ContentType="application/vnd.ms-office.chartcolorstyle+xml"/>
  <Override PartName="/ppt/charts/colors265.xml" ContentType="application/vnd.ms-office.chartcolorstyle+xml"/>
  <Override PartName="/ppt/charts/colors266.xml" ContentType="application/vnd.ms-office.chartcolorstyle+xml"/>
  <Override PartName="/ppt/charts/colors267.xml" ContentType="application/vnd.ms-office.chartcolorstyle+xml"/>
  <Override PartName="/ppt/charts/colors268.xml" ContentType="application/vnd.ms-office.chartcolorstyle+xml"/>
  <Override PartName="/ppt/charts/colors269.xml" ContentType="application/vnd.ms-office.chartcolorstyle+xml"/>
  <Override PartName="/ppt/charts/colors27.xml" ContentType="application/vnd.ms-office.chartcolorstyle+xml"/>
  <Override PartName="/ppt/charts/colors270.xml" ContentType="application/vnd.ms-office.chartcolorstyle+xml"/>
  <Override PartName="/ppt/charts/colors271.xml" ContentType="application/vnd.ms-office.chartcolorstyle+xml"/>
  <Override PartName="/ppt/charts/colors272.xml" ContentType="application/vnd.ms-office.chartcolorstyle+xml"/>
  <Override PartName="/ppt/charts/colors273.xml" ContentType="application/vnd.ms-office.chartcolorstyle+xml"/>
  <Override PartName="/ppt/charts/colors274.xml" ContentType="application/vnd.ms-office.chartcolorstyle+xml"/>
  <Override PartName="/ppt/charts/colors275.xml" ContentType="application/vnd.ms-office.chartcolorstyle+xml"/>
  <Override PartName="/ppt/charts/colors276.xml" ContentType="application/vnd.ms-office.chartcolorstyle+xml"/>
  <Override PartName="/ppt/charts/colors277.xml" ContentType="application/vnd.ms-office.chartcolorstyle+xml"/>
  <Override PartName="/ppt/charts/colors278.xml" ContentType="application/vnd.ms-office.chartcolorstyle+xml"/>
  <Override PartName="/ppt/charts/colors279.xml" ContentType="application/vnd.ms-office.chartcolorstyle+xml"/>
  <Override PartName="/ppt/charts/colors28.xml" ContentType="application/vnd.ms-office.chartcolorstyle+xml"/>
  <Override PartName="/ppt/charts/colors280.xml" ContentType="application/vnd.ms-office.chartcolorstyle+xml"/>
  <Override PartName="/ppt/charts/colors281.xml" ContentType="application/vnd.ms-office.chartcolorstyle+xml"/>
  <Override PartName="/ppt/charts/colors282.xml" ContentType="application/vnd.ms-office.chartcolorstyle+xml"/>
  <Override PartName="/ppt/charts/colors283.xml" ContentType="application/vnd.ms-office.chartcolorstyle+xml"/>
  <Override PartName="/ppt/charts/colors284.xml" ContentType="application/vnd.ms-office.chartcolorstyle+xml"/>
  <Override PartName="/ppt/charts/colors285.xml" ContentType="application/vnd.ms-office.chartcolorstyle+xml"/>
  <Override PartName="/ppt/charts/colors286.xml" ContentType="application/vnd.ms-office.chartcolorstyle+xml"/>
  <Override PartName="/ppt/charts/colors287.xml" ContentType="application/vnd.ms-office.chartcolorstyle+xml"/>
  <Override PartName="/ppt/charts/colors288.xml" ContentType="application/vnd.ms-office.chartcolorstyle+xml"/>
  <Override PartName="/ppt/charts/colors289.xml" ContentType="application/vnd.ms-office.chartcolorstyle+xml"/>
  <Override PartName="/ppt/charts/colors29.xml" ContentType="application/vnd.ms-office.chartcolorstyle+xml"/>
  <Override PartName="/ppt/charts/colors290.xml" ContentType="application/vnd.ms-office.chartcolorstyle+xml"/>
  <Override PartName="/ppt/charts/colors291.xml" ContentType="application/vnd.ms-office.chartcolorstyle+xml"/>
  <Override PartName="/ppt/charts/colors292.xml" ContentType="application/vnd.ms-office.chartcolorstyle+xml"/>
  <Override PartName="/ppt/charts/colors293.xml" ContentType="application/vnd.ms-office.chartcolorstyle+xml"/>
  <Override PartName="/ppt/charts/colors294.xml" ContentType="application/vnd.ms-office.chartcolorstyle+xml"/>
  <Override PartName="/ppt/charts/colors295.xml" ContentType="application/vnd.ms-office.chartcolorstyle+xml"/>
  <Override PartName="/ppt/charts/colors296.xml" ContentType="application/vnd.ms-office.chartcolorstyle+xml"/>
  <Override PartName="/ppt/charts/colors297.xml" ContentType="application/vnd.ms-office.chartcolorstyle+xml"/>
  <Override PartName="/ppt/charts/colors298.xml" ContentType="application/vnd.ms-office.chartcolorstyle+xml"/>
  <Override PartName="/ppt/charts/colors299.xml" ContentType="application/vnd.ms-office.chartcolorstyle+xml"/>
  <Override PartName="/ppt/charts/colors3.xml" ContentType="application/vnd.ms-office.chartcolorstyle+xml"/>
  <Override PartName="/ppt/charts/colors30.xml" ContentType="application/vnd.ms-office.chartcolorstyle+xml"/>
  <Override PartName="/ppt/charts/colors300.xml" ContentType="application/vnd.ms-office.chartcolorstyle+xml"/>
  <Override PartName="/ppt/charts/colors301.xml" ContentType="application/vnd.ms-office.chartcolorstyle+xml"/>
  <Override PartName="/ppt/charts/colors302.xml" ContentType="application/vnd.ms-office.chartcolorstyle+xml"/>
  <Override PartName="/ppt/charts/colors303.xml" ContentType="application/vnd.ms-office.chartcolorstyle+xml"/>
  <Override PartName="/ppt/charts/colors304.xml" ContentType="application/vnd.ms-office.chartcolorstyle+xml"/>
  <Override PartName="/ppt/charts/colors305.xml" ContentType="application/vnd.ms-office.chartcolorstyle+xml"/>
  <Override PartName="/ppt/charts/colors306.xml" ContentType="application/vnd.ms-office.chartcolorstyle+xml"/>
  <Override PartName="/ppt/charts/colors307.xml" ContentType="application/vnd.ms-office.chartcolorstyle+xml"/>
  <Override PartName="/ppt/charts/colors308.xml" ContentType="application/vnd.ms-office.chartcolorstyle+xml"/>
  <Override PartName="/ppt/charts/colors309.xml" ContentType="application/vnd.ms-office.chartcolorstyle+xml"/>
  <Override PartName="/ppt/charts/colors31.xml" ContentType="application/vnd.ms-office.chartcolorstyle+xml"/>
  <Override PartName="/ppt/charts/colors310.xml" ContentType="application/vnd.ms-office.chartcolorstyle+xml"/>
  <Override PartName="/ppt/charts/colors311.xml" ContentType="application/vnd.ms-office.chartcolorstyle+xml"/>
  <Override PartName="/ppt/charts/colors312.xml" ContentType="application/vnd.ms-office.chartcolorstyle+xml"/>
  <Override PartName="/ppt/charts/colors313.xml" ContentType="application/vnd.ms-office.chartcolorstyle+xml"/>
  <Override PartName="/ppt/charts/colors314.xml" ContentType="application/vnd.ms-office.chartcolorstyle+xml"/>
  <Override PartName="/ppt/charts/colors315.xml" ContentType="application/vnd.ms-office.chartcolorstyle+xml"/>
  <Override PartName="/ppt/charts/colors316.xml" ContentType="application/vnd.ms-office.chartcolorstyle+xml"/>
  <Override PartName="/ppt/charts/colors317.xml" ContentType="application/vnd.ms-office.chartcolorstyle+xml"/>
  <Override PartName="/ppt/charts/colors318.xml" ContentType="application/vnd.ms-office.chartcolorstyle+xml"/>
  <Override PartName="/ppt/charts/colors319.xml" ContentType="application/vnd.ms-office.chartcolorstyle+xml"/>
  <Override PartName="/ppt/charts/colors32.xml" ContentType="application/vnd.ms-office.chartcolorstyle+xml"/>
  <Override PartName="/ppt/charts/colors320.xml" ContentType="application/vnd.ms-office.chartcolorstyle+xml"/>
  <Override PartName="/ppt/charts/colors321.xml" ContentType="application/vnd.ms-office.chartcolorstyle+xml"/>
  <Override PartName="/ppt/charts/colors322.xml" ContentType="application/vnd.ms-office.chartcolorstyle+xml"/>
  <Override PartName="/ppt/charts/colors323.xml" ContentType="application/vnd.ms-office.chartcolorstyle+xml"/>
  <Override PartName="/ppt/charts/colors324.xml" ContentType="application/vnd.ms-office.chartcolorstyle+xml"/>
  <Override PartName="/ppt/charts/colors325.xml" ContentType="application/vnd.ms-office.chartcolorstyle+xml"/>
  <Override PartName="/ppt/charts/colors326.xml" ContentType="application/vnd.ms-office.chartcolorstyle+xml"/>
  <Override PartName="/ppt/charts/colors327.xml" ContentType="application/vnd.ms-office.chartcolorstyle+xml"/>
  <Override PartName="/ppt/charts/colors328.xml" ContentType="application/vnd.ms-office.chartcolorstyle+xml"/>
  <Override PartName="/ppt/charts/colors329.xml" ContentType="application/vnd.ms-office.chartcolorstyle+xml"/>
  <Override PartName="/ppt/charts/colors33.xml" ContentType="application/vnd.ms-office.chartcolorstyle+xml"/>
  <Override PartName="/ppt/charts/colors330.xml" ContentType="application/vnd.ms-office.chartcolorstyle+xml"/>
  <Override PartName="/ppt/charts/colors331.xml" ContentType="application/vnd.ms-office.chartcolorstyle+xml"/>
  <Override PartName="/ppt/charts/colors332.xml" ContentType="application/vnd.ms-office.chartcolorstyle+xml"/>
  <Override PartName="/ppt/charts/colors333.xml" ContentType="application/vnd.ms-office.chartcolorstyle+xml"/>
  <Override PartName="/ppt/charts/colors334.xml" ContentType="application/vnd.ms-office.chartcolorstyle+xml"/>
  <Override PartName="/ppt/charts/colors335.xml" ContentType="application/vnd.ms-office.chartcolorstyle+xml"/>
  <Override PartName="/ppt/charts/colors336.xml" ContentType="application/vnd.ms-office.chartcolorstyle+xml"/>
  <Override PartName="/ppt/charts/colors337.xml" ContentType="application/vnd.ms-office.chartcolorstyle+xml"/>
  <Override PartName="/ppt/charts/colors338.xml" ContentType="application/vnd.ms-office.chartcolorstyle+xml"/>
  <Override PartName="/ppt/charts/colors339.xml" ContentType="application/vnd.ms-office.chartcolorstyle+xml"/>
  <Override PartName="/ppt/charts/colors34.xml" ContentType="application/vnd.ms-office.chartcolorstyle+xml"/>
  <Override PartName="/ppt/charts/colors340.xml" ContentType="application/vnd.ms-office.chartcolorstyle+xml"/>
  <Override PartName="/ppt/charts/colors341.xml" ContentType="application/vnd.ms-office.chartcolorstyle+xml"/>
  <Override PartName="/ppt/charts/colors342.xml" ContentType="application/vnd.ms-office.chartcolorstyle+xml"/>
  <Override PartName="/ppt/charts/colors343.xml" ContentType="application/vnd.ms-office.chartcolorstyle+xml"/>
  <Override PartName="/ppt/charts/colors344.xml" ContentType="application/vnd.ms-office.chartcolorstyle+xml"/>
  <Override PartName="/ppt/charts/colors345.xml" ContentType="application/vnd.ms-office.chartcolorstyle+xml"/>
  <Override PartName="/ppt/charts/colors346.xml" ContentType="application/vnd.ms-office.chartcolorstyle+xml"/>
  <Override PartName="/ppt/charts/colors347.xml" ContentType="application/vnd.ms-office.chartcolorstyle+xml"/>
  <Override PartName="/ppt/charts/colors348.xml" ContentType="application/vnd.ms-office.chartcolorstyle+xml"/>
  <Override PartName="/ppt/charts/colors349.xml" ContentType="application/vnd.ms-office.chartcolorstyle+xml"/>
  <Override PartName="/ppt/charts/colors35.xml" ContentType="application/vnd.ms-office.chartcolorstyle+xml"/>
  <Override PartName="/ppt/charts/colors350.xml" ContentType="application/vnd.ms-office.chartcolorstyle+xml"/>
  <Override PartName="/ppt/charts/colors351.xml" ContentType="application/vnd.ms-office.chartcolorstyle+xml"/>
  <Override PartName="/ppt/charts/colors352.xml" ContentType="application/vnd.ms-office.chartcolorstyle+xml"/>
  <Override PartName="/ppt/charts/colors353.xml" ContentType="application/vnd.ms-office.chartcolorstyle+xml"/>
  <Override PartName="/ppt/charts/colors354.xml" ContentType="application/vnd.ms-office.chartcolorstyle+xml"/>
  <Override PartName="/ppt/charts/colors355.xml" ContentType="application/vnd.ms-office.chartcolorstyle+xml"/>
  <Override PartName="/ppt/charts/colors356.xml" ContentType="application/vnd.ms-office.chartcolorstyle+xml"/>
  <Override PartName="/ppt/charts/colors357.xml" ContentType="application/vnd.ms-office.chartcolorstyle+xml"/>
  <Override PartName="/ppt/charts/colors358.xml" ContentType="application/vnd.ms-office.chartcolorstyle+xml"/>
  <Override PartName="/ppt/charts/colors359.xml" ContentType="application/vnd.ms-office.chartcolorstyle+xml"/>
  <Override PartName="/ppt/charts/colors36.xml" ContentType="application/vnd.ms-office.chartcolorstyle+xml"/>
  <Override PartName="/ppt/charts/colors360.xml" ContentType="application/vnd.ms-office.chartcolorstyle+xml"/>
  <Override PartName="/ppt/charts/colors361.xml" ContentType="application/vnd.ms-office.chartcolorstyle+xml"/>
  <Override PartName="/ppt/charts/colors362.xml" ContentType="application/vnd.ms-office.chartcolorstyle+xml"/>
  <Override PartName="/ppt/charts/colors363.xml" ContentType="application/vnd.ms-office.chartcolorstyle+xml"/>
  <Override PartName="/ppt/charts/colors364.xml" ContentType="application/vnd.ms-office.chartcolorstyle+xml"/>
  <Override PartName="/ppt/charts/colors365.xml" ContentType="application/vnd.ms-office.chartcolorstyle+xml"/>
  <Override PartName="/ppt/charts/colors366.xml" ContentType="application/vnd.ms-office.chartcolorstyle+xml"/>
  <Override PartName="/ppt/charts/colors367.xml" ContentType="application/vnd.ms-office.chartcolorstyle+xml"/>
  <Override PartName="/ppt/charts/colors368.xml" ContentType="application/vnd.ms-office.chartcolorstyle+xml"/>
  <Override PartName="/ppt/charts/colors369.xml" ContentType="application/vnd.ms-office.chartcolorstyle+xml"/>
  <Override PartName="/ppt/charts/colors37.xml" ContentType="application/vnd.ms-office.chartcolorstyle+xml"/>
  <Override PartName="/ppt/charts/colors370.xml" ContentType="application/vnd.ms-office.chartcolorstyle+xml"/>
  <Override PartName="/ppt/charts/colors371.xml" ContentType="application/vnd.ms-office.chartcolorstyle+xml"/>
  <Override PartName="/ppt/charts/colors372.xml" ContentType="application/vnd.ms-office.chartcolorstyle+xml"/>
  <Override PartName="/ppt/charts/colors373.xml" ContentType="application/vnd.ms-office.chartcolorstyle+xml"/>
  <Override PartName="/ppt/charts/colors374.xml" ContentType="application/vnd.ms-office.chartcolorstyle+xml"/>
  <Override PartName="/ppt/charts/colors375.xml" ContentType="application/vnd.ms-office.chartcolorstyle+xml"/>
  <Override PartName="/ppt/charts/colors376.xml" ContentType="application/vnd.ms-office.chartcolorstyle+xml"/>
  <Override PartName="/ppt/charts/colors377.xml" ContentType="application/vnd.ms-office.chartcolorstyle+xml"/>
  <Override PartName="/ppt/charts/colors378.xml" ContentType="application/vnd.ms-office.chartcolorstyle+xml"/>
  <Override PartName="/ppt/charts/colors379.xml" ContentType="application/vnd.ms-office.chartcolorstyle+xml"/>
  <Override PartName="/ppt/charts/colors38.xml" ContentType="application/vnd.ms-office.chartcolorstyle+xml"/>
  <Override PartName="/ppt/charts/colors380.xml" ContentType="application/vnd.ms-office.chartcolorstyle+xml"/>
  <Override PartName="/ppt/charts/colors381.xml" ContentType="application/vnd.ms-office.chartcolorstyle+xml"/>
  <Override PartName="/ppt/charts/colors382.xml" ContentType="application/vnd.ms-office.chartcolorstyle+xml"/>
  <Override PartName="/ppt/charts/colors383.xml" ContentType="application/vnd.ms-office.chartcolorstyle+xml"/>
  <Override PartName="/ppt/charts/colors384.xml" ContentType="application/vnd.ms-office.chartcolorstyle+xml"/>
  <Override PartName="/ppt/charts/colors385.xml" ContentType="application/vnd.ms-office.chartcolorstyle+xml"/>
  <Override PartName="/ppt/charts/colors386.xml" ContentType="application/vnd.ms-office.chartcolorstyle+xml"/>
  <Override PartName="/ppt/charts/colors387.xml" ContentType="application/vnd.ms-office.chartcolorstyle+xml"/>
  <Override PartName="/ppt/charts/colors388.xml" ContentType="application/vnd.ms-office.chartcolorstyle+xml"/>
  <Override PartName="/ppt/charts/colors389.xml" ContentType="application/vnd.ms-office.chartcolorstyle+xml"/>
  <Override PartName="/ppt/charts/colors39.xml" ContentType="application/vnd.ms-office.chartcolorstyle+xml"/>
  <Override PartName="/ppt/charts/colors4.xml" ContentType="application/vnd.ms-office.chartcolorstyle+xml"/>
  <Override PartName="/ppt/charts/colors40.xml" ContentType="application/vnd.ms-office.chartcolorstyle+xml"/>
  <Override PartName="/ppt/charts/colors41.xml" ContentType="application/vnd.ms-office.chartcolorstyle+xml"/>
  <Override PartName="/ppt/charts/colors42.xml" ContentType="application/vnd.ms-office.chartcolorstyle+xml"/>
  <Override PartName="/ppt/charts/colors43.xml" ContentType="application/vnd.ms-office.chartcolorstyle+xml"/>
  <Override PartName="/ppt/charts/colors44.xml" ContentType="application/vnd.ms-office.chartcolorstyle+xml"/>
  <Override PartName="/ppt/charts/colors45.xml" ContentType="application/vnd.ms-office.chartcolorstyle+xml"/>
  <Override PartName="/ppt/charts/colors46.xml" ContentType="application/vnd.ms-office.chartcolorstyle+xml"/>
  <Override PartName="/ppt/charts/colors47.xml" ContentType="application/vnd.ms-office.chartcolorstyle+xml"/>
  <Override PartName="/ppt/charts/colors48.xml" ContentType="application/vnd.ms-office.chartcolorstyle+xml"/>
  <Override PartName="/ppt/charts/colors49.xml" ContentType="application/vnd.ms-office.chartcolorstyle+xml"/>
  <Override PartName="/ppt/charts/colors5.xml" ContentType="application/vnd.ms-office.chartcolorstyle+xml"/>
  <Override PartName="/ppt/charts/colors50.xml" ContentType="application/vnd.ms-office.chartcolorstyle+xml"/>
  <Override PartName="/ppt/charts/colors51.xml" ContentType="application/vnd.ms-office.chartcolorstyle+xml"/>
  <Override PartName="/ppt/charts/colors52.xml" ContentType="application/vnd.ms-office.chartcolorstyle+xml"/>
  <Override PartName="/ppt/charts/colors53.xml" ContentType="application/vnd.ms-office.chartcolorstyle+xml"/>
  <Override PartName="/ppt/charts/colors54.xml" ContentType="application/vnd.ms-office.chartcolorstyle+xml"/>
  <Override PartName="/ppt/charts/colors55.xml" ContentType="application/vnd.ms-office.chartcolorstyle+xml"/>
  <Override PartName="/ppt/charts/colors56.xml" ContentType="application/vnd.ms-office.chartcolorstyle+xml"/>
  <Override PartName="/ppt/charts/colors57.xml" ContentType="application/vnd.ms-office.chartcolorstyle+xml"/>
  <Override PartName="/ppt/charts/colors58.xml" ContentType="application/vnd.ms-office.chartcolorstyle+xml"/>
  <Override PartName="/ppt/charts/colors59.xml" ContentType="application/vnd.ms-office.chartcolorstyle+xml"/>
  <Override PartName="/ppt/charts/colors6.xml" ContentType="application/vnd.ms-office.chartcolorstyle+xml"/>
  <Override PartName="/ppt/charts/colors60.xml" ContentType="application/vnd.ms-office.chartcolorstyle+xml"/>
  <Override PartName="/ppt/charts/colors61.xml" ContentType="application/vnd.ms-office.chartcolorstyle+xml"/>
  <Override PartName="/ppt/charts/colors62.xml" ContentType="application/vnd.ms-office.chartcolorstyle+xml"/>
  <Override PartName="/ppt/charts/colors63.xml" ContentType="application/vnd.ms-office.chartcolorstyle+xml"/>
  <Override PartName="/ppt/charts/colors64.xml" ContentType="application/vnd.ms-office.chartcolorstyle+xml"/>
  <Override PartName="/ppt/charts/colors65.xml" ContentType="application/vnd.ms-office.chartcolorstyle+xml"/>
  <Override PartName="/ppt/charts/colors66.xml" ContentType="application/vnd.ms-office.chartcolorstyle+xml"/>
  <Override PartName="/ppt/charts/colors67.xml" ContentType="application/vnd.ms-office.chartcolorstyle+xml"/>
  <Override PartName="/ppt/charts/colors68.xml" ContentType="application/vnd.ms-office.chartcolorstyle+xml"/>
  <Override PartName="/ppt/charts/colors69.xml" ContentType="application/vnd.ms-office.chartcolorstyle+xml"/>
  <Override PartName="/ppt/charts/colors7.xml" ContentType="application/vnd.ms-office.chartcolorstyle+xml"/>
  <Override PartName="/ppt/charts/colors70.xml" ContentType="application/vnd.ms-office.chartcolorstyle+xml"/>
  <Override PartName="/ppt/charts/colors71.xml" ContentType="application/vnd.ms-office.chartcolorstyle+xml"/>
  <Override PartName="/ppt/charts/colors72.xml" ContentType="application/vnd.ms-office.chartcolorstyle+xml"/>
  <Override PartName="/ppt/charts/colors73.xml" ContentType="application/vnd.ms-office.chartcolorstyle+xml"/>
  <Override PartName="/ppt/charts/colors74.xml" ContentType="application/vnd.ms-office.chartcolorstyle+xml"/>
  <Override PartName="/ppt/charts/colors75.xml" ContentType="application/vnd.ms-office.chartcolorstyle+xml"/>
  <Override PartName="/ppt/charts/colors76.xml" ContentType="application/vnd.ms-office.chartcolorstyle+xml"/>
  <Override PartName="/ppt/charts/colors77.xml" ContentType="application/vnd.ms-office.chartcolorstyle+xml"/>
  <Override PartName="/ppt/charts/colors78.xml" ContentType="application/vnd.ms-office.chartcolorstyle+xml"/>
  <Override PartName="/ppt/charts/colors79.xml" ContentType="application/vnd.ms-office.chartcolorstyle+xml"/>
  <Override PartName="/ppt/charts/colors8.xml" ContentType="application/vnd.ms-office.chartcolorstyle+xml"/>
  <Override PartName="/ppt/charts/colors80.xml" ContentType="application/vnd.ms-office.chartcolorstyle+xml"/>
  <Override PartName="/ppt/charts/colors81.xml" ContentType="application/vnd.ms-office.chartcolorstyle+xml"/>
  <Override PartName="/ppt/charts/colors82.xml" ContentType="application/vnd.ms-office.chartcolorstyle+xml"/>
  <Override PartName="/ppt/charts/colors83.xml" ContentType="application/vnd.ms-office.chartcolorstyle+xml"/>
  <Override PartName="/ppt/charts/colors84.xml" ContentType="application/vnd.ms-office.chartcolorstyle+xml"/>
  <Override PartName="/ppt/charts/colors85.xml" ContentType="application/vnd.ms-office.chartcolorstyle+xml"/>
  <Override PartName="/ppt/charts/colors86.xml" ContentType="application/vnd.ms-office.chartcolorstyle+xml"/>
  <Override PartName="/ppt/charts/colors87.xml" ContentType="application/vnd.ms-office.chartcolorstyle+xml"/>
  <Override PartName="/ppt/charts/colors88.xml" ContentType="application/vnd.ms-office.chartcolorstyle+xml"/>
  <Override PartName="/ppt/charts/colors89.xml" ContentType="application/vnd.ms-office.chartcolorstyle+xml"/>
  <Override PartName="/ppt/charts/colors9.xml" ContentType="application/vnd.ms-office.chartcolorstyle+xml"/>
  <Override PartName="/ppt/charts/colors90.xml" ContentType="application/vnd.ms-office.chartcolorstyle+xml"/>
  <Override PartName="/ppt/charts/colors91.xml" ContentType="application/vnd.ms-office.chartcolorstyle+xml"/>
  <Override PartName="/ppt/charts/colors92.xml" ContentType="application/vnd.ms-office.chartcolorstyle+xml"/>
  <Override PartName="/ppt/charts/colors93.xml" ContentType="application/vnd.ms-office.chartcolorstyle+xml"/>
  <Override PartName="/ppt/charts/colors94.xml" ContentType="application/vnd.ms-office.chartcolorstyle+xml"/>
  <Override PartName="/ppt/charts/colors95.xml" ContentType="application/vnd.ms-office.chartcolorstyle+xml"/>
  <Override PartName="/ppt/charts/colors96.xml" ContentType="application/vnd.ms-office.chartcolorstyle+xml"/>
  <Override PartName="/ppt/charts/colors97.xml" ContentType="application/vnd.ms-office.chartcolorstyle+xml"/>
  <Override PartName="/ppt/charts/colors98.xml" ContentType="application/vnd.ms-office.chartcolorstyle+xml"/>
  <Override PartName="/ppt/charts/colors99.xml" ContentType="application/vnd.ms-office.chartcolorstyle+xml"/>
  <Override PartName="/ppt/charts/style1.xml" ContentType="application/vnd.ms-office.chartstyle+xml"/>
  <Override PartName="/ppt/charts/style10.xml" ContentType="application/vnd.ms-office.chartstyle+xml"/>
  <Override PartName="/ppt/charts/style100.xml" ContentType="application/vnd.ms-office.chartstyle+xml"/>
  <Override PartName="/ppt/charts/style101.xml" ContentType="application/vnd.ms-office.chartstyle+xml"/>
  <Override PartName="/ppt/charts/style102.xml" ContentType="application/vnd.ms-office.chartstyle+xml"/>
  <Override PartName="/ppt/charts/style103.xml" ContentType="application/vnd.ms-office.chartstyle+xml"/>
  <Override PartName="/ppt/charts/style104.xml" ContentType="application/vnd.ms-office.chartstyle+xml"/>
  <Override PartName="/ppt/charts/style105.xml" ContentType="application/vnd.ms-office.chartstyle+xml"/>
  <Override PartName="/ppt/charts/style106.xml" ContentType="application/vnd.ms-office.chartstyle+xml"/>
  <Override PartName="/ppt/charts/style107.xml" ContentType="application/vnd.ms-office.chartstyle+xml"/>
  <Override PartName="/ppt/charts/style108.xml" ContentType="application/vnd.ms-office.chartstyle+xml"/>
  <Override PartName="/ppt/charts/style109.xml" ContentType="application/vnd.ms-office.chartstyle+xml"/>
  <Override PartName="/ppt/charts/style11.xml" ContentType="application/vnd.ms-office.chartstyle+xml"/>
  <Override PartName="/ppt/charts/style110.xml" ContentType="application/vnd.ms-office.chartstyle+xml"/>
  <Override PartName="/ppt/charts/style111.xml" ContentType="application/vnd.ms-office.chartstyle+xml"/>
  <Override PartName="/ppt/charts/style112.xml" ContentType="application/vnd.ms-office.chartstyle+xml"/>
  <Override PartName="/ppt/charts/style113.xml" ContentType="application/vnd.ms-office.chartstyle+xml"/>
  <Override PartName="/ppt/charts/style114.xml" ContentType="application/vnd.ms-office.chartstyle+xml"/>
  <Override PartName="/ppt/charts/style115.xml" ContentType="application/vnd.ms-office.chartstyle+xml"/>
  <Override PartName="/ppt/charts/style116.xml" ContentType="application/vnd.ms-office.chartstyle+xml"/>
  <Override PartName="/ppt/charts/style117.xml" ContentType="application/vnd.ms-office.chartstyle+xml"/>
  <Override PartName="/ppt/charts/style118.xml" ContentType="application/vnd.ms-office.chartstyle+xml"/>
  <Override PartName="/ppt/charts/style119.xml" ContentType="application/vnd.ms-office.chartstyle+xml"/>
  <Override PartName="/ppt/charts/style12.xml" ContentType="application/vnd.ms-office.chartstyle+xml"/>
  <Override PartName="/ppt/charts/style120.xml" ContentType="application/vnd.ms-office.chartstyle+xml"/>
  <Override PartName="/ppt/charts/style121.xml" ContentType="application/vnd.ms-office.chartstyle+xml"/>
  <Override PartName="/ppt/charts/style122.xml" ContentType="application/vnd.ms-office.chartstyle+xml"/>
  <Override PartName="/ppt/charts/style123.xml" ContentType="application/vnd.ms-office.chartstyle+xml"/>
  <Override PartName="/ppt/charts/style124.xml" ContentType="application/vnd.ms-office.chartstyle+xml"/>
  <Override PartName="/ppt/charts/style125.xml" ContentType="application/vnd.ms-office.chartstyle+xml"/>
  <Override PartName="/ppt/charts/style126.xml" ContentType="application/vnd.ms-office.chartstyle+xml"/>
  <Override PartName="/ppt/charts/style127.xml" ContentType="application/vnd.ms-office.chartstyle+xml"/>
  <Override PartName="/ppt/charts/style128.xml" ContentType="application/vnd.ms-office.chartstyle+xml"/>
  <Override PartName="/ppt/charts/style129.xml" ContentType="application/vnd.ms-office.chartstyle+xml"/>
  <Override PartName="/ppt/charts/style13.xml" ContentType="application/vnd.ms-office.chartstyle+xml"/>
  <Override PartName="/ppt/charts/style130.xml" ContentType="application/vnd.ms-office.chartstyle+xml"/>
  <Override PartName="/ppt/charts/style131.xml" ContentType="application/vnd.ms-office.chartstyle+xml"/>
  <Override PartName="/ppt/charts/style132.xml" ContentType="application/vnd.ms-office.chartstyle+xml"/>
  <Override PartName="/ppt/charts/style133.xml" ContentType="application/vnd.ms-office.chartstyle+xml"/>
  <Override PartName="/ppt/charts/style134.xml" ContentType="application/vnd.ms-office.chartstyle+xml"/>
  <Override PartName="/ppt/charts/style135.xml" ContentType="application/vnd.ms-office.chartstyle+xml"/>
  <Override PartName="/ppt/charts/style136.xml" ContentType="application/vnd.ms-office.chartstyle+xml"/>
  <Override PartName="/ppt/charts/style137.xml" ContentType="application/vnd.ms-office.chartstyle+xml"/>
  <Override PartName="/ppt/charts/style138.xml" ContentType="application/vnd.ms-office.chartstyle+xml"/>
  <Override PartName="/ppt/charts/style139.xml" ContentType="application/vnd.ms-office.chartstyle+xml"/>
  <Override PartName="/ppt/charts/style14.xml" ContentType="application/vnd.ms-office.chartstyle+xml"/>
  <Override PartName="/ppt/charts/style140.xml" ContentType="application/vnd.ms-office.chartstyle+xml"/>
  <Override PartName="/ppt/charts/style141.xml" ContentType="application/vnd.ms-office.chartstyle+xml"/>
  <Override PartName="/ppt/charts/style142.xml" ContentType="application/vnd.ms-office.chartstyle+xml"/>
  <Override PartName="/ppt/charts/style143.xml" ContentType="application/vnd.ms-office.chartstyle+xml"/>
  <Override PartName="/ppt/charts/style144.xml" ContentType="application/vnd.ms-office.chartstyle+xml"/>
  <Override PartName="/ppt/charts/style145.xml" ContentType="application/vnd.ms-office.chartstyle+xml"/>
  <Override PartName="/ppt/charts/style146.xml" ContentType="application/vnd.ms-office.chartstyle+xml"/>
  <Override PartName="/ppt/charts/style147.xml" ContentType="application/vnd.ms-office.chartstyle+xml"/>
  <Override PartName="/ppt/charts/style148.xml" ContentType="application/vnd.ms-office.chartstyle+xml"/>
  <Override PartName="/ppt/charts/style149.xml" ContentType="application/vnd.ms-office.chartstyle+xml"/>
  <Override PartName="/ppt/charts/style15.xml" ContentType="application/vnd.ms-office.chartstyle+xml"/>
  <Override PartName="/ppt/charts/style150.xml" ContentType="application/vnd.ms-office.chartstyle+xml"/>
  <Override PartName="/ppt/charts/style151.xml" ContentType="application/vnd.ms-office.chartstyle+xml"/>
  <Override PartName="/ppt/charts/style152.xml" ContentType="application/vnd.ms-office.chartstyle+xml"/>
  <Override PartName="/ppt/charts/style153.xml" ContentType="application/vnd.ms-office.chartstyle+xml"/>
  <Override PartName="/ppt/charts/style154.xml" ContentType="application/vnd.ms-office.chartstyle+xml"/>
  <Override PartName="/ppt/charts/style155.xml" ContentType="application/vnd.ms-office.chartstyle+xml"/>
  <Override PartName="/ppt/charts/style156.xml" ContentType="application/vnd.ms-office.chartstyle+xml"/>
  <Override PartName="/ppt/charts/style157.xml" ContentType="application/vnd.ms-office.chartstyle+xml"/>
  <Override PartName="/ppt/charts/style158.xml" ContentType="application/vnd.ms-office.chartstyle+xml"/>
  <Override PartName="/ppt/charts/style159.xml" ContentType="application/vnd.ms-office.chartstyle+xml"/>
  <Override PartName="/ppt/charts/style16.xml" ContentType="application/vnd.ms-office.chartstyle+xml"/>
  <Override PartName="/ppt/charts/style160.xml" ContentType="application/vnd.ms-office.chartstyle+xml"/>
  <Override PartName="/ppt/charts/style161.xml" ContentType="application/vnd.ms-office.chartstyle+xml"/>
  <Override PartName="/ppt/charts/style162.xml" ContentType="application/vnd.ms-office.chartstyle+xml"/>
  <Override PartName="/ppt/charts/style163.xml" ContentType="application/vnd.ms-office.chartstyle+xml"/>
  <Override PartName="/ppt/charts/style164.xml" ContentType="application/vnd.ms-office.chartstyle+xml"/>
  <Override PartName="/ppt/charts/style165.xml" ContentType="application/vnd.ms-office.chartstyle+xml"/>
  <Override PartName="/ppt/charts/style166.xml" ContentType="application/vnd.ms-office.chartstyle+xml"/>
  <Override PartName="/ppt/charts/style167.xml" ContentType="application/vnd.ms-office.chartstyle+xml"/>
  <Override PartName="/ppt/charts/style168.xml" ContentType="application/vnd.ms-office.chartstyle+xml"/>
  <Override PartName="/ppt/charts/style169.xml" ContentType="application/vnd.ms-office.chartstyle+xml"/>
  <Override PartName="/ppt/charts/style17.xml" ContentType="application/vnd.ms-office.chartstyle+xml"/>
  <Override PartName="/ppt/charts/style170.xml" ContentType="application/vnd.ms-office.chartstyle+xml"/>
  <Override PartName="/ppt/charts/style171.xml" ContentType="application/vnd.ms-office.chartstyle+xml"/>
  <Override PartName="/ppt/charts/style172.xml" ContentType="application/vnd.ms-office.chartstyle+xml"/>
  <Override PartName="/ppt/charts/style173.xml" ContentType="application/vnd.ms-office.chartstyle+xml"/>
  <Override PartName="/ppt/charts/style174.xml" ContentType="application/vnd.ms-office.chartstyle+xml"/>
  <Override PartName="/ppt/charts/style175.xml" ContentType="application/vnd.ms-office.chartstyle+xml"/>
  <Override PartName="/ppt/charts/style176.xml" ContentType="application/vnd.ms-office.chartstyle+xml"/>
  <Override PartName="/ppt/charts/style177.xml" ContentType="application/vnd.ms-office.chartstyle+xml"/>
  <Override PartName="/ppt/charts/style178.xml" ContentType="application/vnd.ms-office.chartstyle+xml"/>
  <Override PartName="/ppt/charts/style179.xml" ContentType="application/vnd.ms-office.chartstyle+xml"/>
  <Override PartName="/ppt/charts/style18.xml" ContentType="application/vnd.ms-office.chartstyle+xml"/>
  <Override PartName="/ppt/charts/style180.xml" ContentType="application/vnd.ms-office.chartstyle+xml"/>
  <Override PartName="/ppt/charts/style181.xml" ContentType="application/vnd.ms-office.chartstyle+xml"/>
  <Override PartName="/ppt/charts/style182.xml" ContentType="application/vnd.ms-office.chartstyle+xml"/>
  <Override PartName="/ppt/charts/style183.xml" ContentType="application/vnd.ms-office.chartstyle+xml"/>
  <Override PartName="/ppt/charts/style184.xml" ContentType="application/vnd.ms-office.chartstyle+xml"/>
  <Override PartName="/ppt/charts/style185.xml" ContentType="application/vnd.ms-office.chartstyle+xml"/>
  <Override PartName="/ppt/charts/style186.xml" ContentType="application/vnd.ms-office.chartstyle+xml"/>
  <Override PartName="/ppt/charts/style187.xml" ContentType="application/vnd.ms-office.chartstyle+xml"/>
  <Override PartName="/ppt/charts/style188.xml" ContentType="application/vnd.ms-office.chartstyle+xml"/>
  <Override PartName="/ppt/charts/style189.xml" ContentType="application/vnd.ms-office.chartstyle+xml"/>
  <Override PartName="/ppt/charts/style19.xml" ContentType="application/vnd.ms-office.chartstyle+xml"/>
  <Override PartName="/ppt/charts/style190.xml" ContentType="application/vnd.ms-office.chartstyle+xml"/>
  <Override PartName="/ppt/charts/style191.xml" ContentType="application/vnd.ms-office.chartstyle+xml"/>
  <Override PartName="/ppt/charts/style192.xml" ContentType="application/vnd.ms-office.chartstyle+xml"/>
  <Override PartName="/ppt/charts/style193.xml" ContentType="application/vnd.ms-office.chartstyle+xml"/>
  <Override PartName="/ppt/charts/style194.xml" ContentType="application/vnd.ms-office.chartstyle+xml"/>
  <Override PartName="/ppt/charts/style195.xml" ContentType="application/vnd.ms-office.chartstyle+xml"/>
  <Override PartName="/ppt/charts/style196.xml" ContentType="application/vnd.ms-office.chartstyle+xml"/>
  <Override PartName="/ppt/charts/style197.xml" ContentType="application/vnd.ms-office.chartstyle+xml"/>
  <Override PartName="/ppt/charts/style198.xml" ContentType="application/vnd.ms-office.chartstyle+xml"/>
  <Override PartName="/ppt/charts/style199.xml" ContentType="application/vnd.ms-office.chartstyle+xml"/>
  <Override PartName="/ppt/charts/style2.xml" ContentType="application/vnd.ms-office.chartstyle+xml"/>
  <Override PartName="/ppt/charts/style20.xml" ContentType="application/vnd.ms-office.chartstyle+xml"/>
  <Override PartName="/ppt/charts/style200.xml" ContentType="application/vnd.ms-office.chartstyle+xml"/>
  <Override PartName="/ppt/charts/style201.xml" ContentType="application/vnd.ms-office.chartstyle+xml"/>
  <Override PartName="/ppt/charts/style202.xml" ContentType="application/vnd.ms-office.chartstyle+xml"/>
  <Override PartName="/ppt/charts/style203.xml" ContentType="application/vnd.ms-office.chartstyle+xml"/>
  <Override PartName="/ppt/charts/style204.xml" ContentType="application/vnd.ms-office.chartstyle+xml"/>
  <Override PartName="/ppt/charts/style205.xml" ContentType="application/vnd.ms-office.chartstyle+xml"/>
  <Override PartName="/ppt/charts/style206.xml" ContentType="application/vnd.ms-office.chartstyle+xml"/>
  <Override PartName="/ppt/charts/style207.xml" ContentType="application/vnd.ms-office.chartstyle+xml"/>
  <Override PartName="/ppt/charts/style208.xml" ContentType="application/vnd.ms-office.chartstyle+xml"/>
  <Override PartName="/ppt/charts/style209.xml" ContentType="application/vnd.ms-office.chartstyle+xml"/>
  <Override PartName="/ppt/charts/style21.xml" ContentType="application/vnd.ms-office.chartstyle+xml"/>
  <Override PartName="/ppt/charts/style210.xml" ContentType="application/vnd.ms-office.chartstyle+xml"/>
  <Override PartName="/ppt/charts/style211.xml" ContentType="application/vnd.ms-office.chartstyle+xml"/>
  <Override PartName="/ppt/charts/style212.xml" ContentType="application/vnd.ms-office.chartstyle+xml"/>
  <Override PartName="/ppt/charts/style213.xml" ContentType="application/vnd.ms-office.chartstyle+xml"/>
  <Override PartName="/ppt/charts/style214.xml" ContentType="application/vnd.ms-office.chartstyle+xml"/>
  <Override PartName="/ppt/charts/style215.xml" ContentType="application/vnd.ms-office.chartstyle+xml"/>
  <Override PartName="/ppt/charts/style216.xml" ContentType="application/vnd.ms-office.chartstyle+xml"/>
  <Override PartName="/ppt/charts/style217.xml" ContentType="application/vnd.ms-office.chartstyle+xml"/>
  <Override PartName="/ppt/charts/style218.xml" ContentType="application/vnd.ms-office.chartstyle+xml"/>
  <Override PartName="/ppt/charts/style219.xml" ContentType="application/vnd.ms-office.chartstyle+xml"/>
  <Override PartName="/ppt/charts/style22.xml" ContentType="application/vnd.ms-office.chartstyle+xml"/>
  <Override PartName="/ppt/charts/style220.xml" ContentType="application/vnd.ms-office.chartstyle+xml"/>
  <Override PartName="/ppt/charts/style221.xml" ContentType="application/vnd.ms-office.chartstyle+xml"/>
  <Override PartName="/ppt/charts/style222.xml" ContentType="application/vnd.ms-office.chartstyle+xml"/>
  <Override PartName="/ppt/charts/style223.xml" ContentType="application/vnd.ms-office.chartstyle+xml"/>
  <Override PartName="/ppt/charts/style224.xml" ContentType="application/vnd.ms-office.chartstyle+xml"/>
  <Override PartName="/ppt/charts/style225.xml" ContentType="application/vnd.ms-office.chartstyle+xml"/>
  <Override PartName="/ppt/charts/style226.xml" ContentType="application/vnd.ms-office.chartstyle+xml"/>
  <Override PartName="/ppt/charts/style227.xml" ContentType="application/vnd.ms-office.chartstyle+xml"/>
  <Override PartName="/ppt/charts/style228.xml" ContentType="application/vnd.ms-office.chartstyle+xml"/>
  <Override PartName="/ppt/charts/style229.xml" ContentType="application/vnd.ms-office.chartstyle+xml"/>
  <Override PartName="/ppt/charts/style23.xml" ContentType="application/vnd.ms-office.chartstyle+xml"/>
  <Override PartName="/ppt/charts/style230.xml" ContentType="application/vnd.ms-office.chartstyle+xml"/>
  <Override PartName="/ppt/charts/style231.xml" ContentType="application/vnd.ms-office.chartstyle+xml"/>
  <Override PartName="/ppt/charts/style232.xml" ContentType="application/vnd.ms-office.chartstyle+xml"/>
  <Override PartName="/ppt/charts/style233.xml" ContentType="application/vnd.ms-office.chartstyle+xml"/>
  <Override PartName="/ppt/charts/style234.xml" ContentType="application/vnd.ms-office.chartstyle+xml"/>
  <Override PartName="/ppt/charts/style235.xml" ContentType="application/vnd.ms-office.chartstyle+xml"/>
  <Override PartName="/ppt/charts/style236.xml" ContentType="application/vnd.ms-office.chartstyle+xml"/>
  <Override PartName="/ppt/charts/style237.xml" ContentType="application/vnd.ms-office.chartstyle+xml"/>
  <Override PartName="/ppt/charts/style238.xml" ContentType="application/vnd.ms-office.chartstyle+xml"/>
  <Override PartName="/ppt/charts/style239.xml" ContentType="application/vnd.ms-office.chartstyle+xml"/>
  <Override PartName="/ppt/charts/style24.xml" ContentType="application/vnd.ms-office.chartstyle+xml"/>
  <Override PartName="/ppt/charts/style240.xml" ContentType="application/vnd.ms-office.chartstyle+xml"/>
  <Override PartName="/ppt/charts/style241.xml" ContentType="application/vnd.ms-office.chartstyle+xml"/>
  <Override PartName="/ppt/charts/style242.xml" ContentType="application/vnd.ms-office.chartstyle+xml"/>
  <Override PartName="/ppt/charts/style243.xml" ContentType="application/vnd.ms-office.chartstyle+xml"/>
  <Override PartName="/ppt/charts/style244.xml" ContentType="application/vnd.ms-office.chartstyle+xml"/>
  <Override PartName="/ppt/charts/style245.xml" ContentType="application/vnd.ms-office.chartstyle+xml"/>
  <Override PartName="/ppt/charts/style246.xml" ContentType="application/vnd.ms-office.chartstyle+xml"/>
  <Override PartName="/ppt/charts/style247.xml" ContentType="application/vnd.ms-office.chartstyle+xml"/>
  <Override PartName="/ppt/charts/style248.xml" ContentType="application/vnd.ms-office.chartstyle+xml"/>
  <Override PartName="/ppt/charts/style249.xml" ContentType="application/vnd.ms-office.chartstyle+xml"/>
  <Override PartName="/ppt/charts/style25.xml" ContentType="application/vnd.ms-office.chartstyle+xml"/>
  <Override PartName="/ppt/charts/style250.xml" ContentType="application/vnd.ms-office.chartstyle+xml"/>
  <Override PartName="/ppt/charts/style251.xml" ContentType="application/vnd.ms-office.chartstyle+xml"/>
  <Override PartName="/ppt/charts/style252.xml" ContentType="application/vnd.ms-office.chartstyle+xml"/>
  <Override PartName="/ppt/charts/style253.xml" ContentType="application/vnd.ms-office.chartstyle+xml"/>
  <Override PartName="/ppt/charts/style254.xml" ContentType="application/vnd.ms-office.chartstyle+xml"/>
  <Override PartName="/ppt/charts/style255.xml" ContentType="application/vnd.ms-office.chartstyle+xml"/>
  <Override PartName="/ppt/charts/style256.xml" ContentType="application/vnd.ms-office.chartstyle+xml"/>
  <Override PartName="/ppt/charts/style257.xml" ContentType="application/vnd.ms-office.chartstyle+xml"/>
  <Override PartName="/ppt/charts/style258.xml" ContentType="application/vnd.ms-office.chartstyle+xml"/>
  <Override PartName="/ppt/charts/style259.xml" ContentType="application/vnd.ms-office.chartstyle+xml"/>
  <Override PartName="/ppt/charts/style26.xml" ContentType="application/vnd.ms-office.chartstyle+xml"/>
  <Override PartName="/ppt/charts/style260.xml" ContentType="application/vnd.ms-office.chartstyle+xml"/>
  <Override PartName="/ppt/charts/style261.xml" ContentType="application/vnd.ms-office.chartstyle+xml"/>
  <Override PartName="/ppt/charts/style262.xml" ContentType="application/vnd.ms-office.chartstyle+xml"/>
  <Override PartName="/ppt/charts/style263.xml" ContentType="application/vnd.ms-office.chartstyle+xml"/>
  <Override PartName="/ppt/charts/style264.xml" ContentType="application/vnd.ms-office.chartstyle+xml"/>
  <Override PartName="/ppt/charts/style265.xml" ContentType="application/vnd.ms-office.chartstyle+xml"/>
  <Override PartName="/ppt/charts/style266.xml" ContentType="application/vnd.ms-office.chartstyle+xml"/>
  <Override PartName="/ppt/charts/style267.xml" ContentType="application/vnd.ms-office.chartstyle+xml"/>
  <Override PartName="/ppt/charts/style268.xml" ContentType="application/vnd.ms-office.chartstyle+xml"/>
  <Override PartName="/ppt/charts/style269.xml" ContentType="application/vnd.ms-office.chartstyle+xml"/>
  <Override PartName="/ppt/charts/style27.xml" ContentType="application/vnd.ms-office.chartstyle+xml"/>
  <Override PartName="/ppt/charts/style270.xml" ContentType="application/vnd.ms-office.chartstyle+xml"/>
  <Override PartName="/ppt/charts/style271.xml" ContentType="application/vnd.ms-office.chartstyle+xml"/>
  <Override PartName="/ppt/charts/style272.xml" ContentType="application/vnd.ms-office.chartstyle+xml"/>
  <Override PartName="/ppt/charts/style273.xml" ContentType="application/vnd.ms-office.chartstyle+xml"/>
  <Override PartName="/ppt/charts/style274.xml" ContentType="application/vnd.ms-office.chartstyle+xml"/>
  <Override PartName="/ppt/charts/style275.xml" ContentType="application/vnd.ms-office.chartstyle+xml"/>
  <Override PartName="/ppt/charts/style276.xml" ContentType="application/vnd.ms-office.chartstyle+xml"/>
  <Override PartName="/ppt/charts/style277.xml" ContentType="application/vnd.ms-office.chartstyle+xml"/>
  <Override PartName="/ppt/charts/style278.xml" ContentType="application/vnd.ms-office.chartstyle+xml"/>
  <Override PartName="/ppt/charts/style279.xml" ContentType="application/vnd.ms-office.chartstyle+xml"/>
  <Override PartName="/ppt/charts/style28.xml" ContentType="application/vnd.ms-office.chartstyle+xml"/>
  <Override PartName="/ppt/charts/style280.xml" ContentType="application/vnd.ms-office.chartstyle+xml"/>
  <Override PartName="/ppt/charts/style281.xml" ContentType="application/vnd.ms-office.chartstyle+xml"/>
  <Override PartName="/ppt/charts/style282.xml" ContentType="application/vnd.ms-office.chartstyle+xml"/>
  <Override PartName="/ppt/charts/style283.xml" ContentType="application/vnd.ms-office.chartstyle+xml"/>
  <Override PartName="/ppt/charts/style284.xml" ContentType="application/vnd.ms-office.chartstyle+xml"/>
  <Override PartName="/ppt/charts/style285.xml" ContentType="application/vnd.ms-office.chartstyle+xml"/>
  <Override PartName="/ppt/charts/style286.xml" ContentType="application/vnd.ms-office.chartstyle+xml"/>
  <Override PartName="/ppt/charts/style287.xml" ContentType="application/vnd.ms-office.chartstyle+xml"/>
  <Override PartName="/ppt/charts/style288.xml" ContentType="application/vnd.ms-office.chartstyle+xml"/>
  <Override PartName="/ppt/charts/style289.xml" ContentType="application/vnd.ms-office.chartstyle+xml"/>
  <Override PartName="/ppt/charts/style29.xml" ContentType="application/vnd.ms-office.chartstyle+xml"/>
  <Override PartName="/ppt/charts/style290.xml" ContentType="application/vnd.ms-office.chartstyle+xml"/>
  <Override PartName="/ppt/charts/style291.xml" ContentType="application/vnd.ms-office.chartstyle+xml"/>
  <Override PartName="/ppt/charts/style292.xml" ContentType="application/vnd.ms-office.chartstyle+xml"/>
  <Override PartName="/ppt/charts/style293.xml" ContentType="application/vnd.ms-office.chartstyle+xml"/>
  <Override PartName="/ppt/charts/style294.xml" ContentType="application/vnd.ms-office.chartstyle+xml"/>
  <Override PartName="/ppt/charts/style295.xml" ContentType="application/vnd.ms-office.chartstyle+xml"/>
  <Override PartName="/ppt/charts/style296.xml" ContentType="application/vnd.ms-office.chartstyle+xml"/>
  <Override PartName="/ppt/charts/style297.xml" ContentType="application/vnd.ms-office.chartstyle+xml"/>
  <Override PartName="/ppt/charts/style298.xml" ContentType="application/vnd.ms-office.chartstyle+xml"/>
  <Override PartName="/ppt/charts/style299.xml" ContentType="application/vnd.ms-office.chartstyle+xml"/>
  <Override PartName="/ppt/charts/style3.xml" ContentType="application/vnd.ms-office.chartstyle+xml"/>
  <Override PartName="/ppt/charts/style30.xml" ContentType="application/vnd.ms-office.chartstyle+xml"/>
  <Override PartName="/ppt/charts/style300.xml" ContentType="application/vnd.ms-office.chartstyle+xml"/>
  <Override PartName="/ppt/charts/style301.xml" ContentType="application/vnd.ms-office.chartstyle+xml"/>
  <Override PartName="/ppt/charts/style302.xml" ContentType="application/vnd.ms-office.chartstyle+xml"/>
  <Override PartName="/ppt/charts/style303.xml" ContentType="application/vnd.ms-office.chartstyle+xml"/>
  <Override PartName="/ppt/charts/style304.xml" ContentType="application/vnd.ms-office.chartstyle+xml"/>
  <Override PartName="/ppt/charts/style305.xml" ContentType="application/vnd.ms-office.chartstyle+xml"/>
  <Override PartName="/ppt/charts/style306.xml" ContentType="application/vnd.ms-office.chartstyle+xml"/>
  <Override PartName="/ppt/charts/style307.xml" ContentType="application/vnd.ms-office.chartstyle+xml"/>
  <Override PartName="/ppt/charts/style308.xml" ContentType="application/vnd.ms-office.chartstyle+xml"/>
  <Override PartName="/ppt/charts/style309.xml" ContentType="application/vnd.ms-office.chartstyle+xml"/>
  <Override PartName="/ppt/charts/style31.xml" ContentType="application/vnd.ms-office.chartstyle+xml"/>
  <Override PartName="/ppt/charts/style310.xml" ContentType="application/vnd.ms-office.chartstyle+xml"/>
  <Override PartName="/ppt/charts/style311.xml" ContentType="application/vnd.ms-office.chartstyle+xml"/>
  <Override PartName="/ppt/charts/style312.xml" ContentType="application/vnd.ms-office.chartstyle+xml"/>
  <Override PartName="/ppt/charts/style313.xml" ContentType="application/vnd.ms-office.chartstyle+xml"/>
  <Override PartName="/ppt/charts/style314.xml" ContentType="application/vnd.ms-office.chartstyle+xml"/>
  <Override PartName="/ppt/charts/style315.xml" ContentType="application/vnd.ms-office.chartstyle+xml"/>
  <Override PartName="/ppt/charts/style316.xml" ContentType="application/vnd.ms-office.chartstyle+xml"/>
  <Override PartName="/ppt/charts/style317.xml" ContentType="application/vnd.ms-office.chartstyle+xml"/>
  <Override PartName="/ppt/charts/style318.xml" ContentType="application/vnd.ms-office.chartstyle+xml"/>
  <Override PartName="/ppt/charts/style319.xml" ContentType="application/vnd.ms-office.chartstyle+xml"/>
  <Override PartName="/ppt/charts/style32.xml" ContentType="application/vnd.ms-office.chartstyle+xml"/>
  <Override PartName="/ppt/charts/style320.xml" ContentType="application/vnd.ms-office.chartstyle+xml"/>
  <Override PartName="/ppt/charts/style321.xml" ContentType="application/vnd.ms-office.chartstyle+xml"/>
  <Override PartName="/ppt/charts/style322.xml" ContentType="application/vnd.ms-office.chartstyle+xml"/>
  <Override PartName="/ppt/charts/style323.xml" ContentType="application/vnd.ms-office.chartstyle+xml"/>
  <Override PartName="/ppt/charts/style324.xml" ContentType="application/vnd.ms-office.chartstyle+xml"/>
  <Override PartName="/ppt/charts/style325.xml" ContentType="application/vnd.ms-office.chartstyle+xml"/>
  <Override PartName="/ppt/charts/style326.xml" ContentType="application/vnd.ms-office.chartstyle+xml"/>
  <Override PartName="/ppt/charts/style327.xml" ContentType="application/vnd.ms-office.chartstyle+xml"/>
  <Override PartName="/ppt/charts/style328.xml" ContentType="application/vnd.ms-office.chartstyle+xml"/>
  <Override PartName="/ppt/charts/style329.xml" ContentType="application/vnd.ms-office.chartstyle+xml"/>
  <Override PartName="/ppt/charts/style33.xml" ContentType="application/vnd.ms-office.chartstyle+xml"/>
  <Override PartName="/ppt/charts/style330.xml" ContentType="application/vnd.ms-office.chartstyle+xml"/>
  <Override PartName="/ppt/charts/style331.xml" ContentType="application/vnd.ms-office.chartstyle+xml"/>
  <Override PartName="/ppt/charts/style332.xml" ContentType="application/vnd.ms-office.chartstyle+xml"/>
  <Override PartName="/ppt/charts/style333.xml" ContentType="application/vnd.ms-office.chartstyle+xml"/>
  <Override PartName="/ppt/charts/style334.xml" ContentType="application/vnd.ms-office.chartstyle+xml"/>
  <Override PartName="/ppt/charts/style335.xml" ContentType="application/vnd.ms-office.chartstyle+xml"/>
  <Override PartName="/ppt/charts/style336.xml" ContentType="application/vnd.ms-office.chartstyle+xml"/>
  <Override PartName="/ppt/charts/style337.xml" ContentType="application/vnd.ms-office.chartstyle+xml"/>
  <Override PartName="/ppt/charts/style338.xml" ContentType="application/vnd.ms-office.chartstyle+xml"/>
  <Override PartName="/ppt/charts/style339.xml" ContentType="application/vnd.ms-office.chartstyle+xml"/>
  <Override PartName="/ppt/charts/style34.xml" ContentType="application/vnd.ms-office.chartstyle+xml"/>
  <Override PartName="/ppt/charts/style340.xml" ContentType="application/vnd.ms-office.chartstyle+xml"/>
  <Override PartName="/ppt/charts/style341.xml" ContentType="application/vnd.ms-office.chartstyle+xml"/>
  <Override PartName="/ppt/charts/style342.xml" ContentType="application/vnd.ms-office.chartstyle+xml"/>
  <Override PartName="/ppt/charts/style343.xml" ContentType="application/vnd.ms-office.chartstyle+xml"/>
  <Override PartName="/ppt/charts/style344.xml" ContentType="application/vnd.ms-office.chartstyle+xml"/>
  <Override PartName="/ppt/charts/style345.xml" ContentType="application/vnd.ms-office.chartstyle+xml"/>
  <Override PartName="/ppt/charts/style346.xml" ContentType="application/vnd.ms-office.chartstyle+xml"/>
  <Override PartName="/ppt/charts/style347.xml" ContentType="application/vnd.ms-office.chartstyle+xml"/>
  <Override PartName="/ppt/charts/style348.xml" ContentType="application/vnd.ms-office.chartstyle+xml"/>
  <Override PartName="/ppt/charts/style349.xml" ContentType="application/vnd.ms-office.chartstyle+xml"/>
  <Override PartName="/ppt/charts/style35.xml" ContentType="application/vnd.ms-office.chartstyle+xml"/>
  <Override PartName="/ppt/charts/style350.xml" ContentType="application/vnd.ms-office.chartstyle+xml"/>
  <Override PartName="/ppt/charts/style351.xml" ContentType="application/vnd.ms-office.chartstyle+xml"/>
  <Override PartName="/ppt/charts/style352.xml" ContentType="application/vnd.ms-office.chartstyle+xml"/>
  <Override PartName="/ppt/charts/style353.xml" ContentType="application/vnd.ms-office.chartstyle+xml"/>
  <Override PartName="/ppt/charts/style354.xml" ContentType="application/vnd.ms-office.chartstyle+xml"/>
  <Override PartName="/ppt/charts/style355.xml" ContentType="application/vnd.ms-office.chartstyle+xml"/>
  <Override PartName="/ppt/charts/style356.xml" ContentType="application/vnd.ms-office.chartstyle+xml"/>
  <Override PartName="/ppt/charts/style357.xml" ContentType="application/vnd.ms-office.chartstyle+xml"/>
  <Override PartName="/ppt/charts/style358.xml" ContentType="application/vnd.ms-office.chartstyle+xml"/>
  <Override PartName="/ppt/charts/style359.xml" ContentType="application/vnd.ms-office.chartstyle+xml"/>
  <Override PartName="/ppt/charts/style36.xml" ContentType="application/vnd.ms-office.chartstyle+xml"/>
  <Override PartName="/ppt/charts/style360.xml" ContentType="application/vnd.ms-office.chartstyle+xml"/>
  <Override PartName="/ppt/charts/style361.xml" ContentType="application/vnd.ms-office.chartstyle+xml"/>
  <Override PartName="/ppt/charts/style362.xml" ContentType="application/vnd.ms-office.chartstyle+xml"/>
  <Override PartName="/ppt/charts/style363.xml" ContentType="application/vnd.ms-office.chartstyle+xml"/>
  <Override PartName="/ppt/charts/style364.xml" ContentType="application/vnd.ms-office.chartstyle+xml"/>
  <Override PartName="/ppt/charts/style365.xml" ContentType="application/vnd.ms-office.chartstyle+xml"/>
  <Override PartName="/ppt/charts/style366.xml" ContentType="application/vnd.ms-office.chartstyle+xml"/>
  <Override PartName="/ppt/charts/style367.xml" ContentType="application/vnd.ms-office.chartstyle+xml"/>
  <Override PartName="/ppt/charts/style368.xml" ContentType="application/vnd.ms-office.chartstyle+xml"/>
  <Override PartName="/ppt/charts/style369.xml" ContentType="application/vnd.ms-office.chartstyle+xml"/>
  <Override PartName="/ppt/charts/style37.xml" ContentType="application/vnd.ms-office.chartstyle+xml"/>
  <Override PartName="/ppt/charts/style370.xml" ContentType="application/vnd.ms-office.chartstyle+xml"/>
  <Override PartName="/ppt/charts/style371.xml" ContentType="application/vnd.ms-office.chartstyle+xml"/>
  <Override PartName="/ppt/charts/style372.xml" ContentType="application/vnd.ms-office.chartstyle+xml"/>
  <Override PartName="/ppt/charts/style373.xml" ContentType="application/vnd.ms-office.chartstyle+xml"/>
  <Override PartName="/ppt/charts/style374.xml" ContentType="application/vnd.ms-office.chartstyle+xml"/>
  <Override PartName="/ppt/charts/style375.xml" ContentType="application/vnd.ms-office.chartstyle+xml"/>
  <Override PartName="/ppt/charts/style376.xml" ContentType="application/vnd.ms-office.chartstyle+xml"/>
  <Override PartName="/ppt/charts/style377.xml" ContentType="application/vnd.ms-office.chartstyle+xml"/>
  <Override PartName="/ppt/charts/style378.xml" ContentType="application/vnd.ms-office.chartstyle+xml"/>
  <Override PartName="/ppt/charts/style379.xml" ContentType="application/vnd.ms-office.chartstyle+xml"/>
  <Override PartName="/ppt/charts/style38.xml" ContentType="application/vnd.ms-office.chartstyle+xml"/>
  <Override PartName="/ppt/charts/style380.xml" ContentType="application/vnd.ms-office.chartstyle+xml"/>
  <Override PartName="/ppt/charts/style381.xml" ContentType="application/vnd.ms-office.chartstyle+xml"/>
  <Override PartName="/ppt/charts/style382.xml" ContentType="application/vnd.ms-office.chartstyle+xml"/>
  <Override PartName="/ppt/charts/style383.xml" ContentType="application/vnd.ms-office.chartstyle+xml"/>
  <Override PartName="/ppt/charts/style384.xml" ContentType="application/vnd.ms-office.chartstyle+xml"/>
  <Override PartName="/ppt/charts/style385.xml" ContentType="application/vnd.ms-office.chartstyle+xml"/>
  <Override PartName="/ppt/charts/style386.xml" ContentType="application/vnd.ms-office.chartstyle+xml"/>
  <Override PartName="/ppt/charts/style387.xml" ContentType="application/vnd.ms-office.chartstyle+xml"/>
  <Override PartName="/ppt/charts/style388.xml" ContentType="application/vnd.ms-office.chartstyle+xml"/>
  <Override PartName="/ppt/charts/style389.xml" ContentType="application/vnd.ms-office.chartstyle+xml"/>
  <Override PartName="/ppt/charts/style39.xml" ContentType="application/vnd.ms-office.chartstyle+xml"/>
  <Override PartName="/ppt/charts/style4.xml" ContentType="application/vnd.ms-office.chartstyle+xml"/>
  <Override PartName="/ppt/charts/style40.xml" ContentType="application/vnd.ms-office.chartstyle+xml"/>
  <Override PartName="/ppt/charts/style41.xml" ContentType="application/vnd.ms-office.chartstyle+xml"/>
  <Override PartName="/ppt/charts/style42.xml" ContentType="application/vnd.ms-office.chartstyle+xml"/>
  <Override PartName="/ppt/charts/style43.xml" ContentType="application/vnd.ms-office.chartstyle+xml"/>
  <Override PartName="/ppt/charts/style44.xml" ContentType="application/vnd.ms-office.chartstyle+xml"/>
  <Override PartName="/ppt/charts/style45.xml" ContentType="application/vnd.ms-office.chartstyle+xml"/>
  <Override PartName="/ppt/charts/style46.xml" ContentType="application/vnd.ms-office.chartstyle+xml"/>
  <Override PartName="/ppt/charts/style47.xml" ContentType="application/vnd.ms-office.chartstyle+xml"/>
  <Override PartName="/ppt/charts/style48.xml" ContentType="application/vnd.ms-office.chartstyle+xml"/>
  <Override PartName="/ppt/charts/style49.xml" ContentType="application/vnd.ms-office.chartstyle+xml"/>
  <Override PartName="/ppt/charts/style5.xml" ContentType="application/vnd.ms-office.chartstyle+xml"/>
  <Override PartName="/ppt/charts/style50.xml" ContentType="application/vnd.ms-office.chartstyle+xml"/>
  <Override PartName="/ppt/charts/style51.xml" ContentType="application/vnd.ms-office.chartstyle+xml"/>
  <Override PartName="/ppt/charts/style52.xml" ContentType="application/vnd.ms-office.chartstyle+xml"/>
  <Override PartName="/ppt/charts/style53.xml" ContentType="application/vnd.ms-office.chartstyle+xml"/>
  <Override PartName="/ppt/charts/style54.xml" ContentType="application/vnd.ms-office.chartstyle+xml"/>
  <Override PartName="/ppt/charts/style55.xml" ContentType="application/vnd.ms-office.chartstyle+xml"/>
  <Override PartName="/ppt/charts/style56.xml" ContentType="application/vnd.ms-office.chartstyle+xml"/>
  <Override PartName="/ppt/charts/style57.xml" ContentType="application/vnd.ms-office.chartstyle+xml"/>
  <Override PartName="/ppt/charts/style58.xml" ContentType="application/vnd.ms-office.chartstyle+xml"/>
  <Override PartName="/ppt/charts/style59.xml" ContentType="application/vnd.ms-office.chartstyle+xml"/>
  <Override PartName="/ppt/charts/style6.xml" ContentType="application/vnd.ms-office.chartstyle+xml"/>
  <Override PartName="/ppt/charts/style60.xml" ContentType="application/vnd.ms-office.chartstyle+xml"/>
  <Override PartName="/ppt/charts/style61.xml" ContentType="application/vnd.ms-office.chartstyle+xml"/>
  <Override PartName="/ppt/charts/style62.xml" ContentType="application/vnd.ms-office.chartstyle+xml"/>
  <Override PartName="/ppt/charts/style63.xml" ContentType="application/vnd.ms-office.chartstyle+xml"/>
  <Override PartName="/ppt/charts/style64.xml" ContentType="application/vnd.ms-office.chartstyle+xml"/>
  <Override PartName="/ppt/charts/style65.xml" ContentType="application/vnd.ms-office.chartstyle+xml"/>
  <Override PartName="/ppt/charts/style66.xml" ContentType="application/vnd.ms-office.chartstyle+xml"/>
  <Override PartName="/ppt/charts/style67.xml" ContentType="application/vnd.ms-office.chartstyle+xml"/>
  <Override PartName="/ppt/charts/style68.xml" ContentType="application/vnd.ms-office.chartstyle+xml"/>
  <Override PartName="/ppt/charts/style69.xml" ContentType="application/vnd.ms-office.chartstyle+xml"/>
  <Override PartName="/ppt/charts/style7.xml" ContentType="application/vnd.ms-office.chartstyle+xml"/>
  <Override PartName="/ppt/charts/style70.xml" ContentType="application/vnd.ms-office.chartstyle+xml"/>
  <Override PartName="/ppt/charts/style71.xml" ContentType="application/vnd.ms-office.chartstyle+xml"/>
  <Override PartName="/ppt/charts/style72.xml" ContentType="application/vnd.ms-office.chartstyle+xml"/>
  <Override PartName="/ppt/charts/style73.xml" ContentType="application/vnd.ms-office.chartstyle+xml"/>
  <Override PartName="/ppt/charts/style74.xml" ContentType="application/vnd.ms-office.chartstyle+xml"/>
  <Override PartName="/ppt/charts/style75.xml" ContentType="application/vnd.ms-office.chartstyle+xml"/>
  <Override PartName="/ppt/charts/style76.xml" ContentType="application/vnd.ms-office.chartstyle+xml"/>
  <Override PartName="/ppt/charts/style77.xml" ContentType="application/vnd.ms-office.chartstyle+xml"/>
  <Override PartName="/ppt/charts/style78.xml" ContentType="application/vnd.ms-office.chartstyle+xml"/>
  <Override PartName="/ppt/charts/style79.xml" ContentType="application/vnd.ms-office.chartstyle+xml"/>
  <Override PartName="/ppt/charts/style8.xml" ContentType="application/vnd.ms-office.chartstyle+xml"/>
  <Override PartName="/ppt/charts/style80.xml" ContentType="application/vnd.ms-office.chartstyle+xml"/>
  <Override PartName="/ppt/charts/style81.xml" ContentType="application/vnd.ms-office.chartstyle+xml"/>
  <Override PartName="/ppt/charts/style82.xml" ContentType="application/vnd.ms-office.chartstyle+xml"/>
  <Override PartName="/ppt/charts/style83.xml" ContentType="application/vnd.ms-office.chartstyle+xml"/>
  <Override PartName="/ppt/charts/style84.xml" ContentType="application/vnd.ms-office.chartstyle+xml"/>
  <Override PartName="/ppt/charts/style85.xml" ContentType="application/vnd.ms-office.chartstyle+xml"/>
  <Override PartName="/ppt/charts/style86.xml" ContentType="application/vnd.ms-office.chartstyle+xml"/>
  <Override PartName="/ppt/charts/style87.xml" ContentType="application/vnd.ms-office.chartstyle+xml"/>
  <Override PartName="/ppt/charts/style88.xml" ContentType="application/vnd.ms-office.chartstyle+xml"/>
  <Override PartName="/ppt/charts/style89.xml" ContentType="application/vnd.ms-office.chartstyle+xml"/>
  <Override PartName="/ppt/charts/style9.xml" ContentType="application/vnd.ms-office.chartstyle+xml"/>
  <Override PartName="/ppt/charts/style90.xml" ContentType="application/vnd.ms-office.chartstyle+xml"/>
  <Override PartName="/ppt/charts/style91.xml" ContentType="application/vnd.ms-office.chartstyle+xml"/>
  <Override PartName="/ppt/charts/style92.xml" ContentType="application/vnd.ms-office.chartstyle+xml"/>
  <Override PartName="/ppt/charts/style93.xml" ContentType="application/vnd.ms-office.chartstyle+xml"/>
  <Override PartName="/ppt/charts/style94.xml" ContentType="application/vnd.ms-office.chartstyle+xml"/>
  <Override PartName="/ppt/charts/style95.xml" ContentType="application/vnd.ms-office.chartstyle+xml"/>
  <Override PartName="/ppt/charts/style96.xml" ContentType="application/vnd.ms-office.chartstyle+xml"/>
  <Override PartName="/ppt/charts/style97.xml" ContentType="application/vnd.ms-office.chartstyle+xml"/>
  <Override PartName="/ppt/charts/style98.xml" ContentType="application/vnd.ms-office.chartstyle+xml"/>
  <Override PartName="/ppt/charts/style99.xml" ContentType="application/vnd.ms-office.chartstyle+xml"/>
  <Override PartName="/ppt/commentAuthors.xml" ContentType="application/vnd.openxmlformats-officedocument.presentationml.commentAuthors+xml"/>
  <Override PartName="/ppt/comments/modernComment_2D58_20A278A2.xml" ContentType="application/vnd.ms-powerpoint.comments+xml"/>
  <Override PartName="/ppt/comments/modernComment_2E8B_B4795BA3.xml" ContentType="application/vnd.ms-powerpoint.comments+xml"/>
  <Override PartName="/ppt/comments/modernComment_2EEF_6125F216.xml" ContentType="application/vnd.ms-powerpoint.comments+xml"/>
  <Override PartName="/ppt/comments/modernComment_2EF5_3E0FB3DA.xml" ContentType="application/vnd.ms-powerpoint.comments+xml"/>
  <Override PartName="/ppt/comments/modernComment_2EF8_F31A713.xml" ContentType="application/vnd.ms-powerpoint.comments+xml"/>
  <Override PartName="/ppt/comments/modernComment_2EF9_4DD335CD.xml" ContentType="application/vnd.ms-powerpoint.comments+xml"/>
  <Override PartName="/ppt/handoutMasters/handoutMaster1.xml" ContentType="application/vnd.openxmlformats-officedocument.presentationml.handoutMaster+xml"/>
  <Override PartName="/ppt/metadata" ContentType="application/binary"/>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4369" r:id="rId5"/>
  </p:sldMasterIdLst>
  <p:notesMasterIdLst>
    <p:notesMasterId r:id="rId97"/>
  </p:notesMasterIdLst>
  <p:handoutMasterIdLst>
    <p:handoutMasterId r:id="rId98"/>
  </p:handoutMasterIdLst>
  <p:sldIdLst>
    <p:sldId id="11001" r:id="rId6"/>
    <p:sldId id="11002" r:id="rId7"/>
    <p:sldId id="11155" r:id="rId8"/>
    <p:sldId id="11342" r:id="rId9"/>
    <p:sldId id="260" r:id="rId10"/>
    <p:sldId id="12016" r:id="rId11"/>
    <p:sldId id="12027" r:id="rId12"/>
    <p:sldId id="11852" r:id="rId13"/>
    <p:sldId id="11750" r:id="rId14"/>
    <p:sldId id="11751" r:id="rId15"/>
    <p:sldId id="12021" r:id="rId16"/>
    <p:sldId id="12007" r:id="rId17"/>
    <p:sldId id="12008" r:id="rId18"/>
    <p:sldId id="11361" r:id="rId19"/>
    <p:sldId id="12028" r:id="rId20"/>
    <p:sldId id="11643" r:id="rId21"/>
    <p:sldId id="11714" r:id="rId22"/>
    <p:sldId id="11645" r:id="rId23"/>
    <p:sldId id="11646" r:id="rId24"/>
    <p:sldId id="11608" r:id="rId25"/>
    <p:sldId id="11647" r:id="rId26"/>
    <p:sldId id="11831" r:id="rId27"/>
    <p:sldId id="11830" r:id="rId28"/>
    <p:sldId id="11375" r:id="rId29"/>
    <p:sldId id="11856" r:id="rId30"/>
    <p:sldId id="11857" r:id="rId31"/>
    <p:sldId id="11902" r:id="rId32"/>
    <p:sldId id="11903" r:id="rId33"/>
    <p:sldId id="11921" r:id="rId34"/>
    <p:sldId id="11989" r:id="rId35"/>
    <p:sldId id="11985" r:id="rId36"/>
    <p:sldId id="11667" r:id="rId37"/>
    <p:sldId id="11915" r:id="rId38"/>
    <p:sldId id="11766" r:id="rId39"/>
    <p:sldId id="12017" r:id="rId40"/>
    <p:sldId id="11550" r:id="rId41"/>
    <p:sldId id="11438" r:id="rId42"/>
    <p:sldId id="11850" r:id="rId43"/>
    <p:sldId id="11960" r:id="rId44"/>
    <p:sldId id="11988" r:id="rId45"/>
    <p:sldId id="11934" r:id="rId46"/>
    <p:sldId id="11935" r:id="rId47"/>
    <p:sldId id="12009" r:id="rId48"/>
    <p:sldId id="11561" r:id="rId49"/>
    <p:sldId id="12013" r:id="rId50"/>
    <p:sldId id="11851" r:id="rId51"/>
    <p:sldId id="11562" r:id="rId52"/>
    <p:sldId id="11853" r:id="rId53"/>
    <p:sldId id="11844" r:id="rId54"/>
    <p:sldId id="11693" r:id="rId55"/>
    <p:sldId id="11941" r:id="rId56"/>
    <p:sldId id="11864" r:id="rId57"/>
    <p:sldId id="11542" r:id="rId58"/>
    <p:sldId id="11323" r:id="rId59"/>
    <p:sldId id="259" r:id="rId60"/>
    <p:sldId id="11916" r:id="rId61"/>
    <p:sldId id="11074" r:id="rId62"/>
    <p:sldId id="11048" r:id="rId63"/>
    <p:sldId id="11976" r:id="rId64"/>
    <p:sldId id="11943" r:id="rId65"/>
    <p:sldId id="11986" r:id="rId66"/>
    <p:sldId id="11945" r:id="rId67"/>
    <p:sldId id="11946" r:id="rId68"/>
    <p:sldId id="11987" r:id="rId69"/>
    <p:sldId id="11948" r:id="rId70"/>
    <p:sldId id="11949" r:id="rId71"/>
    <p:sldId id="11950" r:id="rId72"/>
    <p:sldId id="11951" r:id="rId73"/>
    <p:sldId id="11952" r:id="rId74"/>
    <p:sldId id="11953" r:id="rId75"/>
    <p:sldId id="11927" r:id="rId76"/>
    <p:sldId id="11936" r:id="rId77"/>
    <p:sldId id="11937" r:id="rId78"/>
    <p:sldId id="11938" r:id="rId79"/>
    <p:sldId id="11456" r:id="rId80"/>
    <p:sldId id="11820" r:id="rId81"/>
    <p:sldId id="11821" r:id="rId82"/>
    <p:sldId id="11822" r:id="rId83"/>
    <p:sldId id="11818" r:id="rId84"/>
    <p:sldId id="11698" r:id="rId85"/>
    <p:sldId id="11589" r:id="rId86"/>
    <p:sldId id="11590" r:id="rId87"/>
    <p:sldId id="11913" r:id="rId88"/>
    <p:sldId id="11395" r:id="rId89"/>
    <p:sldId id="12014" r:id="rId90"/>
    <p:sldId id="11980" r:id="rId91"/>
    <p:sldId id="11940" r:id="rId92"/>
    <p:sldId id="12012" r:id="rId93"/>
    <p:sldId id="12015" r:id="rId94"/>
    <p:sldId id="12025" r:id="rId95"/>
    <p:sldId id="12024" r:id="rId96"/>
  </p:sldIdLst>
  <p:sldSz cx="9144000" cy="6858000" type="screen4x3"/>
  <p:notesSz cx="6797675" cy="9925050"/>
  <p:custDataLst>
    <p:tags r:id="rId99"/>
  </p:custData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Default Section" id="{0A444E90-F86D-4FE0-9EC0-5FFCEBECA745}">
          <p14:sldIdLst>
            <p14:sldId id="11001"/>
            <p14:sldId id="11002"/>
            <p14:sldId id="11155"/>
            <p14:sldId id="11342"/>
            <p14:sldId id="260"/>
            <p14:sldId id="12016"/>
            <p14:sldId id="12027"/>
            <p14:sldId id="11852"/>
            <p14:sldId id="11750"/>
            <p14:sldId id="11751"/>
            <p14:sldId id="12021"/>
            <p14:sldId id="12007"/>
            <p14:sldId id="12008"/>
            <p14:sldId id="11361"/>
            <p14:sldId id="12028"/>
            <p14:sldId id="11643"/>
            <p14:sldId id="11714"/>
            <p14:sldId id="11645"/>
            <p14:sldId id="11646"/>
            <p14:sldId id="11608"/>
            <p14:sldId id="11647"/>
            <p14:sldId id="11831"/>
            <p14:sldId id="11830"/>
            <p14:sldId id="11375"/>
            <p14:sldId id="11856"/>
            <p14:sldId id="11857"/>
            <p14:sldId id="11902"/>
            <p14:sldId id="11903"/>
            <p14:sldId id="11921"/>
            <p14:sldId id="11989"/>
            <p14:sldId id="11985"/>
            <p14:sldId id="11667"/>
            <p14:sldId id="11915"/>
            <p14:sldId id="11766"/>
            <p14:sldId id="12017"/>
            <p14:sldId id="11550"/>
            <p14:sldId id="11438"/>
            <p14:sldId id="11850"/>
            <p14:sldId id="11960"/>
            <p14:sldId id="11988"/>
            <p14:sldId id="11934"/>
            <p14:sldId id="11935"/>
            <p14:sldId id="12009"/>
            <p14:sldId id="11561"/>
            <p14:sldId id="12013"/>
            <p14:sldId id="11851"/>
            <p14:sldId id="11562"/>
            <p14:sldId id="11853"/>
            <p14:sldId id="11844"/>
            <p14:sldId id="11693"/>
            <p14:sldId id="11941"/>
            <p14:sldId id="11864"/>
            <p14:sldId id="11542"/>
            <p14:sldId id="11323"/>
            <p14:sldId id="259"/>
            <p14:sldId id="11916"/>
            <p14:sldId id="11074"/>
            <p14:sldId id="11048"/>
            <p14:sldId id="11976"/>
            <p14:sldId id="11943"/>
            <p14:sldId id="11986"/>
            <p14:sldId id="11945"/>
            <p14:sldId id="11946"/>
            <p14:sldId id="11987"/>
            <p14:sldId id="11948"/>
            <p14:sldId id="11949"/>
            <p14:sldId id="11950"/>
            <p14:sldId id="11951"/>
            <p14:sldId id="11952"/>
            <p14:sldId id="11953"/>
            <p14:sldId id="11927"/>
            <p14:sldId id="11936"/>
            <p14:sldId id="11937"/>
            <p14:sldId id="11938"/>
            <p14:sldId id="11456"/>
            <p14:sldId id="11820"/>
            <p14:sldId id="11821"/>
            <p14:sldId id="11822"/>
            <p14:sldId id="11818"/>
            <p14:sldId id="11698"/>
            <p14:sldId id="11589"/>
            <p14:sldId id="11590"/>
            <p14:sldId id="11913"/>
            <p14:sldId id="11395"/>
          </p14:sldIdLst>
        </p14:section>
        <p14:section name="To be deleted" id="{95F93914-7D6B-4250-8CAA-8B7E8200C49E}">
          <p14:sldIdLst>
            <p14:sldId id="12014"/>
            <p14:sldId id="11980"/>
            <p14:sldId id="11940"/>
            <p14:sldId id="12012"/>
            <p14:sldId id="12015"/>
            <p14:sldId id="12025"/>
            <p14:sldId id="12024"/>
          </p14:sldIdLst>
        </p14:section>
      </p14:sectionLst>
    </p:ext>
    <p:ext uri="{EFAFB233-063F-42B5-8137-9DF3F51BA10A}">
      <p15:sldGuideLst xmlns:p15="http://schemas.microsoft.com/office/powerpoint/2012/main">
        <p15:guide id="2" pos="3107" userDrawn="1">
          <p15:clr>
            <a:srgbClr val="A4A3A4"/>
          </p15:clr>
        </p15:guide>
        <p15:guide id="3" pos="5216" userDrawn="1">
          <p15:clr>
            <a:srgbClr val="A4A3A4"/>
          </p15:clr>
        </p15:guide>
        <p15:guide id="5" orient="horz" pos="890" userDrawn="1">
          <p15:clr>
            <a:srgbClr val="A4A3A4"/>
          </p15:clr>
        </p15:guide>
        <p15:guide id="6" pos="725" userDrawn="1">
          <p15:clr>
            <a:srgbClr val="A4A3A4"/>
          </p15:clr>
        </p15:guide>
        <p15:guide id="7" pos="5443" userDrawn="1">
          <p15:clr>
            <a:srgbClr val="A4A3A4"/>
          </p15:clr>
        </p15:guide>
        <p15:guide id="9" pos="2925" userDrawn="1">
          <p15:clr>
            <a:srgbClr val="A4A3A4"/>
          </p15:clr>
        </p15:guide>
        <p15:guide id="10" orient="horz" pos="3612" userDrawn="1">
          <p15:clr>
            <a:srgbClr val="A4A3A4"/>
          </p15:clr>
        </p15:guide>
        <p15:guide id="11" pos="521" userDrawn="1">
          <p15:clr>
            <a:srgbClr val="A4A3A4"/>
          </p15:clr>
        </p15:guide>
        <p15:guide id="12" orient="horz" pos="624" userDrawn="1">
          <p15:clr>
            <a:srgbClr val="A4A3A4"/>
          </p15:clr>
        </p15:guide>
      </p15:sldGuideLst>
    </p:ext>
    <p:ext uri="http://customooxmlschemas.google.com/">
      <go:slidesCustomData xmlns=""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r:id="rId149" roundtripDataSignature="AMtx7miUSr2EcdyuAHAA6quBG3s/FyW9BA=="/>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4EED500-8C28-20AB-CB4C-099CE09EFD8F}" name="Siva Murugan" initials="" userId="S::siva.murugan@zoomrx.com::d1a15fa0-6878-461a-bcb3-775d4295f607" providerId="AD"/>
  <p188:author id="{597CE110-6291-503A-8E56-3E41FBAA7757}" name="Vishnu Alagappan Sevugan" initials="VAS" userId="S::vishnu.alagappan@zoomrx.com::1348aaea-4aa0-432c-a274-ad06a43d0ee8" providerId="AD"/>
  <p188:author id="{3E2A9D1E-802C-BDBD-BE93-6066CE762F4A}" name="Devkaran Singh" initials="DS" userId="S::devkaran.singh@zoomrx.com::282d2239-ea10-4c89-b282-87c832fbfed3" providerId="AD"/>
  <p188:author id="{21D7C120-67CA-F051-14AD-B0ADBFE63E70}" name="Sohit Babel" initials="SB" userId="S::sohit.babel@zoomrx.com::f28724e9-6fe6-4168-956f-3e21067f4317" providerId="AD"/>
  <p188:author id="{71EBE824-9CA2-54F2-BBAD-FAA283AE12EB}" name="Jayadhar Gundu" initials="JG" userId="S::jayadhar.gundu@zoomrx.com::beb3b724-a86c-4628-84d8-875e71a4e5f8" providerId="AD"/>
  <p188:author id="{49012B25-D5F7-8484-F7D8-232952CD86F8}" name="Shridha C Halekote" initials="SH" userId="S::shridha.halekote@zoomrx.com::0aae662a-b9df-4497-8c1f-43195475cf3c" providerId="AD"/>
  <p188:author id="{53C03D26-3B95-52DF-3DDB-DDA307E890EC}" name="Harshit Tiwari" initials="HT" userId="S::harshit.tiwari@zoomrx.com::f7ecab87-e7d3-4b6d-85d6-f9450548dcdf" providerId="AD"/>
  <p188:author id="{61D83E32-5919-BD0E-D481-80B971B5AC3F}" name="vishnu.alagappan" initials="v" userId="S::vishnu.alagappan@zoomrx.com::a81aacbd-5db2-4b90-b583-fce4a0501689" providerId="AD"/>
  <p188:author id="{E5B6AB40-B68D-E223-E753-EA9B0B8F11EB}" name="Sohit Babel" initials="SB" userId="S::sohit.babel@zoomrxinc.onmicrosoft.com::f2e26ed4-0734-4732-986c-c4815b2adb3a" providerId="AD"/>
  <p188:author id="{BBF12247-FCE2-975B-50B5-A22144896562}" name="Vaibhav Dilip Patil" initials="" userId="S::vaibhav.patil@zoomrx.com::138f7a19-1129-4ab9-b03e-149ee0244e02" providerId="AD"/>
  <p188:author id="{72630E66-EF22-7EEE-D3B5-4950505D3A16}" name="jayadhar.gundu" initials="j" userId="jayadhar.gundu" providerId="None"/>
  <p188:author id="{5C604F6A-9EBA-890A-B0C4-00FCFC32F776}" name="Joyce George Joseph" initials="JJ" userId="S::joyce.joseph@zoomrx.com::1ffb9a91-bcf3-4e5b-9ee0-1313ddd12a6b" providerId="AD"/>
  <p188:author id="{2BDE3072-F247-E345-9853-93F8407FF3C8}" name="Austin Andrews" initials="AA" userId="S::austin.andrews@zoomrx.com::f1ef4b08-5d78-4222-a978-d97ffea0c13e" providerId="AD"/>
  <p188:author id="{1C745377-F123-FE60-E31B-EECAB99FF5B4}" name="Anna Chubaeva" initials="AC" userId="S::anna.chubaeva@zoomrx.com::90c0ab37-0cd9-42b3-a315-1fe0362faffe" providerId="AD"/>
  <p188:author id="{D53D5E77-637E-50F9-3EF6-76A9A7E5D8FB}" name="Austin  Andrews" initials="AA" userId="S::Austin.Andrews@zoomrx.com::b9b5dc88-645c-44eb-8483-e63f7e219329" providerId="AD"/>
  <p188:author id="{CB68527D-D6C2-3B4A-B59D-66B471EF8007}" name="Jayadhar Gundu" initials="JG" userId="S::jayadhar.gundu@zoomrxinc.onmicrosoft.com::beb3b724-a86c-4628-84d8-875e71a4e5f8" providerId="AD"/>
  <p188:author id="{59FE0588-52A7-75EA-AC2F-E82620FCA170}" name="Sohit Babel" initials="SB" userId="S::sohit.babel@zoomrx.com::f2e26ed4-0734-4732-986c-c4815b2adb3a" providerId="AD"/>
  <p188:author id="{529E958D-4257-2EEB-1BB8-49CF5555BDEB}" name="Jay Baxi" initials="JB" userId="S::jay.baxi@zoomrx.com::d3e3c8db-d775-48bb-8495-d55a519594f2" providerId="AD"/>
  <p188:author id="{9F994A9C-3561-EF2B-56A0-96655FE0CCFF}" name="Anna Chubaeva" initials="AC" userId="S::anna.chubaeva@zoomrx.com::50c66f10-13c2-4047-a289-4dcb7921c472" providerId="AD"/>
  <p188:author id="{546F75A6-2162-F4CE-F8BF-5AA7F0ECA9EF}" name="Ted Wassell" initials="TW" userId="S::ted.wassell@zoomrx.com::66543ca9-0eec-4dcb-91b5-69fcb93cae8f" providerId="AD"/>
  <p188:author id="{520228AA-0094-43BF-A232-79615F9FCFF2}" name="Austin  Andrews" initials="AA" userId="Austin  Andrews" providerId="None"/>
  <p188:author id="{938E5AAB-75C2-9F23-6517-8645F0258456}" name="jayadhar.gundu" initials="j" userId="S::jayadhar.gundu@zoomrx.com::f4758879-80fa-4c12-ab2b-4d3e712e3d3c" providerId="AD"/>
  <p188:author id="{71C81FB1-E3DF-09A7-B145-C65FC0113802}" name="Billy Sullivan" initials="BS" userId="S::Billy.Sullivan@zoomrx.com::3b1b62b9-0221-415a-9ead-3de2fa08d3a9" providerId="AD"/>
  <p188:author id="{DDEB3EB1-7641-3FC4-3E60-85BA7193ABEE}" name="Lynn Teng" initials="LT" userId="S::lynn.teng@zoomrx.com::7d500f7c-1146-4ce4-84b2-d4f00a965dfe" providerId="AD"/>
  <p188:author id="{6E63D2CF-0D59-EF66-61E4-64C9543878C4}" name="Sara Farina" initials="SF" userId="S::sara.farina@zoomrx.com::d7089d5c-cd98-4933-b2ce-7f1d22f33275" providerId="AD"/>
  <p188:author id="{63FAE3D6-985B-3439-295A-381D9F1E28EC}" name="Sneh Kumar Gupta" initials="SK" userId="S::sneh.gupta@zoomrx.com::911d5497-0243-453c-a8f3-dced702ce248" providerId="AD"/>
  <p188:author id="{E89F16EB-697A-DF8F-FDAD-72813A200D2D}" name="vishnu.alagappan" initials="v" userId="vishnu.alagappan" providerId="None"/>
  <p188:author id="{0432F6F8-E428-DABD-8F5F-06B675FCCFE4}" name="Billy Sullivan" initials="BS" userId="S::billy.sullivan@zoomrx.com::3b1b62b9-0221-415a-9ead-3de2fa08d3a9"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7" name="Adeboye Oye" initials="AO" lastIdx="39" clrIdx="6">
    <p:extLst>
      <p:ext uri="{19B8F6BF-5375-455C-9EA6-DF929625EA0E}">
        <p15:presenceInfo xmlns:p15="http://schemas.microsoft.com/office/powerpoint/2012/main" userId="S::adeboye.oye@zoomrx.com::c7b639b8-be0c-4266-a854-a1e26b0f5d92" providerId="AD"/>
      </p:ext>
    </p:extLst>
  </p:cmAuthor>
  <p:cmAuthor id="1" name="Hari Vignesh" initials="HV" lastIdx="25" clrIdx="0">
    <p:extLst>
      <p:ext uri="{19B8F6BF-5375-455C-9EA6-DF929625EA0E}">
        <p15:presenceInfo xmlns:p15="http://schemas.microsoft.com/office/powerpoint/2012/main" userId="Hari Vignesh" providerId="None"/>
      </p:ext>
    </p:extLst>
  </p:cmAuthor>
  <p:cmAuthor id="8" name="David Santucci" initials="DS" lastIdx="15" clrIdx="7">
    <p:extLst>
      <p:ext uri="{19B8F6BF-5375-455C-9EA6-DF929625EA0E}">
        <p15:presenceInfo xmlns:p15="http://schemas.microsoft.com/office/powerpoint/2012/main" userId="S::david.santucci@zoomrx.com::696d8359-941f-460e-b70d-df44b52010b7" providerId="AD"/>
      </p:ext>
    </p:extLst>
  </p:cmAuthor>
  <p:cmAuthor id="2" name="Lavanya R" initials="LR" lastIdx="1" clrIdx="1">
    <p:extLst>
      <p:ext uri="{19B8F6BF-5375-455C-9EA6-DF929625EA0E}">
        <p15:presenceInfo xmlns:p15="http://schemas.microsoft.com/office/powerpoint/2012/main" userId="Lavanya R" providerId="None"/>
      </p:ext>
    </p:extLst>
  </p:cmAuthor>
  <p:cmAuthor id="9" name="Menos, Denice" initials="MD" lastIdx="14" clrIdx="8">
    <p:extLst>
      <p:ext uri="{19B8F6BF-5375-455C-9EA6-DF929625EA0E}">
        <p15:presenceInfo xmlns:p15="http://schemas.microsoft.com/office/powerpoint/2012/main" userId="S::denice.menos@abbvie.com::c1c14c23-cf61-4da5-8846-c7496448c06c" providerId="AD"/>
      </p:ext>
    </p:extLst>
  </p:cmAuthor>
  <p:cmAuthor id="3" name="Wicher, Joanna A" initials="WJA" lastIdx="59" clrIdx="2">
    <p:extLst>
      <p:ext uri="{19B8F6BF-5375-455C-9EA6-DF929625EA0E}">
        <p15:presenceInfo xmlns:p15="http://schemas.microsoft.com/office/powerpoint/2012/main" userId="S::joanna.wicher@abbvie.com::c139aef2-9a8f-4fb0-bfe6-8c048f401d2a" providerId="AD"/>
      </p:ext>
    </p:extLst>
  </p:cmAuthor>
  <p:cmAuthor id="10" name="Yashaswi Jajodia" initials="YJ" lastIdx="1" clrIdx="9">
    <p:extLst>
      <p:ext uri="{19B8F6BF-5375-455C-9EA6-DF929625EA0E}">
        <p15:presenceInfo xmlns:p15="http://schemas.microsoft.com/office/powerpoint/2012/main" userId="S::yashaswi.jajodia@zoomrx.com::06070ef2-ba4c-42d0-aa7c-312004c439a1" providerId="AD"/>
      </p:ext>
    </p:extLst>
  </p:cmAuthor>
  <p:cmAuthor id="4" name="Lavanya R" initials="LR [2]" lastIdx="19" clrIdx="3">
    <p:extLst>
      <p:ext uri="{19B8F6BF-5375-455C-9EA6-DF929625EA0E}">
        <p15:presenceInfo xmlns:p15="http://schemas.microsoft.com/office/powerpoint/2012/main" userId="S::lavanya.raghu@zoomrx.com::889fd43f-ab9c-4293-b104-63e3c82b2f02" providerId="AD"/>
      </p:ext>
    </p:extLst>
  </p:cmAuthor>
  <p:cmAuthor id="5" name="Vishnu Aravind" initials="VA" lastIdx="11" clrIdx="4">
    <p:extLst>
      <p:ext uri="{19B8F6BF-5375-455C-9EA6-DF929625EA0E}">
        <p15:presenceInfo xmlns:p15="http://schemas.microsoft.com/office/powerpoint/2012/main" userId="S::vishnu.aravind@zoomrx.com::75cb931e-f995-4194-aec9-1cd9b8fd72e1" providerId="AD"/>
      </p:ext>
    </p:extLst>
  </p:cmAuthor>
  <p:cmAuthor id="6" name="Anna Chubaeva" initials="AC" lastIdx="27" clrIdx="5">
    <p:extLst>
      <p:ext uri="{19B8F6BF-5375-455C-9EA6-DF929625EA0E}">
        <p15:presenceInfo xmlns:p15="http://schemas.microsoft.com/office/powerpoint/2012/main" userId="S::anna.chubaeva@zoomrx.com::50c66f10-13c2-4047-a289-4dcb7921c472"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97FA5"/>
    <a:srgbClr val="D7FFBB"/>
    <a:srgbClr val="F2F2F2"/>
    <a:srgbClr val="FFFFFF"/>
    <a:srgbClr val="D3B0FF"/>
    <a:srgbClr val="203661"/>
    <a:srgbClr val="66C7FF"/>
    <a:srgbClr val="000000"/>
    <a:srgbClr val="9778D4"/>
    <a:srgbClr val="D7E0E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ACDD49D-D35C-462B-9EBF-C882FC660064}" v="558" dt="2026-04-21T13:25:39.274"/>
    <p1510:client id="{AF125028-D277-4518-AA97-318C612C542C}" v="10939" dt="2026-04-21T14:02:07.570"/>
  </p1510:revLst>
</p1510:revInfo>
</file>

<file path=ppt/tableStyles.xml><?xml version="1.0" encoding="utf-8"?>
<a:tblStyleLst xmlns:a="http://schemas.openxmlformats.org/drawingml/2006/main" def="{96BACEE3-1A1D-4107-9369-2142449FF59F}">
  <a:tblStyle styleId="{96BACEE3-1A1D-4107-9369-2142449FF59F}"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9E614C7A-ED51-434A-BE06-0DEEFDE48CE3}" styleName="Table_1">
    <a:wholeTbl>
      <a:tcTxStyle b="off" i="off">
        <a:font>
          <a:latin typeface="Calibri"/>
          <a:ea typeface="Calibri"/>
          <a:cs typeface="Calibri"/>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CF0F5"/>
          </a:solidFill>
        </a:fill>
      </a:tcStyle>
    </a:wholeTbl>
    <a:band1H>
      <a:tcTxStyle/>
      <a:tcStyle>
        <a:tcBdr/>
        <a:fill>
          <a:solidFill>
            <a:srgbClr val="D6DFEA"/>
          </a:solidFill>
        </a:fill>
      </a:tcStyle>
    </a:band1H>
    <a:band2H>
      <a:tcTxStyle/>
      <a:tcStyle>
        <a:tcBdr/>
      </a:tcStyle>
    </a:band2H>
    <a:band1V>
      <a:tcTxStyle/>
      <a:tcStyle>
        <a:tcBdr/>
        <a:fill>
          <a:solidFill>
            <a:srgbClr val="D6DFEA"/>
          </a:solidFill>
        </a:fill>
      </a:tcStyle>
    </a:band1V>
    <a:band2V>
      <a:tcTxStyle/>
      <a:tcStyle>
        <a:tcBdr/>
      </a:tcStyle>
    </a:band2V>
    <a:lastCol>
      <a:tcTxStyle b="on" i="off">
        <a:font>
          <a:latin typeface="Calibri"/>
          <a:ea typeface="Calibri"/>
          <a:cs typeface="Calibri"/>
        </a:font>
        <a:schemeClr val="lt1"/>
      </a:tcTxStyle>
      <a:tcStyle>
        <a:tcBdr/>
        <a:fill>
          <a:solidFill>
            <a:schemeClr val="accent1"/>
          </a:solidFill>
        </a:fill>
      </a:tcStyle>
    </a:lastCol>
    <a:firstCol>
      <a:tcTxStyle b="on" i="off">
        <a:font>
          <a:latin typeface="Calibri"/>
          <a:ea typeface="Calibri"/>
          <a:cs typeface="Calibri"/>
        </a:font>
        <a:schemeClr val="lt1"/>
      </a:tcTxStyle>
      <a:tcStyle>
        <a:tcBdr/>
        <a:fill>
          <a:solidFill>
            <a:schemeClr val="accent1"/>
          </a:solidFill>
        </a:fill>
      </a:tcStyle>
    </a:firstCol>
    <a:lastRow>
      <a:tcTxStyle b="on" i="off">
        <a:font>
          <a:latin typeface="Calibri"/>
          <a:ea typeface="Calibri"/>
          <a:cs typeface="Calibri"/>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a:tcStyle>
        <a:tcBdr/>
      </a:tcStyle>
    </a:seCell>
    <a:swCell>
      <a:tcTxStyle/>
      <a:tcStyle>
        <a:tcBdr/>
      </a:tcStyle>
    </a:swCell>
    <a:firstRow>
      <a:tcTxStyle b="on" i="off">
        <a:font>
          <a:latin typeface="Calibri"/>
          <a:ea typeface="Calibri"/>
          <a:cs typeface="Calibri"/>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a:tcStyle>
        <a:tcBdr/>
      </a:tcStyle>
    </a:neCell>
    <a:nwCell>
      <a:tcTxStyle/>
      <a:tcStyle>
        <a:tcBdr/>
      </a:tcStyle>
    </a:nwCell>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284E427A-3D55-4303-BF80-6455036E1DE7}" styleName="Themed Style 1 - Accent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guide pos="3107"/>
        <p:guide pos="5216"/>
        <p:guide orient="horz" pos="890"/>
        <p:guide pos="725"/>
        <p:guide pos="5443"/>
        <p:guide pos="2925"/>
        <p:guide orient="horz" pos="3612"/>
        <p:guide pos="521"/>
        <p:guide orient="horz" pos="624"/>
      </p:guideLst>
    </p:cSldViewPr>
  </p:slide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customXml" Target="../customXml/item4.xml"/><Relationship Id="rId5" Type="http://schemas.openxmlformats.org/officeDocument/2006/relationships/slideMaster" Target="slideMasters/slide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9" Type="http://schemas.openxmlformats.org/officeDocument/2006/relationships/slide" Target="slides/slide4.xml"/><Relationship Id="rId10" Type="http://schemas.openxmlformats.org/officeDocument/2006/relationships/slide" Target="slides/slide5.xml"/><Relationship Id="rId11" Type="http://schemas.openxmlformats.org/officeDocument/2006/relationships/slide" Target="slides/slide6.xml"/><Relationship Id="rId12" Type="http://schemas.openxmlformats.org/officeDocument/2006/relationships/slide" Target="slides/slide7.xml"/><Relationship Id="rId13" Type="http://schemas.openxmlformats.org/officeDocument/2006/relationships/slide" Target="slides/slide8.xml"/><Relationship Id="rId14" Type="http://schemas.openxmlformats.org/officeDocument/2006/relationships/slide" Target="slides/slide9.xml"/><Relationship Id="rId15" Type="http://schemas.openxmlformats.org/officeDocument/2006/relationships/slide" Target="slides/slide10.xml"/><Relationship Id="rId16" Type="http://schemas.openxmlformats.org/officeDocument/2006/relationships/slide" Target="slides/slide11.xml"/><Relationship Id="rId17" Type="http://schemas.openxmlformats.org/officeDocument/2006/relationships/slide" Target="slides/slide12.xml"/><Relationship Id="rId18" Type="http://schemas.openxmlformats.org/officeDocument/2006/relationships/slide" Target="slides/slide13.xml"/><Relationship Id="rId19" Type="http://schemas.openxmlformats.org/officeDocument/2006/relationships/slide" Target="slides/slide14.xml"/><Relationship Id="rId20" Type="http://schemas.openxmlformats.org/officeDocument/2006/relationships/slide" Target="slides/slide15.xml"/><Relationship Id="rId21" Type="http://schemas.openxmlformats.org/officeDocument/2006/relationships/slide" Target="slides/slide16.xml"/><Relationship Id="rId22" Type="http://schemas.openxmlformats.org/officeDocument/2006/relationships/slide" Target="slides/slide17.xml"/><Relationship Id="rId23" Type="http://schemas.openxmlformats.org/officeDocument/2006/relationships/slide" Target="slides/slide18.xml"/><Relationship Id="rId24" Type="http://schemas.openxmlformats.org/officeDocument/2006/relationships/slide" Target="slides/slide19.xml"/><Relationship Id="rId25" Type="http://schemas.openxmlformats.org/officeDocument/2006/relationships/slide" Target="slides/slide20.xml"/><Relationship Id="rId26" Type="http://schemas.openxmlformats.org/officeDocument/2006/relationships/slide" Target="slides/slide21.xml"/><Relationship Id="rId27" Type="http://schemas.openxmlformats.org/officeDocument/2006/relationships/slide" Target="slides/slide22.xml"/><Relationship Id="rId28" Type="http://schemas.openxmlformats.org/officeDocument/2006/relationships/slide" Target="slides/slide23.xml"/><Relationship Id="rId29" Type="http://schemas.openxmlformats.org/officeDocument/2006/relationships/slide" Target="slides/slide24.xml"/><Relationship Id="rId30" Type="http://schemas.openxmlformats.org/officeDocument/2006/relationships/slide" Target="slides/slide25.xml"/><Relationship Id="rId31" Type="http://schemas.openxmlformats.org/officeDocument/2006/relationships/slide" Target="slides/slide26.xml"/><Relationship Id="rId32" Type="http://schemas.openxmlformats.org/officeDocument/2006/relationships/slide" Target="slides/slide27.xml"/><Relationship Id="rId33" Type="http://schemas.openxmlformats.org/officeDocument/2006/relationships/slide" Target="slides/slide28.xml"/><Relationship Id="rId34" Type="http://schemas.openxmlformats.org/officeDocument/2006/relationships/slide" Target="slides/slide29.xml"/><Relationship Id="rId35" Type="http://schemas.openxmlformats.org/officeDocument/2006/relationships/slide" Target="slides/slide30.xml"/><Relationship Id="rId36" Type="http://schemas.openxmlformats.org/officeDocument/2006/relationships/slide" Target="slides/slide31.xml"/><Relationship Id="rId37" Type="http://schemas.openxmlformats.org/officeDocument/2006/relationships/slide" Target="slides/slide32.xml"/><Relationship Id="rId38" Type="http://schemas.openxmlformats.org/officeDocument/2006/relationships/slide" Target="slides/slide33.xml"/><Relationship Id="rId39" Type="http://schemas.openxmlformats.org/officeDocument/2006/relationships/slide" Target="slides/slide34.xml"/><Relationship Id="rId40" Type="http://schemas.openxmlformats.org/officeDocument/2006/relationships/slide" Target="slides/slide35.xml"/><Relationship Id="rId41" Type="http://schemas.openxmlformats.org/officeDocument/2006/relationships/slide" Target="slides/slide36.xml"/><Relationship Id="rId42" Type="http://schemas.openxmlformats.org/officeDocument/2006/relationships/slide" Target="slides/slide37.xml"/><Relationship Id="rId43" Type="http://schemas.openxmlformats.org/officeDocument/2006/relationships/slide" Target="slides/slide38.xml"/><Relationship Id="rId44" Type="http://schemas.openxmlformats.org/officeDocument/2006/relationships/slide" Target="slides/slide39.xml"/><Relationship Id="rId45" Type="http://schemas.openxmlformats.org/officeDocument/2006/relationships/slide" Target="slides/slide40.xml"/><Relationship Id="rId46" Type="http://schemas.openxmlformats.org/officeDocument/2006/relationships/slide" Target="slides/slide41.xml"/><Relationship Id="rId47" Type="http://schemas.openxmlformats.org/officeDocument/2006/relationships/slide" Target="slides/slide42.xml"/><Relationship Id="rId48" Type="http://schemas.openxmlformats.org/officeDocument/2006/relationships/slide" Target="slides/slide43.xml"/><Relationship Id="rId49" Type="http://schemas.openxmlformats.org/officeDocument/2006/relationships/slide" Target="slides/slide44.xml"/><Relationship Id="rId50" Type="http://schemas.openxmlformats.org/officeDocument/2006/relationships/slide" Target="slides/slide45.xml"/><Relationship Id="rId51" Type="http://schemas.openxmlformats.org/officeDocument/2006/relationships/slide" Target="slides/slide46.xml"/><Relationship Id="rId52" Type="http://schemas.openxmlformats.org/officeDocument/2006/relationships/slide" Target="slides/slide47.xml"/><Relationship Id="rId53" Type="http://schemas.openxmlformats.org/officeDocument/2006/relationships/slide" Target="slides/slide48.xml"/><Relationship Id="rId54" Type="http://schemas.openxmlformats.org/officeDocument/2006/relationships/slide" Target="slides/slide49.xml"/><Relationship Id="rId55" Type="http://schemas.openxmlformats.org/officeDocument/2006/relationships/slide" Target="slides/slide50.xml"/><Relationship Id="rId56" Type="http://schemas.openxmlformats.org/officeDocument/2006/relationships/slide" Target="slides/slide51.xml"/><Relationship Id="rId57" Type="http://schemas.openxmlformats.org/officeDocument/2006/relationships/slide" Target="slides/slide52.xml"/><Relationship Id="rId58" Type="http://schemas.openxmlformats.org/officeDocument/2006/relationships/slide" Target="slides/slide53.xml"/><Relationship Id="rId59" Type="http://schemas.openxmlformats.org/officeDocument/2006/relationships/slide" Target="slides/slide54.xml"/><Relationship Id="rId60" Type="http://schemas.openxmlformats.org/officeDocument/2006/relationships/slide" Target="slides/slide55.xml"/><Relationship Id="rId61" Type="http://schemas.openxmlformats.org/officeDocument/2006/relationships/slide" Target="slides/slide56.xml"/><Relationship Id="rId62" Type="http://schemas.openxmlformats.org/officeDocument/2006/relationships/slide" Target="slides/slide57.xml"/><Relationship Id="rId63" Type="http://schemas.openxmlformats.org/officeDocument/2006/relationships/slide" Target="slides/slide58.xml"/><Relationship Id="rId64" Type="http://schemas.openxmlformats.org/officeDocument/2006/relationships/slide" Target="slides/slide59.xml"/><Relationship Id="rId65" Type="http://schemas.openxmlformats.org/officeDocument/2006/relationships/slide" Target="slides/slide60.xml"/><Relationship Id="rId66" Type="http://schemas.openxmlformats.org/officeDocument/2006/relationships/slide" Target="slides/slide61.xml"/><Relationship Id="rId67" Type="http://schemas.openxmlformats.org/officeDocument/2006/relationships/slide" Target="slides/slide62.xml"/><Relationship Id="rId68" Type="http://schemas.openxmlformats.org/officeDocument/2006/relationships/slide" Target="slides/slide63.xml"/><Relationship Id="rId69" Type="http://schemas.openxmlformats.org/officeDocument/2006/relationships/slide" Target="slides/slide64.xml"/><Relationship Id="rId70" Type="http://schemas.openxmlformats.org/officeDocument/2006/relationships/slide" Target="slides/slide65.xml"/><Relationship Id="rId71" Type="http://schemas.openxmlformats.org/officeDocument/2006/relationships/slide" Target="slides/slide66.xml"/><Relationship Id="rId72" Type="http://schemas.openxmlformats.org/officeDocument/2006/relationships/slide" Target="slides/slide67.xml"/><Relationship Id="rId73" Type="http://schemas.openxmlformats.org/officeDocument/2006/relationships/slide" Target="slides/slide68.xml"/><Relationship Id="rId74" Type="http://schemas.openxmlformats.org/officeDocument/2006/relationships/slide" Target="slides/slide69.xml"/><Relationship Id="rId75" Type="http://schemas.openxmlformats.org/officeDocument/2006/relationships/slide" Target="slides/slide70.xml"/><Relationship Id="rId76" Type="http://schemas.openxmlformats.org/officeDocument/2006/relationships/slide" Target="slides/slide71.xml"/><Relationship Id="rId77" Type="http://schemas.openxmlformats.org/officeDocument/2006/relationships/slide" Target="slides/slide72.xml"/><Relationship Id="rId78" Type="http://schemas.openxmlformats.org/officeDocument/2006/relationships/slide" Target="slides/slide73.xml"/><Relationship Id="rId79" Type="http://schemas.openxmlformats.org/officeDocument/2006/relationships/slide" Target="slides/slide74.xml"/><Relationship Id="rId80" Type="http://schemas.openxmlformats.org/officeDocument/2006/relationships/slide" Target="slides/slide75.xml"/><Relationship Id="rId81" Type="http://schemas.openxmlformats.org/officeDocument/2006/relationships/slide" Target="slides/slide76.xml"/><Relationship Id="rId82" Type="http://schemas.openxmlformats.org/officeDocument/2006/relationships/slide" Target="slides/slide77.xml"/><Relationship Id="rId83" Type="http://schemas.openxmlformats.org/officeDocument/2006/relationships/slide" Target="slides/slide78.xml"/><Relationship Id="rId84" Type="http://schemas.openxmlformats.org/officeDocument/2006/relationships/slide" Target="slides/slide79.xml"/><Relationship Id="rId85" Type="http://schemas.openxmlformats.org/officeDocument/2006/relationships/slide" Target="slides/slide80.xml"/><Relationship Id="rId86" Type="http://schemas.openxmlformats.org/officeDocument/2006/relationships/slide" Target="slides/slide81.xml"/><Relationship Id="rId87" Type="http://schemas.openxmlformats.org/officeDocument/2006/relationships/slide" Target="slides/slide82.xml"/><Relationship Id="rId88" Type="http://schemas.openxmlformats.org/officeDocument/2006/relationships/slide" Target="slides/slide83.xml"/><Relationship Id="rId89" Type="http://schemas.openxmlformats.org/officeDocument/2006/relationships/slide" Target="slides/slide84.xml"/><Relationship Id="rId90" Type="http://schemas.openxmlformats.org/officeDocument/2006/relationships/slide" Target="slides/slide85.xml"/><Relationship Id="rId91" Type="http://schemas.openxmlformats.org/officeDocument/2006/relationships/slide" Target="slides/slide86.xml"/><Relationship Id="rId92" Type="http://schemas.openxmlformats.org/officeDocument/2006/relationships/slide" Target="slides/slide87.xml"/><Relationship Id="rId93" Type="http://schemas.openxmlformats.org/officeDocument/2006/relationships/slide" Target="slides/slide88.xml"/><Relationship Id="rId94" Type="http://schemas.openxmlformats.org/officeDocument/2006/relationships/slide" Target="slides/slide89.xml"/><Relationship Id="rId95" Type="http://schemas.openxmlformats.org/officeDocument/2006/relationships/slide" Target="slides/slide90.xml"/><Relationship Id="rId96" Type="http://schemas.openxmlformats.org/officeDocument/2006/relationships/slide" Target="slides/slide91.xml"/><Relationship Id="rId97" Type="http://schemas.openxmlformats.org/officeDocument/2006/relationships/notesMaster" Target="notesMasters/notesMaster1.xml"/><Relationship Id="rId98" Type="http://schemas.openxmlformats.org/officeDocument/2006/relationships/handoutMaster" Target="handoutMasters/handoutMaster1.xml"/><Relationship Id="rId99" Type="http://schemas.openxmlformats.org/officeDocument/2006/relationships/tags" Target="tags/tag1.xml"/><Relationship Id="rId149" Type="http://customschemas.google.com/relationships/presentationmetadata" Target="metadata"/><Relationship Id="rId150" Type="http://schemas.openxmlformats.org/officeDocument/2006/relationships/commentAuthors" Target="commentAuthors.xml"/><Relationship Id="rId151" Type="http://schemas.openxmlformats.org/officeDocument/2006/relationships/presProps" Target="presProps.xml"/><Relationship Id="rId152" Type="http://schemas.openxmlformats.org/officeDocument/2006/relationships/viewProps" Target="viewProps.xml"/><Relationship Id="rId153" Type="http://schemas.openxmlformats.org/officeDocument/2006/relationships/theme" Target="theme/theme1.xml"/><Relationship Id="rId154" Type="http://schemas.openxmlformats.org/officeDocument/2006/relationships/tableStyles" Target="tableStyles.xml"/><Relationship Id="rId155" Type="http://schemas.microsoft.com/office/2015/10/relationships/revisionInfo" Target="revisionInfo.xml"/><Relationship Id="rId156" Type="http://schemas.microsoft.com/office/2018/10/relationships/authors" Target="authors.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_2C4E_16CB71E2.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_2C4E_16CB71E21.xlsx"/></Relationships>
</file>

<file path=ppt/charts/_rels/chart3.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_2DE6_9C97698C.xlsx"/></Relationships>
</file>

<file path=ppt/charts/_rels/chart4.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_2DE6_9C97698C2.xlsx"/></Relationships>
</file>

<file path=ppt/charts/_rels/chart5.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_2DE6_9C97698C3.xlsx"/></Relationships>
</file>

<file path=ppt/charts/_rels/chart6.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_2DE6_9C97698C4.xlsx"/></Relationships>
</file>

<file path=ppt/charts/_rels/chart7.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_2DE6_9C97698C5.xlsx"/></Relationships>
</file>

<file path=ppt/charts/_rels/chart8.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_2DE6_9C97698C6.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_2DE6_9C97698C7.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_2DE6_9C97698C8.xlsx"/></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_2DE7_7723345.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_2DE7_77233459.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_2DE7_772334510.xlsx"/></Relationships>
</file>

<file path=ppt/charts/_rels/chart14.xml.rels><?xml version='1.0' encoding='UTF-8' standalone='yes'?>
<Relationships xmlns="http://schemas.openxmlformats.org/package/2006/relationships"><Relationship Id="rId1" Type="http://schemas.microsoft.com/office/2011/relationships/chartStyle" Target="style13.xml"/><Relationship Id="rId2" Type="http://schemas.microsoft.com/office/2011/relationships/chartColorStyle" Target="colors13.xml"/><Relationship Id="rId3" Type="http://schemas.openxmlformats.org/officeDocument/2006/relationships/package" Target="../embeddings/Microsoft_Excel_Worksheet_2DE7_772334511.xlsx"/></Relationships>
</file>

<file path=ppt/charts/_rels/chart15.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_2DE7_772334512.xlsx"/></Relationships>
</file>

<file path=ppt/charts/_rels/chart16.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_2DE7_772334513.xlsx"/></Relationships>
</file>

<file path=ppt/charts/_rels/chart17.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_2DE7_772334514.xlsx"/></Relationships>
</file>

<file path=ppt/charts/_rels/chart18.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_2EF5_3E0FB3DA.xlsx"/></Relationships>
</file>

<file path=ppt/charts/_rels/chart19.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_2EF5_3E0FB3DA15.xlsx"/></Relationships>
</file>

<file path=ppt/charts/_rels/chart20.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_2EF5_3E0FB3DA16.xlsx"/></Relationships>
</file>

<file path=ppt/charts/_rels/chart21.xml.rels><?xml version='1.0' encoding='UTF-8' standalone='yes'?>
<Relationships xmlns="http://schemas.openxmlformats.org/package/2006/relationships"><Relationship Id="rId1" Type="http://schemas.microsoft.com/office/2011/relationships/chartStyle" Target="style20.xml"/><Relationship Id="rId2" Type="http://schemas.microsoft.com/office/2011/relationships/chartColorStyle" Target="colors20.xml"/><Relationship Id="rId3" Type="http://schemas.openxmlformats.org/officeDocument/2006/relationships/package" Target="../embeddings/Microsoft_Excel_Worksheet_2EF5_3E0FB3DA17.xlsx"/></Relationships>
</file>

<file path=ppt/charts/_rels/chart22.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_2EF5_3E0FB3DA18.xlsx"/></Relationships>
</file>

<file path=ppt/charts/_rels/chart23.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_2EF5_3E0FB3DA19.xlsx"/></Relationships>
</file>

<file path=ppt/charts/_rels/chart24.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_2EF5_3E0FB3DA20.xlsx"/></Relationships>
</file>

<file path=ppt/charts/_rels/chart25.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_2EF5_3E0FB3DA21.xlsx"/></Relationships>
</file>

<file path=ppt/charts/_rels/chart26.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_2EF5_3E0FB3DA22.xlsx"/></Relationships>
</file>

<file path=ppt/charts/_rels/chart27.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_2EF5_3E0FB3DA23.xlsx"/></Relationships>
</file>

<file path=ppt/charts/_rels/chart28.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_2EF5_3E0FB3DA24.xlsx"/></Relationships>
</file>

<file path=ppt/charts/_rels/chart29.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_2EF5_3E0FB3DA25.xlsx"/></Relationships>
</file>

<file path=ppt/charts/_rels/chart30.xml.rels><?xml version='1.0' encoding='UTF-8' standalone='yes'?>
<Relationships xmlns="http://schemas.openxmlformats.org/package/2006/relationships"><Relationship Id="rId1" Type="http://schemas.microsoft.com/office/2011/relationships/chartStyle" Target="style29.xml"/><Relationship Id="rId2" Type="http://schemas.microsoft.com/office/2011/relationships/chartColorStyle" Target="colors29.xml"/><Relationship Id="rId3" Type="http://schemas.openxmlformats.org/officeDocument/2006/relationships/package" Target="../embeddings/Microsoft_Excel_Worksheet_2EF5_3E0FB3DA26.xlsx"/></Relationships>
</file>

<file path=ppt/charts/_rels/chart31.xml.rels><?xml version='1.0' encoding='UTF-8' standalone='yes'?>
<Relationships xmlns="http://schemas.openxmlformats.org/package/2006/relationships"><Relationship Id="rId1" Type="http://schemas.microsoft.com/office/2011/relationships/chartStyle" Target="style30.xml"/><Relationship Id="rId2" Type="http://schemas.microsoft.com/office/2011/relationships/chartColorStyle" Target="colors30.xml"/><Relationship Id="rId3" Type="http://schemas.openxmlformats.org/officeDocument/2006/relationships/package" Target="../embeddings/Microsoft_Excel_Worksheet_2EF5_3E0FB3DA27.xlsx"/></Relationships>
</file>

<file path=ppt/charts/_rels/chart32.xml.rels><?xml version='1.0' encoding='UTF-8' standalone='yes'?>
<Relationships xmlns="http://schemas.openxmlformats.org/package/2006/relationships"><Relationship Id="rId1" Type="http://schemas.microsoft.com/office/2011/relationships/chartStyle" Target="style31.xml"/><Relationship Id="rId2" Type="http://schemas.microsoft.com/office/2011/relationships/chartColorStyle" Target="colors31.xml"/><Relationship Id="rId3" Type="http://schemas.openxmlformats.org/officeDocument/2006/relationships/package" Target="../embeddings/Microsoft_Excel_Worksheet_2EF5_3E0FB3DA28.xlsx"/></Relationships>
</file>

<file path=ppt/charts/_rels/chart33.xml.rels><?xml version='1.0' encoding='UTF-8' standalone='yes'?>
<Relationships xmlns="http://schemas.openxmlformats.org/package/2006/relationships"><Relationship Id="rId1" Type="http://schemas.microsoft.com/office/2011/relationships/chartStyle" Target="style32.xml"/><Relationship Id="rId2" Type="http://schemas.microsoft.com/office/2011/relationships/chartColorStyle" Target="colors32.xml"/><Relationship Id="rId3" Type="http://schemas.openxmlformats.org/officeDocument/2006/relationships/package" Target="../embeddings/Microsoft_Excel_Worksheet_2EE7_5193C492.xlsx"/></Relationships>
</file>

<file path=ppt/charts/_rels/chart34.xml.rels><?xml version='1.0' encoding='UTF-8' standalone='yes'?>
<Relationships xmlns="http://schemas.openxmlformats.org/package/2006/relationships"><Relationship Id="rId1" Type="http://schemas.microsoft.com/office/2011/relationships/chartStyle" Target="style33.xml"/><Relationship Id="rId2" Type="http://schemas.microsoft.com/office/2011/relationships/chartColorStyle" Target="colors33.xml"/><Relationship Id="rId3" Type="http://schemas.openxmlformats.org/officeDocument/2006/relationships/package" Target="../embeddings/Microsoft_Excel_Worksheet_2EE7_5193C49229.xlsx"/></Relationships>
</file>

<file path=ppt/charts/_rels/chart35.xml.rels><?xml version='1.0' encoding='UTF-8' standalone='yes'?>
<Relationships xmlns="http://schemas.openxmlformats.org/package/2006/relationships"><Relationship Id="rId1" Type="http://schemas.microsoft.com/office/2011/relationships/chartStyle" Target="style34.xml"/><Relationship Id="rId2" Type="http://schemas.microsoft.com/office/2011/relationships/chartColorStyle" Target="colors34.xml"/><Relationship Id="rId3" Type="http://schemas.openxmlformats.org/officeDocument/2006/relationships/package" Target="../embeddings/Microsoft_Excel_Worksheet_2EE7_5193C49230.xlsx"/></Relationships>
</file>

<file path=ppt/charts/_rels/chart36.xml.rels><?xml version='1.0' encoding='UTF-8' standalone='yes'?>
<Relationships xmlns="http://schemas.openxmlformats.org/package/2006/relationships"><Relationship Id="rId1" Type="http://schemas.microsoft.com/office/2011/relationships/chartStyle" Target="style35.xml"/><Relationship Id="rId2" Type="http://schemas.microsoft.com/office/2011/relationships/chartColorStyle" Target="colors35.xml"/><Relationship Id="rId3" Type="http://schemas.openxmlformats.org/officeDocument/2006/relationships/package" Target="../embeddings/Microsoft_Excel_Worksheet_2EE7_5193C49231.xlsx"/></Relationships>
</file>

<file path=ppt/charts/_rels/chart37.xml.rels><?xml version='1.0' encoding='UTF-8' standalone='yes'?>
<Relationships xmlns="http://schemas.openxmlformats.org/package/2006/relationships"><Relationship Id="rId1" Type="http://schemas.microsoft.com/office/2011/relationships/chartStyle" Target="style36.xml"/><Relationship Id="rId2" Type="http://schemas.microsoft.com/office/2011/relationships/chartColorStyle" Target="colors36.xml"/><Relationship Id="rId3" Type="http://schemas.openxmlformats.org/officeDocument/2006/relationships/package" Target="../embeddings/Microsoft_Excel_Worksheet_2EE7_5193C49232.xlsx"/></Relationships>
</file>

<file path=ppt/charts/_rels/chart38.xml.rels><?xml version='1.0' encoding='UTF-8' standalone='yes'?>
<Relationships xmlns="http://schemas.openxmlformats.org/package/2006/relationships"><Relationship Id="rId1" Type="http://schemas.microsoft.com/office/2011/relationships/chartStyle" Target="style37.xml"/><Relationship Id="rId2" Type="http://schemas.microsoft.com/office/2011/relationships/chartColorStyle" Target="colors37.xml"/><Relationship Id="rId3" Type="http://schemas.openxmlformats.org/officeDocument/2006/relationships/package" Target="../embeddings/Microsoft_Excel_Worksheet_2EE7_5193C49233.xlsx"/></Relationships>
</file>

<file path=ppt/charts/_rels/chart39.xml.rels><?xml version='1.0' encoding='UTF-8' standalone='yes'?>
<Relationships xmlns="http://schemas.openxmlformats.org/package/2006/relationships"><Relationship Id="rId1" Type="http://schemas.microsoft.com/office/2011/relationships/chartStyle" Target="style38.xml"/><Relationship Id="rId2" Type="http://schemas.microsoft.com/office/2011/relationships/chartColorStyle" Target="colors38.xml"/><Relationship Id="rId3" Type="http://schemas.openxmlformats.org/officeDocument/2006/relationships/package" Target="../embeddings/Microsoft_Excel_Worksheet_2EE7_5193C49234.xlsx"/></Relationships>
</file>

<file path=ppt/charts/_rels/chart40.xml.rels><?xml version='1.0' encoding='UTF-8' standalone='yes'?>
<Relationships xmlns="http://schemas.openxmlformats.org/package/2006/relationships"><Relationship Id="rId1" Type="http://schemas.microsoft.com/office/2011/relationships/chartStyle" Target="style39.xml"/><Relationship Id="rId2" Type="http://schemas.microsoft.com/office/2011/relationships/chartColorStyle" Target="colors39.xml"/><Relationship Id="rId3" Type="http://schemas.openxmlformats.org/officeDocument/2006/relationships/package" Target="../embeddings/Microsoft_Excel_Worksheet_2EE7_5193C49235.xlsx"/></Relationships>
</file>

<file path=ppt/charts/_rels/chart41.xml.rels><?xml version='1.0' encoding='UTF-8' standalone='yes'?>
<Relationships xmlns="http://schemas.openxmlformats.org/package/2006/relationships"><Relationship Id="rId1" Type="http://schemas.microsoft.com/office/2011/relationships/chartStyle" Target="style40.xml"/><Relationship Id="rId2" Type="http://schemas.microsoft.com/office/2011/relationships/chartColorStyle" Target="colors40.xml"/><Relationship Id="rId3" Type="http://schemas.openxmlformats.org/officeDocument/2006/relationships/package" Target="../embeddings/Microsoft_Excel_Worksheet_2EE7_5193C49236.xlsx"/></Relationships>
</file>

<file path=ppt/charts/_rels/chart42.xml.rels><?xml version='1.0' encoding='UTF-8' standalone='yes'?>
<Relationships xmlns="http://schemas.openxmlformats.org/package/2006/relationships"><Relationship Id="rId1" Type="http://schemas.microsoft.com/office/2011/relationships/chartStyle" Target="style41.xml"/><Relationship Id="rId2" Type="http://schemas.microsoft.com/office/2011/relationships/chartColorStyle" Target="colors41.xml"/><Relationship Id="rId3" Type="http://schemas.openxmlformats.org/officeDocument/2006/relationships/package" Target="../embeddings/Microsoft_Excel_Worksheet_2EE7_5193C49237.xlsx"/></Relationships>
</file>

<file path=ppt/charts/_rels/chart43.xml.rels><?xml version='1.0' encoding='UTF-8' standalone='yes'?>
<Relationships xmlns="http://schemas.openxmlformats.org/package/2006/relationships"><Relationship Id="rId1" Type="http://schemas.microsoft.com/office/2011/relationships/chartStyle" Target="style42.xml"/><Relationship Id="rId2" Type="http://schemas.microsoft.com/office/2011/relationships/chartColorStyle" Target="colors42.xml"/><Relationship Id="rId3" Type="http://schemas.openxmlformats.org/officeDocument/2006/relationships/package" Target="../embeddings/Microsoft_Excel_Worksheet_2EE7_5193C49238.xlsx"/></Relationships>
</file>

<file path=ppt/charts/_rels/chart44.xml.rels><?xml version='1.0' encoding='UTF-8' standalone='yes'?>
<Relationships xmlns="http://schemas.openxmlformats.org/package/2006/relationships"><Relationship Id="rId1" Type="http://schemas.microsoft.com/office/2011/relationships/chartStyle" Target="style43.xml"/><Relationship Id="rId2" Type="http://schemas.microsoft.com/office/2011/relationships/chartColorStyle" Target="colors43.xml"/><Relationship Id="rId3" Type="http://schemas.openxmlformats.org/officeDocument/2006/relationships/package" Target="../embeddings/Microsoft_Excel_Worksheet_2EE7_5193C49239.xlsx"/></Relationships>
</file>

<file path=ppt/charts/_rels/chart45.xml.rels><?xml version='1.0' encoding='UTF-8' standalone='yes'?>
<Relationships xmlns="http://schemas.openxmlformats.org/package/2006/relationships"><Relationship Id="rId1" Type="http://schemas.microsoft.com/office/2011/relationships/chartStyle" Target="style44.xml"/><Relationship Id="rId2" Type="http://schemas.microsoft.com/office/2011/relationships/chartColorStyle" Target="colors44.xml"/><Relationship Id="rId3" Type="http://schemas.openxmlformats.org/officeDocument/2006/relationships/package" Target="../embeddings/Microsoft_Excel_Worksheet_2EE7_5193C49240.xlsx"/></Relationships>
</file>

<file path=ppt/charts/_rels/chart46.xml.rels><?xml version='1.0' encoding='UTF-8' standalone='yes'?>
<Relationships xmlns="http://schemas.openxmlformats.org/package/2006/relationships"><Relationship Id="rId1" Type="http://schemas.microsoft.com/office/2011/relationships/chartStyle" Target="style45.xml"/><Relationship Id="rId2" Type="http://schemas.microsoft.com/office/2011/relationships/chartColorStyle" Target="colors45.xml"/><Relationship Id="rId3" Type="http://schemas.openxmlformats.org/officeDocument/2006/relationships/package" Target="../embeddings/Microsoft_Excel_Worksheet_2EE7_5193C49241.xlsx"/></Relationships>
</file>

<file path=ppt/charts/_rels/chart47.xml.rels><?xml version='1.0' encoding='UTF-8' standalone='yes'?>
<Relationships xmlns="http://schemas.openxmlformats.org/package/2006/relationships"><Relationship Id="rId1" Type="http://schemas.microsoft.com/office/2011/relationships/chartStyle" Target="style46.xml"/><Relationship Id="rId2" Type="http://schemas.microsoft.com/office/2011/relationships/chartColorStyle" Target="colors46.xml"/><Relationship Id="rId3" Type="http://schemas.openxmlformats.org/officeDocument/2006/relationships/package" Target="../embeddings/Microsoft_Excel_Worksheet_2EE7_5193C49242.xlsx"/></Relationships>
</file>

<file path=ppt/charts/_rels/chart48.xml.rels><?xml version='1.0' encoding='UTF-8' standalone='yes'?>
<Relationships xmlns="http://schemas.openxmlformats.org/package/2006/relationships"><Relationship Id="rId1" Type="http://schemas.microsoft.com/office/2011/relationships/chartStyle" Target="style47.xml"/><Relationship Id="rId2" Type="http://schemas.microsoft.com/office/2011/relationships/chartColorStyle" Target="colors47.xml"/><Relationship Id="rId3" Type="http://schemas.openxmlformats.org/officeDocument/2006/relationships/package" Target="../embeddings/Microsoft_Excel_Worksheet_2EE8_B6859100.xlsx"/></Relationships>
</file>

<file path=ppt/charts/_rels/chart49.xml.rels><?xml version='1.0' encoding='UTF-8' standalone='yes'?>
<Relationships xmlns="http://schemas.openxmlformats.org/package/2006/relationships"><Relationship Id="rId1" Type="http://schemas.microsoft.com/office/2011/relationships/chartStyle" Target="style48.xml"/><Relationship Id="rId2" Type="http://schemas.microsoft.com/office/2011/relationships/chartColorStyle" Target="colors48.xml"/><Relationship Id="rId3" Type="http://schemas.openxmlformats.org/officeDocument/2006/relationships/package" Target="../embeddings/Microsoft_Excel_Worksheet_2EE8_B685910043.xlsx"/></Relationships>
</file>

<file path=ppt/charts/_rels/chart50.xml.rels><?xml version='1.0' encoding='UTF-8' standalone='yes'?>
<Relationships xmlns="http://schemas.openxmlformats.org/package/2006/relationships"><Relationship Id="rId1" Type="http://schemas.microsoft.com/office/2011/relationships/chartStyle" Target="style49.xml"/><Relationship Id="rId2" Type="http://schemas.microsoft.com/office/2011/relationships/chartColorStyle" Target="colors49.xml"/><Relationship Id="rId3" Type="http://schemas.openxmlformats.org/officeDocument/2006/relationships/package" Target="../embeddings/Microsoft_Excel_Worksheet_2EE8_B685910044.xlsx"/></Relationships>
</file>

<file path=ppt/charts/_rels/chart51.xml.rels><?xml version='1.0' encoding='UTF-8' standalone='yes'?>
<Relationships xmlns="http://schemas.openxmlformats.org/package/2006/relationships"><Relationship Id="rId1" Type="http://schemas.microsoft.com/office/2011/relationships/chartStyle" Target="style50.xml"/><Relationship Id="rId2" Type="http://schemas.microsoft.com/office/2011/relationships/chartColorStyle" Target="colors50.xml"/><Relationship Id="rId3" Type="http://schemas.openxmlformats.org/officeDocument/2006/relationships/package" Target="../embeddings/Microsoft_Excel_Worksheet_2EE8_B685910045.xlsx"/></Relationships>
</file>

<file path=ppt/charts/_rels/chart52.xml.rels><?xml version='1.0' encoding='UTF-8' standalone='yes'?>
<Relationships xmlns="http://schemas.openxmlformats.org/package/2006/relationships"><Relationship Id="rId1" Type="http://schemas.microsoft.com/office/2011/relationships/chartStyle" Target="style51.xml"/><Relationship Id="rId2" Type="http://schemas.microsoft.com/office/2011/relationships/chartColorStyle" Target="colors51.xml"/><Relationship Id="rId3" Type="http://schemas.openxmlformats.org/officeDocument/2006/relationships/package" Target="../embeddings/Microsoft_Excel_Worksheet_2EE8_B685910046.xlsx"/></Relationships>
</file>

<file path=ppt/charts/_rels/chart53.xml.rels><?xml version='1.0' encoding='UTF-8' standalone='yes'?>
<Relationships xmlns="http://schemas.openxmlformats.org/package/2006/relationships"><Relationship Id="rId1" Type="http://schemas.microsoft.com/office/2011/relationships/chartStyle" Target="style52.xml"/><Relationship Id="rId2" Type="http://schemas.microsoft.com/office/2011/relationships/chartColorStyle" Target="colors52.xml"/><Relationship Id="rId3" Type="http://schemas.openxmlformats.org/officeDocument/2006/relationships/package" Target="../embeddings/Microsoft_Excel_Worksheet_2EE8_B685910047.xlsx"/></Relationships>
</file>

<file path=ppt/charts/_rels/chart54.xml.rels><?xml version='1.0' encoding='UTF-8' standalone='yes'?>
<Relationships xmlns="http://schemas.openxmlformats.org/package/2006/relationships"><Relationship Id="rId1" Type="http://schemas.microsoft.com/office/2011/relationships/chartStyle" Target="style53.xml"/><Relationship Id="rId2" Type="http://schemas.microsoft.com/office/2011/relationships/chartColorStyle" Target="colors53.xml"/><Relationship Id="rId3" Type="http://schemas.openxmlformats.org/officeDocument/2006/relationships/package" Target="../embeddings/Microsoft_Excel_Worksheet_2EE8_B685910048.xlsx"/></Relationships>
</file>

<file path=ppt/charts/_rels/chart55.xml.rels><?xml version='1.0' encoding='UTF-8' standalone='yes'?>
<Relationships xmlns="http://schemas.openxmlformats.org/package/2006/relationships"><Relationship Id="rId1" Type="http://schemas.microsoft.com/office/2011/relationships/chartStyle" Target="style54.xml"/><Relationship Id="rId2" Type="http://schemas.microsoft.com/office/2011/relationships/chartColorStyle" Target="colors54.xml"/><Relationship Id="rId3" Type="http://schemas.openxmlformats.org/officeDocument/2006/relationships/package" Target="../embeddings/Microsoft_Excel_Worksheet_2EE8_B685910049.xlsx"/></Relationships>
</file>

<file path=ppt/charts/_rels/chart56.xml.rels><?xml version='1.0' encoding='UTF-8' standalone='yes'?>
<Relationships xmlns="http://schemas.openxmlformats.org/package/2006/relationships"><Relationship Id="rId1" Type="http://schemas.microsoft.com/office/2011/relationships/chartStyle" Target="style55.xml"/><Relationship Id="rId2" Type="http://schemas.microsoft.com/office/2011/relationships/chartColorStyle" Target="colors55.xml"/><Relationship Id="rId3" Type="http://schemas.openxmlformats.org/officeDocument/2006/relationships/package" Target="../embeddings/Microsoft_Excel_Worksheet_2EE8_B685910050.xlsx"/></Relationships>
</file>

<file path=ppt/charts/_rels/chart57.xml.rels><?xml version='1.0' encoding='UTF-8' standalone='yes'?>
<Relationships xmlns="http://schemas.openxmlformats.org/package/2006/relationships"><Relationship Id="rId1" Type="http://schemas.microsoft.com/office/2011/relationships/chartStyle" Target="style56.xml"/><Relationship Id="rId2" Type="http://schemas.microsoft.com/office/2011/relationships/chartColorStyle" Target="colors56.xml"/><Relationship Id="rId3" Type="http://schemas.openxmlformats.org/officeDocument/2006/relationships/package" Target="../embeddings/Microsoft_Excel_Worksheet_2EE8_B685910051.xlsx"/></Relationships>
</file>

<file path=ppt/charts/_rels/chart58.xml.rels><?xml version='1.0' encoding='UTF-8' standalone='yes'?>
<Relationships xmlns="http://schemas.openxmlformats.org/package/2006/relationships"><Relationship Id="rId1" Type="http://schemas.microsoft.com/office/2011/relationships/chartStyle" Target="style57.xml"/><Relationship Id="rId2" Type="http://schemas.microsoft.com/office/2011/relationships/chartColorStyle" Target="colors57.xml"/><Relationship Id="rId3" Type="http://schemas.openxmlformats.org/officeDocument/2006/relationships/package" Target="../embeddings/Microsoft_Excel_Worksheet_2EE8_B685910052.xlsx"/></Relationships>
</file>

<file path=ppt/charts/_rels/chart59.xml.rels><?xml version='1.0' encoding='UTF-8' standalone='yes'?>
<Relationships xmlns="http://schemas.openxmlformats.org/package/2006/relationships"><Relationship Id="rId1" Type="http://schemas.microsoft.com/office/2011/relationships/chartStyle" Target="style58.xml"/><Relationship Id="rId2" Type="http://schemas.microsoft.com/office/2011/relationships/chartColorStyle" Target="colors58.xml"/><Relationship Id="rId3" Type="http://schemas.openxmlformats.org/officeDocument/2006/relationships/package" Target="../embeddings/Microsoft_Excel_Worksheet_2EE8_B685910053.xlsx"/></Relationships>
</file>

<file path=ppt/charts/_rels/chart60.xml.rels><?xml version='1.0' encoding='UTF-8' standalone='yes'?>
<Relationships xmlns="http://schemas.openxmlformats.org/package/2006/relationships"><Relationship Id="rId1" Type="http://schemas.microsoft.com/office/2011/relationships/chartStyle" Target="style59.xml"/><Relationship Id="rId2" Type="http://schemas.microsoft.com/office/2011/relationships/chartColorStyle" Target="colors59.xml"/><Relationship Id="rId3" Type="http://schemas.openxmlformats.org/officeDocument/2006/relationships/package" Target="../embeddings/Microsoft_Excel_Worksheet_2EE8_B685910054.xlsx"/></Relationships>
</file>

<file path=ppt/charts/_rels/chart61.xml.rels><?xml version='1.0' encoding='UTF-8' standalone='yes'?>
<Relationships xmlns="http://schemas.openxmlformats.org/package/2006/relationships"><Relationship Id="rId1" Type="http://schemas.microsoft.com/office/2011/relationships/chartStyle" Target="style60.xml"/><Relationship Id="rId2" Type="http://schemas.microsoft.com/office/2011/relationships/chartColorStyle" Target="colors60.xml"/><Relationship Id="rId3" Type="http://schemas.openxmlformats.org/officeDocument/2006/relationships/package" Target="../embeddings/Microsoft_Excel_Worksheet_2EE8_B685910055.xlsx"/></Relationships>
</file>

<file path=ppt/charts/_rels/chart62.xml.rels><?xml version='1.0' encoding='UTF-8' standalone='yes'?>
<Relationships xmlns="http://schemas.openxmlformats.org/package/2006/relationships"><Relationship Id="rId1" Type="http://schemas.microsoft.com/office/2011/relationships/chartStyle" Target="style61.xml"/><Relationship Id="rId2" Type="http://schemas.microsoft.com/office/2011/relationships/chartColorStyle" Target="colors61.xml"/><Relationship Id="rId3" Type="http://schemas.openxmlformats.org/officeDocument/2006/relationships/package" Target="../embeddings/Microsoft_Excel_Worksheet_2EE8_B685910056.xlsx"/></Relationships>
</file>

<file path=ppt/charts/_rels/chart63.xml.rels><?xml version='1.0' encoding='UTF-8' standalone='yes'?>
<Relationships xmlns="http://schemas.openxmlformats.org/package/2006/relationships"><Relationship Id="rId1" Type="http://schemas.microsoft.com/office/2011/relationships/chartStyle" Target="style62.xml"/><Relationship Id="rId2" Type="http://schemas.microsoft.com/office/2011/relationships/chartColorStyle" Target="colors62.xml"/><Relationship Id="rId3" Type="http://schemas.openxmlformats.org/officeDocument/2006/relationships/package" Target="../embeddings/Microsoft_Excel_Worksheet_2EFC_9B64DC9D.xlsx"/></Relationships>
</file>

<file path=ppt/charts/_rels/chart64.xml.rels><?xml version='1.0' encoding='UTF-8' standalone='yes'?>
<Relationships xmlns="http://schemas.openxmlformats.org/package/2006/relationships"><Relationship Id="rId1" Type="http://schemas.microsoft.com/office/2011/relationships/chartStyle" Target="style63.xml"/><Relationship Id="rId2" Type="http://schemas.microsoft.com/office/2011/relationships/chartColorStyle" Target="colors63.xml"/><Relationship Id="rId3" Type="http://schemas.openxmlformats.org/officeDocument/2006/relationships/package" Target="../embeddings/Microsoft_Excel_Worksheet_2EFC_9B64DC9D57.xlsx"/></Relationships>
</file>

<file path=ppt/charts/_rels/chart65.xml.rels><?xml version='1.0' encoding='UTF-8' standalone='yes'?>
<Relationships xmlns="http://schemas.openxmlformats.org/package/2006/relationships"><Relationship Id="rId1" Type="http://schemas.microsoft.com/office/2011/relationships/chartStyle" Target="style64.xml"/><Relationship Id="rId2" Type="http://schemas.microsoft.com/office/2011/relationships/chartColorStyle" Target="colors64.xml"/><Relationship Id="rId3" Type="http://schemas.openxmlformats.org/officeDocument/2006/relationships/package" Target="../embeddings/Microsoft_Excel_Worksheet_2EFC_9B64DC9D58.xlsx"/></Relationships>
</file>

<file path=ppt/charts/_rels/chart66.xml.rels><?xml version='1.0' encoding='UTF-8' standalone='yes'?>
<Relationships xmlns="http://schemas.openxmlformats.org/package/2006/relationships"><Relationship Id="rId1" Type="http://schemas.microsoft.com/office/2011/relationships/chartStyle" Target="style65.xml"/><Relationship Id="rId2" Type="http://schemas.microsoft.com/office/2011/relationships/chartColorStyle" Target="colors65.xml"/><Relationship Id="rId3" Type="http://schemas.openxmlformats.org/officeDocument/2006/relationships/package" Target="../embeddings/Microsoft_Excel_Worksheet_2D7B_DEEB919F.xlsx"/></Relationships>
</file>

<file path=ppt/charts/_rels/chart67.xml.rels><?xml version='1.0' encoding='UTF-8' standalone='yes'?>
<Relationships xmlns="http://schemas.openxmlformats.org/package/2006/relationships"><Relationship Id="rId1" Type="http://schemas.microsoft.com/office/2011/relationships/chartStyle" Target="style66.xml"/><Relationship Id="rId2" Type="http://schemas.microsoft.com/office/2011/relationships/chartColorStyle" Target="colors66.xml"/><Relationship Id="rId3" Type="http://schemas.openxmlformats.org/officeDocument/2006/relationships/package" Target="../embeddings/Microsoft_Excel_Worksheet_2D7B_DEEB919F59.xlsx"/></Relationships>
</file>

<file path=ppt/charts/_rels/chart68.xml.rels><?xml version='1.0' encoding='UTF-8' standalone='yes'?>
<Relationships xmlns="http://schemas.openxmlformats.org/package/2006/relationships"><Relationship Id="rId1" Type="http://schemas.microsoft.com/office/2011/relationships/chartStyle" Target="style67.xml"/><Relationship Id="rId2" Type="http://schemas.microsoft.com/office/2011/relationships/chartColorStyle" Target="colors67.xml"/><Relationship Id="rId3" Type="http://schemas.openxmlformats.org/officeDocument/2006/relationships/package" Target="../embeddings/Microsoft_Excel_Worksheet_2D7B_DEEB919F60.xlsx"/></Relationships>
</file>

<file path=ppt/charts/_rels/chart69.xml.rels><?xml version='1.0' encoding='UTF-8' standalone='yes'?>
<Relationships xmlns="http://schemas.openxmlformats.org/package/2006/relationships"><Relationship Id="rId1" Type="http://schemas.microsoft.com/office/2011/relationships/chartStyle" Target="style68.xml"/><Relationship Id="rId2" Type="http://schemas.microsoft.com/office/2011/relationships/chartColorStyle" Target="colors68.xml"/><Relationship Id="rId3" Type="http://schemas.openxmlformats.org/officeDocument/2006/relationships/package" Target="../embeddings/Microsoft_Excel_Worksheet_2DC2_55C18527.xlsx"/></Relationships>
</file>

<file path=ppt/charts/_rels/chart70.xml.rels><?xml version='1.0' encoding='UTF-8' standalone='yes'?>
<Relationships xmlns="http://schemas.openxmlformats.org/package/2006/relationships"><Relationship Id="rId1" Type="http://schemas.microsoft.com/office/2011/relationships/chartStyle" Target="style69.xml"/><Relationship Id="rId2" Type="http://schemas.microsoft.com/office/2011/relationships/chartColorStyle" Target="colors69.xml"/><Relationship Id="rId3" Type="http://schemas.openxmlformats.org/officeDocument/2006/relationships/package" Target="../embeddings/Microsoft_Excel_Worksheet_2DC2_55C1852761.xlsx"/></Relationships>
</file>

<file path=ppt/charts/_rels/chart71.xml.rels><?xml version='1.0' encoding='UTF-8' standalone='yes'?>
<Relationships xmlns="http://schemas.openxmlformats.org/package/2006/relationships"><Relationship Id="rId1" Type="http://schemas.microsoft.com/office/2011/relationships/chartStyle" Target="style70.xml"/><Relationship Id="rId2" Type="http://schemas.microsoft.com/office/2011/relationships/chartColorStyle" Target="colors70.xml"/><Relationship Id="rId3" Type="http://schemas.openxmlformats.org/officeDocument/2006/relationships/package" Target="../embeddings/Microsoft_Excel_Worksheet_2DC2_55C1852762.xlsx"/></Relationships>
</file>

<file path=ppt/charts/_rels/chart72.xml.rels><?xml version='1.0' encoding='UTF-8' standalone='yes'?>
<Relationships xmlns="http://schemas.openxmlformats.org/package/2006/relationships"><Relationship Id="rId1" Type="http://schemas.microsoft.com/office/2011/relationships/chartStyle" Target="style71.xml"/><Relationship Id="rId2" Type="http://schemas.microsoft.com/office/2011/relationships/chartColorStyle" Target="colors71.xml"/><Relationship Id="rId3" Type="http://schemas.openxmlformats.org/officeDocument/2006/relationships/package" Target="../embeddings/Microsoft_Excel_Worksheet_2D7D_D9B55F6A.xlsx"/></Relationships>
</file>

<file path=ppt/charts/_rels/chart73.xml.rels><?xml version='1.0' encoding='UTF-8' standalone='yes'?>
<Relationships xmlns="http://schemas.openxmlformats.org/package/2006/relationships"><Relationship Id="rId1" Type="http://schemas.microsoft.com/office/2011/relationships/chartStyle" Target="style72.xml"/><Relationship Id="rId2" Type="http://schemas.microsoft.com/office/2011/relationships/chartColorStyle" Target="colors72.xml"/><Relationship Id="rId3" Type="http://schemas.openxmlformats.org/officeDocument/2006/relationships/package" Target="../embeddings/Microsoft_Excel_Worksheet_2D7D_D9B55F6A63.xlsx"/></Relationships>
</file>

<file path=ppt/charts/_rels/chart74.xml.rels><?xml version='1.0' encoding='UTF-8' standalone='yes'?>
<Relationships xmlns="http://schemas.openxmlformats.org/package/2006/relationships"><Relationship Id="rId1" Type="http://schemas.microsoft.com/office/2011/relationships/chartStyle" Target="style73.xml"/><Relationship Id="rId2" Type="http://schemas.microsoft.com/office/2011/relationships/chartColorStyle" Target="colors73.xml"/><Relationship Id="rId3" Type="http://schemas.openxmlformats.org/officeDocument/2006/relationships/package" Target="../embeddings/Microsoft_Excel_Worksheet_2D7D_D9B55F6A64.xlsx"/></Relationships>
</file>

<file path=ppt/charts/_rels/chart75.xml.rels><?xml version='1.0' encoding='UTF-8' standalone='yes'?>
<Relationships xmlns="http://schemas.openxmlformats.org/package/2006/relationships"><Relationship Id="rId1" Type="http://schemas.microsoft.com/office/2011/relationships/chartStyle" Target="style74.xml"/><Relationship Id="rId2" Type="http://schemas.microsoft.com/office/2011/relationships/chartColorStyle" Target="colors74.xml"/><Relationship Id="rId3" Type="http://schemas.openxmlformats.org/officeDocument/2006/relationships/package" Target="../embeddings/Microsoft_Excel_Worksheet_2D7E_FFF96ECB.xlsx"/></Relationships>
</file>

<file path=ppt/charts/_rels/chart76.xml.rels><?xml version='1.0' encoding='UTF-8' standalone='yes'?>
<Relationships xmlns="http://schemas.openxmlformats.org/package/2006/relationships"><Relationship Id="rId1" Type="http://schemas.microsoft.com/office/2011/relationships/chartStyle" Target="style75.xml"/><Relationship Id="rId2" Type="http://schemas.microsoft.com/office/2011/relationships/chartColorStyle" Target="colors75.xml"/><Relationship Id="rId3" Type="http://schemas.openxmlformats.org/officeDocument/2006/relationships/package" Target="../embeddings/Microsoft_Excel_Worksheet_2D7E_FFF96ECB65.xlsx"/></Relationships>
</file>

<file path=ppt/charts/_rels/chart77.xml.rels><?xml version='1.0' encoding='UTF-8' standalone='yes'?>
<Relationships xmlns="http://schemas.openxmlformats.org/package/2006/relationships"><Relationship Id="rId1" Type="http://schemas.microsoft.com/office/2011/relationships/chartStyle" Target="style76.xml"/><Relationship Id="rId2" Type="http://schemas.microsoft.com/office/2011/relationships/chartColorStyle" Target="colors76.xml"/><Relationship Id="rId3" Type="http://schemas.openxmlformats.org/officeDocument/2006/relationships/package" Target="../embeddings/Microsoft_Excel_Worksheet_2D7E_FFF96ECB66.xlsx"/></Relationships>
</file>

<file path=ppt/charts/_rels/chart78.xml.rels><?xml version='1.0' encoding='UTF-8' standalone='yes'?>
<Relationships xmlns="http://schemas.openxmlformats.org/package/2006/relationships"><Relationship Id="rId1" Type="http://schemas.microsoft.com/office/2011/relationships/chartStyle" Target="style77.xml"/><Relationship Id="rId2" Type="http://schemas.microsoft.com/office/2011/relationships/chartColorStyle" Target="colors77.xml"/><Relationship Id="rId3" Type="http://schemas.openxmlformats.org/officeDocument/2006/relationships/package" Target="../embeddings/Microsoft_Excel_Worksheet_2D58_20A278A2.xlsx"/></Relationships>
</file>

<file path=ppt/charts/_rels/chart79.xml.rels><?xml version='1.0' encoding='UTF-8' standalone='yes'?>
<Relationships xmlns="http://schemas.openxmlformats.org/package/2006/relationships"><Relationship Id="rId1" Type="http://schemas.microsoft.com/office/2011/relationships/chartStyle" Target="style78.xml"/><Relationship Id="rId2" Type="http://schemas.microsoft.com/office/2011/relationships/chartColorStyle" Target="colors78.xml"/><Relationship Id="rId3" Type="http://schemas.openxmlformats.org/officeDocument/2006/relationships/package" Target="../embeddings/Microsoft_Excel_Worksheet_2D58_20A278A267.xlsx"/></Relationships>
</file>

<file path=ppt/charts/_rels/chart80.xml.rels><?xml version='1.0' encoding='UTF-8' standalone='yes'?>
<Relationships xmlns="http://schemas.openxmlformats.org/package/2006/relationships"><Relationship Id="rId1" Type="http://schemas.microsoft.com/office/2011/relationships/chartStyle" Target="style79.xml"/><Relationship Id="rId2" Type="http://schemas.microsoft.com/office/2011/relationships/chartColorStyle" Target="colors79.xml"/><Relationship Id="rId3" Type="http://schemas.openxmlformats.org/officeDocument/2006/relationships/package" Target="../embeddings/Microsoft_Excel_Worksheet_2D58_20A278A268.xlsx"/></Relationships>
</file>

<file path=ppt/charts/_rels/chart81.xml.rels><?xml version='1.0' encoding='UTF-8' standalone='yes'?>
<Relationships xmlns="http://schemas.openxmlformats.org/package/2006/relationships"><Relationship Id="rId1" Type="http://schemas.microsoft.com/office/2011/relationships/chartStyle" Target="style80.xml"/><Relationship Id="rId2" Type="http://schemas.microsoft.com/office/2011/relationships/chartColorStyle" Target="colors80.xml"/><Relationship Id="rId3" Type="http://schemas.openxmlformats.org/officeDocument/2006/relationships/package" Target="../embeddings/Microsoft_Excel_Worksheet_2D7F_BBD9EA07.xlsx"/></Relationships>
</file>

<file path=ppt/charts/_rels/chart82.xml.rels><?xml version='1.0' encoding='UTF-8' standalone='yes'?>
<Relationships xmlns="http://schemas.openxmlformats.org/package/2006/relationships"><Relationship Id="rId1" Type="http://schemas.microsoft.com/office/2011/relationships/chartStyle" Target="style81.xml"/><Relationship Id="rId2" Type="http://schemas.microsoft.com/office/2011/relationships/chartColorStyle" Target="colors81.xml"/><Relationship Id="rId3" Type="http://schemas.openxmlformats.org/officeDocument/2006/relationships/package" Target="../embeddings/Microsoft_Excel_Worksheet_2D7F_BBD9EA0769.xlsx"/></Relationships>
</file>

<file path=ppt/charts/_rels/chart83.xml.rels><?xml version='1.0' encoding='UTF-8' standalone='yes'?>
<Relationships xmlns="http://schemas.openxmlformats.org/package/2006/relationships"><Relationship Id="rId1" Type="http://schemas.microsoft.com/office/2011/relationships/chartStyle" Target="style82.xml"/><Relationship Id="rId2" Type="http://schemas.microsoft.com/office/2011/relationships/chartColorStyle" Target="colors82.xml"/><Relationship Id="rId3" Type="http://schemas.openxmlformats.org/officeDocument/2006/relationships/package" Target="../embeddings/Microsoft_Excel_Worksheet_2D7F_BBD9EA0770.xlsx"/></Relationships>
</file>

<file path=ppt/charts/_rels/chart84.xml.rels><?xml version='1.0' encoding='UTF-8' standalone='yes'?>
<Relationships xmlns="http://schemas.openxmlformats.org/package/2006/relationships"><Relationship Id="rId1" Type="http://schemas.microsoft.com/office/2011/relationships/chartStyle" Target="style83.xml"/><Relationship Id="rId2" Type="http://schemas.microsoft.com/office/2011/relationships/chartColorStyle" Target="colors83.xml"/><Relationship Id="rId3" Type="http://schemas.openxmlformats.org/officeDocument/2006/relationships/package" Target="../embeddings/Microsoft_Excel_Worksheet_2E37_5D7445CC.xlsx"/></Relationships>
</file>

<file path=ppt/charts/_rels/chart85.xml.rels><?xml version='1.0' encoding='UTF-8' standalone='yes'?>
<Relationships xmlns="http://schemas.openxmlformats.org/package/2006/relationships"><Relationship Id="rId1" Type="http://schemas.microsoft.com/office/2011/relationships/chartStyle" Target="style84.xml"/><Relationship Id="rId2" Type="http://schemas.microsoft.com/office/2011/relationships/chartColorStyle" Target="colors84.xml"/><Relationship Id="rId3" Type="http://schemas.openxmlformats.org/officeDocument/2006/relationships/package" Target="../embeddings/Microsoft_Excel_Worksheet_2E37_5D7445CC71.xlsx"/></Relationships>
</file>

<file path=ppt/charts/_rels/chart86.xml.rels><?xml version='1.0' encoding='UTF-8' standalone='yes'?>
<Relationships xmlns="http://schemas.openxmlformats.org/package/2006/relationships"><Relationship Id="rId1" Type="http://schemas.microsoft.com/office/2011/relationships/chartStyle" Target="style85.xml"/><Relationship Id="rId2" Type="http://schemas.microsoft.com/office/2011/relationships/chartColorStyle" Target="colors85.xml"/><Relationship Id="rId3" Type="http://schemas.openxmlformats.org/officeDocument/2006/relationships/package" Target="../embeddings/Microsoft_Excel_Worksheet_2E37_5D7445CC72.xlsx"/></Relationships>
</file>

<file path=ppt/charts/_rels/chart87.xml.rels><?xml version='1.0' encoding='UTF-8' standalone='yes'?>
<Relationships xmlns="http://schemas.openxmlformats.org/package/2006/relationships"><Relationship Id="rId1" Type="http://schemas.microsoft.com/office/2011/relationships/chartStyle" Target="style86.xml"/><Relationship Id="rId2" Type="http://schemas.microsoft.com/office/2011/relationships/chartColorStyle" Target="colors86.xml"/><Relationship Id="rId3" Type="http://schemas.openxmlformats.org/officeDocument/2006/relationships/package" Target="../embeddings/Microsoft_Excel_Worksheet_2E36_82040EBB.xlsx"/></Relationships>
</file>

<file path=ppt/charts/_rels/chart88.xml.rels><?xml version='1.0' encoding='UTF-8' standalone='yes'?>
<Relationships xmlns="http://schemas.openxmlformats.org/package/2006/relationships"><Relationship Id="rId1" Type="http://schemas.microsoft.com/office/2011/relationships/chartStyle" Target="style87.xml"/><Relationship Id="rId2" Type="http://schemas.microsoft.com/office/2011/relationships/chartColorStyle" Target="colors87.xml"/><Relationship Id="rId3" Type="http://schemas.openxmlformats.org/officeDocument/2006/relationships/package" Target="../embeddings/Microsoft_Excel_Worksheet_2E36_82040EBB73.xlsx"/></Relationships>
</file>

<file path=ppt/charts/_rels/chart89.xml.rels><?xml version='1.0' encoding='UTF-8' standalone='yes'?>
<Relationships xmlns="http://schemas.openxmlformats.org/package/2006/relationships"><Relationship Id="rId1" Type="http://schemas.microsoft.com/office/2011/relationships/chartStyle" Target="style88.xml"/><Relationship Id="rId2" Type="http://schemas.microsoft.com/office/2011/relationships/chartColorStyle" Target="colors88.xml"/><Relationship Id="rId3" Type="http://schemas.openxmlformats.org/officeDocument/2006/relationships/package" Target="../embeddings/Microsoft_Excel_Worksheet_2E36_82040EBB74.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Worksheet_2E50_8D8C4C2A.xlsx"/></Relationships>
</file>

<file path=ppt/charts/_rels/chart91.xml.rels><?xml version='1.0' encoding='UTF-8' standalone='yes'?>
<Relationships xmlns="http://schemas.openxmlformats.org/package/2006/relationships"><Relationship Id="rId1" Type="http://schemas.microsoft.com/office/2011/relationships/chartStyle" Target="style89.xml"/><Relationship Id="rId2" Type="http://schemas.microsoft.com/office/2011/relationships/chartColorStyle" Target="colors89.xml"/><Relationship Id="rId3" Type="http://schemas.openxmlformats.org/officeDocument/2006/relationships/package" Target="../embeddings/Microsoft_Excel_Worksheet_2E50_8D8C4C2A75.xlsx"/></Relationships>
</file>

<file path=ppt/charts/_rels/chart92.xml.rels><?xml version='1.0' encoding='UTF-8' standalone='yes'?>
<Relationships xmlns="http://schemas.openxmlformats.org/package/2006/relationships"><Relationship Id="rId1" Type="http://schemas.microsoft.com/office/2011/relationships/chartStyle" Target="style90.xml"/><Relationship Id="rId2" Type="http://schemas.microsoft.com/office/2011/relationships/chartColorStyle" Target="colors90.xml"/><Relationship Id="rId3" Type="http://schemas.openxmlformats.org/officeDocument/2006/relationships/package" Target="../embeddings/Microsoft_Excel_Worksheet_2E50_8D8C4C2A76.xlsx"/></Relationships>
</file>

<file path=ppt/charts/_rels/chart93.xml.rels><?xml version='1.0' encoding='UTF-8' standalone='yes'?>
<Relationships xmlns="http://schemas.openxmlformats.org/package/2006/relationships"><Relationship Id="rId1" Type="http://schemas.microsoft.com/office/2011/relationships/chartStyle" Target="style91.xml"/><Relationship Id="rId2" Type="http://schemas.microsoft.com/office/2011/relationships/chartColorStyle" Target="colors91.xml"/><Relationship Id="rId3" Type="http://schemas.openxmlformats.org/officeDocument/2006/relationships/package" Target="../embeddings/Microsoft_Excel_Worksheet_2E50_8D8C4C2A77.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Worksheet_2E51_A562DFF.xlsx"/></Relationships>
</file>

<file path=ppt/charts/_rels/chart95.xml.rels><?xml version='1.0' encoding='UTF-8' standalone='yes'?>
<Relationships xmlns="http://schemas.openxmlformats.org/package/2006/relationships"><Relationship Id="rId1" Type="http://schemas.microsoft.com/office/2011/relationships/chartStyle" Target="style92.xml"/><Relationship Id="rId2" Type="http://schemas.microsoft.com/office/2011/relationships/chartColorStyle" Target="colors92.xml"/><Relationship Id="rId3" Type="http://schemas.openxmlformats.org/officeDocument/2006/relationships/package" Target="../embeddings/Microsoft_Excel_Worksheet_2E51_A562DFF78.xlsx"/></Relationships>
</file>

<file path=ppt/charts/_rels/chart96.xml.rels><?xml version='1.0' encoding='UTF-8' standalone='yes'?>
<Relationships xmlns="http://schemas.openxmlformats.org/package/2006/relationships"><Relationship Id="rId1" Type="http://schemas.microsoft.com/office/2011/relationships/chartStyle" Target="style93.xml"/><Relationship Id="rId2" Type="http://schemas.microsoft.com/office/2011/relationships/chartColorStyle" Target="colors93.xml"/><Relationship Id="rId3" Type="http://schemas.openxmlformats.org/officeDocument/2006/relationships/package" Target="../embeddings/Microsoft_Excel_Worksheet_2E51_A562DFF79.xlsx"/></Relationships>
</file>

<file path=ppt/charts/_rels/chart97.xml.rels><?xml version='1.0' encoding='UTF-8' standalone='yes'?>
<Relationships xmlns="http://schemas.openxmlformats.org/package/2006/relationships"><Relationship Id="rId1" Type="http://schemas.microsoft.com/office/2011/relationships/chartStyle" Target="style94.xml"/><Relationship Id="rId2" Type="http://schemas.microsoft.com/office/2011/relationships/chartColorStyle" Target="colors94.xml"/><Relationship Id="rId3" Type="http://schemas.openxmlformats.org/officeDocument/2006/relationships/package" Target="../embeddings/Microsoft_Excel_Worksheet_2E51_A562DFF80.xlsx"/></Relationships>
</file>

<file path=ppt/charts/_rels/chart98.xml.rels><?xml version='1.0' encoding='UTF-8' standalone='yes'?>
<Relationships xmlns="http://schemas.openxmlformats.org/package/2006/relationships"><Relationship Id="rId1" Type="http://schemas.microsoft.com/office/2011/relationships/chartStyle" Target="style95.xml"/><Relationship Id="rId2" Type="http://schemas.microsoft.com/office/2011/relationships/chartColorStyle" Target="colors95.xml"/><Relationship Id="rId3" Type="http://schemas.openxmlformats.org/officeDocument/2006/relationships/package" Target="../embeddings/Microsoft_Excel_Worksheet_2E91_FD2E70B5.xlsx"/></Relationships>
</file>

<file path=ppt/charts/_rels/chart99.xml.rels><?xml version='1.0' encoding='UTF-8' standalone='yes'?>
<Relationships xmlns="http://schemas.openxmlformats.org/package/2006/relationships"><Relationship Id="rId1" Type="http://schemas.microsoft.com/office/2011/relationships/chartStyle" Target="style96.xml"/><Relationship Id="rId2" Type="http://schemas.microsoft.com/office/2011/relationships/chartColorStyle" Target="colors96.xml"/><Relationship Id="rId3" Type="http://schemas.openxmlformats.org/officeDocument/2006/relationships/package" Target="../embeddings/Microsoft_Excel_Worksheet_2E91_FD2E70B581.xlsx"/></Relationships>
</file>

<file path=ppt/charts/_rels/chart100.xml.rels><?xml version='1.0' encoding='UTF-8' standalone='yes'?>
<Relationships xmlns="http://schemas.openxmlformats.org/package/2006/relationships"><Relationship Id="rId1" Type="http://schemas.microsoft.com/office/2011/relationships/chartStyle" Target="style97.xml"/><Relationship Id="rId2" Type="http://schemas.microsoft.com/office/2011/relationships/chartColorStyle" Target="colors97.xml"/><Relationship Id="rId3" Type="http://schemas.openxmlformats.org/officeDocument/2006/relationships/package" Target="../embeddings/Microsoft_Excel_Worksheet_2E91_FD2E70B582.xlsx"/></Relationships>
</file>

<file path=ppt/charts/_rels/chart101.xml.rels><?xml version='1.0' encoding='UTF-8' standalone='yes'?>
<Relationships xmlns="http://schemas.openxmlformats.org/package/2006/relationships"><Relationship Id="rId1" Type="http://schemas.microsoft.com/office/2011/relationships/chartStyle" Target="style98.xml"/><Relationship Id="rId2" Type="http://schemas.microsoft.com/office/2011/relationships/chartColorStyle" Target="colors98.xml"/><Relationship Id="rId3" Type="http://schemas.openxmlformats.org/officeDocument/2006/relationships/package" Target="../embeddings/Microsoft_Excel_Worksheet_2E91_FD2E70B583.xlsx"/></Relationships>
</file>

<file path=ppt/charts/_rels/chart102.xml.rels><?xml version='1.0' encoding='UTF-8' standalone='yes'?>
<Relationships xmlns="http://schemas.openxmlformats.org/package/2006/relationships"><Relationship Id="rId1" Type="http://schemas.microsoft.com/office/2011/relationships/chartStyle" Target="style99.xml"/><Relationship Id="rId2" Type="http://schemas.microsoft.com/office/2011/relationships/chartColorStyle" Target="colors99.xml"/><Relationship Id="rId3" Type="http://schemas.openxmlformats.org/officeDocument/2006/relationships/package" Target="../embeddings/Microsoft_Excel_Worksheet_2E91_FD2E70B584.xlsx"/></Relationships>
</file>

<file path=ppt/charts/_rels/chart103.xml.rels><?xml version='1.0' encoding='UTF-8' standalone='yes'?>
<Relationships xmlns="http://schemas.openxmlformats.org/package/2006/relationships"><Relationship Id="rId1" Type="http://schemas.microsoft.com/office/2011/relationships/chartStyle" Target="style100.xml"/><Relationship Id="rId2" Type="http://schemas.microsoft.com/office/2011/relationships/chartColorStyle" Target="colors100.xml"/><Relationship Id="rId3" Type="http://schemas.openxmlformats.org/officeDocument/2006/relationships/package" Target="../embeddings/Microsoft_Excel_Worksheet_2E91_FD2E70B585.xlsx"/></Relationships>
</file>

<file path=ppt/charts/_rels/chart104.xml.rels><?xml version='1.0' encoding='UTF-8' standalone='yes'?>
<Relationships xmlns="http://schemas.openxmlformats.org/package/2006/relationships"><Relationship Id="rId1" Type="http://schemas.microsoft.com/office/2011/relationships/chartStyle" Target="style101.xml"/><Relationship Id="rId2" Type="http://schemas.microsoft.com/office/2011/relationships/chartColorStyle" Target="colors101.xml"/><Relationship Id="rId3" Type="http://schemas.openxmlformats.org/officeDocument/2006/relationships/package" Target="../embeddings/Microsoft_Excel_Worksheet_2E91_FD2E70B586.xlsx"/></Relationships>
</file>

<file path=ppt/charts/_rels/chart105.xml.rels><?xml version='1.0' encoding='UTF-8' standalone='yes'?>
<Relationships xmlns="http://schemas.openxmlformats.org/package/2006/relationships"><Relationship Id="rId1" Type="http://schemas.microsoft.com/office/2011/relationships/chartStyle" Target="style102.xml"/><Relationship Id="rId2" Type="http://schemas.microsoft.com/office/2011/relationships/chartColorStyle" Target="colors102.xml"/><Relationship Id="rId3" Type="http://schemas.openxmlformats.org/officeDocument/2006/relationships/package" Target="../embeddings/Microsoft_Excel_Worksheet_2E91_FD2E70B587.xlsx"/></Relationships>
</file>

<file path=ppt/charts/_rels/chart106.xml.rels><?xml version='1.0' encoding='UTF-8' standalone='yes'?>
<Relationships xmlns="http://schemas.openxmlformats.org/package/2006/relationships"><Relationship Id="rId1" Type="http://schemas.microsoft.com/office/2011/relationships/chartStyle" Target="style103.xml"/><Relationship Id="rId2" Type="http://schemas.microsoft.com/office/2011/relationships/chartColorStyle" Target="colors103.xml"/><Relationship Id="rId3" Type="http://schemas.openxmlformats.org/officeDocument/2006/relationships/package" Target="../embeddings/Microsoft_Excel_Worksheet_2E91_FD2E70B588.xlsx"/></Relationships>
</file>

<file path=ppt/charts/_rels/chart107.xml.rels><?xml version='1.0' encoding='UTF-8' standalone='yes'?>
<Relationships xmlns="http://schemas.openxmlformats.org/package/2006/relationships"><Relationship Id="rId1" Type="http://schemas.microsoft.com/office/2011/relationships/chartStyle" Target="style104.xml"/><Relationship Id="rId2" Type="http://schemas.microsoft.com/office/2011/relationships/chartColorStyle" Target="colors104.xml"/><Relationship Id="rId3" Type="http://schemas.openxmlformats.org/officeDocument/2006/relationships/package" Target="../embeddings/Microsoft_Excel_Worksheet_2E91_FD2E70B589.xlsx"/></Relationships>
</file>

<file path=ppt/charts/_rels/chart108.xml.rels><?xml version='1.0' encoding='UTF-8' standalone='yes'?>
<Relationships xmlns="http://schemas.openxmlformats.org/package/2006/relationships"><Relationship Id="rId1" Type="http://schemas.microsoft.com/office/2011/relationships/chartStyle" Target="style105.xml"/><Relationship Id="rId2" Type="http://schemas.microsoft.com/office/2011/relationships/chartColorStyle" Target="colors105.xml"/><Relationship Id="rId3" Type="http://schemas.openxmlformats.org/officeDocument/2006/relationships/package" Target="../embeddings/Microsoft_Excel_Worksheet_2E91_FD2E70B590.xlsx"/></Relationships>
</file>

<file path=ppt/charts/_rels/chart109.xml.rels><?xml version='1.0' encoding='UTF-8' standalone='yes'?>
<Relationships xmlns="http://schemas.openxmlformats.org/package/2006/relationships"><Relationship Id="rId1" Type="http://schemas.microsoft.com/office/2011/relationships/chartStyle" Target="style106.xml"/><Relationship Id="rId2" Type="http://schemas.microsoft.com/office/2011/relationships/chartColorStyle" Target="colors106.xml"/><Relationship Id="rId3" Type="http://schemas.openxmlformats.org/officeDocument/2006/relationships/package" Target="../embeddings/Microsoft_Excel_Worksheet_2E91_FD2E70B591.xlsx"/></Relationships>
</file>

<file path=ppt/charts/_rels/chart110.xml.rels><?xml version='1.0' encoding='UTF-8' standalone='yes'?>
<Relationships xmlns="http://schemas.openxmlformats.org/package/2006/relationships"><Relationship Id="rId1" Type="http://schemas.microsoft.com/office/2011/relationships/chartStyle" Target="style107.xml"/><Relationship Id="rId2" Type="http://schemas.microsoft.com/office/2011/relationships/chartColorStyle" Target="colors107.xml"/><Relationship Id="rId3" Type="http://schemas.openxmlformats.org/officeDocument/2006/relationships/package" Target="../embeddings/Microsoft_Excel_Worksheet_2E91_FD2E70B592.xlsx"/></Relationships>
</file>

<file path=ppt/charts/_rels/chart111.xml.rels><?xml version='1.0' encoding='UTF-8' standalone='yes'?>
<Relationships xmlns="http://schemas.openxmlformats.org/package/2006/relationships"><Relationship Id="rId1" Type="http://schemas.microsoft.com/office/2011/relationships/chartStyle" Target="style108.xml"/><Relationship Id="rId2" Type="http://schemas.microsoft.com/office/2011/relationships/chartColorStyle" Target="colors108.xml"/><Relationship Id="rId3" Type="http://schemas.openxmlformats.org/officeDocument/2006/relationships/package" Target="../embeddings/Microsoft_Excel_Worksheet_2ED5_DDE6CFA9.xlsx"/></Relationships>
</file>

<file path=ppt/charts/_rels/chart112.xml.rels><?xml version='1.0' encoding='UTF-8' standalone='yes'?>
<Relationships xmlns="http://schemas.openxmlformats.org/package/2006/relationships"><Relationship Id="rId1" Type="http://schemas.microsoft.com/office/2011/relationships/chartStyle" Target="style109.xml"/><Relationship Id="rId2" Type="http://schemas.microsoft.com/office/2011/relationships/chartColorStyle" Target="colors109.xml"/><Relationship Id="rId3" Type="http://schemas.openxmlformats.org/officeDocument/2006/relationships/package" Target="../embeddings/Microsoft_Excel_Worksheet_2ED5_DDE6CFA993.xlsx"/></Relationships>
</file>

<file path=ppt/charts/_rels/chart113.xml.rels><?xml version='1.0' encoding='UTF-8' standalone='yes'?>
<Relationships xmlns="http://schemas.openxmlformats.org/package/2006/relationships"><Relationship Id="rId1" Type="http://schemas.microsoft.com/office/2011/relationships/chartStyle" Target="style110.xml"/><Relationship Id="rId2" Type="http://schemas.microsoft.com/office/2011/relationships/chartColorStyle" Target="colors110.xml"/><Relationship Id="rId3" Type="http://schemas.openxmlformats.org/officeDocument/2006/relationships/package" Target="../embeddings/Microsoft_Excel_Worksheet_2ED5_DDE6CFA994.xlsx"/></Relationships>
</file>

<file path=ppt/charts/_rels/chart114.xml.rels><?xml version='1.0' encoding='UTF-8' standalone='yes'?>
<Relationships xmlns="http://schemas.openxmlformats.org/package/2006/relationships"><Relationship Id="rId1" Type="http://schemas.microsoft.com/office/2011/relationships/chartStyle" Target="style111.xml"/><Relationship Id="rId2" Type="http://schemas.microsoft.com/office/2011/relationships/chartColorStyle" Target="colors111.xml"/><Relationship Id="rId3" Type="http://schemas.openxmlformats.org/officeDocument/2006/relationships/package" Target="../embeddings/Microsoft_Excel_Worksheet_2ED5_DDE6CFA995.xlsx"/></Relationships>
</file>

<file path=ppt/charts/_rels/chart115.xml.rels><?xml version='1.0' encoding='UTF-8' standalone='yes'?>
<Relationships xmlns="http://schemas.openxmlformats.org/package/2006/relationships"><Relationship Id="rId1" Type="http://schemas.microsoft.com/office/2011/relationships/chartStyle" Target="style112.xml"/><Relationship Id="rId2" Type="http://schemas.microsoft.com/office/2011/relationships/chartColorStyle" Target="colors112.xml"/><Relationship Id="rId3" Type="http://schemas.openxmlformats.org/officeDocument/2006/relationships/package" Target="../embeddings/Microsoft_Excel_Worksheet_2ED5_DDE6CFA996.xlsx"/></Relationships>
</file>

<file path=ppt/charts/_rels/chart116.xml.rels><?xml version='1.0' encoding='UTF-8' standalone='yes'?>
<Relationships xmlns="http://schemas.openxmlformats.org/package/2006/relationships"><Relationship Id="rId1" Type="http://schemas.microsoft.com/office/2011/relationships/chartStyle" Target="style113.xml"/><Relationship Id="rId2" Type="http://schemas.microsoft.com/office/2011/relationships/chartColorStyle" Target="colors113.xml"/><Relationship Id="rId3" Type="http://schemas.openxmlformats.org/officeDocument/2006/relationships/package" Target="../embeddings/Microsoft_Excel_Worksheet_2ED5_DDE6CFA997.xlsx"/></Relationships>
</file>

<file path=ppt/charts/_rels/chart117.xml.rels><?xml version='1.0' encoding='UTF-8' standalone='yes'?>
<Relationships xmlns="http://schemas.openxmlformats.org/package/2006/relationships"><Relationship Id="rId1" Type="http://schemas.microsoft.com/office/2011/relationships/chartStyle" Target="style114.xml"/><Relationship Id="rId2" Type="http://schemas.microsoft.com/office/2011/relationships/chartColorStyle" Target="colors114.xml"/><Relationship Id="rId3" Type="http://schemas.openxmlformats.org/officeDocument/2006/relationships/package" Target="../embeddings/Microsoft_Excel_Worksheet_2ED5_DDE6CFA998.xlsx"/></Relationships>
</file>

<file path=ppt/charts/_rels/chart118.xml.rels><?xml version='1.0' encoding='UTF-8' standalone='yes'?>
<Relationships xmlns="http://schemas.openxmlformats.org/package/2006/relationships"><Relationship Id="rId1" Type="http://schemas.microsoft.com/office/2011/relationships/chartStyle" Target="style115.xml"/><Relationship Id="rId2" Type="http://schemas.microsoft.com/office/2011/relationships/chartColorStyle" Target="colors115.xml"/><Relationship Id="rId3" Type="http://schemas.openxmlformats.org/officeDocument/2006/relationships/package" Target="../embeddings/Microsoft_Excel_Worksheet_2ED5_DDE6CFA999.xlsx"/></Relationships>
</file>

<file path=ppt/charts/_rels/chart119.xml.rels><?xml version='1.0' encoding='UTF-8' standalone='yes'?>
<Relationships xmlns="http://schemas.openxmlformats.org/package/2006/relationships"><Relationship Id="rId1" Type="http://schemas.microsoft.com/office/2011/relationships/chartStyle" Target="style116.xml"/><Relationship Id="rId2" Type="http://schemas.microsoft.com/office/2011/relationships/chartColorStyle" Target="colors116.xml"/><Relationship Id="rId3" Type="http://schemas.openxmlformats.org/officeDocument/2006/relationships/package" Target="../embeddings/Microsoft_Excel_Worksheet_2ED5_DDE6CFA9100.xlsx"/></Relationships>
</file>

<file path=ppt/charts/_rels/chart120.xml.rels><?xml version='1.0' encoding='UTF-8' standalone='yes'?>
<Relationships xmlns="http://schemas.openxmlformats.org/package/2006/relationships"><Relationship Id="rId1" Type="http://schemas.microsoft.com/office/2011/relationships/chartStyle" Target="style117.xml"/><Relationship Id="rId2" Type="http://schemas.microsoft.com/office/2011/relationships/chartColorStyle" Target="colors117.xml"/><Relationship Id="rId3" Type="http://schemas.openxmlformats.org/officeDocument/2006/relationships/package" Target="../embeddings/Microsoft_Excel_Worksheet_2ED5_DDE6CFA9101.xlsx"/></Relationships>
</file>

<file path=ppt/charts/_rels/chart121.xml.rels><?xml version='1.0' encoding='UTF-8' standalone='yes'?>
<Relationships xmlns="http://schemas.openxmlformats.org/package/2006/relationships"><Relationship Id="rId1" Type="http://schemas.microsoft.com/office/2011/relationships/chartStyle" Target="style118.xml"/><Relationship Id="rId2" Type="http://schemas.microsoft.com/office/2011/relationships/chartColorStyle" Target="colors118.xml"/><Relationship Id="rId3" Type="http://schemas.openxmlformats.org/officeDocument/2006/relationships/package" Target="../embeddings/Microsoft_Excel_Worksheet_2ED5_DDE6CFA9102.xlsx"/></Relationships>
</file>

<file path=ppt/charts/_rels/chart122.xml.rels><?xml version='1.0' encoding='UTF-8' standalone='yes'?>
<Relationships xmlns="http://schemas.openxmlformats.org/package/2006/relationships"><Relationship Id="rId1" Type="http://schemas.microsoft.com/office/2011/relationships/chartStyle" Target="style119.xml"/><Relationship Id="rId2" Type="http://schemas.microsoft.com/office/2011/relationships/chartColorStyle" Target="colors119.xml"/><Relationship Id="rId3" Type="http://schemas.openxmlformats.org/officeDocument/2006/relationships/package" Target="../embeddings/Microsoft_Excel_Worksheet_2ED5_DDE6CFA9103.xlsx"/></Relationships>
</file>

<file path=ppt/charts/_rels/chart123.xml.rels><?xml version='1.0' encoding='UTF-8' standalone='yes'?>
<Relationships xmlns="http://schemas.openxmlformats.org/package/2006/relationships"><Relationship Id="rId1" Type="http://schemas.microsoft.com/office/2011/relationships/chartStyle" Target="style120.xml"/><Relationship Id="rId2" Type="http://schemas.microsoft.com/office/2011/relationships/chartColorStyle" Target="colors120.xml"/><Relationship Id="rId3" Type="http://schemas.openxmlformats.org/officeDocument/2006/relationships/package" Target="../embeddings/Microsoft_Excel_Worksheet_2ED5_DDE6CFA9104.xlsx"/></Relationships>
</file>

<file path=ppt/charts/_rels/chart124.xml.rels><?xml version='1.0' encoding='UTF-8' standalone='yes'?>
<Relationships xmlns="http://schemas.openxmlformats.org/package/2006/relationships"><Relationship Id="rId1" Type="http://schemas.microsoft.com/office/2011/relationships/chartStyle" Target="style121.xml"/><Relationship Id="rId2" Type="http://schemas.microsoft.com/office/2011/relationships/chartColorStyle" Target="colors121.xml"/><Relationship Id="rId3" Type="http://schemas.openxmlformats.org/officeDocument/2006/relationships/package" Target="../embeddings/Microsoft_Excel_Worksheet_2ED5_DDE6CFA9105.xlsx"/></Relationships>
</file>

<file path=ppt/charts/_rels/chart125.xml.rels><?xml version='1.0' encoding='UTF-8' standalone='yes'?>
<Relationships xmlns="http://schemas.openxmlformats.org/package/2006/relationships"><Relationship Id="rId1" Type="http://schemas.microsoft.com/office/2011/relationships/chartStyle" Target="style122.xml"/><Relationship Id="rId2" Type="http://schemas.microsoft.com/office/2011/relationships/chartColorStyle" Target="colors122.xml"/><Relationship Id="rId3" Type="http://schemas.openxmlformats.org/officeDocument/2006/relationships/package" Target="../embeddings/Microsoft_Excel_Worksheet_2ED1_9E7D5B5B.xlsx"/></Relationships>
</file>

<file path=ppt/charts/_rels/chart126.xml.rels><?xml version='1.0' encoding='UTF-8' standalone='yes'?>
<Relationships xmlns="http://schemas.openxmlformats.org/package/2006/relationships"><Relationship Id="rId1" Type="http://schemas.microsoft.com/office/2011/relationships/chartStyle" Target="style123.xml"/><Relationship Id="rId2" Type="http://schemas.microsoft.com/office/2011/relationships/chartColorStyle" Target="colors123.xml"/><Relationship Id="rId3" Type="http://schemas.openxmlformats.org/officeDocument/2006/relationships/package" Target="../embeddings/Microsoft_Excel_Worksheet_2ED1_9E7D5B5B106.xlsx"/></Relationships>
</file>

<file path=ppt/charts/_rels/chart127.xml.rels><?xml version='1.0' encoding='UTF-8' standalone='yes'?>
<Relationships xmlns="http://schemas.openxmlformats.org/package/2006/relationships"><Relationship Id="rId1" Type="http://schemas.microsoft.com/office/2011/relationships/chartStyle" Target="style124.xml"/><Relationship Id="rId2" Type="http://schemas.microsoft.com/office/2011/relationships/chartColorStyle" Target="colors124.xml"/><Relationship Id="rId3" Type="http://schemas.openxmlformats.org/officeDocument/2006/relationships/package" Target="../embeddings/Microsoft_Excel_Worksheet_2ED1_9E7D5B5B107.xlsx"/></Relationships>
</file>

<file path=ppt/charts/_rels/chart128.xml.rels><?xml version='1.0' encoding='UTF-8' standalone='yes'?>
<Relationships xmlns="http://schemas.openxmlformats.org/package/2006/relationships"><Relationship Id="rId1" Type="http://schemas.microsoft.com/office/2011/relationships/chartStyle" Target="style125.xml"/><Relationship Id="rId2" Type="http://schemas.microsoft.com/office/2011/relationships/chartColorStyle" Target="colors125.xml"/><Relationship Id="rId3" Type="http://schemas.openxmlformats.org/officeDocument/2006/relationships/package" Target="../embeddings/Microsoft_Excel_Worksheet_2ED1_9E7D5B5B108.xlsx"/></Relationships>
</file>

<file path=ppt/charts/_rels/chart129.xml.rels><?xml version='1.0' encoding='UTF-8' standalone='yes'?>
<Relationships xmlns="http://schemas.openxmlformats.org/package/2006/relationships"><Relationship Id="rId1" Type="http://schemas.microsoft.com/office/2011/relationships/chartStyle" Target="style126.xml"/><Relationship Id="rId2" Type="http://schemas.microsoft.com/office/2011/relationships/chartColorStyle" Target="colors126.xml"/><Relationship Id="rId3" Type="http://schemas.openxmlformats.org/officeDocument/2006/relationships/package" Target="../embeddings/Microsoft_Excel_Worksheet_2ED1_9E7D5B5B109.xlsx"/></Relationships>
</file>

<file path=ppt/charts/_rels/chart130.xml.rels><?xml version='1.0' encoding='UTF-8' standalone='yes'?>
<Relationships xmlns="http://schemas.openxmlformats.org/package/2006/relationships"><Relationship Id="rId1" Type="http://schemas.microsoft.com/office/2011/relationships/chartStyle" Target="style127.xml"/><Relationship Id="rId2" Type="http://schemas.microsoft.com/office/2011/relationships/chartColorStyle" Target="colors127.xml"/><Relationship Id="rId3" Type="http://schemas.openxmlformats.org/officeDocument/2006/relationships/package" Target="../embeddings/Microsoft_Excel_Worksheet_2ED1_9E7D5B5B110.xlsx"/></Relationships>
</file>

<file path=ppt/charts/_rels/chart131.xml.rels><?xml version='1.0' encoding='UTF-8' standalone='yes'?>
<Relationships xmlns="http://schemas.openxmlformats.org/package/2006/relationships"><Relationship Id="rId1" Type="http://schemas.microsoft.com/office/2011/relationships/chartStyle" Target="style128.xml"/><Relationship Id="rId2" Type="http://schemas.microsoft.com/office/2011/relationships/chartColorStyle" Target="colors128.xml"/><Relationship Id="rId3" Type="http://schemas.openxmlformats.org/officeDocument/2006/relationships/package" Target="../embeddings/Microsoft_Excel_Worksheet_2ED1_9E7D5B5B111.xlsx"/></Relationships>
</file>

<file path=ppt/charts/_rels/chart132.xml.rels><?xml version='1.0' encoding='UTF-8' standalone='yes'?>
<Relationships xmlns="http://schemas.openxmlformats.org/package/2006/relationships"><Relationship Id="rId1" Type="http://schemas.microsoft.com/office/2011/relationships/chartStyle" Target="style129.xml"/><Relationship Id="rId2" Type="http://schemas.microsoft.com/office/2011/relationships/chartColorStyle" Target="colors129.xml"/><Relationship Id="rId3" Type="http://schemas.openxmlformats.org/officeDocument/2006/relationships/package" Target="../embeddings/Microsoft_Excel_Worksheet_2ED1_9E7D5B5B112.xlsx"/></Relationships>
</file>

<file path=ppt/charts/_rels/chart133.xml.rels><?xml version='1.0' encoding='UTF-8' standalone='yes'?>
<Relationships xmlns="http://schemas.openxmlformats.org/package/2006/relationships"><Relationship Id="rId1" Type="http://schemas.microsoft.com/office/2011/relationships/chartStyle" Target="style130.xml"/><Relationship Id="rId2" Type="http://schemas.microsoft.com/office/2011/relationships/chartColorStyle" Target="colors130.xml"/><Relationship Id="rId3" Type="http://schemas.openxmlformats.org/officeDocument/2006/relationships/package" Target="../embeddings/Microsoft_Excel_Worksheet_2ED1_9E7D5B5B113.xlsx"/></Relationships>
</file>

<file path=ppt/charts/_rels/chart134.xml.rels><?xml version='1.0' encoding='UTF-8' standalone='yes'?>
<Relationships xmlns="http://schemas.openxmlformats.org/package/2006/relationships"><Relationship Id="rId1" Type="http://schemas.microsoft.com/office/2011/relationships/chartStyle" Target="style131.xml"/><Relationship Id="rId2" Type="http://schemas.microsoft.com/office/2011/relationships/chartColorStyle" Target="colors131.xml"/><Relationship Id="rId3" Type="http://schemas.openxmlformats.org/officeDocument/2006/relationships/package" Target="../embeddings/Microsoft_Excel_Worksheet_2ED1_9E7D5B5B114.xlsx"/></Relationships>
</file>

<file path=ppt/charts/_rels/chart135.xml.rels><?xml version='1.0' encoding='UTF-8' standalone='yes'?>
<Relationships xmlns="http://schemas.openxmlformats.org/package/2006/relationships"><Relationship Id="rId1" Type="http://schemas.microsoft.com/office/2011/relationships/chartStyle" Target="style132.xml"/><Relationship Id="rId2" Type="http://schemas.microsoft.com/office/2011/relationships/chartColorStyle" Target="colors132.xml"/><Relationship Id="rId3" Type="http://schemas.openxmlformats.org/officeDocument/2006/relationships/package" Target="../embeddings/Microsoft_Excel_Worksheet_2ED1_9E7D5B5B115.xlsx"/></Relationships>
</file>

<file path=ppt/charts/_rels/chart136.xml.rels><?xml version='1.0' encoding='UTF-8' standalone='yes'?>
<Relationships xmlns="http://schemas.openxmlformats.org/package/2006/relationships"><Relationship Id="rId1" Type="http://schemas.microsoft.com/office/2011/relationships/chartStyle" Target="style133.xml"/><Relationship Id="rId2" Type="http://schemas.microsoft.com/office/2011/relationships/chartColorStyle" Target="colors133.xml"/><Relationship Id="rId3" Type="http://schemas.openxmlformats.org/officeDocument/2006/relationships/package" Target="../embeddings/Microsoft_Excel_Worksheet_2ED1_9E7D5B5B116.xlsx"/></Relationships>
</file>

<file path=ppt/charts/_rels/chart137.xml.rels><?xml version='1.0' encoding='UTF-8' standalone='yes'?>
<Relationships xmlns="http://schemas.openxmlformats.org/package/2006/relationships"><Relationship Id="rId1" Type="http://schemas.microsoft.com/office/2011/relationships/chartStyle" Target="style134.xml"/><Relationship Id="rId2" Type="http://schemas.microsoft.com/office/2011/relationships/chartColorStyle" Target="colors134.xml"/><Relationship Id="rId3" Type="http://schemas.openxmlformats.org/officeDocument/2006/relationships/package" Target="../embeddings/Microsoft_Excel_Worksheet_2ED1_9E7D5B5B117.xlsx"/></Relationships>
</file>

<file path=ppt/charts/_rels/chart138.xml.rels><?xml version='1.0' encoding='UTF-8' standalone='yes'?>
<Relationships xmlns="http://schemas.openxmlformats.org/package/2006/relationships"><Relationship Id="rId1" Type="http://schemas.microsoft.com/office/2011/relationships/chartStyle" Target="style135.xml"/><Relationship Id="rId2" Type="http://schemas.microsoft.com/office/2011/relationships/chartColorStyle" Target="colors135.xml"/><Relationship Id="rId3" Type="http://schemas.openxmlformats.org/officeDocument/2006/relationships/package" Target="../embeddings/Microsoft_Excel_Worksheet_2D93_1624E8E3.xlsx"/></Relationships>
</file>

<file path=ppt/charts/_rels/chart139.xml.rels><?xml version='1.0' encoding='UTF-8' standalone='yes'?>
<Relationships xmlns="http://schemas.openxmlformats.org/package/2006/relationships"><Relationship Id="rId1" Type="http://schemas.microsoft.com/office/2011/relationships/chartStyle" Target="style136.xml"/><Relationship Id="rId2" Type="http://schemas.microsoft.com/office/2011/relationships/chartColorStyle" Target="colors136.xml"/><Relationship Id="rId3" Type="http://schemas.openxmlformats.org/officeDocument/2006/relationships/package" Target="../embeddings/Microsoft_Excel_Worksheet_2D93_1624E8E3118.xlsx"/></Relationships>
</file>

<file path=ppt/charts/_rels/chart140.xml.rels><?xml version='1.0' encoding='UTF-8' standalone='yes'?>
<Relationships xmlns="http://schemas.openxmlformats.org/package/2006/relationships"><Relationship Id="rId1" Type="http://schemas.microsoft.com/office/2011/relationships/chartStyle" Target="style137.xml"/><Relationship Id="rId2" Type="http://schemas.microsoft.com/office/2011/relationships/chartColorStyle" Target="colors137.xml"/><Relationship Id="rId3" Type="http://schemas.openxmlformats.org/officeDocument/2006/relationships/package" Target="../embeddings/Microsoft_Excel_Worksheet_2D93_1624E8E3119.xlsx"/></Relationships>
</file>

<file path=ppt/charts/_rels/chart141.xml.rels><?xml version='1.0' encoding='UTF-8' standalone='yes'?>
<Relationships xmlns="http://schemas.openxmlformats.org/package/2006/relationships"><Relationship Id="rId1" Type="http://schemas.microsoft.com/office/2011/relationships/chartStyle" Target="style138.xml"/><Relationship Id="rId2" Type="http://schemas.microsoft.com/office/2011/relationships/chartColorStyle" Target="colors138.xml"/><Relationship Id="rId3" Type="http://schemas.openxmlformats.org/officeDocument/2006/relationships/package" Target="../embeddings/Microsoft_Excel_Worksheet_2D93_1624E8E3120.xlsx"/></Relationships>
</file>

<file path=ppt/charts/_rels/chart142.xml.rels><?xml version='1.0' encoding='UTF-8' standalone='yes'?>
<Relationships xmlns="http://schemas.openxmlformats.org/package/2006/relationships"><Relationship Id="rId1" Type="http://schemas.microsoft.com/office/2011/relationships/chartStyle" Target="style139.xml"/><Relationship Id="rId2" Type="http://schemas.microsoft.com/office/2011/relationships/chartColorStyle" Target="colors139.xml"/><Relationship Id="rId3" Type="http://schemas.openxmlformats.org/officeDocument/2006/relationships/package" Target="../embeddings/Microsoft_Excel_Worksheet_2D93_1624E8E3121.xlsx"/></Relationships>
</file>

<file path=ppt/charts/_rels/chart143.xml.rels><?xml version='1.0' encoding='UTF-8' standalone='yes'?>
<Relationships xmlns="http://schemas.openxmlformats.org/package/2006/relationships"><Relationship Id="rId1" Type="http://schemas.microsoft.com/office/2011/relationships/chartStyle" Target="style140.xml"/><Relationship Id="rId2" Type="http://schemas.microsoft.com/office/2011/relationships/chartColorStyle" Target="colors140.xml"/><Relationship Id="rId3" Type="http://schemas.openxmlformats.org/officeDocument/2006/relationships/package" Target="../embeddings/Microsoft_Excel_Worksheet_2D93_1624E8E3122.xlsx"/></Relationships>
</file>

<file path=ppt/charts/_rels/chart144.xml.rels><?xml version='1.0' encoding='UTF-8' standalone='yes'?>
<Relationships xmlns="http://schemas.openxmlformats.org/package/2006/relationships"><Relationship Id="rId1" Type="http://schemas.microsoft.com/office/2011/relationships/chartStyle" Target="style141.xml"/><Relationship Id="rId2" Type="http://schemas.microsoft.com/office/2011/relationships/chartColorStyle" Target="colors141.xml"/><Relationship Id="rId3" Type="http://schemas.openxmlformats.org/officeDocument/2006/relationships/package" Target="../embeddings/Microsoft_Excel_Worksheet_2D93_1624E8E3123.xlsx"/></Relationships>
</file>

<file path=ppt/charts/_rels/chart145.xml.rels><?xml version='1.0' encoding='UTF-8' standalone='yes'?>
<Relationships xmlns="http://schemas.openxmlformats.org/package/2006/relationships"><Relationship Id="rId1" Type="http://schemas.microsoft.com/office/2011/relationships/chartStyle" Target="style142.xml"/><Relationship Id="rId2" Type="http://schemas.microsoft.com/office/2011/relationships/chartColorStyle" Target="colors142.xml"/><Relationship Id="rId3" Type="http://schemas.openxmlformats.org/officeDocument/2006/relationships/package" Target="../embeddings/Microsoft_Excel_Worksheet_2D93_1624E8E3124.xlsx"/></Relationships>
</file>

<file path=ppt/charts/_rels/chart146.xml.rels><?xml version='1.0' encoding='UTF-8' standalone='yes'?>
<Relationships xmlns="http://schemas.openxmlformats.org/package/2006/relationships"><Relationship Id="rId1" Type="http://schemas.microsoft.com/office/2011/relationships/chartStyle" Target="style143.xml"/><Relationship Id="rId2" Type="http://schemas.microsoft.com/office/2011/relationships/chartColorStyle" Target="colors143.xml"/><Relationship Id="rId3" Type="http://schemas.openxmlformats.org/officeDocument/2006/relationships/package" Target="../embeddings/Microsoft_Excel_Worksheet_2D93_1624E8E3125.xlsx"/></Relationships>
</file>

<file path=ppt/charts/_rels/chart147.xml.rels><?xml version='1.0' encoding='UTF-8' standalone='yes'?>
<Relationships xmlns="http://schemas.openxmlformats.org/package/2006/relationships"><Relationship Id="rId1" Type="http://schemas.microsoft.com/office/2011/relationships/chartStyle" Target="style144.xml"/><Relationship Id="rId2" Type="http://schemas.microsoft.com/office/2011/relationships/chartColorStyle" Target="colors144.xml"/><Relationship Id="rId3" Type="http://schemas.openxmlformats.org/officeDocument/2006/relationships/package" Target="../embeddings/Microsoft_Excel_Worksheet_2D93_1624E8E3126.xlsx"/></Relationships>
</file>

<file path=ppt/charts/_rels/chart148.xml.rels><?xml version='1.0' encoding='UTF-8' standalone='yes'?>
<Relationships xmlns="http://schemas.openxmlformats.org/package/2006/relationships"><Relationship Id="rId1" Type="http://schemas.microsoft.com/office/2011/relationships/chartStyle" Target="style145.xml"/><Relationship Id="rId2" Type="http://schemas.microsoft.com/office/2011/relationships/chartColorStyle" Target="colors145.xml"/><Relationship Id="rId3" Type="http://schemas.openxmlformats.org/officeDocument/2006/relationships/package" Target="../embeddings/Microsoft_Excel_Worksheet_2D93_1624E8E3127.xlsx"/></Relationships>
</file>

<file path=ppt/charts/_rels/chart149.xml.rels><?xml version='1.0' encoding='UTF-8' standalone='yes'?>
<Relationships xmlns="http://schemas.openxmlformats.org/package/2006/relationships"><Relationship Id="rId1" Type="http://schemas.microsoft.com/office/2011/relationships/chartStyle" Target="style146.xml"/><Relationship Id="rId2" Type="http://schemas.microsoft.com/office/2011/relationships/chartColorStyle" Target="colors146.xml"/><Relationship Id="rId3" Type="http://schemas.openxmlformats.org/officeDocument/2006/relationships/package" Target="../embeddings/Microsoft_Excel_Worksheet_2D93_1624E8E3128.xlsx"/></Relationships>
</file>

<file path=ppt/charts/_rels/chart150.xml.rels><?xml version='1.0' encoding='UTF-8' standalone='yes'?>
<Relationships xmlns="http://schemas.openxmlformats.org/package/2006/relationships"><Relationship Id="rId1" Type="http://schemas.microsoft.com/office/2011/relationships/chartStyle" Target="style147.xml"/><Relationship Id="rId2" Type="http://schemas.microsoft.com/office/2011/relationships/chartColorStyle" Target="colors147.xml"/><Relationship Id="rId3" Type="http://schemas.openxmlformats.org/officeDocument/2006/relationships/package" Target="../embeddings/Microsoft_Excel_Worksheet_2D93_1624E8E3129.xlsx"/></Relationships>
</file>

<file path=ppt/charts/_rels/chart151.xml.rels><?xml version='1.0' encoding='UTF-8' standalone='yes'?>
<Relationships xmlns="http://schemas.openxmlformats.org/package/2006/relationships"><Relationship Id="rId1" Type="http://schemas.microsoft.com/office/2011/relationships/chartStyle" Target="style148.xml"/><Relationship Id="rId2" Type="http://schemas.microsoft.com/office/2011/relationships/chartColorStyle" Target="colors148.xml"/><Relationship Id="rId3" Type="http://schemas.openxmlformats.org/officeDocument/2006/relationships/package" Target="../embeddings/Microsoft_Excel_Worksheet_2D93_1624E8E3130.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Worksheet_2E8B_B4795BA3.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Worksheet_2DF6_242D44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Worksheet_2EF1_BCC16348.xlsx"/></Relationships>
</file>

<file path=ppt/charts/_rels/chart155.xml.rels><?xml version='1.0' encoding='UTF-8' standalone='yes'?>
<Relationships xmlns="http://schemas.openxmlformats.org/package/2006/relationships"><Relationship Id="rId1" Type="http://schemas.microsoft.com/office/2011/relationships/chartStyle" Target="style149.xml"/><Relationship Id="rId2" Type="http://schemas.microsoft.com/office/2011/relationships/chartColorStyle" Target="colors149.xml"/><Relationship Id="rId3" Type="http://schemas.openxmlformats.org/officeDocument/2006/relationships/package" Target="../embeddings/Microsoft_Excel_Worksheet_2CAE_D4B764B2.xlsx"/></Relationships>
</file>

<file path=ppt/charts/_rels/chart156.xml.rels><?xml version='1.0' encoding='UTF-8' standalone='yes'?>
<Relationships xmlns="http://schemas.openxmlformats.org/package/2006/relationships"><Relationship Id="rId1" Type="http://schemas.microsoft.com/office/2011/relationships/chartStyle" Target="style150.xml"/><Relationship Id="rId2" Type="http://schemas.microsoft.com/office/2011/relationships/chartColorStyle" Target="colors150.xml"/><Relationship Id="rId3" Type="http://schemas.openxmlformats.org/officeDocument/2006/relationships/package" Target="../embeddings/Microsoft_Excel_Worksheet_2CAE_D4B764B2131.xlsx"/></Relationships>
</file>

<file path=ppt/charts/_rels/chart157.xml.rels><?xml version='1.0' encoding='UTF-8' standalone='yes'?>
<Relationships xmlns="http://schemas.openxmlformats.org/package/2006/relationships"><Relationship Id="rId1" Type="http://schemas.microsoft.com/office/2011/relationships/chartStyle" Target="style151.xml"/><Relationship Id="rId2" Type="http://schemas.microsoft.com/office/2011/relationships/chartColorStyle" Target="colors151.xml"/><Relationship Id="rId3" Type="http://schemas.openxmlformats.org/officeDocument/2006/relationships/package" Target="../embeddings/Microsoft_Excel_Worksheet_2CAE_D4B764B2132.xlsx"/></Relationships>
</file>

<file path=ppt/charts/_rels/chart158.xml.rels><?xml version='1.0' encoding='UTF-8' standalone='yes'?>
<Relationships xmlns="http://schemas.openxmlformats.org/package/2006/relationships"><Relationship Id="rId1" Type="http://schemas.microsoft.com/office/2011/relationships/chartStyle" Target="style152.xml"/><Relationship Id="rId2" Type="http://schemas.microsoft.com/office/2011/relationships/chartColorStyle" Target="colors152.xml"/><Relationship Id="rId3" Type="http://schemas.openxmlformats.org/officeDocument/2006/relationships/package" Target="../embeddings/Microsoft_Excel_Worksheet_2CAE_D4B764B2133.xlsx"/></Relationships>
</file>

<file path=ppt/charts/_rels/chart159.xml.rels><?xml version='1.0' encoding='UTF-8' standalone='yes'?>
<Relationships xmlns="http://schemas.openxmlformats.org/package/2006/relationships"><Relationship Id="rId1" Type="http://schemas.microsoft.com/office/2011/relationships/chartStyle" Target="style153.xml"/><Relationship Id="rId2" Type="http://schemas.microsoft.com/office/2011/relationships/chartColorStyle" Target="colors153.xml"/><Relationship Id="rId3" Type="http://schemas.openxmlformats.org/officeDocument/2006/relationships/package" Target="../embeddings/Microsoft_Excel_Worksheet_2CAE_D4B764B2134.xlsx"/></Relationships>
</file>

<file path=ppt/charts/_rels/chart160.xml.rels><?xml version='1.0' encoding='UTF-8' standalone='yes'?>
<Relationships xmlns="http://schemas.openxmlformats.org/package/2006/relationships"><Relationship Id="rId1" Type="http://schemas.microsoft.com/office/2011/relationships/chartStyle" Target="style154.xml"/><Relationship Id="rId2" Type="http://schemas.microsoft.com/office/2011/relationships/chartColorStyle" Target="colors154.xml"/><Relationship Id="rId3" Type="http://schemas.openxmlformats.org/officeDocument/2006/relationships/package" Target="../embeddings/Microsoft_Excel_Worksheet_2CAE_D4B764B2135.xlsx"/></Relationships>
</file>

<file path=ppt/charts/_rels/chart161.xml.rels><?xml version='1.0' encoding='UTF-8' standalone='yes'?>
<Relationships xmlns="http://schemas.openxmlformats.org/package/2006/relationships"><Relationship Id="rId1" Type="http://schemas.microsoft.com/office/2011/relationships/chartStyle" Target="style155.xml"/><Relationship Id="rId2" Type="http://schemas.microsoft.com/office/2011/relationships/chartColorStyle" Target="colors155.xml"/><Relationship Id="rId3" Type="http://schemas.openxmlformats.org/officeDocument/2006/relationships/package" Target="../embeddings/Microsoft_Excel_Worksheet_2CAE_D4B764B2136.xlsx"/></Relationships>
</file>

<file path=ppt/charts/_rels/chart162.xml.rels><?xml version='1.0' encoding='UTF-8' standalone='yes'?>
<Relationships xmlns="http://schemas.openxmlformats.org/package/2006/relationships"><Relationship Id="rId1" Type="http://schemas.microsoft.com/office/2011/relationships/chartStyle" Target="style156.xml"/><Relationship Id="rId2" Type="http://schemas.microsoft.com/office/2011/relationships/chartColorStyle" Target="colors156.xml"/><Relationship Id="rId3" Type="http://schemas.openxmlformats.org/officeDocument/2006/relationships/package" Target="../embeddings/Microsoft_Excel_Worksheet_2CAE_D4B764B2137.xlsx"/></Relationships>
</file>

<file path=ppt/charts/_rels/chart163.xml.rels><?xml version='1.0' encoding='UTF-8' standalone='yes'?>
<Relationships xmlns="http://schemas.openxmlformats.org/package/2006/relationships"><Relationship Id="rId1" Type="http://schemas.microsoft.com/office/2011/relationships/chartStyle" Target="style157.xml"/><Relationship Id="rId2" Type="http://schemas.microsoft.com/office/2011/relationships/chartColorStyle" Target="colors157.xml"/><Relationship Id="rId3" Type="http://schemas.openxmlformats.org/officeDocument/2006/relationships/package" Target="../embeddings/Microsoft_Excel_Worksheet_2E4A_AEE9246E.xlsx"/></Relationships>
</file>

<file path=ppt/charts/_rels/chart164.xml.rels><?xml version='1.0' encoding='UTF-8' standalone='yes'?>
<Relationships xmlns="http://schemas.openxmlformats.org/package/2006/relationships"><Relationship Id="rId1" Type="http://schemas.microsoft.com/office/2011/relationships/chartStyle" Target="style158.xml"/><Relationship Id="rId2" Type="http://schemas.microsoft.com/office/2011/relationships/chartColorStyle" Target="colors158.xml"/><Relationship Id="rId3" Type="http://schemas.openxmlformats.org/officeDocument/2006/relationships/package" Target="../embeddings/Microsoft_Excel_Worksheet_2E4A_AEE9246E138.xlsx"/></Relationships>
</file>

<file path=ppt/charts/_rels/chart165.xml.rels><?xml version='1.0' encoding='UTF-8' standalone='yes'?>
<Relationships xmlns="http://schemas.openxmlformats.org/package/2006/relationships"><Relationship Id="rId1" Type="http://schemas.microsoft.com/office/2011/relationships/chartStyle" Target="style159.xml"/><Relationship Id="rId2" Type="http://schemas.microsoft.com/office/2011/relationships/chartColorStyle" Target="colors159.xml"/><Relationship Id="rId3" Type="http://schemas.openxmlformats.org/officeDocument/2006/relationships/package" Target="../embeddings/Microsoft_Excel_Worksheet_2E4A_AEE9246E139.xlsx"/></Relationships>
</file>

<file path=ppt/charts/_rels/chart166.xml.rels><?xml version='1.0' encoding='UTF-8' standalone='yes'?>
<Relationships xmlns="http://schemas.openxmlformats.org/package/2006/relationships"><Relationship Id="rId1" Type="http://schemas.microsoft.com/office/2011/relationships/chartStyle" Target="style160.xml"/><Relationship Id="rId2" Type="http://schemas.microsoft.com/office/2011/relationships/chartColorStyle" Target="colors160.xml"/><Relationship Id="rId3" Type="http://schemas.openxmlformats.org/officeDocument/2006/relationships/package" Target="../embeddings/Microsoft_Excel_Worksheet_2E4A_AEE9246E140.xlsx"/></Relationships>
</file>

<file path=ppt/charts/_rels/chart167.xml.rels><?xml version='1.0' encoding='UTF-8' standalone='yes'?>
<Relationships xmlns="http://schemas.openxmlformats.org/package/2006/relationships"><Relationship Id="rId1" Type="http://schemas.microsoft.com/office/2011/relationships/chartStyle" Target="style161.xml"/><Relationship Id="rId2" Type="http://schemas.microsoft.com/office/2011/relationships/chartColorStyle" Target="colors161.xml"/><Relationship Id="rId3" Type="http://schemas.openxmlformats.org/officeDocument/2006/relationships/package" Target="../embeddings/Microsoft_Excel_Worksheet_2E4A_AEE9246E141.xlsx"/></Relationships>
</file>

<file path=ppt/charts/_rels/chart168.xml.rels><?xml version='1.0' encoding='UTF-8' standalone='yes'?>
<Relationships xmlns="http://schemas.openxmlformats.org/package/2006/relationships"><Relationship Id="rId1" Type="http://schemas.microsoft.com/office/2011/relationships/chartStyle" Target="style162.xml"/><Relationship Id="rId2" Type="http://schemas.microsoft.com/office/2011/relationships/chartColorStyle" Target="colors162.xml"/><Relationship Id="rId3" Type="http://schemas.openxmlformats.org/officeDocument/2006/relationships/package" Target="../embeddings/Microsoft_Excel_Worksheet_2E4A_AEE9246E142.xlsx"/></Relationships>
</file>

<file path=ppt/charts/_rels/chart169.xml.rels><?xml version='1.0' encoding='UTF-8' standalone='yes'?>
<Relationships xmlns="http://schemas.openxmlformats.org/package/2006/relationships"><Relationship Id="rId1" Type="http://schemas.microsoft.com/office/2011/relationships/chartStyle" Target="style163.xml"/><Relationship Id="rId2" Type="http://schemas.microsoft.com/office/2011/relationships/chartColorStyle" Target="colors163.xml"/><Relationship Id="rId3" Type="http://schemas.openxmlformats.org/officeDocument/2006/relationships/package" Target="../embeddings/Microsoft_Excel_Worksheet_2EB8_F552414A.xlsx"/></Relationships>
</file>

<file path=ppt/charts/_rels/chart170.xml.rels><?xml version='1.0' encoding='UTF-8' standalone='yes'?>
<Relationships xmlns="http://schemas.openxmlformats.org/package/2006/relationships"><Relationship Id="rId1" Type="http://schemas.microsoft.com/office/2011/relationships/chartStyle" Target="style164.xml"/><Relationship Id="rId2" Type="http://schemas.microsoft.com/office/2011/relationships/chartColorStyle" Target="colors164.xml"/><Relationship Id="rId3" Type="http://schemas.openxmlformats.org/officeDocument/2006/relationships/package" Target="../embeddings/Microsoft_Excel_Worksheet_2EB8_F552414A143.xlsx"/></Relationships>
</file>

<file path=ppt/charts/_rels/chart171.xml.rels><?xml version='1.0' encoding='UTF-8' standalone='yes'?>
<Relationships xmlns="http://schemas.openxmlformats.org/package/2006/relationships"><Relationship Id="rId1" Type="http://schemas.microsoft.com/office/2011/relationships/chartStyle" Target="style165.xml"/><Relationship Id="rId2" Type="http://schemas.microsoft.com/office/2011/relationships/chartColorStyle" Target="colors165.xml"/><Relationship Id="rId3" Type="http://schemas.openxmlformats.org/officeDocument/2006/relationships/package" Target="../embeddings/Microsoft_Excel_Worksheet_2EB8_F552414A144.xlsx"/></Relationships>
</file>

<file path=ppt/charts/_rels/chart172.xml.rels><?xml version='1.0' encoding='UTF-8' standalone='yes'?>
<Relationships xmlns="http://schemas.openxmlformats.org/package/2006/relationships"><Relationship Id="rId1" Type="http://schemas.microsoft.com/office/2011/relationships/chartStyle" Target="style166.xml"/><Relationship Id="rId2" Type="http://schemas.microsoft.com/office/2011/relationships/chartColorStyle" Target="colors166.xml"/><Relationship Id="rId3" Type="http://schemas.openxmlformats.org/officeDocument/2006/relationships/package" Target="../embeddings/Microsoft_Excel_Worksheet_2EB8_F552414A145.xlsx"/></Relationships>
</file>

<file path=ppt/charts/_rels/chart173.xml.rels><?xml version='1.0' encoding='UTF-8' standalone='yes'?>
<Relationships xmlns="http://schemas.openxmlformats.org/package/2006/relationships"><Relationship Id="rId1" Type="http://schemas.microsoft.com/office/2011/relationships/chartStyle" Target="style167.xml"/><Relationship Id="rId2" Type="http://schemas.microsoft.com/office/2011/relationships/chartColorStyle" Target="colors167.xml"/><Relationship Id="rId3" Type="http://schemas.openxmlformats.org/officeDocument/2006/relationships/package" Target="../embeddings/Microsoft_Excel_Worksheet_2EB8_F552414A146.xlsx"/></Relationships>
</file>

<file path=ppt/charts/_rels/chart174.xml.rels><?xml version='1.0' encoding='UTF-8' standalone='yes'?>
<Relationships xmlns="http://schemas.openxmlformats.org/package/2006/relationships"><Relationship Id="rId1" Type="http://schemas.microsoft.com/office/2011/relationships/chartStyle" Target="style168.xml"/><Relationship Id="rId2" Type="http://schemas.microsoft.com/office/2011/relationships/chartColorStyle" Target="colors168.xml"/><Relationship Id="rId3" Type="http://schemas.openxmlformats.org/officeDocument/2006/relationships/package" Target="../embeddings/Microsoft_Excel_Worksheet_2EB8_F552414A147.xlsx"/></Relationships>
</file>

<file path=ppt/charts/_rels/chart175.xml.rels><?xml version='1.0' encoding='UTF-8' standalone='yes'?>
<Relationships xmlns="http://schemas.openxmlformats.org/package/2006/relationships"><Relationship Id="rId1" Type="http://schemas.microsoft.com/office/2011/relationships/chartStyle" Target="style169.xml"/><Relationship Id="rId2" Type="http://schemas.microsoft.com/office/2011/relationships/chartColorStyle" Target="colors169.xml"/><Relationship Id="rId3" Type="http://schemas.openxmlformats.org/officeDocument/2006/relationships/package" Target="../embeddings/Microsoft_Excel_Worksheet_2ED4_E138D99E.xlsx"/></Relationships>
</file>

<file path=ppt/charts/_rels/chart176.xml.rels><?xml version='1.0' encoding='UTF-8' standalone='yes'?>
<Relationships xmlns="http://schemas.openxmlformats.org/package/2006/relationships"><Relationship Id="rId1" Type="http://schemas.microsoft.com/office/2011/relationships/chartStyle" Target="style170.xml"/><Relationship Id="rId2" Type="http://schemas.microsoft.com/office/2011/relationships/chartColorStyle" Target="colors170.xml"/><Relationship Id="rId3" Type="http://schemas.openxmlformats.org/officeDocument/2006/relationships/package" Target="../embeddings/Microsoft_Excel_Worksheet_2ED4_E138D99E148.xlsx"/></Relationships>
</file>

<file path=ppt/charts/_rels/chart177.xml.rels><?xml version='1.0' encoding='UTF-8' standalone='yes'?>
<Relationships xmlns="http://schemas.openxmlformats.org/package/2006/relationships"><Relationship Id="rId1" Type="http://schemas.microsoft.com/office/2011/relationships/chartStyle" Target="style171.xml"/><Relationship Id="rId2" Type="http://schemas.microsoft.com/office/2011/relationships/chartColorStyle" Target="colors171.xml"/><Relationship Id="rId3" Type="http://schemas.openxmlformats.org/officeDocument/2006/relationships/package" Target="../embeddings/Microsoft_Excel_Worksheet_2ED4_E138D99E149.xlsx"/></Relationships>
</file>

<file path=ppt/charts/_rels/chart178.xml.rels><?xml version='1.0' encoding='UTF-8' standalone='yes'?>
<Relationships xmlns="http://schemas.openxmlformats.org/package/2006/relationships"><Relationship Id="rId1" Type="http://schemas.microsoft.com/office/2011/relationships/chartStyle" Target="style172.xml"/><Relationship Id="rId2" Type="http://schemas.microsoft.com/office/2011/relationships/chartColorStyle" Target="colors172.xml"/><Relationship Id="rId3" Type="http://schemas.openxmlformats.org/officeDocument/2006/relationships/package" Target="../embeddings/Microsoft_Excel_Worksheet_2ED4_E138D99E150.xlsx"/></Relationships>
</file>

<file path=ppt/charts/_rels/chart179.xml.rels><?xml version='1.0' encoding='UTF-8' standalone='yes'?>
<Relationships xmlns="http://schemas.openxmlformats.org/package/2006/relationships"><Relationship Id="rId1" Type="http://schemas.microsoft.com/office/2011/relationships/chartStyle" Target="style173.xml"/><Relationship Id="rId2" Type="http://schemas.microsoft.com/office/2011/relationships/chartColorStyle" Target="colors173.xml"/><Relationship Id="rId3" Type="http://schemas.openxmlformats.org/officeDocument/2006/relationships/package" Target="../embeddings/Microsoft_Excel_Worksheet_2ED4_E138D99E151.xlsx"/></Relationships>
</file>

<file path=ppt/charts/_rels/chart180.xml.rels><?xml version='1.0' encoding='UTF-8' standalone='yes'?>
<Relationships xmlns="http://schemas.openxmlformats.org/package/2006/relationships"><Relationship Id="rId1" Type="http://schemas.microsoft.com/office/2011/relationships/chartStyle" Target="style174.xml"/><Relationship Id="rId2" Type="http://schemas.microsoft.com/office/2011/relationships/chartColorStyle" Target="colors174.xml"/><Relationship Id="rId3" Type="http://schemas.openxmlformats.org/officeDocument/2006/relationships/package" Target="../embeddings/Microsoft_Excel_Worksheet_2ED4_E138D99E152.xlsx"/></Relationships>
</file>

<file path=ppt/charts/_rels/chart181.xml.rels><?xml version='1.0' encoding='UTF-8' standalone='yes'?>
<Relationships xmlns="http://schemas.openxmlformats.org/package/2006/relationships"><Relationship Id="rId1" Type="http://schemas.microsoft.com/office/2011/relationships/chartStyle" Target="style175.xml"/><Relationship Id="rId2" Type="http://schemas.microsoft.com/office/2011/relationships/chartColorStyle" Target="colors175.xml"/><Relationship Id="rId3" Type="http://schemas.openxmlformats.org/officeDocument/2006/relationships/package" Target="../embeddings/Microsoft_Excel_Worksheet_2E9E_2904BABB.xlsx"/></Relationships>
</file>

<file path=ppt/charts/_rels/chart182.xml.rels><?xml version='1.0' encoding='UTF-8' standalone='yes'?>
<Relationships xmlns="http://schemas.openxmlformats.org/package/2006/relationships"><Relationship Id="rId1" Type="http://schemas.microsoft.com/office/2011/relationships/chartStyle" Target="style176.xml"/><Relationship Id="rId2" Type="http://schemas.microsoft.com/office/2011/relationships/chartColorStyle" Target="colors176.xml"/><Relationship Id="rId3" Type="http://schemas.openxmlformats.org/officeDocument/2006/relationships/package" Target="../embeddings/Microsoft_Excel_Worksheet_2E9E_2904BABB153.xlsx"/></Relationships>
</file>

<file path=ppt/charts/_rels/chart183.xml.rels><?xml version='1.0' encoding='UTF-8' standalone='yes'?>
<Relationships xmlns="http://schemas.openxmlformats.org/package/2006/relationships"><Relationship Id="rId1" Type="http://schemas.microsoft.com/office/2011/relationships/chartStyle" Target="style177.xml"/><Relationship Id="rId2" Type="http://schemas.microsoft.com/office/2011/relationships/chartColorStyle" Target="colors177.xml"/><Relationship Id="rId3" Type="http://schemas.openxmlformats.org/officeDocument/2006/relationships/package" Target="../embeddings/Microsoft_Excel_Worksheet_2E9E_2904BABB154.xlsx"/></Relationships>
</file>

<file path=ppt/charts/_rels/chart184.xml.rels><?xml version='1.0' encoding='UTF-8' standalone='yes'?>
<Relationships xmlns="http://schemas.openxmlformats.org/package/2006/relationships"><Relationship Id="rId1" Type="http://schemas.microsoft.com/office/2011/relationships/chartStyle" Target="style178.xml"/><Relationship Id="rId2" Type="http://schemas.microsoft.com/office/2011/relationships/chartColorStyle" Target="colors178.xml"/><Relationship Id="rId3" Type="http://schemas.openxmlformats.org/officeDocument/2006/relationships/package" Target="../embeddings/Microsoft_Excel_Worksheet_2E9E_2904BABB155.xlsx"/></Relationships>
</file>

<file path=ppt/charts/_rels/chart185.xml.rels><?xml version='1.0' encoding='UTF-8' standalone='yes'?>
<Relationships xmlns="http://schemas.openxmlformats.org/package/2006/relationships"><Relationship Id="rId1" Type="http://schemas.microsoft.com/office/2011/relationships/chartStyle" Target="style179.xml"/><Relationship Id="rId2" Type="http://schemas.microsoft.com/office/2011/relationships/chartColorStyle" Target="colors179.xml"/><Relationship Id="rId3" Type="http://schemas.openxmlformats.org/officeDocument/2006/relationships/package" Target="../embeddings/Microsoft_Excel_Worksheet_2E9E_2904BABB156.xlsx"/></Relationships>
</file>

<file path=ppt/charts/_rels/chart186.xml.rels><?xml version='1.0' encoding='UTF-8' standalone='yes'?>
<Relationships xmlns="http://schemas.openxmlformats.org/package/2006/relationships"><Relationship Id="rId1" Type="http://schemas.microsoft.com/office/2011/relationships/chartStyle" Target="style180.xml"/><Relationship Id="rId2" Type="http://schemas.microsoft.com/office/2011/relationships/chartColorStyle" Target="colors180.xml"/><Relationship Id="rId3" Type="http://schemas.openxmlformats.org/officeDocument/2006/relationships/package" Target="../embeddings/Microsoft_Excel_Worksheet_2E9E_2904BABB157.xlsx"/></Relationships>
</file>

<file path=ppt/charts/_rels/chart187.xml.rels><?xml version='1.0' encoding='UTF-8' standalone='yes'?>
<Relationships xmlns="http://schemas.openxmlformats.org/package/2006/relationships"><Relationship Id="rId1" Type="http://schemas.microsoft.com/office/2011/relationships/chartStyle" Target="style181.xml"/><Relationship Id="rId2" Type="http://schemas.microsoft.com/office/2011/relationships/chartColorStyle" Target="colors181.xml"/><Relationship Id="rId3" Type="http://schemas.openxmlformats.org/officeDocument/2006/relationships/package" Target="../embeddings/Microsoft_Excel_Worksheet_2E9F_94BFBB35.xlsx"/></Relationships>
</file>

<file path=ppt/charts/_rels/chart188.xml.rels><?xml version='1.0' encoding='UTF-8' standalone='yes'?>
<Relationships xmlns="http://schemas.openxmlformats.org/package/2006/relationships"><Relationship Id="rId1" Type="http://schemas.microsoft.com/office/2011/relationships/chartStyle" Target="style182.xml"/><Relationship Id="rId2" Type="http://schemas.microsoft.com/office/2011/relationships/chartColorStyle" Target="colors182.xml"/><Relationship Id="rId3" Type="http://schemas.openxmlformats.org/officeDocument/2006/relationships/package" Target="../embeddings/Microsoft_Excel_Worksheet_2E9F_94BFBB35158.xlsx"/></Relationships>
</file>

<file path=ppt/charts/_rels/chart189.xml.rels><?xml version='1.0' encoding='UTF-8' standalone='yes'?>
<Relationships xmlns="http://schemas.openxmlformats.org/package/2006/relationships"><Relationship Id="rId1" Type="http://schemas.microsoft.com/office/2011/relationships/chartStyle" Target="style183.xml"/><Relationship Id="rId2" Type="http://schemas.microsoft.com/office/2011/relationships/chartColorStyle" Target="colors183.xml"/><Relationship Id="rId3" Type="http://schemas.openxmlformats.org/officeDocument/2006/relationships/package" Target="../embeddings/Microsoft_Excel_Worksheet_2E9F_94BFBB35159.xlsx"/></Relationships>
</file>

<file path=ppt/charts/_rels/chart190.xml.rels><?xml version='1.0' encoding='UTF-8' standalone='yes'?>
<Relationships xmlns="http://schemas.openxmlformats.org/package/2006/relationships"><Relationship Id="rId1" Type="http://schemas.microsoft.com/office/2011/relationships/chartStyle" Target="style184.xml"/><Relationship Id="rId2" Type="http://schemas.microsoft.com/office/2011/relationships/chartColorStyle" Target="colors184.xml"/><Relationship Id="rId3" Type="http://schemas.openxmlformats.org/officeDocument/2006/relationships/package" Target="../embeddings/Microsoft_Excel_Worksheet_2E9F_94BFBB35160.xlsx"/></Relationships>
</file>

<file path=ppt/charts/_rels/chart191.xml.rels><?xml version='1.0' encoding='UTF-8' standalone='yes'?>
<Relationships xmlns="http://schemas.openxmlformats.org/package/2006/relationships"><Relationship Id="rId1" Type="http://schemas.microsoft.com/office/2011/relationships/chartStyle" Target="style185.xml"/><Relationship Id="rId2" Type="http://schemas.microsoft.com/office/2011/relationships/chartColorStyle" Target="colors185.xml"/><Relationship Id="rId3" Type="http://schemas.openxmlformats.org/officeDocument/2006/relationships/package" Target="../embeddings/Microsoft_Excel_Worksheet_2E9F_94BFBB35161.xlsx"/></Relationships>
</file>

<file path=ppt/charts/_rels/chart192.xml.rels><?xml version='1.0' encoding='UTF-8' standalone='yes'?>
<Relationships xmlns="http://schemas.openxmlformats.org/package/2006/relationships"><Relationship Id="rId1" Type="http://schemas.microsoft.com/office/2011/relationships/chartStyle" Target="style186.xml"/><Relationship Id="rId2" Type="http://schemas.microsoft.com/office/2011/relationships/chartColorStyle" Target="colors186.xml"/><Relationship Id="rId3" Type="http://schemas.openxmlformats.org/officeDocument/2006/relationships/package" Target="../embeddings/Microsoft_Excel_Worksheet_2E9F_94BFBB35162.xlsx"/></Relationships>
</file>

<file path=ppt/charts/_rels/chart193.xml.rels><?xml version='1.0' encoding='UTF-8' standalone='yes'?>
<Relationships xmlns="http://schemas.openxmlformats.org/package/2006/relationships"><Relationship Id="rId1" Type="http://schemas.microsoft.com/office/2011/relationships/chartStyle" Target="style187.xml"/><Relationship Id="rId2" Type="http://schemas.microsoft.com/office/2011/relationships/chartColorStyle" Target="colors187.xml"/><Relationship Id="rId3" Type="http://schemas.openxmlformats.org/officeDocument/2006/relationships/package" Target="../embeddings/Microsoft_Excel_Worksheet_2EED_DB3F255A.xlsx"/></Relationships>
</file>

<file path=ppt/charts/_rels/chart194.xml.rels><?xml version='1.0' encoding='UTF-8' standalone='yes'?>
<Relationships xmlns="http://schemas.openxmlformats.org/package/2006/relationships"><Relationship Id="rId1" Type="http://schemas.microsoft.com/office/2011/relationships/chartStyle" Target="style188.xml"/><Relationship Id="rId2" Type="http://schemas.microsoft.com/office/2011/relationships/chartColorStyle" Target="colors188.xml"/><Relationship Id="rId3" Type="http://schemas.openxmlformats.org/officeDocument/2006/relationships/package" Target="../embeddings/Microsoft_Excel_Worksheet_2E4B_52FC6737.xlsx"/></Relationships>
</file>

<file path=ppt/charts/_rels/chart195.xml.rels><?xml version='1.0' encoding='UTF-8' standalone='yes'?>
<Relationships xmlns="http://schemas.openxmlformats.org/package/2006/relationships"><Relationship Id="rId1" Type="http://schemas.microsoft.com/office/2011/relationships/chartStyle" Target="style189.xml"/><Relationship Id="rId2" Type="http://schemas.microsoft.com/office/2011/relationships/chartColorStyle" Target="colors189.xml"/><Relationship Id="rId3" Type="http://schemas.openxmlformats.org/officeDocument/2006/relationships/package" Target="../embeddings/Microsoft_Excel_Worksheet_2E4B_52FC6737163.xlsx"/></Relationships>
</file>

<file path=ppt/charts/_rels/chart196.xml.rels><?xml version='1.0' encoding='UTF-8' standalone='yes'?>
<Relationships xmlns="http://schemas.openxmlformats.org/package/2006/relationships"><Relationship Id="rId1" Type="http://schemas.microsoft.com/office/2011/relationships/chartStyle" Target="style190.xml"/><Relationship Id="rId2" Type="http://schemas.microsoft.com/office/2011/relationships/chartColorStyle" Target="colors190.xml"/><Relationship Id="rId3" Type="http://schemas.openxmlformats.org/officeDocument/2006/relationships/package" Target="../embeddings/Microsoft_Excel_Worksheet_2E4B_52FC6737164.xlsx"/></Relationships>
</file>

<file path=ppt/charts/_rels/chart197.xml.rels><?xml version='1.0' encoding='UTF-8' standalone='yes'?>
<Relationships xmlns="http://schemas.openxmlformats.org/package/2006/relationships"><Relationship Id="rId1" Type="http://schemas.microsoft.com/office/2011/relationships/chartStyle" Target="style191.xml"/><Relationship Id="rId2" Type="http://schemas.microsoft.com/office/2011/relationships/chartColorStyle" Target="colors191.xml"/><Relationship Id="rId3" Type="http://schemas.openxmlformats.org/officeDocument/2006/relationships/package" Target="../embeddings/Microsoft_Excel_Worksheet_2E4B_52FC6737165.xlsx"/></Relationships>
</file>

<file path=ppt/charts/_rels/chart198.xml.rels><?xml version='1.0' encoding='UTF-8' standalone='yes'?>
<Relationships xmlns="http://schemas.openxmlformats.org/package/2006/relationships"><Relationship Id="rId1" Type="http://schemas.microsoft.com/office/2011/relationships/chartStyle" Target="style192.xml"/><Relationship Id="rId2" Type="http://schemas.microsoft.com/office/2011/relationships/chartColorStyle" Target="colors192.xml"/><Relationship Id="rId3" Type="http://schemas.openxmlformats.org/officeDocument/2006/relationships/package" Target="../embeddings/Microsoft_Excel_Worksheet_2E4B_52FC6737166.xlsx"/></Relationships>
</file>

<file path=ppt/charts/_rels/chart199.xml.rels><?xml version='1.0' encoding='UTF-8' standalone='yes'?>
<Relationships xmlns="http://schemas.openxmlformats.org/package/2006/relationships"><Relationship Id="rId1" Type="http://schemas.microsoft.com/office/2011/relationships/chartStyle" Target="style193.xml"/><Relationship Id="rId2" Type="http://schemas.microsoft.com/office/2011/relationships/chartColorStyle" Target="colors193.xml"/><Relationship Id="rId3" Type="http://schemas.openxmlformats.org/officeDocument/2006/relationships/package" Target="../embeddings/Microsoft_Excel_Worksheet_2E4B_52FC6737167.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Worksheet_2E4D_78751D5.xlsx"/></Relationships>
</file>

<file path=ppt/charts/_rels/chart201.xml.rels><?xml version='1.0' encoding='UTF-8' standalone='yes'?>
<Relationships xmlns="http://schemas.openxmlformats.org/package/2006/relationships"><Relationship Id="rId1" Type="http://schemas.microsoft.com/office/2011/relationships/chartStyle" Target="style194.xml"/><Relationship Id="rId2" Type="http://schemas.microsoft.com/office/2011/relationships/chartColorStyle" Target="colors194.xml"/><Relationship Id="rId3" Type="http://schemas.openxmlformats.org/officeDocument/2006/relationships/package" Target="../embeddings/Microsoft_Excel_Worksheet_2E44_A1F6DA9A.xlsx"/></Relationships>
</file>

<file path=ppt/charts/_rels/chart202.xml.rels><?xml version='1.0' encoding='UTF-8' standalone='yes'?>
<Relationships xmlns="http://schemas.openxmlformats.org/package/2006/relationships"><Relationship Id="rId1" Type="http://schemas.microsoft.com/office/2011/relationships/chartStyle" Target="style195.xml"/><Relationship Id="rId2" Type="http://schemas.microsoft.com/office/2011/relationships/chartColorStyle" Target="colors195.xml"/><Relationship Id="rId3" Type="http://schemas.openxmlformats.org/officeDocument/2006/relationships/package" Target="../embeddings/Microsoft_Excel_Worksheet_2E44_A1F6DA9A168.xlsx"/></Relationships>
</file>

<file path=ppt/charts/_rels/chart203.xml.rels><?xml version='1.0' encoding='UTF-8' standalone='yes'?>
<Relationships xmlns="http://schemas.openxmlformats.org/package/2006/relationships"><Relationship Id="rId1" Type="http://schemas.microsoft.com/office/2011/relationships/chartStyle" Target="style196.xml"/><Relationship Id="rId2" Type="http://schemas.microsoft.com/office/2011/relationships/chartColorStyle" Target="colors196.xml"/><Relationship Id="rId3" Type="http://schemas.openxmlformats.org/officeDocument/2006/relationships/package" Target="../embeddings/Microsoft_Excel_Worksheet_2E44_A1F6DA9A169.xlsx"/></Relationships>
</file>

<file path=ppt/charts/_rels/chart204.xml.rels><?xml version='1.0' encoding='UTF-8' standalone='yes'?>
<Relationships xmlns="http://schemas.openxmlformats.org/package/2006/relationships"><Relationship Id="rId1" Type="http://schemas.microsoft.com/office/2011/relationships/chartStyle" Target="style197.xml"/><Relationship Id="rId2" Type="http://schemas.microsoft.com/office/2011/relationships/chartColorStyle" Target="colors197.xml"/><Relationship Id="rId3" Type="http://schemas.openxmlformats.org/officeDocument/2006/relationships/package" Target="../embeddings/Microsoft_Excel_Worksheet_2E44_A1F6DA9A170.xlsx"/></Relationships>
</file>

<file path=ppt/charts/_rels/chart205.xml.rels><?xml version='1.0' encoding='UTF-8' standalone='yes'?>
<Relationships xmlns="http://schemas.openxmlformats.org/package/2006/relationships"><Relationship Id="rId1" Type="http://schemas.microsoft.com/office/2011/relationships/chartStyle" Target="style198.xml"/><Relationship Id="rId2" Type="http://schemas.microsoft.com/office/2011/relationships/chartColorStyle" Target="colors198.xml"/><Relationship Id="rId3" Type="http://schemas.openxmlformats.org/officeDocument/2006/relationships/package" Target="../embeddings/Microsoft_Excel_Worksheet_2E44_A1F6DA9A171.xlsx"/></Relationships>
</file>

<file path=ppt/charts/_rels/chart206.xml.rels><?xml version='1.0' encoding='UTF-8' standalone='yes'?>
<Relationships xmlns="http://schemas.openxmlformats.org/package/2006/relationships"><Relationship Id="rId1" Type="http://schemas.microsoft.com/office/2011/relationships/chartStyle" Target="style199.xml"/><Relationship Id="rId2" Type="http://schemas.microsoft.com/office/2011/relationships/chartColorStyle" Target="colors199.xml"/><Relationship Id="rId3" Type="http://schemas.openxmlformats.org/officeDocument/2006/relationships/package" Target="../embeddings/Microsoft_Excel_Worksheet_2DAD_C40F4D20.xlsx"/></Relationships>
</file>

<file path=ppt/charts/_rels/chart207.xml.rels><?xml version='1.0' encoding='UTF-8' standalone='yes'?>
<Relationships xmlns="http://schemas.openxmlformats.org/package/2006/relationships"><Relationship Id="rId1" Type="http://schemas.microsoft.com/office/2011/relationships/chartStyle" Target="style200.xml"/><Relationship Id="rId2" Type="http://schemas.microsoft.com/office/2011/relationships/chartColorStyle" Target="colors200.xml"/><Relationship Id="rId3" Type="http://schemas.openxmlformats.org/officeDocument/2006/relationships/package" Target="../embeddings/Microsoft_Excel_Worksheet_2DAD_C40F4D20172.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Worksheet_2DAD_C40F4D20173.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Worksheet_2D16_4E6820F2.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Worksheet_2D16_4E6820F2174.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Worksheet_2B28_A239C86E.xlsx"/></Relationships>
</file>

<file path=ppt/charts/_rels/chart212.xml.rels><?xml version='1.0' encoding='UTF-8' standalone='yes'?>
<Relationships xmlns="http://schemas.openxmlformats.org/package/2006/relationships"><Relationship Id="rId1" Type="http://schemas.microsoft.com/office/2011/relationships/chartStyle" Target="style201.xml"/><Relationship Id="rId2" Type="http://schemas.microsoft.com/office/2011/relationships/chartColorStyle" Target="colors201.xml"/><Relationship Id="rId3" Type="http://schemas.openxmlformats.org/officeDocument/2006/relationships/package" Target="../embeddings/Microsoft_Excel_Worksheet_2EA7_3CD31B97.xlsx"/></Relationships>
</file>

<file path=ppt/charts/_rels/chart213.xml.rels><?xml version='1.0' encoding='UTF-8' standalone='yes'?>
<Relationships xmlns="http://schemas.openxmlformats.org/package/2006/relationships"><Relationship Id="rId1" Type="http://schemas.microsoft.com/office/2011/relationships/chartStyle" Target="style202.xml"/><Relationship Id="rId2" Type="http://schemas.microsoft.com/office/2011/relationships/chartColorStyle" Target="colors202.xml"/><Relationship Id="rId3" Type="http://schemas.openxmlformats.org/officeDocument/2006/relationships/package" Target="../embeddings/Microsoft_Excel_Worksheet_2EA7_3CD31B97175.xlsx"/></Relationships>
</file>

<file path=ppt/charts/_rels/chart214.xml.rels><?xml version='1.0' encoding='UTF-8' standalone='yes'?>
<Relationships xmlns="http://schemas.openxmlformats.org/package/2006/relationships"><Relationship Id="rId1" Type="http://schemas.microsoft.com/office/2011/relationships/chartStyle" Target="style203.xml"/><Relationship Id="rId2" Type="http://schemas.microsoft.com/office/2011/relationships/chartColorStyle" Target="colors203.xml"/><Relationship Id="rId3" Type="http://schemas.openxmlformats.org/officeDocument/2006/relationships/package" Target="../embeddings/Microsoft_Excel_Worksheet_2EA7_3CD31B97176.xlsx"/></Relationships>
</file>

<file path=ppt/charts/_rels/chart215.xml.rels><?xml version='1.0' encoding='UTF-8' standalone='yes'?>
<Relationships xmlns="http://schemas.openxmlformats.org/package/2006/relationships"><Relationship Id="rId1" Type="http://schemas.microsoft.com/office/2011/relationships/chartStyle" Target="style204.xml"/><Relationship Id="rId2" Type="http://schemas.microsoft.com/office/2011/relationships/chartColorStyle" Target="colors204.xml"/><Relationship Id="rId3" Type="http://schemas.openxmlformats.org/officeDocument/2006/relationships/package" Target="../embeddings/Microsoft_Excel_Worksheet_2EA7_3CD31B97177.xlsx"/></Relationships>
</file>

<file path=ppt/charts/_rels/chart216.xml.rels><?xml version='1.0' encoding='UTF-8' standalone='yes'?>
<Relationships xmlns="http://schemas.openxmlformats.org/package/2006/relationships"><Relationship Id="rId1" Type="http://schemas.microsoft.com/office/2011/relationships/chartStyle" Target="style205.xml"/><Relationship Id="rId2" Type="http://schemas.microsoft.com/office/2011/relationships/chartColorStyle" Target="colors205.xml"/><Relationship Id="rId3" Type="http://schemas.openxmlformats.org/officeDocument/2006/relationships/package" Target="../embeddings/Microsoft_Excel_Worksheet_2EA7_3CD31B97178.xlsx"/></Relationships>
</file>

<file path=ppt/charts/_rels/chart217.xml.rels><?xml version='1.0' encoding='UTF-8' standalone='yes'?>
<Relationships xmlns="http://schemas.openxmlformats.org/package/2006/relationships"><Relationship Id="rId1" Type="http://schemas.microsoft.com/office/2011/relationships/chartStyle" Target="style206.xml"/><Relationship Id="rId2" Type="http://schemas.microsoft.com/office/2011/relationships/chartColorStyle" Target="colors206.xml"/><Relationship Id="rId3" Type="http://schemas.openxmlformats.org/officeDocument/2006/relationships/package" Target="../embeddings/Microsoft_Excel_Worksheet_2EA7_3CD31B97179.xlsx"/></Relationships>
</file>

<file path=ppt/charts/_rels/chart218.xml.rels><?xml version='1.0' encoding='UTF-8' standalone='yes'?>
<Relationships xmlns="http://schemas.openxmlformats.org/package/2006/relationships"><Relationship Id="rId1" Type="http://schemas.microsoft.com/office/2011/relationships/chartStyle" Target="style207.xml"/><Relationship Id="rId2" Type="http://schemas.microsoft.com/office/2011/relationships/chartColorStyle" Target="colors207.xml"/><Relationship Id="rId3" Type="http://schemas.openxmlformats.org/officeDocument/2006/relationships/package" Target="../embeddings/Microsoft_Excel_Worksheet_2EA7_3CD31B97180.xlsx"/></Relationships>
</file>

<file path=ppt/charts/_rels/chart219.xml.rels><?xml version='1.0' encoding='UTF-8' standalone='yes'?>
<Relationships xmlns="http://schemas.openxmlformats.org/package/2006/relationships"><Relationship Id="rId1" Type="http://schemas.microsoft.com/office/2011/relationships/chartStyle" Target="style208.xml"/><Relationship Id="rId2" Type="http://schemas.microsoft.com/office/2011/relationships/chartColorStyle" Target="colors208.xml"/><Relationship Id="rId3" Type="http://schemas.openxmlformats.org/officeDocument/2006/relationships/package" Target="../embeddings/Microsoft_Excel_Worksheet_2EA7_3CD31B97181.xlsx"/></Relationships>
</file>

<file path=ppt/charts/_rels/chart220.xml.rels><?xml version='1.0' encoding='UTF-8' standalone='yes'?>
<Relationships xmlns="http://schemas.openxmlformats.org/package/2006/relationships"><Relationship Id="rId1" Type="http://schemas.microsoft.com/office/2011/relationships/chartStyle" Target="style209.xml"/><Relationship Id="rId2" Type="http://schemas.microsoft.com/office/2011/relationships/chartColorStyle" Target="colors209.xml"/><Relationship Id="rId3" Type="http://schemas.openxmlformats.org/officeDocument/2006/relationships/package" Target="../embeddings/Microsoft_Excel_Worksheet_2EA7_3CD31B97182.xlsx"/></Relationships>
</file>

<file path=ppt/charts/_rels/chart221.xml.rels><?xml version='1.0' encoding='UTF-8' standalone='yes'?>
<Relationships xmlns="http://schemas.openxmlformats.org/package/2006/relationships"><Relationship Id="rId1" Type="http://schemas.microsoft.com/office/2011/relationships/chartStyle" Target="style210.xml"/><Relationship Id="rId2" Type="http://schemas.microsoft.com/office/2011/relationships/chartColorStyle" Target="colors210.xml"/><Relationship Id="rId3" Type="http://schemas.openxmlformats.org/officeDocument/2006/relationships/package" Target="../embeddings/Microsoft_Excel_Worksheet_2EA7_3CD31B97183.xlsx"/></Relationships>
</file>

<file path=ppt/charts/_rels/chart222.xml.rels><?xml version='1.0' encoding='UTF-8' standalone='yes'?>
<Relationships xmlns="http://schemas.openxmlformats.org/package/2006/relationships"><Relationship Id="rId1" Type="http://schemas.microsoft.com/office/2011/relationships/chartStyle" Target="style211.xml"/><Relationship Id="rId2" Type="http://schemas.microsoft.com/office/2011/relationships/chartColorStyle" Target="colors211.xml"/><Relationship Id="rId3" Type="http://schemas.openxmlformats.org/officeDocument/2006/relationships/package" Target="../embeddings/Microsoft_Excel_Worksheet_2EA7_3CD31B97184.xlsx"/></Relationships>
</file>

<file path=ppt/charts/_rels/chart223.xml.rels><?xml version='1.0' encoding='UTF-8' standalone='yes'?>
<Relationships xmlns="http://schemas.openxmlformats.org/package/2006/relationships"><Relationship Id="rId1" Type="http://schemas.microsoft.com/office/2011/relationships/chartStyle" Target="style212.xml"/><Relationship Id="rId2" Type="http://schemas.microsoft.com/office/2011/relationships/chartColorStyle" Target="colors212.xml"/><Relationship Id="rId3" Type="http://schemas.openxmlformats.org/officeDocument/2006/relationships/package" Target="../embeddings/Microsoft_Excel_Worksheet_2EA7_3CD31B97185.xlsx"/></Relationships>
</file>

<file path=ppt/charts/_rels/chart224.xml.rels><?xml version='1.0' encoding='UTF-8' standalone='yes'?>
<Relationships xmlns="http://schemas.openxmlformats.org/package/2006/relationships"><Relationship Id="rId1" Type="http://schemas.microsoft.com/office/2011/relationships/chartStyle" Target="style213.xml"/><Relationship Id="rId2" Type="http://schemas.microsoft.com/office/2011/relationships/chartColorStyle" Target="colors213.xml"/><Relationship Id="rId3" Type="http://schemas.openxmlformats.org/officeDocument/2006/relationships/package" Target="../embeddings/Microsoft_Excel_Worksheet_2EA7_3CD31B97186.xlsx"/></Relationships>
</file>

<file path=ppt/charts/_rels/chart225.xml.rels><?xml version='1.0' encoding='UTF-8' standalone='yes'?>
<Relationships xmlns="http://schemas.openxmlformats.org/package/2006/relationships"><Relationship Id="rId1" Type="http://schemas.microsoft.com/office/2011/relationships/chartStyle" Target="style214.xml"/><Relationship Id="rId2" Type="http://schemas.microsoft.com/office/2011/relationships/chartColorStyle" Target="colors214.xml"/><Relationship Id="rId3" Type="http://schemas.openxmlformats.org/officeDocument/2006/relationships/package" Target="../embeddings/Microsoft_Excel_Worksheet_2ED2_3060A2BA.xlsx"/></Relationships>
</file>

<file path=ppt/charts/_rels/chart226.xml.rels><?xml version='1.0' encoding='UTF-8' standalone='yes'?>
<Relationships xmlns="http://schemas.openxmlformats.org/package/2006/relationships"><Relationship Id="rId1" Type="http://schemas.microsoft.com/office/2011/relationships/chartStyle" Target="style215.xml"/><Relationship Id="rId2" Type="http://schemas.microsoft.com/office/2011/relationships/chartColorStyle" Target="colors215.xml"/><Relationship Id="rId3" Type="http://schemas.openxmlformats.org/officeDocument/2006/relationships/package" Target="../embeddings/Microsoft_Excel_Worksheet_2ED2_3060A2BA187.xlsx"/></Relationships>
</file>

<file path=ppt/charts/_rels/chart227.xml.rels><?xml version='1.0' encoding='UTF-8' standalone='yes'?>
<Relationships xmlns="http://schemas.openxmlformats.org/package/2006/relationships"><Relationship Id="rId1" Type="http://schemas.microsoft.com/office/2011/relationships/chartStyle" Target="style216.xml"/><Relationship Id="rId2" Type="http://schemas.microsoft.com/office/2011/relationships/chartColorStyle" Target="colors216.xml"/><Relationship Id="rId3" Type="http://schemas.openxmlformats.org/officeDocument/2006/relationships/package" Target="../embeddings/Microsoft_Excel_Worksheet_2ED2_3060A2BA188.xlsx"/></Relationships>
</file>

<file path=ppt/charts/_rels/chart228.xml.rels><?xml version='1.0' encoding='UTF-8' standalone='yes'?>
<Relationships xmlns="http://schemas.openxmlformats.org/package/2006/relationships"><Relationship Id="rId1" Type="http://schemas.microsoft.com/office/2011/relationships/chartStyle" Target="style217.xml"/><Relationship Id="rId2" Type="http://schemas.microsoft.com/office/2011/relationships/chartColorStyle" Target="colors217.xml"/><Relationship Id="rId3" Type="http://schemas.openxmlformats.org/officeDocument/2006/relationships/package" Target="../embeddings/Microsoft_Excel_Worksheet_2ED2_3060A2BA189.xlsx"/></Relationships>
</file>

<file path=ppt/charts/_rels/chart229.xml.rels><?xml version='1.0' encoding='UTF-8' standalone='yes'?>
<Relationships xmlns="http://schemas.openxmlformats.org/package/2006/relationships"><Relationship Id="rId1" Type="http://schemas.microsoft.com/office/2011/relationships/chartStyle" Target="style218.xml"/><Relationship Id="rId2" Type="http://schemas.microsoft.com/office/2011/relationships/chartColorStyle" Target="colors218.xml"/><Relationship Id="rId3" Type="http://schemas.openxmlformats.org/officeDocument/2006/relationships/package" Target="../embeddings/Microsoft_Excel_Worksheet_2ED2_3060A2BA190.xlsx"/></Relationships>
</file>

<file path=ppt/charts/_rels/chart230.xml.rels><?xml version='1.0' encoding='UTF-8' standalone='yes'?>
<Relationships xmlns="http://schemas.openxmlformats.org/package/2006/relationships"><Relationship Id="rId1" Type="http://schemas.microsoft.com/office/2011/relationships/chartStyle" Target="style219.xml"/><Relationship Id="rId2" Type="http://schemas.microsoft.com/office/2011/relationships/chartColorStyle" Target="colors219.xml"/><Relationship Id="rId3" Type="http://schemas.openxmlformats.org/officeDocument/2006/relationships/package" Target="../embeddings/Microsoft_Excel_Worksheet_2ED2_3060A2BA191.xlsx"/></Relationships>
</file>

<file path=ppt/charts/_rels/chart231.xml.rels><?xml version='1.0' encoding='UTF-8' standalone='yes'?>
<Relationships xmlns="http://schemas.openxmlformats.org/package/2006/relationships"><Relationship Id="rId1" Type="http://schemas.microsoft.com/office/2011/relationships/chartStyle" Target="style220.xml"/><Relationship Id="rId2" Type="http://schemas.microsoft.com/office/2011/relationships/chartColorStyle" Target="colors220.xml"/><Relationship Id="rId3" Type="http://schemas.openxmlformats.org/officeDocument/2006/relationships/package" Target="../embeddings/Microsoft_Excel_Worksheet_2ED2_3060A2BA192.xlsx"/></Relationships>
</file>

<file path=ppt/charts/_rels/chart232.xml.rels><?xml version='1.0' encoding='UTF-8' standalone='yes'?>
<Relationships xmlns="http://schemas.openxmlformats.org/package/2006/relationships"><Relationship Id="rId1" Type="http://schemas.microsoft.com/office/2011/relationships/chartStyle" Target="style221.xml"/><Relationship Id="rId2" Type="http://schemas.microsoft.com/office/2011/relationships/chartColorStyle" Target="colors221.xml"/><Relationship Id="rId3" Type="http://schemas.openxmlformats.org/officeDocument/2006/relationships/package" Target="../embeddings/Microsoft_Excel_Worksheet_2ED2_3060A2BA193.xlsx"/></Relationships>
</file>

<file path=ppt/charts/_rels/chart233.xml.rels><?xml version='1.0' encoding='UTF-8' standalone='yes'?>
<Relationships xmlns="http://schemas.openxmlformats.org/package/2006/relationships"><Relationship Id="rId1" Type="http://schemas.microsoft.com/office/2011/relationships/chartStyle" Target="style222.xml"/><Relationship Id="rId2" Type="http://schemas.microsoft.com/office/2011/relationships/chartColorStyle" Target="colors222.xml"/><Relationship Id="rId3" Type="http://schemas.openxmlformats.org/officeDocument/2006/relationships/package" Target="../embeddings/Microsoft_Excel_Worksheet_2ED2_3060A2BA194.xlsx"/></Relationships>
</file>

<file path=ppt/charts/_rels/chart234.xml.rels><?xml version='1.0' encoding='UTF-8' standalone='yes'?>
<Relationships xmlns="http://schemas.openxmlformats.org/package/2006/relationships"><Relationship Id="rId1" Type="http://schemas.microsoft.com/office/2011/relationships/chartStyle" Target="style223.xml"/><Relationship Id="rId2" Type="http://schemas.microsoft.com/office/2011/relationships/chartColorStyle" Target="colors223.xml"/><Relationship Id="rId3" Type="http://schemas.openxmlformats.org/officeDocument/2006/relationships/package" Target="../embeddings/Microsoft_Excel_Worksheet_2ED2_3060A2BA195.xlsx"/></Relationships>
</file>

<file path=ppt/charts/_rels/chart235.xml.rels><?xml version='1.0' encoding='UTF-8' standalone='yes'?>
<Relationships xmlns="http://schemas.openxmlformats.org/package/2006/relationships"><Relationship Id="rId1" Type="http://schemas.microsoft.com/office/2011/relationships/chartStyle" Target="style224.xml"/><Relationship Id="rId2" Type="http://schemas.microsoft.com/office/2011/relationships/chartColorStyle" Target="colors224.xml"/><Relationship Id="rId3" Type="http://schemas.openxmlformats.org/officeDocument/2006/relationships/package" Target="../embeddings/Microsoft_Excel_Worksheet_2ED2_3060A2BA196.xlsx"/></Relationships>
</file>

<file path=ppt/charts/_rels/chart236.xml.rels><?xml version='1.0' encoding='UTF-8' standalone='yes'?>
<Relationships xmlns="http://schemas.openxmlformats.org/package/2006/relationships"><Relationship Id="rId1" Type="http://schemas.microsoft.com/office/2011/relationships/chartStyle" Target="style225.xml"/><Relationship Id="rId2" Type="http://schemas.microsoft.com/office/2011/relationships/chartColorStyle" Target="colors225.xml"/><Relationship Id="rId3" Type="http://schemas.openxmlformats.org/officeDocument/2006/relationships/package" Target="../embeddings/Microsoft_Excel_Worksheet_2ED2_3060A2BA197.xlsx"/></Relationships>
</file>

<file path=ppt/charts/_rels/chart237.xml.rels><?xml version='1.0' encoding='UTF-8' standalone='yes'?>
<Relationships xmlns="http://schemas.openxmlformats.org/package/2006/relationships"><Relationship Id="rId1" Type="http://schemas.microsoft.com/office/2011/relationships/chartStyle" Target="style226.xml"/><Relationship Id="rId2" Type="http://schemas.microsoft.com/office/2011/relationships/chartColorStyle" Target="colors226.xml"/><Relationship Id="rId3" Type="http://schemas.openxmlformats.org/officeDocument/2006/relationships/package" Target="../embeddings/Microsoft_Excel_Worksheet_2ED2_3060A2BA198.xlsx"/></Relationships>
</file>

<file path=ppt/charts/_rels/chart238.xml.rels><?xml version='1.0' encoding='UTF-8' standalone='yes'?>
<Relationships xmlns="http://schemas.openxmlformats.org/package/2006/relationships"><Relationship Id="rId1" Type="http://schemas.microsoft.com/office/2011/relationships/chartStyle" Target="style227.xml"/><Relationship Id="rId2" Type="http://schemas.microsoft.com/office/2011/relationships/chartColorStyle" Target="colors227.xml"/><Relationship Id="rId3" Type="http://schemas.openxmlformats.org/officeDocument/2006/relationships/package" Target="../embeddings/Microsoft_Excel_Worksheet_2EA9_4AE094F5.xlsx"/></Relationships>
</file>

<file path=ppt/charts/_rels/chart239.xml.rels><?xml version='1.0' encoding='UTF-8' standalone='yes'?>
<Relationships xmlns="http://schemas.openxmlformats.org/package/2006/relationships"><Relationship Id="rId1" Type="http://schemas.microsoft.com/office/2011/relationships/chartStyle" Target="style228.xml"/><Relationship Id="rId2" Type="http://schemas.microsoft.com/office/2011/relationships/chartColorStyle" Target="colors228.xml"/><Relationship Id="rId3" Type="http://schemas.openxmlformats.org/officeDocument/2006/relationships/package" Target="../embeddings/Microsoft_Excel_Worksheet_2EA9_4AE094F5199.xlsx"/></Relationships>
</file>

<file path=ppt/charts/_rels/chart240.xml.rels><?xml version='1.0' encoding='UTF-8' standalone='yes'?>
<Relationships xmlns="http://schemas.openxmlformats.org/package/2006/relationships"><Relationship Id="rId1" Type="http://schemas.microsoft.com/office/2011/relationships/chartStyle" Target="style229.xml"/><Relationship Id="rId2" Type="http://schemas.microsoft.com/office/2011/relationships/chartColorStyle" Target="colors229.xml"/><Relationship Id="rId3" Type="http://schemas.openxmlformats.org/officeDocument/2006/relationships/package" Target="../embeddings/Microsoft_Excel_Worksheet_2EA9_4AE094F5200.xlsx"/></Relationships>
</file>

<file path=ppt/charts/_rels/chart241.xml.rels><?xml version='1.0' encoding='UTF-8' standalone='yes'?>
<Relationships xmlns="http://schemas.openxmlformats.org/package/2006/relationships"><Relationship Id="rId1" Type="http://schemas.microsoft.com/office/2011/relationships/chartStyle" Target="style230.xml"/><Relationship Id="rId2" Type="http://schemas.microsoft.com/office/2011/relationships/chartColorStyle" Target="colors230.xml"/><Relationship Id="rId3" Type="http://schemas.openxmlformats.org/officeDocument/2006/relationships/package" Target="../embeddings/Microsoft_Excel_Worksheet_2EA9_4AE094F5201.xlsx"/></Relationships>
</file>

<file path=ppt/charts/_rels/chart242.xml.rels><?xml version='1.0' encoding='UTF-8' standalone='yes'?>
<Relationships xmlns="http://schemas.openxmlformats.org/package/2006/relationships"><Relationship Id="rId1" Type="http://schemas.microsoft.com/office/2011/relationships/chartStyle" Target="style231.xml"/><Relationship Id="rId2" Type="http://schemas.microsoft.com/office/2011/relationships/chartColorStyle" Target="colors231.xml"/><Relationship Id="rId3" Type="http://schemas.openxmlformats.org/officeDocument/2006/relationships/package" Target="../embeddings/Microsoft_Excel_Worksheet_2EA9_4AE094F5202.xlsx"/></Relationships>
</file>

<file path=ppt/charts/_rels/chart243.xml.rels><?xml version='1.0' encoding='UTF-8' standalone='yes'?>
<Relationships xmlns="http://schemas.openxmlformats.org/package/2006/relationships"><Relationship Id="rId1" Type="http://schemas.microsoft.com/office/2011/relationships/chartStyle" Target="style232.xml"/><Relationship Id="rId2" Type="http://schemas.microsoft.com/office/2011/relationships/chartColorStyle" Target="colors232.xml"/><Relationship Id="rId3" Type="http://schemas.openxmlformats.org/officeDocument/2006/relationships/package" Target="../embeddings/Microsoft_Excel_Worksheet_2EA9_4AE094F5203.xlsx"/></Relationships>
</file>

<file path=ppt/charts/_rels/chart244.xml.rels><?xml version='1.0' encoding='UTF-8' standalone='yes'?>
<Relationships xmlns="http://schemas.openxmlformats.org/package/2006/relationships"><Relationship Id="rId1" Type="http://schemas.microsoft.com/office/2011/relationships/chartStyle" Target="style233.xml"/><Relationship Id="rId2" Type="http://schemas.microsoft.com/office/2011/relationships/chartColorStyle" Target="colors233.xml"/><Relationship Id="rId3" Type="http://schemas.openxmlformats.org/officeDocument/2006/relationships/package" Target="../embeddings/Microsoft_Excel_Worksheet_2EA9_4AE094F5204.xlsx"/></Relationships>
</file>

<file path=ppt/charts/_rels/chart245.xml.rels><?xml version='1.0' encoding='UTF-8' standalone='yes'?>
<Relationships xmlns="http://schemas.openxmlformats.org/package/2006/relationships"><Relationship Id="rId1" Type="http://schemas.microsoft.com/office/2011/relationships/chartStyle" Target="style234.xml"/><Relationship Id="rId2" Type="http://schemas.microsoft.com/office/2011/relationships/chartColorStyle" Target="colors234.xml"/><Relationship Id="rId3" Type="http://schemas.openxmlformats.org/officeDocument/2006/relationships/package" Target="../embeddings/Microsoft_Excel_Worksheet_2EA9_4AE094F5205.xlsx"/></Relationships>
</file>

<file path=ppt/charts/_rels/chart246.xml.rels><?xml version='1.0' encoding='UTF-8' standalone='yes'?>
<Relationships xmlns="http://schemas.openxmlformats.org/package/2006/relationships"><Relationship Id="rId1" Type="http://schemas.microsoft.com/office/2011/relationships/chartStyle" Target="style235.xml"/><Relationship Id="rId2" Type="http://schemas.microsoft.com/office/2011/relationships/chartColorStyle" Target="colors235.xml"/><Relationship Id="rId3" Type="http://schemas.openxmlformats.org/officeDocument/2006/relationships/package" Target="../embeddings/Microsoft_Excel_Worksheet_2EA9_4AE094F5206.xlsx"/></Relationships>
</file>

<file path=ppt/charts/_rels/chart247.xml.rels><?xml version='1.0' encoding='UTF-8' standalone='yes'?>
<Relationships xmlns="http://schemas.openxmlformats.org/package/2006/relationships"><Relationship Id="rId1" Type="http://schemas.microsoft.com/office/2011/relationships/chartStyle" Target="style236.xml"/><Relationship Id="rId2" Type="http://schemas.microsoft.com/office/2011/relationships/chartColorStyle" Target="colors236.xml"/><Relationship Id="rId3" Type="http://schemas.openxmlformats.org/officeDocument/2006/relationships/package" Target="../embeddings/Microsoft_Excel_Worksheet_2EA9_4AE094F5207.xlsx"/></Relationships>
</file>

<file path=ppt/charts/_rels/chart248.xml.rels><?xml version='1.0' encoding='UTF-8' standalone='yes'?>
<Relationships xmlns="http://schemas.openxmlformats.org/package/2006/relationships"><Relationship Id="rId1" Type="http://schemas.microsoft.com/office/2011/relationships/chartStyle" Target="style237.xml"/><Relationship Id="rId2" Type="http://schemas.microsoft.com/office/2011/relationships/chartColorStyle" Target="colors237.xml"/><Relationship Id="rId3" Type="http://schemas.openxmlformats.org/officeDocument/2006/relationships/package" Target="../embeddings/Microsoft_Excel_Worksheet_2EA9_4AE094F5208.xlsx"/></Relationships>
</file>

<file path=ppt/charts/_rels/chart249.xml.rels><?xml version='1.0' encoding='UTF-8' standalone='yes'?>
<Relationships xmlns="http://schemas.openxmlformats.org/package/2006/relationships"><Relationship Id="rId1" Type="http://schemas.microsoft.com/office/2011/relationships/chartStyle" Target="style238.xml"/><Relationship Id="rId2" Type="http://schemas.microsoft.com/office/2011/relationships/chartColorStyle" Target="colors238.xml"/><Relationship Id="rId3" Type="http://schemas.openxmlformats.org/officeDocument/2006/relationships/package" Target="../embeddings/Microsoft_Excel_Worksheet_2EA9_4AE094F5209.xlsx"/></Relationships>
</file>

<file path=ppt/charts/_rels/chart250.xml.rels><?xml version='1.0' encoding='UTF-8' standalone='yes'?>
<Relationships xmlns="http://schemas.openxmlformats.org/package/2006/relationships"><Relationship Id="rId1" Type="http://schemas.microsoft.com/office/2011/relationships/chartStyle" Target="style239.xml"/><Relationship Id="rId2" Type="http://schemas.microsoft.com/office/2011/relationships/chartColorStyle" Target="colors239.xml"/><Relationship Id="rId3" Type="http://schemas.openxmlformats.org/officeDocument/2006/relationships/package" Target="../embeddings/Microsoft_Excel_Worksheet_2EA9_4AE094F5210.xlsx"/></Relationships>
</file>

<file path=ppt/charts/_rels/chart251.xml.rels><?xml version='1.0' encoding='UTF-8' standalone='yes'?>
<Relationships xmlns="http://schemas.openxmlformats.org/package/2006/relationships"><Relationship Id="rId1" Type="http://schemas.microsoft.com/office/2011/relationships/chartStyle" Target="style240.xml"/><Relationship Id="rId2" Type="http://schemas.microsoft.com/office/2011/relationships/chartColorStyle" Target="colors240.xml"/><Relationship Id="rId3" Type="http://schemas.openxmlformats.org/officeDocument/2006/relationships/package" Target="../embeddings/Microsoft_Excel_Worksheet_2EAA_D9ACAF2A.xlsx"/></Relationships>
</file>

<file path=ppt/charts/_rels/chart252.xml.rels><?xml version='1.0' encoding='UTF-8' standalone='yes'?>
<Relationships xmlns="http://schemas.openxmlformats.org/package/2006/relationships"><Relationship Id="rId1" Type="http://schemas.microsoft.com/office/2011/relationships/chartStyle" Target="style241.xml"/><Relationship Id="rId2" Type="http://schemas.microsoft.com/office/2011/relationships/chartColorStyle" Target="colors241.xml"/><Relationship Id="rId3" Type="http://schemas.openxmlformats.org/officeDocument/2006/relationships/package" Target="../embeddings/Microsoft_Excel_Worksheet_2EAA_D9ACAF2A211.xlsx"/></Relationships>
</file>

<file path=ppt/charts/_rels/chart253.xml.rels><?xml version='1.0' encoding='UTF-8' standalone='yes'?>
<Relationships xmlns="http://schemas.openxmlformats.org/package/2006/relationships"><Relationship Id="rId1" Type="http://schemas.microsoft.com/office/2011/relationships/chartStyle" Target="style242.xml"/><Relationship Id="rId2" Type="http://schemas.microsoft.com/office/2011/relationships/chartColorStyle" Target="colors242.xml"/><Relationship Id="rId3" Type="http://schemas.openxmlformats.org/officeDocument/2006/relationships/package" Target="../embeddings/Microsoft_Excel_Worksheet_2EAA_D9ACAF2A212.xlsx"/></Relationships>
</file>

<file path=ppt/charts/_rels/chart254.xml.rels><?xml version='1.0' encoding='UTF-8' standalone='yes'?>
<Relationships xmlns="http://schemas.openxmlformats.org/package/2006/relationships"><Relationship Id="rId1" Type="http://schemas.microsoft.com/office/2011/relationships/chartStyle" Target="style243.xml"/><Relationship Id="rId2" Type="http://schemas.microsoft.com/office/2011/relationships/chartColorStyle" Target="colors243.xml"/><Relationship Id="rId3" Type="http://schemas.openxmlformats.org/officeDocument/2006/relationships/package" Target="../embeddings/Microsoft_Excel_Worksheet_2EAA_D9ACAF2A213.xlsx"/></Relationships>
</file>

<file path=ppt/charts/_rels/chart255.xml.rels><?xml version='1.0' encoding='UTF-8' standalone='yes'?>
<Relationships xmlns="http://schemas.openxmlformats.org/package/2006/relationships"><Relationship Id="rId1" Type="http://schemas.microsoft.com/office/2011/relationships/chartStyle" Target="style244.xml"/><Relationship Id="rId2" Type="http://schemas.microsoft.com/office/2011/relationships/chartColorStyle" Target="colors244.xml"/><Relationship Id="rId3" Type="http://schemas.openxmlformats.org/officeDocument/2006/relationships/package" Target="../embeddings/Microsoft_Excel_Worksheet_2EAA_D9ACAF2A214.xlsx"/></Relationships>
</file>

<file path=ppt/charts/_rels/chart256.xml.rels><?xml version='1.0' encoding='UTF-8' standalone='yes'?>
<Relationships xmlns="http://schemas.openxmlformats.org/package/2006/relationships"><Relationship Id="rId1" Type="http://schemas.microsoft.com/office/2011/relationships/chartStyle" Target="style245.xml"/><Relationship Id="rId2" Type="http://schemas.microsoft.com/office/2011/relationships/chartColorStyle" Target="colors245.xml"/><Relationship Id="rId3" Type="http://schemas.openxmlformats.org/officeDocument/2006/relationships/package" Target="../embeddings/Microsoft_Excel_Worksheet_2EAA_D9ACAF2A215.xlsx"/></Relationships>
</file>

<file path=ppt/charts/_rels/chart257.xml.rels><?xml version='1.0' encoding='UTF-8' standalone='yes'?>
<Relationships xmlns="http://schemas.openxmlformats.org/package/2006/relationships"><Relationship Id="rId1" Type="http://schemas.microsoft.com/office/2011/relationships/chartStyle" Target="style246.xml"/><Relationship Id="rId2" Type="http://schemas.microsoft.com/office/2011/relationships/chartColorStyle" Target="colors246.xml"/><Relationship Id="rId3" Type="http://schemas.openxmlformats.org/officeDocument/2006/relationships/package" Target="../embeddings/Microsoft_Excel_Worksheet_2EAA_D9ACAF2A216.xlsx"/></Relationships>
</file>

<file path=ppt/charts/_rels/chart258.xml.rels><?xml version='1.0' encoding='UTF-8' standalone='yes'?>
<Relationships xmlns="http://schemas.openxmlformats.org/package/2006/relationships"><Relationship Id="rId1" Type="http://schemas.microsoft.com/office/2011/relationships/chartStyle" Target="style247.xml"/><Relationship Id="rId2" Type="http://schemas.microsoft.com/office/2011/relationships/chartColorStyle" Target="colors247.xml"/><Relationship Id="rId3" Type="http://schemas.openxmlformats.org/officeDocument/2006/relationships/package" Target="../embeddings/Microsoft_Excel_Worksheet_2EAA_D9ACAF2A217.xlsx"/></Relationships>
</file>

<file path=ppt/charts/_rels/chart259.xml.rels><?xml version='1.0' encoding='UTF-8' standalone='yes'?>
<Relationships xmlns="http://schemas.openxmlformats.org/package/2006/relationships"><Relationship Id="rId1" Type="http://schemas.microsoft.com/office/2011/relationships/chartStyle" Target="style248.xml"/><Relationship Id="rId2" Type="http://schemas.microsoft.com/office/2011/relationships/chartColorStyle" Target="colors248.xml"/><Relationship Id="rId3" Type="http://schemas.openxmlformats.org/officeDocument/2006/relationships/package" Target="../embeddings/Microsoft_Excel_Worksheet_2EAA_D9ACAF2A218.xlsx"/></Relationships>
</file>

<file path=ppt/charts/_rels/chart260.xml.rels><?xml version='1.0' encoding='UTF-8' standalone='yes'?>
<Relationships xmlns="http://schemas.openxmlformats.org/package/2006/relationships"><Relationship Id="rId1" Type="http://schemas.microsoft.com/office/2011/relationships/chartStyle" Target="style249.xml"/><Relationship Id="rId2" Type="http://schemas.microsoft.com/office/2011/relationships/chartColorStyle" Target="colors249.xml"/><Relationship Id="rId3" Type="http://schemas.openxmlformats.org/officeDocument/2006/relationships/package" Target="../embeddings/Microsoft_Excel_Worksheet_2EAA_D9ACAF2A219.xlsx"/></Relationships>
</file>

<file path=ppt/charts/_rels/chart261.xml.rels><?xml version='1.0' encoding='UTF-8' standalone='yes'?>
<Relationships xmlns="http://schemas.openxmlformats.org/package/2006/relationships"><Relationship Id="rId1" Type="http://schemas.microsoft.com/office/2011/relationships/chartStyle" Target="style250.xml"/><Relationship Id="rId2" Type="http://schemas.microsoft.com/office/2011/relationships/chartColorStyle" Target="colors250.xml"/><Relationship Id="rId3" Type="http://schemas.openxmlformats.org/officeDocument/2006/relationships/package" Target="../embeddings/Microsoft_Excel_Worksheet_2EAA_D9ACAF2A220.xlsx"/></Relationships>
</file>

<file path=ppt/charts/_rels/chart262.xml.rels><?xml version='1.0' encoding='UTF-8' standalone='yes'?>
<Relationships xmlns="http://schemas.openxmlformats.org/package/2006/relationships"><Relationship Id="rId1" Type="http://schemas.microsoft.com/office/2011/relationships/chartStyle" Target="style251.xml"/><Relationship Id="rId2" Type="http://schemas.microsoft.com/office/2011/relationships/chartColorStyle" Target="colors251.xml"/><Relationship Id="rId3" Type="http://schemas.openxmlformats.org/officeDocument/2006/relationships/package" Target="../embeddings/Microsoft_Excel_Worksheet_2EAA_D9ACAF2A221.xlsx"/></Relationships>
</file>

<file path=ppt/charts/_rels/chart263.xml.rels><?xml version='1.0' encoding='UTF-8' standalone='yes'?>
<Relationships xmlns="http://schemas.openxmlformats.org/package/2006/relationships"><Relationship Id="rId1" Type="http://schemas.microsoft.com/office/2011/relationships/chartStyle" Target="style252.xml"/><Relationship Id="rId2" Type="http://schemas.microsoft.com/office/2011/relationships/chartColorStyle" Target="colors252.xml"/><Relationship Id="rId3" Type="http://schemas.openxmlformats.org/officeDocument/2006/relationships/package" Target="../embeddings/Microsoft_Excel_Worksheet_2EAA_D9ACAF2A222.xlsx"/></Relationships>
</file>

<file path=ppt/charts/_rels/chart264.xml.rels><?xml version='1.0' encoding='UTF-8' standalone='yes'?>
<Relationships xmlns="http://schemas.openxmlformats.org/package/2006/relationships"><Relationship Id="rId1" Type="http://schemas.microsoft.com/office/2011/relationships/chartStyle" Target="style253.xml"/><Relationship Id="rId2" Type="http://schemas.microsoft.com/office/2011/relationships/chartColorStyle" Target="colors253.xml"/><Relationship Id="rId3" Type="http://schemas.openxmlformats.org/officeDocument/2006/relationships/package" Target="../embeddings/Microsoft_Excel_Worksheet_2ED3_49C8ADB5.xlsx"/></Relationships>
</file>

<file path=ppt/charts/_rels/chart265.xml.rels><?xml version='1.0' encoding='UTF-8' standalone='yes'?>
<Relationships xmlns="http://schemas.openxmlformats.org/package/2006/relationships"><Relationship Id="rId1" Type="http://schemas.microsoft.com/office/2011/relationships/chartStyle" Target="style254.xml"/><Relationship Id="rId2" Type="http://schemas.microsoft.com/office/2011/relationships/chartColorStyle" Target="colors254.xml"/><Relationship Id="rId3" Type="http://schemas.openxmlformats.org/officeDocument/2006/relationships/package" Target="../embeddings/Microsoft_Excel_Worksheet_2ED3_49C8ADB5223.xlsx"/></Relationships>
</file>

<file path=ppt/charts/_rels/chart266.xml.rels><?xml version='1.0' encoding='UTF-8' standalone='yes'?>
<Relationships xmlns="http://schemas.openxmlformats.org/package/2006/relationships"><Relationship Id="rId1" Type="http://schemas.microsoft.com/office/2011/relationships/chartStyle" Target="style255.xml"/><Relationship Id="rId2" Type="http://schemas.microsoft.com/office/2011/relationships/chartColorStyle" Target="colors255.xml"/><Relationship Id="rId3" Type="http://schemas.openxmlformats.org/officeDocument/2006/relationships/package" Target="../embeddings/Microsoft_Excel_Worksheet_2ED3_49C8ADB5224.xlsx"/></Relationships>
</file>

<file path=ppt/charts/_rels/chart267.xml.rels><?xml version='1.0' encoding='UTF-8' standalone='yes'?>
<Relationships xmlns="http://schemas.openxmlformats.org/package/2006/relationships"><Relationship Id="rId1" Type="http://schemas.microsoft.com/office/2011/relationships/chartStyle" Target="style256.xml"/><Relationship Id="rId2" Type="http://schemas.microsoft.com/office/2011/relationships/chartColorStyle" Target="colors256.xml"/><Relationship Id="rId3" Type="http://schemas.openxmlformats.org/officeDocument/2006/relationships/package" Target="../embeddings/Microsoft_Excel_Worksheet_2ED3_49C8ADB5225.xlsx"/></Relationships>
</file>

<file path=ppt/charts/_rels/chart268.xml.rels><?xml version='1.0' encoding='UTF-8' standalone='yes'?>
<Relationships xmlns="http://schemas.openxmlformats.org/package/2006/relationships"><Relationship Id="rId1" Type="http://schemas.microsoft.com/office/2011/relationships/chartStyle" Target="style257.xml"/><Relationship Id="rId2" Type="http://schemas.microsoft.com/office/2011/relationships/chartColorStyle" Target="colors257.xml"/><Relationship Id="rId3" Type="http://schemas.openxmlformats.org/officeDocument/2006/relationships/package" Target="../embeddings/Microsoft_Excel_Worksheet_2ED3_49C8ADB5226.xlsx"/></Relationships>
</file>

<file path=ppt/charts/_rels/chart269.xml.rels><?xml version='1.0' encoding='UTF-8' standalone='yes'?>
<Relationships xmlns="http://schemas.openxmlformats.org/package/2006/relationships"><Relationship Id="rId1" Type="http://schemas.microsoft.com/office/2011/relationships/chartStyle" Target="style258.xml"/><Relationship Id="rId2" Type="http://schemas.microsoft.com/office/2011/relationships/chartColorStyle" Target="colors258.xml"/><Relationship Id="rId3" Type="http://schemas.openxmlformats.org/officeDocument/2006/relationships/package" Target="../embeddings/Microsoft_Excel_Worksheet_2ED3_49C8ADB5227.xlsx"/></Relationships>
</file>

<file path=ppt/charts/_rels/chart270.xml.rels><?xml version='1.0' encoding='UTF-8' standalone='yes'?>
<Relationships xmlns="http://schemas.openxmlformats.org/package/2006/relationships"><Relationship Id="rId1" Type="http://schemas.microsoft.com/office/2011/relationships/chartStyle" Target="style259.xml"/><Relationship Id="rId2" Type="http://schemas.microsoft.com/office/2011/relationships/chartColorStyle" Target="colors259.xml"/><Relationship Id="rId3" Type="http://schemas.openxmlformats.org/officeDocument/2006/relationships/package" Target="../embeddings/Microsoft_Excel_Worksheet_2ED3_49C8ADB5228.xlsx"/></Relationships>
</file>

<file path=ppt/charts/_rels/chart271.xml.rels><?xml version='1.0' encoding='UTF-8' standalone='yes'?>
<Relationships xmlns="http://schemas.openxmlformats.org/package/2006/relationships"><Relationship Id="rId1" Type="http://schemas.microsoft.com/office/2011/relationships/chartStyle" Target="style260.xml"/><Relationship Id="rId2" Type="http://schemas.microsoft.com/office/2011/relationships/chartColorStyle" Target="colors260.xml"/><Relationship Id="rId3" Type="http://schemas.openxmlformats.org/officeDocument/2006/relationships/package" Target="../embeddings/Microsoft_Excel_Worksheet_2ED3_49C8ADB5229.xlsx"/></Relationships>
</file>

<file path=ppt/charts/_rels/chart272.xml.rels><?xml version='1.0' encoding='UTF-8' standalone='yes'?>
<Relationships xmlns="http://schemas.openxmlformats.org/package/2006/relationships"><Relationship Id="rId1" Type="http://schemas.microsoft.com/office/2011/relationships/chartStyle" Target="style261.xml"/><Relationship Id="rId2" Type="http://schemas.microsoft.com/office/2011/relationships/chartColorStyle" Target="colors261.xml"/><Relationship Id="rId3" Type="http://schemas.openxmlformats.org/officeDocument/2006/relationships/package" Target="../embeddings/Microsoft_Excel_Worksheet_2ED3_49C8ADB5230.xlsx"/></Relationships>
</file>

<file path=ppt/charts/_rels/chart273.xml.rels><?xml version='1.0' encoding='UTF-8' standalone='yes'?>
<Relationships xmlns="http://schemas.openxmlformats.org/package/2006/relationships"><Relationship Id="rId1" Type="http://schemas.microsoft.com/office/2011/relationships/chartStyle" Target="style262.xml"/><Relationship Id="rId2" Type="http://schemas.microsoft.com/office/2011/relationships/chartColorStyle" Target="colors262.xml"/><Relationship Id="rId3" Type="http://schemas.openxmlformats.org/officeDocument/2006/relationships/package" Target="../embeddings/Microsoft_Excel_Worksheet_2ED3_49C8ADB5231.xlsx"/></Relationships>
</file>

<file path=ppt/charts/_rels/chart274.xml.rels><?xml version='1.0' encoding='UTF-8' standalone='yes'?>
<Relationships xmlns="http://schemas.openxmlformats.org/package/2006/relationships"><Relationship Id="rId1" Type="http://schemas.microsoft.com/office/2011/relationships/chartStyle" Target="style263.xml"/><Relationship Id="rId2" Type="http://schemas.microsoft.com/office/2011/relationships/chartColorStyle" Target="colors263.xml"/><Relationship Id="rId3" Type="http://schemas.openxmlformats.org/officeDocument/2006/relationships/package" Target="../embeddings/Microsoft_Excel_Worksheet_2ED3_49C8ADB5232.xlsx"/></Relationships>
</file>

<file path=ppt/charts/_rels/chart275.xml.rels><?xml version='1.0' encoding='UTF-8' standalone='yes'?>
<Relationships xmlns="http://schemas.openxmlformats.org/package/2006/relationships"><Relationship Id="rId1" Type="http://schemas.microsoft.com/office/2011/relationships/chartStyle" Target="style264.xml"/><Relationship Id="rId2" Type="http://schemas.microsoft.com/office/2011/relationships/chartColorStyle" Target="colors264.xml"/><Relationship Id="rId3" Type="http://schemas.openxmlformats.org/officeDocument/2006/relationships/package" Target="../embeddings/Microsoft_Excel_Worksheet_2ED3_49C8ADB5233.xlsx"/></Relationships>
</file>

<file path=ppt/charts/_rels/chart276.xml.rels><?xml version='1.0' encoding='UTF-8' standalone='yes'?>
<Relationships xmlns="http://schemas.openxmlformats.org/package/2006/relationships"><Relationship Id="rId1" Type="http://schemas.microsoft.com/office/2011/relationships/chartStyle" Target="style265.xml"/><Relationship Id="rId2" Type="http://schemas.microsoft.com/office/2011/relationships/chartColorStyle" Target="colors265.xml"/><Relationship Id="rId3" Type="http://schemas.openxmlformats.org/officeDocument/2006/relationships/package" Target="../embeddings/Microsoft_Excel_Worksheet_2ED3_49C8ADB5234.xlsx"/></Relationships>
</file>

<file path=ppt/charts/_rels/chart277.xml.rels><?xml version='1.0' encoding='UTF-8' standalone='yes'?>
<Relationships xmlns="http://schemas.openxmlformats.org/package/2006/relationships"><Relationship Id="rId1" Type="http://schemas.microsoft.com/office/2011/relationships/chartStyle" Target="style266.xml"/><Relationship Id="rId2" Type="http://schemas.microsoft.com/office/2011/relationships/chartColorStyle" Target="colors266.xml"/><Relationship Id="rId3" Type="http://schemas.openxmlformats.org/officeDocument/2006/relationships/package" Target="../embeddings/Microsoft_Excel_Worksheet_2EAC_BB6FBCB7.xlsx"/></Relationships>
</file>

<file path=ppt/charts/_rels/chart278.xml.rels><?xml version='1.0' encoding='UTF-8' standalone='yes'?>
<Relationships xmlns="http://schemas.openxmlformats.org/package/2006/relationships"><Relationship Id="rId1" Type="http://schemas.microsoft.com/office/2011/relationships/chartStyle" Target="style267.xml"/><Relationship Id="rId2" Type="http://schemas.microsoft.com/office/2011/relationships/chartColorStyle" Target="colors267.xml"/><Relationship Id="rId3" Type="http://schemas.openxmlformats.org/officeDocument/2006/relationships/package" Target="../embeddings/Microsoft_Excel_Worksheet_2EAC_BB6FBCB7235.xlsx"/></Relationships>
</file>

<file path=ppt/charts/_rels/chart279.xml.rels><?xml version='1.0' encoding='UTF-8' standalone='yes'?>
<Relationships xmlns="http://schemas.openxmlformats.org/package/2006/relationships"><Relationship Id="rId1" Type="http://schemas.microsoft.com/office/2011/relationships/chartStyle" Target="style268.xml"/><Relationship Id="rId2" Type="http://schemas.microsoft.com/office/2011/relationships/chartColorStyle" Target="colors268.xml"/><Relationship Id="rId3" Type="http://schemas.openxmlformats.org/officeDocument/2006/relationships/package" Target="../embeddings/Microsoft_Excel_Worksheet_2EAC_BB6FBCB7236.xlsx"/></Relationships>
</file>

<file path=ppt/charts/_rels/chart280.xml.rels><?xml version='1.0' encoding='UTF-8' standalone='yes'?>
<Relationships xmlns="http://schemas.openxmlformats.org/package/2006/relationships"><Relationship Id="rId1" Type="http://schemas.microsoft.com/office/2011/relationships/chartStyle" Target="style269.xml"/><Relationship Id="rId2" Type="http://schemas.microsoft.com/office/2011/relationships/chartColorStyle" Target="colors269.xml"/><Relationship Id="rId3" Type="http://schemas.openxmlformats.org/officeDocument/2006/relationships/package" Target="../embeddings/Microsoft_Excel_Worksheet_2EAC_BB6FBCB7237.xlsx"/></Relationships>
</file>

<file path=ppt/charts/_rels/chart281.xml.rels><?xml version='1.0' encoding='UTF-8' standalone='yes'?>
<Relationships xmlns="http://schemas.openxmlformats.org/package/2006/relationships"><Relationship Id="rId1" Type="http://schemas.microsoft.com/office/2011/relationships/chartStyle" Target="style270.xml"/><Relationship Id="rId2" Type="http://schemas.microsoft.com/office/2011/relationships/chartColorStyle" Target="colors270.xml"/><Relationship Id="rId3" Type="http://schemas.openxmlformats.org/officeDocument/2006/relationships/package" Target="../embeddings/Microsoft_Excel_Worksheet_2EAC_BB6FBCB7238.xlsx"/></Relationships>
</file>

<file path=ppt/charts/_rels/chart282.xml.rels><?xml version='1.0' encoding='UTF-8' standalone='yes'?>
<Relationships xmlns="http://schemas.openxmlformats.org/package/2006/relationships"><Relationship Id="rId1" Type="http://schemas.microsoft.com/office/2011/relationships/chartStyle" Target="style271.xml"/><Relationship Id="rId2" Type="http://schemas.microsoft.com/office/2011/relationships/chartColorStyle" Target="colors271.xml"/><Relationship Id="rId3" Type="http://schemas.openxmlformats.org/officeDocument/2006/relationships/package" Target="../embeddings/Microsoft_Excel_Worksheet_2EAC_BB6FBCB7239.xlsx"/></Relationships>
</file>

<file path=ppt/charts/_rels/chart283.xml.rels><?xml version='1.0' encoding='UTF-8' standalone='yes'?>
<Relationships xmlns="http://schemas.openxmlformats.org/package/2006/relationships"><Relationship Id="rId1" Type="http://schemas.microsoft.com/office/2011/relationships/chartStyle" Target="style272.xml"/><Relationship Id="rId2" Type="http://schemas.microsoft.com/office/2011/relationships/chartColorStyle" Target="colors272.xml"/><Relationship Id="rId3" Type="http://schemas.openxmlformats.org/officeDocument/2006/relationships/package" Target="../embeddings/Microsoft_Excel_Worksheet_2EAC_BB6FBCB7240.xlsx"/></Relationships>
</file>

<file path=ppt/charts/_rels/chart284.xml.rels><?xml version='1.0' encoding='UTF-8' standalone='yes'?>
<Relationships xmlns="http://schemas.openxmlformats.org/package/2006/relationships"><Relationship Id="rId1" Type="http://schemas.microsoft.com/office/2011/relationships/chartStyle" Target="style273.xml"/><Relationship Id="rId2" Type="http://schemas.microsoft.com/office/2011/relationships/chartColorStyle" Target="colors273.xml"/><Relationship Id="rId3" Type="http://schemas.openxmlformats.org/officeDocument/2006/relationships/package" Target="../embeddings/Microsoft_Excel_Worksheet_2EAC_BB6FBCB7241.xlsx"/></Relationships>
</file>

<file path=ppt/charts/_rels/chart285.xml.rels><?xml version='1.0' encoding='UTF-8' standalone='yes'?>
<Relationships xmlns="http://schemas.openxmlformats.org/package/2006/relationships"><Relationship Id="rId1" Type="http://schemas.microsoft.com/office/2011/relationships/chartStyle" Target="style274.xml"/><Relationship Id="rId2" Type="http://schemas.microsoft.com/office/2011/relationships/chartColorStyle" Target="colors274.xml"/><Relationship Id="rId3" Type="http://schemas.openxmlformats.org/officeDocument/2006/relationships/package" Target="../embeddings/Microsoft_Excel_Worksheet_2EAC_BB6FBCB7242.xlsx"/></Relationships>
</file>

<file path=ppt/charts/_rels/chart286.xml.rels><?xml version='1.0' encoding='UTF-8' standalone='yes'?>
<Relationships xmlns="http://schemas.openxmlformats.org/package/2006/relationships"><Relationship Id="rId1" Type="http://schemas.microsoft.com/office/2011/relationships/chartStyle" Target="style275.xml"/><Relationship Id="rId2" Type="http://schemas.microsoft.com/office/2011/relationships/chartColorStyle" Target="colors275.xml"/><Relationship Id="rId3" Type="http://schemas.openxmlformats.org/officeDocument/2006/relationships/package" Target="../embeddings/Microsoft_Excel_Worksheet_2EAC_BB6FBCB7243.xlsx"/></Relationships>
</file>

<file path=ppt/charts/_rels/chart287.xml.rels><?xml version='1.0' encoding='UTF-8' standalone='yes'?>
<Relationships xmlns="http://schemas.openxmlformats.org/package/2006/relationships"><Relationship Id="rId1" Type="http://schemas.microsoft.com/office/2011/relationships/chartStyle" Target="style276.xml"/><Relationship Id="rId2" Type="http://schemas.microsoft.com/office/2011/relationships/chartColorStyle" Target="colors276.xml"/><Relationship Id="rId3" Type="http://schemas.openxmlformats.org/officeDocument/2006/relationships/package" Target="../embeddings/Microsoft_Excel_Worksheet_2EAC_BB6FBCB7244.xlsx"/></Relationships>
</file>

<file path=ppt/charts/_rels/chart288.xml.rels><?xml version='1.0' encoding='UTF-8' standalone='yes'?>
<Relationships xmlns="http://schemas.openxmlformats.org/package/2006/relationships"><Relationship Id="rId1" Type="http://schemas.microsoft.com/office/2011/relationships/chartStyle" Target="style277.xml"/><Relationship Id="rId2" Type="http://schemas.microsoft.com/office/2011/relationships/chartColorStyle" Target="colors277.xml"/><Relationship Id="rId3" Type="http://schemas.openxmlformats.org/officeDocument/2006/relationships/package" Target="../embeddings/Microsoft_Excel_Worksheet_2EAC_BB6FBCB7245.xlsx"/></Relationships>
</file>

<file path=ppt/charts/_rels/chart289.xml.rels><?xml version='1.0' encoding='UTF-8' standalone='yes'?>
<Relationships xmlns="http://schemas.openxmlformats.org/package/2006/relationships"><Relationship Id="rId1" Type="http://schemas.microsoft.com/office/2011/relationships/chartStyle" Target="style278.xml"/><Relationship Id="rId2" Type="http://schemas.microsoft.com/office/2011/relationships/chartColorStyle" Target="colors278.xml"/><Relationship Id="rId3" Type="http://schemas.openxmlformats.org/officeDocument/2006/relationships/package" Target="../embeddings/Microsoft_Excel_Worksheet_2EAC_BB6FBCB7246.xlsx"/></Relationships>
</file>

<file path=ppt/charts/_rels/chart290.xml.rels><?xml version='1.0' encoding='UTF-8' standalone='yes'?>
<Relationships xmlns="http://schemas.openxmlformats.org/package/2006/relationships"><Relationship Id="rId1" Type="http://schemas.microsoft.com/office/2011/relationships/chartStyle" Target="style279.xml"/><Relationship Id="rId2" Type="http://schemas.microsoft.com/office/2011/relationships/chartColorStyle" Target="colors279.xml"/><Relationship Id="rId3" Type="http://schemas.openxmlformats.org/officeDocument/2006/relationships/package" Target="../embeddings/Microsoft_Excel_Worksheet_2EAD_1AACA3DD.xlsx"/></Relationships>
</file>

<file path=ppt/charts/_rels/chart291.xml.rels><?xml version='1.0' encoding='UTF-8' standalone='yes'?>
<Relationships xmlns="http://schemas.openxmlformats.org/package/2006/relationships"><Relationship Id="rId1" Type="http://schemas.microsoft.com/office/2011/relationships/chartStyle" Target="style280.xml"/><Relationship Id="rId2" Type="http://schemas.microsoft.com/office/2011/relationships/chartColorStyle" Target="colors280.xml"/><Relationship Id="rId3" Type="http://schemas.openxmlformats.org/officeDocument/2006/relationships/package" Target="../embeddings/Microsoft_Excel_Worksheet_2EAD_1AACA3DD247.xlsx"/></Relationships>
</file>

<file path=ppt/charts/_rels/chart292.xml.rels><?xml version='1.0' encoding='UTF-8' standalone='yes'?>
<Relationships xmlns="http://schemas.openxmlformats.org/package/2006/relationships"><Relationship Id="rId1" Type="http://schemas.microsoft.com/office/2011/relationships/chartStyle" Target="style281.xml"/><Relationship Id="rId2" Type="http://schemas.microsoft.com/office/2011/relationships/chartColorStyle" Target="colors281.xml"/><Relationship Id="rId3" Type="http://schemas.openxmlformats.org/officeDocument/2006/relationships/package" Target="../embeddings/Microsoft_Excel_Worksheet_2EAD_1AACA3DD248.xlsx"/></Relationships>
</file>

<file path=ppt/charts/_rels/chart293.xml.rels><?xml version='1.0' encoding='UTF-8' standalone='yes'?>
<Relationships xmlns="http://schemas.openxmlformats.org/package/2006/relationships"><Relationship Id="rId1" Type="http://schemas.microsoft.com/office/2011/relationships/chartStyle" Target="style282.xml"/><Relationship Id="rId2" Type="http://schemas.microsoft.com/office/2011/relationships/chartColorStyle" Target="colors282.xml"/><Relationship Id="rId3" Type="http://schemas.openxmlformats.org/officeDocument/2006/relationships/package" Target="../embeddings/Microsoft_Excel_Worksheet_2EAD_1AACA3DD249.xlsx"/></Relationships>
</file>

<file path=ppt/charts/_rels/chart294.xml.rels><?xml version='1.0' encoding='UTF-8' standalone='yes'?>
<Relationships xmlns="http://schemas.openxmlformats.org/package/2006/relationships"><Relationship Id="rId1" Type="http://schemas.microsoft.com/office/2011/relationships/chartStyle" Target="style283.xml"/><Relationship Id="rId2" Type="http://schemas.microsoft.com/office/2011/relationships/chartColorStyle" Target="colors283.xml"/><Relationship Id="rId3" Type="http://schemas.openxmlformats.org/officeDocument/2006/relationships/package" Target="../embeddings/Microsoft_Excel_Worksheet_2EAD_1AACA3DD250.xlsx"/></Relationships>
</file>

<file path=ppt/charts/_rels/chart295.xml.rels><?xml version='1.0' encoding='UTF-8' standalone='yes'?>
<Relationships xmlns="http://schemas.openxmlformats.org/package/2006/relationships"><Relationship Id="rId1" Type="http://schemas.microsoft.com/office/2011/relationships/chartStyle" Target="style284.xml"/><Relationship Id="rId2" Type="http://schemas.microsoft.com/office/2011/relationships/chartColorStyle" Target="colors284.xml"/><Relationship Id="rId3" Type="http://schemas.openxmlformats.org/officeDocument/2006/relationships/package" Target="../embeddings/Microsoft_Excel_Worksheet_2EAD_1AACA3DD251.xlsx"/></Relationships>
</file>

<file path=ppt/charts/_rels/chart296.xml.rels><?xml version='1.0' encoding='UTF-8' standalone='yes'?>
<Relationships xmlns="http://schemas.openxmlformats.org/package/2006/relationships"><Relationship Id="rId1" Type="http://schemas.microsoft.com/office/2011/relationships/chartStyle" Target="style285.xml"/><Relationship Id="rId2" Type="http://schemas.microsoft.com/office/2011/relationships/chartColorStyle" Target="colors285.xml"/><Relationship Id="rId3" Type="http://schemas.openxmlformats.org/officeDocument/2006/relationships/package" Target="../embeddings/Microsoft_Excel_Worksheet_2EAD_1AACA3DD252.xlsx"/></Relationships>
</file>

<file path=ppt/charts/_rels/chart297.xml.rels><?xml version='1.0' encoding='UTF-8' standalone='yes'?>
<Relationships xmlns="http://schemas.openxmlformats.org/package/2006/relationships"><Relationship Id="rId1" Type="http://schemas.microsoft.com/office/2011/relationships/chartStyle" Target="style286.xml"/><Relationship Id="rId2" Type="http://schemas.microsoft.com/office/2011/relationships/chartColorStyle" Target="colors286.xml"/><Relationship Id="rId3" Type="http://schemas.openxmlformats.org/officeDocument/2006/relationships/package" Target="../embeddings/Microsoft_Excel_Worksheet_2EAD_1AACA3DD253.xlsx"/></Relationships>
</file>

<file path=ppt/charts/_rels/chart298.xml.rels><?xml version='1.0' encoding='UTF-8' standalone='yes'?>
<Relationships xmlns="http://schemas.openxmlformats.org/package/2006/relationships"><Relationship Id="rId1" Type="http://schemas.microsoft.com/office/2011/relationships/chartStyle" Target="style287.xml"/><Relationship Id="rId2" Type="http://schemas.microsoft.com/office/2011/relationships/chartColorStyle" Target="colors287.xml"/><Relationship Id="rId3" Type="http://schemas.openxmlformats.org/officeDocument/2006/relationships/package" Target="../embeddings/Microsoft_Excel_Worksheet_2EAD_1AACA3DD254.xlsx"/></Relationships>
</file>

<file path=ppt/charts/_rels/chart299.xml.rels><?xml version='1.0' encoding='UTF-8' standalone='yes'?>
<Relationships xmlns="http://schemas.openxmlformats.org/package/2006/relationships"><Relationship Id="rId1" Type="http://schemas.microsoft.com/office/2011/relationships/chartStyle" Target="style288.xml"/><Relationship Id="rId2" Type="http://schemas.microsoft.com/office/2011/relationships/chartColorStyle" Target="colors288.xml"/><Relationship Id="rId3" Type="http://schemas.openxmlformats.org/officeDocument/2006/relationships/package" Target="../embeddings/Microsoft_Excel_Worksheet_2EAD_1AACA3DD255.xlsx"/></Relationships>
</file>

<file path=ppt/charts/_rels/chart300.xml.rels><?xml version='1.0' encoding='UTF-8' standalone='yes'?>
<Relationships xmlns="http://schemas.openxmlformats.org/package/2006/relationships"><Relationship Id="rId1" Type="http://schemas.microsoft.com/office/2011/relationships/chartStyle" Target="style289.xml"/><Relationship Id="rId2" Type="http://schemas.microsoft.com/office/2011/relationships/chartColorStyle" Target="colors289.xml"/><Relationship Id="rId3" Type="http://schemas.openxmlformats.org/officeDocument/2006/relationships/package" Target="../embeddings/Microsoft_Excel_Worksheet_2EAD_1AACA3DD256.xlsx"/></Relationships>
</file>

<file path=ppt/charts/_rels/chart301.xml.rels><?xml version='1.0' encoding='UTF-8' standalone='yes'?>
<Relationships xmlns="http://schemas.openxmlformats.org/package/2006/relationships"><Relationship Id="rId1" Type="http://schemas.microsoft.com/office/2011/relationships/chartStyle" Target="style290.xml"/><Relationship Id="rId2" Type="http://schemas.microsoft.com/office/2011/relationships/chartColorStyle" Target="colors290.xml"/><Relationship Id="rId3" Type="http://schemas.openxmlformats.org/officeDocument/2006/relationships/package" Target="../embeddings/Microsoft_Excel_Worksheet_2EAD_1AACA3DD257.xlsx"/></Relationships>
</file>

<file path=ppt/charts/_rels/chart302.xml.rels><?xml version='1.0' encoding='UTF-8' standalone='yes'?>
<Relationships xmlns="http://schemas.openxmlformats.org/package/2006/relationships"><Relationship Id="rId1" Type="http://schemas.microsoft.com/office/2011/relationships/chartStyle" Target="style291.xml"/><Relationship Id="rId2" Type="http://schemas.microsoft.com/office/2011/relationships/chartColorStyle" Target="colors291.xml"/><Relationship Id="rId3" Type="http://schemas.openxmlformats.org/officeDocument/2006/relationships/package" Target="../embeddings/Microsoft_Excel_Worksheet_2EAD_1AACA3DD258.xlsx"/></Relationships>
</file>

<file path=ppt/charts/_rels/chart303.xml.rels><?xml version='1.0' encoding='UTF-8' standalone='yes'?>
<Relationships xmlns="http://schemas.openxmlformats.org/package/2006/relationships"><Relationship Id="rId1" Type="http://schemas.microsoft.com/office/2011/relationships/chartStyle" Target="style292.xml"/><Relationship Id="rId2" Type="http://schemas.microsoft.com/office/2011/relationships/chartColorStyle" Target="colors292.xml"/><Relationship Id="rId3" Type="http://schemas.openxmlformats.org/officeDocument/2006/relationships/package" Target="../embeddings/Microsoft_Excel_Worksheet_2EAE_EA4C834B.xlsx"/></Relationships>
</file>

<file path=ppt/charts/_rels/chart304.xml.rels><?xml version='1.0' encoding='UTF-8' standalone='yes'?>
<Relationships xmlns="http://schemas.openxmlformats.org/package/2006/relationships"><Relationship Id="rId1" Type="http://schemas.microsoft.com/office/2011/relationships/chartStyle" Target="style293.xml"/><Relationship Id="rId2" Type="http://schemas.microsoft.com/office/2011/relationships/chartColorStyle" Target="colors293.xml"/><Relationship Id="rId3" Type="http://schemas.openxmlformats.org/officeDocument/2006/relationships/package" Target="../embeddings/Microsoft_Excel_Worksheet_2EAE_EA4C834B259.xlsx"/></Relationships>
</file>

<file path=ppt/charts/_rels/chart305.xml.rels><?xml version='1.0' encoding='UTF-8' standalone='yes'?>
<Relationships xmlns="http://schemas.openxmlformats.org/package/2006/relationships"><Relationship Id="rId1" Type="http://schemas.microsoft.com/office/2011/relationships/chartStyle" Target="style294.xml"/><Relationship Id="rId2" Type="http://schemas.microsoft.com/office/2011/relationships/chartColorStyle" Target="colors294.xml"/><Relationship Id="rId3" Type="http://schemas.openxmlformats.org/officeDocument/2006/relationships/package" Target="../embeddings/Microsoft_Excel_Worksheet_2EAE_EA4C834B260.xlsx"/></Relationships>
</file>

<file path=ppt/charts/_rels/chart306.xml.rels><?xml version='1.0' encoding='UTF-8' standalone='yes'?>
<Relationships xmlns="http://schemas.openxmlformats.org/package/2006/relationships"><Relationship Id="rId1" Type="http://schemas.microsoft.com/office/2011/relationships/chartStyle" Target="style295.xml"/><Relationship Id="rId2" Type="http://schemas.microsoft.com/office/2011/relationships/chartColorStyle" Target="colors295.xml"/><Relationship Id="rId3" Type="http://schemas.openxmlformats.org/officeDocument/2006/relationships/package" Target="../embeddings/Microsoft_Excel_Worksheet_2EAE_EA4C834B261.xlsx"/></Relationships>
</file>

<file path=ppt/charts/_rels/chart307.xml.rels><?xml version='1.0' encoding='UTF-8' standalone='yes'?>
<Relationships xmlns="http://schemas.openxmlformats.org/package/2006/relationships"><Relationship Id="rId1" Type="http://schemas.microsoft.com/office/2011/relationships/chartStyle" Target="style296.xml"/><Relationship Id="rId2" Type="http://schemas.microsoft.com/office/2011/relationships/chartColorStyle" Target="colors296.xml"/><Relationship Id="rId3" Type="http://schemas.openxmlformats.org/officeDocument/2006/relationships/package" Target="../embeddings/Microsoft_Excel_Worksheet_2EAE_EA4C834B262.xlsx"/></Relationships>
</file>

<file path=ppt/charts/_rels/chart308.xml.rels><?xml version='1.0' encoding='UTF-8' standalone='yes'?>
<Relationships xmlns="http://schemas.openxmlformats.org/package/2006/relationships"><Relationship Id="rId1" Type="http://schemas.microsoft.com/office/2011/relationships/chartStyle" Target="style297.xml"/><Relationship Id="rId2" Type="http://schemas.microsoft.com/office/2011/relationships/chartColorStyle" Target="colors297.xml"/><Relationship Id="rId3" Type="http://schemas.openxmlformats.org/officeDocument/2006/relationships/package" Target="../embeddings/Microsoft_Excel_Worksheet_2EAE_EA4C834B263.xlsx"/></Relationships>
</file>

<file path=ppt/charts/_rels/chart309.xml.rels><?xml version='1.0' encoding='UTF-8' standalone='yes'?>
<Relationships xmlns="http://schemas.openxmlformats.org/package/2006/relationships"><Relationship Id="rId1" Type="http://schemas.microsoft.com/office/2011/relationships/chartStyle" Target="style298.xml"/><Relationship Id="rId2" Type="http://schemas.microsoft.com/office/2011/relationships/chartColorStyle" Target="colors298.xml"/><Relationship Id="rId3" Type="http://schemas.openxmlformats.org/officeDocument/2006/relationships/package" Target="../embeddings/Microsoft_Excel_Worksheet_2EAE_EA4C834B264.xlsx"/></Relationships>
</file>

<file path=ppt/charts/_rels/chart310.xml.rels><?xml version='1.0' encoding='UTF-8' standalone='yes'?>
<Relationships xmlns="http://schemas.openxmlformats.org/package/2006/relationships"><Relationship Id="rId1" Type="http://schemas.microsoft.com/office/2011/relationships/chartStyle" Target="style299.xml"/><Relationship Id="rId2" Type="http://schemas.microsoft.com/office/2011/relationships/chartColorStyle" Target="colors299.xml"/><Relationship Id="rId3" Type="http://schemas.openxmlformats.org/officeDocument/2006/relationships/package" Target="../embeddings/Microsoft_Excel_Worksheet_2EAE_EA4C834B265.xlsx"/></Relationships>
</file>

<file path=ppt/charts/_rels/chart311.xml.rels><?xml version='1.0' encoding='UTF-8' standalone='yes'?>
<Relationships xmlns="http://schemas.openxmlformats.org/package/2006/relationships"><Relationship Id="rId1" Type="http://schemas.microsoft.com/office/2011/relationships/chartStyle" Target="style300.xml"/><Relationship Id="rId2" Type="http://schemas.microsoft.com/office/2011/relationships/chartColorStyle" Target="colors300.xml"/><Relationship Id="rId3" Type="http://schemas.openxmlformats.org/officeDocument/2006/relationships/package" Target="../embeddings/Microsoft_Excel_Worksheet_2EAE_EA4C834B266.xlsx"/></Relationships>
</file>

<file path=ppt/charts/_rels/chart312.xml.rels><?xml version='1.0' encoding='UTF-8' standalone='yes'?>
<Relationships xmlns="http://schemas.openxmlformats.org/package/2006/relationships"><Relationship Id="rId1" Type="http://schemas.microsoft.com/office/2011/relationships/chartStyle" Target="style301.xml"/><Relationship Id="rId2" Type="http://schemas.microsoft.com/office/2011/relationships/chartColorStyle" Target="colors301.xml"/><Relationship Id="rId3" Type="http://schemas.openxmlformats.org/officeDocument/2006/relationships/package" Target="../embeddings/Microsoft_Excel_Worksheet_2EAE_EA4C834B267.xlsx"/></Relationships>
</file>

<file path=ppt/charts/_rels/chart313.xml.rels><?xml version='1.0' encoding='UTF-8' standalone='yes'?>
<Relationships xmlns="http://schemas.openxmlformats.org/package/2006/relationships"><Relationship Id="rId1" Type="http://schemas.microsoft.com/office/2011/relationships/chartStyle" Target="style302.xml"/><Relationship Id="rId2" Type="http://schemas.microsoft.com/office/2011/relationships/chartColorStyle" Target="colors302.xml"/><Relationship Id="rId3" Type="http://schemas.openxmlformats.org/officeDocument/2006/relationships/package" Target="../embeddings/Microsoft_Excel_Worksheet_2EAE_EA4C834B268.xlsx"/></Relationships>
</file>

<file path=ppt/charts/_rels/chart314.xml.rels><?xml version='1.0' encoding='UTF-8' standalone='yes'?>
<Relationships xmlns="http://schemas.openxmlformats.org/package/2006/relationships"><Relationship Id="rId1" Type="http://schemas.microsoft.com/office/2011/relationships/chartStyle" Target="style303.xml"/><Relationship Id="rId2" Type="http://schemas.microsoft.com/office/2011/relationships/chartColorStyle" Target="colors303.xml"/><Relationship Id="rId3" Type="http://schemas.openxmlformats.org/officeDocument/2006/relationships/package" Target="../embeddings/Microsoft_Excel_Worksheet_2EAE_EA4C834B269.xlsx"/></Relationships>
</file>

<file path=ppt/charts/_rels/chart315.xml.rels><?xml version='1.0' encoding='UTF-8' standalone='yes'?>
<Relationships xmlns="http://schemas.openxmlformats.org/package/2006/relationships"><Relationship Id="rId1" Type="http://schemas.microsoft.com/office/2011/relationships/chartStyle" Target="style304.xml"/><Relationship Id="rId2" Type="http://schemas.microsoft.com/office/2011/relationships/chartColorStyle" Target="colors304.xml"/><Relationship Id="rId3" Type="http://schemas.openxmlformats.org/officeDocument/2006/relationships/package" Target="../embeddings/Microsoft_Excel_Worksheet_2EAE_EA4C834B270.xlsx"/></Relationships>
</file>

<file path=ppt/charts/_rels/chart316.xml.rels><?xml version='1.0' encoding='UTF-8' standalone='yes'?>
<Relationships xmlns="http://schemas.openxmlformats.org/package/2006/relationships"><Relationship Id="rId1" Type="http://schemas.microsoft.com/office/2011/relationships/chartStyle" Target="style305.xml"/><Relationship Id="rId2" Type="http://schemas.microsoft.com/office/2011/relationships/chartColorStyle" Target="colors305.xml"/><Relationship Id="rId3" Type="http://schemas.openxmlformats.org/officeDocument/2006/relationships/package" Target="../embeddings/Microsoft_Excel_Worksheet_2EAF_F84D4DBE.xlsx"/></Relationships>
</file>

<file path=ppt/charts/_rels/chart317.xml.rels><?xml version='1.0' encoding='UTF-8' standalone='yes'?>
<Relationships xmlns="http://schemas.openxmlformats.org/package/2006/relationships"><Relationship Id="rId1" Type="http://schemas.microsoft.com/office/2011/relationships/chartStyle" Target="style306.xml"/><Relationship Id="rId2" Type="http://schemas.microsoft.com/office/2011/relationships/chartColorStyle" Target="colors306.xml"/><Relationship Id="rId3" Type="http://schemas.openxmlformats.org/officeDocument/2006/relationships/package" Target="../embeddings/Microsoft_Excel_Worksheet_2EAF_F84D4DBE271.xlsx"/></Relationships>
</file>

<file path=ppt/charts/_rels/chart318.xml.rels><?xml version='1.0' encoding='UTF-8' standalone='yes'?>
<Relationships xmlns="http://schemas.openxmlformats.org/package/2006/relationships"><Relationship Id="rId1" Type="http://schemas.microsoft.com/office/2011/relationships/chartStyle" Target="style307.xml"/><Relationship Id="rId2" Type="http://schemas.microsoft.com/office/2011/relationships/chartColorStyle" Target="colors307.xml"/><Relationship Id="rId3" Type="http://schemas.openxmlformats.org/officeDocument/2006/relationships/package" Target="../embeddings/Microsoft_Excel_Worksheet_2EAF_F84D4DBE272.xlsx"/></Relationships>
</file>

<file path=ppt/charts/_rels/chart319.xml.rels><?xml version='1.0' encoding='UTF-8' standalone='yes'?>
<Relationships xmlns="http://schemas.openxmlformats.org/package/2006/relationships"><Relationship Id="rId1" Type="http://schemas.microsoft.com/office/2011/relationships/chartStyle" Target="style308.xml"/><Relationship Id="rId2" Type="http://schemas.microsoft.com/office/2011/relationships/chartColorStyle" Target="colors308.xml"/><Relationship Id="rId3" Type="http://schemas.openxmlformats.org/officeDocument/2006/relationships/package" Target="../embeddings/Microsoft_Excel_Worksheet_2EAF_F84D4DBE273.xlsx"/></Relationships>
</file>

<file path=ppt/charts/_rels/chart320.xml.rels><?xml version='1.0' encoding='UTF-8' standalone='yes'?>
<Relationships xmlns="http://schemas.openxmlformats.org/package/2006/relationships"><Relationship Id="rId1" Type="http://schemas.microsoft.com/office/2011/relationships/chartStyle" Target="style309.xml"/><Relationship Id="rId2" Type="http://schemas.microsoft.com/office/2011/relationships/chartColorStyle" Target="colors309.xml"/><Relationship Id="rId3" Type="http://schemas.openxmlformats.org/officeDocument/2006/relationships/package" Target="../embeddings/Microsoft_Excel_Worksheet_2EAF_F84D4DBE274.xlsx"/></Relationships>
</file>

<file path=ppt/charts/_rels/chart321.xml.rels><?xml version='1.0' encoding='UTF-8' standalone='yes'?>
<Relationships xmlns="http://schemas.openxmlformats.org/package/2006/relationships"><Relationship Id="rId1" Type="http://schemas.microsoft.com/office/2011/relationships/chartStyle" Target="style310.xml"/><Relationship Id="rId2" Type="http://schemas.microsoft.com/office/2011/relationships/chartColorStyle" Target="colors310.xml"/><Relationship Id="rId3" Type="http://schemas.openxmlformats.org/officeDocument/2006/relationships/package" Target="../embeddings/Microsoft_Excel_Worksheet_2EAF_F84D4DBE275.xlsx"/></Relationships>
</file>

<file path=ppt/charts/_rels/chart322.xml.rels><?xml version='1.0' encoding='UTF-8' standalone='yes'?>
<Relationships xmlns="http://schemas.openxmlformats.org/package/2006/relationships"><Relationship Id="rId1" Type="http://schemas.microsoft.com/office/2011/relationships/chartStyle" Target="style311.xml"/><Relationship Id="rId2" Type="http://schemas.microsoft.com/office/2011/relationships/chartColorStyle" Target="colors311.xml"/><Relationship Id="rId3" Type="http://schemas.openxmlformats.org/officeDocument/2006/relationships/package" Target="../embeddings/Microsoft_Excel_Worksheet_2EAF_F84D4DBE276.xlsx"/></Relationships>
</file>

<file path=ppt/charts/_rels/chart323.xml.rels><?xml version='1.0' encoding='UTF-8' standalone='yes'?>
<Relationships xmlns="http://schemas.openxmlformats.org/package/2006/relationships"><Relationship Id="rId1" Type="http://schemas.microsoft.com/office/2011/relationships/chartStyle" Target="style312.xml"/><Relationship Id="rId2" Type="http://schemas.microsoft.com/office/2011/relationships/chartColorStyle" Target="colors312.xml"/><Relationship Id="rId3" Type="http://schemas.openxmlformats.org/officeDocument/2006/relationships/package" Target="../embeddings/Microsoft_Excel_Worksheet_2EAF_F84D4DBE277.xlsx"/></Relationships>
</file>

<file path=ppt/charts/_rels/chart324.xml.rels><?xml version='1.0' encoding='UTF-8' standalone='yes'?>
<Relationships xmlns="http://schemas.openxmlformats.org/package/2006/relationships"><Relationship Id="rId1" Type="http://schemas.microsoft.com/office/2011/relationships/chartStyle" Target="style313.xml"/><Relationship Id="rId2" Type="http://schemas.microsoft.com/office/2011/relationships/chartColorStyle" Target="colors313.xml"/><Relationship Id="rId3" Type="http://schemas.openxmlformats.org/officeDocument/2006/relationships/package" Target="../embeddings/Microsoft_Excel_Worksheet_2EAF_F84D4DBE278.xlsx"/></Relationships>
</file>

<file path=ppt/charts/_rels/chart325.xml.rels><?xml version='1.0' encoding='UTF-8' standalone='yes'?>
<Relationships xmlns="http://schemas.openxmlformats.org/package/2006/relationships"><Relationship Id="rId1" Type="http://schemas.microsoft.com/office/2011/relationships/chartStyle" Target="style314.xml"/><Relationship Id="rId2" Type="http://schemas.microsoft.com/office/2011/relationships/chartColorStyle" Target="colors314.xml"/><Relationship Id="rId3" Type="http://schemas.openxmlformats.org/officeDocument/2006/relationships/package" Target="../embeddings/Microsoft_Excel_Worksheet_2EAF_F84D4DBE279.xlsx"/></Relationships>
</file>

<file path=ppt/charts/_rels/chart326.xml.rels><?xml version='1.0' encoding='UTF-8' standalone='yes'?>
<Relationships xmlns="http://schemas.openxmlformats.org/package/2006/relationships"><Relationship Id="rId1" Type="http://schemas.microsoft.com/office/2011/relationships/chartStyle" Target="style315.xml"/><Relationship Id="rId2" Type="http://schemas.microsoft.com/office/2011/relationships/chartColorStyle" Target="colors315.xml"/><Relationship Id="rId3" Type="http://schemas.openxmlformats.org/officeDocument/2006/relationships/package" Target="../embeddings/Microsoft_Excel_Worksheet_2EAF_F84D4DBE280.xlsx"/></Relationships>
</file>

<file path=ppt/charts/_rels/chart327.xml.rels><?xml version='1.0' encoding='UTF-8' standalone='yes'?>
<Relationships xmlns="http://schemas.openxmlformats.org/package/2006/relationships"><Relationship Id="rId1" Type="http://schemas.microsoft.com/office/2011/relationships/chartStyle" Target="style316.xml"/><Relationship Id="rId2" Type="http://schemas.microsoft.com/office/2011/relationships/chartColorStyle" Target="colors316.xml"/><Relationship Id="rId3" Type="http://schemas.openxmlformats.org/officeDocument/2006/relationships/package" Target="../embeddings/Microsoft_Excel_Worksheet_2EAF_F84D4DBE281.xlsx"/></Relationships>
</file>

<file path=ppt/charts/_rels/chart328.xml.rels><?xml version='1.0' encoding='UTF-8' standalone='yes'?>
<Relationships xmlns="http://schemas.openxmlformats.org/package/2006/relationships"><Relationship Id="rId1" Type="http://schemas.microsoft.com/office/2011/relationships/chartStyle" Target="style317.xml"/><Relationship Id="rId2" Type="http://schemas.microsoft.com/office/2011/relationships/chartColorStyle" Target="colors317.xml"/><Relationship Id="rId3" Type="http://schemas.openxmlformats.org/officeDocument/2006/relationships/package" Target="../embeddings/Microsoft_Excel_Worksheet_2EAF_F84D4DBE282.xlsx"/></Relationships>
</file>

<file path=ppt/charts/_rels/chart329.xml.rels><?xml version='1.0' encoding='UTF-8' standalone='yes'?>
<Relationships xmlns="http://schemas.openxmlformats.org/package/2006/relationships"><Relationship Id="rId1" Type="http://schemas.microsoft.com/office/2011/relationships/chartStyle" Target="style318.xml"/><Relationship Id="rId2" Type="http://schemas.microsoft.com/office/2011/relationships/chartColorStyle" Target="colors318.xml"/><Relationship Id="rId3" Type="http://schemas.openxmlformats.org/officeDocument/2006/relationships/package" Target="../embeddings/Microsoft_Excel_Worksheet_2EB0_8F5761CE.xlsx"/></Relationships>
</file>

<file path=ppt/charts/_rels/chart330.xml.rels><?xml version='1.0' encoding='UTF-8' standalone='yes'?>
<Relationships xmlns="http://schemas.openxmlformats.org/package/2006/relationships"><Relationship Id="rId1" Type="http://schemas.microsoft.com/office/2011/relationships/chartStyle" Target="style319.xml"/><Relationship Id="rId2" Type="http://schemas.microsoft.com/office/2011/relationships/chartColorStyle" Target="colors319.xml"/><Relationship Id="rId3" Type="http://schemas.openxmlformats.org/officeDocument/2006/relationships/package" Target="../embeddings/Microsoft_Excel_Worksheet_2EB0_8F5761CE283.xlsx"/></Relationships>
</file>

<file path=ppt/charts/_rels/chart331.xml.rels><?xml version='1.0' encoding='UTF-8' standalone='yes'?>
<Relationships xmlns="http://schemas.openxmlformats.org/package/2006/relationships"><Relationship Id="rId1" Type="http://schemas.microsoft.com/office/2011/relationships/chartStyle" Target="style320.xml"/><Relationship Id="rId2" Type="http://schemas.microsoft.com/office/2011/relationships/chartColorStyle" Target="colors320.xml"/><Relationship Id="rId3" Type="http://schemas.openxmlformats.org/officeDocument/2006/relationships/package" Target="../embeddings/Microsoft_Excel_Worksheet_2EB0_8F5761CE284.xlsx"/></Relationships>
</file>

<file path=ppt/charts/_rels/chart332.xml.rels><?xml version='1.0' encoding='UTF-8' standalone='yes'?>
<Relationships xmlns="http://schemas.openxmlformats.org/package/2006/relationships"><Relationship Id="rId1" Type="http://schemas.microsoft.com/office/2011/relationships/chartStyle" Target="style321.xml"/><Relationship Id="rId2" Type="http://schemas.microsoft.com/office/2011/relationships/chartColorStyle" Target="colors321.xml"/><Relationship Id="rId3" Type="http://schemas.openxmlformats.org/officeDocument/2006/relationships/package" Target="../embeddings/Microsoft_Excel_Worksheet_2EB0_8F5761CE285.xlsx"/></Relationships>
</file>

<file path=ppt/charts/_rels/chart333.xml.rels><?xml version='1.0' encoding='UTF-8' standalone='yes'?>
<Relationships xmlns="http://schemas.openxmlformats.org/package/2006/relationships"><Relationship Id="rId1" Type="http://schemas.microsoft.com/office/2011/relationships/chartStyle" Target="style322.xml"/><Relationship Id="rId2" Type="http://schemas.microsoft.com/office/2011/relationships/chartColorStyle" Target="colors322.xml"/><Relationship Id="rId3" Type="http://schemas.openxmlformats.org/officeDocument/2006/relationships/package" Target="../embeddings/Microsoft_Excel_Worksheet_2EB0_8F5761CE286.xlsx"/></Relationships>
</file>

<file path=ppt/charts/_rels/chart334.xml.rels><?xml version='1.0' encoding='UTF-8' standalone='yes'?>
<Relationships xmlns="http://schemas.openxmlformats.org/package/2006/relationships"><Relationship Id="rId1" Type="http://schemas.microsoft.com/office/2011/relationships/chartStyle" Target="style323.xml"/><Relationship Id="rId2" Type="http://schemas.microsoft.com/office/2011/relationships/chartColorStyle" Target="colors323.xml"/><Relationship Id="rId3" Type="http://schemas.openxmlformats.org/officeDocument/2006/relationships/package" Target="../embeddings/Microsoft_Excel_Worksheet_2EB0_8F5761CE287.xlsx"/></Relationships>
</file>

<file path=ppt/charts/_rels/chart335.xml.rels><?xml version='1.0' encoding='UTF-8' standalone='yes'?>
<Relationships xmlns="http://schemas.openxmlformats.org/package/2006/relationships"><Relationship Id="rId1" Type="http://schemas.microsoft.com/office/2011/relationships/chartStyle" Target="style324.xml"/><Relationship Id="rId2" Type="http://schemas.microsoft.com/office/2011/relationships/chartColorStyle" Target="colors324.xml"/><Relationship Id="rId3" Type="http://schemas.openxmlformats.org/officeDocument/2006/relationships/package" Target="../embeddings/Microsoft_Excel_Worksheet_2EB0_8F5761CE288.xlsx"/></Relationships>
</file>

<file path=ppt/charts/_rels/chart336.xml.rels><?xml version='1.0' encoding='UTF-8' standalone='yes'?>
<Relationships xmlns="http://schemas.openxmlformats.org/package/2006/relationships"><Relationship Id="rId1" Type="http://schemas.microsoft.com/office/2011/relationships/chartStyle" Target="style325.xml"/><Relationship Id="rId2" Type="http://schemas.microsoft.com/office/2011/relationships/chartColorStyle" Target="colors325.xml"/><Relationship Id="rId3" Type="http://schemas.openxmlformats.org/officeDocument/2006/relationships/package" Target="../embeddings/Microsoft_Excel_Worksheet_2EB0_8F5761CE289.xlsx"/></Relationships>
</file>

<file path=ppt/charts/_rels/chart337.xml.rels><?xml version='1.0' encoding='UTF-8' standalone='yes'?>
<Relationships xmlns="http://schemas.openxmlformats.org/package/2006/relationships"><Relationship Id="rId1" Type="http://schemas.microsoft.com/office/2011/relationships/chartStyle" Target="style326.xml"/><Relationship Id="rId2" Type="http://schemas.microsoft.com/office/2011/relationships/chartColorStyle" Target="colors326.xml"/><Relationship Id="rId3" Type="http://schemas.openxmlformats.org/officeDocument/2006/relationships/package" Target="../embeddings/Microsoft_Excel_Worksheet_2EB0_8F5761CE290.xlsx"/></Relationships>
</file>

<file path=ppt/charts/_rels/chart338.xml.rels><?xml version='1.0' encoding='UTF-8' standalone='yes'?>
<Relationships xmlns="http://schemas.openxmlformats.org/package/2006/relationships"><Relationship Id="rId1" Type="http://schemas.microsoft.com/office/2011/relationships/chartStyle" Target="style327.xml"/><Relationship Id="rId2" Type="http://schemas.microsoft.com/office/2011/relationships/chartColorStyle" Target="colors327.xml"/><Relationship Id="rId3" Type="http://schemas.openxmlformats.org/officeDocument/2006/relationships/package" Target="../embeddings/Microsoft_Excel_Worksheet_2EB0_8F5761CE291.xlsx"/></Relationships>
</file>

<file path=ppt/charts/_rels/chart339.xml.rels><?xml version='1.0' encoding='UTF-8' standalone='yes'?>
<Relationships xmlns="http://schemas.openxmlformats.org/package/2006/relationships"><Relationship Id="rId1" Type="http://schemas.microsoft.com/office/2011/relationships/chartStyle" Target="style328.xml"/><Relationship Id="rId2" Type="http://schemas.microsoft.com/office/2011/relationships/chartColorStyle" Target="colors328.xml"/><Relationship Id="rId3" Type="http://schemas.openxmlformats.org/officeDocument/2006/relationships/package" Target="../embeddings/Microsoft_Excel_Worksheet_2EB0_8F5761CE292.xlsx"/></Relationships>
</file>

<file path=ppt/charts/_rels/chart340.xml.rels><?xml version='1.0' encoding='UTF-8' standalone='yes'?>
<Relationships xmlns="http://schemas.openxmlformats.org/package/2006/relationships"><Relationship Id="rId1" Type="http://schemas.microsoft.com/office/2011/relationships/chartStyle" Target="style329.xml"/><Relationship Id="rId2" Type="http://schemas.microsoft.com/office/2011/relationships/chartColorStyle" Target="colors329.xml"/><Relationship Id="rId3" Type="http://schemas.openxmlformats.org/officeDocument/2006/relationships/package" Target="../embeddings/Microsoft_Excel_Worksheet_2EB0_8F5761CE293.xlsx"/></Relationships>
</file>

<file path=ppt/charts/_rels/chart341.xml.rels><?xml version='1.0' encoding='UTF-8' standalone='yes'?>
<Relationships xmlns="http://schemas.openxmlformats.org/package/2006/relationships"><Relationship Id="rId1" Type="http://schemas.microsoft.com/office/2011/relationships/chartStyle" Target="style330.xml"/><Relationship Id="rId2" Type="http://schemas.microsoft.com/office/2011/relationships/chartColorStyle" Target="colors330.xml"/><Relationship Id="rId3" Type="http://schemas.openxmlformats.org/officeDocument/2006/relationships/package" Target="../embeddings/Microsoft_Excel_Worksheet_2EB0_8F5761CE294.xlsx"/></Relationships>
</file>

<file path=ppt/charts/_rels/chart342.xml.rels><?xml version='1.0' encoding='UTF-8' standalone='yes'?>
<Relationships xmlns="http://schemas.openxmlformats.org/package/2006/relationships"><Relationship Id="rId1" Type="http://schemas.microsoft.com/office/2011/relationships/chartStyle" Target="style331.xml"/><Relationship Id="rId2" Type="http://schemas.microsoft.com/office/2011/relationships/chartColorStyle" Target="colors331.xml"/><Relationship Id="rId3" Type="http://schemas.openxmlformats.org/officeDocument/2006/relationships/package" Target="../embeddings/Microsoft_Excel_Worksheet_2EB1_7FBEBB9C.xlsx"/></Relationships>
</file>

<file path=ppt/charts/_rels/chart343.xml.rels><?xml version='1.0' encoding='UTF-8' standalone='yes'?>
<Relationships xmlns="http://schemas.openxmlformats.org/package/2006/relationships"><Relationship Id="rId1" Type="http://schemas.microsoft.com/office/2011/relationships/chartStyle" Target="style332.xml"/><Relationship Id="rId2" Type="http://schemas.microsoft.com/office/2011/relationships/chartColorStyle" Target="colors332.xml"/><Relationship Id="rId3" Type="http://schemas.openxmlformats.org/officeDocument/2006/relationships/package" Target="../embeddings/Microsoft_Excel_Worksheet_2EB1_7FBEBB9C295.xlsx"/></Relationships>
</file>

<file path=ppt/charts/_rels/chart344.xml.rels><?xml version='1.0' encoding='UTF-8' standalone='yes'?>
<Relationships xmlns="http://schemas.openxmlformats.org/package/2006/relationships"><Relationship Id="rId1" Type="http://schemas.microsoft.com/office/2011/relationships/chartStyle" Target="style333.xml"/><Relationship Id="rId2" Type="http://schemas.microsoft.com/office/2011/relationships/chartColorStyle" Target="colors333.xml"/><Relationship Id="rId3" Type="http://schemas.openxmlformats.org/officeDocument/2006/relationships/package" Target="../embeddings/Microsoft_Excel_Worksheet_2EB1_7FBEBB9C296.xlsx"/></Relationships>
</file>

<file path=ppt/charts/_rels/chart345.xml.rels><?xml version='1.0' encoding='UTF-8' standalone='yes'?>
<Relationships xmlns="http://schemas.openxmlformats.org/package/2006/relationships"><Relationship Id="rId1" Type="http://schemas.microsoft.com/office/2011/relationships/chartStyle" Target="style334.xml"/><Relationship Id="rId2" Type="http://schemas.microsoft.com/office/2011/relationships/chartColorStyle" Target="colors334.xml"/><Relationship Id="rId3" Type="http://schemas.openxmlformats.org/officeDocument/2006/relationships/package" Target="../embeddings/Microsoft_Excel_Worksheet_2EB1_7FBEBB9C297.xlsx"/></Relationships>
</file>

<file path=ppt/charts/_rels/chart346.xml.rels><?xml version='1.0' encoding='UTF-8' standalone='yes'?>
<Relationships xmlns="http://schemas.openxmlformats.org/package/2006/relationships"><Relationship Id="rId1" Type="http://schemas.microsoft.com/office/2011/relationships/chartStyle" Target="style335.xml"/><Relationship Id="rId2" Type="http://schemas.microsoft.com/office/2011/relationships/chartColorStyle" Target="colors335.xml"/><Relationship Id="rId3" Type="http://schemas.openxmlformats.org/officeDocument/2006/relationships/package" Target="../embeddings/Microsoft_Excel_Worksheet_2EB1_7FBEBB9C298.xlsx"/></Relationships>
</file>

<file path=ppt/charts/_rels/chart347.xml.rels><?xml version='1.0' encoding='UTF-8' standalone='yes'?>
<Relationships xmlns="http://schemas.openxmlformats.org/package/2006/relationships"><Relationship Id="rId1" Type="http://schemas.microsoft.com/office/2011/relationships/chartStyle" Target="style336.xml"/><Relationship Id="rId2" Type="http://schemas.microsoft.com/office/2011/relationships/chartColorStyle" Target="colors336.xml"/><Relationship Id="rId3" Type="http://schemas.openxmlformats.org/officeDocument/2006/relationships/package" Target="../embeddings/Microsoft_Excel_Worksheet_2EB1_7FBEBB9C299.xlsx"/></Relationships>
</file>

<file path=ppt/charts/_rels/chart348.xml.rels><?xml version='1.0' encoding='UTF-8' standalone='yes'?>
<Relationships xmlns="http://schemas.openxmlformats.org/package/2006/relationships"><Relationship Id="rId1" Type="http://schemas.microsoft.com/office/2011/relationships/chartStyle" Target="style337.xml"/><Relationship Id="rId2" Type="http://schemas.microsoft.com/office/2011/relationships/chartColorStyle" Target="colors337.xml"/><Relationship Id="rId3" Type="http://schemas.openxmlformats.org/officeDocument/2006/relationships/package" Target="../embeddings/Microsoft_Excel_Worksheet_2EB1_7FBEBB9C300.xlsx"/></Relationships>
</file>

<file path=ppt/charts/_rels/chart349.xml.rels><?xml version='1.0' encoding='UTF-8' standalone='yes'?>
<Relationships xmlns="http://schemas.openxmlformats.org/package/2006/relationships"><Relationship Id="rId1" Type="http://schemas.microsoft.com/office/2011/relationships/chartStyle" Target="style338.xml"/><Relationship Id="rId2" Type="http://schemas.microsoft.com/office/2011/relationships/chartColorStyle" Target="colors338.xml"/><Relationship Id="rId3" Type="http://schemas.openxmlformats.org/officeDocument/2006/relationships/package" Target="../embeddings/Microsoft_Excel_Worksheet_2EB1_7FBEBB9C301.xlsx"/></Relationships>
</file>

<file path=ppt/charts/_rels/chart350.xml.rels><?xml version='1.0' encoding='UTF-8' standalone='yes'?>
<Relationships xmlns="http://schemas.openxmlformats.org/package/2006/relationships"><Relationship Id="rId1" Type="http://schemas.microsoft.com/office/2011/relationships/chartStyle" Target="style339.xml"/><Relationship Id="rId2" Type="http://schemas.microsoft.com/office/2011/relationships/chartColorStyle" Target="colors339.xml"/><Relationship Id="rId3" Type="http://schemas.openxmlformats.org/officeDocument/2006/relationships/package" Target="../embeddings/Microsoft_Excel_Worksheet_2EB1_7FBEBB9C302.xlsx"/></Relationships>
</file>

<file path=ppt/charts/_rels/chart351.xml.rels><?xml version='1.0' encoding='UTF-8' standalone='yes'?>
<Relationships xmlns="http://schemas.openxmlformats.org/package/2006/relationships"><Relationship Id="rId1" Type="http://schemas.microsoft.com/office/2011/relationships/chartStyle" Target="style340.xml"/><Relationship Id="rId2" Type="http://schemas.microsoft.com/office/2011/relationships/chartColorStyle" Target="colors340.xml"/><Relationship Id="rId3" Type="http://schemas.openxmlformats.org/officeDocument/2006/relationships/package" Target="../embeddings/Microsoft_Excel_Worksheet_2EB1_7FBEBB9C303.xlsx"/></Relationships>
</file>

<file path=ppt/charts/_rels/chart352.xml.rels><?xml version='1.0' encoding='UTF-8' standalone='yes'?>
<Relationships xmlns="http://schemas.openxmlformats.org/package/2006/relationships"><Relationship Id="rId1" Type="http://schemas.microsoft.com/office/2011/relationships/chartStyle" Target="style341.xml"/><Relationship Id="rId2" Type="http://schemas.microsoft.com/office/2011/relationships/chartColorStyle" Target="colors341.xml"/><Relationship Id="rId3" Type="http://schemas.openxmlformats.org/officeDocument/2006/relationships/package" Target="../embeddings/Microsoft_Excel_Worksheet_2EB1_7FBEBB9C304.xlsx"/></Relationships>
</file>

<file path=ppt/charts/_rels/chart353.xml.rels><?xml version='1.0' encoding='UTF-8' standalone='yes'?>
<Relationships xmlns="http://schemas.openxmlformats.org/package/2006/relationships"><Relationship Id="rId1" Type="http://schemas.microsoft.com/office/2011/relationships/chartStyle" Target="style342.xml"/><Relationship Id="rId2" Type="http://schemas.microsoft.com/office/2011/relationships/chartColorStyle" Target="colors342.xml"/><Relationship Id="rId3" Type="http://schemas.openxmlformats.org/officeDocument/2006/relationships/package" Target="../embeddings/Microsoft_Excel_Worksheet_2EB1_7FBEBB9C305.xlsx"/></Relationships>
</file>

<file path=ppt/charts/_rels/chart354.xml.rels><?xml version='1.0' encoding='UTF-8' standalone='yes'?>
<Relationships xmlns="http://schemas.openxmlformats.org/package/2006/relationships"><Relationship Id="rId1" Type="http://schemas.microsoft.com/office/2011/relationships/chartStyle" Target="style343.xml"/><Relationship Id="rId2" Type="http://schemas.microsoft.com/office/2011/relationships/chartColorStyle" Target="colors343.xml"/><Relationship Id="rId3" Type="http://schemas.openxmlformats.org/officeDocument/2006/relationships/package" Target="../embeddings/Microsoft_Excel_Worksheet_2EB1_7FBEBB9C306.xlsx"/></Relationships>
</file>

<file path=ppt/charts/_rels/chart355.xml.rels><?xml version='1.0' encoding='UTF-8' standalone='yes'?>
<Relationships xmlns="http://schemas.openxmlformats.org/package/2006/relationships"><Relationship Id="rId1" Type="http://schemas.microsoft.com/office/2011/relationships/chartStyle" Target="style344.xml"/><Relationship Id="rId2" Type="http://schemas.microsoft.com/office/2011/relationships/chartColorStyle" Target="colors344.xml"/><Relationship Id="rId3" Type="http://schemas.openxmlformats.org/officeDocument/2006/relationships/package" Target="../embeddings/Microsoft_Excel_Worksheet_2E97_7AD06E0F.xlsx"/></Relationships>
</file>

<file path=ppt/charts/_rels/chart356.xml.rels><?xml version='1.0' encoding='UTF-8' standalone='yes'?>
<Relationships xmlns="http://schemas.openxmlformats.org/package/2006/relationships"><Relationship Id="rId1" Type="http://schemas.microsoft.com/office/2011/relationships/chartStyle" Target="style345.xml"/><Relationship Id="rId2" Type="http://schemas.microsoft.com/office/2011/relationships/chartColorStyle" Target="colors345.xml"/><Relationship Id="rId3" Type="http://schemas.openxmlformats.org/officeDocument/2006/relationships/package" Target="../embeddings/Microsoft_Excel_Worksheet_2E97_7AD06E0F307.xlsx"/></Relationships>
</file>

<file path=ppt/charts/_rels/chart357.xml.rels><?xml version='1.0' encoding='UTF-8' standalone='yes'?>
<Relationships xmlns="http://schemas.openxmlformats.org/package/2006/relationships"><Relationship Id="rId1" Type="http://schemas.microsoft.com/office/2011/relationships/chartStyle" Target="style346.xml"/><Relationship Id="rId2" Type="http://schemas.microsoft.com/office/2011/relationships/chartColorStyle" Target="colors346.xml"/><Relationship Id="rId3" Type="http://schemas.openxmlformats.org/officeDocument/2006/relationships/package" Target="../embeddings/Microsoft_Excel_Worksheet_2E97_7AD06E0F308.xlsx"/></Relationships>
</file>

<file path=ppt/charts/_rels/chart358.xml.rels><?xml version='1.0' encoding='UTF-8' standalone='yes'?>
<Relationships xmlns="http://schemas.openxmlformats.org/package/2006/relationships"><Relationship Id="rId1" Type="http://schemas.microsoft.com/office/2011/relationships/chartStyle" Target="style347.xml"/><Relationship Id="rId2" Type="http://schemas.microsoft.com/office/2011/relationships/chartColorStyle" Target="colors347.xml"/><Relationship Id="rId3" Type="http://schemas.openxmlformats.org/officeDocument/2006/relationships/package" Target="../embeddings/Microsoft_Excel_Worksheet_2E97_7AD06E0F309.xlsx"/></Relationships>
</file>

<file path=ppt/charts/_rels/chart359.xml.rels><?xml version='1.0' encoding='UTF-8' standalone='yes'?>
<Relationships xmlns="http://schemas.openxmlformats.org/package/2006/relationships"><Relationship Id="rId1" Type="http://schemas.microsoft.com/office/2011/relationships/chartStyle" Target="style348.xml"/><Relationship Id="rId2" Type="http://schemas.microsoft.com/office/2011/relationships/chartColorStyle" Target="colors348.xml"/><Relationship Id="rId3" Type="http://schemas.openxmlformats.org/officeDocument/2006/relationships/package" Target="../embeddings/Microsoft_Excel_Worksheet_2E97_7AD06E0F310.xlsx"/></Relationships>
</file>

<file path=ppt/charts/_rels/chart360.xml.rels><?xml version='1.0' encoding='UTF-8' standalone='yes'?>
<Relationships xmlns="http://schemas.openxmlformats.org/package/2006/relationships"><Relationship Id="rId1" Type="http://schemas.microsoft.com/office/2011/relationships/chartStyle" Target="style349.xml"/><Relationship Id="rId2" Type="http://schemas.microsoft.com/office/2011/relationships/chartColorStyle" Target="colors349.xml"/><Relationship Id="rId3" Type="http://schemas.openxmlformats.org/officeDocument/2006/relationships/package" Target="../embeddings/Microsoft_Excel_Worksheet_2E97_7AD06E0F311.xlsx"/></Relationships>
</file>

<file path=ppt/charts/_rels/chart361.xml.rels><?xml version='1.0' encoding='UTF-8' standalone='yes'?>
<Relationships xmlns="http://schemas.openxmlformats.org/package/2006/relationships"><Relationship Id="rId1" Type="http://schemas.microsoft.com/office/2011/relationships/chartStyle" Target="style350.xml"/><Relationship Id="rId2" Type="http://schemas.microsoft.com/office/2011/relationships/chartColorStyle" Target="colors350.xml"/><Relationship Id="rId3" Type="http://schemas.openxmlformats.org/officeDocument/2006/relationships/package" Target="../embeddings/Microsoft_Excel_Worksheet_2E97_7AD06E0F312.xlsx"/></Relationships>
</file>

<file path=ppt/charts/_rels/chart362.xml.rels><?xml version='1.0' encoding='UTF-8' standalone='yes'?>
<Relationships xmlns="http://schemas.openxmlformats.org/package/2006/relationships"><Relationship Id="rId1" Type="http://schemas.microsoft.com/office/2011/relationships/chartStyle" Target="style351.xml"/><Relationship Id="rId2" Type="http://schemas.microsoft.com/office/2011/relationships/chartColorStyle" Target="colors351.xml"/><Relationship Id="rId3" Type="http://schemas.openxmlformats.org/officeDocument/2006/relationships/package" Target="../embeddings/Microsoft_Excel_Worksheet_2E97_7AD06E0F313.xlsx"/></Relationships>
</file>

<file path=ppt/charts/_rels/chart363.xml.rels><?xml version='1.0' encoding='UTF-8' standalone='yes'?>
<Relationships xmlns="http://schemas.openxmlformats.org/package/2006/relationships"><Relationship Id="rId1" Type="http://schemas.microsoft.com/office/2011/relationships/chartStyle" Target="style352.xml"/><Relationship Id="rId2" Type="http://schemas.microsoft.com/office/2011/relationships/chartColorStyle" Target="colors352.xml"/><Relationship Id="rId3" Type="http://schemas.openxmlformats.org/officeDocument/2006/relationships/package" Target="../embeddings/Microsoft_Excel_Worksheet_2E97_7AD06E0F314.xlsx"/></Relationships>
</file>

<file path=ppt/charts/_rels/chart364.xml.rels><?xml version='1.0' encoding='UTF-8' standalone='yes'?>
<Relationships xmlns="http://schemas.openxmlformats.org/package/2006/relationships"><Relationship Id="rId1" Type="http://schemas.microsoft.com/office/2011/relationships/chartStyle" Target="style353.xml"/><Relationship Id="rId2" Type="http://schemas.microsoft.com/office/2011/relationships/chartColorStyle" Target="colors353.xml"/><Relationship Id="rId3" Type="http://schemas.openxmlformats.org/officeDocument/2006/relationships/package" Target="../embeddings/Microsoft_Excel_Worksheet_2E97_7AD06E0F315.xlsx"/></Relationships>
</file>

<file path=ppt/charts/_rels/chart365.xml.rels><?xml version='1.0' encoding='UTF-8' standalone='yes'?>
<Relationships xmlns="http://schemas.openxmlformats.org/package/2006/relationships"><Relationship Id="rId1" Type="http://schemas.microsoft.com/office/2011/relationships/chartStyle" Target="style354.xml"/><Relationship Id="rId2" Type="http://schemas.microsoft.com/office/2011/relationships/chartColorStyle" Target="colors354.xml"/><Relationship Id="rId3" Type="http://schemas.openxmlformats.org/officeDocument/2006/relationships/package" Target="../embeddings/Microsoft_Excel_Worksheet_2E97_7AD06E0F316.xlsx"/></Relationships>
</file>

<file path=ppt/charts/_rels/chart366.xml.rels><?xml version='1.0' encoding='UTF-8' standalone='yes'?>
<Relationships xmlns="http://schemas.openxmlformats.org/package/2006/relationships"><Relationship Id="rId1" Type="http://schemas.microsoft.com/office/2011/relationships/chartStyle" Target="style355.xml"/><Relationship Id="rId2" Type="http://schemas.microsoft.com/office/2011/relationships/chartColorStyle" Target="colors355.xml"/><Relationship Id="rId3" Type="http://schemas.openxmlformats.org/officeDocument/2006/relationships/package" Target="../embeddings/Microsoft_Excel_Worksheet_2E97_7AD06E0F317.xlsx"/></Relationships>
</file>

<file path=ppt/charts/_rels/chart367.xml.rels><?xml version='1.0' encoding='UTF-8' standalone='yes'?>
<Relationships xmlns="http://schemas.openxmlformats.org/package/2006/relationships"><Relationship Id="rId1" Type="http://schemas.microsoft.com/office/2011/relationships/chartStyle" Target="style356.xml"/><Relationship Id="rId2" Type="http://schemas.microsoft.com/office/2011/relationships/chartColorStyle" Target="colors356.xml"/><Relationship Id="rId3" Type="http://schemas.openxmlformats.org/officeDocument/2006/relationships/package" Target="../embeddings/Microsoft_Excel_Worksheet_2E97_7AD06E0F318.xlsx"/></Relationships>
</file>

<file path=ppt/charts/_rels/chart368.xml.rels><?xml version='1.0' encoding='UTF-8' standalone='yes'?>
<Relationships xmlns="http://schemas.openxmlformats.org/package/2006/relationships"><Relationship Id="rId1" Type="http://schemas.microsoft.com/office/2011/relationships/chartStyle" Target="style357.xml"/><Relationship Id="rId2" Type="http://schemas.microsoft.com/office/2011/relationships/chartColorStyle" Target="colors357.xml"/><Relationship Id="rId3" Type="http://schemas.openxmlformats.org/officeDocument/2006/relationships/package" Target="../embeddings/Microsoft_Excel_Worksheet_2EA0_DE70B122.xlsx"/></Relationships>
</file>

<file path=ppt/charts/_rels/chart369.xml.rels><?xml version='1.0' encoding='UTF-8' standalone='yes'?>
<Relationships xmlns="http://schemas.openxmlformats.org/package/2006/relationships"><Relationship Id="rId1" Type="http://schemas.microsoft.com/office/2011/relationships/chartStyle" Target="style358.xml"/><Relationship Id="rId2" Type="http://schemas.microsoft.com/office/2011/relationships/chartColorStyle" Target="colors358.xml"/><Relationship Id="rId3" Type="http://schemas.openxmlformats.org/officeDocument/2006/relationships/package" Target="../embeddings/Microsoft_Excel_Worksheet_2EA0_DE70B122319.xlsx"/></Relationships>
</file>

<file path=ppt/charts/_rels/chart370.xml.rels><?xml version='1.0' encoding='UTF-8' standalone='yes'?>
<Relationships xmlns="http://schemas.openxmlformats.org/package/2006/relationships"><Relationship Id="rId1" Type="http://schemas.microsoft.com/office/2011/relationships/chartStyle" Target="style359.xml"/><Relationship Id="rId2" Type="http://schemas.microsoft.com/office/2011/relationships/chartColorStyle" Target="colors359.xml"/><Relationship Id="rId3" Type="http://schemas.openxmlformats.org/officeDocument/2006/relationships/package" Target="../embeddings/Microsoft_Excel_Worksheet_2EA0_DE70B122320.xlsx"/></Relationships>
</file>

<file path=ppt/charts/_rels/chart371.xml.rels><?xml version='1.0' encoding='UTF-8' standalone='yes'?>
<Relationships xmlns="http://schemas.openxmlformats.org/package/2006/relationships"><Relationship Id="rId1" Type="http://schemas.microsoft.com/office/2011/relationships/chartStyle" Target="style360.xml"/><Relationship Id="rId2" Type="http://schemas.microsoft.com/office/2011/relationships/chartColorStyle" Target="colors360.xml"/><Relationship Id="rId3" Type="http://schemas.openxmlformats.org/officeDocument/2006/relationships/package" Target="../embeddings/Microsoft_Excel_Worksheet_2EA0_DE70B122321.xlsx"/></Relationships>
</file>

<file path=ppt/charts/_rels/chart372.xml.rels><?xml version='1.0' encoding='UTF-8' standalone='yes'?>
<Relationships xmlns="http://schemas.openxmlformats.org/package/2006/relationships"><Relationship Id="rId1" Type="http://schemas.microsoft.com/office/2011/relationships/chartStyle" Target="style361.xml"/><Relationship Id="rId2" Type="http://schemas.microsoft.com/office/2011/relationships/chartColorStyle" Target="colors361.xml"/><Relationship Id="rId3" Type="http://schemas.openxmlformats.org/officeDocument/2006/relationships/package" Target="../embeddings/Microsoft_Excel_Worksheet_2EA0_DE70B122322.xlsx"/></Relationships>
</file>

<file path=ppt/charts/_rels/chart373.xml.rels><?xml version='1.0' encoding='UTF-8' standalone='yes'?>
<Relationships xmlns="http://schemas.openxmlformats.org/package/2006/relationships"><Relationship Id="rId1" Type="http://schemas.microsoft.com/office/2011/relationships/chartStyle" Target="style362.xml"/><Relationship Id="rId2" Type="http://schemas.microsoft.com/office/2011/relationships/chartColorStyle" Target="colors362.xml"/><Relationship Id="rId3" Type="http://schemas.openxmlformats.org/officeDocument/2006/relationships/package" Target="../embeddings/Microsoft_Excel_Worksheet_2EA0_DE70B122323.xlsx"/></Relationships>
</file>

<file path=ppt/charts/_rels/chart374.xml.rels><?xml version='1.0' encoding='UTF-8' standalone='yes'?>
<Relationships xmlns="http://schemas.openxmlformats.org/package/2006/relationships"><Relationship Id="rId1" Type="http://schemas.microsoft.com/office/2011/relationships/chartStyle" Target="style363.xml"/><Relationship Id="rId2" Type="http://schemas.microsoft.com/office/2011/relationships/chartColorStyle" Target="colors363.xml"/><Relationship Id="rId3" Type="http://schemas.openxmlformats.org/officeDocument/2006/relationships/package" Target="../embeddings/Microsoft_Excel_Worksheet_2EA1_8C7669CA.xlsx"/></Relationships>
</file>

<file path=ppt/charts/_rels/chart375.xml.rels><?xml version='1.0' encoding='UTF-8' standalone='yes'?>
<Relationships xmlns="http://schemas.openxmlformats.org/package/2006/relationships"><Relationship Id="rId1" Type="http://schemas.microsoft.com/office/2011/relationships/chartStyle" Target="style364.xml"/><Relationship Id="rId2" Type="http://schemas.microsoft.com/office/2011/relationships/chartColorStyle" Target="colors364.xml"/><Relationship Id="rId3" Type="http://schemas.openxmlformats.org/officeDocument/2006/relationships/package" Target="../embeddings/Microsoft_Excel_Worksheet_2EA1_8C7669CA324.xlsx"/></Relationships>
</file>

<file path=ppt/charts/_rels/chart376.xml.rels><?xml version='1.0' encoding='UTF-8' standalone='yes'?>
<Relationships xmlns="http://schemas.openxmlformats.org/package/2006/relationships"><Relationship Id="rId1" Type="http://schemas.microsoft.com/office/2011/relationships/chartStyle" Target="style365.xml"/><Relationship Id="rId2" Type="http://schemas.microsoft.com/office/2011/relationships/chartColorStyle" Target="colors365.xml"/><Relationship Id="rId3" Type="http://schemas.openxmlformats.org/officeDocument/2006/relationships/package" Target="../embeddings/Microsoft_Excel_Worksheet_2EA1_8C7669CA325.xlsx"/></Relationships>
</file>

<file path=ppt/charts/_rels/chart377.xml.rels><?xml version='1.0' encoding='UTF-8' standalone='yes'?>
<Relationships xmlns="http://schemas.openxmlformats.org/package/2006/relationships"><Relationship Id="rId1" Type="http://schemas.microsoft.com/office/2011/relationships/chartStyle" Target="style366.xml"/><Relationship Id="rId2" Type="http://schemas.microsoft.com/office/2011/relationships/chartColorStyle" Target="colors366.xml"/><Relationship Id="rId3" Type="http://schemas.openxmlformats.org/officeDocument/2006/relationships/package" Target="../embeddings/Microsoft_Excel_Worksheet_2EA1_8C7669CA326.xlsx"/></Relationships>
</file>

<file path=ppt/charts/_rels/chart378.xml.rels><?xml version='1.0' encoding='UTF-8' standalone='yes'?>
<Relationships xmlns="http://schemas.openxmlformats.org/package/2006/relationships"><Relationship Id="rId1" Type="http://schemas.microsoft.com/office/2011/relationships/chartStyle" Target="style367.xml"/><Relationship Id="rId2" Type="http://schemas.microsoft.com/office/2011/relationships/chartColorStyle" Target="colors367.xml"/><Relationship Id="rId3" Type="http://schemas.openxmlformats.org/officeDocument/2006/relationships/package" Target="../embeddings/Microsoft_Excel_Worksheet_2EA1_8C7669CA327.xlsx"/></Relationships>
</file>

<file path=ppt/charts/_rels/chart379.xml.rels><?xml version='1.0' encoding='UTF-8' standalone='yes'?>
<Relationships xmlns="http://schemas.openxmlformats.org/package/2006/relationships"><Relationship Id="rId1" Type="http://schemas.microsoft.com/office/2011/relationships/chartStyle" Target="style368.xml"/><Relationship Id="rId2" Type="http://schemas.microsoft.com/office/2011/relationships/chartColorStyle" Target="colors368.xml"/><Relationship Id="rId3" Type="http://schemas.openxmlformats.org/officeDocument/2006/relationships/package" Target="../embeddings/Microsoft_Excel_Worksheet_2EA1_8C7669CA328.xlsx"/></Relationships>
</file>

<file path=ppt/charts/_rels/chart380.xml.rels><?xml version='1.0' encoding='UTF-8' standalone='yes'?>
<Relationships xmlns="http://schemas.openxmlformats.org/package/2006/relationships"><Relationship Id="rId1" Type="http://schemas.microsoft.com/office/2011/relationships/chartStyle" Target="style369.xml"/><Relationship Id="rId2" Type="http://schemas.microsoft.com/office/2011/relationships/chartColorStyle" Target="colors369.xml"/><Relationship Id="rId3" Type="http://schemas.openxmlformats.org/officeDocument/2006/relationships/package" Target="../embeddings/Microsoft_Excel_Worksheet_2EA2_8756F9AB.xlsx"/></Relationships>
</file>

<file path=ppt/charts/_rels/chart381.xml.rels><?xml version='1.0' encoding='UTF-8' standalone='yes'?>
<Relationships xmlns="http://schemas.openxmlformats.org/package/2006/relationships"><Relationship Id="rId1" Type="http://schemas.microsoft.com/office/2011/relationships/chartStyle" Target="style370.xml"/><Relationship Id="rId2" Type="http://schemas.microsoft.com/office/2011/relationships/chartColorStyle" Target="colors370.xml"/><Relationship Id="rId3" Type="http://schemas.openxmlformats.org/officeDocument/2006/relationships/package" Target="../embeddings/Microsoft_Excel_Worksheet_2EA2_8756F9AB329.xlsx"/></Relationships>
</file>

<file path=ppt/charts/_rels/chart382.xml.rels><?xml version='1.0' encoding='UTF-8' standalone='yes'?>
<Relationships xmlns="http://schemas.openxmlformats.org/package/2006/relationships"><Relationship Id="rId1" Type="http://schemas.microsoft.com/office/2011/relationships/chartStyle" Target="style371.xml"/><Relationship Id="rId2" Type="http://schemas.microsoft.com/office/2011/relationships/chartColorStyle" Target="colors371.xml"/><Relationship Id="rId3" Type="http://schemas.openxmlformats.org/officeDocument/2006/relationships/package" Target="../embeddings/Microsoft_Excel_Worksheet_2EA2_8756F9AB330.xlsx"/></Relationships>
</file>

<file path=ppt/charts/_rels/chart383.xml.rels><?xml version='1.0' encoding='UTF-8' standalone='yes'?>
<Relationships xmlns="http://schemas.openxmlformats.org/package/2006/relationships"><Relationship Id="rId1" Type="http://schemas.microsoft.com/office/2011/relationships/chartStyle" Target="style372.xml"/><Relationship Id="rId2" Type="http://schemas.microsoft.com/office/2011/relationships/chartColorStyle" Target="colors372.xml"/><Relationship Id="rId3" Type="http://schemas.openxmlformats.org/officeDocument/2006/relationships/package" Target="../embeddings/Microsoft_Excel_Worksheet_2EA2_8756F9AB331.xlsx"/></Relationships>
</file>

<file path=ppt/charts/_rels/chart384.xml.rels><?xml version='1.0' encoding='UTF-8' standalone='yes'?>
<Relationships xmlns="http://schemas.openxmlformats.org/package/2006/relationships"><Relationship Id="rId1" Type="http://schemas.microsoft.com/office/2011/relationships/chartStyle" Target="style373.xml"/><Relationship Id="rId2" Type="http://schemas.microsoft.com/office/2011/relationships/chartColorStyle" Target="colors373.xml"/><Relationship Id="rId3" Type="http://schemas.openxmlformats.org/officeDocument/2006/relationships/package" Target="../embeddings/Microsoft_Excel_Worksheet_2EA2_8756F9AB332.xlsx"/></Relationships>
</file>

<file path=ppt/charts/_rels/chart385.xml.rels><?xml version='1.0' encoding='UTF-8' standalone='yes'?>
<Relationships xmlns="http://schemas.openxmlformats.org/package/2006/relationships"><Relationship Id="rId1" Type="http://schemas.microsoft.com/office/2011/relationships/chartStyle" Target="style374.xml"/><Relationship Id="rId2" Type="http://schemas.microsoft.com/office/2011/relationships/chartColorStyle" Target="colors374.xml"/><Relationship Id="rId3" Type="http://schemas.openxmlformats.org/officeDocument/2006/relationships/package" Target="../embeddings/Microsoft_Excel_Worksheet_2EA2_8756F9AB333.xlsx"/></Relationships>
</file>

<file path=ppt/charts/_rels/chart386.xml.rels><?xml version='1.0' encoding='UTF-8' standalone='yes'?>
<Relationships xmlns="http://schemas.openxmlformats.org/package/2006/relationships"><Relationship Id="rId1" Type="http://schemas.microsoft.com/office/2011/relationships/chartStyle" Target="style375.xml"/><Relationship Id="rId2" Type="http://schemas.microsoft.com/office/2011/relationships/chartColorStyle" Target="colors375.xml"/><Relationship Id="rId3" Type="http://schemas.openxmlformats.org/officeDocument/2006/relationships/package" Target="../embeddings/Microsoft_Excel_Worksheet_2EEC_A9B06BD.xlsx"/></Relationships>
</file>

<file path=ppt/charts/_rels/chart387.xml.rels><?xml version='1.0' encoding='UTF-8' standalone='yes'?>
<Relationships xmlns="http://schemas.openxmlformats.org/package/2006/relationships"><Relationship Id="rId1" Type="http://schemas.microsoft.com/office/2011/relationships/chartStyle" Target="style376.xml"/><Relationship Id="rId2" Type="http://schemas.microsoft.com/office/2011/relationships/chartColorStyle" Target="colors376.xml"/><Relationship Id="rId3" Type="http://schemas.openxmlformats.org/officeDocument/2006/relationships/package" Target="../embeddings/Microsoft_Excel_Worksheet_2EEC_A9B06BD334.xlsx"/></Relationships>
</file>

<file path=ppt/charts/_rels/chart388.xml.rels><?xml version='1.0' encoding='UTF-8' standalone='yes'?>
<Relationships xmlns="http://schemas.openxmlformats.org/package/2006/relationships"><Relationship Id="rId1" Type="http://schemas.microsoft.com/office/2011/relationships/chartStyle" Target="style377.xml"/><Relationship Id="rId2" Type="http://schemas.microsoft.com/office/2011/relationships/chartColorStyle" Target="colors377.xml"/><Relationship Id="rId3" Type="http://schemas.openxmlformats.org/officeDocument/2006/relationships/package" Target="../embeddings/Microsoft_Excel_Worksheet_2EEC_A9B06BD335.xlsx"/></Relationships>
</file>

<file path=ppt/charts/_rels/chart389.xml.rels><?xml version='1.0' encoding='UTF-8' standalone='yes'?>
<Relationships xmlns="http://schemas.openxmlformats.org/package/2006/relationships"><Relationship Id="rId1" Type="http://schemas.microsoft.com/office/2011/relationships/chartStyle" Target="style378.xml"/><Relationship Id="rId2" Type="http://schemas.microsoft.com/office/2011/relationships/chartColorStyle" Target="colors378.xml"/><Relationship Id="rId3" Type="http://schemas.openxmlformats.org/officeDocument/2006/relationships/package" Target="../embeddings/Microsoft_Excel_Worksheet_2EEC_A9B06BD336.xlsx"/></Relationships>
</file>

<file path=ppt/charts/_rels/chart390.xml.rels><?xml version='1.0' encoding='UTF-8' standalone='yes'?>
<Relationships xmlns="http://schemas.openxmlformats.org/package/2006/relationships"><Relationship Id="rId1" Type="http://schemas.microsoft.com/office/2011/relationships/chartStyle" Target="style379.xml"/><Relationship Id="rId2" Type="http://schemas.microsoft.com/office/2011/relationships/chartColorStyle" Target="colors379.xml"/><Relationship Id="rId3" Type="http://schemas.openxmlformats.org/officeDocument/2006/relationships/package" Target="../embeddings/Microsoft_Excel_Worksheet_2EEC_A9B06BD337.xlsx"/></Relationships>
</file>

<file path=ppt/charts/_rels/chart391.xml.rels><?xml version='1.0' encoding='UTF-8' standalone='yes'?>
<Relationships xmlns="http://schemas.openxmlformats.org/package/2006/relationships"><Relationship Id="rId1" Type="http://schemas.microsoft.com/office/2011/relationships/chartStyle" Target="style380.xml"/><Relationship Id="rId2" Type="http://schemas.microsoft.com/office/2011/relationships/chartColorStyle" Target="colors380.xml"/><Relationship Id="rId3" Type="http://schemas.openxmlformats.org/officeDocument/2006/relationships/package" Target="../embeddings/Microsoft_Excel_Worksheet_2EEC_A9B06BD338.xlsx"/></Relationships>
</file>

<file path=ppt/charts/_rels/chart392.xml.rels><?xml version='1.0' encoding='UTF-8' standalone='yes'?>
<Relationships xmlns="http://schemas.openxmlformats.org/package/2006/relationships"><Relationship Id="rId1" Type="http://schemas.microsoft.com/office/2011/relationships/chartStyle" Target="style381.xml"/><Relationship Id="rId2" Type="http://schemas.microsoft.com/office/2011/relationships/chartColorStyle" Target="colors381.xml"/><Relationship Id="rId3" Type="http://schemas.openxmlformats.org/officeDocument/2006/relationships/package" Target="../embeddings/Microsoft_Excel_Worksheet_2EEC_A9B06BD339.xlsx"/></Relationships>
</file>

<file path=ppt/charts/_rels/chart393.xml.rels><?xml version='1.0' encoding='UTF-8' standalone='yes'?>
<Relationships xmlns="http://schemas.openxmlformats.org/package/2006/relationships"><Relationship Id="rId1" Type="http://schemas.microsoft.com/office/2011/relationships/chartStyle" Target="style382.xml"/><Relationship Id="rId2" Type="http://schemas.microsoft.com/office/2011/relationships/chartColorStyle" Target="colors382.xml"/><Relationship Id="rId3" Type="http://schemas.openxmlformats.org/officeDocument/2006/relationships/package" Target="../embeddings/Microsoft_Excel_Worksheet_2EEC_A9B06BD340.xlsx"/></Relationships>
</file>

<file path=ppt/charts/_rels/chart394.xml.rels><?xml version='1.0' encoding='UTF-8' standalone='yes'?>
<Relationships xmlns="http://schemas.openxmlformats.org/package/2006/relationships"><Relationship Id="rId1" Type="http://schemas.microsoft.com/office/2011/relationships/chartStyle" Target="style383.xml"/><Relationship Id="rId2" Type="http://schemas.microsoft.com/office/2011/relationships/chartColorStyle" Target="colors383.xml"/><Relationship Id="rId3" Type="http://schemas.openxmlformats.org/officeDocument/2006/relationships/package" Target="../embeddings/Microsoft_Excel_Worksheet_2EEC_A9B06BD341.xlsx"/></Relationships>
</file>

<file path=ppt/charts/_rels/chart395.xml.rels><?xml version='1.0' encoding='UTF-8' standalone='yes'?>
<Relationships xmlns="http://schemas.openxmlformats.org/package/2006/relationships"><Relationship Id="rId1" Type="http://schemas.microsoft.com/office/2011/relationships/chartStyle" Target="style384.xml"/><Relationship Id="rId2" Type="http://schemas.microsoft.com/office/2011/relationships/chartColorStyle" Target="colors384.xml"/><Relationship Id="rId3" Type="http://schemas.openxmlformats.org/officeDocument/2006/relationships/package" Target="../embeddings/Microsoft_Excel_Worksheet_2EEC_A9B06BD342.xlsx"/></Relationships>
</file>

<file path=ppt/charts/_rels/chart396.xml.rels><?xml version='1.0' encoding='UTF-8' standalone='yes'?>
<Relationships xmlns="http://schemas.openxmlformats.org/package/2006/relationships"><Relationship Id="rId1" Type="http://schemas.microsoft.com/office/2011/relationships/chartStyle" Target="style385.xml"/><Relationship Id="rId2" Type="http://schemas.microsoft.com/office/2011/relationships/chartColorStyle" Target="colors385.xml"/><Relationship Id="rId3" Type="http://schemas.openxmlformats.org/officeDocument/2006/relationships/package" Target="../embeddings/Microsoft_Excel_Worksheet_2EEC_A9B06BD343.xlsx"/></Relationships>
</file>

<file path=ppt/charts/_rels/chart397.xml.rels><?xml version='1.0' encoding='UTF-8' standalone='yes'?>
<Relationships xmlns="http://schemas.openxmlformats.org/package/2006/relationships"><Relationship Id="rId1" Type="http://schemas.microsoft.com/office/2011/relationships/chartStyle" Target="style386.xml"/><Relationship Id="rId2" Type="http://schemas.microsoft.com/office/2011/relationships/chartColorStyle" Target="colors386.xml"/><Relationship Id="rId3" Type="http://schemas.openxmlformats.org/officeDocument/2006/relationships/package" Target="../embeddings/Microsoft_Excel_Worksheet_2EEC_A9B06BD344.xlsx"/></Relationships>
</file>

<file path=ppt/charts/_rels/chart398.xml.rels><?xml version='1.0' encoding='UTF-8' standalone='yes'?>
<Relationships xmlns="http://schemas.openxmlformats.org/package/2006/relationships"><Relationship Id="rId1" Type="http://schemas.microsoft.com/office/2011/relationships/chartStyle" Target="style387.xml"/><Relationship Id="rId2" Type="http://schemas.microsoft.com/office/2011/relationships/chartColorStyle" Target="colors387.xml"/><Relationship Id="rId3" Type="http://schemas.openxmlformats.org/officeDocument/2006/relationships/package" Target="../embeddings/Microsoft_Excel_Worksheet_2EEC_A9B06BD345.xlsx"/></Relationships>
</file>

<file path=ppt/charts/_rels/chart399.xml.rels><?xml version='1.0' encoding='UTF-8' standalone='yes'?>
<Relationships xmlns="http://schemas.openxmlformats.org/package/2006/relationships"><Relationship Id="rId1" Type="http://schemas.microsoft.com/office/2011/relationships/chartStyle" Target="style388.xml"/><Relationship Id="rId2" Type="http://schemas.microsoft.com/office/2011/relationships/chartColorStyle" Target="colors388.xml"/><Relationship Id="rId3" Type="http://schemas.openxmlformats.org/officeDocument/2006/relationships/package" Target="../embeddings/Microsoft_Excel_Worksheet_2EEC_A9B06BD346.xlsx"/></Relationships>
</file>

<file path=ppt/charts/_rels/chart400.xml.rels><?xml version='1.0' encoding='UTF-8' standalone='yes'?>
<Relationships xmlns="http://schemas.openxmlformats.org/package/2006/relationships"><Relationship Id="rId1" Type="http://schemas.microsoft.com/office/2011/relationships/chartStyle" Target="style389.xml"/><Relationship Id="rId2" Type="http://schemas.microsoft.com/office/2011/relationships/chartColorStyle" Target="colors389.xml"/><Relationship Id="rId3" Type="http://schemas.openxmlformats.org/officeDocument/2006/relationships/package" Target="../embeddings/Microsoft_Excel_Worksheet_2EEC_A9B06BD347.xlsx"/></Relationships>
</file>

<file path=ppt/charts/_rels/chart401.xml.rels><?xml version='1.0' encoding='UTF-8' standalone='yes'?>
<Relationships xmlns="http://schemas.openxmlformats.org/package/2006/relationships"><Relationship Id="rId1" Type="http://schemas.openxmlformats.org/officeDocument/2006/relationships/package" Target="../embeddings/Microsoft_Excel_Worksheet_2EEF_6125F216.xlsx"/></Relationships>
</file>

<file path=ppt/charts/_rels/chart402.xml.rels><?xml version='1.0' encoding='UTF-8' standalone='yes'?>
<Relationships xmlns="http://schemas.openxmlformats.org/package/2006/relationships"><Relationship Id="rId1" Type="http://schemas.openxmlformats.org/officeDocument/2006/relationships/package" Target="../embeddings/Microsoft_Excel_Worksheet_2EEF_6125F216348.xlsx"/></Relationships>
</file>

<file path=ppt/charts/_rels/chart403.xml.rels><?xml version='1.0' encoding='UTF-8' standalone='yes'?>
<Relationships xmlns="http://schemas.openxmlformats.org/package/2006/relationships"><Relationship Id="rId1" Type="http://schemas.openxmlformats.org/officeDocument/2006/relationships/package" Target="../embeddings/Microsoft_Excel_Worksheet_2EF9_4DD335CD.xlsx"/></Relationships>
</file>

<file path=ppt/charts/_rels/chart404.xml.rels><?xml version='1.0' encoding='UTF-8' standalone='yes'?>
<Relationships xmlns="http://schemas.openxmlformats.org/package/2006/relationships"><Relationship Id="rId1" Type="http://schemas.openxmlformats.org/officeDocument/2006/relationships/package" Target="../embeddings/Microsoft_Excel_Worksheet_2EF8_F31A713.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9.9884388310158598E-2"/>
          <c:y val="3.5597880027754623E-2"/>
          <c:w val="0.8204488515769125"/>
          <c:h val="0.94144664508384335"/>
        </c:manualLayout>
      </c:layout>
      <c:barChart>
        <c:barDir val="col"/>
        <c:grouping val="percentStacked"/>
        <c:varyColors val="0"/>
        <c:ser>
          <c:idx val="5"/>
          <c:order val="0"/>
          <c:tx>
            <c:strRef>
              <c:f>Sheet1!$B$1</c:f>
              <c:strCache>
                <c:ptCount val="1"/>
                <c:pt idx="0">
                  <c:v>Major academic center group practice</c:v>
                </c:pt>
              </c:strCache>
            </c:strRef>
          </c:tx>
          <c:spPr>
            <a:solidFill>
              <a:srgbClr val="D9D9D9"/>
            </a:solidFill>
            <a:ln>
              <a:noFill/>
            </a:ln>
            <a:effectLst/>
          </c:spPr>
          <c:invertIfNegative val="0"/>
          <c:dLbls>
            <c:delete val="1"/>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Sheet1!$B$2:$B$16</c:f>
              <c:numCache>
                <c:formatCode>0%</c:formatCode>
                <c:ptCount val="15"/>
                <c:pt idx="0">
                  <c:v>0.02</c:v>
                </c:pt>
                <c:pt idx="1">
                  <c:v>0.03</c:v>
                </c:pt>
                <c:pt idx="2">
                  <c:v>0.02</c:v>
                </c:pt>
                <c:pt idx="3">
                  <c:v>0.03</c:v>
                </c:pt>
                <c:pt idx="4">
                  <c:v>0.04</c:v>
                </c:pt>
                <c:pt idx="5">
                  <c:v>0.02</c:v>
                </c:pt>
                <c:pt idx="6">
                  <c:v>0.03</c:v>
                </c:pt>
                <c:pt idx="7">
                  <c:v>0.03</c:v>
                </c:pt>
                <c:pt idx="8">
                  <c:v>0.02</c:v>
                </c:pt>
                <c:pt idx="9">
                  <c:v>0.03</c:v>
                </c:pt>
                <c:pt idx="10">
                  <c:v>0.02</c:v>
                </c:pt>
                <c:pt idx="11">
                  <c:v>0.02</c:v>
                </c:pt>
                <c:pt idx="12">
                  <c:v>0.03</c:v>
                </c:pt>
                <c:pt idx="13">
                  <c:v>0.04</c:v>
                </c:pt>
                <c:pt idx="14">
                  <c:v>0.03</c:v>
                </c:pt>
              </c:numCache>
            </c:numRef>
          </c:val>
          <c:extLst>
            <c:ext xmlns:c16="http://schemas.microsoft.com/office/drawing/2014/chart" uri="{C3380CC4-5D6E-409C-BE32-E72D297353CC}">
              <c16:uniqueId val="{00000004-D0E5-4853-B5CF-853CF2373FAC}"/>
            </c:ext>
          </c:extLst>
        </c:ser>
        <c:ser>
          <c:idx val="3"/>
          <c:order val="1"/>
          <c:tx>
            <c:strRef>
              <c:f>Sheet1!$C$1</c:f>
              <c:strCache>
                <c:ptCount val="1"/>
                <c:pt idx="0">
                  <c:v>University teaching hospital</c:v>
                </c:pt>
              </c:strCache>
            </c:strRef>
          </c:tx>
          <c:spPr>
            <a:solidFill>
              <a:srgbClr val="7F7F7F"/>
            </a:solidFill>
            <a:ln>
              <a:noFill/>
            </a:ln>
            <a:effectLst/>
          </c:spPr>
          <c:invertIfNegative val="0"/>
          <c:dLbls>
            <c:delete val="1"/>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Sheet1!$C$2:$C$16</c:f>
              <c:numCache>
                <c:formatCode>0%</c:formatCode>
                <c:ptCount val="15"/>
                <c:pt idx="0">
                  <c:v>0.01</c:v>
                </c:pt>
                <c:pt idx="1">
                  <c:v>0.04</c:v>
                </c:pt>
                <c:pt idx="2">
                  <c:v>0.01</c:v>
                </c:pt>
                <c:pt idx="3">
                  <c:v>0.02</c:v>
                </c:pt>
                <c:pt idx="4">
                  <c:v>0.01</c:v>
                </c:pt>
                <c:pt idx="5">
                  <c:v>0.02</c:v>
                </c:pt>
                <c:pt idx="6">
                  <c:v>0.03</c:v>
                </c:pt>
                <c:pt idx="7">
                  <c:v>0.01</c:v>
                </c:pt>
                <c:pt idx="8">
                  <c:v>0.01</c:v>
                </c:pt>
                <c:pt idx="9">
                  <c:v>0.01</c:v>
                </c:pt>
                <c:pt idx="10">
                  <c:v>0.01</c:v>
                </c:pt>
                <c:pt idx="11">
                  <c:v>0.03</c:v>
                </c:pt>
                <c:pt idx="12">
                  <c:v>0.03</c:v>
                </c:pt>
                <c:pt idx="13">
                  <c:v>0.03</c:v>
                </c:pt>
                <c:pt idx="14">
                  <c:v>0.01</c:v>
                </c:pt>
              </c:numCache>
            </c:numRef>
          </c:val>
          <c:extLst>
            <c:ext xmlns:c16="http://schemas.microsoft.com/office/drawing/2014/chart" uri="{C3380CC4-5D6E-409C-BE32-E72D297353CC}">
              <c16:uniqueId val="{00000003-D0E5-4853-B5CF-853CF2373FAC}"/>
            </c:ext>
          </c:extLst>
        </c:ser>
        <c:ser>
          <c:idx val="0"/>
          <c:order val="2"/>
          <c:tx>
            <c:strRef>
              <c:f>Sheet1!$D$1</c:f>
              <c:strCache>
                <c:ptCount val="1"/>
                <c:pt idx="0">
                  <c:v>Major academic center hospital</c:v>
                </c:pt>
              </c:strCache>
            </c:strRef>
          </c:tx>
          <c:spPr>
            <a:solidFill>
              <a:srgbClr val="A6A6A6"/>
            </a:solidFill>
            <a:ln>
              <a:noFill/>
            </a:ln>
            <a:effectLst/>
          </c:spPr>
          <c:invertIfNegative val="0"/>
          <c:dLbls>
            <c:delete val="1"/>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Sheet1!$D$2:$D$16</c:f>
              <c:numCache>
                <c:formatCode>0%</c:formatCode>
                <c:ptCount val="15"/>
                <c:pt idx="0">
                  <c:v>0.03</c:v>
                </c:pt>
                <c:pt idx="1">
                  <c:v>0.03</c:v>
                </c:pt>
                <c:pt idx="2">
                  <c:v>0.04</c:v>
                </c:pt>
                <c:pt idx="3">
                  <c:v>0.01</c:v>
                </c:pt>
                <c:pt idx="4">
                  <c:v>0.01</c:v>
                </c:pt>
                <c:pt idx="5">
                  <c:v>0.05</c:v>
                </c:pt>
                <c:pt idx="6">
                  <c:v>0.03</c:v>
                </c:pt>
                <c:pt idx="7">
                  <c:v>0.04</c:v>
                </c:pt>
                <c:pt idx="8">
                  <c:v>0.02</c:v>
                </c:pt>
                <c:pt idx="9">
                  <c:v>0.03</c:v>
                </c:pt>
                <c:pt idx="10">
                  <c:v>0.03</c:v>
                </c:pt>
                <c:pt idx="11">
                  <c:v>0.04</c:v>
                </c:pt>
                <c:pt idx="12">
                  <c:v>0.04</c:v>
                </c:pt>
                <c:pt idx="13">
                  <c:v>0.04</c:v>
                </c:pt>
                <c:pt idx="14">
                  <c:v>0.04</c:v>
                </c:pt>
              </c:numCache>
            </c:numRef>
          </c:val>
          <c:extLst>
            <c:ext xmlns:c16="http://schemas.microsoft.com/office/drawing/2014/chart" uri="{C3380CC4-5D6E-409C-BE32-E72D297353CC}">
              <c16:uniqueId val="{00000000-78B2-435C-ADBD-82D98238F1ED}"/>
            </c:ext>
          </c:extLst>
        </c:ser>
        <c:ser>
          <c:idx val="1"/>
          <c:order val="3"/>
          <c:tx>
            <c:strRef>
              <c:f>Sheet1!$E$1</c:f>
              <c:strCache>
                <c:ptCount val="1"/>
                <c:pt idx="0">
                  <c:v>Community teaching hospital</c:v>
                </c:pt>
              </c:strCache>
            </c:strRef>
          </c:tx>
          <c:spPr>
            <a:solidFill>
              <a:srgbClr val="8FAAD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Sheet1!$E$2:$E$16</c:f>
              <c:numCache>
                <c:formatCode>0%</c:formatCode>
                <c:ptCount val="15"/>
                <c:pt idx="0">
                  <c:v>0.08</c:v>
                </c:pt>
                <c:pt idx="1">
                  <c:v>0.04</c:v>
                </c:pt>
                <c:pt idx="2">
                  <c:v>0.07</c:v>
                </c:pt>
                <c:pt idx="3">
                  <c:v>0.08</c:v>
                </c:pt>
                <c:pt idx="4">
                  <c:v>0.07</c:v>
                </c:pt>
                <c:pt idx="5">
                  <c:v>0.06</c:v>
                </c:pt>
                <c:pt idx="6">
                  <c:v>0.05</c:v>
                </c:pt>
                <c:pt idx="7">
                  <c:v>0.06</c:v>
                </c:pt>
                <c:pt idx="8">
                  <c:v>0.08</c:v>
                </c:pt>
                <c:pt idx="9">
                  <c:v>0.07</c:v>
                </c:pt>
                <c:pt idx="10">
                  <c:v>0.07</c:v>
                </c:pt>
                <c:pt idx="11">
                  <c:v>0.07</c:v>
                </c:pt>
                <c:pt idx="12">
                  <c:v>0.07</c:v>
                </c:pt>
                <c:pt idx="13">
                  <c:v>0.06</c:v>
                </c:pt>
                <c:pt idx="14">
                  <c:v>0.06</c:v>
                </c:pt>
              </c:numCache>
            </c:numRef>
          </c:val>
          <c:extLst>
            <c:ext xmlns:c16="http://schemas.microsoft.com/office/drawing/2014/chart" uri="{C3380CC4-5D6E-409C-BE32-E72D297353CC}">
              <c16:uniqueId val="{00000001-78B2-435C-ADBD-82D98238F1ED}"/>
            </c:ext>
          </c:extLst>
        </c:ser>
        <c:ser>
          <c:idx val="2"/>
          <c:order val="4"/>
          <c:tx>
            <c:strRef>
              <c:f>Sheet1!$F$1</c:f>
              <c:strCache>
                <c:ptCount val="1"/>
                <c:pt idx="0">
                  <c:v>Community hospital (Non-teaching)</c:v>
                </c:pt>
              </c:strCache>
            </c:strRef>
          </c:tx>
          <c:spPr>
            <a:solidFill>
              <a:srgbClr val="B4C7E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Sheet1!$F$2:$F$16</c:f>
              <c:numCache>
                <c:formatCode>0%</c:formatCode>
                <c:ptCount val="15"/>
                <c:pt idx="0">
                  <c:v>0.04</c:v>
                </c:pt>
                <c:pt idx="1">
                  <c:v>0.1</c:v>
                </c:pt>
                <c:pt idx="2">
                  <c:v>0.11</c:v>
                </c:pt>
                <c:pt idx="3">
                  <c:v>0.05</c:v>
                </c:pt>
                <c:pt idx="4">
                  <c:v>0.07</c:v>
                </c:pt>
                <c:pt idx="5">
                  <c:v>0.1</c:v>
                </c:pt>
                <c:pt idx="6">
                  <c:v>0.08</c:v>
                </c:pt>
                <c:pt idx="7">
                  <c:v>0.07</c:v>
                </c:pt>
                <c:pt idx="8">
                  <c:v>0.04</c:v>
                </c:pt>
                <c:pt idx="9">
                  <c:v>0.1</c:v>
                </c:pt>
                <c:pt idx="10">
                  <c:v>0.05</c:v>
                </c:pt>
                <c:pt idx="11">
                  <c:v>0.11</c:v>
                </c:pt>
                <c:pt idx="12">
                  <c:v>0.1</c:v>
                </c:pt>
                <c:pt idx="13">
                  <c:v>0.11</c:v>
                </c:pt>
                <c:pt idx="14">
                  <c:v>0.07</c:v>
                </c:pt>
              </c:numCache>
            </c:numRef>
          </c:val>
          <c:extLst>
            <c:ext xmlns:c16="http://schemas.microsoft.com/office/drawing/2014/chart" uri="{C3380CC4-5D6E-409C-BE32-E72D297353CC}">
              <c16:uniqueId val="{00000002-78B2-435C-ADBD-82D98238F1ED}"/>
            </c:ext>
          </c:extLst>
        </c:ser>
        <c:ser>
          <c:idx val="4"/>
          <c:order val="5"/>
          <c:tx>
            <c:strRef>
              <c:f>Sheet1!$G$1</c:f>
              <c:strCache>
                <c:ptCount val="1"/>
                <c:pt idx="0">
                  <c:v>Private practice (solo)</c:v>
                </c:pt>
              </c:strCache>
            </c:strRef>
          </c:tx>
          <c:spPr>
            <a:solidFill>
              <a:srgbClr val="2F559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Sheet1!$G$2:$G$16</c:f>
              <c:numCache>
                <c:formatCode>0%</c:formatCode>
                <c:ptCount val="15"/>
                <c:pt idx="0">
                  <c:v>0.12</c:v>
                </c:pt>
                <c:pt idx="1">
                  <c:v>0.08</c:v>
                </c:pt>
                <c:pt idx="2">
                  <c:v>0.11</c:v>
                </c:pt>
                <c:pt idx="3">
                  <c:v>0.11</c:v>
                </c:pt>
                <c:pt idx="4">
                  <c:v>0.09</c:v>
                </c:pt>
                <c:pt idx="5">
                  <c:v>0.1</c:v>
                </c:pt>
                <c:pt idx="6">
                  <c:v>0.1</c:v>
                </c:pt>
                <c:pt idx="7">
                  <c:v>0.11</c:v>
                </c:pt>
                <c:pt idx="8">
                  <c:v>0.13</c:v>
                </c:pt>
                <c:pt idx="9">
                  <c:v>0.1</c:v>
                </c:pt>
                <c:pt idx="10">
                  <c:v>0.12</c:v>
                </c:pt>
                <c:pt idx="11">
                  <c:v>0.09</c:v>
                </c:pt>
                <c:pt idx="12">
                  <c:v>0.07</c:v>
                </c:pt>
                <c:pt idx="13">
                  <c:v>0.07</c:v>
                </c:pt>
                <c:pt idx="14">
                  <c:v>0.09</c:v>
                </c:pt>
              </c:numCache>
            </c:numRef>
          </c:val>
          <c:extLst>
            <c:ext xmlns:c16="http://schemas.microsoft.com/office/drawing/2014/chart" uri="{C3380CC4-5D6E-409C-BE32-E72D297353CC}">
              <c16:uniqueId val="{00000003-78B2-435C-ADBD-82D98238F1ED}"/>
            </c:ext>
          </c:extLst>
        </c:ser>
        <c:ser>
          <c:idx val="6"/>
          <c:order val="6"/>
          <c:tx>
            <c:strRef>
              <c:f>Sheet1!$H$1</c:f>
              <c:strCache>
                <c:ptCount val="1"/>
                <c:pt idx="0">
                  <c:v>Private practice (group)</c:v>
                </c:pt>
              </c:strCache>
            </c:strRef>
          </c:tx>
          <c:spPr>
            <a:solidFill>
              <a:srgbClr val="20386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Apr'25</c:v>
                </c:pt>
                <c:pt idx="1">
                  <c:v>Aug'25</c:v>
                </c:pt>
                <c:pt idx="2">
                  <c:v>Dec'25</c:v>
                </c:pt>
                <c:pt idx="3">
                  <c:v>Feb'25</c:v>
                </c:pt>
                <c:pt idx="4">
                  <c:v>Jan'25</c:v>
                </c:pt>
                <c:pt idx="5">
                  <c:v>Jan'26</c:v>
                </c:pt>
                <c:pt idx="6">
                  <c:v>Jul'25</c:v>
                </c:pt>
                <c:pt idx="7">
                  <c:v>Jun'25</c:v>
                </c:pt>
                <c:pt idx="8">
                  <c:v>Mar'25</c:v>
                </c:pt>
                <c:pt idx="9">
                  <c:v>Mar'26</c:v>
                </c:pt>
                <c:pt idx="10">
                  <c:v>May'25</c:v>
                </c:pt>
                <c:pt idx="11">
                  <c:v>Nov'25</c:v>
                </c:pt>
                <c:pt idx="12">
                  <c:v>Oct'25</c:v>
                </c:pt>
                <c:pt idx="13">
                  <c:v>Sep'25</c:v>
                </c:pt>
                <c:pt idx="14">
                  <c:v>Feb'26</c:v>
                </c:pt>
              </c:strCache>
            </c:strRef>
          </c:cat>
          <c:val>
            <c:numRef>
              <c:f>Sheet1!$H$2:$H$16</c:f>
              <c:numCache>
                <c:formatCode>0%</c:formatCode>
                <c:ptCount val="15"/>
                <c:pt idx="0">
                  <c:v>0.7</c:v>
                </c:pt>
                <c:pt idx="1">
                  <c:v>0.67</c:v>
                </c:pt>
                <c:pt idx="2">
                  <c:v>0.63</c:v>
                </c:pt>
                <c:pt idx="3">
                  <c:v>0.7</c:v>
                </c:pt>
                <c:pt idx="4">
                  <c:v>0.7</c:v>
                </c:pt>
                <c:pt idx="5">
                  <c:v>0.65</c:v>
                </c:pt>
                <c:pt idx="6">
                  <c:v>0.68</c:v>
                </c:pt>
                <c:pt idx="7">
                  <c:v>0.69</c:v>
                </c:pt>
                <c:pt idx="8">
                  <c:v>0.69</c:v>
                </c:pt>
                <c:pt idx="9">
                  <c:v>0.66</c:v>
                </c:pt>
                <c:pt idx="10">
                  <c:v>0.7</c:v>
                </c:pt>
                <c:pt idx="11">
                  <c:v>0.65</c:v>
                </c:pt>
                <c:pt idx="12">
                  <c:v>0.66</c:v>
                </c:pt>
                <c:pt idx="13">
                  <c:v>0.65</c:v>
                </c:pt>
                <c:pt idx="14">
                  <c:v>0.7</c:v>
                </c:pt>
              </c:numCache>
            </c:numRef>
          </c:val>
          <c:extLst>
            <c:ext xmlns:c16="http://schemas.microsoft.com/office/drawing/2014/chart" uri="{C3380CC4-5D6E-409C-BE32-E72D297353CC}">
              <c16:uniqueId val="{00000004-78B2-435C-ADBD-82D98238F1ED}"/>
            </c:ext>
          </c:extLst>
        </c:ser>
        <c:dLbls>
          <c:dLblPos val="ctr"/>
          <c:showLegendKey val="0"/>
          <c:showVal val="1"/>
          <c:showCatName val="0"/>
          <c:showSerName val="0"/>
          <c:showPercent val="0"/>
          <c:showBubbleSize val="0"/>
        </c:dLbls>
        <c:gapWidth val="90"/>
        <c:overlap val="100"/>
        <c:axId val="1819402016"/>
        <c:axId val="1819413984"/>
      </c:barChart>
      <c:catAx>
        <c:axId val="1819402016"/>
        <c:scaling>
          <c:orientation val="minMax"/>
        </c:scaling>
        <c:delete val="1"/>
        <c:axPos val="b"/>
        <c:numFmt formatCode="General" sourceLinked="1"/>
        <c:majorTickMark val="none"/>
        <c:minorTickMark val="none"/>
        <c:tickLblPos val="nextTo"/>
        <c:crossAx val="1819413984"/>
        <c:crosses val="autoZero"/>
        <c:auto val="1"/>
        <c:lblAlgn val="ctr"/>
        <c:lblOffset val="100"/>
        <c:noMultiLvlLbl val="0"/>
      </c:catAx>
      <c:valAx>
        <c:axId val="1819413984"/>
        <c:scaling>
          <c:orientation val="minMax"/>
          <c:max val="1"/>
        </c:scaling>
        <c:delete val="1"/>
        <c:axPos val="l"/>
        <c:numFmt formatCode="0%" sourceLinked="1"/>
        <c:majorTickMark val="none"/>
        <c:minorTickMark val="none"/>
        <c:tickLblPos val="nextTo"/>
        <c:crossAx val="181940201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70669013134548E-2"/>
          <c:y val="0"/>
          <c:w val="0.97429330986865448"/>
          <c:h val="1"/>
        </c:manualLayout>
      </c:layout>
      <c:barChart>
        <c:barDir val="bar"/>
        <c:grouping val="percentStacked"/>
        <c:varyColors val="0"/>
        <c:ser>
          <c:idx val="2"/>
          <c:order val="0"/>
          <c:tx>
            <c:strRef>
              <c:f>Sheet1!$B$1</c:f>
              <c:strCache>
                <c:ptCount val="1"/>
                <c:pt idx="0">
                  <c:v>Community hospital (Non-teaching)</c:v>
                </c:pt>
              </c:strCache>
            </c:strRef>
          </c:tx>
          <c:spPr>
            <a:solidFill>
              <a:srgbClr val="2E554F"/>
            </a:solidFill>
          </c:spPr>
          <c:invertIfNegative val="0"/>
          <c:dPt>
            <c:idx val="2"/>
            <c:invertIfNegative val="0"/>
            <c:bubble3D val="0"/>
            <c:extLst>
              <c:ext xmlns:c16="http://schemas.microsoft.com/office/drawing/2014/chart" uri="{C3380CC4-5D6E-409C-BE32-E72D297353CC}">
                <c16:uniqueId val="{00000005-37BA-4103-AC12-8C83D8637984}"/>
              </c:ext>
            </c:extLst>
          </c:dPt>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Sheet1!$B$2:$B$16</c:f>
              <c:numCache>
                <c:formatCode>0%</c:formatCode>
                <c:ptCount val="15"/>
                <c:pt idx="0">
                  <c:v>0.04</c:v>
                </c:pt>
                <c:pt idx="1">
                  <c:v>0.1</c:v>
                </c:pt>
                <c:pt idx="2">
                  <c:v>0.11</c:v>
                </c:pt>
                <c:pt idx="3">
                  <c:v>0.05</c:v>
                </c:pt>
                <c:pt idx="4">
                  <c:v>0.07</c:v>
                </c:pt>
                <c:pt idx="5">
                  <c:v>0.07</c:v>
                </c:pt>
                <c:pt idx="6">
                  <c:v>0.1</c:v>
                </c:pt>
                <c:pt idx="7">
                  <c:v>0.08</c:v>
                </c:pt>
                <c:pt idx="8">
                  <c:v>0.07</c:v>
                </c:pt>
                <c:pt idx="9">
                  <c:v>0.04</c:v>
                </c:pt>
                <c:pt idx="10">
                  <c:v>0.1</c:v>
                </c:pt>
                <c:pt idx="11">
                  <c:v>0.05</c:v>
                </c:pt>
                <c:pt idx="12">
                  <c:v>0.11</c:v>
                </c:pt>
                <c:pt idx="13">
                  <c:v>0.1</c:v>
                </c:pt>
                <c:pt idx="14">
                  <c:v>0.11</c:v>
                </c:pt>
              </c:numCache>
            </c:numRef>
          </c:val>
          <c:extLst>
            <c:ext xmlns:c16="http://schemas.microsoft.com/office/drawing/2014/chart" uri="{C3380CC4-5D6E-409C-BE32-E72D297353CC}">
              <c16:uniqueId val="{00000006-37BA-4103-AC12-8C83D8637984}"/>
            </c:ext>
          </c:extLst>
        </c:ser>
        <c:ser>
          <c:idx val="0"/>
          <c:order val="1"/>
          <c:tx>
            <c:strRef>
              <c:f>Sheet1!$C$1</c:f>
              <c:strCache>
                <c:ptCount val="1"/>
                <c:pt idx="0">
                  <c:v>Community teaching hospital</c:v>
                </c:pt>
              </c:strCache>
            </c:strRef>
          </c:tx>
          <c:spPr>
            <a:solidFill>
              <a:srgbClr val="468177"/>
            </a:solidFill>
            <a:ln>
              <a:noFill/>
            </a:ln>
            <a:effectLst/>
          </c:spPr>
          <c:invertIfNegative val="0"/>
          <c:dPt>
            <c:idx val="1"/>
            <c:invertIfNegative val="0"/>
            <c:bubble3D val="0"/>
            <c:extLst>
              <c:ext xmlns:c16="http://schemas.microsoft.com/office/drawing/2014/chart" uri="{C3380CC4-5D6E-409C-BE32-E72D297353CC}">
                <c16:uniqueId val="{00000000-37BA-4103-AC12-8C83D8637984}"/>
              </c:ext>
            </c:extLst>
          </c:dPt>
          <c:dPt>
            <c:idx val="2"/>
            <c:invertIfNegative val="0"/>
            <c:bubble3D val="0"/>
            <c:extLst>
              <c:ext xmlns:c16="http://schemas.microsoft.com/office/drawing/2014/chart" uri="{C3380CC4-5D6E-409C-BE32-E72D297353CC}">
                <c16:uniqueId val="{00000001-37BA-4103-AC12-8C83D8637984}"/>
              </c:ext>
            </c:extLst>
          </c:dPt>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Sheet1!$C$2:$C$16</c:f>
              <c:numCache>
                <c:formatCode>0%</c:formatCode>
                <c:ptCount val="15"/>
                <c:pt idx="0">
                  <c:v>0.08</c:v>
                </c:pt>
                <c:pt idx="1">
                  <c:v>0.04</c:v>
                </c:pt>
                <c:pt idx="2">
                  <c:v>0.07</c:v>
                </c:pt>
                <c:pt idx="3">
                  <c:v>0.08</c:v>
                </c:pt>
                <c:pt idx="4">
                  <c:v>0.06</c:v>
                </c:pt>
                <c:pt idx="5">
                  <c:v>0.07</c:v>
                </c:pt>
                <c:pt idx="6">
                  <c:v>0.06</c:v>
                </c:pt>
                <c:pt idx="7">
                  <c:v>0.05</c:v>
                </c:pt>
                <c:pt idx="8">
                  <c:v>0.06</c:v>
                </c:pt>
                <c:pt idx="9">
                  <c:v>0.08</c:v>
                </c:pt>
                <c:pt idx="10">
                  <c:v>0.07</c:v>
                </c:pt>
                <c:pt idx="11">
                  <c:v>0.07</c:v>
                </c:pt>
                <c:pt idx="12">
                  <c:v>0.07</c:v>
                </c:pt>
                <c:pt idx="13">
                  <c:v>0.07</c:v>
                </c:pt>
                <c:pt idx="14">
                  <c:v>0.06</c:v>
                </c:pt>
              </c:numCache>
            </c:numRef>
          </c:val>
          <c:extLst>
            <c:ext xmlns:c16="http://schemas.microsoft.com/office/drawing/2014/chart" uri="{C3380CC4-5D6E-409C-BE32-E72D297353CC}">
              <c16:uniqueId val="{00000002-37BA-4103-AC12-8C83D8637984}"/>
            </c:ext>
          </c:extLst>
        </c:ser>
        <c:ser>
          <c:idx val="3"/>
          <c:order val="2"/>
          <c:tx>
            <c:strRef>
              <c:f>Sheet1!$D$1</c:f>
              <c:strCache>
                <c:ptCount val="1"/>
                <c:pt idx="0">
                  <c:v>Major academic center group practice</c:v>
                </c:pt>
              </c:strCache>
            </c:strRef>
          </c:tx>
          <c:spPr>
            <a:solidFill>
              <a:srgbClr val="BFDDD8"/>
            </a:solidFill>
          </c:spPr>
          <c:invertIfNegative val="0"/>
          <c:dLbls>
            <c:spPr>
              <a:noFill/>
              <a:ln>
                <a:noFill/>
              </a:ln>
              <a:effectLst/>
            </c:spPr>
            <c:txPr>
              <a:bodyPr/>
              <a:lstStyle/>
              <a:p>
                <a:pPr>
                  <a:defRPr>
                    <a:solidFill>
                      <a:schemeClr val="bg2">
                        <a:lumMod val="10000"/>
                      </a:schemeClr>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Sheet1!$D$2:$D$16</c:f>
              <c:numCache>
                <c:formatCode>0%</c:formatCode>
                <c:ptCount val="15"/>
                <c:pt idx="0">
                  <c:v>0.02</c:v>
                </c:pt>
                <c:pt idx="1">
                  <c:v>0.03</c:v>
                </c:pt>
                <c:pt idx="2">
                  <c:v>0.02</c:v>
                </c:pt>
                <c:pt idx="3">
                  <c:v>0.03</c:v>
                </c:pt>
                <c:pt idx="4">
                  <c:v>0.03</c:v>
                </c:pt>
                <c:pt idx="5">
                  <c:v>0.04</c:v>
                </c:pt>
                <c:pt idx="6">
                  <c:v>0.02</c:v>
                </c:pt>
                <c:pt idx="7">
                  <c:v>0.03</c:v>
                </c:pt>
                <c:pt idx="8">
                  <c:v>0.03</c:v>
                </c:pt>
                <c:pt idx="9">
                  <c:v>0.02</c:v>
                </c:pt>
                <c:pt idx="10">
                  <c:v>0.03</c:v>
                </c:pt>
                <c:pt idx="11">
                  <c:v>0.02</c:v>
                </c:pt>
                <c:pt idx="12">
                  <c:v>0.02</c:v>
                </c:pt>
                <c:pt idx="13">
                  <c:v>0.03</c:v>
                </c:pt>
                <c:pt idx="14">
                  <c:v>0.04</c:v>
                </c:pt>
              </c:numCache>
            </c:numRef>
          </c:val>
          <c:extLst>
            <c:ext xmlns:c16="http://schemas.microsoft.com/office/drawing/2014/chart" uri="{C3380CC4-5D6E-409C-BE32-E72D297353CC}">
              <c16:uniqueId val="{00000005-8254-48B3-9CBD-07141F772E1D}"/>
            </c:ext>
          </c:extLst>
        </c:ser>
        <c:ser>
          <c:idx val="1"/>
          <c:order val="3"/>
          <c:tx>
            <c:strRef>
              <c:f>Sheet1!$E$1</c:f>
              <c:strCache>
                <c:ptCount val="1"/>
                <c:pt idx="0">
                  <c:v>Major academic center hospital</c:v>
                </c:pt>
              </c:strCache>
            </c:strRef>
          </c:tx>
          <c:spPr>
            <a:solidFill>
              <a:srgbClr val="DEEDEA"/>
            </a:solidFill>
          </c:spPr>
          <c:invertIfNegative val="0"/>
          <c:dPt>
            <c:idx val="2"/>
            <c:invertIfNegative val="0"/>
            <c:bubble3D val="0"/>
            <c:extLst>
              <c:ext xmlns:c16="http://schemas.microsoft.com/office/drawing/2014/chart" uri="{C3380CC4-5D6E-409C-BE32-E72D297353CC}">
                <c16:uniqueId val="{00000003-37BA-4103-AC12-8C83D8637984}"/>
              </c:ext>
            </c:extLst>
          </c:dPt>
          <c:dLbls>
            <c:delete val="1"/>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Sheet1!$E$2:$E$16</c:f>
              <c:numCache>
                <c:formatCode>0%</c:formatCode>
                <c:ptCount val="15"/>
                <c:pt idx="0">
                  <c:v>0.03</c:v>
                </c:pt>
                <c:pt idx="1">
                  <c:v>0.03</c:v>
                </c:pt>
                <c:pt idx="2">
                  <c:v>0.04</c:v>
                </c:pt>
                <c:pt idx="3">
                  <c:v>0.01</c:v>
                </c:pt>
                <c:pt idx="4">
                  <c:v>0.04</c:v>
                </c:pt>
                <c:pt idx="5">
                  <c:v>0.01</c:v>
                </c:pt>
                <c:pt idx="6">
                  <c:v>0.05</c:v>
                </c:pt>
                <c:pt idx="7">
                  <c:v>0.03</c:v>
                </c:pt>
                <c:pt idx="8">
                  <c:v>0.04</c:v>
                </c:pt>
                <c:pt idx="9">
                  <c:v>0.02</c:v>
                </c:pt>
                <c:pt idx="10">
                  <c:v>0.03</c:v>
                </c:pt>
                <c:pt idx="11">
                  <c:v>0.03</c:v>
                </c:pt>
                <c:pt idx="12">
                  <c:v>0.04</c:v>
                </c:pt>
                <c:pt idx="13">
                  <c:v>0.04</c:v>
                </c:pt>
                <c:pt idx="14">
                  <c:v>0.04</c:v>
                </c:pt>
              </c:numCache>
            </c:numRef>
          </c:val>
          <c:extLst>
            <c:ext xmlns:c16="http://schemas.microsoft.com/office/drawing/2014/chart" uri="{C3380CC4-5D6E-409C-BE32-E72D297353CC}">
              <c16:uniqueId val="{00000004-37BA-4103-AC12-8C83D8637984}"/>
            </c:ext>
          </c:extLst>
        </c:ser>
        <c:ser>
          <c:idx val="4"/>
          <c:order val="4"/>
          <c:tx>
            <c:strRef>
              <c:f>Sheet1!$F$1</c:f>
              <c:strCache>
                <c:ptCount val="1"/>
                <c:pt idx="0">
                  <c:v>Private practice (group)</c:v>
                </c:pt>
              </c:strCache>
            </c:strRef>
          </c:tx>
          <c:spPr>
            <a:solidFill>
              <a:srgbClr val="DEEDEA"/>
            </a:solidFill>
          </c:spPr>
          <c:invertIfNegative val="0"/>
          <c:dPt>
            <c:idx val="2"/>
            <c:invertIfNegative val="0"/>
            <c:bubble3D val="0"/>
            <c:extLst>
              <c:ext xmlns:c16="http://schemas.microsoft.com/office/drawing/2014/chart" uri="{C3380CC4-5D6E-409C-BE32-E72D297353CC}">
                <c16:uniqueId val="{00000003-37BA-4103-AC12-8C83D8637984}"/>
              </c:ext>
            </c:extLst>
          </c:dPt>
          <c:dLbls>
            <c:delete val="1"/>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Sheet1!$F$2:$F$16</c:f>
              <c:numCache>
                <c:formatCode>General</c:formatCode>
                <c:ptCount val="15"/>
                <c:pt idx="0">
                  <c:v>0.7</c:v>
                </c:pt>
                <c:pt idx="1">
                  <c:v>0.67</c:v>
                </c:pt>
                <c:pt idx="2">
                  <c:v>0.63</c:v>
                </c:pt>
                <c:pt idx="3">
                  <c:v>0.7</c:v>
                </c:pt>
                <c:pt idx="4">
                  <c:v>0.7</c:v>
                </c:pt>
                <c:pt idx="5">
                  <c:v>0.7</c:v>
                </c:pt>
                <c:pt idx="6">
                  <c:v>0.65</c:v>
                </c:pt>
                <c:pt idx="7">
                  <c:v>0.68</c:v>
                </c:pt>
                <c:pt idx="8">
                  <c:v>0.69</c:v>
                </c:pt>
                <c:pt idx="9">
                  <c:v>0.69</c:v>
                </c:pt>
                <c:pt idx="10">
                  <c:v>0.66</c:v>
                </c:pt>
                <c:pt idx="11">
                  <c:v>0.7</c:v>
                </c:pt>
                <c:pt idx="12">
                  <c:v>0.65</c:v>
                </c:pt>
                <c:pt idx="13">
                  <c:v>0.66</c:v>
                </c:pt>
                <c:pt idx="14">
                  <c:v>0.65</c:v>
                </c:pt>
              </c:numCache>
            </c:numRef>
          </c:val>
          <c:extLst>
            <c:ext xmlns:c16="http://schemas.microsoft.com/office/drawing/2014/chart" uri="{C3380CC4-5D6E-409C-BE32-E72D297353CC}">
              <c16:uniqueId val="{00000004-37BA-4103-AC12-8C83D8637984}"/>
            </c:ext>
          </c:extLst>
        </c:ser>
        <c:ser>
          <c:idx val="5"/>
          <c:order val="5"/>
          <c:tx>
            <c:strRef>
              <c:f>Sheet1!$G$1</c:f>
              <c:strCache>
                <c:ptCount val="1"/>
                <c:pt idx="0">
                  <c:v>Private practice (solo)</c:v>
                </c:pt>
              </c:strCache>
            </c:strRef>
          </c:tx>
          <c:spPr>
            <a:solidFill>
              <a:srgbClr val="DEEDEA"/>
            </a:solidFill>
          </c:spPr>
          <c:invertIfNegative val="0"/>
          <c:dPt>
            <c:idx val="2"/>
            <c:invertIfNegative val="0"/>
            <c:bubble3D val="0"/>
            <c:extLst>
              <c:ext xmlns:c16="http://schemas.microsoft.com/office/drawing/2014/chart" uri="{C3380CC4-5D6E-409C-BE32-E72D297353CC}">
                <c16:uniqueId val="{00000003-37BA-4103-AC12-8C83D8637984}"/>
              </c:ext>
            </c:extLst>
          </c:dPt>
          <c:dLbls>
            <c:delete val="1"/>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Sheet1!$G$2:$G$16</c:f>
              <c:numCache>
                <c:formatCode>General</c:formatCode>
                <c:ptCount val="15"/>
                <c:pt idx="0">
                  <c:v>0.12</c:v>
                </c:pt>
                <c:pt idx="1">
                  <c:v>0.08</c:v>
                </c:pt>
                <c:pt idx="2">
                  <c:v>0.11</c:v>
                </c:pt>
                <c:pt idx="3">
                  <c:v>0.11</c:v>
                </c:pt>
                <c:pt idx="4">
                  <c:v>0.09</c:v>
                </c:pt>
                <c:pt idx="5">
                  <c:v>0.09</c:v>
                </c:pt>
                <c:pt idx="6">
                  <c:v>0.1</c:v>
                </c:pt>
                <c:pt idx="7">
                  <c:v>0.1</c:v>
                </c:pt>
                <c:pt idx="8">
                  <c:v>0.11</c:v>
                </c:pt>
                <c:pt idx="9">
                  <c:v>0.13</c:v>
                </c:pt>
                <c:pt idx="10">
                  <c:v>0.1</c:v>
                </c:pt>
                <c:pt idx="11">
                  <c:v>0.12</c:v>
                </c:pt>
                <c:pt idx="12">
                  <c:v>0.09</c:v>
                </c:pt>
                <c:pt idx="13">
                  <c:v>0.07</c:v>
                </c:pt>
                <c:pt idx="14">
                  <c:v>0.07</c:v>
                </c:pt>
              </c:numCache>
            </c:numRef>
          </c:val>
          <c:extLst>
            <c:ext xmlns:c16="http://schemas.microsoft.com/office/drawing/2014/chart" uri="{C3380CC4-5D6E-409C-BE32-E72D297353CC}">
              <c16:uniqueId val="{00000004-37BA-4103-AC12-8C83D8637984}"/>
            </c:ext>
          </c:extLst>
        </c:ser>
        <c:ser>
          <c:idx val="6"/>
          <c:order val="6"/>
          <c:tx>
            <c:strRef>
              <c:f>Sheet1!$H$1</c:f>
              <c:strCache>
                <c:ptCount val="1"/>
                <c:pt idx="0">
                  <c:v>University teaching hospital</c:v>
                </c:pt>
              </c:strCache>
            </c:strRef>
          </c:tx>
          <c:spPr>
            <a:solidFill>
              <a:srgbClr val="DEEDEA"/>
            </a:solidFill>
          </c:spPr>
          <c:invertIfNegative val="0"/>
          <c:dPt>
            <c:idx val="2"/>
            <c:invertIfNegative val="0"/>
            <c:bubble3D val="0"/>
            <c:extLst>
              <c:ext xmlns:c16="http://schemas.microsoft.com/office/drawing/2014/chart" uri="{C3380CC4-5D6E-409C-BE32-E72D297353CC}">
                <c16:uniqueId val="{00000003-37BA-4103-AC12-8C83D8637984}"/>
              </c:ext>
            </c:extLst>
          </c:dPt>
          <c:dLbls>
            <c:delete val="1"/>
          </c:dLbls>
          <c:cat>
            <c:strRef>
              <c:f>Sheet1!$A$2:$A$16</c:f>
              <c:strCache>
                <c:ptCount val="15"/>
                <c:pt idx="0">
                  <c:v>Apr'25</c:v>
                </c:pt>
                <c:pt idx="1">
                  <c:v>Aug'25</c:v>
                </c:pt>
                <c:pt idx="2">
                  <c:v>Dec'25</c:v>
                </c:pt>
                <c:pt idx="3">
                  <c:v>Feb'25</c:v>
                </c:pt>
                <c:pt idx="4">
                  <c:v>Feb'26</c:v>
                </c:pt>
                <c:pt idx="5">
                  <c:v>Jan'25</c:v>
                </c:pt>
                <c:pt idx="6">
                  <c:v>Jan'26</c:v>
                </c:pt>
                <c:pt idx="7">
                  <c:v>Jul'25</c:v>
                </c:pt>
                <c:pt idx="8">
                  <c:v>Jun'25</c:v>
                </c:pt>
                <c:pt idx="9">
                  <c:v>Mar'25</c:v>
                </c:pt>
                <c:pt idx="10">
                  <c:v>Mar'26</c:v>
                </c:pt>
                <c:pt idx="11">
                  <c:v>May'25</c:v>
                </c:pt>
                <c:pt idx="12">
                  <c:v>Nov'25</c:v>
                </c:pt>
                <c:pt idx="13">
                  <c:v>Oct'25</c:v>
                </c:pt>
                <c:pt idx="14">
                  <c:v>Sep'25</c:v>
                </c:pt>
              </c:strCache>
            </c:strRef>
          </c:cat>
          <c:val>
            <c:numRef>
              <c:f>Sheet1!$H$2:$H$16</c:f>
              <c:numCache>
                <c:formatCode>General</c:formatCode>
                <c:ptCount val="15"/>
                <c:pt idx="0">
                  <c:v>0.01</c:v>
                </c:pt>
                <c:pt idx="1">
                  <c:v>0.04</c:v>
                </c:pt>
                <c:pt idx="2">
                  <c:v>0.01</c:v>
                </c:pt>
                <c:pt idx="3">
                  <c:v>0.02</c:v>
                </c:pt>
                <c:pt idx="4">
                  <c:v>0.01</c:v>
                </c:pt>
                <c:pt idx="5">
                  <c:v>0.01</c:v>
                </c:pt>
                <c:pt idx="6">
                  <c:v>0.02</c:v>
                </c:pt>
                <c:pt idx="7">
                  <c:v>0.03</c:v>
                </c:pt>
                <c:pt idx="8">
                  <c:v>0.01</c:v>
                </c:pt>
                <c:pt idx="9">
                  <c:v>0.01</c:v>
                </c:pt>
                <c:pt idx="10">
                  <c:v>0.01</c:v>
                </c:pt>
                <c:pt idx="11">
                  <c:v>0.01</c:v>
                </c:pt>
                <c:pt idx="12">
                  <c:v>0.03</c:v>
                </c:pt>
                <c:pt idx="13">
                  <c:v>0.03</c:v>
                </c:pt>
                <c:pt idx="14">
                  <c:v>0.03</c:v>
                </c:pt>
              </c:numCache>
            </c:numRef>
          </c:val>
          <c:extLst>
            <c:ext xmlns:c16="http://schemas.microsoft.com/office/drawing/2014/chart" uri="{C3380CC4-5D6E-409C-BE32-E72D297353CC}">
              <c16:uniqueId val="{00000004-37BA-4103-AC12-8C83D8637984}"/>
            </c:ext>
          </c:extLst>
        </c:ser>
        <c:dLbls>
          <c:showLegendKey val="0"/>
          <c:showVal val="1"/>
          <c:showCatName val="0"/>
          <c:showSerName val="0"/>
          <c:showPercent val="0"/>
          <c:showBubbleSize val="0"/>
        </c:dLbls>
        <c:gapWidth val="75"/>
        <c:overlap val="100"/>
        <c:axId val="1819402016"/>
        <c:axId val="1819413984"/>
      </c:barChart>
      <c:catAx>
        <c:axId val="1819402016"/>
        <c:scaling>
          <c:orientation val="maxMin"/>
        </c:scaling>
        <c:delete val="1"/>
        <c:axPos val="l"/>
        <c:numFmt formatCode="General" sourceLinked="1"/>
        <c:majorTickMark val="none"/>
        <c:minorTickMark val="none"/>
        <c:tickLblPos val="nextTo"/>
        <c:crossAx val="1819413984"/>
        <c:crosses val="autoZero"/>
        <c:auto val="1"/>
        <c:lblAlgn val="ctr"/>
        <c:lblOffset val="200"/>
        <c:noMultiLvlLbl val="0"/>
      </c:catAx>
      <c:valAx>
        <c:axId val="1819413984"/>
        <c:scaling>
          <c:orientation val="minMax"/>
          <c:max val="1"/>
        </c:scaling>
        <c:delete val="1"/>
        <c:axPos val="t"/>
        <c:numFmt formatCode="0%" sourceLinked="1"/>
        <c:majorTickMark val="out"/>
        <c:minorTickMark val="none"/>
        <c:tickLblPos val="nextTo"/>
        <c:crossAx val="181940201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bg1"/>
          </a:solidFill>
          <a:latin typeface="+mn-lt"/>
          <a:cs typeface="Calibri" panose="020F0502020204030204"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Highest efficacy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52308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CC5-4B30-BE3A-F01AB7FF2A6D}"/>
                </c:ext>
              </c:extLst>
            </c:dLbl>
            <c:dLbl>
              <c:idx val="1"/>
              <c:layout>
                <c:manualLayout>
                  <c:x val="-4.3419815229099344E-2"/>
                  <c:y val="-0.233004629629629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CC5-4B30-BE3A-F01AB7FF2A6D}"/>
                </c:ext>
              </c:extLst>
            </c:dLbl>
            <c:dLbl>
              <c:idx val="2"/>
              <c:layout>
                <c:manualLayout>
                  <c:x val="-4.3419815229099344E-2"/>
                  <c:y val="-0.242656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CC5-4B30-BE3A-F01AB7FF2A6D}"/>
                </c:ext>
              </c:extLst>
            </c:dLbl>
            <c:dLbl>
              <c:idx val="3"/>
              <c:layout>
                <c:manualLayout>
                  <c:x val="-4.3419815229099344E-2"/>
                  <c:y val="-0.2571342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CC5-4B30-BE3A-F01AB7FF2A6D}"/>
                </c:ext>
              </c:extLst>
            </c:dLbl>
            <c:dLbl>
              <c:idx val="4"/>
              <c:layout>
                <c:manualLayout>
                  <c:x val="-4.3419815229099344E-2"/>
                  <c:y val="-0.271612037037037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CC5-4B30-BE3A-F01AB7FF2A6D}"/>
                </c:ext>
              </c:extLst>
            </c:dLbl>
            <c:dLbl>
              <c:idx val="5"/>
              <c:layout>
                <c:manualLayout>
                  <c:x val="-4.3419815229099344E-2"/>
                  <c:y val="-0.271612037037037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CC5-4B30-BE3A-F01AB7FF2A6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0.59</c:v>
                </c:pt>
                <c:pt idx="1">
                  <c:v>0.63</c:v>
                </c:pt>
                <c:pt idx="2">
                  <c:v>0.61</c:v>
                </c:pt>
                <c:pt idx="3">
                  <c:v>0.58</c:v>
                </c:pt>
                <c:pt idx="4">
                  <c:v>0.55</c:v>
                </c:pt>
                <c:pt idx="5">
                  <c:v>0.55</c:v>
                </c:pt>
                <c:pt idx="6">
                  <c:v>0.57</c:v>
                </c:pt>
                <c:pt idx="7">
                  <c:v>0.54</c:v>
                </c:pt>
                <c:pt idx="8">
                  <c:v>0.62</c:v>
                </c:pt>
                <c:pt idx="9">
                  <c:v>0.63</c:v>
                </c:pt>
                <c:pt idx="10">
                  <c:v>0.57</c:v>
                </c:pt>
                <c:pt idx="11">
                  <c:v>0.62</c:v>
                </c:pt>
                <c:pt idx="12">
                  <c:v>0.61</c:v>
                </c:pt>
                <c:pt idx="13">
                  <c:v>0.59</c:v>
                </c:pt>
                <c:pt idx="14">
                  <c:v>0.59</c:v>
                </c:pt>
              </c:numCache>
            </c:numRef>
          </c:val>
          <c:smooth val="0"/>
          <c:extLst>
            <c:ext xmlns:c16="http://schemas.microsoft.com/office/drawing/2014/chart" uri="{C3380CC4-5D6E-409C-BE32-E72D297353CC}">
              <c16:uniqueId val="{00000002-7923-4DFE-A4A5-CAD1D442DFBB}"/>
            </c:ext>
          </c:extLst>
        </c:ser>
        <c:ser>
          <c:idx val="1"/>
          <c:order val="1"/>
          <c:tx>
            <c:strRef>
              <c:f>Sheet1!$C$1</c:f>
              <c:strCache>
                <c:ptCount val="1"/>
                <c:pt idx="0">
                  <c:v>Highest efficacy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25806296296296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CC5-4B30-BE3A-F01AB7FF2A6D}"/>
                </c:ext>
              </c:extLst>
            </c:dLbl>
            <c:dLbl>
              <c:idx val="1"/>
              <c:layout>
                <c:manualLayout>
                  <c:x val="-4.3419815229099344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CC5-4B30-BE3A-F01AB7FF2A6D}"/>
                </c:ext>
              </c:extLst>
            </c:dLbl>
            <c:dLbl>
              <c:idx val="2"/>
              <c:layout>
                <c:manualLayout>
                  <c:x val="-4.3419815229099344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CC5-4B30-BE3A-F01AB7FF2A6D}"/>
                </c:ext>
              </c:extLst>
            </c:dLbl>
            <c:dLbl>
              <c:idx val="3"/>
              <c:layout>
                <c:manualLayout>
                  <c:x val="-4.3419815229099344E-2"/>
                  <c:y val="0.25806296296296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CC5-4B30-BE3A-F01AB7FF2A6D}"/>
                </c:ext>
              </c:extLst>
            </c:dLbl>
            <c:dLbl>
              <c:idx val="4"/>
              <c:layout>
                <c:manualLayout>
                  <c:x val="-4.3419815229099344E-2"/>
                  <c:y val="0.243585185185185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CC5-4B30-BE3A-F01AB7FF2A6D}"/>
                </c:ext>
              </c:extLst>
            </c:dLbl>
            <c:dLbl>
              <c:idx val="5"/>
              <c:layout>
                <c:manualLayout>
                  <c:x val="-4.3419815229099344E-2"/>
                  <c:y val="0.238759259259259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CC5-4B30-BE3A-F01AB7FF2A6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0.52</c:v>
                </c:pt>
                <c:pt idx="1">
                  <c:v>0.53</c:v>
                </c:pt>
                <c:pt idx="2">
                  <c:v>0.53</c:v>
                </c:pt>
                <c:pt idx="3">
                  <c:v>0.52</c:v>
                </c:pt>
                <c:pt idx="4">
                  <c:v>0.49</c:v>
                </c:pt>
                <c:pt idx="5">
                  <c:v>0.48</c:v>
                </c:pt>
                <c:pt idx="6">
                  <c:v>0.58</c:v>
                </c:pt>
                <c:pt idx="7">
                  <c:v>0.46</c:v>
                </c:pt>
                <c:pt idx="8">
                  <c:v>0.52</c:v>
                </c:pt>
                <c:pt idx="9">
                  <c:v>0.54</c:v>
                </c:pt>
                <c:pt idx="10">
                  <c:v>0.48</c:v>
                </c:pt>
                <c:pt idx="11">
                  <c:v>0.55</c:v>
                </c:pt>
                <c:pt idx="12">
                  <c:v>0.58</c:v>
                </c:pt>
                <c:pt idx="13">
                  <c:v>0.58</c:v>
                </c:pt>
                <c:pt idx="14">
                  <c:v>0.48</c:v>
                </c:pt>
              </c:numCache>
            </c:numRef>
          </c:val>
          <c:smooth val="0"/>
          <c:extLst>
            <c:ext xmlns:c16="http://schemas.microsoft.com/office/drawing/2014/chart" uri="{C3380CC4-5D6E-409C-BE32-E72D297353CC}">
              <c16:uniqueId val="{00000005-7923-4DFE-A4A5-CAD1D442DFB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Improves symptoms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1370092592592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B4E-4D78-B8E2-8B19A2932680}"/>
                </c:ext>
              </c:extLst>
            </c:dLbl>
            <c:dLbl>
              <c:idx val="1"/>
              <c:layout>
                <c:manualLayout>
                  <c:x val="-4.3419815229099344E-2"/>
                  <c:y val="-0.218526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B4E-4D78-B8E2-8B19A2932680}"/>
                </c:ext>
              </c:extLst>
            </c:dLbl>
            <c:dLbl>
              <c:idx val="2"/>
              <c:layout>
                <c:manualLayout>
                  <c:x val="-4.3419815229099344E-2"/>
                  <c:y val="-0.1992231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4E-4D78-B8E2-8B19A2932680}"/>
                </c:ext>
              </c:extLst>
            </c:dLbl>
            <c:dLbl>
              <c:idx val="3"/>
              <c:layout>
                <c:manualLayout>
                  <c:x val="-4.3419815229099344E-2"/>
                  <c:y val="-0.204049074074074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B4E-4D78-B8E2-8B19A2932680}"/>
                </c:ext>
              </c:extLst>
            </c:dLbl>
            <c:dLbl>
              <c:idx val="4"/>
              <c:layout>
                <c:manualLayout>
                  <c:x val="-4.3419815229099344E-2"/>
                  <c:y val="-0.252308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B4E-4D78-B8E2-8B19A2932680}"/>
                </c:ext>
              </c:extLst>
            </c:dLbl>
            <c:dLbl>
              <c:idx val="5"/>
              <c:layout>
                <c:manualLayout>
                  <c:x val="-4.3419815229099344E-2"/>
                  <c:y val="-0.252308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B4E-4D78-B8E2-8B19A293268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0.67</c:v>
                </c:pt>
                <c:pt idx="1">
                  <c:v>0.66</c:v>
                </c:pt>
                <c:pt idx="2">
                  <c:v>0.7</c:v>
                </c:pt>
                <c:pt idx="3">
                  <c:v>0.69</c:v>
                </c:pt>
                <c:pt idx="4">
                  <c:v>0.59</c:v>
                </c:pt>
                <c:pt idx="5">
                  <c:v>0.59</c:v>
                </c:pt>
                <c:pt idx="6">
                  <c:v>0.73</c:v>
                </c:pt>
                <c:pt idx="7">
                  <c:v>0.65</c:v>
                </c:pt>
                <c:pt idx="8">
                  <c:v>0.76</c:v>
                </c:pt>
                <c:pt idx="9">
                  <c:v>0.73</c:v>
                </c:pt>
                <c:pt idx="10">
                  <c:v>0.7</c:v>
                </c:pt>
                <c:pt idx="11">
                  <c:v>0.73</c:v>
                </c:pt>
                <c:pt idx="12">
                  <c:v>0.73</c:v>
                </c:pt>
                <c:pt idx="13">
                  <c:v>0.72</c:v>
                </c:pt>
                <c:pt idx="14">
                  <c:v>0.67</c:v>
                </c:pt>
              </c:numCache>
            </c:numRef>
          </c:val>
          <c:smooth val="0"/>
          <c:extLst>
            <c:ext xmlns:c16="http://schemas.microsoft.com/office/drawing/2014/chart" uri="{C3380CC4-5D6E-409C-BE32-E72D297353CC}">
              <c16:uniqueId val="{00000002-8032-4651-B4B7-55718AD0EC14}"/>
            </c:ext>
          </c:extLst>
        </c:ser>
        <c:ser>
          <c:idx val="1"/>
          <c:order val="1"/>
          <c:tx>
            <c:strRef>
              <c:f>Sheet1!$C$1</c:f>
              <c:strCache>
                <c:ptCount val="1"/>
                <c:pt idx="0">
                  <c:v>Improves symptoms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26276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B4E-4D78-B8E2-8B19A2932680}"/>
                </c:ext>
              </c:extLst>
            </c:dLbl>
            <c:dLbl>
              <c:idx val="1"/>
              <c:layout>
                <c:manualLayout>
                  <c:x val="-4.3419815229099344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B4E-4D78-B8E2-8B19A2932680}"/>
                </c:ext>
              </c:extLst>
            </c:dLbl>
            <c:dLbl>
              <c:idx val="2"/>
              <c:layout>
                <c:manualLayout>
                  <c:x val="-4.3419815229099344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B4E-4D78-B8E2-8B19A2932680}"/>
                </c:ext>
              </c:extLst>
            </c:dLbl>
            <c:dLbl>
              <c:idx val="3"/>
              <c:layout>
                <c:manualLayout>
                  <c:x val="-4.3419815229099344E-2"/>
                  <c:y val="0.26276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B4E-4D78-B8E2-8B19A2932680}"/>
                </c:ext>
              </c:extLst>
            </c:dLbl>
            <c:dLbl>
              <c:idx val="4"/>
              <c:layout>
                <c:manualLayout>
                  <c:x val="-4.3419815229099344E-2"/>
                  <c:y val="0.26276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B4E-4D78-B8E2-8B19A2932680}"/>
                </c:ext>
              </c:extLst>
            </c:dLbl>
            <c:dLbl>
              <c:idx val="5"/>
              <c:layout>
                <c:manualLayout>
                  <c:x val="-4.3419815229099344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B4E-4D78-B8E2-8B19A293268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0.56</c:v>
                </c:pt>
                <c:pt idx="1">
                  <c:v>0.62</c:v>
                </c:pt>
                <c:pt idx="2">
                  <c:v>0.63</c:v>
                </c:pt>
                <c:pt idx="3">
                  <c:v>0.61</c:v>
                </c:pt>
                <c:pt idx="4">
                  <c:v>0.56</c:v>
                </c:pt>
                <c:pt idx="5">
                  <c:v>0.58</c:v>
                </c:pt>
                <c:pt idx="6">
                  <c:v>0.65</c:v>
                </c:pt>
                <c:pt idx="7">
                  <c:v>0.58</c:v>
                </c:pt>
                <c:pt idx="8">
                  <c:v>0.66</c:v>
                </c:pt>
                <c:pt idx="9">
                  <c:v>0.65</c:v>
                </c:pt>
                <c:pt idx="10">
                  <c:v>0.62</c:v>
                </c:pt>
                <c:pt idx="11">
                  <c:v>0.66</c:v>
                </c:pt>
                <c:pt idx="12">
                  <c:v>0.63</c:v>
                </c:pt>
                <c:pt idx="13">
                  <c:v>0.68</c:v>
                </c:pt>
                <c:pt idx="14">
                  <c:v>0.53</c:v>
                </c:pt>
              </c:numCache>
            </c:numRef>
          </c:val>
          <c:smooth val="0"/>
          <c:extLst>
            <c:ext xmlns:c16="http://schemas.microsoft.com/office/drawing/2014/chart" uri="{C3380CC4-5D6E-409C-BE32-E72D297353CC}">
              <c16:uniqueId val="{00000005-8032-4651-B4B7-55718AD0EC1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Benefits patient outcomes beyond symptom relief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571342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319-4401-BCCF-5089C31686BD}"/>
                </c:ext>
              </c:extLst>
            </c:dLbl>
            <c:dLbl>
              <c:idx val="1"/>
              <c:layout>
                <c:manualLayout>
                  <c:x val="-4.3419815229099344E-2"/>
                  <c:y val="-0.261960185185185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EB2-40B8-8080-C54344817A76}"/>
                </c:ext>
              </c:extLst>
            </c:dLbl>
            <c:dLbl>
              <c:idx val="2"/>
              <c:layout>
                <c:manualLayout>
                  <c:x val="-4.3419815229099344E-2"/>
                  <c:y val="0.295741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319-4401-BCCF-5089C31686BD}"/>
                </c:ext>
              </c:extLst>
            </c:dLbl>
            <c:dLbl>
              <c:idx val="3"/>
              <c:layout>
                <c:manualLayout>
                  <c:x val="-4.3419815229099344E-2"/>
                  <c:y val="0.271612037037037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319-4401-BCCF-5089C31686BD}"/>
                </c:ext>
              </c:extLst>
            </c:dLbl>
            <c:dLbl>
              <c:idx val="4"/>
              <c:layout>
                <c:manualLayout>
                  <c:x val="-4.3419815229099344E-2"/>
                  <c:y val="0.2571342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319-4401-BCCF-5089C31686BD}"/>
                </c:ext>
              </c:extLst>
            </c:dLbl>
            <c:dLbl>
              <c:idx val="5"/>
              <c:layout>
                <c:manualLayout>
                  <c:x val="-4.3419815229099344E-2"/>
                  <c:y val="0.261960185185185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319-4401-BCCF-5089C31686B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0.58</c:v>
                </c:pt>
                <c:pt idx="1">
                  <c:v>0.57</c:v>
                </c:pt>
                <c:pt idx="2">
                  <c:v>0.5</c:v>
                </c:pt>
                <c:pt idx="3">
                  <c:v>0.45</c:v>
                </c:pt>
                <c:pt idx="4">
                  <c:v>0.42</c:v>
                </c:pt>
                <c:pt idx="5">
                  <c:v>0.43</c:v>
                </c:pt>
                <c:pt idx="6">
                  <c:v>0.51</c:v>
                </c:pt>
                <c:pt idx="7">
                  <c:v>0.47</c:v>
                </c:pt>
                <c:pt idx="8">
                  <c:v>0.51</c:v>
                </c:pt>
                <c:pt idx="9">
                  <c:v>0.58</c:v>
                </c:pt>
                <c:pt idx="10">
                  <c:v>0.52</c:v>
                </c:pt>
                <c:pt idx="11">
                  <c:v>0.54</c:v>
                </c:pt>
                <c:pt idx="12">
                  <c:v>0.54</c:v>
                </c:pt>
                <c:pt idx="13">
                  <c:v>0.51</c:v>
                </c:pt>
                <c:pt idx="14">
                  <c:v>0.49</c:v>
                </c:pt>
              </c:numCache>
            </c:numRef>
          </c:val>
          <c:smooth val="0"/>
          <c:extLst>
            <c:ext xmlns:c16="http://schemas.microsoft.com/office/drawing/2014/chart" uri="{C3380CC4-5D6E-409C-BE32-E72D297353CC}">
              <c16:uniqueId val="{00000002-C7B2-4C57-865E-03E5C15B08BE}"/>
            </c:ext>
          </c:extLst>
        </c:ser>
        <c:ser>
          <c:idx val="1"/>
          <c:order val="1"/>
          <c:tx>
            <c:strRef>
              <c:f>Sheet1!$C$1</c:f>
              <c:strCache>
                <c:ptCount val="1"/>
                <c:pt idx="0">
                  <c:v>Benefits patient outcomes beyond symptom relief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2339333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319-4401-BCCF-5089C31686BD}"/>
                </c:ext>
              </c:extLst>
            </c:dLbl>
            <c:dLbl>
              <c:idx val="1"/>
              <c:layout>
                <c:manualLayout>
                  <c:x val="-4.3419815229099344E-2"/>
                  <c:y val="0.25806296296296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EB2-40B8-8080-C54344817A76}"/>
                </c:ext>
              </c:extLst>
            </c:dLbl>
            <c:dLbl>
              <c:idx val="2"/>
              <c:layout>
                <c:manualLayout>
                  <c:x val="-4.3419815229099344E-2"/>
                  <c:y val="-0.338246296296296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319-4401-BCCF-5089C31686BD}"/>
                </c:ext>
              </c:extLst>
            </c:dLbl>
            <c:dLbl>
              <c:idx val="3"/>
              <c:layout>
                <c:manualLayout>
                  <c:x val="-4.3419815229099344E-2"/>
                  <c:y val="-0.3236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319-4401-BCCF-5089C31686BD}"/>
                </c:ext>
              </c:extLst>
            </c:dLbl>
            <c:dLbl>
              <c:idx val="4"/>
              <c:layout>
                <c:manualLayout>
                  <c:x val="-4.3419815229099344E-2"/>
                  <c:y val="-0.33329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319-4401-BCCF-5089C31686BD}"/>
                </c:ext>
              </c:extLst>
            </c:dLbl>
            <c:dLbl>
              <c:idx val="5"/>
              <c:layout>
                <c:manualLayout>
                  <c:x val="-4.3419815229099344E-2"/>
                  <c:y val="-0.342944444444444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319-4401-BCCF-5089C31686B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0.47</c:v>
                </c:pt>
                <c:pt idx="1">
                  <c:v>0.52</c:v>
                </c:pt>
                <c:pt idx="2">
                  <c:v>0.51</c:v>
                </c:pt>
                <c:pt idx="3">
                  <c:v>0.52</c:v>
                </c:pt>
                <c:pt idx="4">
                  <c:v>0.47</c:v>
                </c:pt>
                <c:pt idx="5">
                  <c:v>0.46</c:v>
                </c:pt>
                <c:pt idx="6">
                  <c:v>0.53</c:v>
                </c:pt>
                <c:pt idx="7">
                  <c:v>0.45</c:v>
                </c:pt>
                <c:pt idx="8">
                  <c:v>0.53</c:v>
                </c:pt>
                <c:pt idx="9">
                  <c:v>0.54</c:v>
                </c:pt>
                <c:pt idx="10">
                  <c:v>0.48</c:v>
                </c:pt>
                <c:pt idx="11">
                  <c:v>0.52</c:v>
                </c:pt>
                <c:pt idx="12">
                  <c:v>0.51</c:v>
                </c:pt>
                <c:pt idx="13">
                  <c:v>0.5</c:v>
                </c:pt>
                <c:pt idx="14">
                  <c:v>0.43</c:v>
                </c:pt>
              </c:numCache>
            </c:numRef>
          </c:val>
          <c:smooth val="0"/>
          <c:extLst>
            <c:ext xmlns:c16="http://schemas.microsoft.com/office/drawing/2014/chart" uri="{C3380CC4-5D6E-409C-BE32-E72D297353CC}">
              <c16:uniqueId val="{00000005-C7B2-4C57-865E-03E5C15B08B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Best formulary / insurance coverage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81263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40B-4444-A2E4-C5899EF0E0A7}"/>
                </c:ext>
              </c:extLst>
            </c:dLbl>
            <c:dLbl>
              <c:idx val="1"/>
              <c:layout>
                <c:manualLayout>
                  <c:x val="-4.3419815229099344E-2"/>
                  <c:y val="-0.286089814814814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40B-4444-A2E4-C5899EF0E0A7}"/>
                </c:ext>
              </c:extLst>
            </c:dLbl>
            <c:dLbl>
              <c:idx val="2"/>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40B-4444-A2E4-C5899EF0E0A7}"/>
                </c:ext>
              </c:extLst>
            </c:dLbl>
            <c:dLbl>
              <c:idx val="3"/>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40B-4444-A2E4-C5899EF0E0A7}"/>
                </c:ext>
              </c:extLst>
            </c:dLbl>
            <c:dLbl>
              <c:idx val="4"/>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40B-4444-A2E4-C5899EF0E0A7}"/>
                </c:ext>
              </c:extLst>
            </c:dLbl>
            <c:dLbl>
              <c:idx val="5"/>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40B-4444-A2E4-C5899EF0E0A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0.53</c:v>
                </c:pt>
                <c:pt idx="1">
                  <c:v>0.52</c:v>
                </c:pt>
                <c:pt idx="2">
                  <c:v>0.46</c:v>
                </c:pt>
                <c:pt idx="3">
                  <c:v>0.46</c:v>
                </c:pt>
                <c:pt idx="4">
                  <c:v>0.39</c:v>
                </c:pt>
                <c:pt idx="5">
                  <c:v>0.39</c:v>
                </c:pt>
                <c:pt idx="6">
                  <c:v>0.56</c:v>
                </c:pt>
                <c:pt idx="7">
                  <c:v>0.52</c:v>
                </c:pt>
                <c:pt idx="8">
                  <c:v>0.56</c:v>
                </c:pt>
                <c:pt idx="9">
                  <c:v>0.55</c:v>
                </c:pt>
                <c:pt idx="10">
                  <c:v>0.56</c:v>
                </c:pt>
                <c:pt idx="11">
                  <c:v>0.53</c:v>
                </c:pt>
                <c:pt idx="12">
                  <c:v>0.56</c:v>
                </c:pt>
                <c:pt idx="13">
                  <c:v>0.55</c:v>
                </c:pt>
                <c:pt idx="14">
                  <c:v>0.48</c:v>
                </c:pt>
              </c:numCache>
            </c:numRef>
          </c:val>
          <c:smooth val="0"/>
          <c:extLst>
            <c:ext xmlns:c16="http://schemas.microsoft.com/office/drawing/2014/chart" uri="{C3380CC4-5D6E-409C-BE32-E72D297353CC}">
              <c16:uniqueId val="{00000002-3450-4CE6-AD51-0EF7E603FDC1}"/>
            </c:ext>
          </c:extLst>
        </c:ser>
        <c:ser>
          <c:idx val="1"/>
          <c:order val="1"/>
          <c:tx>
            <c:strRef>
              <c:f>Sheet1!$C$1</c:f>
              <c:strCache>
                <c:ptCount val="1"/>
                <c:pt idx="0">
                  <c:v>Best formulary / insurance coverage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15189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40B-4444-A2E4-C5899EF0E0A7}"/>
                </c:ext>
              </c:extLst>
            </c:dLbl>
            <c:dLbl>
              <c:idx val="1"/>
              <c:layout>
                <c:manualLayout>
                  <c:x val="-4.3419815229099344E-2"/>
                  <c:y val="0.147066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40B-4444-A2E4-C5899EF0E0A7}"/>
                </c:ext>
              </c:extLst>
            </c:dLbl>
            <c:dLbl>
              <c:idx val="2"/>
              <c:layout>
                <c:manualLayout>
                  <c:x val="-4.3419815229099344E-2"/>
                  <c:y val="0.14224074074074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40B-4444-A2E4-C5899EF0E0A7}"/>
                </c:ext>
              </c:extLst>
            </c:dLbl>
            <c:dLbl>
              <c:idx val="3"/>
              <c:layout>
                <c:manualLayout>
                  <c:x val="-4.3419815229099344E-2"/>
                  <c:y val="0.15189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40B-4444-A2E4-C5899EF0E0A7}"/>
                </c:ext>
              </c:extLst>
            </c:dLbl>
            <c:dLbl>
              <c:idx val="4"/>
              <c:layout>
                <c:manualLayout>
                  <c:x val="-4.3419815229099344E-2"/>
                  <c:y val="0.1325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40B-4444-A2E4-C5899EF0E0A7}"/>
                </c:ext>
              </c:extLst>
            </c:dLbl>
            <c:dLbl>
              <c:idx val="5"/>
              <c:layout>
                <c:manualLayout>
                  <c:x val="-4.3419815229099344E-2"/>
                  <c:y val="0.127762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40B-4444-A2E4-C5899EF0E0A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c:v>
                </c:pt>
                <c:pt idx="1">
                  <c:v>0.29</c:v>
                </c:pt>
                <c:pt idx="2">
                  <c:v>0.28</c:v>
                </c:pt>
                <c:pt idx="3">
                  <c:v>0.3</c:v>
                </c:pt>
                <c:pt idx="4">
                  <c:v>0.26</c:v>
                </c:pt>
                <c:pt idx="5">
                  <c:v>0.25</c:v>
                </c:pt>
                <c:pt idx="6">
                  <c:v>0.34</c:v>
                </c:pt>
                <c:pt idx="7">
                  <c:v>0.26</c:v>
                </c:pt>
                <c:pt idx="8">
                  <c:v>0.36</c:v>
                </c:pt>
                <c:pt idx="9">
                  <c:v>0.41</c:v>
                </c:pt>
                <c:pt idx="10">
                  <c:v>0.29</c:v>
                </c:pt>
                <c:pt idx="11">
                  <c:v>0.32</c:v>
                </c:pt>
                <c:pt idx="12">
                  <c:v>0.35</c:v>
                </c:pt>
                <c:pt idx="13">
                  <c:v>0.29</c:v>
                </c:pt>
                <c:pt idx="14">
                  <c:v>0.27</c:v>
                </c:pt>
              </c:numCache>
            </c:numRef>
          </c:val>
          <c:smooth val="0"/>
          <c:extLst>
            <c:ext xmlns:c16="http://schemas.microsoft.com/office/drawing/2014/chart" uri="{C3380CC4-5D6E-409C-BE32-E72D297353CC}">
              <c16:uniqueId val="{00000005-3450-4CE6-AD51-0EF7E603FDC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Easiest to prescribe (less impact on practice resources)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81263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9A6-468C-A442-D4F2C2416FEC}"/>
                </c:ext>
              </c:extLst>
            </c:dLbl>
            <c:dLbl>
              <c:idx val="1"/>
              <c:layout>
                <c:manualLayout>
                  <c:x val="-4.3419815229099344E-2"/>
                  <c:y val="-0.281263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9A6-468C-A442-D4F2C2416FEC}"/>
                </c:ext>
              </c:extLst>
            </c:dLbl>
            <c:dLbl>
              <c:idx val="2"/>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9A6-468C-A442-D4F2C2416FEC}"/>
                </c:ext>
              </c:extLst>
            </c:dLbl>
            <c:dLbl>
              <c:idx val="3"/>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9A6-468C-A442-D4F2C2416FEC}"/>
                </c:ext>
              </c:extLst>
            </c:dLbl>
            <c:dLbl>
              <c:idx val="4"/>
              <c:layout>
                <c:manualLayout>
                  <c:x val="-4.3419815229099344E-2"/>
                  <c:y val="0.228178703703703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9A6-468C-A442-D4F2C2416FEC}"/>
                </c:ext>
              </c:extLst>
            </c:dLbl>
            <c:dLbl>
              <c:idx val="5"/>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9A6-468C-A442-D4F2C2416FE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0.53</c:v>
                </c:pt>
                <c:pt idx="1">
                  <c:v>0.53</c:v>
                </c:pt>
                <c:pt idx="2">
                  <c:v>0.47</c:v>
                </c:pt>
                <c:pt idx="3">
                  <c:v>0.44</c:v>
                </c:pt>
                <c:pt idx="4">
                  <c:v>0.36</c:v>
                </c:pt>
                <c:pt idx="5">
                  <c:v>0.39</c:v>
                </c:pt>
                <c:pt idx="6">
                  <c:v>0.52</c:v>
                </c:pt>
                <c:pt idx="7">
                  <c:v>0.44</c:v>
                </c:pt>
                <c:pt idx="8">
                  <c:v>0.54</c:v>
                </c:pt>
                <c:pt idx="9">
                  <c:v>0.54</c:v>
                </c:pt>
                <c:pt idx="10">
                  <c:v>0.46</c:v>
                </c:pt>
                <c:pt idx="11">
                  <c:v>0.47</c:v>
                </c:pt>
                <c:pt idx="12">
                  <c:v>0.52</c:v>
                </c:pt>
                <c:pt idx="13">
                  <c:v>0.52</c:v>
                </c:pt>
                <c:pt idx="14">
                  <c:v>0.47</c:v>
                </c:pt>
              </c:numCache>
            </c:numRef>
          </c:val>
          <c:smooth val="0"/>
          <c:extLst>
            <c:ext xmlns:c16="http://schemas.microsoft.com/office/drawing/2014/chart" uri="{C3380CC4-5D6E-409C-BE32-E72D297353CC}">
              <c16:uniqueId val="{00000002-0C71-4CCF-BF00-ADA922C91CCF}"/>
            </c:ext>
          </c:extLst>
        </c:ser>
        <c:ser>
          <c:idx val="1"/>
          <c:order val="1"/>
          <c:tx>
            <c:strRef>
              <c:f>Sheet1!$C$1</c:f>
              <c:strCache>
                <c:ptCount val="1"/>
                <c:pt idx="0">
                  <c:v>Easiest to prescribe (less impact on practice resources)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1808481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9A6-468C-A442-D4F2C2416FEC}"/>
                </c:ext>
              </c:extLst>
            </c:dLbl>
            <c:dLbl>
              <c:idx val="1"/>
              <c:layout>
                <c:manualLayout>
                  <c:x val="-4.3419815229099344E-2"/>
                  <c:y val="0.15671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9A6-468C-A442-D4F2C2416FEC}"/>
                </c:ext>
              </c:extLst>
            </c:dLbl>
            <c:dLbl>
              <c:idx val="2"/>
              <c:layout>
                <c:manualLayout>
                  <c:x val="-4.3419815229099344E-2"/>
                  <c:y val="0.1760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9A6-468C-A442-D4F2C2416FEC}"/>
                </c:ext>
              </c:extLst>
            </c:dLbl>
            <c:dLbl>
              <c:idx val="3"/>
              <c:layout>
                <c:manualLayout>
                  <c:x val="-4.3419815229099344E-2"/>
                  <c:y val="0.2001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9A6-468C-A442-D4F2C2416FEC}"/>
                </c:ext>
              </c:extLst>
            </c:dLbl>
            <c:dLbl>
              <c:idx val="4"/>
              <c:layout>
                <c:manualLayout>
                  <c:x val="-4.3419815229099344E-2"/>
                  <c:y val="-0.342944444444444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9A6-468C-A442-D4F2C2416FEC}"/>
                </c:ext>
              </c:extLst>
            </c:dLbl>
            <c:dLbl>
              <c:idx val="5"/>
              <c:layout>
                <c:manualLayout>
                  <c:x val="-4.3419815229099344E-2"/>
                  <c:y val="0.185674074074074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9A6-468C-A442-D4F2C2416FE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0.36</c:v>
                </c:pt>
                <c:pt idx="1">
                  <c:v>0.31</c:v>
                </c:pt>
                <c:pt idx="2">
                  <c:v>0.35</c:v>
                </c:pt>
                <c:pt idx="3">
                  <c:v>0.4</c:v>
                </c:pt>
                <c:pt idx="4">
                  <c:v>0.39</c:v>
                </c:pt>
                <c:pt idx="5">
                  <c:v>0.37</c:v>
                </c:pt>
                <c:pt idx="6">
                  <c:v>0.33</c:v>
                </c:pt>
                <c:pt idx="7">
                  <c:v>0.33</c:v>
                </c:pt>
                <c:pt idx="8">
                  <c:v>0.44</c:v>
                </c:pt>
                <c:pt idx="9">
                  <c:v>0.47</c:v>
                </c:pt>
                <c:pt idx="10">
                  <c:v>0.34</c:v>
                </c:pt>
                <c:pt idx="11">
                  <c:v>0.34</c:v>
                </c:pt>
                <c:pt idx="12">
                  <c:v>0.38</c:v>
                </c:pt>
                <c:pt idx="13">
                  <c:v>0.32</c:v>
                </c:pt>
                <c:pt idx="14">
                  <c:v>0.35</c:v>
                </c:pt>
              </c:numCache>
            </c:numRef>
          </c:val>
          <c:smooth val="0"/>
          <c:extLst>
            <c:ext xmlns:c16="http://schemas.microsoft.com/office/drawing/2014/chart" uri="{C3380CC4-5D6E-409C-BE32-E72D297353CC}">
              <c16:uniqueId val="{00000005-0C71-4CCF-BF00-ADA922C91CC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Lowest treatment cost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FE4-49B2-8102-BDF34E7873EC}"/>
                </c:ext>
              </c:extLst>
            </c:dLbl>
            <c:dLbl>
              <c:idx val="1"/>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FE4-49B2-8102-BDF34E7873EC}"/>
                </c:ext>
              </c:extLst>
            </c:dLbl>
            <c:dLbl>
              <c:idx val="2"/>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FE4-49B2-8102-BDF34E7873EC}"/>
                </c:ext>
              </c:extLst>
            </c:dLbl>
            <c:dLbl>
              <c:idx val="3"/>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FE4-49B2-8102-BDF34E7873EC}"/>
                </c:ext>
              </c:extLst>
            </c:dLbl>
            <c:dLbl>
              <c:idx val="4"/>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8F4-44FC-82B1-972C31A6A5EC}"/>
                </c:ext>
              </c:extLst>
            </c:dLbl>
            <c:dLbl>
              <c:idx val="5"/>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FE4-49B2-8102-BDF34E7873E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0.4</c:v>
                </c:pt>
                <c:pt idx="1">
                  <c:v>0.4</c:v>
                </c:pt>
                <c:pt idx="2">
                  <c:v>0.39</c:v>
                </c:pt>
                <c:pt idx="3">
                  <c:v>0.34</c:v>
                </c:pt>
                <c:pt idx="4">
                  <c:v>0.27</c:v>
                </c:pt>
                <c:pt idx="5">
                  <c:v>0.27</c:v>
                </c:pt>
                <c:pt idx="6">
                  <c:v>0.4</c:v>
                </c:pt>
                <c:pt idx="7">
                  <c:v>0.33</c:v>
                </c:pt>
                <c:pt idx="8">
                  <c:v>0.41</c:v>
                </c:pt>
                <c:pt idx="9">
                  <c:v>0.42</c:v>
                </c:pt>
                <c:pt idx="10">
                  <c:v>0.4</c:v>
                </c:pt>
                <c:pt idx="11">
                  <c:v>0.38</c:v>
                </c:pt>
                <c:pt idx="12">
                  <c:v>0.4</c:v>
                </c:pt>
                <c:pt idx="13">
                  <c:v>0.4</c:v>
                </c:pt>
                <c:pt idx="14">
                  <c:v>0.33</c:v>
                </c:pt>
              </c:numCache>
            </c:numRef>
          </c:val>
          <c:smooth val="0"/>
          <c:extLst>
            <c:ext xmlns:c16="http://schemas.microsoft.com/office/drawing/2014/chart" uri="{C3380CC4-5D6E-409C-BE32-E72D297353CC}">
              <c16:uniqueId val="{00000004-82FF-412B-B011-358B69F8B706}"/>
            </c:ext>
          </c:extLst>
        </c:ser>
        <c:ser>
          <c:idx val="1"/>
          <c:order val="1"/>
          <c:tx>
            <c:strRef>
              <c:f>Sheet1!$C$1</c:f>
              <c:strCache>
                <c:ptCount val="1"/>
                <c:pt idx="0">
                  <c:v>Lowest treatment cost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15189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FE4-49B2-8102-BDF34E7873EC}"/>
                </c:ext>
              </c:extLst>
            </c:dLbl>
            <c:dLbl>
              <c:idx val="1"/>
              <c:layout>
                <c:manualLayout>
                  <c:x val="-4.3419815229099344E-2"/>
                  <c:y val="0.127762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FE4-49B2-8102-BDF34E7873EC}"/>
                </c:ext>
              </c:extLst>
            </c:dLbl>
            <c:dLbl>
              <c:idx val="2"/>
              <c:layout>
                <c:manualLayout>
                  <c:x val="-4.3419815229099344E-2"/>
                  <c:y val="0.1325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FE4-49B2-8102-BDF34E7873EC}"/>
                </c:ext>
              </c:extLst>
            </c:dLbl>
            <c:dLbl>
              <c:idx val="3"/>
              <c:layout>
                <c:manualLayout>
                  <c:x val="-4.3419815229099344E-2"/>
                  <c:y val="0.1325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FE4-49B2-8102-BDF34E7873EC}"/>
                </c:ext>
              </c:extLst>
            </c:dLbl>
            <c:dLbl>
              <c:idx val="4"/>
              <c:layout>
                <c:manualLayout>
                  <c:x val="-4.3419815229099344E-2"/>
                  <c:y val="0.12293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8F4-44FC-82B1-972C31A6A5EC}"/>
                </c:ext>
              </c:extLst>
            </c:dLbl>
            <c:dLbl>
              <c:idx val="5"/>
              <c:layout>
                <c:manualLayout>
                  <c:x val="-4.3419815229099344E-2"/>
                  <c:y val="0.113285185185185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FE4-49B2-8102-BDF34E7873E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c:v>
                </c:pt>
                <c:pt idx="1">
                  <c:v>0.25</c:v>
                </c:pt>
                <c:pt idx="2">
                  <c:v>0.26</c:v>
                </c:pt>
                <c:pt idx="3">
                  <c:v>0.26</c:v>
                </c:pt>
                <c:pt idx="4">
                  <c:v>0.24</c:v>
                </c:pt>
                <c:pt idx="5">
                  <c:v>0.22</c:v>
                </c:pt>
                <c:pt idx="6">
                  <c:v>0.32</c:v>
                </c:pt>
                <c:pt idx="7">
                  <c:v>0.26</c:v>
                </c:pt>
                <c:pt idx="8">
                  <c:v>0.34</c:v>
                </c:pt>
                <c:pt idx="9">
                  <c:v>0.38</c:v>
                </c:pt>
                <c:pt idx="10">
                  <c:v>0.25</c:v>
                </c:pt>
                <c:pt idx="11">
                  <c:v>0.28</c:v>
                </c:pt>
                <c:pt idx="12">
                  <c:v>0.33</c:v>
                </c:pt>
                <c:pt idx="13">
                  <c:v>0.29</c:v>
                </c:pt>
                <c:pt idx="14">
                  <c:v>0.29</c:v>
                </c:pt>
              </c:numCache>
            </c:numRef>
          </c:val>
          <c:smooth val="0"/>
          <c:extLst>
            <c:ext xmlns:c16="http://schemas.microsoft.com/office/drawing/2014/chart" uri="{C3380CC4-5D6E-409C-BE32-E72D297353CC}">
              <c16:uniqueId val="{00000009-82FF-412B-B011-358B69F8B70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Co-pay assistance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713-4798-BF03-DAF90DA676D4}"/>
                </c:ext>
              </c:extLst>
            </c:dLbl>
            <c:dLbl>
              <c:idx val="1"/>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E77-4696-AE12-914501593022}"/>
                </c:ext>
              </c:extLst>
            </c:dLbl>
            <c:dLbl>
              <c:idx val="2"/>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713-4798-BF03-DAF90DA676D4}"/>
                </c:ext>
              </c:extLst>
            </c:dLbl>
            <c:dLbl>
              <c:idx val="3"/>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713-4798-BF03-DAF90DA676D4}"/>
                </c:ext>
              </c:extLst>
            </c:dLbl>
            <c:dLbl>
              <c:idx val="4"/>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713-4798-BF03-DAF90DA676D4}"/>
                </c:ext>
              </c:extLst>
            </c:dLbl>
            <c:dLbl>
              <c:idx val="5"/>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713-4798-BF03-DAF90DA676D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0.46</c:v>
                </c:pt>
                <c:pt idx="1">
                  <c:v>0.44</c:v>
                </c:pt>
                <c:pt idx="2">
                  <c:v>0.37</c:v>
                </c:pt>
                <c:pt idx="3">
                  <c:v>0.36</c:v>
                </c:pt>
                <c:pt idx="4">
                  <c:v>0.33</c:v>
                </c:pt>
                <c:pt idx="5">
                  <c:v>0.36</c:v>
                </c:pt>
                <c:pt idx="6">
                  <c:v>0.45</c:v>
                </c:pt>
                <c:pt idx="7">
                  <c:v>0.44</c:v>
                </c:pt>
                <c:pt idx="8">
                  <c:v>0.49</c:v>
                </c:pt>
                <c:pt idx="9">
                  <c:v>0.54</c:v>
                </c:pt>
                <c:pt idx="10">
                  <c:v>0.44</c:v>
                </c:pt>
                <c:pt idx="11">
                  <c:v>0.46</c:v>
                </c:pt>
                <c:pt idx="12">
                  <c:v>0.48</c:v>
                </c:pt>
                <c:pt idx="13">
                  <c:v>0.43</c:v>
                </c:pt>
                <c:pt idx="14">
                  <c:v>0.41</c:v>
                </c:pt>
              </c:numCache>
            </c:numRef>
          </c:val>
          <c:smooth val="0"/>
          <c:extLst>
            <c:ext xmlns:c16="http://schemas.microsoft.com/office/drawing/2014/chart" uri="{C3380CC4-5D6E-409C-BE32-E72D297353CC}">
              <c16:uniqueId val="{00000003-2CAF-4A52-94AA-365B3B60B22A}"/>
            </c:ext>
          </c:extLst>
        </c:ser>
        <c:ser>
          <c:idx val="1"/>
          <c:order val="1"/>
          <c:tx>
            <c:strRef>
              <c:f>Sheet1!$C$1</c:f>
              <c:strCache>
                <c:ptCount val="1"/>
                <c:pt idx="0">
                  <c:v>Co-pay assistance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185674074074074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713-4798-BF03-DAF90DA676D4}"/>
                </c:ext>
              </c:extLst>
            </c:dLbl>
            <c:dLbl>
              <c:idx val="1"/>
              <c:layout>
                <c:manualLayout>
                  <c:x val="-4.3419815229099344E-2"/>
                  <c:y val="0.171196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E77-4696-AE12-914501593022}"/>
                </c:ext>
              </c:extLst>
            </c:dLbl>
            <c:dLbl>
              <c:idx val="2"/>
              <c:layout>
                <c:manualLayout>
                  <c:x val="-4.3419815229099344E-2"/>
                  <c:y val="0.161544444444444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713-4798-BF03-DAF90DA676D4}"/>
                </c:ext>
              </c:extLst>
            </c:dLbl>
            <c:dLbl>
              <c:idx val="3"/>
              <c:layout>
                <c:manualLayout>
                  <c:x val="-4.3419815229099344E-2"/>
                  <c:y val="0.16637037037037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713-4798-BF03-DAF90DA676D4}"/>
                </c:ext>
              </c:extLst>
            </c:dLbl>
            <c:dLbl>
              <c:idx val="4"/>
              <c:layout>
                <c:manualLayout>
                  <c:x val="-4.3419815229099344E-2"/>
                  <c:y val="0.15671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713-4798-BF03-DAF90DA676D4}"/>
                </c:ext>
              </c:extLst>
            </c:dLbl>
            <c:dLbl>
              <c:idx val="5"/>
              <c:layout>
                <c:manualLayout>
                  <c:x val="-4.3419815229099344E-2"/>
                  <c:y val="0.171196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713-4798-BF03-DAF90DA676D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0.37</c:v>
                </c:pt>
                <c:pt idx="1">
                  <c:v>0.34</c:v>
                </c:pt>
                <c:pt idx="2">
                  <c:v>0.32</c:v>
                </c:pt>
                <c:pt idx="3">
                  <c:v>0.33</c:v>
                </c:pt>
                <c:pt idx="4">
                  <c:v>0.31</c:v>
                </c:pt>
                <c:pt idx="5">
                  <c:v>0.34</c:v>
                </c:pt>
                <c:pt idx="6">
                  <c:v>0.43</c:v>
                </c:pt>
                <c:pt idx="7">
                  <c:v>0.36</c:v>
                </c:pt>
                <c:pt idx="8">
                  <c:v>0.43</c:v>
                </c:pt>
                <c:pt idx="9">
                  <c:v>0.43</c:v>
                </c:pt>
                <c:pt idx="10">
                  <c:v>0.37</c:v>
                </c:pt>
                <c:pt idx="11">
                  <c:v>0.39</c:v>
                </c:pt>
                <c:pt idx="12">
                  <c:v>0.44</c:v>
                </c:pt>
                <c:pt idx="13">
                  <c:v>0.4</c:v>
                </c:pt>
                <c:pt idx="14">
                  <c:v>0.35</c:v>
                </c:pt>
              </c:numCache>
            </c:numRef>
          </c:val>
          <c:smooth val="0"/>
          <c:extLst>
            <c:ext xmlns:c16="http://schemas.microsoft.com/office/drawing/2014/chart" uri="{C3380CC4-5D6E-409C-BE32-E72D297353CC}">
              <c16:uniqueId val="{00000007-2CAF-4A52-94AA-365B3B60B22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Patient support programs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9815229099344E-2"/>
                  <c:y val="-0.29091574074074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84-4DE3-91B5-261F582DB525}"/>
                </c:ext>
              </c:extLst>
            </c:dLbl>
            <c:dLbl>
              <c:idx val="1"/>
              <c:layout>
                <c:manualLayout>
                  <c:x val="-4.3419815229099344E-2"/>
                  <c:y val="-0.271612037037037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A0F-444D-8AB4-F7BCAC833233}"/>
                </c:ext>
              </c:extLst>
            </c:dLbl>
            <c:dLbl>
              <c:idx val="2"/>
              <c:layout>
                <c:manualLayout>
                  <c:x val="-4.3419815229099344E-2"/>
                  <c:y val="-0.286089814814814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4A8-4FDF-8127-881BC8039673}"/>
                </c:ext>
              </c:extLst>
            </c:dLbl>
            <c:dLbl>
              <c:idx val="3"/>
              <c:layout>
                <c:manualLayout>
                  <c:x val="-4.3419815229099344E-2"/>
                  <c:y val="-0.305393518518518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884-4DE3-91B5-261F582DB525}"/>
                </c:ext>
              </c:extLst>
            </c:dLbl>
            <c:dLbl>
              <c:idx val="4"/>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A0F-444D-8AB4-F7BCAC833233}"/>
                </c:ext>
              </c:extLst>
            </c:dLbl>
            <c:dLbl>
              <c:idx val="5"/>
              <c:layout>
                <c:manualLayout>
                  <c:x val="-4.3419815229099344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4A8-4FDF-8127-881BC803967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0.51</c:v>
                </c:pt>
                <c:pt idx="1">
                  <c:v>0.55</c:v>
                </c:pt>
                <c:pt idx="2">
                  <c:v>0.52</c:v>
                </c:pt>
                <c:pt idx="3">
                  <c:v>0.48</c:v>
                </c:pt>
                <c:pt idx="4">
                  <c:v>0.46</c:v>
                </c:pt>
                <c:pt idx="5">
                  <c:v>0.46</c:v>
                </c:pt>
                <c:pt idx="6">
                  <c:v>0.53</c:v>
                </c:pt>
                <c:pt idx="7">
                  <c:v>0.53</c:v>
                </c:pt>
                <c:pt idx="8">
                  <c:v>0.54</c:v>
                </c:pt>
                <c:pt idx="9">
                  <c:v>0.55</c:v>
                </c:pt>
                <c:pt idx="10">
                  <c:v>0.53</c:v>
                </c:pt>
                <c:pt idx="11">
                  <c:v>0.58</c:v>
                </c:pt>
                <c:pt idx="12">
                  <c:v>0.54</c:v>
                </c:pt>
                <c:pt idx="13">
                  <c:v>0.55</c:v>
                </c:pt>
                <c:pt idx="14">
                  <c:v>0.44</c:v>
                </c:pt>
              </c:numCache>
            </c:numRef>
          </c:val>
          <c:smooth val="0"/>
          <c:extLst>
            <c:ext xmlns:c16="http://schemas.microsoft.com/office/drawing/2014/chart" uri="{C3380CC4-5D6E-409C-BE32-E72D297353CC}">
              <c16:uniqueId val="{00000003-F4A8-4FDF-8127-881BC8039673}"/>
            </c:ext>
          </c:extLst>
        </c:ser>
        <c:ser>
          <c:idx val="1"/>
          <c:order val="1"/>
          <c:tx>
            <c:strRef>
              <c:f>Sheet1!$C$1</c:f>
              <c:strCache>
                <c:ptCount val="1"/>
                <c:pt idx="0">
                  <c:v>Patient support programs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9815229099344E-2"/>
                  <c:y val="0.19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84-4DE3-91B5-261F582DB525}"/>
                </c:ext>
              </c:extLst>
            </c:dLbl>
            <c:dLbl>
              <c:idx val="1"/>
              <c:layout>
                <c:manualLayout>
                  <c:x val="-4.3419815229099344E-2"/>
                  <c:y val="0.1760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A0F-444D-8AB4-F7BCAC833233}"/>
                </c:ext>
              </c:extLst>
            </c:dLbl>
            <c:dLbl>
              <c:idx val="2"/>
              <c:layout>
                <c:manualLayout>
                  <c:x val="-4.3419815229099344E-2"/>
                  <c:y val="0.185674074074074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4A8-4FDF-8127-881BC8039673}"/>
                </c:ext>
              </c:extLst>
            </c:dLbl>
            <c:dLbl>
              <c:idx val="3"/>
              <c:layout>
                <c:manualLayout>
                  <c:x val="-4.3419815229099344E-2"/>
                  <c:y val="0.209803703703703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884-4DE3-91B5-261F582DB525}"/>
                </c:ext>
              </c:extLst>
            </c:dLbl>
            <c:dLbl>
              <c:idx val="4"/>
              <c:layout>
                <c:manualLayout>
                  <c:x val="-4.3419815229099344E-2"/>
                  <c:y val="0.19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A0F-444D-8AB4-F7BCAC833233}"/>
                </c:ext>
              </c:extLst>
            </c:dLbl>
            <c:dLbl>
              <c:idx val="5"/>
              <c:layout>
                <c:manualLayout>
                  <c:x val="-4.3419815229099344E-2"/>
                  <c:y val="0.19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4A8-4FDF-8127-881BC803967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0.38</c:v>
                </c:pt>
                <c:pt idx="1">
                  <c:v>0.35</c:v>
                </c:pt>
                <c:pt idx="2">
                  <c:v>0.37</c:v>
                </c:pt>
                <c:pt idx="3">
                  <c:v>0.42</c:v>
                </c:pt>
                <c:pt idx="4">
                  <c:v>0.38</c:v>
                </c:pt>
                <c:pt idx="5">
                  <c:v>0.38</c:v>
                </c:pt>
                <c:pt idx="6">
                  <c:v>0.47</c:v>
                </c:pt>
                <c:pt idx="7">
                  <c:v>0.35</c:v>
                </c:pt>
                <c:pt idx="8">
                  <c:v>0.49</c:v>
                </c:pt>
                <c:pt idx="9">
                  <c:v>0.48</c:v>
                </c:pt>
                <c:pt idx="10">
                  <c:v>0.34</c:v>
                </c:pt>
                <c:pt idx="11">
                  <c:v>0.41</c:v>
                </c:pt>
                <c:pt idx="12">
                  <c:v>0.47</c:v>
                </c:pt>
                <c:pt idx="13">
                  <c:v>0.42</c:v>
                </c:pt>
                <c:pt idx="14">
                  <c:v>0.34</c:v>
                </c:pt>
              </c:numCache>
            </c:numRef>
          </c:val>
          <c:smooth val="0"/>
          <c:extLst>
            <c:ext xmlns:c16="http://schemas.microsoft.com/office/drawing/2014/chart" uri="{C3380CC4-5D6E-409C-BE32-E72D297353CC}">
              <c16:uniqueId val="{00000007-F4A8-4FDF-8127-881BC803967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Most favorable safety profile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252308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B27-4D42-B98C-FE5A482275A5}"/>
                </c:ext>
              </c:extLst>
            </c:dLbl>
            <c:dLbl>
              <c:idx val="1"/>
              <c:layout>
                <c:manualLayout>
                  <c:x val="-4.3411160313583268E-2"/>
                  <c:y val="-0.2474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772-4F47-AB4B-D92E8DCA5A90}"/>
                </c:ext>
              </c:extLst>
            </c:dLbl>
            <c:dLbl>
              <c:idx val="2"/>
              <c:layout>
                <c:manualLayout>
                  <c:x val="-4.3411160313583268E-2"/>
                  <c:y val="-0.261960185185185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772-4F47-AB4B-D92E8DCA5A90}"/>
                </c:ext>
              </c:extLst>
            </c:dLbl>
            <c:dLbl>
              <c:idx val="3"/>
              <c:layout>
                <c:manualLayout>
                  <c:x val="-4.3411160313583268E-2"/>
                  <c:y val="-0.295741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772-4F47-AB4B-D92E8DCA5A90}"/>
                </c:ext>
              </c:extLst>
            </c:dLbl>
            <c:dLbl>
              <c:idx val="4"/>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772-4F47-AB4B-D92E8DCA5A90}"/>
                </c:ext>
              </c:extLst>
            </c:dLbl>
            <c:dLbl>
              <c:idx val="5"/>
              <c:layout>
                <c:manualLayout>
                  <c:x val="-4.3411160313583268E-2"/>
                  <c:y val="-0.305393518518518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772-4F47-AB4B-D92E8DCA5A9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0.59</c:v>
                </c:pt>
                <c:pt idx="1">
                  <c:v>0.6</c:v>
                </c:pt>
                <c:pt idx="2">
                  <c:v>0.57</c:v>
                </c:pt>
                <c:pt idx="3">
                  <c:v>0.5</c:v>
                </c:pt>
                <c:pt idx="4">
                  <c:v>0.47</c:v>
                </c:pt>
                <c:pt idx="5">
                  <c:v>0.48</c:v>
                </c:pt>
                <c:pt idx="6">
                  <c:v>0.52</c:v>
                </c:pt>
                <c:pt idx="7">
                  <c:v>0.52</c:v>
                </c:pt>
                <c:pt idx="8">
                  <c:v>0.57</c:v>
                </c:pt>
                <c:pt idx="9">
                  <c:v>0.61</c:v>
                </c:pt>
                <c:pt idx="10">
                  <c:v>0.57</c:v>
                </c:pt>
                <c:pt idx="11">
                  <c:v>0.6</c:v>
                </c:pt>
                <c:pt idx="12">
                  <c:v>0.54</c:v>
                </c:pt>
                <c:pt idx="13">
                  <c:v>0.52</c:v>
                </c:pt>
                <c:pt idx="14">
                  <c:v>0.49</c:v>
                </c:pt>
              </c:numCache>
            </c:numRef>
          </c:val>
          <c:smooth val="0"/>
          <c:extLst>
            <c:ext xmlns:c16="http://schemas.microsoft.com/office/drawing/2014/chart" uri="{C3380CC4-5D6E-409C-BE32-E72D297353CC}">
              <c16:uniqueId val="{00000004-ADAE-4414-AE3E-14DAF66914DC}"/>
            </c:ext>
          </c:extLst>
        </c:ser>
        <c:ser>
          <c:idx val="1"/>
          <c:order val="1"/>
          <c:tx>
            <c:strRef>
              <c:f>Sheet1!$C$1</c:f>
              <c:strCache>
                <c:ptCount val="1"/>
                <c:pt idx="0">
                  <c:v>Most favorable safety profile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B27-4D42-B98C-FE5A482275A5}"/>
                </c:ext>
              </c:extLst>
            </c:dLbl>
            <c:dLbl>
              <c:idx val="1"/>
              <c:layout>
                <c:manualLayout>
                  <c:x val="-4.3411160313583268E-2"/>
                  <c:y val="0.25806296296296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772-4F47-AB4B-D92E8DCA5A90}"/>
                </c:ext>
              </c:extLst>
            </c:dLbl>
            <c:dLbl>
              <c:idx val="2"/>
              <c:layout>
                <c:manualLayout>
                  <c:x val="-4.3411160313583268E-2"/>
                  <c:y val="0.243585185185185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772-4F47-AB4B-D92E8DCA5A90}"/>
                </c:ext>
              </c:extLst>
            </c:dLbl>
            <c:dLbl>
              <c:idx val="3"/>
              <c:layout>
                <c:manualLayout>
                  <c:x val="-4.3411160313583268E-2"/>
                  <c:y val="0.243585185185185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772-4F47-AB4B-D92E8DCA5A90}"/>
                </c:ext>
              </c:extLst>
            </c:dLbl>
            <c:dLbl>
              <c:idx val="4"/>
              <c:layout>
                <c:manualLayout>
                  <c:x val="-4.3411160313583268E-2"/>
                  <c:y val="0.219455555555555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772-4F47-AB4B-D92E8DCA5A90}"/>
                </c:ext>
              </c:extLst>
            </c:dLbl>
            <c:dLbl>
              <c:idx val="5"/>
              <c:layout>
                <c:manualLayout>
                  <c:x val="-4.3411160313583268E-2"/>
                  <c:y val="0.214629629629629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772-4F47-AB4B-D92E8DCA5A9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0.53</c:v>
                </c:pt>
                <c:pt idx="1">
                  <c:v>0.52</c:v>
                </c:pt>
                <c:pt idx="2">
                  <c:v>0.49</c:v>
                </c:pt>
                <c:pt idx="3">
                  <c:v>0.49</c:v>
                </c:pt>
                <c:pt idx="4">
                  <c:v>0.44</c:v>
                </c:pt>
                <c:pt idx="5">
                  <c:v>0.43</c:v>
                </c:pt>
                <c:pt idx="6">
                  <c:v>0.5</c:v>
                </c:pt>
                <c:pt idx="7">
                  <c:v>0.5</c:v>
                </c:pt>
                <c:pt idx="8">
                  <c:v>0.5</c:v>
                </c:pt>
                <c:pt idx="9">
                  <c:v>0.54</c:v>
                </c:pt>
                <c:pt idx="10">
                  <c:v>0.46</c:v>
                </c:pt>
                <c:pt idx="11">
                  <c:v>0.5</c:v>
                </c:pt>
                <c:pt idx="12">
                  <c:v>0.53</c:v>
                </c:pt>
                <c:pt idx="13">
                  <c:v>0.47</c:v>
                </c:pt>
                <c:pt idx="14">
                  <c:v>0.48</c:v>
                </c:pt>
              </c:numCache>
            </c:numRef>
          </c:val>
          <c:smooth val="0"/>
          <c:extLst>
            <c:ext xmlns:c16="http://schemas.microsoft.com/office/drawing/2014/chart" uri="{C3380CC4-5D6E-409C-BE32-E72D297353CC}">
              <c16:uniqueId val="{00000009-ADAE-4414-AE3E-14DAF66914D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6614897068989726E-2"/>
          <c:y val="0.21166666666666667"/>
          <c:w val="0.94869064862628183"/>
          <c:h val="0.48259259259259257"/>
        </c:manualLayout>
      </c:layout>
      <c:lineChart>
        <c:grouping val="standard"/>
        <c:varyColors val="0"/>
        <c:ser>
          <c:idx val="0"/>
          <c:order val="0"/>
          <c:tx>
            <c:strRef>
              <c:f>Sheet1!$B$1</c:f>
              <c:strCache>
                <c:ptCount val="1"/>
                <c:pt idx="0">
                  <c:v>Simplest dosing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2182333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3FB-48CF-8EC6-581FEEFF0FAF}"/>
                </c:ext>
              </c:extLst>
            </c:dLbl>
            <c:dLbl>
              <c:idx val="1"/>
              <c:layout>
                <c:manualLayout>
                  <c:x val="-4.3411160313583268E-2"/>
                  <c:y val="0.242362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3FB-48CF-8EC6-581FEEFF0FAF}"/>
                </c:ext>
              </c:extLst>
            </c:dLbl>
            <c:dLbl>
              <c:idx val="2"/>
              <c:layout>
                <c:manualLayout>
                  <c:x val="-4.3411160313583268E-2"/>
                  <c:y val="0.2230592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3FB-48CF-8EC6-581FEEFF0FAF}"/>
                </c:ext>
              </c:extLst>
            </c:dLbl>
            <c:dLbl>
              <c:idx val="3"/>
              <c:layout>
                <c:manualLayout>
                  <c:x val="-4.3411160313583268E-2"/>
                  <c:y val="0.213407407407407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3FB-48CF-8EC6-581FEEFF0FAF}"/>
                </c:ext>
              </c:extLst>
            </c:dLbl>
            <c:dLbl>
              <c:idx val="4"/>
              <c:layout>
                <c:manualLayout>
                  <c:x val="-4.3411160313583268E-2"/>
                  <c:y val="0.18927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563-490B-A62A-FA19733547C4}"/>
                </c:ext>
              </c:extLst>
            </c:dLbl>
            <c:dLbl>
              <c:idx val="5"/>
              <c:layout>
                <c:manualLayout>
                  <c:x val="-4.3411160313583268E-2"/>
                  <c:y val="0.213407407407407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3FB-48CF-8EC6-581FEEFF0FA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0.34</c:v>
                </c:pt>
                <c:pt idx="1">
                  <c:v>0.39</c:v>
                </c:pt>
                <c:pt idx="2">
                  <c:v>0.35</c:v>
                </c:pt>
                <c:pt idx="3">
                  <c:v>0.33</c:v>
                </c:pt>
                <c:pt idx="4">
                  <c:v>0.28</c:v>
                </c:pt>
                <c:pt idx="5">
                  <c:v>0.33</c:v>
                </c:pt>
                <c:pt idx="6">
                  <c:v>0.4</c:v>
                </c:pt>
                <c:pt idx="7">
                  <c:v>0.29</c:v>
                </c:pt>
                <c:pt idx="8">
                  <c:v>0.46</c:v>
                </c:pt>
                <c:pt idx="9">
                  <c:v>0.46</c:v>
                </c:pt>
                <c:pt idx="10">
                  <c:v>0.39</c:v>
                </c:pt>
                <c:pt idx="11">
                  <c:v>0.4</c:v>
                </c:pt>
                <c:pt idx="12">
                  <c:v>0.42</c:v>
                </c:pt>
                <c:pt idx="13">
                  <c:v>0.38</c:v>
                </c:pt>
                <c:pt idx="14">
                  <c:v>0.28</c:v>
                </c:pt>
              </c:numCache>
            </c:numRef>
          </c:val>
          <c:smooth val="0"/>
          <c:extLst>
            <c:ext xmlns:c16="http://schemas.microsoft.com/office/drawing/2014/chart" uri="{C3380CC4-5D6E-409C-BE32-E72D297353CC}">
              <c16:uniqueId val="{00000002-2317-4427-9157-C1EB40CA14D0}"/>
            </c:ext>
          </c:extLst>
        </c:ser>
        <c:ser>
          <c:idx val="1"/>
          <c:order val="1"/>
          <c:tx>
            <c:strRef>
              <c:f>Sheet1!$C$1</c:f>
              <c:strCache>
                <c:ptCount val="1"/>
                <c:pt idx="0">
                  <c:v>Simplest dosing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214923148148148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3FB-48CF-8EC6-581FEEFF0FAF}"/>
                </c:ext>
              </c:extLst>
            </c:dLbl>
            <c:dLbl>
              <c:idx val="1"/>
              <c:layout>
                <c:manualLayout>
                  <c:x val="-4.3411160313583268E-2"/>
                  <c:y val="-0.214923148148148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3FB-48CF-8EC6-581FEEFF0FAF}"/>
                </c:ext>
              </c:extLst>
            </c:dLbl>
            <c:dLbl>
              <c:idx val="2"/>
              <c:layout>
                <c:manualLayout>
                  <c:x val="-4.3411160313583268E-2"/>
                  <c:y val="-0.16666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3FB-48CF-8EC6-581FEEFF0FAF}"/>
                </c:ext>
              </c:extLst>
            </c:dLbl>
            <c:dLbl>
              <c:idx val="3"/>
              <c:layout>
                <c:manualLayout>
                  <c:x val="-4.3411160313583268E-2"/>
                  <c:y val="-0.15218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3FB-48CF-8EC6-581FEEFF0FAF}"/>
                </c:ext>
              </c:extLst>
            </c:dLbl>
            <c:dLbl>
              <c:idx val="4"/>
              <c:layout>
                <c:manualLayout>
                  <c:x val="-4.3411160313583268E-2"/>
                  <c:y val="-0.16666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563-490B-A62A-FA19733547C4}"/>
                </c:ext>
              </c:extLst>
            </c:dLbl>
            <c:dLbl>
              <c:idx val="5"/>
              <c:layout>
                <c:manualLayout>
                  <c:x val="-4.3411160313583268E-2"/>
                  <c:y val="-0.190793518518518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3FB-48CF-8EC6-581FEEFF0FA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0.57</c:v>
                </c:pt>
                <c:pt idx="1">
                  <c:v>0.57</c:v>
                </c:pt>
                <c:pt idx="2">
                  <c:v>0.67</c:v>
                </c:pt>
                <c:pt idx="3">
                  <c:v>0.7</c:v>
                </c:pt>
                <c:pt idx="4">
                  <c:v>0.67</c:v>
                </c:pt>
                <c:pt idx="5">
                  <c:v>0.62</c:v>
                </c:pt>
                <c:pt idx="6">
                  <c:v>0.59</c:v>
                </c:pt>
                <c:pt idx="7">
                  <c:v>0.54</c:v>
                </c:pt>
                <c:pt idx="8">
                  <c:v>0.63</c:v>
                </c:pt>
                <c:pt idx="9">
                  <c:v>0.64</c:v>
                </c:pt>
                <c:pt idx="10">
                  <c:v>0.51</c:v>
                </c:pt>
                <c:pt idx="11">
                  <c:v>0.54</c:v>
                </c:pt>
                <c:pt idx="12">
                  <c:v>0.6</c:v>
                </c:pt>
                <c:pt idx="13">
                  <c:v>0.55</c:v>
                </c:pt>
                <c:pt idx="14">
                  <c:v>0.49</c:v>
                </c:pt>
              </c:numCache>
            </c:numRef>
          </c:val>
          <c:smooth val="0"/>
          <c:extLst>
            <c:ext xmlns:c16="http://schemas.microsoft.com/office/drawing/2014/chart" uri="{C3380CC4-5D6E-409C-BE32-E72D297353CC}">
              <c16:uniqueId val="{00000005-2317-4427-9157-C1EB40CA14D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Dosing flexibility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26678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A54-4EA8-BB88-F88083229F0E}"/>
                </c:ext>
              </c:extLst>
            </c:dLbl>
            <c:dLbl>
              <c:idx val="1"/>
              <c:layout>
                <c:manualLayout>
                  <c:x val="-4.3411160313583268E-2"/>
                  <c:y val="0.305265740740740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4A1-4651-B344-44379B93AAF3}"/>
                </c:ext>
              </c:extLst>
            </c:dLbl>
            <c:dLbl>
              <c:idx val="2"/>
              <c:layout>
                <c:manualLayout>
                  <c:x val="-4.3411160313583268E-2"/>
                  <c:y val="0.261832407407407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4A1-4651-B344-44379B93AAF3}"/>
                </c:ext>
              </c:extLst>
            </c:dLbl>
            <c:dLbl>
              <c:idx val="3"/>
              <c:layout>
                <c:manualLayout>
                  <c:x val="-4.3411160313583268E-2"/>
                  <c:y val="0.257006481481481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25C-4C0C-A4BA-25CD8BED7DAA}"/>
                </c:ext>
              </c:extLst>
            </c:dLbl>
            <c:dLbl>
              <c:idx val="4"/>
              <c:layout>
                <c:manualLayout>
                  <c:x val="-4.3411160313583268E-2"/>
                  <c:y val="0.2666583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126-4283-BD36-2903F384E5F2}"/>
                </c:ext>
              </c:extLst>
            </c:dLbl>
            <c:dLbl>
              <c:idx val="5"/>
              <c:layout>
                <c:manualLayout>
                  <c:x val="-4.3411160313583268E-2"/>
                  <c:y val="-0.286089814814814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4A1-4651-B344-44379B93AAF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0.56</c:v>
                </c:pt>
                <c:pt idx="1">
                  <c:v>0.55</c:v>
                </c:pt>
                <c:pt idx="2">
                  <c:v>0.51</c:v>
                </c:pt>
                <c:pt idx="3">
                  <c:v>0.45</c:v>
                </c:pt>
                <c:pt idx="4">
                  <c:v>0.44</c:v>
                </c:pt>
                <c:pt idx="5">
                  <c:v>0.52</c:v>
                </c:pt>
                <c:pt idx="6">
                  <c:v>0.61</c:v>
                </c:pt>
                <c:pt idx="7">
                  <c:v>0.5</c:v>
                </c:pt>
                <c:pt idx="8">
                  <c:v>0.6</c:v>
                </c:pt>
                <c:pt idx="9">
                  <c:v>0.6</c:v>
                </c:pt>
                <c:pt idx="10">
                  <c:v>0.57</c:v>
                </c:pt>
                <c:pt idx="11">
                  <c:v>0.52</c:v>
                </c:pt>
                <c:pt idx="12">
                  <c:v>0.59</c:v>
                </c:pt>
                <c:pt idx="13">
                  <c:v>0.55</c:v>
                </c:pt>
                <c:pt idx="14">
                  <c:v>0.48</c:v>
                </c:pt>
              </c:numCache>
            </c:numRef>
          </c:val>
          <c:smooth val="0"/>
          <c:extLst>
            <c:ext xmlns:c16="http://schemas.microsoft.com/office/drawing/2014/chart" uri="{C3380CC4-5D6E-409C-BE32-E72D297353CC}">
              <c16:uniqueId val="{00000004-B4A1-4651-B344-44379B93AAF3}"/>
            </c:ext>
          </c:extLst>
        </c:ser>
        <c:ser>
          <c:idx val="1"/>
          <c:order val="1"/>
          <c:tx>
            <c:strRef>
              <c:f>Sheet1!$C$1</c:f>
              <c:strCache>
                <c:ptCount val="1"/>
                <c:pt idx="0">
                  <c:v>Dosing flexibility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A54-4EA8-BB88-F88083229F0E}"/>
                </c:ext>
              </c:extLst>
            </c:dLbl>
            <c:dLbl>
              <c:idx val="1"/>
              <c:layout>
                <c:manualLayout>
                  <c:x val="-4.3411160313583268E-2"/>
                  <c:y val="-0.3141166666666666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4A1-4651-B344-44379B93AAF3}"/>
                </c:ext>
              </c:extLst>
            </c:dLbl>
            <c:dLbl>
              <c:idx val="2"/>
              <c:layout>
                <c:manualLayout>
                  <c:x val="-4.3411160313583268E-2"/>
                  <c:y val="-0.28998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4A1-4651-B344-44379B93AAF3}"/>
                </c:ext>
              </c:extLst>
            </c:dLbl>
            <c:dLbl>
              <c:idx val="3"/>
              <c:layout>
                <c:manualLayout>
                  <c:x val="-4.3411160313583268E-2"/>
                  <c:y val="-0.304337037037037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25C-4C0C-A4BA-25CD8BED7DAA}"/>
                </c:ext>
              </c:extLst>
            </c:dLbl>
            <c:dLbl>
              <c:idx val="4"/>
              <c:layout>
                <c:manualLayout>
                  <c:x val="-4.3411160313583268E-2"/>
                  <c:y val="-0.3139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126-4283-BD36-2903F384E5F2}"/>
                </c:ext>
              </c:extLst>
            </c:dLbl>
            <c:dLbl>
              <c:idx val="5"/>
              <c:layout>
                <c:manualLayout>
                  <c:x val="-4.3411160313583268E-2"/>
                  <c:y val="0.243585185185185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4A1-4651-B344-44379B93AAF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0.54</c:v>
                </c:pt>
                <c:pt idx="1">
                  <c:v>0.56</c:v>
                </c:pt>
                <c:pt idx="2">
                  <c:v>0.61</c:v>
                </c:pt>
                <c:pt idx="3">
                  <c:v>0.56</c:v>
                </c:pt>
                <c:pt idx="4">
                  <c:v>0.53</c:v>
                </c:pt>
                <c:pt idx="5">
                  <c:v>0.49</c:v>
                </c:pt>
                <c:pt idx="6">
                  <c:v>0.57</c:v>
                </c:pt>
                <c:pt idx="7">
                  <c:v>0.55</c:v>
                </c:pt>
                <c:pt idx="8">
                  <c:v>0.63</c:v>
                </c:pt>
                <c:pt idx="9">
                  <c:v>0.64</c:v>
                </c:pt>
                <c:pt idx="10">
                  <c:v>0.54</c:v>
                </c:pt>
                <c:pt idx="11">
                  <c:v>0.5</c:v>
                </c:pt>
                <c:pt idx="12">
                  <c:v>0.59</c:v>
                </c:pt>
                <c:pt idx="13">
                  <c:v>0.53</c:v>
                </c:pt>
                <c:pt idx="14">
                  <c:v>0.51</c:v>
                </c:pt>
              </c:numCache>
            </c:numRef>
          </c:val>
          <c:smooth val="0"/>
          <c:extLst>
            <c:ext xmlns:c16="http://schemas.microsoft.com/office/drawing/2014/chart" uri="{C3380CC4-5D6E-409C-BE32-E72D297353CC}">
              <c16:uniqueId val="{00000009-B4A1-4651-B344-44379B93AAF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Patient adherence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252308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4BF-4DFA-9526-CCA0D9BE79C9}"/>
                </c:ext>
              </c:extLst>
            </c:dLbl>
            <c:dLbl>
              <c:idx val="1"/>
              <c:layout>
                <c:manualLayout>
                  <c:x val="-4.3411160313583268E-2"/>
                  <c:y val="0.26678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4BF-4DFA-9526-CCA0D9BE79C9}"/>
                </c:ext>
              </c:extLst>
            </c:dLbl>
            <c:dLbl>
              <c:idx val="2"/>
              <c:layout>
                <c:manualLayout>
                  <c:x val="-4.3411160313583268E-2"/>
                  <c:y val="0.242656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BF-4DFA-9526-CCA0D9BE79C9}"/>
                </c:ext>
              </c:extLst>
            </c:dLbl>
            <c:dLbl>
              <c:idx val="3"/>
              <c:layout>
                <c:manualLayout>
                  <c:x val="-4.3411160313583268E-2"/>
                  <c:y val="0.2233527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4BF-4DFA-9526-CCA0D9BE79C9}"/>
                </c:ext>
              </c:extLst>
            </c:dLbl>
            <c:dLbl>
              <c:idx val="4"/>
              <c:layout>
                <c:manualLayout>
                  <c:x val="-4.3411160313583268E-2"/>
                  <c:y val="0.21370092592592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4BF-4DFA-9526-CCA0D9BE79C9}"/>
                </c:ext>
              </c:extLst>
            </c:dLbl>
            <c:dLbl>
              <c:idx val="5"/>
              <c:layout>
                <c:manualLayout>
                  <c:x val="-4.3411160313583268E-2"/>
                  <c:y val="0.233004629629629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4BF-4DFA-9526-CCA0D9BE79C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0.41</c:v>
                </c:pt>
                <c:pt idx="1">
                  <c:v>0.44</c:v>
                </c:pt>
                <c:pt idx="2">
                  <c:v>0.39</c:v>
                </c:pt>
                <c:pt idx="3">
                  <c:v>0.35</c:v>
                </c:pt>
                <c:pt idx="4">
                  <c:v>0.33</c:v>
                </c:pt>
                <c:pt idx="5">
                  <c:v>0.37</c:v>
                </c:pt>
                <c:pt idx="6">
                  <c:v>0.51</c:v>
                </c:pt>
                <c:pt idx="7">
                  <c:v>0.38</c:v>
                </c:pt>
                <c:pt idx="8">
                  <c:v>0.51</c:v>
                </c:pt>
                <c:pt idx="9">
                  <c:v>0.51</c:v>
                </c:pt>
                <c:pt idx="10">
                  <c:v>0.46</c:v>
                </c:pt>
                <c:pt idx="11">
                  <c:v>0.5</c:v>
                </c:pt>
                <c:pt idx="12">
                  <c:v>0.49</c:v>
                </c:pt>
                <c:pt idx="13">
                  <c:v>0.51</c:v>
                </c:pt>
                <c:pt idx="14">
                  <c:v>0.35</c:v>
                </c:pt>
              </c:numCache>
            </c:numRef>
          </c:val>
          <c:smooth val="0"/>
          <c:extLst>
            <c:ext xmlns:c16="http://schemas.microsoft.com/office/drawing/2014/chart" uri="{C3380CC4-5D6E-409C-BE32-E72D297353CC}">
              <c16:uniqueId val="{00000003-A9CC-4C02-ABDF-7A4DEA7CD8D1}"/>
            </c:ext>
          </c:extLst>
        </c:ser>
        <c:ser>
          <c:idx val="1"/>
          <c:order val="1"/>
          <c:tx>
            <c:strRef>
              <c:f>Sheet1!$C$1</c:f>
              <c:strCache>
                <c:ptCount val="1"/>
                <c:pt idx="0">
                  <c:v>Patient adherence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338118518518518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4BF-4DFA-9526-CCA0D9BE79C9}"/>
                </c:ext>
              </c:extLst>
            </c:dLbl>
            <c:dLbl>
              <c:idx val="1"/>
              <c:layout>
                <c:manualLayout>
                  <c:x val="-4.3411160313583268E-2"/>
                  <c:y val="-0.3477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4BF-4DFA-9526-CCA0D9BE79C9}"/>
                </c:ext>
              </c:extLst>
            </c:dLbl>
            <c:dLbl>
              <c:idx val="2"/>
              <c:layout>
                <c:manualLayout>
                  <c:x val="-4.3411160313583268E-2"/>
                  <c:y val="-0.3139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4BF-4DFA-9526-CCA0D9BE79C9}"/>
                </c:ext>
              </c:extLst>
            </c:dLbl>
            <c:dLbl>
              <c:idx val="3"/>
              <c:layout>
                <c:manualLayout>
                  <c:x val="-4.3411160313583268E-2"/>
                  <c:y val="-0.275381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4BF-4DFA-9526-CCA0D9BE79C9}"/>
                </c:ext>
              </c:extLst>
            </c:dLbl>
            <c:dLbl>
              <c:idx val="4"/>
              <c:layout>
                <c:manualLayout>
                  <c:x val="-4.3411160313583268E-2"/>
                  <c:y val="-0.285033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4BF-4DFA-9526-CCA0D9BE79C9}"/>
                </c:ext>
              </c:extLst>
            </c:dLbl>
            <c:dLbl>
              <c:idx val="5"/>
              <c:layout>
                <c:manualLayout>
                  <c:x val="-4.3411160313583268E-2"/>
                  <c:y val="-0.3139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4BF-4DFA-9526-CCA0D9BE79C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0.45</c:v>
                </c:pt>
                <c:pt idx="1">
                  <c:v>0.46</c:v>
                </c:pt>
                <c:pt idx="2">
                  <c:v>0.48</c:v>
                </c:pt>
                <c:pt idx="3">
                  <c:v>0.52</c:v>
                </c:pt>
                <c:pt idx="4">
                  <c:v>0.48</c:v>
                </c:pt>
                <c:pt idx="5">
                  <c:v>0.46</c:v>
                </c:pt>
                <c:pt idx="6">
                  <c:v>0.55</c:v>
                </c:pt>
                <c:pt idx="7">
                  <c:v>0.47</c:v>
                </c:pt>
                <c:pt idx="8">
                  <c:v>0.6</c:v>
                </c:pt>
                <c:pt idx="9">
                  <c:v>0.59</c:v>
                </c:pt>
                <c:pt idx="10">
                  <c:v>0.49</c:v>
                </c:pt>
                <c:pt idx="11">
                  <c:v>0.51</c:v>
                </c:pt>
                <c:pt idx="12">
                  <c:v>0.56</c:v>
                </c:pt>
                <c:pt idx="13">
                  <c:v>0.51</c:v>
                </c:pt>
                <c:pt idx="14">
                  <c:v>0.46</c:v>
                </c:pt>
              </c:numCache>
            </c:numRef>
          </c:val>
          <c:smooth val="0"/>
          <c:extLst>
            <c:ext xmlns:c16="http://schemas.microsoft.com/office/drawing/2014/chart" uri="{C3380CC4-5D6E-409C-BE32-E72D297353CC}">
              <c16:uniqueId val="{00000007-A9CC-4C02-ABDF-7A4DEA7CD8D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Successful personal experience with treatment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1992231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0ED-4490-8E4E-B35DC03707C9}"/>
                </c:ext>
              </c:extLst>
            </c:dLbl>
            <c:dLbl>
              <c:idx val="1"/>
              <c:layout>
                <c:manualLayout>
                  <c:x val="-4.3411160313583268E-2"/>
                  <c:y val="-0.194397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0ED-4490-8E4E-B35DC03707C9}"/>
                </c:ext>
              </c:extLst>
            </c:dLbl>
            <c:dLbl>
              <c:idx val="2"/>
              <c:layout>
                <c:manualLayout>
                  <c:x val="-4.3411160313583268E-2"/>
                  <c:y val="-0.2088750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0ED-4490-8E4E-B35DC03707C9}"/>
                </c:ext>
              </c:extLst>
            </c:dLbl>
            <c:dLbl>
              <c:idx val="3"/>
              <c:layout>
                <c:manualLayout>
                  <c:x val="-4.3411160313583268E-2"/>
                  <c:y val="-0.2233527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0ED-4490-8E4E-B35DC03707C9}"/>
                </c:ext>
              </c:extLst>
            </c:dLbl>
            <c:dLbl>
              <c:idx val="4"/>
              <c:layout>
                <c:manualLayout>
                  <c:x val="-4.3411160313583268E-2"/>
                  <c:y val="-0.242656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0ED-4490-8E4E-B35DC03707C9}"/>
                </c:ext>
              </c:extLst>
            </c:dLbl>
            <c:dLbl>
              <c:idx val="5"/>
              <c:layout>
                <c:manualLayout>
                  <c:x val="-4.3411160313583268E-2"/>
                  <c:y val="-0.237830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0ED-4490-8E4E-B35DC03707C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0.7</c:v>
                </c:pt>
                <c:pt idx="1">
                  <c:v>0.71</c:v>
                </c:pt>
                <c:pt idx="2">
                  <c:v>0.68</c:v>
                </c:pt>
                <c:pt idx="3">
                  <c:v>0.65</c:v>
                </c:pt>
                <c:pt idx="4">
                  <c:v>0.61</c:v>
                </c:pt>
                <c:pt idx="5">
                  <c:v>0.62</c:v>
                </c:pt>
                <c:pt idx="6">
                  <c:v>0.72</c:v>
                </c:pt>
                <c:pt idx="7">
                  <c:v>0.66</c:v>
                </c:pt>
                <c:pt idx="8">
                  <c:v>0.69</c:v>
                </c:pt>
                <c:pt idx="9">
                  <c:v>0.67</c:v>
                </c:pt>
                <c:pt idx="10">
                  <c:v>0.69</c:v>
                </c:pt>
                <c:pt idx="11">
                  <c:v>0.72</c:v>
                </c:pt>
                <c:pt idx="12">
                  <c:v>0.72</c:v>
                </c:pt>
                <c:pt idx="13">
                  <c:v>0.7</c:v>
                </c:pt>
                <c:pt idx="14">
                  <c:v>0.65</c:v>
                </c:pt>
              </c:numCache>
            </c:numRef>
          </c:val>
          <c:smooth val="0"/>
          <c:extLst>
            <c:ext xmlns:c16="http://schemas.microsoft.com/office/drawing/2014/chart" uri="{C3380CC4-5D6E-409C-BE32-E72D297353CC}">
              <c16:uniqueId val="{00000002-72CD-4C09-8975-B7C86357CE31}"/>
            </c:ext>
          </c:extLst>
        </c:ser>
        <c:ser>
          <c:idx val="1"/>
          <c:order val="1"/>
          <c:tx>
            <c:strRef>
              <c:f>Sheet1!$C$1</c:f>
              <c:strCache>
                <c:ptCount val="1"/>
                <c:pt idx="0">
                  <c:v>Successful personal experience with treatment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25806296296296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0ED-4490-8E4E-B35DC03707C9}"/>
                </c:ext>
              </c:extLst>
            </c:dLbl>
            <c:dLbl>
              <c:idx val="1"/>
              <c:layout>
                <c:manualLayout>
                  <c:x val="-4.3411160313583268E-2"/>
                  <c:y val="0.26276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0ED-4490-8E4E-B35DC03707C9}"/>
                </c:ext>
              </c:extLst>
            </c:dLbl>
            <c:dLbl>
              <c:idx val="2"/>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0ED-4490-8E4E-B35DC03707C9}"/>
                </c:ext>
              </c:extLst>
            </c:dLbl>
            <c:dLbl>
              <c:idx val="3"/>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0ED-4490-8E4E-B35DC03707C9}"/>
                </c:ext>
              </c:extLst>
            </c:dLbl>
            <c:dLbl>
              <c:idx val="4"/>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0ED-4490-8E4E-B35DC03707C9}"/>
                </c:ext>
              </c:extLst>
            </c:dLbl>
            <c:dLbl>
              <c:idx val="5"/>
              <c:layout>
                <c:manualLayout>
                  <c:x val="-4.3411160313583268E-2"/>
                  <c:y val="0.25323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0ED-4490-8E4E-B35DC03707C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0.52</c:v>
                </c:pt>
                <c:pt idx="1">
                  <c:v>0.56</c:v>
                </c:pt>
                <c:pt idx="2">
                  <c:v>0.58</c:v>
                </c:pt>
                <c:pt idx="3">
                  <c:v>0.55</c:v>
                </c:pt>
                <c:pt idx="4">
                  <c:v>0.53</c:v>
                </c:pt>
                <c:pt idx="5">
                  <c:v>0.51</c:v>
                </c:pt>
                <c:pt idx="6">
                  <c:v>0.56</c:v>
                </c:pt>
                <c:pt idx="7">
                  <c:v>0.51</c:v>
                </c:pt>
                <c:pt idx="8">
                  <c:v>0.58</c:v>
                </c:pt>
                <c:pt idx="9">
                  <c:v>0.6</c:v>
                </c:pt>
                <c:pt idx="10">
                  <c:v>0.54</c:v>
                </c:pt>
                <c:pt idx="11">
                  <c:v>0.54</c:v>
                </c:pt>
                <c:pt idx="12">
                  <c:v>0.58</c:v>
                </c:pt>
                <c:pt idx="13">
                  <c:v>0.53</c:v>
                </c:pt>
                <c:pt idx="14">
                  <c:v>0.48</c:v>
                </c:pt>
              </c:numCache>
            </c:numRef>
          </c:val>
          <c:smooth val="0"/>
          <c:extLst>
            <c:ext xmlns:c16="http://schemas.microsoft.com/office/drawing/2014/chart" uri="{C3380CC4-5D6E-409C-BE32-E72D297353CC}">
              <c16:uniqueId val="{00000005-72CD-4C09-8975-B7C86357CE3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Treatment is preferred by patients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B5E-4F57-9C14-A8C4385E1534}"/>
                </c:ext>
              </c:extLst>
            </c:dLbl>
            <c:dLbl>
              <c:idx val="1"/>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B5E-4F57-9C14-A8C4385E1534}"/>
                </c:ext>
              </c:extLst>
            </c:dLbl>
            <c:dLbl>
              <c:idx val="2"/>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B5E-4F57-9C14-A8C4385E1534}"/>
                </c:ext>
              </c:extLst>
            </c:dLbl>
            <c:dLbl>
              <c:idx val="3"/>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B5E-4F57-9C14-A8C4385E1534}"/>
                </c:ext>
              </c:extLst>
            </c:dLbl>
            <c:dLbl>
              <c:idx val="4"/>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B5E-4F57-9C14-A8C4385E1534}"/>
                </c:ext>
              </c:extLst>
            </c:dLbl>
            <c:dLbl>
              <c:idx val="5"/>
              <c:layout>
                <c:manualLayout>
                  <c:x val="-4.3411160313583268E-2"/>
                  <c:y val="-0.31009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B5E-4F57-9C14-A8C4385E153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0.41</c:v>
                </c:pt>
                <c:pt idx="1">
                  <c:v>0.38</c:v>
                </c:pt>
                <c:pt idx="2">
                  <c:v>0.37</c:v>
                </c:pt>
                <c:pt idx="3">
                  <c:v>0.36</c:v>
                </c:pt>
                <c:pt idx="4">
                  <c:v>0.32</c:v>
                </c:pt>
                <c:pt idx="5">
                  <c:v>0.38</c:v>
                </c:pt>
                <c:pt idx="6">
                  <c:v>0.49</c:v>
                </c:pt>
                <c:pt idx="7">
                  <c:v>0.36</c:v>
                </c:pt>
                <c:pt idx="8">
                  <c:v>0.47</c:v>
                </c:pt>
                <c:pt idx="9">
                  <c:v>0.5</c:v>
                </c:pt>
                <c:pt idx="10">
                  <c:v>0.44</c:v>
                </c:pt>
                <c:pt idx="11">
                  <c:v>0.47</c:v>
                </c:pt>
                <c:pt idx="12">
                  <c:v>0.47</c:v>
                </c:pt>
                <c:pt idx="13">
                  <c:v>0.49</c:v>
                </c:pt>
                <c:pt idx="14">
                  <c:v>0.36</c:v>
                </c:pt>
              </c:numCache>
            </c:numRef>
          </c:val>
          <c:smooth val="0"/>
          <c:extLst>
            <c:ext xmlns:c16="http://schemas.microsoft.com/office/drawing/2014/chart" uri="{C3380CC4-5D6E-409C-BE32-E72D297353CC}">
              <c16:uniqueId val="{00000003-E2AA-47D5-A232-05A26CAB59C0}"/>
            </c:ext>
          </c:extLst>
        </c:ser>
        <c:ser>
          <c:idx val="1"/>
          <c:order val="1"/>
          <c:tx>
            <c:strRef>
              <c:f>Sheet1!$C$1</c:f>
              <c:strCache>
                <c:ptCount val="1"/>
                <c:pt idx="0">
                  <c:v>Treatment is preferred by patients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185674074074074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B5E-4F57-9C14-A8C4385E1534}"/>
                </c:ext>
              </c:extLst>
            </c:dLbl>
            <c:dLbl>
              <c:idx val="1"/>
              <c:layout>
                <c:manualLayout>
                  <c:x val="-4.3411160313583268E-2"/>
                  <c:y val="0.1760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B5E-4F57-9C14-A8C4385E1534}"/>
                </c:ext>
              </c:extLst>
            </c:dLbl>
            <c:dLbl>
              <c:idx val="2"/>
              <c:layout>
                <c:manualLayout>
                  <c:x val="-4.3411160313583268E-2"/>
                  <c:y val="0.1760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B5E-4F57-9C14-A8C4385E1534}"/>
                </c:ext>
              </c:extLst>
            </c:dLbl>
            <c:dLbl>
              <c:idx val="3"/>
              <c:layout>
                <c:manualLayout>
                  <c:x val="-4.3411160313583268E-2"/>
                  <c:y val="0.15671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B5E-4F57-9C14-A8C4385E1534}"/>
                </c:ext>
              </c:extLst>
            </c:dLbl>
            <c:dLbl>
              <c:idx val="4"/>
              <c:layout>
                <c:manualLayout>
                  <c:x val="-4.3411160313583268E-2"/>
                  <c:y val="0.15189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B5E-4F57-9C14-A8C4385E1534}"/>
                </c:ext>
              </c:extLst>
            </c:dLbl>
            <c:dLbl>
              <c:idx val="5"/>
              <c:layout>
                <c:manualLayout>
                  <c:x val="-4.3411160313583268E-2"/>
                  <c:y val="0.1325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B5E-4F57-9C14-A8C4385E153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0.37</c:v>
                </c:pt>
                <c:pt idx="1">
                  <c:v>0.35</c:v>
                </c:pt>
                <c:pt idx="2">
                  <c:v>0.35</c:v>
                </c:pt>
                <c:pt idx="3">
                  <c:v>0.31</c:v>
                </c:pt>
                <c:pt idx="4">
                  <c:v>0.3</c:v>
                </c:pt>
                <c:pt idx="5">
                  <c:v>0.26</c:v>
                </c:pt>
                <c:pt idx="6">
                  <c:v>0.38</c:v>
                </c:pt>
                <c:pt idx="7">
                  <c:v>0.36</c:v>
                </c:pt>
                <c:pt idx="8">
                  <c:v>0.41</c:v>
                </c:pt>
                <c:pt idx="9">
                  <c:v>0.43</c:v>
                </c:pt>
                <c:pt idx="10">
                  <c:v>0.38</c:v>
                </c:pt>
                <c:pt idx="11">
                  <c:v>0.37</c:v>
                </c:pt>
                <c:pt idx="12">
                  <c:v>0.39</c:v>
                </c:pt>
                <c:pt idx="13">
                  <c:v>0.37</c:v>
                </c:pt>
                <c:pt idx="14">
                  <c:v>0.34</c:v>
                </c:pt>
              </c:numCache>
            </c:numRef>
          </c:val>
          <c:smooth val="0"/>
          <c:extLst>
            <c:ext xmlns:c16="http://schemas.microsoft.com/office/drawing/2014/chart" uri="{C3380CC4-5D6E-409C-BE32-E72D297353CC}">
              <c16:uniqueId val="{00000007-E2AA-47D5-A232-05A26CAB59C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Most dosing options - CREON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3411160313583268E-2"/>
                  <c:y val="0.229107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B21-4A0F-9696-DCC6545084FB}"/>
                </c:ext>
              </c:extLst>
            </c:dLbl>
            <c:dLbl>
              <c:idx val="1"/>
              <c:layout>
                <c:manualLayout>
                  <c:x val="-4.3411160313583268E-2"/>
                  <c:y val="0.26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B21-4A0F-9696-DCC6545084FB}"/>
                </c:ext>
              </c:extLst>
            </c:dLbl>
            <c:dLbl>
              <c:idx val="2"/>
              <c:layout>
                <c:manualLayout>
                  <c:x val="-4.3411160313583268E-2"/>
                  <c:y val="0.25323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B21-4A0F-9696-DCC6545084FB}"/>
                </c:ext>
              </c:extLst>
            </c:dLbl>
            <c:dLbl>
              <c:idx val="3"/>
              <c:layout>
                <c:manualLayout>
                  <c:x val="-4.3411160313583268E-2"/>
                  <c:y val="0.224281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B21-4A0F-9696-DCC6545084FB}"/>
                </c:ext>
              </c:extLst>
            </c:dLbl>
            <c:dLbl>
              <c:idx val="4"/>
              <c:layout>
                <c:manualLayout>
                  <c:x val="-4.3411160313583268E-2"/>
                  <c:y val="0.2001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85B-479D-933E-B4917262294A}"/>
                </c:ext>
              </c:extLst>
            </c:dLbl>
            <c:dLbl>
              <c:idx val="5"/>
              <c:layout>
                <c:manualLayout>
                  <c:x val="-4.3411160313583268E-2"/>
                  <c:y val="0.2049777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B21-4A0F-9696-DCC6545084F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0.46</c:v>
                </c:pt>
                <c:pt idx="1">
                  <c:v>0.54</c:v>
                </c:pt>
                <c:pt idx="2">
                  <c:v>0.51</c:v>
                </c:pt>
                <c:pt idx="3">
                  <c:v>0.45</c:v>
                </c:pt>
                <c:pt idx="4">
                  <c:v>0.4</c:v>
                </c:pt>
                <c:pt idx="5">
                  <c:v>0.41</c:v>
                </c:pt>
                <c:pt idx="6">
                  <c:v>0.53</c:v>
                </c:pt>
                <c:pt idx="7">
                  <c:v>0.41</c:v>
                </c:pt>
                <c:pt idx="8">
                  <c:v>0.52</c:v>
                </c:pt>
                <c:pt idx="9">
                  <c:v>0.53</c:v>
                </c:pt>
                <c:pt idx="10">
                  <c:v>0.46</c:v>
                </c:pt>
                <c:pt idx="11">
                  <c:v>0.49</c:v>
                </c:pt>
                <c:pt idx="12">
                  <c:v>0.51</c:v>
                </c:pt>
                <c:pt idx="13">
                  <c:v>0.49</c:v>
                </c:pt>
                <c:pt idx="14">
                  <c:v>0.4</c:v>
                </c:pt>
              </c:numCache>
            </c:numRef>
          </c:val>
          <c:smooth val="0"/>
          <c:extLst>
            <c:ext xmlns:c16="http://schemas.microsoft.com/office/drawing/2014/chart" uri="{C3380CC4-5D6E-409C-BE32-E72D297353CC}">
              <c16:uniqueId val="{00000006-CB21-4A0F-9696-DCC6545084FB}"/>
            </c:ext>
          </c:extLst>
        </c:ser>
        <c:ser>
          <c:idx val="1"/>
          <c:order val="1"/>
          <c:tx>
            <c:strRef>
              <c:f>Sheet1!$C$1</c:f>
              <c:strCache>
                <c:ptCount val="1"/>
                <c:pt idx="0">
                  <c:v>Most dosing options -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3411160313583268E-2"/>
                  <c:y val="-0.2571342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B21-4A0F-9696-DCC6545084FB}"/>
                </c:ext>
              </c:extLst>
            </c:dLbl>
            <c:dLbl>
              <c:idx val="1"/>
              <c:layout>
                <c:manualLayout>
                  <c:x val="-4.3411160313583268E-2"/>
                  <c:y val="-0.2474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B21-4A0F-9696-DCC6545084FB}"/>
                </c:ext>
              </c:extLst>
            </c:dLbl>
            <c:dLbl>
              <c:idx val="2"/>
              <c:layout>
                <c:manualLayout>
                  <c:x val="-4.3411160313583268E-2"/>
                  <c:y val="-0.2233527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B21-4A0F-9696-DCC6545084FB}"/>
                </c:ext>
              </c:extLst>
            </c:dLbl>
            <c:dLbl>
              <c:idx val="3"/>
              <c:layout>
                <c:manualLayout>
                  <c:x val="-4.3411160313583268E-2"/>
                  <c:y val="-0.242656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B21-4A0F-9696-DCC6545084FB}"/>
                </c:ext>
              </c:extLst>
            </c:dLbl>
            <c:dLbl>
              <c:idx val="4"/>
              <c:layout>
                <c:manualLayout>
                  <c:x val="-4.3411160313583268E-2"/>
                  <c:y val="-0.271612037037037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85B-479D-933E-B4917262294A}"/>
                </c:ext>
              </c:extLst>
            </c:dLbl>
            <c:dLbl>
              <c:idx val="5"/>
              <c:layout>
                <c:manualLayout>
                  <c:x val="-4.3411160313583268E-2"/>
                  <c:y val="-0.29091574074074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
                      <a:ea typeface=""/>
                      <a:cs typeface=""/>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B21-4A0F-9696-DCC6545084F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0.58</c:v>
                </c:pt>
                <c:pt idx="1">
                  <c:v>0.6</c:v>
                </c:pt>
                <c:pt idx="2">
                  <c:v>0.65</c:v>
                </c:pt>
                <c:pt idx="3">
                  <c:v>0.61</c:v>
                </c:pt>
                <c:pt idx="4">
                  <c:v>0.55</c:v>
                </c:pt>
                <c:pt idx="5">
                  <c:v>0.51</c:v>
                </c:pt>
                <c:pt idx="6">
                  <c:v>0.59</c:v>
                </c:pt>
                <c:pt idx="7">
                  <c:v>0.52</c:v>
                </c:pt>
                <c:pt idx="8">
                  <c:v>0.6</c:v>
                </c:pt>
                <c:pt idx="9">
                  <c:v>0.62</c:v>
                </c:pt>
                <c:pt idx="10">
                  <c:v>0.54</c:v>
                </c:pt>
                <c:pt idx="11">
                  <c:v>0.59</c:v>
                </c:pt>
                <c:pt idx="12">
                  <c:v>0.59</c:v>
                </c:pt>
                <c:pt idx="13">
                  <c:v>0.6</c:v>
                </c:pt>
                <c:pt idx="14">
                  <c:v>0.52</c:v>
                </c:pt>
              </c:numCache>
            </c:numRef>
          </c:val>
          <c:smooth val="0"/>
          <c:extLst>
            <c:ext xmlns:c16="http://schemas.microsoft.com/office/drawing/2014/chart" uri="{C3380CC4-5D6E-409C-BE32-E72D297353CC}">
              <c16:uniqueId val="{0000000D-CB21-4A0F-9696-DCC6545084F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Improves symptoms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3848160078475039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417-4C14-85B3-36B59EA0FD0E}"/>
                </c:ext>
              </c:extLst>
            </c:dLbl>
            <c:dLbl>
              <c:idx val="1"/>
              <c:layout>
                <c:manualLayout>
                  <c:x val="-5.2424639718686418E-2"/>
                  <c:y val="-0.42777844057371617"/>
                </c:manualLayout>
              </c:layout>
              <c:spPr>
                <a:noFill/>
                <a:ln>
                  <a:noFill/>
                </a:ln>
                <a:effectLst/>
              </c:spPr>
              <c:txPr>
                <a:bodyPr rot="0" spcFirstLastPara="1" vertOverflow="ellipsis" vert="horz" wrap="square" anchor="ctr" anchorCtr="1"/>
                <a:lstStyle/>
                <a:p>
                  <a:pPr algn="ctr" rtl="0">
                    <a:defRPr sz="900" b="0" i="0" u="none" strike="noStrike" kern="1200" baseline="0">
                      <a:solidFill>
                        <a:srgbClr val="497FA5"/>
                      </a:solidFill>
                      <a:latin typeface="Roboto (Body)"/>
                      <a:ea typeface="+mn-ea"/>
                      <a:cs typeface="+mn-cs"/>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417-4C14-85B3-36B59EA0FD0E}"/>
                </c:ext>
              </c:extLst>
            </c:dLbl>
            <c:dLbl>
              <c:idx val="2"/>
              <c:layout>
                <c:manualLayout>
                  <c:x val="-5.2424639718686418E-2"/>
                  <c:y val="-0.4277784405737161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417-4C14-85B3-36B59EA0FD0E}"/>
                </c:ext>
              </c:extLst>
            </c:dLbl>
            <c:dLbl>
              <c:idx val="3"/>
              <c:layout>
                <c:manualLayout>
                  <c:x val="-5.2424639718686418E-2"/>
                  <c:y val="-0.4277784405737161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417-4C14-85B3-36B59EA0FD0E}"/>
                </c:ext>
              </c:extLst>
            </c:dLbl>
            <c:dLbl>
              <c:idx val="4"/>
              <c:layout>
                <c:manualLayout>
                  <c:x val="-5.2424639718686418E-2"/>
                  <c:y val="-0.44925965693682229"/>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417-4C14-85B3-36B59EA0FD0E}"/>
                </c:ext>
              </c:extLst>
            </c:dLbl>
            <c:dLbl>
              <c:idx val="5"/>
              <c:layout>
                <c:manualLayout>
                  <c:x val="-5.2424639718686418E-2"/>
                  <c:y val="-0.438519048755269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417-4C14-85B3-36B59EA0FD0E}"/>
                </c:ext>
              </c:extLst>
            </c:dLbl>
            <c:spPr>
              <a:noFill/>
              <a:ln>
                <a:noFill/>
              </a:ln>
              <a:effectLst/>
            </c:spPr>
            <c:txPr>
              <a:bodyPr rot="0" spcFirstLastPara="1" vertOverflow="ellipsis" vert="horz" wrap="square" anchor="ctr" anchorCtr="1"/>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0.68</c:v>
                </c:pt>
                <c:pt idx="1">
                  <c:v>0.6</c:v>
                </c:pt>
                <c:pt idx="2">
                  <c:v>0.6</c:v>
                </c:pt>
                <c:pt idx="3">
                  <c:v>0.6</c:v>
                </c:pt>
                <c:pt idx="4">
                  <c:v>0.56000000000000005</c:v>
                </c:pt>
                <c:pt idx="5">
                  <c:v>0.57999999999999996</c:v>
                </c:pt>
              </c:numCache>
            </c:numRef>
          </c:val>
          <c:smooth val="0"/>
          <c:extLst>
            <c:ext xmlns:c16="http://schemas.microsoft.com/office/drawing/2014/chart" uri="{C3380CC4-5D6E-409C-BE32-E72D297353CC}">
              <c16:uniqueId val="{00000000-C417-4C14-85B3-36B59EA0FD0E}"/>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rgbClr val="497FA5"/>
          </a:solidFill>
          <a:latin typeface="Roboto (Body)"/>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Highest efficacy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731468225562713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EB4-4203-9D66-1C10FD8C5CBC}"/>
                </c:ext>
              </c:extLst>
            </c:dLbl>
            <c:dLbl>
              <c:idx val="1"/>
              <c:layout>
                <c:manualLayout>
                  <c:x val="-5.2424639718686418E-2"/>
                  <c:y val="-0.4546283040377528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EB4-4203-9D66-1C10FD8C5CBC}"/>
                </c:ext>
              </c:extLst>
            </c:dLbl>
            <c:dLbl>
              <c:idx val="2"/>
              <c:layout>
                <c:manualLayout>
                  <c:x val="-5.2424639718686418E-2"/>
                  <c:y val="-0.4462969590922346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EB4-4203-9D66-1C10FD8C5CBC}"/>
                </c:ext>
              </c:extLst>
            </c:dLbl>
            <c:dLbl>
              <c:idx val="3"/>
              <c:layout>
                <c:manualLayout>
                  <c:x val="-5.2424639718686418E-2"/>
                  <c:y val="-0.4731468225562713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EB4-4203-9D66-1C10FD8C5CBC}"/>
                </c:ext>
              </c:extLst>
            </c:dLbl>
            <c:dLbl>
              <c:idx val="4"/>
              <c:layout>
                <c:manualLayout>
                  <c:x val="-5.2424639718686418E-2"/>
                  <c:y val="-0.4060188499164877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EB4-4203-9D66-1C10FD8C5CBC}"/>
                </c:ext>
              </c:extLst>
            </c:dLbl>
            <c:dLbl>
              <c:idx val="5"/>
              <c:layout>
                <c:manualLayout>
                  <c:x val="-5.2424639718686418E-2"/>
                  <c:y val="-0.4731468225562713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EB4-4203-9D66-1C10FD8C5CBC}"/>
                </c:ext>
              </c:extLst>
            </c:dLbl>
            <c:spPr>
              <a:noFill/>
              <a:ln>
                <a:noFill/>
              </a:ln>
              <a:effectLst/>
            </c:spPr>
            <c:txPr>
              <a:bodyPr rot="0" spcFirstLastPara="1" vertOverflow="ellipsis" vert="horz" wrap="square" anchor="ctr" anchorCtr="1"/>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0.57999999999999996</c:v>
                </c:pt>
                <c:pt idx="1">
                  <c:v>0.62</c:v>
                </c:pt>
                <c:pt idx="2">
                  <c:v>0.56000000000000005</c:v>
                </c:pt>
                <c:pt idx="3">
                  <c:v>0.57999999999999996</c:v>
                </c:pt>
                <c:pt idx="4">
                  <c:v>0.53</c:v>
                </c:pt>
                <c:pt idx="5">
                  <c:v>0.57999999999999996</c:v>
                </c:pt>
              </c:numCache>
            </c:numRef>
          </c:val>
          <c:smooth val="0"/>
          <c:extLst>
            <c:ext xmlns:c16="http://schemas.microsoft.com/office/drawing/2014/chart" uri="{C3380CC4-5D6E-409C-BE32-E72D297353CC}">
              <c16:uniqueId val="{00000002-8EB4-4203-9D66-1C10FD8C5CBC}"/>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rgbClr val="497FA5"/>
          </a:solidFill>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Benefits patient outcomes beyond symptom relief</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385190487552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089-4DEA-84CA-EE51AEF7A3A1}"/>
                </c:ext>
              </c:extLst>
            </c:dLbl>
            <c:dLbl>
              <c:idx val="1"/>
              <c:layout>
                <c:manualLayout>
                  <c:x val="-5.2424639718686418E-2"/>
                  <c:y val="-0.427778440573716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089-4DEA-84CA-EE51AEF7A3A1}"/>
                </c:ext>
              </c:extLst>
            </c:dLbl>
            <c:dLbl>
              <c:idx val="2"/>
              <c:layout>
                <c:manualLayout>
                  <c:x val="-5.2424639718686418E-2"/>
                  <c:y val="-0.46536891221930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089-4DEA-84CA-EE51AEF7A3A1}"/>
                </c:ext>
              </c:extLst>
            </c:dLbl>
            <c:dLbl>
              <c:idx val="3"/>
              <c:layout>
                <c:manualLayout>
                  <c:x val="-5.2424639718686418E-2"/>
                  <c:y val="-0.476109520400858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089-4DEA-84CA-EE51AEF7A3A1}"/>
                </c:ext>
              </c:extLst>
            </c:dLbl>
            <c:dLbl>
              <c:idx val="4"/>
              <c:layout>
                <c:manualLayout>
                  <c:x val="-5.2424639718686418E-2"/>
                  <c:y val="-0.478518783636893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089-4DEA-84CA-EE51AEF7A3A1}"/>
                </c:ext>
              </c:extLst>
            </c:dLbl>
            <c:dLbl>
              <c:idx val="5"/>
              <c:layout>
                <c:manualLayout>
                  <c:x val="-5.2424639718686418E-2"/>
                  <c:y val="-0.473146822556271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089-4DEA-84CA-EE51AEF7A3A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0.57999999999999996</c:v>
                </c:pt>
                <c:pt idx="1">
                  <c:v>0.6</c:v>
                </c:pt>
                <c:pt idx="2">
                  <c:v>0.53</c:v>
                </c:pt>
                <c:pt idx="3">
                  <c:v>0.51</c:v>
                </c:pt>
                <c:pt idx="4">
                  <c:v>0.46</c:v>
                </c:pt>
                <c:pt idx="5">
                  <c:v>0.45</c:v>
                </c:pt>
              </c:numCache>
            </c:numRef>
          </c:val>
          <c:smooth val="0"/>
          <c:extLst>
            <c:ext xmlns:c16="http://schemas.microsoft.com/office/drawing/2014/chart" uri="{C3380CC4-5D6E-409C-BE32-E72D297353CC}">
              <c16:uniqueId val="{00000002-5089-4DEA-84CA-EE51AEF7A3A1}"/>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Best formulary / insurance coverage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761095204008589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E59-4D00-99C0-D6968B6906DA}"/>
                </c:ext>
              </c:extLst>
            </c:dLbl>
            <c:dLbl>
              <c:idx val="1"/>
              <c:layout>
                <c:manualLayout>
                  <c:x val="-5.2424639718686418E-2"/>
                  <c:y val="-0.4785187836368938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E59-4D00-99C0-D6968B6906DA}"/>
                </c:ext>
              </c:extLst>
            </c:dLbl>
            <c:dLbl>
              <c:idx val="2"/>
              <c:layout>
                <c:manualLayout>
                  <c:x val="-5.2424639718686418E-2"/>
                  <c:y val="-0.4677781754553407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E59-4D00-99C0-D6968B6906DA}"/>
                </c:ext>
              </c:extLst>
            </c:dLbl>
            <c:dLbl>
              <c:idx val="3"/>
              <c:layout>
                <c:manualLayout>
                  <c:x val="-5.2424639718686418E-2"/>
                  <c:y val="-0.4761095204008589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E59-4D00-99C0-D6968B6906DA}"/>
                </c:ext>
              </c:extLst>
            </c:dLbl>
            <c:dLbl>
              <c:idx val="4"/>
              <c:layout>
                <c:manualLayout>
                  <c:x val="-5.2424639718686418E-2"/>
                  <c:y val="-0.4570375672737877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E59-4D00-99C0-D6968B6906DA}"/>
                </c:ext>
              </c:extLst>
            </c:dLbl>
            <c:dLbl>
              <c:idx val="5"/>
              <c:layout>
                <c:manualLayout>
                  <c:x val="-5.2424639718686418E-2"/>
                  <c:y val="-0.4516656061931652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E59-4D00-99C0-D6968B6906DA}"/>
                </c:ext>
              </c:extLst>
            </c:dLbl>
            <c:spPr>
              <a:noFill/>
              <a:ln>
                <a:noFill/>
              </a:ln>
              <a:effectLst/>
            </c:spPr>
            <c:txPr>
              <a:bodyPr rot="0" spcFirstLastPara="1" vertOverflow="ellipsis" vert="horz" wrap="square" anchor="ctr" anchorCtr="1"/>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0.51</c:v>
                </c:pt>
                <c:pt idx="1">
                  <c:v>0.46</c:v>
                </c:pt>
                <c:pt idx="2">
                  <c:v>0.44</c:v>
                </c:pt>
                <c:pt idx="3">
                  <c:v>0.51</c:v>
                </c:pt>
                <c:pt idx="4">
                  <c:v>0.42</c:v>
                </c:pt>
                <c:pt idx="5">
                  <c:v>0.41</c:v>
                </c:pt>
              </c:numCache>
            </c:numRef>
          </c:val>
          <c:smooth val="0"/>
          <c:extLst>
            <c:ext xmlns:c16="http://schemas.microsoft.com/office/drawing/2014/chart" uri="{C3380CC4-5D6E-409C-BE32-E72D297353CC}">
              <c16:uniqueId val="{00000002-DE59-4D00-99C0-D6968B6906DA}"/>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rgbClr val="497FA5"/>
          </a:solidFill>
          <a:latin typeface="Roboto (Body)"/>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Easiest to prescribe (less impact on practice resources)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5462830403775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C4F-4EA2-BE83-0E68D59D6402}"/>
                </c:ext>
              </c:extLst>
            </c:dLbl>
            <c:dLbl>
              <c:idx val="1"/>
              <c:layout>
                <c:manualLayout>
                  <c:x val="-5.2424639718686418E-2"/>
                  <c:y val="-0.427778440573716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C4F-4EA2-BE83-0E68D59D6402}"/>
                </c:ext>
              </c:extLst>
            </c:dLbl>
            <c:dLbl>
              <c:idx val="2"/>
              <c:layout>
                <c:manualLayout>
                  <c:x val="-5.2424639718686418E-2"/>
                  <c:y val="-0.338887563297012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C4F-4EA2-BE83-0E68D59D6402}"/>
                </c:ext>
              </c:extLst>
            </c:dLbl>
            <c:dLbl>
              <c:idx val="3"/>
              <c:layout>
                <c:manualLayout>
                  <c:x val="-5.2424639718686418E-2"/>
                  <c:y val="-0.39259391818446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C4F-4EA2-BE83-0E68D59D6402}"/>
                </c:ext>
              </c:extLst>
            </c:dLbl>
            <c:dLbl>
              <c:idx val="4"/>
              <c:layout>
                <c:manualLayout>
                  <c:x val="-5.2424639718686418E-2"/>
                  <c:y val="-0.338887563297012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C4F-4EA2-BE83-0E68D59D6402}"/>
                </c:ext>
              </c:extLst>
            </c:dLbl>
            <c:dLbl>
              <c:idx val="5"/>
              <c:layout>
                <c:manualLayout>
                  <c:x val="-5.2424639718686418E-2"/>
                  <c:y val="-0.419443781648506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C4F-4EA2-BE83-0E68D59D6402}"/>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0.51</c:v>
                </c:pt>
                <c:pt idx="1">
                  <c:v>0.52</c:v>
                </c:pt>
                <c:pt idx="2">
                  <c:v>0.44</c:v>
                </c:pt>
                <c:pt idx="3">
                  <c:v>0.46</c:v>
                </c:pt>
                <c:pt idx="4">
                  <c:v>0.44</c:v>
                </c:pt>
                <c:pt idx="5">
                  <c:v>0.47</c:v>
                </c:pt>
              </c:numCache>
            </c:numRef>
          </c:val>
          <c:smooth val="0"/>
          <c:extLst>
            <c:ext xmlns:c16="http://schemas.microsoft.com/office/drawing/2014/chart" uri="{C3380CC4-5D6E-409C-BE32-E72D297353CC}">
              <c16:uniqueId val="{00000002-0C4F-4EA2-BE83-0E68D59D6402}"/>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Patient Support Programs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73146822556271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2EB-48A9-BF52-FE3194F51CC8}"/>
                </c:ext>
              </c:extLst>
            </c:dLbl>
            <c:dLbl>
              <c:idx val="1"/>
              <c:layout>
                <c:manualLayout>
                  <c:x val="-5.2424639718686418E-2"/>
                  <c:y val="-0.433147087674646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2EB-48A9-BF52-FE3194F51CC8}"/>
                </c:ext>
              </c:extLst>
            </c:dLbl>
            <c:dLbl>
              <c:idx val="2"/>
              <c:layout>
                <c:manualLayout>
                  <c:x val="-5.2424639718686418E-2"/>
                  <c:y val="-0.449259656936822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2EB-48A9-BF52-FE3194F51CC8}"/>
                </c:ext>
              </c:extLst>
            </c:dLbl>
            <c:dLbl>
              <c:idx val="3"/>
              <c:layout>
                <c:manualLayout>
                  <c:x val="-5.2424639718686418E-2"/>
                  <c:y val="-0.46536891221930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2EB-48A9-BF52-FE3194F51CC8}"/>
                </c:ext>
              </c:extLst>
            </c:dLbl>
            <c:dLbl>
              <c:idx val="4"/>
              <c:layout>
                <c:manualLayout>
                  <c:x val="-5.2424639718686418E-2"/>
                  <c:y val="-0.45703756727378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2EB-48A9-BF52-FE3194F51CC8}"/>
                </c:ext>
              </c:extLst>
            </c:dLbl>
            <c:dLbl>
              <c:idx val="5"/>
              <c:layout>
                <c:manualLayout>
                  <c:x val="-5.2424639718686418E-2"/>
                  <c:y val="-0.473146822556271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2EB-48A9-BF52-FE3194F51CC8}"/>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0.45</c:v>
                </c:pt>
                <c:pt idx="1">
                  <c:v>0.59</c:v>
                </c:pt>
                <c:pt idx="2">
                  <c:v>0.56000000000000005</c:v>
                </c:pt>
                <c:pt idx="3">
                  <c:v>0.53</c:v>
                </c:pt>
                <c:pt idx="4">
                  <c:v>0.42</c:v>
                </c:pt>
                <c:pt idx="5">
                  <c:v>0.45</c:v>
                </c:pt>
              </c:numCache>
            </c:numRef>
          </c:val>
          <c:smooth val="0"/>
          <c:extLst>
            <c:ext xmlns:c16="http://schemas.microsoft.com/office/drawing/2014/chart" uri="{C3380CC4-5D6E-409C-BE32-E72D297353CC}">
              <c16:uniqueId val="{00000002-82EB-48A9-BF52-FE3194F51CC8}"/>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Co-pay assistance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309628436596940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FDC-4727-B91C-14203FE451C4}"/>
                </c:ext>
              </c:extLst>
            </c:dLbl>
            <c:dLbl>
              <c:idx val="1"/>
              <c:layout>
                <c:manualLayout>
                  <c:x val="-5.2424639718686418E-2"/>
                  <c:y val="-0.309628436596940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FDC-4727-B91C-14203FE451C4}"/>
                </c:ext>
              </c:extLst>
            </c:dLbl>
            <c:dLbl>
              <c:idx val="2"/>
              <c:layout>
                <c:manualLayout>
                  <c:x val="-5.2424639718686418E-2"/>
                  <c:y val="-0.33110965296004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FDC-4727-B91C-14203FE451C4}"/>
                </c:ext>
              </c:extLst>
            </c:dLbl>
            <c:dLbl>
              <c:idx val="3"/>
              <c:layout>
                <c:manualLayout>
                  <c:x val="-5.2424639718686418E-2"/>
                  <c:y val="-0.33110965296004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FDC-4727-B91C-14203FE451C4}"/>
                </c:ext>
              </c:extLst>
            </c:dLbl>
            <c:dLbl>
              <c:idx val="4"/>
              <c:layout>
                <c:manualLayout>
                  <c:x val="-5.2424639718686418E-2"/>
                  <c:y val="-0.4385190487552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FDC-4727-B91C-14203FE451C4}"/>
                </c:ext>
              </c:extLst>
            </c:dLbl>
            <c:dLbl>
              <c:idx val="5"/>
              <c:layout>
                <c:manualLayout>
                  <c:x val="-5.2424639718686418E-2"/>
                  <c:y val="-0.35259418330284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FDC-4727-B91C-14203FE451C4}"/>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0.41</c:v>
                </c:pt>
                <c:pt idx="2">
                  <c:v>0.39</c:v>
                </c:pt>
                <c:pt idx="3">
                  <c:v>0.39</c:v>
                </c:pt>
                <c:pt idx="4">
                  <c:v>0.28999999999999998</c:v>
                </c:pt>
                <c:pt idx="5">
                  <c:v>0.37</c:v>
                </c:pt>
              </c:numCache>
            </c:numRef>
          </c:val>
          <c:smooth val="0"/>
          <c:extLst>
            <c:ext xmlns:c16="http://schemas.microsoft.com/office/drawing/2014/chart" uri="{C3380CC4-5D6E-409C-BE32-E72D297353CC}">
              <c16:uniqueId val="{00000002-3FDC-4727-B91C-14203FE451C4}"/>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Lowest treatment cost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374075399665950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929-4742-A7CB-053EEF66C489}"/>
                </c:ext>
              </c:extLst>
            </c:dLbl>
            <c:dLbl>
              <c:idx val="1"/>
              <c:layout>
                <c:manualLayout>
                  <c:x val="-5.2424639718686418E-2"/>
                  <c:y val="-0.374075399665950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929-4742-A7CB-053EEF66C489}"/>
                </c:ext>
              </c:extLst>
            </c:dLbl>
            <c:dLbl>
              <c:idx val="2"/>
              <c:layout>
                <c:manualLayout>
                  <c:x val="-5.2424639718686418E-2"/>
                  <c:y val="-0.35259418330284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929-4742-A7CB-053EEF66C489}"/>
                </c:ext>
              </c:extLst>
            </c:dLbl>
            <c:dLbl>
              <c:idx val="3"/>
              <c:layout>
                <c:manualLayout>
                  <c:x val="-5.2424639718686418E-2"/>
                  <c:y val="-0.320369044778493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929-4742-A7CB-053EEF66C489}"/>
                </c:ext>
              </c:extLst>
            </c:dLbl>
            <c:dLbl>
              <c:idx val="4"/>
              <c:layout>
                <c:manualLayout>
                  <c:x val="-5.2424639718686418E-2"/>
                  <c:y val="-0.40629722421061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929-4742-A7CB-053EEF66C489}"/>
                </c:ext>
              </c:extLst>
            </c:dLbl>
            <c:dLbl>
              <c:idx val="5"/>
              <c:layout>
                <c:manualLayout>
                  <c:x val="-5.2424639718686418E-2"/>
                  <c:y val="-0.40629722421061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929-4742-A7CB-053EEF66C489}"/>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0.35</c:v>
                </c:pt>
                <c:pt idx="1">
                  <c:v>0.35</c:v>
                </c:pt>
                <c:pt idx="2">
                  <c:v>0.37</c:v>
                </c:pt>
                <c:pt idx="3">
                  <c:v>0.4</c:v>
                </c:pt>
                <c:pt idx="4">
                  <c:v>0.32</c:v>
                </c:pt>
                <c:pt idx="5">
                  <c:v>0.32</c:v>
                </c:pt>
              </c:numCache>
            </c:numRef>
          </c:val>
          <c:smooth val="0"/>
          <c:extLst>
            <c:ext xmlns:c16="http://schemas.microsoft.com/office/drawing/2014/chart" uri="{C3380CC4-5D6E-409C-BE32-E72D297353CC}">
              <c16:uniqueId val="{00000002-F929-4742-A7CB-053EEF66C489}"/>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Simplest dosing</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0629722421061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21A-4DFE-B4F9-D1B57AF073E3}"/>
                </c:ext>
              </c:extLst>
            </c:dLbl>
            <c:dLbl>
              <c:idx val="1"/>
              <c:layout>
                <c:manualLayout>
                  <c:x val="-5.2424639718686418E-2"/>
                  <c:y val="-0.320369044778493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21A-4DFE-B4F9-D1B57AF073E3}"/>
                </c:ext>
              </c:extLst>
            </c:dLbl>
            <c:dLbl>
              <c:idx val="2"/>
              <c:layout>
                <c:manualLayout>
                  <c:x val="-5.2424639718686418E-2"/>
                  <c:y val="-0.374075399665950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21A-4DFE-B4F9-D1B57AF073E3}"/>
                </c:ext>
              </c:extLst>
            </c:dLbl>
            <c:dLbl>
              <c:idx val="3"/>
              <c:layout>
                <c:manualLayout>
                  <c:x val="-5.2424639718686418E-2"/>
                  <c:y val="-0.320369044778493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21A-4DFE-B4F9-D1B57AF073E3}"/>
                </c:ext>
              </c:extLst>
            </c:dLbl>
            <c:dLbl>
              <c:idx val="4"/>
              <c:layout>
                <c:manualLayout>
                  <c:x val="-5.2424639718686418E-2"/>
                  <c:y val="-0.40629722421061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21A-4DFE-B4F9-D1B57AF073E3}"/>
                </c:ext>
              </c:extLst>
            </c:dLbl>
            <c:dLbl>
              <c:idx val="5"/>
              <c:layout>
                <c:manualLayout>
                  <c:x val="-5.2424639718686418E-2"/>
                  <c:y val="-0.36333479148439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21A-4DFE-B4F9-D1B57AF073E3}"/>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0.32</c:v>
                </c:pt>
                <c:pt idx="1">
                  <c:v>0.4</c:v>
                </c:pt>
                <c:pt idx="2">
                  <c:v>0.35</c:v>
                </c:pt>
                <c:pt idx="3">
                  <c:v>0.4</c:v>
                </c:pt>
                <c:pt idx="4">
                  <c:v>0.32</c:v>
                </c:pt>
                <c:pt idx="5">
                  <c:v>0.36</c:v>
                </c:pt>
              </c:numCache>
            </c:numRef>
          </c:val>
          <c:smooth val="0"/>
          <c:extLst>
            <c:ext xmlns:c16="http://schemas.microsoft.com/office/drawing/2014/chart" uri="{C3380CC4-5D6E-409C-BE32-E72D297353CC}">
              <c16:uniqueId val="{00000002-E21A-4DFE-B4F9-D1B57AF073E3}"/>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Dosing flexibility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33147087674646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ACE-48FB-8E9B-35704F975D18}"/>
                </c:ext>
              </c:extLst>
            </c:dLbl>
            <c:dLbl>
              <c:idx val="1"/>
              <c:layout>
                <c:manualLayout>
                  <c:x val="-5.2424639718686418E-2"/>
                  <c:y val="-0.44388769585619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ACE-48FB-8E9B-35704F975D18}"/>
                </c:ext>
              </c:extLst>
            </c:dLbl>
            <c:dLbl>
              <c:idx val="2"/>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ACE-48FB-8E9B-35704F975D18}"/>
                </c:ext>
              </c:extLst>
            </c:dLbl>
            <c:dLbl>
              <c:idx val="3"/>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ACE-48FB-8E9B-35704F975D18}"/>
                </c:ext>
              </c:extLst>
            </c:dLbl>
            <c:dLbl>
              <c:idx val="4"/>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ACE-48FB-8E9B-35704F975D18}"/>
                </c:ext>
              </c:extLst>
            </c:dLbl>
            <c:dLbl>
              <c:idx val="5"/>
              <c:layout>
                <c:manualLayout>
                  <c:x val="-5.2424639718686418E-2"/>
                  <c:y val="-0.476109520400858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ACE-48FB-8E9B-35704F975D18}"/>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0.59</c:v>
                </c:pt>
                <c:pt idx="1">
                  <c:v>0.56999999999999995</c:v>
                </c:pt>
                <c:pt idx="2">
                  <c:v>0.5</c:v>
                </c:pt>
                <c:pt idx="3">
                  <c:v>0.47</c:v>
                </c:pt>
                <c:pt idx="4">
                  <c:v>0.47</c:v>
                </c:pt>
                <c:pt idx="5">
                  <c:v>0.51</c:v>
                </c:pt>
              </c:numCache>
            </c:numRef>
          </c:val>
          <c:smooth val="0"/>
          <c:extLst>
            <c:ext xmlns:c16="http://schemas.microsoft.com/office/drawing/2014/chart" uri="{C3380CC4-5D6E-409C-BE32-E72D297353CC}">
              <c16:uniqueId val="{00000002-CACE-48FB-8E9B-35704F975D18}"/>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Patient adherence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309628436596940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009-4AF3-8C20-6CA706D371FD}"/>
                </c:ext>
              </c:extLst>
            </c:dLbl>
            <c:dLbl>
              <c:idx val="1"/>
              <c:layout>
                <c:manualLayout>
                  <c:x val="-5.2424639718686418E-2"/>
                  <c:y val="-0.288147220233834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009-4AF3-8C20-6CA706D371FD}"/>
                </c:ext>
              </c:extLst>
            </c:dLbl>
            <c:dLbl>
              <c:idx val="2"/>
              <c:layout>
                <c:manualLayout>
                  <c:x val="-5.2424639718686418E-2"/>
                  <c:y val="-0.33110965296004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009-4AF3-8C20-6CA706D371FD}"/>
                </c:ext>
              </c:extLst>
            </c:dLbl>
            <c:dLbl>
              <c:idx val="3"/>
              <c:layout>
                <c:manualLayout>
                  <c:x val="-5.2424639718686418E-2"/>
                  <c:y val="-0.374075399665950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009-4AF3-8C20-6CA706D371FD}"/>
                </c:ext>
              </c:extLst>
            </c:dLbl>
            <c:dLbl>
              <c:idx val="4"/>
              <c:layout>
                <c:manualLayout>
                  <c:x val="-5.2424639718686418E-2"/>
                  <c:y val="-0.33110965296004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009-4AF3-8C20-6CA706D371FD}"/>
                </c:ext>
              </c:extLst>
            </c:dLbl>
            <c:dLbl>
              <c:idx val="5"/>
              <c:layout>
                <c:manualLayout>
                  <c:x val="-5.2424639718686418E-2"/>
                  <c:y val="-0.288147220233834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009-4AF3-8C20-6CA706D371FD}"/>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0.43</c:v>
                </c:pt>
                <c:pt idx="2">
                  <c:v>0.39</c:v>
                </c:pt>
                <c:pt idx="3">
                  <c:v>0.35</c:v>
                </c:pt>
                <c:pt idx="4">
                  <c:v>0.39</c:v>
                </c:pt>
                <c:pt idx="5">
                  <c:v>0.43</c:v>
                </c:pt>
              </c:numCache>
            </c:numRef>
          </c:val>
          <c:smooth val="0"/>
          <c:extLst>
            <c:ext xmlns:c16="http://schemas.microsoft.com/office/drawing/2014/chart" uri="{C3380CC4-5D6E-409C-BE32-E72D297353CC}">
              <c16:uniqueId val="{00000002-D009-4AF3-8C20-6CA706D371FD}"/>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Most dosing options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78518783636893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11F-43AF-8714-7CBE5F0139DE}"/>
                </c:ext>
              </c:extLst>
            </c:dLbl>
            <c:dLbl>
              <c:idx val="1"/>
              <c:layout>
                <c:manualLayout>
                  <c:x val="-5.2424639718686418E-2"/>
                  <c:y val="-0.427778440573716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11F-43AF-8714-7CBE5F0139DE}"/>
                </c:ext>
              </c:extLst>
            </c:dLbl>
            <c:dLbl>
              <c:idx val="2"/>
              <c:layout>
                <c:manualLayout>
                  <c:x val="-5.2424639718686418E-2"/>
                  <c:y val="-0.4385190487552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11F-43AF-8714-7CBE5F0139DE}"/>
                </c:ext>
              </c:extLst>
            </c:dLbl>
            <c:dLbl>
              <c:idx val="3"/>
              <c:layout>
                <c:manualLayout>
                  <c:x val="-5.2424639718686418E-2"/>
                  <c:y val="-0.46536891221930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1F-43AF-8714-7CBE5F0139DE}"/>
                </c:ext>
              </c:extLst>
            </c:dLbl>
            <c:dLbl>
              <c:idx val="4"/>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11F-43AF-8714-7CBE5F0139DE}"/>
                </c:ext>
              </c:extLst>
            </c:dLbl>
            <c:dLbl>
              <c:idx val="5"/>
              <c:layout>
                <c:manualLayout>
                  <c:x val="-5.2424639718686418E-2"/>
                  <c:y val="-0.473146822556271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11F-43AF-8714-7CBE5F0139DE}"/>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0.46</c:v>
                </c:pt>
                <c:pt idx="1">
                  <c:v>0.6</c:v>
                </c:pt>
                <c:pt idx="2">
                  <c:v>0.57999999999999996</c:v>
                </c:pt>
                <c:pt idx="3">
                  <c:v>0.53</c:v>
                </c:pt>
                <c:pt idx="4">
                  <c:v>0.47</c:v>
                </c:pt>
                <c:pt idx="5">
                  <c:v>0.45</c:v>
                </c:pt>
              </c:numCache>
            </c:numRef>
          </c:val>
          <c:smooth val="0"/>
          <c:extLst>
            <c:ext xmlns:c16="http://schemas.microsoft.com/office/drawing/2014/chart" uri="{C3380CC4-5D6E-409C-BE32-E72D297353CC}">
              <c16:uniqueId val="{00000002-F11F-43AF-8714-7CBE5F0139DE}"/>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Most favorable safety profile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22406479493093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3E5-45AB-838F-F68DC19E136A}"/>
                </c:ext>
              </c:extLst>
            </c:dLbl>
            <c:dLbl>
              <c:idx val="1"/>
              <c:layout>
                <c:manualLayout>
                  <c:x val="-5.2424639718686418E-2"/>
                  <c:y val="-0.427778440573716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E5-45AB-838F-F68DC19E136A}"/>
                </c:ext>
              </c:extLst>
            </c:dLbl>
            <c:dLbl>
              <c:idx val="2"/>
              <c:layout>
                <c:manualLayout>
                  <c:x val="-5.2424639718686418E-2"/>
                  <c:y val="-0.470740873299928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E5-45AB-838F-F68DC19E136A}"/>
                </c:ext>
              </c:extLst>
            </c:dLbl>
            <c:dLbl>
              <c:idx val="3"/>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3E5-45AB-838F-F68DC19E136A}"/>
                </c:ext>
              </c:extLst>
            </c:dLbl>
            <c:dLbl>
              <c:idx val="4"/>
              <c:layout>
                <c:manualLayout>
                  <c:x val="-5.2424639718686418E-2"/>
                  <c:y val="-0.45703756727378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3E5-45AB-838F-F68DC19E136A}"/>
                </c:ext>
              </c:extLst>
            </c:dLbl>
            <c:dLbl>
              <c:idx val="5"/>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3E5-45AB-838F-F68DC19E136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0.61</c:v>
                </c:pt>
                <c:pt idx="1">
                  <c:v>0.6</c:v>
                </c:pt>
                <c:pt idx="2">
                  <c:v>0.52</c:v>
                </c:pt>
                <c:pt idx="3">
                  <c:v>0.47</c:v>
                </c:pt>
                <c:pt idx="4">
                  <c:v>0.42</c:v>
                </c:pt>
                <c:pt idx="5">
                  <c:v>0.49</c:v>
                </c:pt>
              </c:numCache>
            </c:numRef>
          </c:val>
          <c:smooth val="0"/>
          <c:extLst>
            <c:ext xmlns:c16="http://schemas.microsoft.com/office/drawing/2014/chart" uri="{C3380CC4-5D6E-409C-BE32-E72D297353CC}">
              <c16:uniqueId val="{00000002-03E5-45AB-838F-F68DC19E136A}"/>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Successful personal experience with treatment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473146822556271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BBD-44AB-A301-11ECAA6094D4}"/>
                </c:ext>
              </c:extLst>
            </c:dLbl>
            <c:dLbl>
              <c:idx val="1"/>
              <c:layout>
                <c:manualLayout>
                  <c:x val="-5.24246397186864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BBD-44AB-A301-11ECAA6094D4}"/>
                </c:ext>
              </c:extLst>
            </c:dLbl>
            <c:dLbl>
              <c:idx val="2"/>
              <c:layout>
                <c:manualLayout>
                  <c:x val="-5.2424639718686418E-2"/>
                  <c:y val="-0.39259391818446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BBD-44AB-A301-11ECAA6094D4}"/>
                </c:ext>
              </c:extLst>
            </c:dLbl>
            <c:dLbl>
              <c:idx val="3"/>
              <c:layout>
                <c:manualLayout>
                  <c:x val="-5.2424639718686418E-2"/>
                  <c:y val="-0.419443781648506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BBD-44AB-A301-11ECAA6094D4}"/>
                </c:ext>
              </c:extLst>
            </c:dLbl>
            <c:dLbl>
              <c:idx val="4"/>
              <c:layout>
                <c:manualLayout>
                  <c:x val="-5.2424639718686418E-2"/>
                  <c:y val="-0.338887563297012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BBD-44AB-A301-11ECAA6094D4}"/>
                </c:ext>
              </c:extLst>
            </c:dLbl>
            <c:dLbl>
              <c:idx val="5"/>
              <c:layout>
                <c:manualLayout>
                  <c:x val="-5.2424639718686418E-2"/>
                  <c:y val="-0.419443781648506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BBD-44AB-A301-11ECAA6094D4}"/>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0.69</c:v>
                </c:pt>
                <c:pt idx="1">
                  <c:v>0.7</c:v>
                </c:pt>
                <c:pt idx="2">
                  <c:v>0.66</c:v>
                </c:pt>
                <c:pt idx="3">
                  <c:v>0.67</c:v>
                </c:pt>
                <c:pt idx="4">
                  <c:v>0.64</c:v>
                </c:pt>
                <c:pt idx="5">
                  <c:v>0.67</c:v>
                </c:pt>
              </c:numCache>
            </c:numRef>
          </c:val>
          <c:smooth val="0"/>
          <c:extLst>
            <c:ext xmlns:c16="http://schemas.microsoft.com/office/drawing/2014/chart" uri="{C3380CC4-5D6E-409C-BE32-E72D297353CC}">
              <c16:uniqueId val="{00000002-0BBD-44AB-A301-11ECAA6094D4}"/>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16666666666665E-2"/>
          <c:y val="0.46296296296296297"/>
          <c:w val="0.95416666666666672"/>
          <c:h val="0.53703703703703709"/>
        </c:manualLayout>
      </c:layout>
      <c:lineChart>
        <c:grouping val="standard"/>
        <c:varyColors val="0"/>
        <c:ser>
          <c:idx val="0"/>
          <c:order val="0"/>
          <c:tx>
            <c:strRef>
              <c:f>Sheet1!$B$1</c:f>
              <c:strCache>
                <c:ptCount val="1"/>
                <c:pt idx="0">
                  <c:v>Treatment is preferred by patients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44999384710824E-2"/>
                  <c:y val="-0.29888782841538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794-41B9-B2E3-1DD62582008F}"/>
                </c:ext>
              </c:extLst>
            </c:dLbl>
            <c:dLbl>
              <c:idx val="1"/>
              <c:layout>
                <c:manualLayout>
                  <c:x val="-5.2424639718686418E-2"/>
                  <c:y val="-0.320369044778493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794-41B9-B2E3-1DD62582008F}"/>
                </c:ext>
              </c:extLst>
            </c:dLbl>
            <c:dLbl>
              <c:idx val="2"/>
              <c:layout>
                <c:manualLayout>
                  <c:x val="-5.2424639718686418E-2"/>
                  <c:y val="-0.35259418330284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794-41B9-B2E3-1DD62582008F}"/>
                </c:ext>
              </c:extLst>
            </c:dLbl>
            <c:dLbl>
              <c:idx val="3"/>
              <c:layout>
                <c:manualLayout>
                  <c:x val="-5.2424639718686418E-2"/>
                  <c:y val="-0.33110965296004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794-41B9-B2E3-1DD62582008F}"/>
                </c:ext>
              </c:extLst>
            </c:dLbl>
            <c:dLbl>
              <c:idx val="4"/>
              <c:layout>
                <c:manualLayout>
                  <c:x val="-5.2424639718686418E-2"/>
                  <c:y val="-0.384816007847503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794-41B9-B2E3-1DD62582008F}"/>
                </c:ext>
              </c:extLst>
            </c:dLbl>
            <c:dLbl>
              <c:idx val="5"/>
              <c:layout>
                <c:manualLayout>
                  <c:x val="-5.2424639718686418E-2"/>
                  <c:y val="-0.341850261141599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794-41B9-B2E3-1DD62582008F}"/>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0.38</c:v>
                </c:pt>
                <c:pt idx="2">
                  <c:v>0.37</c:v>
                </c:pt>
                <c:pt idx="3">
                  <c:v>0.36</c:v>
                </c:pt>
                <c:pt idx="4">
                  <c:v>0.32</c:v>
                </c:pt>
                <c:pt idx="5">
                  <c:v>0.38</c:v>
                </c:pt>
              </c:numCache>
            </c:numRef>
          </c:val>
          <c:smooth val="0"/>
          <c:extLst>
            <c:ext xmlns:c16="http://schemas.microsoft.com/office/drawing/2014/chart" uri="{C3380CC4-5D6E-409C-BE32-E72D297353CC}">
              <c16:uniqueId val="{00000002-5794-41B9-B2E3-1DD62582008F}"/>
            </c:ext>
          </c:extLst>
        </c:ser>
        <c:dLbls>
          <c:dLblPos val="t"/>
          <c:showLegendKey val="0"/>
          <c:showVal val="1"/>
          <c:showCatName val="0"/>
          <c:showSerName val="0"/>
          <c:showPercent val="0"/>
          <c:showBubbleSize val="0"/>
        </c:dLbls>
        <c:marker val="1"/>
        <c:smooth val="0"/>
        <c:axId val="1531790160"/>
        <c:axId val="1531783920"/>
      </c:lineChart>
      <c:catAx>
        <c:axId val="1531790160"/>
        <c:scaling>
          <c:orientation val="minMax"/>
        </c:scaling>
        <c:delete val="1"/>
        <c:axPos val="b"/>
        <c:numFmt formatCode="General" sourceLinked="1"/>
        <c:majorTickMark val="none"/>
        <c:minorTickMark val="none"/>
        <c:tickLblPos val="nextTo"/>
        <c:crossAx val="1531783920"/>
        <c:crosses val="autoZero"/>
        <c:auto val="1"/>
        <c:lblAlgn val="ctr"/>
        <c:lblOffset val="100"/>
        <c:noMultiLvlLbl val="0"/>
      </c:catAx>
      <c:valAx>
        <c:axId val="1531783920"/>
        <c:scaling>
          <c:orientation val="minMax"/>
        </c:scaling>
        <c:delete val="1"/>
        <c:axPos val="l"/>
        <c:numFmt formatCode="0%" sourceLinked="1"/>
        <c:majorTickMark val="none"/>
        <c:minorTickMark val="none"/>
        <c:tickLblPos val="nextTo"/>
        <c:crossAx val="153179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Improves symptoms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307391500304886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133-4A97-BBE7-8F464ECED2AF}"/>
                </c:ext>
              </c:extLst>
            </c:dLbl>
            <c:dLbl>
              <c:idx val="1"/>
              <c:layout>
                <c:manualLayout>
                  <c:x val="-4.6872865231933854E-2"/>
                  <c:y val="-0.2285187836368938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133-4A97-BBE7-8F464ECED2AF}"/>
                </c:ext>
              </c:extLst>
            </c:dLbl>
            <c:dLbl>
              <c:idx val="2"/>
              <c:layout>
                <c:manualLayout>
                  <c:x val="-4.6872865231933854E-2"/>
                  <c:y val="-0.2329628304037752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133-4A97-BBE7-8F464ECED2AF}"/>
                </c:ext>
              </c:extLst>
            </c:dLbl>
            <c:dLbl>
              <c:idx val="3"/>
              <c:layout>
                <c:manualLayout>
                  <c:x val="-4.6872865231933854E-2"/>
                  <c:y val="-0.2359255282483628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133-4A97-BBE7-8F464ECED2AF}"/>
                </c:ext>
              </c:extLst>
            </c:dLbl>
            <c:dLbl>
              <c:idx val="4"/>
              <c:layout>
                <c:manualLayout>
                  <c:x val="-4.6872865231933854E-2"/>
                  <c:y val="-0.2440746043108247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133-4A97-BBE7-8F464ECED2AF}"/>
                </c:ext>
              </c:extLst>
            </c:dLbl>
            <c:dLbl>
              <c:idx val="5"/>
              <c:layout>
                <c:manualLayout>
                  <c:x val="-4.6872865231933854E-2"/>
                  <c:y val="-0.24036957501524431"/>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133-4A97-BBE7-8F464ECED2AF}"/>
                </c:ext>
              </c:extLst>
            </c:dLbl>
            <c:spPr>
              <a:noFill/>
              <a:ln>
                <a:noFill/>
              </a:ln>
              <a:effectLst/>
            </c:spPr>
            <c:txPr>
              <a:bodyPr rot="0" spcFirstLastPara="1" vertOverflow="ellipsis" vert="horz" wrap="square" anchor="ctr" anchorCtr="1"/>
              <a:lstStyle/>
              <a:p>
                <a:pPr>
                  <a:defRPr sz="900" b="0" i="0" u="none" strike="noStrike" kern="1200" baseline="0">
                    <a:solidFill>
                      <a:srgbClr val="497FA5"/>
                    </a:solidFill>
                    <a:latin typeface="Roboto (Body)"/>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0.76</c:v>
                </c:pt>
                <c:pt idx="1">
                  <c:v>0.79</c:v>
                </c:pt>
                <c:pt idx="2">
                  <c:v>0.73</c:v>
                </c:pt>
                <c:pt idx="3">
                  <c:v>0.69</c:v>
                </c:pt>
                <c:pt idx="4">
                  <c:v>0.57999999999999996</c:v>
                </c:pt>
                <c:pt idx="5">
                  <c:v>0.63</c:v>
                </c:pt>
              </c:numCache>
            </c:numRef>
          </c:val>
          <c:smooth val="0"/>
          <c:extLst>
            <c:ext xmlns:c16="http://schemas.microsoft.com/office/drawing/2014/chart" uri="{C3380CC4-5D6E-409C-BE32-E72D297353CC}">
              <c16:uniqueId val="{00000000-E133-4A97-BBE7-8F464ECED2AF}"/>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Roboto (Body)"/>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Highest efficacy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1111906466237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820-4E0A-B6ED-6257B4A6B78B}"/>
                </c:ext>
              </c:extLst>
            </c:dLbl>
            <c:dLbl>
              <c:idx val="1"/>
              <c:layout>
                <c:manualLayout>
                  <c:x val="-4.6872865231933854E-2"/>
                  <c:y val="-0.23740687717065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820-4E0A-B6ED-6257B4A6B78B}"/>
                </c:ext>
              </c:extLst>
            </c:dLbl>
            <c:dLbl>
              <c:idx val="2"/>
              <c:layout>
                <c:manualLayout>
                  <c:x val="-4.6872865231933854E-2"/>
                  <c:y val="-0.244813621782125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820-4E0A-B6ED-6257B4A6B78B}"/>
                </c:ext>
              </c:extLst>
            </c:dLbl>
            <c:dLbl>
              <c:idx val="3"/>
              <c:layout>
                <c:manualLayout>
                  <c:x val="-4.6872865231933854E-2"/>
                  <c:y val="-0.254444046766881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820-4E0A-B6ED-6257B4A6B78B}"/>
                </c:ext>
              </c:extLst>
            </c:dLbl>
            <c:dLbl>
              <c:idx val="4"/>
              <c:layout>
                <c:manualLayout>
                  <c:x val="-4.6872865231933854E-2"/>
                  <c:y val="-0.253705029295580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820-4E0A-B6ED-6257B4A6B78B}"/>
                </c:ext>
              </c:extLst>
            </c:dLbl>
            <c:dLbl>
              <c:idx val="5"/>
              <c:layout>
                <c:manualLayout>
                  <c:x val="-4.6872865231933854E-2"/>
                  <c:y val="-0.243332272859831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820-4E0A-B6ED-6257B4A6B78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0.62</c:v>
                </c:pt>
                <c:pt idx="1">
                  <c:v>0.67</c:v>
                </c:pt>
                <c:pt idx="2">
                  <c:v>0.56999999999999995</c:v>
                </c:pt>
                <c:pt idx="3">
                  <c:v>0.44</c:v>
                </c:pt>
                <c:pt idx="4">
                  <c:v>0.45</c:v>
                </c:pt>
                <c:pt idx="5">
                  <c:v>0.59</c:v>
                </c:pt>
              </c:numCache>
            </c:numRef>
          </c:val>
          <c:smooth val="0"/>
          <c:extLst>
            <c:ext xmlns:c16="http://schemas.microsoft.com/office/drawing/2014/chart" uri="{C3380CC4-5D6E-409C-BE32-E72D297353CC}">
              <c16:uniqueId val="{00000006-1820-4E0A-B6ED-6257B4A6B78B}"/>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Benefits patient outcomes beyond symptom relief</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35925528248362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6D3-427E-9149-1F6F3991CB0A}"/>
                </c:ext>
              </c:extLst>
            </c:dLbl>
            <c:dLbl>
              <c:idx val="1"/>
              <c:layout>
                <c:manualLayout>
                  <c:x val="-4.6872865231933854E-2"/>
                  <c:y val="-0.240369575015244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6D3-427E-9149-1F6F3991CB0A}"/>
                </c:ext>
              </c:extLst>
            </c:dLbl>
            <c:dLbl>
              <c:idx val="2"/>
              <c:layout>
                <c:manualLayout>
                  <c:x val="-4.6872865231933854E-2"/>
                  <c:y val="-0.250742331450992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6D3-427E-9149-1F6F3991CB0A}"/>
                </c:ext>
              </c:extLst>
            </c:dLbl>
            <c:dLbl>
              <c:idx val="3"/>
              <c:layout>
                <c:manualLayout>
                  <c:x val="-4.6872865231933854E-2"/>
                  <c:y val="-0.25888809353376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6D3-427E-9149-1F6F3991CB0A}"/>
                </c:ext>
              </c:extLst>
            </c:dLbl>
            <c:dLbl>
              <c:idx val="4"/>
              <c:layout>
                <c:manualLayout>
                  <c:x val="-4.6872865231933854E-2"/>
                  <c:y val="-0.26036944245605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6D3-427E-9149-1F6F3991CB0A}"/>
                </c:ext>
              </c:extLst>
            </c:dLbl>
            <c:dLbl>
              <c:idx val="5"/>
              <c:layout>
                <c:manualLayout>
                  <c:x val="-4.6872865231933854E-2"/>
                  <c:y val="-0.25666772714016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6D3-427E-9149-1F6F3991CB0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0.69</c:v>
                </c:pt>
                <c:pt idx="1">
                  <c:v>0.63</c:v>
                </c:pt>
                <c:pt idx="2">
                  <c:v>0.49</c:v>
                </c:pt>
                <c:pt idx="3">
                  <c:v>0.38</c:v>
                </c:pt>
                <c:pt idx="4">
                  <c:v>0.36</c:v>
                </c:pt>
                <c:pt idx="5">
                  <c:v>0.41</c:v>
                </c:pt>
              </c:numCache>
            </c:numRef>
          </c:val>
          <c:smooth val="0"/>
          <c:extLst>
            <c:ext xmlns:c16="http://schemas.microsoft.com/office/drawing/2014/chart" uri="{C3380CC4-5D6E-409C-BE32-E72D297353CC}">
              <c16:uniqueId val="{00000006-16D3-427E-9149-1F6F3991CB0A}"/>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Best formulary / insurance coverage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1111906466237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764-4522-BBF1-842CB501BDB0}"/>
                </c:ext>
              </c:extLst>
            </c:dLbl>
            <c:dLbl>
              <c:idx val="1"/>
              <c:layout>
                <c:manualLayout>
                  <c:x val="-4.6872865231933854E-2"/>
                  <c:y val="-0.23740687717065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764-4522-BBF1-842CB501BDB0}"/>
                </c:ext>
              </c:extLst>
            </c:dLbl>
            <c:dLbl>
              <c:idx val="2"/>
              <c:layout>
                <c:manualLayout>
                  <c:x val="-4.6872865231933854E-2"/>
                  <c:y val="-0.244813621782125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764-4522-BBF1-842CB501BDB0}"/>
                </c:ext>
              </c:extLst>
            </c:dLbl>
            <c:dLbl>
              <c:idx val="3"/>
              <c:layout>
                <c:manualLayout>
                  <c:x val="-4.6872865231933854E-2"/>
                  <c:y val="-0.2455559532331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764-4522-BBF1-842CB501BDB0}"/>
                </c:ext>
              </c:extLst>
            </c:dLbl>
            <c:dLbl>
              <c:idx val="4"/>
              <c:layout>
                <c:manualLayout>
                  <c:x val="-4.6872865231933854E-2"/>
                  <c:y val="-0.24629497070441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764-4522-BBF1-842CB501BDB0}"/>
                </c:ext>
              </c:extLst>
            </c:dLbl>
            <c:dLbl>
              <c:idx val="5"/>
              <c:layout>
                <c:manualLayout>
                  <c:x val="-4.6872865231933854E-2"/>
                  <c:y val="-0.2455559532331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764-4522-BBF1-842CB501BDB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0.62</c:v>
                </c:pt>
                <c:pt idx="1">
                  <c:v>0.67</c:v>
                </c:pt>
                <c:pt idx="2">
                  <c:v>0.56999999999999995</c:v>
                </c:pt>
                <c:pt idx="3">
                  <c:v>0.56000000000000005</c:v>
                </c:pt>
                <c:pt idx="4">
                  <c:v>0.55000000000000004</c:v>
                </c:pt>
                <c:pt idx="5">
                  <c:v>0.56000000000000005</c:v>
                </c:pt>
              </c:numCache>
            </c:numRef>
          </c:val>
          <c:smooth val="0"/>
          <c:extLst>
            <c:ext xmlns:c16="http://schemas.microsoft.com/office/drawing/2014/chart" uri="{C3380CC4-5D6E-409C-BE32-E72D297353CC}">
              <c16:uniqueId val="{00000006-0764-4522-BBF1-842CB501BDB0}"/>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Easiest to prescribe (less impact on practice resources)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3332272859831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2FA-4934-B8FF-E53657886617}"/>
                </c:ext>
              </c:extLst>
            </c:dLbl>
            <c:dLbl>
              <c:idx val="1"/>
              <c:layout>
                <c:manualLayout>
                  <c:x val="-4.6872865231933854E-2"/>
                  <c:y val="-0.240369575015244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2FA-4934-B8FF-E53657886617}"/>
                </c:ext>
              </c:extLst>
            </c:dLbl>
            <c:dLbl>
              <c:idx val="2"/>
              <c:layout>
                <c:manualLayout>
                  <c:x val="-4.6872865231933854E-2"/>
                  <c:y val="-0.247037302155412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2FA-4934-B8FF-E53657886617}"/>
                </c:ext>
              </c:extLst>
            </c:dLbl>
            <c:dLbl>
              <c:idx val="3"/>
              <c:layout>
                <c:manualLayout>
                  <c:x val="-4.6872865231933854E-2"/>
                  <c:y val="-0.25222368037328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2FA-4934-B8FF-E53657886617}"/>
                </c:ext>
              </c:extLst>
            </c:dLbl>
            <c:dLbl>
              <c:idx val="4"/>
              <c:layout>
                <c:manualLayout>
                  <c:x val="-4.6872865231933854E-2"/>
                  <c:y val="-0.26036944245605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2FA-4934-B8FF-E53657886617}"/>
                </c:ext>
              </c:extLst>
            </c:dLbl>
            <c:dLbl>
              <c:idx val="5"/>
              <c:layout>
                <c:manualLayout>
                  <c:x val="-4.6872865231933854E-2"/>
                  <c:y val="-0.252962697844587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2FA-4934-B8FF-E536578866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0.59</c:v>
                </c:pt>
                <c:pt idx="1">
                  <c:v>0.63</c:v>
                </c:pt>
                <c:pt idx="2">
                  <c:v>0.54</c:v>
                </c:pt>
                <c:pt idx="3">
                  <c:v>0.47</c:v>
                </c:pt>
                <c:pt idx="4">
                  <c:v>0.36</c:v>
                </c:pt>
                <c:pt idx="5">
                  <c:v>0.46</c:v>
                </c:pt>
              </c:numCache>
            </c:numRef>
          </c:val>
          <c:smooth val="0"/>
          <c:extLst>
            <c:ext xmlns:c16="http://schemas.microsoft.com/office/drawing/2014/chart" uri="{C3380CC4-5D6E-409C-BE32-E72D297353CC}">
              <c16:uniqueId val="{00000006-D2FA-4934-B8FF-E53657886617}"/>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Patient Support Programs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3332272859831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1F2-4E1A-9289-0B407A0EB1FD}"/>
                </c:ext>
              </c:extLst>
            </c:dLbl>
            <c:dLbl>
              <c:idx val="1"/>
              <c:layout>
                <c:manualLayout>
                  <c:x val="-4.6872865231933854E-2"/>
                  <c:y val="-0.24407460431082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1F2-4E1A-9289-0B407A0EB1FD}"/>
                </c:ext>
              </c:extLst>
            </c:dLbl>
            <c:dLbl>
              <c:idx val="2"/>
              <c:layout>
                <c:manualLayout>
                  <c:x val="-4.6872865231933854E-2"/>
                  <c:y val="-0.249257668549007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1F2-4E1A-9289-0B407A0EB1FD}"/>
                </c:ext>
              </c:extLst>
            </c:dLbl>
            <c:dLbl>
              <c:idx val="3"/>
              <c:layout>
                <c:manualLayout>
                  <c:x val="-4.6872865231933854E-2"/>
                  <c:y val="-0.254444046766881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1F2-4E1A-9289-0B407A0EB1FD}"/>
                </c:ext>
              </c:extLst>
            </c:dLbl>
            <c:dLbl>
              <c:idx val="4"/>
              <c:layout>
                <c:manualLayout>
                  <c:x val="-4.6872865231933854E-2"/>
                  <c:y val="-0.255925395689175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1F2-4E1A-9289-0B407A0EB1FD}"/>
                </c:ext>
              </c:extLst>
            </c:dLbl>
            <c:dLbl>
              <c:idx val="5"/>
              <c:layout>
                <c:manualLayout>
                  <c:x val="-4.6872865231933854E-2"/>
                  <c:y val="-0.247037302155412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1F2-4E1A-9289-0B407A0EB1F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0.59</c:v>
                </c:pt>
                <c:pt idx="1">
                  <c:v>0.57999999999999996</c:v>
                </c:pt>
                <c:pt idx="2">
                  <c:v>0.51</c:v>
                </c:pt>
                <c:pt idx="3">
                  <c:v>0.44</c:v>
                </c:pt>
                <c:pt idx="4">
                  <c:v>0.42</c:v>
                </c:pt>
                <c:pt idx="5">
                  <c:v>0.54</c:v>
                </c:pt>
              </c:numCache>
            </c:numRef>
          </c:val>
          <c:smooth val="0"/>
          <c:extLst>
            <c:ext xmlns:c16="http://schemas.microsoft.com/office/drawing/2014/chart" uri="{C3380CC4-5D6E-409C-BE32-E72D297353CC}">
              <c16:uniqueId val="{00000006-51F2-4E1A-9289-0B407A0EB1FD}"/>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Co-pay assistance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629497070441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B9-445E-87B9-0E1C5CA64FE7}"/>
                </c:ext>
              </c:extLst>
            </c:dLbl>
            <c:dLbl>
              <c:idx val="1"/>
              <c:layout>
                <c:manualLayout>
                  <c:x val="-4.687286523193385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8B9-445E-87B9-0E1C5CA64FE7}"/>
                </c:ext>
              </c:extLst>
            </c:dLbl>
            <c:dLbl>
              <c:idx val="2"/>
              <c:layout>
                <c:manualLayout>
                  <c:x val="-4.6872865231933854E-2"/>
                  <c:y val="-0.25666772714016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B9-445E-87B9-0E1C5CA64FE7}"/>
                </c:ext>
              </c:extLst>
            </c:dLbl>
            <c:dLbl>
              <c:idx val="3"/>
              <c:layout>
                <c:manualLayout>
                  <c:x val="-4.6872865231933854E-2"/>
                  <c:y val="-0.25666772714016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8B9-445E-87B9-0E1C5CA64FE7}"/>
                </c:ext>
              </c:extLst>
            </c:dLbl>
            <c:dLbl>
              <c:idx val="4"/>
              <c:layout>
                <c:manualLayout>
                  <c:x val="-4.6872865231933854E-2"/>
                  <c:y val="-0.253705029295580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8B9-445E-87B9-0E1C5CA64FE7}"/>
                </c:ext>
              </c:extLst>
            </c:dLbl>
            <c:dLbl>
              <c:idx val="5"/>
              <c:layout>
                <c:manualLayout>
                  <c:x val="-4.6872865231933854E-2"/>
                  <c:y val="-0.252962697844587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8B9-445E-87B9-0E1C5CA64FE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0.55000000000000004</c:v>
                </c:pt>
                <c:pt idx="1">
                  <c:v>0.5</c:v>
                </c:pt>
                <c:pt idx="2">
                  <c:v>0.41</c:v>
                </c:pt>
                <c:pt idx="3">
                  <c:v>0.41</c:v>
                </c:pt>
                <c:pt idx="4">
                  <c:v>0.45</c:v>
                </c:pt>
                <c:pt idx="5">
                  <c:v>0.46</c:v>
                </c:pt>
              </c:numCache>
            </c:numRef>
          </c:val>
          <c:smooth val="0"/>
          <c:extLst>
            <c:ext xmlns:c16="http://schemas.microsoft.com/office/drawing/2014/chart" uri="{C3380CC4-5D6E-409C-BE32-E72D297353CC}">
              <c16:uniqueId val="{00000006-48B9-445E-87B9-0E1C5CA64FE7}"/>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Lowest treatment cost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8518651077706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52E-4CA8-BDAE-2F6EDA59B7C9}"/>
                </c:ext>
              </c:extLst>
            </c:dLbl>
            <c:dLbl>
              <c:idx val="1"/>
              <c:layout>
                <c:manualLayout>
                  <c:x val="-4.687286523193385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52E-4CA8-BDAE-2F6EDA59B7C9}"/>
                </c:ext>
              </c:extLst>
            </c:dLbl>
            <c:dLbl>
              <c:idx val="2"/>
              <c:layout>
                <c:manualLayout>
                  <c:x val="-4.6872865231933854E-2"/>
                  <c:y val="-0.250742331450992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52E-4CA8-BDAE-2F6EDA59B7C9}"/>
                </c:ext>
              </c:extLst>
            </c:dLbl>
            <c:dLbl>
              <c:idx val="3"/>
              <c:layout>
                <c:manualLayout>
                  <c:x val="-4.6872865231933854E-2"/>
                  <c:y val="-0.261850791378350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52E-4CA8-BDAE-2F6EDA59B7C9}"/>
                </c:ext>
              </c:extLst>
            </c:dLbl>
            <c:dLbl>
              <c:idx val="4"/>
              <c:layout>
                <c:manualLayout>
                  <c:x val="-4.6872865231933854E-2"/>
                  <c:y val="-0.26259312282934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52E-4CA8-BDAE-2F6EDA59B7C9}"/>
                </c:ext>
              </c:extLst>
            </c:dLbl>
            <c:dLbl>
              <c:idx val="5"/>
              <c:layout>
                <c:manualLayout>
                  <c:x val="-4.6872865231933854E-2"/>
                  <c:y val="-0.259630424984755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52E-4CA8-BDAE-2F6EDA59B7C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0.52</c:v>
                </c:pt>
                <c:pt idx="1">
                  <c:v>0.5</c:v>
                </c:pt>
                <c:pt idx="2">
                  <c:v>0.49</c:v>
                </c:pt>
                <c:pt idx="3">
                  <c:v>0.34</c:v>
                </c:pt>
                <c:pt idx="4">
                  <c:v>0.33</c:v>
                </c:pt>
                <c:pt idx="5">
                  <c:v>0.37</c:v>
                </c:pt>
              </c:numCache>
            </c:numRef>
          </c:val>
          <c:smooth val="0"/>
          <c:extLst>
            <c:ext xmlns:c16="http://schemas.microsoft.com/office/drawing/2014/chart" uri="{C3380CC4-5D6E-409C-BE32-E72D297353CC}">
              <c16:uniqueId val="{00000006-F52E-4CA8-BDAE-2F6EDA59B7C9}"/>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Simplest dosing</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20369707574431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E18-436A-AC1B-345C431298E5}"/>
                </c:ext>
              </c:extLst>
            </c:dLbl>
            <c:dLbl>
              <c:idx val="1"/>
              <c:layout>
                <c:manualLayout>
                  <c:x val="-4.6872865231933854E-2"/>
                  <c:y val="-0.218888358652138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E18-436A-AC1B-345C431298E5}"/>
                </c:ext>
              </c:extLst>
            </c:dLbl>
            <c:dLbl>
              <c:idx val="2"/>
              <c:layout>
                <c:manualLayout>
                  <c:x val="-4.6872865231933854E-2"/>
                  <c:y val="-0.223332405419019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E18-436A-AC1B-345C431298E5}"/>
                </c:ext>
              </c:extLst>
            </c:dLbl>
            <c:dLbl>
              <c:idx val="3"/>
              <c:layout>
                <c:manualLayout>
                  <c:x val="-4.6872865231933854E-2"/>
                  <c:y val="-0.2455559532331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E18-436A-AC1B-345C431298E5}"/>
                </c:ext>
              </c:extLst>
            </c:dLbl>
            <c:dLbl>
              <c:idx val="4"/>
              <c:layout>
                <c:manualLayout>
                  <c:x val="-4.6872865231933854E-2"/>
                  <c:y val="-0.242593255388530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E18-436A-AC1B-345C431298E5}"/>
                </c:ext>
              </c:extLst>
            </c:dLbl>
            <c:dLbl>
              <c:idx val="5"/>
              <c:layout>
                <c:manualLayout>
                  <c:x val="-4.6872865231933854E-2"/>
                  <c:y val="-0.221851056496725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E18-436A-AC1B-345C431298E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0.45</c:v>
                </c:pt>
                <c:pt idx="1">
                  <c:v>0.46</c:v>
                </c:pt>
                <c:pt idx="2">
                  <c:v>0.43</c:v>
                </c:pt>
                <c:pt idx="3">
                  <c:v>0.28000000000000003</c:v>
                </c:pt>
                <c:pt idx="4">
                  <c:v>0.3</c:v>
                </c:pt>
                <c:pt idx="5">
                  <c:v>0.44</c:v>
                </c:pt>
              </c:numCache>
            </c:numRef>
          </c:val>
          <c:smooth val="0"/>
          <c:extLst>
            <c:ext xmlns:c16="http://schemas.microsoft.com/office/drawing/2014/chart" uri="{C3380CC4-5D6E-409C-BE32-E72D297353CC}">
              <c16:uniqueId val="{00000006-8E18-436A-AC1B-345C431298E5}"/>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Dosing flexibility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1111906466237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965-46BC-901A-29FBA0933596}"/>
                </c:ext>
              </c:extLst>
            </c:dLbl>
            <c:dLbl>
              <c:idx val="1"/>
              <c:layout>
                <c:manualLayout>
                  <c:x val="-4.6872865231933854E-2"/>
                  <c:y val="-0.240369575015244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965-46BC-901A-29FBA0933596}"/>
                </c:ext>
              </c:extLst>
            </c:dLbl>
            <c:dLbl>
              <c:idx val="2"/>
              <c:layout>
                <c:manualLayout>
                  <c:x val="-4.6872865231933854E-2"/>
                  <c:y val="-0.243332272859831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965-46BC-901A-29FBA0933596}"/>
                </c:ext>
              </c:extLst>
            </c:dLbl>
            <c:dLbl>
              <c:idx val="3"/>
              <c:layout>
                <c:manualLayout>
                  <c:x val="-4.6872865231933854E-2"/>
                  <c:y val="-0.25222368037328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965-46BC-901A-29FBA0933596}"/>
                </c:ext>
              </c:extLst>
            </c:dLbl>
            <c:dLbl>
              <c:idx val="4"/>
              <c:layout>
                <c:manualLayout>
                  <c:x val="-4.6872865231933854E-2"/>
                  <c:y val="-0.248518651077706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965-46BC-901A-29FBA0933596}"/>
                </c:ext>
              </c:extLst>
            </c:dLbl>
            <c:dLbl>
              <c:idx val="5"/>
              <c:layout>
                <c:manualLayout>
                  <c:x val="-4.6872865231933854E-2"/>
                  <c:y val="-0.234444179326069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965-46BC-901A-29FBA093359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0.62</c:v>
                </c:pt>
                <c:pt idx="1">
                  <c:v>0.63</c:v>
                </c:pt>
                <c:pt idx="2">
                  <c:v>0.59</c:v>
                </c:pt>
                <c:pt idx="3">
                  <c:v>0.47</c:v>
                </c:pt>
                <c:pt idx="4">
                  <c:v>0.52</c:v>
                </c:pt>
                <c:pt idx="5">
                  <c:v>0.71</c:v>
                </c:pt>
              </c:numCache>
            </c:numRef>
          </c:val>
          <c:smooth val="0"/>
          <c:extLst>
            <c:ext xmlns:c16="http://schemas.microsoft.com/office/drawing/2014/chart" uri="{C3380CC4-5D6E-409C-BE32-E72D297353CC}">
              <c16:uniqueId val="{00000006-4965-46BC-901A-29FBA0933596}"/>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Patient adherence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1111906466237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4AE-47A6-B25D-1C1E82636BD6}"/>
                </c:ext>
              </c:extLst>
            </c:dLbl>
            <c:dLbl>
              <c:idx val="1"/>
              <c:layout>
                <c:manualLayout>
                  <c:x val="-4.6872865231933854E-2"/>
                  <c:y val="-0.240369575015244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4AE-47A6-B25D-1C1E82636BD6}"/>
                </c:ext>
              </c:extLst>
            </c:dLbl>
            <c:dLbl>
              <c:idx val="2"/>
              <c:layout>
                <c:manualLayout>
                  <c:x val="-4.6872865231933854E-2"/>
                  <c:y val="-0.250742331450992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4AE-47A6-B25D-1C1E82636BD6}"/>
                </c:ext>
              </c:extLst>
            </c:dLbl>
            <c:dLbl>
              <c:idx val="3"/>
              <c:layout>
                <c:manualLayout>
                  <c:x val="-4.6872865231933854E-2"/>
                  <c:y val="-0.25666772714016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4AE-47A6-B25D-1C1E82636BD6}"/>
                </c:ext>
              </c:extLst>
            </c:dLbl>
            <c:dLbl>
              <c:idx val="4"/>
              <c:layout>
                <c:manualLayout>
                  <c:x val="-4.6872865231933854E-2"/>
                  <c:y val="-0.26036944245605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4AE-47A6-B25D-1C1E82636BD6}"/>
                </c:ext>
              </c:extLst>
            </c:dLbl>
            <c:dLbl>
              <c:idx val="5"/>
              <c:layout>
                <c:manualLayout>
                  <c:x val="-4.6872865231933854E-2"/>
                  <c:y val="-0.254444046766881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4AE-47A6-B25D-1C1E82636BD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0.62</c:v>
                </c:pt>
                <c:pt idx="1">
                  <c:v>0.63</c:v>
                </c:pt>
                <c:pt idx="2">
                  <c:v>0.49</c:v>
                </c:pt>
                <c:pt idx="3">
                  <c:v>0.41</c:v>
                </c:pt>
                <c:pt idx="4">
                  <c:v>0.36</c:v>
                </c:pt>
                <c:pt idx="5">
                  <c:v>0.44</c:v>
                </c:pt>
              </c:numCache>
            </c:numRef>
          </c:val>
          <c:smooth val="0"/>
          <c:extLst>
            <c:ext xmlns:c16="http://schemas.microsoft.com/office/drawing/2014/chart" uri="{C3380CC4-5D6E-409C-BE32-E72D297353CC}">
              <c16:uniqueId val="{00000006-A4AE-47A6-B25D-1C1E82636BD6}"/>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Most dosing options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629497070441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699-4526-8182-685A0FED9A06}"/>
                </c:ext>
              </c:extLst>
            </c:dLbl>
            <c:dLbl>
              <c:idx val="1"/>
              <c:layout>
                <c:manualLayout>
                  <c:x val="-4.6872865231933854E-2"/>
                  <c:y val="-0.24407460431082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699-4526-8182-685A0FED9A06}"/>
                </c:ext>
              </c:extLst>
            </c:dLbl>
            <c:dLbl>
              <c:idx val="2"/>
              <c:layout>
                <c:manualLayout>
                  <c:x val="-4.6872865231933854E-2"/>
                  <c:y val="-0.249257668549007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699-4526-8182-685A0FED9A06}"/>
                </c:ext>
              </c:extLst>
            </c:dLbl>
            <c:dLbl>
              <c:idx val="3"/>
              <c:layout>
                <c:manualLayout>
                  <c:x val="-4.6872865231933854E-2"/>
                  <c:y val="-0.25666772714016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699-4526-8182-685A0FED9A06}"/>
                </c:ext>
              </c:extLst>
            </c:dLbl>
            <c:dLbl>
              <c:idx val="4"/>
              <c:layout>
                <c:manualLayout>
                  <c:x val="-4.6872865231933854E-2"/>
                  <c:y val="-0.26036944245605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699-4526-8182-685A0FED9A06}"/>
                </c:ext>
              </c:extLst>
            </c:dLbl>
            <c:dLbl>
              <c:idx val="5"/>
              <c:layout>
                <c:manualLayout>
                  <c:x val="-4.6872865231933854E-2"/>
                  <c:y val="-0.249257668549007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699-4526-8182-685A0FED9A0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0.55000000000000004</c:v>
                </c:pt>
                <c:pt idx="1">
                  <c:v>0.57999999999999996</c:v>
                </c:pt>
                <c:pt idx="2">
                  <c:v>0.51</c:v>
                </c:pt>
                <c:pt idx="3">
                  <c:v>0.41</c:v>
                </c:pt>
                <c:pt idx="4">
                  <c:v>0.36</c:v>
                </c:pt>
                <c:pt idx="5">
                  <c:v>0.51</c:v>
                </c:pt>
              </c:numCache>
            </c:numRef>
          </c:val>
          <c:smooth val="0"/>
          <c:extLst>
            <c:ext xmlns:c16="http://schemas.microsoft.com/office/drawing/2014/chart" uri="{C3380CC4-5D6E-409C-BE32-E72D297353CC}">
              <c16:uniqueId val="{00000006-B699-4526-8182-685A0FED9A06}"/>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Most favorable safety profile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42593255388530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5E4-4516-9A67-610806CBB134}"/>
                </c:ext>
              </c:extLst>
            </c:dLbl>
            <c:dLbl>
              <c:idx val="1"/>
              <c:layout>
                <c:manualLayout>
                  <c:x val="-4.687286523193385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5E4-4516-9A67-610806CBB134}"/>
                </c:ext>
              </c:extLst>
            </c:dLbl>
            <c:dLbl>
              <c:idx val="2"/>
              <c:layout>
                <c:manualLayout>
                  <c:x val="-4.6872865231933854E-2"/>
                  <c:y val="-0.224074736870012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5E4-4516-9A67-610806CBB134}"/>
                </c:ext>
              </c:extLst>
            </c:dLbl>
            <c:dLbl>
              <c:idx val="3"/>
              <c:layout>
                <c:manualLayout>
                  <c:x val="-4.687286523193385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5E4-4516-9A67-610806CBB134}"/>
                </c:ext>
              </c:extLst>
            </c:dLbl>
            <c:dLbl>
              <c:idx val="4"/>
              <c:layout>
                <c:manualLayout>
                  <c:x val="-4.6872865231933854E-2"/>
                  <c:y val="-0.242593255388530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5E4-4516-9A67-610806CBB134}"/>
                </c:ext>
              </c:extLst>
            </c:dLbl>
            <c:dLbl>
              <c:idx val="5"/>
              <c:layout>
                <c:manualLayout>
                  <c:x val="-4.6872865231933854E-2"/>
                  <c:y val="-0.216667992258543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5E4-4516-9A67-610806CBB13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0.52</c:v>
                </c:pt>
                <c:pt idx="1">
                  <c:v>0.5</c:v>
                </c:pt>
                <c:pt idx="2">
                  <c:v>0.56999999999999995</c:v>
                </c:pt>
                <c:pt idx="3">
                  <c:v>0.5</c:v>
                </c:pt>
                <c:pt idx="4">
                  <c:v>0.52</c:v>
                </c:pt>
                <c:pt idx="5">
                  <c:v>0.59</c:v>
                </c:pt>
              </c:numCache>
            </c:numRef>
          </c:val>
          <c:smooth val="0"/>
          <c:extLst>
            <c:ext xmlns:c16="http://schemas.microsoft.com/office/drawing/2014/chart" uri="{C3380CC4-5D6E-409C-BE32-E72D297353CC}">
              <c16:uniqueId val="{00000006-E5E4-4516-9A67-610806CBB134}"/>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Successful personal experience with treatment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38149208621649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9F-4C6D-AE15-D62750D50B75}"/>
                </c:ext>
              </c:extLst>
            </c:dLbl>
            <c:dLbl>
              <c:idx val="1"/>
              <c:layout>
                <c:manualLayout>
                  <c:x val="-4.6872865231933854E-2"/>
                  <c:y val="-0.234444179326069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9F-4C6D-AE15-D62750D50B75}"/>
                </c:ext>
              </c:extLst>
            </c:dLbl>
            <c:dLbl>
              <c:idx val="2"/>
              <c:layout>
                <c:manualLayout>
                  <c:x val="-4.6872865231933854E-2"/>
                  <c:y val="-0.235186510777061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F9F-4C6D-AE15-D62750D50B75}"/>
                </c:ext>
              </c:extLst>
            </c:dLbl>
            <c:dLbl>
              <c:idx val="3"/>
              <c:layout>
                <c:manualLayout>
                  <c:x val="-4.6872865231933854E-2"/>
                  <c:y val="-0.238149208621649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F9F-4C6D-AE15-D62750D50B75}"/>
                </c:ext>
              </c:extLst>
            </c:dLbl>
            <c:dLbl>
              <c:idx val="4"/>
              <c:layout>
                <c:manualLayout>
                  <c:x val="-4.6872865231933854E-2"/>
                  <c:y val="-0.24407460431082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F9F-4C6D-AE15-D62750D50B75}"/>
                </c:ext>
              </c:extLst>
            </c:dLbl>
            <c:dLbl>
              <c:idx val="5"/>
              <c:layout>
                <c:manualLayout>
                  <c:x val="-4.6872865231933854E-2"/>
                  <c:y val="-0.24185092393753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F9F-4C6D-AE15-D62750D50B7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0.66</c:v>
                </c:pt>
                <c:pt idx="1">
                  <c:v>0.71</c:v>
                </c:pt>
                <c:pt idx="2">
                  <c:v>0.7</c:v>
                </c:pt>
                <c:pt idx="3">
                  <c:v>0.66</c:v>
                </c:pt>
                <c:pt idx="4">
                  <c:v>0.57999999999999996</c:v>
                </c:pt>
                <c:pt idx="5">
                  <c:v>0.61</c:v>
                </c:pt>
              </c:numCache>
            </c:numRef>
          </c:val>
          <c:smooth val="0"/>
          <c:extLst>
            <c:ext xmlns:c16="http://schemas.microsoft.com/office/drawing/2014/chart" uri="{C3380CC4-5D6E-409C-BE32-E72D297353CC}">
              <c16:uniqueId val="{00000006-8F9F-4C6D-AE15-D62750D50B75}"/>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Treatment is preferred by patients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6872865231933854E-2"/>
                  <c:y val="-0.253705029295580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E2E-4724-BF3F-FA39BE57D31C}"/>
                </c:ext>
              </c:extLst>
            </c:dLbl>
            <c:dLbl>
              <c:idx val="1"/>
              <c:layout>
                <c:manualLayout>
                  <c:x val="-4.6872865231933854E-2"/>
                  <c:y val="-0.26259312282934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E2E-4724-BF3F-FA39BE57D31C}"/>
                </c:ext>
              </c:extLst>
            </c:dLbl>
            <c:dLbl>
              <c:idx val="2"/>
              <c:layout>
                <c:manualLayout>
                  <c:x val="-4.6872865231933854E-2"/>
                  <c:y val="-0.26111177390704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E2E-4724-BF3F-FA39BE57D31C}"/>
                </c:ext>
              </c:extLst>
            </c:dLbl>
            <c:dLbl>
              <c:idx val="3"/>
              <c:layout>
                <c:manualLayout>
                  <c:x val="-4.6872865231933854E-2"/>
                  <c:y val="-0.264074471751637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E2E-4724-BF3F-FA39BE57D31C}"/>
                </c:ext>
              </c:extLst>
            </c:dLbl>
            <c:dLbl>
              <c:idx val="4"/>
              <c:layout>
                <c:manualLayout>
                  <c:x val="-4.6872865231933854E-2"/>
                  <c:y val="-0.26259312282934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E2E-4724-BF3F-FA39BE57D31C}"/>
                </c:ext>
              </c:extLst>
            </c:dLbl>
            <c:dLbl>
              <c:idx val="5"/>
              <c:layout>
                <c:manualLayout>
                  <c:x val="-4.6872865231933854E-2"/>
                  <c:y val="-0.249257668549007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E2E-4724-BF3F-FA39BE57D31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0.38</c:v>
                </c:pt>
                <c:pt idx="2">
                  <c:v>0.37</c:v>
                </c:pt>
                <c:pt idx="3">
                  <c:v>0.36</c:v>
                </c:pt>
                <c:pt idx="4">
                  <c:v>0.32</c:v>
                </c:pt>
                <c:pt idx="5">
                  <c:v>0.38</c:v>
                </c:pt>
              </c:numCache>
            </c:numRef>
          </c:val>
          <c:smooth val="0"/>
          <c:extLst>
            <c:ext xmlns:c16="http://schemas.microsoft.com/office/drawing/2014/chart" uri="{C3380CC4-5D6E-409C-BE32-E72D297353CC}">
              <c16:uniqueId val="{00000006-7E2E-4724-BF3F-FA39BE57D31C}"/>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Improves symptoms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38231395318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BAD-459E-AC79-6A70127D5231}"/>
                </c:ext>
              </c:extLst>
            </c:dLbl>
            <c:dLbl>
              <c:idx val="1"/>
              <c:layout>
                <c:manualLayout>
                  <c:x val="-4.5811648302072218E-2"/>
                  <c:y val="-0.29526896259179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BAD-459E-AC79-6A70127D5231}"/>
                </c:ext>
              </c:extLst>
            </c:dLbl>
            <c:dLbl>
              <c:idx val="2"/>
              <c:layout>
                <c:manualLayout>
                  <c:x val="-4.5811648302072218E-2"/>
                  <c:y val="-0.23082531350247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BAD-459E-AC79-6A70127D5231}"/>
                </c:ext>
              </c:extLst>
            </c:dLbl>
            <c:dLbl>
              <c:idx val="3"/>
              <c:layout>
                <c:manualLayout>
                  <c:x val="-4.5811648302072218E-2"/>
                  <c:y val="-0.236193960603409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BAD-459E-AC79-6A70127D5231}"/>
                </c:ext>
              </c:extLst>
            </c:dLbl>
            <c:dLbl>
              <c:idx val="4"/>
              <c:layout>
                <c:manualLayout>
                  <c:x val="-4.5811648302072218E-2"/>
                  <c:y val="-0.332862748217078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BAD-459E-AC79-6A70127D5231}"/>
                </c:ext>
              </c:extLst>
            </c:dLbl>
            <c:dLbl>
              <c:idx val="5"/>
              <c:layout>
                <c:manualLayout>
                  <c:x val="-4.5811648302072218E-2"/>
                  <c:y val="-0.3704532198626686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BAD-459E-AC79-6A70127D523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0.61</c:v>
                </c:pt>
                <c:pt idx="1">
                  <c:v>0.69</c:v>
                </c:pt>
                <c:pt idx="2">
                  <c:v>0.81</c:v>
                </c:pt>
                <c:pt idx="3">
                  <c:v>0.8</c:v>
                </c:pt>
                <c:pt idx="4">
                  <c:v>0.62</c:v>
                </c:pt>
                <c:pt idx="5">
                  <c:v>0.55000000000000004</c:v>
                </c:pt>
              </c:numCache>
            </c:numRef>
          </c:val>
          <c:smooth val="0"/>
          <c:extLst>
            <c:ext xmlns:c16="http://schemas.microsoft.com/office/drawing/2014/chart" uri="{C3380CC4-5D6E-409C-BE32-E72D297353CC}">
              <c16:uniqueId val="{00000000-CBAD-459E-AC79-6A70127D5231}"/>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Highest efficacy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38231395318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654-43D7-B402-B02E055CAA67}"/>
                </c:ext>
              </c:extLst>
            </c:dLbl>
            <c:dLbl>
              <c:idx val="1"/>
              <c:layout>
                <c:manualLayout>
                  <c:x val="-4.5811648302072218E-2"/>
                  <c:y val="-0.322122140035525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654-43D7-B402-B02E055CAA67}"/>
                </c:ext>
              </c:extLst>
            </c:dLbl>
            <c:dLbl>
              <c:idx val="2"/>
              <c:layout>
                <c:manualLayout>
                  <c:x val="-4.5811648302072218E-2"/>
                  <c:y val="-0.29526896259179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654-43D7-B402-B02E055CAA67}"/>
                </c:ext>
              </c:extLst>
            </c:dLbl>
            <c:dLbl>
              <c:idx val="3"/>
              <c:layout>
                <c:manualLayout>
                  <c:x val="-4.5811648302072218E-2"/>
                  <c:y val="-0.311381531853972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654-43D7-B402-B02E055CAA67}"/>
                </c:ext>
              </c:extLst>
            </c:dLbl>
            <c:dLbl>
              <c:idx val="4"/>
              <c:layout>
                <c:manualLayout>
                  <c:x val="-4.5811648302072218E-2"/>
                  <c:y val="-0.332862748217078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654-43D7-B402-B02E055CAA67}"/>
                </c:ext>
              </c:extLst>
            </c:dLbl>
            <c:dLbl>
              <c:idx val="5"/>
              <c:layout>
                <c:manualLayout>
                  <c:x val="-4.5811648302072218E-2"/>
                  <c:y val="-0.413418966568572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654-43D7-B402-B02E055CAA6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0.61</c:v>
                </c:pt>
                <c:pt idx="1">
                  <c:v>0.64</c:v>
                </c:pt>
                <c:pt idx="2">
                  <c:v>0.69</c:v>
                </c:pt>
                <c:pt idx="3">
                  <c:v>0.66</c:v>
                </c:pt>
                <c:pt idx="4">
                  <c:v>0.62</c:v>
                </c:pt>
                <c:pt idx="5">
                  <c:v>0.47</c:v>
                </c:pt>
              </c:numCache>
            </c:numRef>
          </c:val>
          <c:smooth val="0"/>
          <c:extLst>
            <c:ext xmlns:c16="http://schemas.microsoft.com/office/drawing/2014/chart" uri="{C3380CC4-5D6E-409C-BE32-E72D297353CC}">
              <c16:uniqueId val="{00000006-5654-43D7-B402-B02E055CAA67}"/>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Benefits patient outcomes beyond symptom relief</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9193443622577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596-4611-AF2A-FD101E68CC18}"/>
                </c:ext>
              </c:extLst>
            </c:dLbl>
            <c:dLbl>
              <c:idx val="1"/>
              <c:layout>
                <c:manualLayout>
                  <c:x val="-4.5811648302072218E-2"/>
                  <c:y val="-0.397306397306397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596-4611-AF2A-FD101E68CC18}"/>
                </c:ext>
              </c:extLst>
            </c:dLbl>
            <c:dLbl>
              <c:idx val="2"/>
              <c:layout>
                <c:manualLayout>
                  <c:x val="-4.5811648302072218E-2"/>
                  <c:y val="-0.41878761366950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596-4611-AF2A-FD101E68CC18}"/>
                </c:ext>
              </c:extLst>
            </c:dLbl>
            <c:dLbl>
              <c:idx val="3"/>
              <c:layout>
                <c:manualLayout>
                  <c:x val="-4.5811648302072218E-2"/>
                  <c:y val="-0.445640791113232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596-4611-AF2A-FD101E68CC18}"/>
                </c:ext>
              </c:extLst>
            </c:dLbl>
            <c:dLbl>
              <c:idx val="4"/>
              <c:layout>
                <c:manualLayout>
                  <c:x val="-4.5811648302072218E-2"/>
                  <c:y val="-0.451009438214162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596-4611-AF2A-FD101E68CC18}"/>
                </c:ext>
              </c:extLst>
            </c:dLbl>
            <c:dLbl>
              <c:idx val="5"/>
              <c:layout>
                <c:manualLayout>
                  <c:x val="-4.5811648302072218E-2"/>
                  <c:y val="-0.451009438214162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596-4611-AF2A-FD101E68CC1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0.51</c:v>
                </c:pt>
                <c:pt idx="1">
                  <c:v>0.5</c:v>
                </c:pt>
                <c:pt idx="2">
                  <c:v>0.46</c:v>
                </c:pt>
                <c:pt idx="3">
                  <c:v>0.41</c:v>
                </c:pt>
                <c:pt idx="4">
                  <c:v>0.4</c:v>
                </c:pt>
                <c:pt idx="5">
                  <c:v>0.4</c:v>
                </c:pt>
              </c:numCache>
            </c:numRef>
          </c:val>
          <c:smooth val="0"/>
          <c:extLst>
            <c:ext xmlns:c16="http://schemas.microsoft.com/office/drawing/2014/chart" uri="{C3380CC4-5D6E-409C-BE32-E72D297353CC}">
              <c16:uniqueId val="{00000006-1596-4611-AF2A-FD101E68CC18}"/>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Best formulary / insurance coverage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9193443622577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D5F-4EA5-9994-AFE71E6ADE57}"/>
                </c:ext>
              </c:extLst>
            </c:dLbl>
            <c:dLbl>
              <c:idx val="1"/>
              <c:layout>
                <c:manualLayout>
                  <c:x val="-4.5811648302072218E-2"/>
                  <c:y val="-0.381193828044221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D5F-4EA5-9994-AFE71E6ADE57}"/>
                </c:ext>
              </c:extLst>
            </c:dLbl>
            <c:dLbl>
              <c:idx val="2"/>
              <c:layout>
                <c:manualLayout>
                  <c:x val="-4.5811648302072218E-2"/>
                  <c:y val="-0.451009438214162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D5F-4EA5-9994-AFE71E6ADE57}"/>
                </c:ext>
              </c:extLst>
            </c:dLbl>
            <c:dLbl>
              <c:idx val="3"/>
              <c:layout>
                <c:manualLayout>
                  <c:x val="-4.5811648302072218E-2"/>
                  <c:y val="-0.471397041278931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D5F-4EA5-9994-AFE71E6ADE57}"/>
                </c:ext>
              </c:extLst>
            </c:dLbl>
            <c:dLbl>
              <c:idx val="4"/>
              <c:layout>
                <c:manualLayout>
                  <c:x val="-4.5811648302072218E-2"/>
                  <c:y val="-0.44991582491582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D5F-4EA5-9994-AFE71E6ADE57}"/>
                </c:ext>
              </c:extLst>
            </c:dLbl>
            <c:dLbl>
              <c:idx val="5"/>
              <c:layout>
                <c:manualLayout>
                  <c:x val="-4.5811648302072218E-2"/>
                  <c:y val="-0.428434608552718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D5F-4EA5-9994-AFE71E6ADE5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0.51</c:v>
                </c:pt>
                <c:pt idx="1">
                  <c:v>0.53</c:v>
                </c:pt>
                <c:pt idx="2">
                  <c:v>0.4</c:v>
                </c:pt>
                <c:pt idx="3">
                  <c:v>0.28999999999999998</c:v>
                </c:pt>
                <c:pt idx="4">
                  <c:v>0.25</c:v>
                </c:pt>
                <c:pt idx="5">
                  <c:v>0.21</c:v>
                </c:pt>
              </c:numCache>
            </c:numRef>
          </c:val>
          <c:smooth val="0"/>
          <c:extLst>
            <c:ext xmlns:c16="http://schemas.microsoft.com/office/drawing/2014/chart" uri="{C3380CC4-5D6E-409C-BE32-E72D297353CC}">
              <c16:uniqueId val="{00000006-2D5F-4EA5-9994-AFE71E6ADE57}"/>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Easiest to prescribe (less impact on practice resources)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7582518094329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14B-41A1-B3B6-0D510D434773}"/>
                </c:ext>
              </c:extLst>
            </c:dLbl>
            <c:dLbl>
              <c:idx val="1"/>
              <c:layout>
                <c:manualLayout>
                  <c:x val="-4.5811648302072218E-2"/>
                  <c:y val="-0.397306397306397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14B-41A1-B3B6-0D510D434773}"/>
                </c:ext>
              </c:extLst>
            </c:dLbl>
            <c:dLbl>
              <c:idx val="2"/>
              <c:layout>
                <c:manualLayout>
                  <c:x val="-4.5811648302072218E-2"/>
                  <c:y val="-0.429528221851056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14B-41A1-B3B6-0D510D434773}"/>
                </c:ext>
              </c:extLst>
            </c:dLbl>
            <c:dLbl>
              <c:idx val="3"/>
              <c:layout>
                <c:manualLayout>
                  <c:x val="-4.5811648302072218E-2"/>
                  <c:y val="-0.46712200747633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14B-41A1-B3B6-0D510D434773}"/>
                </c:ext>
              </c:extLst>
            </c:dLbl>
            <c:dLbl>
              <c:idx val="4"/>
              <c:layout>
                <c:manualLayout>
                  <c:x val="-4.5811648302072218E-2"/>
                  <c:y val="-0.44991582491582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14B-41A1-B3B6-0D510D434773}"/>
                </c:ext>
              </c:extLst>
            </c:dLbl>
            <c:dLbl>
              <c:idx val="5"/>
              <c:layout>
                <c:manualLayout>
                  <c:x val="-4.5811648302072218E-2"/>
                  <c:y val="-0.417694000371165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14B-41A1-B3B6-0D510D43477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0.54</c:v>
                </c:pt>
                <c:pt idx="1">
                  <c:v>0.5</c:v>
                </c:pt>
                <c:pt idx="2">
                  <c:v>0.44</c:v>
                </c:pt>
                <c:pt idx="3">
                  <c:v>0.37</c:v>
                </c:pt>
                <c:pt idx="4">
                  <c:v>0.25</c:v>
                </c:pt>
                <c:pt idx="5">
                  <c:v>0.19</c:v>
                </c:pt>
              </c:numCache>
            </c:numRef>
          </c:val>
          <c:smooth val="0"/>
          <c:extLst>
            <c:ext xmlns:c16="http://schemas.microsoft.com/office/drawing/2014/chart" uri="{C3380CC4-5D6E-409C-BE32-E72D297353CC}">
              <c16:uniqueId val="{00000006-514B-41A1-B3B6-0D510D434773}"/>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Patient Support Programs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6508457276173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F2C-4FE0-B428-40B90E7685E1}"/>
                </c:ext>
              </c:extLst>
            </c:dLbl>
            <c:dLbl>
              <c:idx val="1"/>
              <c:layout>
                <c:manualLayout>
                  <c:x val="-4.5811648302072218E-2"/>
                  <c:y val="-0.413418966568572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F2C-4FE0-B428-40B90E7685E1}"/>
                </c:ext>
              </c:extLst>
            </c:dLbl>
            <c:dLbl>
              <c:idx val="2"/>
              <c:layout>
                <c:manualLayout>
                  <c:x val="-4.5811648302072218E-2"/>
                  <c:y val="-0.41878761366950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F2C-4FE0-B428-40B90E7685E1}"/>
                </c:ext>
              </c:extLst>
            </c:dLbl>
            <c:dLbl>
              <c:idx val="3"/>
              <c:layout>
                <c:manualLayout>
                  <c:x val="-4.5811648302072218E-2"/>
                  <c:y val="-0.445640791113232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F2C-4FE0-B428-40B90E7685E1}"/>
                </c:ext>
              </c:extLst>
            </c:dLbl>
            <c:dLbl>
              <c:idx val="4"/>
              <c:layout>
                <c:manualLayout>
                  <c:x val="-4.5811648302072218E-2"/>
                  <c:y val="-0.402678358387019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2C-4FE0-B428-40B90E7685E1}"/>
                </c:ext>
              </c:extLst>
            </c:dLbl>
            <c:dLbl>
              <c:idx val="5"/>
              <c:layout>
                <c:manualLayout>
                  <c:x val="-4.5811648302072218E-2"/>
                  <c:y val="-0.43490018293167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F2C-4FE0-B428-40B90E7685E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0.56000000000000005</c:v>
                </c:pt>
                <c:pt idx="1">
                  <c:v>0.47</c:v>
                </c:pt>
                <c:pt idx="2">
                  <c:v>0.46</c:v>
                </c:pt>
                <c:pt idx="3">
                  <c:v>0.41</c:v>
                </c:pt>
                <c:pt idx="4">
                  <c:v>0.49</c:v>
                </c:pt>
                <c:pt idx="5">
                  <c:v>0.43</c:v>
                </c:pt>
              </c:numCache>
            </c:numRef>
          </c:val>
          <c:smooth val="0"/>
          <c:extLst>
            <c:ext xmlns:c16="http://schemas.microsoft.com/office/drawing/2014/chart" uri="{C3380CC4-5D6E-409C-BE32-E72D297353CC}">
              <c16:uniqueId val="{00000006-CF2C-4FE0-B428-40B90E7685E1}"/>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Co-pay assistance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402678358387019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471-40F5-9916-2F6B7E398BE7}"/>
                </c:ext>
              </c:extLst>
            </c:dLbl>
            <c:dLbl>
              <c:idx val="1"/>
              <c:layout>
                <c:manualLayout>
                  <c:x val="-4.5811648302072218E-2"/>
                  <c:y val="-0.429528221851056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471-40F5-9916-2F6B7E398BE7}"/>
                </c:ext>
              </c:extLst>
            </c:dLbl>
            <c:dLbl>
              <c:idx val="2"/>
              <c:layout>
                <c:manualLayout>
                  <c:x val="-4.58116483020722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471-40F5-9916-2F6B7E398BE7}"/>
                </c:ext>
              </c:extLst>
            </c:dLbl>
            <c:dLbl>
              <c:idx val="3"/>
              <c:layout>
                <c:manualLayout>
                  <c:x val="-4.5811648302072218E-2"/>
                  <c:y val="-0.471397041278931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471-40F5-9916-2F6B7E398BE7}"/>
                </c:ext>
              </c:extLst>
            </c:dLbl>
            <c:dLbl>
              <c:idx val="4"/>
              <c:layout>
                <c:manualLayout>
                  <c:x val="-4.5811648302072218E-2"/>
                  <c:y val="-0.476769002359553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471-40F5-9916-2F6B7E398BE7}"/>
                </c:ext>
              </c:extLst>
            </c:dLbl>
            <c:dLbl>
              <c:idx val="5"/>
              <c:layout>
                <c:manualLayout>
                  <c:x val="-4.5811648302072218E-2"/>
                  <c:y val="-0.455287785996447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471-40F5-9916-2F6B7E398BE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0.49</c:v>
                </c:pt>
                <c:pt idx="1">
                  <c:v>0.44</c:v>
                </c:pt>
                <c:pt idx="2">
                  <c:v>0.33</c:v>
                </c:pt>
                <c:pt idx="3">
                  <c:v>0.28999999999999998</c:v>
                </c:pt>
                <c:pt idx="4">
                  <c:v>0.3</c:v>
                </c:pt>
                <c:pt idx="5">
                  <c:v>0.26</c:v>
                </c:pt>
              </c:numCache>
            </c:numRef>
          </c:val>
          <c:smooth val="0"/>
          <c:extLst>
            <c:ext xmlns:c16="http://schemas.microsoft.com/office/drawing/2014/chart" uri="{C3380CC4-5D6E-409C-BE32-E72D297353CC}">
              <c16:uniqueId val="{00000006-1471-40F5-9916-2F6B7E398BE7}"/>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Lowest treatment cost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225453352421856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825-44FE-AC10-CD6E0157C08C}"/>
                </c:ext>
              </c:extLst>
            </c:dLbl>
            <c:dLbl>
              <c:idx val="1"/>
              <c:layout>
                <c:manualLayout>
                  <c:x val="-4.5811648302072218E-2"/>
                  <c:y val="-0.193231527877197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825-44FE-AC10-CD6E0157C08C}"/>
                </c:ext>
              </c:extLst>
            </c:dLbl>
            <c:dLbl>
              <c:idx val="2"/>
              <c:layout>
                <c:manualLayout>
                  <c:x val="-4.5811648302072218E-2"/>
                  <c:y val="-0.311381531853972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825-44FE-AC10-CD6E0157C08C}"/>
                </c:ext>
              </c:extLst>
            </c:dLbl>
            <c:dLbl>
              <c:idx val="3"/>
              <c:layout>
                <c:manualLayout>
                  <c:x val="-4.5811648302072218E-2"/>
                  <c:y val="-0.40804700548795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825-44FE-AC10-CD6E0157C08C}"/>
                </c:ext>
              </c:extLst>
            </c:dLbl>
            <c:dLbl>
              <c:idx val="4"/>
              <c:layout>
                <c:manualLayout>
                  <c:x val="-4.5811648302072218E-2"/>
                  <c:y val="-0.48148148148148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825-44FE-AC10-CD6E0157C08C}"/>
                </c:ext>
              </c:extLst>
            </c:dLbl>
            <c:dLbl>
              <c:idx val="5"/>
              <c:layout>
                <c:manualLayout>
                  <c:x val="-4.5811648302072218E-2"/>
                  <c:y val="-0.433803255653649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825-44FE-AC10-CD6E0157C08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0.44</c:v>
                </c:pt>
                <c:pt idx="2">
                  <c:v>0.33</c:v>
                </c:pt>
                <c:pt idx="3">
                  <c:v>0.24</c:v>
                </c:pt>
                <c:pt idx="4">
                  <c:v>0.17</c:v>
                </c:pt>
                <c:pt idx="5">
                  <c:v>0.11</c:v>
                </c:pt>
              </c:numCache>
            </c:numRef>
          </c:val>
          <c:smooth val="0"/>
          <c:extLst>
            <c:ext xmlns:c16="http://schemas.microsoft.com/office/drawing/2014/chart" uri="{C3380CC4-5D6E-409C-BE32-E72D297353CC}">
              <c16:uniqueId val="{00000006-F825-44FE-AC10-CD6E0157C08C}"/>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Simplest dosing</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54343964580185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F15-46CA-BD0B-6B11867B5464}"/>
                </c:ext>
              </c:extLst>
            </c:dLbl>
            <c:dLbl>
              <c:idx val="1"/>
              <c:layout>
                <c:manualLayout>
                  <c:x val="-4.5811648302072218E-2"/>
                  <c:y val="-0.311381531853972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F15-46CA-BD0B-6B11867B5464}"/>
                </c:ext>
              </c:extLst>
            </c:dLbl>
            <c:dLbl>
              <c:idx val="2"/>
              <c:layout>
                <c:manualLayout>
                  <c:x val="-4.5811648302072218E-2"/>
                  <c:y val="-0.354343964580185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F15-46CA-BD0B-6B11867B5464}"/>
                </c:ext>
              </c:extLst>
            </c:dLbl>
            <c:dLbl>
              <c:idx val="3"/>
              <c:layout>
                <c:manualLayout>
                  <c:x val="-4.5811648302072218E-2"/>
                  <c:y val="-0.40804700548795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F15-46CA-BD0B-6B11867B5464}"/>
                </c:ext>
              </c:extLst>
            </c:dLbl>
            <c:dLbl>
              <c:idx val="4"/>
              <c:layout>
                <c:manualLayout>
                  <c:x val="-4.5811648302072218E-2"/>
                  <c:y val="-0.440268830032609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F15-46CA-BD0B-6B11867B5464}"/>
                </c:ext>
              </c:extLst>
            </c:dLbl>
            <c:dLbl>
              <c:idx val="5"/>
              <c:layout>
                <c:manualLayout>
                  <c:x val="-4.5811648302072218E-2"/>
                  <c:y val="-0.461750046395715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F15-46CA-BD0B-6B11867B546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0.28999999999999998</c:v>
                </c:pt>
                <c:pt idx="1">
                  <c:v>0.33</c:v>
                </c:pt>
                <c:pt idx="2">
                  <c:v>0.28999999999999998</c:v>
                </c:pt>
                <c:pt idx="3">
                  <c:v>0.24</c:v>
                </c:pt>
                <c:pt idx="4">
                  <c:v>0.21</c:v>
                </c:pt>
                <c:pt idx="5">
                  <c:v>0.19</c:v>
                </c:pt>
              </c:numCache>
            </c:numRef>
          </c:val>
          <c:smooth val="0"/>
          <c:extLst>
            <c:ext xmlns:c16="http://schemas.microsoft.com/office/drawing/2014/chart" uri="{C3380CC4-5D6E-409C-BE32-E72D297353CC}">
              <c16:uniqueId val="{00000006-1F15-46CA-BD0B-6B11867B5464}"/>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Dosing flexibility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171750311514091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302-4444-BDBD-6C81856FCA14}"/>
                </c:ext>
              </c:extLst>
            </c:dLbl>
            <c:dLbl>
              <c:idx val="1"/>
              <c:layout>
                <c:manualLayout>
                  <c:x val="-4.5811648302072218E-2"/>
                  <c:y val="-0.161009703332537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302-4444-BDBD-6C81856FCA14}"/>
                </c:ext>
              </c:extLst>
            </c:dLbl>
            <c:dLbl>
              <c:idx val="2"/>
              <c:layout>
                <c:manualLayout>
                  <c:x val="-4.5811648302072218E-2"/>
                  <c:y val="-0.171750311514091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302-4444-BDBD-6C81856FCA14}"/>
                </c:ext>
              </c:extLst>
            </c:dLbl>
            <c:dLbl>
              <c:idx val="3"/>
              <c:layout>
                <c:manualLayout>
                  <c:x val="-4.5811648302072218E-2"/>
                  <c:y val="-0.225453352421856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302-4444-BDBD-6C81856FCA14}"/>
                </c:ext>
              </c:extLst>
            </c:dLbl>
            <c:dLbl>
              <c:idx val="4"/>
              <c:layout>
                <c:manualLayout>
                  <c:x val="-4.5811648302072218E-2"/>
                  <c:y val="-0.30064092367241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302-4444-BDBD-6C81856FCA14}"/>
                </c:ext>
              </c:extLst>
            </c:dLbl>
            <c:dLbl>
              <c:idx val="5"/>
              <c:layout>
                <c:manualLayout>
                  <c:x val="-4.5811648302072218E-2"/>
                  <c:y val="-0.257675176966515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302-4444-BDBD-6C81856FCA1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0.46</c:v>
                </c:pt>
                <c:pt idx="1">
                  <c:v>0.47</c:v>
                </c:pt>
                <c:pt idx="2">
                  <c:v>0.46</c:v>
                </c:pt>
                <c:pt idx="3">
                  <c:v>0.41</c:v>
                </c:pt>
                <c:pt idx="4">
                  <c:v>0.34</c:v>
                </c:pt>
                <c:pt idx="5">
                  <c:v>0.38</c:v>
                </c:pt>
              </c:numCache>
            </c:numRef>
          </c:val>
          <c:smooth val="0"/>
          <c:extLst>
            <c:ext xmlns:c16="http://schemas.microsoft.com/office/drawing/2014/chart" uri="{C3380CC4-5D6E-409C-BE32-E72D297353CC}">
              <c16:uniqueId val="{00000006-D302-4444-BDBD-6C81856FCA14}"/>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Patient adherence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7582518094329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2D4-4CF3-8E6C-3B3F19FA7211}"/>
                </c:ext>
              </c:extLst>
            </c:dLbl>
            <c:dLbl>
              <c:idx val="1"/>
              <c:layout>
                <c:manualLayout>
                  <c:x val="-4.5811648302072218E-2"/>
                  <c:y val="-0.2791597073093136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2D4-4CF3-8E6C-3B3F19FA7211}"/>
                </c:ext>
              </c:extLst>
            </c:dLbl>
            <c:dLbl>
              <c:idx val="2"/>
              <c:layout>
                <c:manualLayout>
                  <c:x val="-4.5811648302072218E-2"/>
                  <c:y val="-0.354343964580185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2D4-4CF3-8E6C-3B3F19FA7211}"/>
                </c:ext>
              </c:extLst>
            </c:dLbl>
            <c:dLbl>
              <c:idx val="3"/>
              <c:layout>
                <c:manualLayout>
                  <c:x val="-4.5811648302072218E-2"/>
                  <c:y val="-0.37582518094329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2D4-4CF3-8E6C-3B3F19FA7211}"/>
                </c:ext>
              </c:extLst>
            </c:dLbl>
            <c:dLbl>
              <c:idx val="4"/>
              <c:layout>
                <c:manualLayout>
                  <c:x val="-4.5811648302072218E-2"/>
                  <c:y val="-0.440268830032609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2D4-4CF3-8E6C-3B3F19FA7211}"/>
                </c:ext>
              </c:extLst>
            </c:dLbl>
            <c:dLbl>
              <c:idx val="5"/>
              <c:layout>
                <c:manualLayout>
                  <c:x val="-4.5811648302072218E-2"/>
                  <c:y val="-0.461750046395715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2D4-4CF3-8E6C-3B3F19FA721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0.27</c:v>
                </c:pt>
                <c:pt idx="1">
                  <c:v>0.36</c:v>
                </c:pt>
                <c:pt idx="2">
                  <c:v>0.28999999999999998</c:v>
                </c:pt>
                <c:pt idx="3">
                  <c:v>0.27</c:v>
                </c:pt>
                <c:pt idx="4">
                  <c:v>0.21</c:v>
                </c:pt>
                <c:pt idx="5">
                  <c:v>0.19</c:v>
                </c:pt>
              </c:numCache>
            </c:numRef>
          </c:val>
          <c:smooth val="0"/>
          <c:extLst>
            <c:ext xmlns:c16="http://schemas.microsoft.com/office/drawing/2014/chart" uri="{C3380CC4-5D6E-409C-BE32-E72D297353CC}">
              <c16:uniqueId val="{00000006-A2D4-4CF3-8E6C-3B3F19FA7211}"/>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Most dosing options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246934568784962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8D8-4CF5-8229-5C1C71C91D6F}"/>
                </c:ext>
              </c:extLst>
            </c:dLbl>
            <c:dLbl>
              <c:idx val="1"/>
              <c:layout>
                <c:manualLayout>
                  <c:x val="-4.5811648302072218E-2"/>
                  <c:y val="-0.214712744240303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8D8-4CF5-8229-5C1C71C91D6F}"/>
                </c:ext>
              </c:extLst>
            </c:dLbl>
            <c:dLbl>
              <c:idx val="2"/>
              <c:layout>
                <c:manualLayout>
                  <c:x val="-4.5811648302072218E-2"/>
                  <c:y val="-0.214712744240303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8D8-4CF5-8229-5C1C71C91D6F}"/>
                </c:ext>
              </c:extLst>
            </c:dLbl>
            <c:dLbl>
              <c:idx val="3"/>
              <c:layout>
                <c:manualLayout>
                  <c:x val="-4.5811648302072218E-2"/>
                  <c:y val="-0.268419099127760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8D8-4CF5-8229-5C1C71C91D6F}"/>
                </c:ext>
              </c:extLst>
            </c:dLbl>
            <c:dLbl>
              <c:idx val="4"/>
              <c:layout>
                <c:manualLayout>
                  <c:x val="-4.5811648302072218E-2"/>
                  <c:y val="-0.322122140035525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8D8-4CF5-8229-5C1C71C91D6F}"/>
                </c:ext>
              </c:extLst>
            </c:dLbl>
            <c:dLbl>
              <c:idx val="5"/>
              <c:layout>
                <c:manualLayout>
                  <c:x val="-4.5811648302072218E-2"/>
                  <c:y val="-0.36508457276173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8D8-4CF5-8229-5C1C71C91D6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0.39</c:v>
                </c:pt>
                <c:pt idx="1">
                  <c:v>0.42</c:v>
                </c:pt>
                <c:pt idx="2">
                  <c:v>0.42</c:v>
                </c:pt>
                <c:pt idx="3">
                  <c:v>0.37</c:v>
                </c:pt>
                <c:pt idx="4">
                  <c:v>0.32</c:v>
                </c:pt>
                <c:pt idx="5">
                  <c:v>0.28000000000000003</c:v>
                </c:pt>
              </c:numCache>
            </c:numRef>
          </c:val>
          <c:smooth val="0"/>
          <c:extLst>
            <c:ext xmlns:c16="http://schemas.microsoft.com/office/drawing/2014/chart" uri="{C3380CC4-5D6E-409C-BE32-E72D297353CC}">
              <c16:uniqueId val="{00000006-78D8-4CF5-8229-5C1C71C91D6F}"/>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Most favorable safety profile</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327490787136456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2A6-4B0F-8F69-2C7D454C35C6}"/>
                </c:ext>
              </c:extLst>
            </c:dLbl>
            <c:dLbl>
              <c:idx val="1"/>
              <c:layout>
                <c:manualLayout>
                  <c:x val="-4.5811648302072218E-2"/>
                  <c:y val="-0.306009570773350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2A6-4B0F-8F69-2C7D454C35C6}"/>
                </c:ext>
              </c:extLst>
            </c:dLbl>
            <c:dLbl>
              <c:idx val="2"/>
              <c:layout>
                <c:manualLayout>
                  <c:x val="-4.5811648302072218E-2"/>
                  <c:y val="-0.327490787136456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2A6-4B0F-8F69-2C7D454C35C6}"/>
                </c:ext>
              </c:extLst>
            </c:dLbl>
            <c:dLbl>
              <c:idx val="3"/>
              <c:layout>
                <c:manualLayout>
                  <c:x val="-4.5811648302072218E-2"/>
                  <c:y val="-0.39193443622577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2A6-4B0F-8F69-2C7D454C35C6}"/>
                </c:ext>
              </c:extLst>
            </c:dLbl>
            <c:dLbl>
              <c:idx val="4"/>
              <c:layout>
                <c:manualLayout>
                  <c:x val="-4.5811648302072218E-2"/>
                  <c:y val="-0.413418966568572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2A6-4B0F-8F69-2C7D454C35C6}"/>
                </c:ext>
              </c:extLst>
            </c:dLbl>
            <c:dLbl>
              <c:idx val="5"/>
              <c:layout>
                <c:manualLayout>
                  <c:x val="-4.5811648302072218E-2"/>
                  <c:y val="-0.461750046395715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2A6-4B0F-8F69-2C7D454C35C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0.63</c:v>
                </c:pt>
                <c:pt idx="1">
                  <c:v>0.67</c:v>
                </c:pt>
                <c:pt idx="2">
                  <c:v>0.63</c:v>
                </c:pt>
                <c:pt idx="3">
                  <c:v>0.51</c:v>
                </c:pt>
                <c:pt idx="4">
                  <c:v>0.47</c:v>
                </c:pt>
                <c:pt idx="5">
                  <c:v>0.38</c:v>
                </c:pt>
              </c:numCache>
            </c:numRef>
          </c:val>
          <c:smooth val="0"/>
          <c:extLst>
            <c:ext xmlns:c16="http://schemas.microsoft.com/office/drawing/2014/chart" uri="{C3380CC4-5D6E-409C-BE32-E72D297353CC}">
              <c16:uniqueId val="{00000006-62A6-4B0F-8F69-2C7D454C35C6}"/>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Successful personal experience with treatment</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246934568784962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9E-4C50-9FCA-5B28470B96E2}"/>
                </c:ext>
              </c:extLst>
            </c:dLbl>
            <c:dLbl>
              <c:idx val="1"/>
              <c:layout>
                <c:manualLayout>
                  <c:x val="-4.5811648302072218E-2"/>
                  <c:y val="-0.263047138047138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49E-4C50-9FCA-5B28470B96E2}"/>
                </c:ext>
              </c:extLst>
            </c:dLbl>
            <c:dLbl>
              <c:idx val="2"/>
              <c:layout>
                <c:manualLayout>
                  <c:x val="-4.5811648302072218E-2"/>
                  <c:y val="-0.29526896259179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9E-4C50-9FCA-5B28470B96E2}"/>
                </c:ext>
              </c:extLst>
            </c:dLbl>
            <c:dLbl>
              <c:idx val="3"/>
              <c:layout>
                <c:manualLayout>
                  <c:x val="-4.5811648302072218E-2"/>
                  <c:y val="-0.338231395318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9E-4C50-9FCA-5B28470B96E2}"/>
                </c:ext>
              </c:extLst>
            </c:dLbl>
            <c:dLbl>
              <c:idx val="4"/>
              <c:layout>
                <c:manualLayout>
                  <c:x val="-4.5811648302072218E-2"/>
                  <c:y val="-0.354343964580185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9E-4C50-9FCA-5B28470B96E2}"/>
                </c:ext>
              </c:extLst>
            </c:dLbl>
            <c:dLbl>
              <c:idx val="5"/>
              <c:layout>
                <c:manualLayout>
                  <c:x val="-4.5811648302072218E-2"/>
                  <c:y val="-0.381193828044221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49E-4C50-9FCA-5B28470B96E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0.78</c:v>
                </c:pt>
                <c:pt idx="1">
                  <c:v>0.75</c:v>
                </c:pt>
                <c:pt idx="2">
                  <c:v>0.69</c:v>
                </c:pt>
                <c:pt idx="3">
                  <c:v>0.61</c:v>
                </c:pt>
                <c:pt idx="4">
                  <c:v>0.57999999999999996</c:v>
                </c:pt>
                <c:pt idx="5">
                  <c:v>0.53</c:v>
                </c:pt>
              </c:numCache>
            </c:numRef>
          </c:val>
          <c:smooth val="0"/>
          <c:extLst>
            <c:ext xmlns:c16="http://schemas.microsoft.com/office/drawing/2014/chart" uri="{C3380CC4-5D6E-409C-BE32-E72D297353CC}">
              <c16:uniqueId val="{00000006-349E-4C50-9FCA-5B28470B96E2}"/>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897842261809221E-2"/>
          <c:y val="0.37878787878787878"/>
          <c:w val="0.94020431547638161"/>
          <c:h val="0.53703703703703709"/>
        </c:manualLayout>
      </c:layout>
      <c:lineChart>
        <c:grouping val="standard"/>
        <c:varyColors val="0"/>
        <c:ser>
          <c:idx val="0"/>
          <c:order val="0"/>
          <c:tx>
            <c:strRef>
              <c:f>Sheet1!$B$1</c:f>
              <c:strCache>
                <c:ptCount val="1"/>
                <c:pt idx="0">
                  <c:v>Treatment is preferred by patients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4.5811648302072218E-2"/>
                  <c:y val="-0.268419099127760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FD2-4CFC-B914-3FE1028F430F}"/>
                </c:ext>
              </c:extLst>
            </c:dLbl>
            <c:dLbl>
              <c:idx val="1"/>
              <c:layout>
                <c:manualLayout>
                  <c:x val="-4.5811648302072218E-2"/>
                  <c:y val="-0.246934568784962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FD2-4CFC-B914-3FE1028F430F}"/>
                </c:ext>
              </c:extLst>
            </c:dLbl>
            <c:dLbl>
              <c:idx val="2"/>
              <c:layout>
                <c:manualLayout>
                  <c:x val="-4.5811648302072218E-2"/>
                  <c:y val="-0.28990031549086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FD2-4CFC-B914-3FE1028F430F}"/>
                </c:ext>
              </c:extLst>
            </c:dLbl>
            <c:dLbl>
              <c:idx val="3"/>
              <c:layout>
                <c:manualLayout>
                  <c:x val="-4.5811648302072218E-2"/>
                  <c:y val="-0.322122140035525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FD2-4CFC-B914-3FE1028F430F}"/>
                </c:ext>
              </c:extLst>
            </c:dLbl>
            <c:dLbl>
              <c:idx val="4"/>
              <c:layout>
                <c:manualLayout>
                  <c:x val="-4.5811648302072218E-2"/>
                  <c:y val="-0.38656578912484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FD2-4CFC-B914-3FE1028F430F}"/>
                </c:ext>
              </c:extLst>
            </c:dLbl>
            <c:dLbl>
              <c:idx val="5"/>
              <c:layout>
                <c:manualLayout>
                  <c:x val="-4.5811648302072218E-2"/>
                  <c:y val="-0.365084572761738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Body)"/>
                      <a:ea typeface="Roboto (Body)"/>
                      <a:cs typeface="Roboto (Body)"/>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FD2-4CFC-B914-3FE1028F430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0.38</c:v>
                </c:pt>
                <c:pt idx="2">
                  <c:v>0.37</c:v>
                </c:pt>
                <c:pt idx="3">
                  <c:v>0.36</c:v>
                </c:pt>
                <c:pt idx="4">
                  <c:v>0.32</c:v>
                </c:pt>
                <c:pt idx="5">
                  <c:v>0.38</c:v>
                </c:pt>
              </c:numCache>
            </c:numRef>
          </c:val>
          <c:smooth val="0"/>
          <c:extLst>
            <c:ext xmlns:c16="http://schemas.microsoft.com/office/drawing/2014/chart" uri="{C3380CC4-5D6E-409C-BE32-E72D297353CC}">
              <c16:uniqueId val="{00000006-2FD2-4CFC-B914-3FE1028F430F}"/>
            </c:ext>
          </c:extLst>
        </c:ser>
        <c:dLbls>
          <c:dLblPos val="t"/>
          <c:showLegendKey val="0"/>
          <c:showVal val="1"/>
          <c:showCatName val="0"/>
          <c:showSerName val="0"/>
          <c:showPercent val="0"/>
          <c:showBubbleSize val="0"/>
        </c:dLbls>
        <c:marker val="1"/>
        <c:smooth val="0"/>
        <c:axId val="1531853520"/>
        <c:axId val="1531850160"/>
      </c:lineChart>
      <c:catAx>
        <c:axId val="1531853520"/>
        <c:scaling>
          <c:orientation val="minMax"/>
        </c:scaling>
        <c:delete val="1"/>
        <c:axPos val="b"/>
        <c:numFmt formatCode="General" sourceLinked="1"/>
        <c:majorTickMark val="none"/>
        <c:minorTickMark val="none"/>
        <c:tickLblPos val="nextTo"/>
        <c:crossAx val="1531850160"/>
        <c:crosses val="autoZero"/>
        <c:auto val="1"/>
        <c:lblAlgn val="ctr"/>
        <c:lblOffset val="100"/>
        <c:noMultiLvlLbl val="0"/>
      </c:catAx>
      <c:valAx>
        <c:axId val="1531850160"/>
        <c:scaling>
          <c:orientation val="minMax"/>
        </c:scaling>
        <c:delete val="1"/>
        <c:axPos val="l"/>
        <c:numFmt formatCode="0%" sourceLinked="1"/>
        <c:majorTickMark val="none"/>
        <c:minorTickMark val="none"/>
        <c:tickLblPos val="nextTo"/>
        <c:crossAx val="15318535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81713615041710885"/>
          <c:h val="0.7977547756045975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E66-4E1E-9AA0-32A40134AC00}"/>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E66-4E1E-9AA0-32A40134AC00}"/>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E66-4E1E-9AA0-32A40134AC00}"/>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7E66-4E1E-9AA0-32A40134AC00}"/>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0.39</c:v>
                </c:pt>
                <c:pt idx="1">
                  <c:v>0.42</c:v>
                </c:pt>
                <c:pt idx="2">
                  <c:v>0.39</c:v>
                </c:pt>
                <c:pt idx="3">
                  <c:v>0.39</c:v>
                </c:pt>
                <c:pt idx="4">
                  <c:v>0.39</c:v>
                </c:pt>
                <c:pt idx="5">
                  <c:v>0.39</c:v>
                </c:pt>
              </c:numCache>
            </c:numRef>
          </c:val>
          <c:smooth val="0"/>
          <c:extLst>
            <c:ext xmlns:c16="http://schemas.microsoft.com/office/drawing/2014/chart" uri="{C3380CC4-5D6E-409C-BE32-E72D297353CC}">
              <c16:uniqueId val="{00000007-7E66-4E1E-9AA0-32A40134AC00}"/>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7E66-4E1E-9AA0-32A40134AC00}"/>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7E66-4E1E-9AA0-32A40134AC00}"/>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7E66-4E1E-9AA0-32A40134AC00}"/>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0.28000000000000003</c:v>
                </c:pt>
                <c:pt idx="1">
                  <c:v>0.28000000000000003</c:v>
                </c:pt>
                <c:pt idx="2">
                  <c:v>0.28000000000000003</c:v>
                </c:pt>
                <c:pt idx="3">
                  <c:v>0.28999999999999998</c:v>
                </c:pt>
                <c:pt idx="4">
                  <c:v>0.28999999999999998</c:v>
                </c:pt>
                <c:pt idx="5">
                  <c:v>0.32</c:v>
                </c:pt>
              </c:numCache>
            </c:numRef>
          </c:val>
          <c:smooth val="0"/>
          <c:extLst>
            <c:ext xmlns:c16="http://schemas.microsoft.com/office/drawing/2014/chart" uri="{C3380CC4-5D6E-409C-BE32-E72D297353CC}">
              <c16:uniqueId val="{0000000F-7E66-4E1E-9AA0-32A40134AC00}"/>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0.19</c:v>
                </c:pt>
                <c:pt idx="1">
                  <c:v>0.17</c:v>
                </c:pt>
                <c:pt idx="2">
                  <c:v>0.19</c:v>
                </c:pt>
                <c:pt idx="3">
                  <c:v>0.19</c:v>
                </c:pt>
                <c:pt idx="4">
                  <c:v>0.19</c:v>
                </c:pt>
                <c:pt idx="5">
                  <c:v>0.15</c:v>
                </c:pt>
              </c:numCache>
            </c:numRef>
          </c:val>
          <c:smooth val="0"/>
          <c:extLst>
            <c:ext xmlns:c16="http://schemas.microsoft.com/office/drawing/2014/chart" uri="{C3380CC4-5D6E-409C-BE32-E72D297353CC}">
              <c16:uniqueId val="{00000015-7E66-4E1E-9AA0-32A40134AC00}"/>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0.14000000000000001</c:v>
                </c:pt>
                <c:pt idx="1">
                  <c:v>0.13</c:v>
                </c:pt>
                <c:pt idx="2">
                  <c:v>0.14000000000000001</c:v>
                </c:pt>
                <c:pt idx="3">
                  <c:v>0.13</c:v>
                </c:pt>
                <c:pt idx="4">
                  <c:v>0.12</c:v>
                </c:pt>
                <c:pt idx="5">
                  <c:v>0.14000000000000001</c:v>
                </c:pt>
              </c:numCache>
            </c:numRef>
          </c:val>
          <c:smooth val="0"/>
          <c:extLst>
            <c:ext xmlns:c16="http://schemas.microsoft.com/office/drawing/2014/chart" uri="{C3380CC4-5D6E-409C-BE32-E72D297353CC}">
              <c16:uniqueId val="{00000019-7E66-4E1E-9AA0-32A40134AC0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45"/>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65426085662"/>
          <c:y val="8.678154202639321E-2"/>
          <c:w val="0.8788013310975834"/>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A107-48F5-81B2-656B436F5FAB}"/>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A107-48F5-81B2-656B436F5FAB}"/>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A107-48F5-81B2-656B436F5FAB}"/>
              </c:ext>
            </c:extLst>
          </c:dPt>
          <c:dLbls>
            <c:dLbl>
              <c:idx val="3"/>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A107-48F5-81B2-656B436F5FAB}"/>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Sheet1!$B$2:$B$16</c:f>
              <c:numCache>
                <c:formatCode>0%</c:formatCode>
                <c:ptCount val="15"/>
                <c:pt idx="0">
                  <c:v>0.4</c:v>
                </c:pt>
                <c:pt idx="1">
                  <c:v>0.39</c:v>
                </c:pt>
                <c:pt idx="2">
                  <c:v>0.39</c:v>
                </c:pt>
                <c:pt idx="3">
                  <c:v>0.39</c:v>
                </c:pt>
                <c:pt idx="4">
                  <c:v>0.4</c:v>
                </c:pt>
                <c:pt idx="5">
                  <c:v>0.41</c:v>
                </c:pt>
                <c:pt idx="6">
                  <c:v>0.42</c:v>
                </c:pt>
                <c:pt idx="7">
                  <c:v>0.43</c:v>
                </c:pt>
                <c:pt idx="8">
                  <c:v>0.43</c:v>
                </c:pt>
                <c:pt idx="9">
                  <c:v>0.43</c:v>
                </c:pt>
                <c:pt idx="10">
                  <c:v>0.44</c:v>
                </c:pt>
                <c:pt idx="11">
                  <c:v>0.43</c:v>
                </c:pt>
                <c:pt idx="12">
                  <c:v>0.43</c:v>
                </c:pt>
                <c:pt idx="13">
                  <c:v>0.42</c:v>
                </c:pt>
                <c:pt idx="14">
                  <c:v>0.43</c:v>
                </c:pt>
              </c:numCache>
            </c:numRef>
          </c:val>
          <c:smooth val="0"/>
          <c:extLst>
            <c:ext xmlns:c16="http://schemas.microsoft.com/office/drawing/2014/chart" uri="{C3380CC4-5D6E-409C-BE32-E72D297353CC}">
              <c16:uniqueId val="{00000007-A107-48F5-81B2-656B436F5FAB}"/>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A107-48F5-81B2-656B436F5FAB}"/>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A107-48F5-81B2-656B436F5FAB}"/>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A107-48F5-81B2-656B436F5FAB}"/>
              </c:ext>
            </c:extLst>
          </c:dPt>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Sheet1!$C$2:$C$16</c:f>
              <c:numCache>
                <c:formatCode>0%</c:formatCode>
                <c:ptCount val="15"/>
                <c:pt idx="0">
                  <c:v>0.3</c:v>
                </c:pt>
                <c:pt idx="1">
                  <c:v>0.3</c:v>
                </c:pt>
                <c:pt idx="2">
                  <c:v>0.31</c:v>
                </c:pt>
                <c:pt idx="3">
                  <c:v>0.3</c:v>
                </c:pt>
                <c:pt idx="4">
                  <c:v>0.3</c:v>
                </c:pt>
                <c:pt idx="5">
                  <c:v>0.3</c:v>
                </c:pt>
                <c:pt idx="6">
                  <c:v>0.3</c:v>
                </c:pt>
                <c:pt idx="7">
                  <c:v>0.28999999999999998</c:v>
                </c:pt>
                <c:pt idx="8">
                  <c:v>0.28999999999999998</c:v>
                </c:pt>
                <c:pt idx="9">
                  <c:v>0.3</c:v>
                </c:pt>
                <c:pt idx="10">
                  <c:v>0.31</c:v>
                </c:pt>
                <c:pt idx="11">
                  <c:v>0.31</c:v>
                </c:pt>
                <c:pt idx="12">
                  <c:v>0.31</c:v>
                </c:pt>
                <c:pt idx="13">
                  <c:v>0.31</c:v>
                </c:pt>
                <c:pt idx="14">
                  <c:v>0.31</c:v>
                </c:pt>
              </c:numCache>
            </c:numRef>
          </c:val>
          <c:smooth val="0"/>
          <c:extLst>
            <c:ext xmlns:c16="http://schemas.microsoft.com/office/drawing/2014/chart" uri="{C3380CC4-5D6E-409C-BE32-E72D297353CC}">
              <c16:uniqueId val="{00000011-A107-48F5-81B2-656B436F5FAB}"/>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Sheet1!$D$2:$D$16</c:f>
              <c:numCache>
                <c:formatCode>0%</c:formatCode>
                <c:ptCount val="15"/>
                <c:pt idx="0">
                  <c:v>0.16</c:v>
                </c:pt>
                <c:pt idx="1">
                  <c:v>0.16</c:v>
                </c:pt>
                <c:pt idx="2">
                  <c:v>0.15</c:v>
                </c:pt>
                <c:pt idx="3">
                  <c:v>0.16</c:v>
                </c:pt>
                <c:pt idx="4">
                  <c:v>0.16</c:v>
                </c:pt>
                <c:pt idx="5">
                  <c:v>0.16</c:v>
                </c:pt>
                <c:pt idx="6">
                  <c:v>0.15</c:v>
                </c:pt>
                <c:pt idx="7">
                  <c:v>0.15</c:v>
                </c:pt>
                <c:pt idx="8">
                  <c:v>0.16</c:v>
                </c:pt>
                <c:pt idx="9">
                  <c:v>0.15</c:v>
                </c:pt>
                <c:pt idx="10">
                  <c:v>0.13</c:v>
                </c:pt>
                <c:pt idx="11">
                  <c:v>0.14000000000000001</c:v>
                </c:pt>
                <c:pt idx="12">
                  <c:v>0.14000000000000001</c:v>
                </c:pt>
                <c:pt idx="13">
                  <c:v>0.16</c:v>
                </c:pt>
                <c:pt idx="14">
                  <c:v>0.15</c:v>
                </c:pt>
              </c:numCache>
            </c:numRef>
          </c:val>
          <c:smooth val="0"/>
          <c:extLst>
            <c:ext xmlns:c16="http://schemas.microsoft.com/office/drawing/2014/chart" uri="{C3380CC4-5D6E-409C-BE32-E72D297353CC}">
              <c16:uniqueId val="{00000015-A107-48F5-81B2-656B436F5FAB}"/>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Sheet1!$E$2:$E$16</c:f>
              <c:numCache>
                <c:formatCode>0%</c:formatCode>
                <c:ptCount val="15"/>
                <c:pt idx="0">
                  <c:v>0.15</c:v>
                </c:pt>
                <c:pt idx="1">
                  <c:v>0.15</c:v>
                </c:pt>
                <c:pt idx="2">
                  <c:v>0.15</c:v>
                </c:pt>
                <c:pt idx="3">
                  <c:v>0.15</c:v>
                </c:pt>
                <c:pt idx="4">
                  <c:v>0.14000000000000001</c:v>
                </c:pt>
                <c:pt idx="5">
                  <c:v>0.13</c:v>
                </c:pt>
                <c:pt idx="6">
                  <c:v>0.13</c:v>
                </c:pt>
                <c:pt idx="7">
                  <c:v>0.13</c:v>
                </c:pt>
                <c:pt idx="8">
                  <c:v>0.13</c:v>
                </c:pt>
                <c:pt idx="9">
                  <c:v>0.13</c:v>
                </c:pt>
                <c:pt idx="10">
                  <c:v>0.12</c:v>
                </c:pt>
                <c:pt idx="11">
                  <c:v>0.12</c:v>
                </c:pt>
                <c:pt idx="12">
                  <c:v>0.12</c:v>
                </c:pt>
                <c:pt idx="13">
                  <c:v>0.12</c:v>
                </c:pt>
                <c:pt idx="14">
                  <c:v>0.12</c:v>
                </c:pt>
              </c:numCache>
            </c:numRef>
          </c:val>
          <c:smooth val="0"/>
          <c:extLst>
            <c:ext xmlns:c16="http://schemas.microsoft.com/office/drawing/2014/chart" uri="{C3380CC4-5D6E-409C-BE32-E72D297353CC}">
              <c16:uniqueId val="{00000017-A107-48F5-81B2-656B436F5FA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45"/>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7273724861986626"/>
          <c:h val="0.7977547756045975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E66-4E1E-9AA0-32A40134AC00}"/>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E66-4E1E-9AA0-32A40134AC00}"/>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E66-4E1E-9AA0-32A40134AC00}"/>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7E66-4E1E-9AA0-32A40134AC00}"/>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0.41</c:v>
                </c:pt>
                <c:pt idx="1">
                  <c:v>0.39</c:v>
                </c:pt>
                <c:pt idx="2">
                  <c:v>0.38</c:v>
                </c:pt>
                <c:pt idx="3">
                  <c:v>0.39</c:v>
                </c:pt>
                <c:pt idx="4">
                  <c:v>0.39</c:v>
                </c:pt>
                <c:pt idx="5">
                  <c:v>0.41</c:v>
                </c:pt>
              </c:numCache>
            </c:numRef>
          </c:val>
          <c:smooth val="0"/>
          <c:extLst>
            <c:ext xmlns:c16="http://schemas.microsoft.com/office/drawing/2014/chart" uri="{C3380CC4-5D6E-409C-BE32-E72D297353CC}">
              <c16:uniqueId val="{00000007-7E66-4E1E-9AA0-32A40134AC00}"/>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7E66-4E1E-9AA0-32A40134AC00}"/>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7E66-4E1E-9AA0-32A40134AC00}"/>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7E66-4E1E-9AA0-32A40134AC00}"/>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0.3</c:v>
                </c:pt>
                <c:pt idx="1">
                  <c:v>0.32</c:v>
                </c:pt>
                <c:pt idx="2">
                  <c:v>0.33</c:v>
                </c:pt>
                <c:pt idx="3">
                  <c:v>0.32</c:v>
                </c:pt>
                <c:pt idx="4">
                  <c:v>0.31</c:v>
                </c:pt>
                <c:pt idx="5">
                  <c:v>0.28999999999999998</c:v>
                </c:pt>
              </c:numCache>
            </c:numRef>
          </c:val>
          <c:smooth val="0"/>
          <c:extLst>
            <c:ext xmlns:c16="http://schemas.microsoft.com/office/drawing/2014/chart" uri="{C3380CC4-5D6E-409C-BE32-E72D297353CC}">
              <c16:uniqueId val="{0000000F-7E66-4E1E-9AA0-32A40134AC00}"/>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0.15</c:v>
                </c:pt>
                <c:pt idx="1">
                  <c:v>0.15</c:v>
                </c:pt>
                <c:pt idx="2">
                  <c:v>0.14000000000000001</c:v>
                </c:pt>
                <c:pt idx="3">
                  <c:v>0.15</c:v>
                </c:pt>
                <c:pt idx="4">
                  <c:v>0.16</c:v>
                </c:pt>
                <c:pt idx="5">
                  <c:v>0.16</c:v>
                </c:pt>
              </c:numCache>
            </c:numRef>
          </c:val>
          <c:smooth val="0"/>
          <c:extLst>
            <c:ext xmlns:c16="http://schemas.microsoft.com/office/drawing/2014/chart" uri="{C3380CC4-5D6E-409C-BE32-E72D297353CC}">
              <c16:uniqueId val="{00000015-7E66-4E1E-9AA0-32A40134AC00}"/>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0.15</c:v>
                </c:pt>
                <c:pt idx="1">
                  <c:v>0.15</c:v>
                </c:pt>
                <c:pt idx="2">
                  <c:v>0.14000000000000001</c:v>
                </c:pt>
                <c:pt idx="3">
                  <c:v>0.14000000000000001</c:v>
                </c:pt>
                <c:pt idx="4">
                  <c:v>0.14000000000000001</c:v>
                </c:pt>
                <c:pt idx="5">
                  <c:v>0.15</c:v>
                </c:pt>
              </c:numCache>
            </c:numRef>
          </c:val>
          <c:smooth val="0"/>
          <c:extLst>
            <c:ext xmlns:c16="http://schemas.microsoft.com/office/drawing/2014/chart" uri="{C3380CC4-5D6E-409C-BE32-E72D297353CC}">
              <c16:uniqueId val="{00000019-7E66-4E1E-9AA0-32A40134AC0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45"/>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3678753095857246"/>
          <c:w val="0.76040422034285426"/>
          <c:h val="0.71219032286915307"/>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D001-475B-AB62-DE3F7D3FC5D7}"/>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D001-475B-AB62-DE3F7D3FC5D7}"/>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D001-475B-AB62-DE3F7D3FC5D7}"/>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D001-475B-AB62-DE3F7D3FC5D7}"/>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0.92</c:v>
                </c:pt>
                <c:pt idx="1">
                  <c:v>0.96</c:v>
                </c:pt>
                <c:pt idx="2">
                  <c:v>0.95</c:v>
                </c:pt>
                <c:pt idx="3">
                  <c:v>0.96</c:v>
                </c:pt>
                <c:pt idx="4">
                  <c:v>0.93</c:v>
                </c:pt>
                <c:pt idx="5">
                  <c:v>0.94</c:v>
                </c:pt>
              </c:numCache>
            </c:numRef>
          </c:val>
          <c:smooth val="0"/>
          <c:extLst>
            <c:ext xmlns:c16="http://schemas.microsoft.com/office/drawing/2014/chart" uri="{C3380CC4-5D6E-409C-BE32-E72D297353CC}">
              <c16:uniqueId val="{0000000A-D001-475B-AB62-DE3F7D3FC5D7}"/>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C-D001-475B-AB62-DE3F7D3FC5D7}"/>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E-D001-475B-AB62-DE3F7D3FC5D7}"/>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10-D001-475B-AB62-DE3F7D3FC5D7}"/>
              </c:ext>
            </c:extLst>
          </c:dPt>
          <c:dLbls>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15-D001-475B-AB62-DE3F7D3FC5D7}"/>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0.77</c:v>
                </c:pt>
                <c:pt idx="1">
                  <c:v>0.8</c:v>
                </c:pt>
                <c:pt idx="2">
                  <c:v>0.82</c:v>
                </c:pt>
                <c:pt idx="3">
                  <c:v>0.8</c:v>
                </c:pt>
                <c:pt idx="4">
                  <c:v>0.76</c:v>
                </c:pt>
                <c:pt idx="5">
                  <c:v>0.77</c:v>
                </c:pt>
              </c:numCache>
            </c:numRef>
          </c:val>
          <c:smooth val="0"/>
          <c:extLst>
            <c:ext xmlns:c16="http://schemas.microsoft.com/office/drawing/2014/chart" uri="{C3380CC4-5D6E-409C-BE32-E72D297353CC}">
              <c16:uniqueId val="{00000017-D001-475B-AB62-DE3F7D3FC5D7}"/>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4.0150125000582661E-2"/>
                  <c:y val="-6.06683957904778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8D0-48E3-8E94-FB50EBC81654}"/>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0.62</c:v>
                </c:pt>
                <c:pt idx="1">
                  <c:v>0.59</c:v>
                </c:pt>
                <c:pt idx="2">
                  <c:v>0.56999999999999995</c:v>
                </c:pt>
                <c:pt idx="3">
                  <c:v>0.52</c:v>
                </c:pt>
                <c:pt idx="4">
                  <c:v>0.44</c:v>
                </c:pt>
                <c:pt idx="5">
                  <c:v>0.46</c:v>
                </c:pt>
              </c:numCache>
            </c:numRef>
          </c:val>
          <c:smooth val="0"/>
          <c:extLst>
            <c:ext xmlns:c16="http://schemas.microsoft.com/office/drawing/2014/chart" uri="{C3380CC4-5D6E-409C-BE32-E72D297353CC}">
              <c16:uniqueId val="{00000021-D001-475B-AB62-DE3F7D3FC5D7}"/>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0.38</c:v>
                </c:pt>
                <c:pt idx="1">
                  <c:v>0.4</c:v>
                </c:pt>
                <c:pt idx="2">
                  <c:v>0.39</c:v>
                </c:pt>
                <c:pt idx="3">
                  <c:v>0.38</c:v>
                </c:pt>
                <c:pt idx="4">
                  <c:v>0.33</c:v>
                </c:pt>
                <c:pt idx="5">
                  <c:v>0.38</c:v>
                </c:pt>
              </c:numCache>
            </c:numRef>
          </c:val>
          <c:smooth val="0"/>
          <c:extLst>
            <c:ext xmlns:c16="http://schemas.microsoft.com/office/drawing/2014/chart" uri="{C3380CC4-5D6E-409C-BE32-E72D297353CC}">
              <c16:uniqueId val="{00000029-D001-475B-AB62-DE3F7D3FC5D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2"/>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339381168409261E-2"/>
          <c:y val="8.678154202639321E-2"/>
          <c:w val="0.92917175332025725"/>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A107-48F5-81B2-656B436F5FAB}"/>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A107-48F5-81B2-656B436F5FAB}"/>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A107-48F5-81B2-656B436F5FAB}"/>
              </c:ext>
            </c:extLst>
          </c:dPt>
          <c:dLbls>
            <c:dLbl>
              <c:idx val="3"/>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A107-48F5-81B2-656B436F5FAB}"/>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Sheet1!$B$2:$B$16</c:f>
              <c:numCache>
                <c:formatCode>0%</c:formatCode>
                <c:ptCount val="15"/>
                <c:pt idx="0">
                  <c:v>0.95</c:v>
                </c:pt>
                <c:pt idx="1">
                  <c:v>0.94</c:v>
                </c:pt>
                <c:pt idx="2">
                  <c:v>0.96</c:v>
                </c:pt>
                <c:pt idx="3">
                  <c:v>0.95</c:v>
                </c:pt>
                <c:pt idx="4">
                  <c:v>0.97</c:v>
                </c:pt>
                <c:pt idx="5">
                  <c:v>0.97</c:v>
                </c:pt>
                <c:pt idx="6">
                  <c:v>0.97</c:v>
                </c:pt>
                <c:pt idx="7">
                  <c:v>0.96</c:v>
                </c:pt>
                <c:pt idx="8">
                  <c:v>0.96</c:v>
                </c:pt>
                <c:pt idx="9">
                  <c:v>0.96</c:v>
                </c:pt>
                <c:pt idx="10">
                  <c:v>0.97</c:v>
                </c:pt>
                <c:pt idx="11">
                  <c:v>0.97</c:v>
                </c:pt>
                <c:pt idx="12">
                  <c:v>0.97</c:v>
                </c:pt>
                <c:pt idx="13">
                  <c:v>0.96</c:v>
                </c:pt>
                <c:pt idx="14">
                  <c:v>0.95</c:v>
                </c:pt>
              </c:numCache>
            </c:numRef>
          </c:val>
          <c:smooth val="0"/>
          <c:extLst>
            <c:ext xmlns:c16="http://schemas.microsoft.com/office/drawing/2014/chart" uri="{C3380CC4-5D6E-409C-BE32-E72D297353CC}">
              <c16:uniqueId val="{00000007-A107-48F5-81B2-656B436F5FAB}"/>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A107-48F5-81B2-656B436F5FAB}"/>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A107-48F5-81B2-656B436F5FAB}"/>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A107-48F5-81B2-656B436F5FAB}"/>
              </c:ext>
            </c:extLst>
          </c:dPt>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Sheet1!$C$2:$C$16</c:f>
              <c:numCache>
                <c:formatCode>0%</c:formatCode>
                <c:ptCount val="15"/>
                <c:pt idx="0">
                  <c:v>0.9</c:v>
                </c:pt>
                <c:pt idx="1">
                  <c:v>0.87</c:v>
                </c:pt>
                <c:pt idx="2">
                  <c:v>0.86</c:v>
                </c:pt>
                <c:pt idx="3">
                  <c:v>0.84</c:v>
                </c:pt>
                <c:pt idx="4">
                  <c:v>0.87</c:v>
                </c:pt>
                <c:pt idx="5">
                  <c:v>0.83</c:v>
                </c:pt>
                <c:pt idx="6">
                  <c:v>0.84</c:v>
                </c:pt>
                <c:pt idx="7">
                  <c:v>0.82</c:v>
                </c:pt>
                <c:pt idx="8">
                  <c:v>0.86</c:v>
                </c:pt>
                <c:pt idx="9">
                  <c:v>0.86</c:v>
                </c:pt>
                <c:pt idx="10">
                  <c:v>0.86</c:v>
                </c:pt>
                <c:pt idx="11">
                  <c:v>0.86</c:v>
                </c:pt>
                <c:pt idx="12">
                  <c:v>0.85</c:v>
                </c:pt>
                <c:pt idx="13">
                  <c:v>0.82</c:v>
                </c:pt>
                <c:pt idx="14">
                  <c:v>0.81</c:v>
                </c:pt>
              </c:numCache>
            </c:numRef>
          </c:val>
          <c:smooth val="0"/>
          <c:extLst>
            <c:ext xmlns:c16="http://schemas.microsoft.com/office/drawing/2014/chart" uri="{C3380CC4-5D6E-409C-BE32-E72D297353CC}">
              <c16:uniqueId val="{00000011-A107-48F5-81B2-656B436F5FAB}"/>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2.5095235204826802E-2"/>
                  <c:y val="-5.860133913977292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5AE-44E2-B1C1-0661F2ACD62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Sheet1!$D$2:$D$16</c:f>
              <c:numCache>
                <c:formatCode>0%</c:formatCode>
                <c:ptCount val="15"/>
                <c:pt idx="0">
                  <c:v>0.59</c:v>
                </c:pt>
                <c:pt idx="1">
                  <c:v>0.55000000000000004</c:v>
                </c:pt>
                <c:pt idx="2">
                  <c:v>0.55000000000000004</c:v>
                </c:pt>
                <c:pt idx="3">
                  <c:v>0.53</c:v>
                </c:pt>
                <c:pt idx="4">
                  <c:v>0.55000000000000004</c:v>
                </c:pt>
                <c:pt idx="5">
                  <c:v>0.54</c:v>
                </c:pt>
                <c:pt idx="6">
                  <c:v>0.54</c:v>
                </c:pt>
                <c:pt idx="7">
                  <c:v>0.54</c:v>
                </c:pt>
                <c:pt idx="8">
                  <c:v>0.54</c:v>
                </c:pt>
                <c:pt idx="9">
                  <c:v>0.56000000000000005</c:v>
                </c:pt>
                <c:pt idx="10">
                  <c:v>0.54</c:v>
                </c:pt>
                <c:pt idx="11">
                  <c:v>0.53</c:v>
                </c:pt>
                <c:pt idx="12">
                  <c:v>0.5</c:v>
                </c:pt>
                <c:pt idx="13">
                  <c:v>0.48</c:v>
                </c:pt>
                <c:pt idx="14">
                  <c:v>0.49</c:v>
                </c:pt>
              </c:numCache>
            </c:numRef>
          </c:val>
          <c:smooth val="0"/>
          <c:extLst>
            <c:ext xmlns:c16="http://schemas.microsoft.com/office/drawing/2014/chart" uri="{C3380CC4-5D6E-409C-BE32-E72D297353CC}">
              <c16:uniqueId val="{00000015-A107-48F5-81B2-656B436F5FAB}"/>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Sheet1!$E$2:$E$16</c:f>
              <c:numCache>
                <c:formatCode>0%</c:formatCode>
                <c:ptCount val="15"/>
                <c:pt idx="0">
                  <c:v>0.51</c:v>
                </c:pt>
                <c:pt idx="1">
                  <c:v>0.5</c:v>
                </c:pt>
                <c:pt idx="2">
                  <c:v>0.51</c:v>
                </c:pt>
                <c:pt idx="3">
                  <c:v>0.51</c:v>
                </c:pt>
                <c:pt idx="4">
                  <c:v>0.5</c:v>
                </c:pt>
                <c:pt idx="5">
                  <c:v>0.47</c:v>
                </c:pt>
                <c:pt idx="6">
                  <c:v>0.47</c:v>
                </c:pt>
                <c:pt idx="7">
                  <c:v>0.48</c:v>
                </c:pt>
                <c:pt idx="8">
                  <c:v>0.46</c:v>
                </c:pt>
                <c:pt idx="9">
                  <c:v>0.46</c:v>
                </c:pt>
                <c:pt idx="10">
                  <c:v>0.44</c:v>
                </c:pt>
                <c:pt idx="11">
                  <c:v>0.46</c:v>
                </c:pt>
                <c:pt idx="12">
                  <c:v>0.42</c:v>
                </c:pt>
                <c:pt idx="13">
                  <c:v>0.38</c:v>
                </c:pt>
                <c:pt idx="14">
                  <c:v>0.37</c:v>
                </c:pt>
              </c:numCache>
            </c:numRef>
          </c:val>
          <c:smooth val="0"/>
          <c:extLst>
            <c:ext xmlns:c16="http://schemas.microsoft.com/office/drawing/2014/chart" uri="{C3380CC4-5D6E-409C-BE32-E72D297353CC}">
              <c16:uniqueId val="{00000017-A107-48F5-81B2-656B436F5FA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2"/>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E66-4E1E-9AA0-32A40134AC00}"/>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E66-4E1E-9AA0-32A40134AC00}"/>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E66-4E1E-9AA0-32A40134AC00}"/>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7E66-4E1E-9AA0-32A40134AC00}"/>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0.97</c:v>
                </c:pt>
                <c:pt idx="1">
                  <c:v>0.96</c:v>
                </c:pt>
                <c:pt idx="2">
                  <c:v>0.96</c:v>
                </c:pt>
                <c:pt idx="3">
                  <c:v>0.97</c:v>
                </c:pt>
                <c:pt idx="4">
                  <c:v>0.98</c:v>
                </c:pt>
                <c:pt idx="5">
                  <c:v>0.97</c:v>
                </c:pt>
              </c:numCache>
            </c:numRef>
          </c:val>
          <c:smooth val="0"/>
          <c:extLst>
            <c:ext xmlns:c16="http://schemas.microsoft.com/office/drawing/2014/chart" uri="{C3380CC4-5D6E-409C-BE32-E72D297353CC}">
              <c16:uniqueId val="{00000007-7E66-4E1E-9AA0-32A40134AC00}"/>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7E66-4E1E-9AA0-32A40134AC00}"/>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7E66-4E1E-9AA0-32A40134AC00}"/>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7E66-4E1E-9AA0-32A40134AC00}"/>
              </c:ext>
            </c:extLst>
          </c:dPt>
          <c:dLbls>
            <c:dLbl>
              <c:idx val="0"/>
              <c:layout>
                <c:manualLayout>
                  <c:x val="-4.0711423452875033E-2"/>
                  <c:y val="5.860133913977292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E66-4E1E-9AA0-32A40134AC00}"/>
                </c:ext>
              </c:extLst>
            </c:dLbl>
            <c:dLbl>
              <c:idx val="1"/>
              <c:layout>
                <c:manualLayout>
                  <c:x val="-4.3178029108277387E-2"/>
                  <c:y val="5.143080405411890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7E66-4E1E-9AA0-32A40134AC00}"/>
                </c:ext>
              </c:extLst>
            </c:dLbl>
            <c:dLbl>
              <c:idx val="2"/>
              <c:layout>
                <c:manualLayout>
                  <c:x val="-3.8244817797472644E-2"/>
                  <c:y val="7.294240931108096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E66-4E1E-9AA0-32A40134AC00}"/>
                </c:ext>
              </c:extLst>
            </c:dLbl>
            <c:dLbl>
              <c:idx val="3"/>
              <c:layout>
                <c:manualLayout>
                  <c:x val="-4.0711423452875012E-2"/>
                  <c:y val="5.612722223069135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A35-474C-A159-D833C63FBDE5}"/>
                </c:ext>
              </c:extLst>
            </c:dLbl>
            <c:dLbl>
              <c:idx val="4"/>
              <c:layout>
                <c:manualLayout>
                  <c:x val="-4.0711423452875012E-2"/>
                  <c:y val="5.143080405411890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CB2-4ECE-B16B-FB1F8ACDD6B9}"/>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0.87</c:v>
                </c:pt>
                <c:pt idx="1">
                  <c:v>0.9</c:v>
                </c:pt>
                <c:pt idx="2">
                  <c:v>0.91</c:v>
                </c:pt>
                <c:pt idx="3">
                  <c:v>0.89</c:v>
                </c:pt>
                <c:pt idx="4">
                  <c:v>0.86</c:v>
                </c:pt>
                <c:pt idx="5">
                  <c:v>0.85</c:v>
                </c:pt>
              </c:numCache>
            </c:numRef>
          </c:val>
          <c:smooth val="0"/>
          <c:extLst>
            <c:ext xmlns:c16="http://schemas.microsoft.com/office/drawing/2014/chart" uri="{C3380CC4-5D6E-409C-BE32-E72D297353CC}">
              <c16:uniqueId val="{0000000F-7E66-4E1E-9AA0-32A40134AC00}"/>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2"/>
              <c:layout>
                <c:manualLayout>
                  <c:x val="-4.3178029108277428E-2"/>
                  <c:y val="-7.294240931108096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7E66-4E1E-9AA0-32A40134AC00}"/>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0.56000000000000005</c:v>
                </c:pt>
                <c:pt idx="1">
                  <c:v>0.56000000000000005</c:v>
                </c:pt>
                <c:pt idx="2">
                  <c:v>0.55000000000000004</c:v>
                </c:pt>
                <c:pt idx="3">
                  <c:v>0.54</c:v>
                </c:pt>
                <c:pt idx="4">
                  <c:v>0.53</c:v>
                </c:pt>
                <c:pt idx="5">
                  <c:v>0.55000000000000004</c:v>
                </c:pt>
              </c:numCache>
            </c:numRef>
          </c:val>
          <c:smooth val="0"/>
          <c:extLst>
            <c:ext xmlns:c16="http://schemas.microsoft.com/office/drawing/2014/chart" uri="{C3380CC4-5D6E-409C-BE32-E72D297353CC}">
              <c16:uniqueId val="{00000015-7E66-4E1E-9AA0-32A40134AC00}"/>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0.54</c:v>
                </c:pt>
                <c:pt idx="1">
                  <c:v>0.54</c:v>
                </c:pt>
                <c:pt idx="2">
                  <c:v>0.55000000000000004</c:v>
                </c:pt>
                <c:pt idx="3">
                  <c:v>0.52</c:v>
                </c:pt>
                <c:pt idx="4">
                  <c:v>0.49</c:v>
                </c:pt>
                <c:pt idx="5">
                  <c:v>0.47</c:v>
                </c:pt>
              </c:numCache>
            </c:numRef>
          </c:val>
          <c:smooth val="0"/>
          <c:extLst>
            <c:ext xmlns:c16="http://schemas.microsoft.com/office/drawing/2014/chart" uri="{C3380CC4-5D6E-409C-BE32-E72D297353CC}">
              <c16:uniqueId val="{00000019-7E66-4E1E-9AA0-32A40134AC0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2"/>
          <c:min val="0.2"/>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3678753095857246"/>
          <c:w val="0.76040422034285426"/>
          <c:h val="0.71219032286915307"/>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BD59-43BC-B70F-1389CE5B0FCB}"/>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BD59-43BC-B70F-1389CE5B0FCB}"/>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BD59-43BC-B70F-1389CE5B0FCB}"/>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BD59-43BC-B70F-1389CE5B0FCB}"/>
                </c:ext>
              </c:extLst>
            </c:dLbl>
            <c:dLbl>
              <c:idx val="4"/>
              <c:layout>
                <c:manualLayout>
                  <c:x val="-3.7480170044297816E-2"/>
                  <c:y val="4.648778053965074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D3F-460A-AB79-0D9EB1026769}"/>
                </c:ext>
              </c:extLst>
            </c:dLbl>
            <c:dLbl>
              <c:idx val="5"/>
              <c:layout>
                <c:manualLayout>
                  <c:x val="-1.0347507834871822E-2"/>
                  <c:y val="-6.06683957904778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DD3F-460A-AB79-0D9EB1026769}"/>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3.4477611940298507</c:v>
                </c:pt>
                <c:pt idx="1">
                  <c:v>3.3139534883720931</c:v>
                </c:pt>
                <c:pt idx="2">
                  <c:v>3.0769230769230771</c:v>
                </c:pt>
                <c:pt idx="3">
                  <c:v>2.6973684210526314</c:v>
                </c:pt>
                <c:pt idx="4">
                  <c:v>2.5384615384615383</c:v>
                </c:pt>
                <c:pt idx="5">
                  <c:v>2.58</c:v>
                </c:pt>
              </c:numCache>
            </c:numRef>
          </c:val>
          <c:smooth val="0"/>
          <c:extLst>
            <c:ext xmlns:c16="http://schemas.microsoft.com/office/drawing/2014/chart" uri="{C3380CC4-5D6E-409C-BE32-E72D297353CC}">
              <c16:uniqueId val="{00000007-BD59-43BC-B70F-1389CE5B0FCB}"/>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BD59-43BC-B70F-1389CE5B0FCB}"/>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BD59-43BC-B70F-1389CE5B0FCB}"/>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BD59-43BC-B70F-1389CE5B0FCB}"/>
              </c:ext>
            </c:extLst>
          </c:dPt>
          <c:dLbls>
            <c:dLbl>
              <c:idx val="1"/>
              <c:layout>
                <c:manualLayout>
                  <c:x val="-2.5147141767286094E-2"/>
                  <c:y val="-6.06683957904778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D59-43BC-B70F-1389CE5B0FCB}"/>
                </c:ext>
              </c:extLst>
            </c:dLbl>
            <c:dLbl>
              <c:idx val="2"/>
              <c:layout>
                <c:manualLayout>
                  <c:x val="-3.2546958733493253E-2"/>
                  <c:y val="-0.1392495917659056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D59-43BC-B70F-1389CE5B0FCB}"/>
                </c:ext>
              </c:extLst>
            </c:dLbl>
            <c:dLbl>
              <c:idx val="3"/>
              <c:layout>
                <c:manualLayout>
                  <c:x val="-4.2413381355102739E-2"/>
                  <c:y val="-4.638090561312745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D3F-460A-AB79-0D9EB1026769}"/>
                </c:ext>
              </c:extLst>
            </c:dLbl>
            <c:dLbl>
              <c:idx val="4"/>
              <c:layout>
                <c:manualLayout>
                  <c:x val="-3.0080353078090791E-2"/>
                  <c:y val="2.505654527362512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BD59-43BC-B70F-1389CE5B0FCB}"/>
                </c:ext>
              </c:extLst>
            </c:dLbl>
            <c:dLbl>
              <c:idx val="5"/>
              <c:layout>
                <c:manualLayout>
                  <c:x val="-3.9946775699700281E-2"/>
                  <c:y val="-6.066839579047796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D59-43BC-B70F-1389CE5B0FCB}"/>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BD59-43BC-B70F-1389CE5B0FC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3</c:v>
                </c:pt>
                <c:pt idx="1">
                  <c:v>2.6944444444444446</c:v>
                </c:pt>
                <c:pt idx="2">
                  <c:v>2.5949367088607596</c:v>
                </c:pt>
                <c:pt idx="3">
                  <c:v>2.4444444444444446</c:v>
                </c:pt>
                <c:pt idx="4">
                  <c:v>2.3125</c:v>
                </c:pt>
                <c:pt idx="5">
                  <c:v>2.6219512195121952</c:v>
                </c:pt>
              </c:numCache>
            </c:numRef>
          </c:val>
          <c:smooth val="0"/>
          <c:extLst>
            <c:ext xmlns:c16="http://schemas.microsoft.com/office/drawing/2014/chart" uri="{C3380CC4-5D6E-409C-BE32-E72D297353CC}">
              <c16:uniqueId val="{0000000F-BD59-43BC-B70F-1389CE5B0FCB}"/>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4.0150125000582661E-2"/>
                  <c:y val="-6.06683957904778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D59-43BC-B70F-1389CE5B0FCB}"/>
                </c:ext>
              </c:extLst>
            </c:dLbl>
            <c:dLbl>
              <c:idx val="1"/>
              <c:layout>
                <c:manualLayout>
                  <c:x val="-3.2546958733493211E-2"/>
                  <c:y val="7.50627608943518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D3F-460A-AB79-0D9EB1026769}"/>
                </c:ext>
              </c:extLst>
            </c:dLbl>
            <c:dLbl>
              <c:idx val="2"/>
              <c:layout>
                <c:manualLayout>
                  <c:x val="-3.5013564388895628E-2"/>
                  <c:y val="9.64939961603776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BD59-43BC-B70F-1389CE5B0FCB}"/>
                </c:ext>
              </c:extLst>
            </c:dLbl>
            <c:dLbl>
              <c:idx val="3"/>
              <c:layout>
                <c:manualLayout>
                  <c:x val="-5.4142965240670795E-3"/>
                  <c:y val="-5.35246507018027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D59-43BC-B70F-1389CE5B0FCB}"/>
                </c:ext>
              </c:extLst>
            </c:dLbl>
            <c:dLbl>
              <c:idx val="4"/>
              <c:layout>
                <c:manualLayout>
                  <c:x val="-3.5013564388895538E-2"/>
                  <c:y val="-7.495588596782845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D59-43BC-B70F-1389CE5B0FCB}"/>
                </c:ext>
              </c:extLst>
            </c:dLbl>
            <c:dLbl>
              <c:idx val="5"/>
              <c:layout>
                <c:manualLayout>
                  <c:x val="-3.5013564388895628E-2"/>
                  <c:y val="3.934403545097562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D59-43BC-B70F-1389CE5B0FC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2.5777777777777779</c:v>
                </c:pt>
                <c:pt idx="1">
                  <c:v>2.1698113207547172</c:v>
                </c:pt>
                <c:pt idx="2">
                  <c:v>2.5272727272727273</c:v>
                </c:pt>
                <c:pt idx="3">
                  <c:v>2.4390243902439024</c:v>
                </c:pt>
                <c:pt idx="4">
                  <c:v>2.5945945945945947</c:v>
                </c:pt>
                <c:pt idx="5">
                  <c:v>2.0816326530612246</c:v>
                </c:pt>
              </c:numCache>
            </c:numRef>
          </c:val>
          <c:smooth val="0"/>
          <c:extLst>
            <c:ext xmlns:c16="http://schemas.microsoft.com/office/drawing/2014/chart" uri="{C3380CC4-5D6E-409C-BE32-E72D297353CC}">
              <c16:uniqueId val="{00000011-BD59-43BC-B70F-1389CE5B0FCB}"/>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
              <c:layout>
                <c:manualLayout>
                  <c:x val="-3.9946775699700281E-2"/>
                  <c:y val="6.781214087915314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BD59-43BC-B70F-1389CE5B0FCB}"/>
                </c:ext>
              </c:extLst>
            </c:dLbl>
            <c:dLbl>
              <c:idx val="2"/>
              <c:layout>
                <c:manualLayout>
                  <c:x val="-3.5013564388895628E-2"/>
                  <c:y val="-4.648778053965087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BD59-43BC-B70F-1389CE5B0FCB}"/>
                </c:ext>
              </c:extLst>
            </c:dLbl>
            <c:dLbl>
              <c:idx val="3"/>
              <c:layout>
                <c:manualLayout>
                  <c:x val="-4.4879987010505114E-2"/>
                  <c:y val="7.495588596782826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D59-43BC-B70F-1389CE5B0FCB}"/>
                </c:ext>
              </c:extLst>
            </c:dLbl>
            <c:dLbl>
              <c:idx val="5"/>
              <c:layout>
                <c:manualLayout>
                  <c:x val="-3.5013564388895628E-2"/>
                  <c:y val="-7.50627608943518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D59-43BC-B70F-1389CE5B0FC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3</c:v>
                </c:pt>
                <c:pt idx="1">
                  <c:v>2.5555555555555554</c:v>
                </c:pt>
                <c:pt idx="2">
                  <c:v>2.6486486486486487</c:v>
                </c:pt>
                <c:pt idx="3">
                  <c:v>2.3333333333333335</c:v>
                </c:pt>
                <c:pt idx="4">
                  <c:v>2.1785714285714284</c:v>
                </c:pt>
                <c:pt idx="5">
                  <c:v>2.2749999999999999</c:v>
                </c:pt>
              </c:numCache>
            </c:numRef>
          </c:val>
          <c:smooth val="0"/>
          <c:extLst>
            <c:ext xmlns:c16="http://schemas.microsoft.com/office/drawing/2014/chart" uri="{C3380CC4-5D6E-409C-BE32-E72D297353CC}">
              <c16:uniqueId val="{00000012-BD59-43BC-B70F-1389CE5B0FC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3.5"/>
          <c:min val="2"/>
        </c:scaling>
        <c:delete val="0"/>
        <c:axPos val="l"/>
        <c:numFmt formatCode="0.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339381168409261E-2"/>
          <c:y val="8.678154202639321E-2"/>
          <c:w val="0.92917175332025725"/>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BADF-49C6-9503-DDF889B5908A}"/>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BADF-49C6-9503-DDF889B5908A}"/>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BADF-49C6-9503-DDF889B5908A}"/>
              </c:ext>
            </c:extLst>
          </c:dPt>
          <c:dLbls>
            <c:dLbl>
              <c:idx val="3"/>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BADF-49C6-9503-DDF889B5908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Sheet1!$B$2:$B$16</c:f>
              <c:numCache>
                <c:formatCode>0.0</c:formatCode>
                <c:ptCount val="15"/>
                <c:pt idx="0">
                  <c:v>5.1569965870307168</c:v>
                </c:pt>
                <c:pt idx="1">
                  <c:v>4.7402135231316729</c:v>
                </c:pt>
                <c:pt idx="2">
                  <c:v>4.7099697885196372</c:v>
                </c:pt>
                <c:pt idx="3">
                  <c:v>4.2086092715231791</c:v>
                </c:pt>
                <c:pt idx="4">
                  <c:v>4.4471299093655592</c:v>
                </c:pt>
                <c:pt idx="5">
                  <c:v>4.4096774193548391</c:v>
                </c:pt>
                <c:pt idx="6">
                  <c:v>4.6065088757396451</c:v>
                </c:pt>
                <c:pt idx="7">
                  <c:v>4.7530864197530862</c:v>
                </c:pt>
                <c:pt idx="8">
                  <c:v>4.8254437869822482</c:v>
                </c:pt>
                <c:pt idx="9">
                  <c:v>4.7058823529411766</c:v>
                </c:pt>
                <c:pt idx="10">
                  <c:v>4.6198347107438016</c:v>
                </c:pt>
                <c:pt idx="11">
                  <c:v>4.4535211267605632</c:v>
                </c:pt>
                <c:pt idx="12">
                  <c:v>4.0769230769230766</c:v>
                </c:pt>
                <c:pt idx="13">
                  <c:v>3.6852941176470586</c:v>
                </c:pt>
                <c:pt idx="14">
                  <c:v>3.6971428571428571</c:v>
                </c:pt>
              </c:numCache>
            </c:numRef>
          </c:val>
          <c:smooth val="0"/>
          <c:extLst>
            <c:ext xmlns:c16="http://schemas.microsoft.com/office/drawing/2014/chart" uri="{C3380CC4-5D6E-409C-BE32-E72D297353CC}">
              <c16:uniqueId val="{00000007-BADF-49C6-9503-DDF889B5908A}"/>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BADF-49C6-9503-DDF889B5908A}"/>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BADF-49C6-9503-DDF889B5908A}"/>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BADF-49C6-9503-DDF889B5908A}"/>
              </c:ext>
            </c:extLst>
          </c:dPt>
          <c:dLbls>
            <c:dLbl>
              <c:idx val="13"/>
              <c:layout>
                <c:manualLayout>
                  <c:x val="-2.0062516005225111E-2"/>
                  <c:y val="-6.089591036718227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ADF-49C6-9503-DDF889B5908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Sheet1!$C$2:$C$16</c:f>
              <c:numCache>
                <c:formatCode>0.0</c:formatCode>
                <c:ptCount val="15"/>
                <c:pt idx="0">
                  <c:v>4.04</c:v>
                </c:pt>
                <c:pt idx="1">
                  <c:v>4.0077220077220082</c:v>
                </c:pt>
                <c:pt idx="2">
                  <c:v>4.050335570469799</c:v>
                </c:pt>
                <c:pt idx="3">
                  <c:v>3.6977611940298507</c:v>
                </c:pt>
                <c:pt idx="4">
                  <c:v>3.6587837837837838</c:v>
                </c:pt>
                <c:pt idx="5">
                  <c:v>3.7169811320754715</c:v>
                </c:pt>
                <c:pt idx="6">
                  <c:v>3.6597938144329896</c:v>
                </c:pt>
                <c:pt idx="7">
                  <c:v>3.7374100719424459</c:v>
                </c:pt>
                <c:pt idx="8">
                  <c:v>3.5880398671096345</c:v>
                </c:pt>
                <c:pt idx="9">
                  <c:v>3.7458745874587458</c:v>
                </c:pt>
                <c:pt idx="10">
                  <c:v>3.6470588235294117</c:v>
                </c:pt>
                <c:pt idx="11">
                  <c:v>3.6825396825396823</c:v>
                </c:pt>
                <c:pt idx="12">
                  <c:v>3.3562091503267975</c:v>
                </c:pt>
                <c:pt idx="13">
                  <c:v>3.2</c:v>
                </c:pt>
                <c:pt idx="14">
                  <c:v>3.1515151515151514</c:v>
                </c:pt>
              </c:numCache>
            </c:numRef>
          </c:val>
          <c:smooth val="0"/>
          <c:extLst>
            <c:ext xmlns:c16="http://schemas.microsoft.com/office/drawing/2014/chart" uri="{C3380CC4-5D6E-409C-BE32-E72D297353CC}">
              <c16:uniqueId val="{0000000E-BADF-49C6-9503-DDF889B5908A}"/>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4"/>
              <c:layout>
                <c:manualLayout>
                  <c:x val="-2.1582974977914435E-2"/>
                  <c:y val="-6.80664454528362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ADF-49C6-9503-DDF889B5908A}"/>
                </c:ext>
              </c:extLst>
            </c:dLbl>
            <c:dLbl>
              <c:idx val="8"/>
              <c:layout>
                <c:manualLayout>
                  <c:x val="-2.1582974977914546E-2"/>
                  <c:y val="-5.372537528152825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BADF-49C6-9503-DDF889B5908A}"/>
                </c:ext>
              </c:extLst>
            </c:dLbl>
            <c:dLbl>
              <c:idx val="13"/>
              <c:layout>
                <c:manualLayout>
                  <c:x val="-2.1582974977914435E-2"/>
                  <c:y val="-4.655484019587424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ADF-49C6-9503-DDF889B5908A}"/>
                </c:ext>
              </c:extLst>
            </c:dLbl>
            <c:dLbl>
              <c:idx val="14"/>
              <c:layout>
                <c:manualLayout>
                  <c:x val="-2.1582974977914546E-2"/>
                  <c:y val="6.100318608893595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ADF-49C6-9503-DDF889B5908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Sheet1!$D$2:$D$16</c:f>
              <c:numCache>
                <c:formatCode>0.0</c:formatCode>
                <c:ptCount val="15"/>
                <c:pt idx="0">
                  <c:v>3.2444444444444445</c:v>
                </c:pt>
                <c:pt idx="1">
                  <c:v>3.2727272727272729</c:v>
                </c:pt>
                <c:pt idx="2">
                  <c:v>3.1904761904761907</c:v>
                </c:pt>
                <c:pt idx="3">
                  <c:v>3.0473372781065087</c:v>
                </c:pt>
                <c:pt idx="4">
                  <c:v>3.1808510638297873</c:v>
                </c:pt>
                <c:pt idx="5">
                  <c:v>3.0173410404624277</c:v>
                </c:pt>
                <c:pt idx="6">
                  <c:v>3.064516129032258</c:v>
                </c:pt>
                <c:pt idx="7">
                  <c:v>3.0108695652173911</c:v>
                </c:pt>
                <c:pt idx="8">
                  <c:v>3.1047120418848166</c:v>
                </c:pt>
                <c:pt idx="9">
                  <c:v>2.7688442211055277</c:v>
                </c:pt>
                <c:pt idx="10">
                  <c:v>2.4577114427860698</c:v>
                </c:pt>
                <c:pt idx="11">
                  <c:v>2.6173469387755102</c:v>
                </c:pt>
                <c:pt idx="12">
                  <c:v>2.661111111111111</c:v>
                </c:pt>
                <c:pt idx="13">
                  <c:v>2.7836257309941521</c:v>
                </c:pt>
                <c:pt idx="14">
                  <c:v>2.4666666666666668</c:v>
                </c:pt>
              </c:numCache>
            </c:numRef>
          </c:val>
          <c:smooth val="0"/>
          <c:extLst>
            <c:ext xmlns:c16="http://schemas.microsoft.com/office/drawing/2014/chart" uri="{C3380CC4-5D6E-409C-BE32-E72D297353CC}">
              <c16:uniqueId val="{00000010-BADF-49C6-9503-DDF889B5908A}"/>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4"/>
              <c:layout>
                <c:manualLayout>
                  <c:x val="-2.1582974977914546E-2"/>
                  <c:y val="-6.80664454528362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ADF-49C6-9503-DDF889B5908A}"/>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Sheet1!$E$2:$E$16</c:f>
              <c:numCache>
                <c:formatCode>0.0</c:formatCode>
                <c:ptCount val="15"/>
                <c:pt idx="0">
                  <c:v>3.518987341772152</c:v>
                </c:pt>
                <c:pt idx="1">
                  <c:v>3.4466666666666668</c:v>
                </c:pt>
                <c:pt idx="2">
                  <c:v>3.3050847457627119</c:v>
                </c:pt>
                <c:pt idx="3">
                  <c:v>2.9938271604938271</c:v>
                </c:pt>
                <c:pt idx="4">
                  <c:v>2.9411764705882355</c:v>
                </c:pt>
                <c:pt idx="5">
                  <c:v>2.9328859060402683</c:v>
                </c:pt>
                <c:pt idx="6">
                  <c:v>2.9079754601226995</c:v>
                </c:pt>
                <c:pt idx="7">
                  <c:v>2.9567901234567899</c:v>
                </c:pt>
                <c:pt idx="8">
                  <c:v>2.9444444444444446</c:v>
                </c:pt>
                <c:pt idx="9">
                  <c:v>2.8780487804878048</c:v>
                </c:pt>
                <c:pt idx="10">
                  <c:v>2.6890243902439024</c:v>
                </c:pt>
                <c:pt idx="11">
                  <c:v>2.6347305389221556</c:v>
                </c:pt>
                <c:pt idx="12">
                  <c:v>2.65359477124183</c:v>
                </c:pt>
                <c:pt idx="13">
                  <c:v>2.6370370370370368</c:v>
                </c:pt>
                <c:pt idx="14">
                  <c:v>2.6764705882352939</c:v>
                </c:pt>
              </c:numCache>
            </c:numRef>
          </c:val>
          <c:smooth val="0"/>
          <c:extLst>
            <c:ext xmlns:c16="http://schemas.microsoft.com/office/drawing/2014/chart" uri="{C3380CC4-5D6E-409C-BE32-E72D297353CC}">
              <c16:uniqueId val="{00000011-BADF-49C6-9503-DDF889B5908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5.5"/>
          <c:min val="1.5"/>
        </c:scaling>
        <c:delete val="0"/>
        <c:axPos val="l"/>
        <c:numFmt formatCode="0.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8A5-4783-BE7D-FF1A0034BFDE}"/>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8A5-4783-BE7D-FF1A0034BFDE}"/>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8A5-4783-BE7D-FF1A0034BFDE}"/>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78A5-4783-BE7D-FF1A0034BFD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4.35978835978836</c:v>
                </c:pt>
                <c:pt idx="1">
                  <c:v>4.2793296089385473</c:v>
                </c:pt>
                <c:pt idx="2">
                  <c:v>3.9942857142857142</c:v>
                </c:pt>
                <c:pt idx="3">
                  <c:v>4.0160427807486627</c:v>
                </c:pt>
                <c:pt idx="4">
                  <c:v>3.7117647058823531</c:v>
                </c:pt>
                <c:pt idx="5">
                  <c:v>3.9424460431654675</c:v>
                </c:pt>
              </c:numCache>
            </c:numRef>
          </c:val>
          <c:smooth val="0"/>
          <c:extLst>
            <c:ext xmlns:c16="http://schemas.microsoft.com/office/drawing/2014/chart" uri="{C3380CC4-5D6E-409C-BE32-E72D297353CC}">
              <c16:uniqueId val="{00000007-78A5-4783-BE7D-FF1A0034BFDE}"/>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78A5-4783-BE7D-FF1A0034BFDE}"/>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78A5-4783-BE7D-FF1A0034BFDE}"/>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78A5-4783-BE7D-FF1A0034BFDE}"/>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3.5443786982248522</c:v>
                </c:pt>
                <c:pt idx="1">
                  <c:v>3.682634730538922</c:v>
                </c:pt>
                <c:pt idx="2">
                  <c:v>3.5878787878787879</c:v>
                </c:pt>
                <c:pt idx="3">
                  <c:v>3.6046511627906979</c:v>
                </c:pt>
                <c:pt idx="4">
                  <c:v>3.3087248322147653</c:v>
                </c:pt>
                <c:pt idx="5">
                  <c:v>3.1721311475409837</c:v>
                </c:pt>
              </c:numCache>
            </c:numRef>
          </c:val>
          <c:smooth val="0"/>
          <c:extLst>
            <c:ext xmlns:c16="http://schemas.microsoft.com/office/drawing/2014/chart" uri="{C3380CC4-5D6E-409C-BE32-E72D297353CC}">
              <c16:uniqueId val="{00000010-78A5-4783-BE7D-FF1A0034BFDE}"/>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2"/>
              <c:layout>
                <c:manualLayout>
                  <c:x val="-4.3178029108277428E-2"/>
                  <c:y val="-7.294240931108096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78A5-4783-BE7D-FF1A0034BFDE}"/>
                </c:ext>
              </c:extLst>
            </c:dLbl>
            <c:dLbl>
              <c:idx val="5"/>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78A5-4783-BE7D-FF1A0034BFD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2.8</c:v>
                </c:pt>
                <c:pt idx="1">
                  <c:v>2.7211538461538463</c:v>
                </c:pt>
                <c:pt idx="2">
                  <c:v>2.5940594059405941</c:v>
                </c:pt>
                <c:pt idx="3">
                  <c:v>2.7142857142857144</c:v>
                </c:pt>
                <c:pt idx="4">
                  <c:v>2.7608695652173911</c:v>
                </c:pt>
                <c:pt idx="5">
                  <c:v>2.721518987341772</c:v>
                </c:pt>
              </c:numCache>
            </c:numRef>
          </c:val>
          <c:smooth val="0"/>
          <c:extLst>
            <c:ext xmlns:c16="http://schemas.microsoft.com/office/drawing/2014/chart" uri="{C3380CC4-5D6E-409C-BE32-E72D297353CC}">
              <c16:uniqueId val="{00000012-78A5-4783-BE7D-FF1A0034BFDE}"/>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5"/>
              <c:layout>
                <c:manualLayout>
                  <c:x val="-3.5013564388895628E-2"/>
                  <c:y val="-3.221377002456601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78A5-4783-BE7D-FF1A0034BFD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2.8095238095238093</c:v>
                </c:pt>
                <c:pt idx="1">
                  <c:v>2.8316831683168315</c:v>
                </c:pt>
                <c:pt idx="2">
                  <c:v>2.6039603960396041</c:v>
                </c:pt>
                <c:pt idx="3">
                  <c:v>2.75</c:v>
                </c:pt>
                <c:pt idx="4">
                  <c:v>2.6352941176470588</c:v>
                </c:pt>
                <c:pt idx="5">
                  <c:v>2.8970588235294117</c:v>
                </c:pt>
              </c:numCache>
            </c:numRef>
          </c:val>
          <c:smooth val="0"/>
          <c:extLst>
            <c:ext xmlns:c16="http://schemas.microsoft.com/office/drawing/2014/chart" uri="{C3380CC4-5D6E-409C-BE32-E72D297353CC}">
              <c16:uniqueId val="{00000013-78A5-4783-BE7D-FF1A0034BFD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5"/>
          <c:min val="2"/>
        </c:scaling>
        <c:delete val="0"/>
        <c:axPos val="l"/>
        <c:numFmt formatCode="0.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81713615041710885"/>
          <c:h val="0.71887888966240332"/>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66E1-48BD-A7C8-69C2241E678A}"/>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66E1-48BD-A7C8-69C2241E678A}"/>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66E1-48BD-A7C8-69C2241E678A}"/>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66E1-48BD-A7C8-69C2241E678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0.46</c:v>
                </c:pt>
                <c:pt idx="1">
                  <c:v>0.49</c:v>
                </c:pt>
                <c:pt idx="2">
                  <c:v>0.5</c:v>
                </c:pt>
                <c:pt idx="3">
                  <c:v>0.51</c:v>
                </c:pt>
                <c:pt idx="4">
                  <c:v>0.53</c:v>
                </c:pt>
                <c:pt idx="5">
                  <c:v>0.42</c:v>
                </c:pt>
              </c:numCache>
            </c:numRef>
          </c:val>
          <c:smooth val="0"/>
          <c:extLst>
            <c:ext xmlns:c16="http://schemas.microsoft.com/office/drawing/2014/chart" uri="{C3380CC4-5D6E-409C-BE32-E72D297353CC}">
              <c16:uniqueId val="{00000007-66E1-48BD-A7C8-69C2241E678A}"/>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66E1-48BD-A7C8-69C2241E678A}"/>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66E1-48BD-A7C8-69C2241E678A}"/>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66E1-48BD-A7C8-69C2241E678A}"/>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0.32</c:v>
                </c:pt>
                <c:pt idx="1">
                  <c:v>0.33</c:v>
                </c:pt>
                <c:pt idx="2">
                  <c:v>0.33</c:v>
                </c:pt>
                <c:pt idx="3">
                  <c:v>0.3</c:v>
                </c:pt>
                <c:pt idx="4">
                  <c:v>0.27</c:v>
                </c:pt>
                <c:pt idx="5">
                  <c:v>0.28999999999999998</c:v>
                </c:pt>
              </c:numCache>
            </c:numRef>
          </c:val>
          <c:smooth val="0"/>
          <c:extLst>
            <c:ext xmlns:c16="http://schemas.microsoft.com/office/drawing/2014/chart" uri="{C3380CC4-5D6E-409C-BE32-E72D297353CC}">
              <c16:uniqueId val="{0000000E-66E1-48BD-A7C8-69C2241E678A}"/>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0.13</c:v>
                </c:pt>
                <c:pt idx="1">
                  <c:v>0.08</c:v>
                </c:pt>
                <c:pt idx="2">
                  <c:v>0.08</c:v>
                </c:pt>
                <c:pt idx="3">
                  <c:v>0.09</c:v>
                </c:pt>
                <c:pt idx="4">
                  <c:v>0.09</c:v>
                </c:pt>
                <c:pt idx="5">
                  <c:v>0.13</c:v>
                </c:pt>
              </c:numCache>
            </c:numRef>
          </c:val>
          <c:smooth val="0"/>
          <c:extLst>
            <c:ext xmlns:c16="http://schemas.microsoft.com/office/drawing/2014/chart" uri="{C3380CC4-5D6E-409C-BE32-E72D297353CC}">
              <c16:uniqueId val="{0000000F-66E1-48BD-A7C8-69C2241E678A}"/>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c:v>
                </c:pt>
                <c:pt idx="1">
                  <c:v>0.09</c:v>
                </c:pt>
                <c:pt idx="2">
                  <c:v>0.09</c:v>
                </c:pt>
                <c:pt idx="3">
                  <c:v>0.1</c:v>
                </c:pt>
                <c:pt idx="4">
                  <c:v>0.11</c:v>
                </c:pt>
                <c:pt idx="5">
                  <c:v>0.16</c:v>
                </c:pt>
              </c:numCache>
            </c:numRef>
          </c:val>
          <c:smooth val="0"/>
          <c:extLst>
            <c:ext xmlns:c16="http://schemas.microsoft.com/office/drawing/2014/chart" uri="{C3380CC4-5D6E-409C-BE32-E72D297353CC}">
              <c16:uniqueId val="{00000010-66E1-48BD-A7C8-69C2241E678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55000000000000004"/>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65426085662"/>
          <c:y val="8.678154202639321E-2"/>
          <c:w val="0.8788013310975834"/>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2340-49EE-9BB8-8133A7AA283E}"/>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2340-49EE-9BB8-8133A7AA283E}"/>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2340-49EE-9BB8-8133A7AA283E}"/>
              </c:ext>
            </c:extLst>
          </c:dPt>
          <c:dLbls>
            <c:dLbl>
              <c:idx val="3"/>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2340-49EE-9BB8-8133A7AA283E}"/>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Sheet1!$B$2:$B$16</c:f>
              <c:numCache>
                <c:formatCode>0%</c:formatCode>
                <c:ptCount val="15"/>
                <c:pt idx="0">
                  <c:v>0.41</c:v>
                </c:pt>
                <c:pt idx="1">
                  <c:v>0.43</c:v>
                </c:pt>
                <c:pt idx="2">
                  <c:v>0.44</c:v>
                </c:pt>
                <c:pt idx="3">
                  <c:v>0.46</c:v>
                </c:pt>
                <c:pt idx="4">
                  <c:v>0.46</c:v>
                </c:pt>
                <c:pt idx="5">
                  <c:v>0.48</c:v>
                </c:pt>
                <c:pt idx="6">
                  <c:v>0.49</c:v>
                </c:pt>
                <c:pt idx="7">
                  <c:v>0.49</c:v>
                </c:pt>
                <c:pt idx="8">
                  <c:v>0.48</c:v>
                </c:pt>
                <c:pt idx="9">
                  <c:v>0.47</c:v>
                </c:pt>
                <c:pt idx="10">
                  <c:v>0.47</c:v>
                </c:pt>
                <c:pt idx="11">
                  <c:v>0.47</c:v>
                </c:pt>
                <c:pt idx="12">
                  <c:v>0.47</c:v>
                </c:pt>
                <c:pt idx="13">
                  <c:v>0.48</c:v>
                </c:pt>
                <c:pt idx="14">
                  <c:v>0.47</c:v>
                </c:pt>
              </c:numCache>
            </c:numRef>
          </c:val>
          <c:smooth val="0"/>
          <c:extLst>
            <c:ext xmlns:c16="http://schemas.microsoft.com/office/drawing/2014/chart" uri="{C3380CC4-5D6E-409C-BE32-E72D297353CC}">
              <c16:uniqueId val="{00000007-2340-49EE-9BB8-8133A7AA283E}"/>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2340-49EE-9BB8-8133A7AA283E}"/>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2340-49EE-9BB8-8133A7AA283E}"/>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2340-49EE-9BB8-8133A7AA283E}"/>
              </c:ext>
            </c:extLst>
          </c:dPt>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Sheet1!$C$2:$C$16</c:f>
              <c:numCache>
                <c:formatCode>0%</c:formatCode>
                <c:ptCount val="15"/>
                <c:pt idx="0">
                  <c:v>0.31</c:v>
                </c:pt>
                <c:pt idx="1">
                  <c:v>0.31</c:v>
                </c:pt>
                <c:pt idx="2">
                  <c:v>0.31</c:v>
                </c:pt>
                <c:pt idx="3">
                  <c:v>0.32</c:v>
                </c:pt>
                <c:pt idx="4">
                  <c:v>0.31</c:v>
                </c:pt>
                <c:pt idx="5">
                  <c:v>0.31</c:v>
                </c:pt>
                <c:pt idx="6">
                  <c:v>0.3</c:v>
                </c:pt>
                <c:pt idx="7">
                  <c:v>0.31</c:v>
                </c:pt>
                <c:pt idx="8">
                  <c:v>0.31</c:v>
                </c:pt>
                <c:pt idx="9">
                  <c:v>0.33</c:v>
                </c:pt>
                <c:pt idx="10">
                  <c:v>0.34</c:v>
                </c:pt>
                <c:pt idx="11">
                  <c:v>0.34</c:v>
                </c:pt>
                <c:pt idx="12">
                  <c:v>0.33</c:v>
                </c:pt>
                <c:pt idx="13">
                  <c:v>0.3</c:v>
                </c:pt>
                <c:pt idx="14">
                  <c:v>0.3</c:v>
                </c:pt>
              </c:numCache>
            </c:numRef>
          </c:val>
          <c:smooth val="0"/>
          <c:extLst>
            <c:ext xmlns:c16="http://schemas.microsoft.com/office/drawing/2014/chart" uri="{C3380CC4-5D6E-409C-BE32-E72D297353CC}">
              <c16:uniqueId val="{0000000E-2340-49EE-9BB8-8133A7AA283E}"/>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Sheet1!$D$2:$D$16</c:f>
              <c:numCache>
                <c:formatCode>0%</c:formatCode>
                <c:ptCount val="15"/>
                <c:pt idx="0">
                  <c:v>0.15</c:v>
                </c:pt>
                <c:pt idx="1">
                  <c:v>0.14000000000000001</c:v>
                </c:pt>
                <c:pt idx="2">
                  <c:v>0.13</c:v>
                </c:pt>
                <c:pt idx="3">
                  <c:v>0.11</c:v>
                </c:pt>
                <c:pt idx="4">
                  <c:v>0.12</c:v>
                </c:pt>
                <c:pt idx="5">
                  <c:v>0.12</c:v>
                </c:pt>
                <c:pt idx="6">
                  <c:v>0.12</c:v>
                </c:pt>
                <c:pt idx="7">
                  <c:v>0.11</c:v>
                </c:pt>
                <c:pt idx="8">
                  <c:v>0.12</c:v>
                </c:pt>
                <c:pt idx="9">
                  <c:v>0.11</c:v>
                </c:pt>
                <c:pt idx="10">
                  <c:v>0.1</c:v>
                </c:pt>
                <c:pt idx="11">
                  <c:v>0.1</c:v>
                </c:pt>
                <c:pt idx="12">
                  <c:v>0.1</c:v>
                </c:pt>
                <c:pt idx="13">
                  <c:v>0.11</c:v>
                </c:pt>
                <c:pt idx="14">
                  <c:v>0.12</c:v>
                </c:pt>
              </c:numCache>
            </c:numRef>
          </c:val>
          <c:smooth val="0"/>
          <c:extLst>
            <c:ext xmlns:c16="http://schemas.microsoft.com/office/drawing/2014/chart" uri="{C3380CC4-5D6E-409C-BE32-E72D297353CC}">
              <c16:uniqueId val="{0000000F-2340-49EE-9BB8-8133A7AA283E}"/>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Jan'25</c:v>
                </c:pt>
                <c:pt idx="1">
                  <c:v>Feb'25</c:v>
                </c:pt>
                <c:pt idx="2">
                  <c:v>Mar'25</c:v>
                </c:pt>
                <c:pt idx="3">
                  <c:v>Apr'25</c:v>
                </c:pt>
                <c:pt idx="4">
                  <c:v>May'25</c:v>
                </c:pt>
                <c:pt idx="5">
                  <c:v>Jun'25</c:v>
                </c:pt>
                <c:pt idx="6">
                  <c:v>Jul'25</c:v>
                </c:pt>
                <c:pt idx="7">
                  <c:v>Aug'25</c:v>
                </c:pt>
                <c:pt idx="8">
                  <c:v>Sep'25</c:v>
                </c:pt>
                <c:pt idx="9">
                  <c:v>Oct'25</c:v>
                </c:pt>
                <c:pt idx="10">
                  <c:v>Nov'25</c:v>
                </c:pt>
                <c:pt idx="11">
                  <c:v>Dec'25</c:v>
                </c:pt>
                <c:pt idx="12">
                  <c:v>Jan'26</c:v>
                </c:pt>
                <c:pt idx="13">
                  <c:v>Feb'26</c:v>
                </c:pt>
                <c:pt idx="14">
                  <c:v>Mar'26</c:v>
                </c:pt>
              </c:strCache>
            </c:strRef>
          </c:cat>
          <c:val>
            <c:numRef>
              <c:f>Sheet1!$E$2:$E$16</c:f>
              <c:numCache>
                <c:formatCode>0%</c:formatCode>
                <c:ptCount val="15"/>
                <c:pt idx="0">
                  <c:v>0.13</c:v>
                </c:pt>
                <c:pt idx="1">
                  <c:v>0.12</c:v>
                </c:pt>
                <c:pt idx="2">
                  <c:v>0.12</c:v>
                </c:pt>
                <c:pt idx="3">
                  <c:v>0.11</c:v>
                </c:pt>
                <c:pt idx="4">
                  <c:v>0.1</c:v>
                </c:pt>
                <c:pt idx="5">
                  <c:v>0.09</c:v>
                </c:pt>
                <c:pt idx="6">
                  <c:v>0.09</c:v>
                </c:pt>
                <c:pt idx="7">
                  <c:v>0.09</c:v>
                </c:pt>
                <c:pt idx="8">
                  <c:v>0.09</c:v>
                </c:pt>
                <c:pt idx="9">
                  <c:v>0.09</c:v>
                </c:pt>
                <c:pt idx="10">
                  <c:v>0.09</c:v>
                </c:pt>
                <c:pt idx="11">
                  <c:v>0.09</c:v>
                </c:pt>
                <c:pt idx="12">
                  <c:v>0.1</c:v>
                </c:pt>
                <c:pt idx="13">
                  <c:v>0.1</c:v>
                </c:pt>
                <c:pt idx="14">
                  <c:v>0.11</c:v>
                </c:pt>
              </c:numCache>
            </c:numRef>
          </c:val>
          <c:smooth val="0"/>
          <c:extLst>
            <c:ext xmlns:c16="http://schemas.microsoft.com/office/drawing/2014/chart" uri="{C3380CC4-5D6E-409C-BE32-E72D297353CC}">
              <c16:uniqueId val="{00000010-2340-49EE-9BB8-8133A7AA283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5"/>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7273724861986626"/>
          <c:h val="0.7977547756045975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E6F2-40F0-91EC-3F29A586386D}"/>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E6F2-40F0-91EC-3F29A586386D}"/>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E6F2-40F0-91EC-3F29A586386D}"/>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E6F2-40F0-91EC-3F29A586386D}"/>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0.46</c:v>
                </c:pt>
                <c:pt idx="1">
                  <c:v>0.43</c:v>
                </c:pt>
                <c:pt idx="2">
                  <c:v>0.42</c:v>
                </c:pt>
                <c:pt idx="3">
                  <c:v>0.41</c:v>
                </c:pt>
                <c:pt idx="4">
                  <c:v>0.44</c:v>
                </c:pt>
                <c:pt idx="5">
                  <c:v>0.45</c:v>
                </c:pt>
              </c:numCache>
            </c:numRef>
          </c:val>
          <c:smooth val="0"/>
          <c:extLst>
            <c:ext xmlns:c16="http://schemas.microsoft.com/office/drawing/2014/chart" uri="{C3380CC4-5D6E-409C-BE32-E72D297353CC}">
              <c16:uniqueId val="{00000007-E6F2-40F0-91EC-3F29A586386D}"/>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E6F2-40F0-91EC-3F29A586386D}"/>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E6F2-40F0-91EC-3F29A586386D}"/>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E6F2-40F0-91EC-3F29A586386D}"/>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0.32</c:v>
                </c:pt>
                <c:pt idx="1">
                  <c:v>0.33</c:v>
                </c:pt>
                <c:pt idx="2">
                  <c:v>0.34</c:v>
                </c:pt>
                <c:pt idx="3">
                  <c:v>0.34</c:v>
                </c:pt>
                <c:pt idx="4">
                  <c:v>0.32</c:v>
                </c:pt>
                <c:pt idx="5">
                  <c:v>0.31</c:v>
                </c:pt>
              </c:numCache>
            </c:numRef>
          </c:val>
          <c:smooth val="0"/>
          <c:extLst>
            <c:ext xmlns:c16="http://schemas.microsoft.com/office/drawing/2014/chart" uri="{C3380CC4-5D6E-409C-BE32-E72D297353CC}">
              <c16:uniqueId val="{0000000E-E6F2-40F0-91EC-3F29A586386D}"/>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0.12</c:v>
                </c:pt>
                <c:pt idx="1">
                  <c:v>0.13</c:v>
                </c:pt>
                <c:pt idx="2">
                  <c:v>0.12</c:v>
                </c:pt>
                <c:pt idx="3">
                  <c:v>0.12</c:v>
                </c:pt>
                <c:pt idx="4">
                  <c:v>0.12</c:v>
                </c:pt>
                <c:pt idx="5">
                  <c:v>0.12</c:v>
                </c:pt>
              </c:numCache>
            </c:numRef>
          </c:val>
          <c:smooth val="0"/>
          <c:extLst>
            <c:ext xmlns:c16="http://schemas.microsoft.com/office/drawing/2014/chart" uri="{C3380CC4-5D6E-409C-BE32-E72D297353CC}">
              <c16:uniqueId val="{0000000F-E6F2-40F0-91EC-3F29A586386D}"/>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0.11</c:v>
                </c:pt>
                <c:pt idx="1">
                  <c:v>0.12</c:v>
                </c:pt>
                <c:pt idx="2">
                  <c:v>0.12</c:v>
                </c:pt>
                <c:pt idx="3">
                  <c:v>0.13</c:v>
                </c:pt>
                <c:pt idx="4">
                  <c:v>0.12</c:v>
                </c:pt>
                <c:pt idx="5">
                  <c:v>0.12</c:v>
                </c:pt>
              </c:numCache>
            </c:numRef>
          </c:val>
          <c:smooth val="0"/>
          <c:extLst>
            <c:ext xmlns:c16="http://schemas.microsoft.com/office/drawing/2014/chart" uri="{C3380CC4-5D6E-409C-BE32-E72D297353CC}">
              <c16:uniqueId val="{00000010-E6F2-40F0-91EC-3F29A586386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48000000000000004"/>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4536867972048456"/>
          <c:w val="0.76040422034285426"/>
          <c:h val="0.7593212831012241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3EF3-4DA0-91C6-8030730B342D}"/>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3EF3-4DA0-91C6-8030730B342D}"/>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3EF3-4DA0-91C6-8030730B342D}"/>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3EF3-4DA0-91C6-8030730B342D}"/>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c:v>
                </c:pt>
                <c:pt idx="1">
                  <c:v>0.61</c:v>
                </c:pt>
                <c:pt idx="2">
                  <c:v>0.55000000000000004</c:v>
                </c:pt>
                <c:pt idx="3">
                  <c:v>0.59</c:v>
                </c:pt>
                <c:pt idx="4">
                  <c:v>0.54</c:v>
                </c:pt>
                <c:pt idx="5">
                  <c:v>0.6</c:v>
                </c:pt>
              </c:numCache>
            </c:numRef>
          </c:val>
          <c:smooth val="0"/>
          <c:extLst>
            <c:ext xmlns:c16="http://schemas.microsoft.com/office/drawing/2014/chart" uri="{C3380CC4-5D6E-409C-BE32-E72D297353CC}">
              <c16:uniqueId val="{00000007-3EF3-4DA0-91C6-8030730B342D}"/>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3EF3-4DA0-91C6-8030730B342D}"/>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3EF3-4DA0-91C6-8030730B342D}"/>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3EF3-4DA0-91C6-8030730B342D}"/>
              </c:ext>
            </c:extLst>
          </c:dPt>
          <c:dLbls>
            <c:dLbl>
              <c:idx val="0"/>
              <c:layout>
                <c:manualLayout>
                  <c:x val="-3.7683519345180293E-2"/>
                  <c:y val="-7.236081549747723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EF3-4DA0-91C6-8030730B342D}"/>
                </c:ext>
              </c:extLst>
            </c:dLbl>
            <c:dLbl>
              <c:idx val="1"/>
              <c:layout>
                <c:manualLayout>
                  <c:x val="-3.7683519345180293E-2"/>
                  <c:y val="-7.236081549747723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EF3-4DA0-91C6-8030730B342D}"/>
                </c:ext>
              </c:extLst>
            </c:dLbl>
            <c:dLbl>
              <c:idx val="5"/>
              <c:layout>
                <c:manualLayout>
                  <c:x val="-3.7683519345180293E-2"/>
                  <c:y val="-6.4737885243087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FAD-4FDB-A0A4-E23D0EF5F402}"/>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3EF3-4DA0-91C6-8030730B342D}"/>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0.48</c:v>
                </c:pt>
                <c:pt idx="1">
                  <c:v>0.47</c:v>
                </c:pt>
                <c:pt idx="2">
                  <c:v>0.4</c:v>
                </c:pt>
                <c:pt idx="3">
                  <c:v>0.38</c:v>
                </c:pt>
                <c:pt idx="4">
                  <c:v>0.36</c:v>
                </c:pt>
                <c:pt idx="5">
                  <c:v>0.46</c:v>
                </c:pt>
              </c:numCache>
            </c:numRef>
          </c:val>
          <c:smooth val="0"/>
          <c:extLst>
            <c:ext xmlns:c16="http://schemas.microsoft.com/office/drawing/2014/chart" uri="{C3380CC4-5D6E-409C-BE32-E72D297353CC}">
              <c16:uniqueId val="{0000000F-3EF3-4DA0-91C6-8030730B342D}"/>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E7D-478D-A898-04D73150A1B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0.16</c:v>
                </c:pt>
                <c:pt idx="1">
                  <c:v>0.11</c:v>
                </c:pt>
                <c:pt idx="2">
                  <c:v>0.08</c:v>
                </c:pt>
                <c:pt idx="3">
                  <c:v>0.11</c:v>
                </c:pt>
                <c:pt idx="4">
                  <c:v>0.11</c:v>
                </c:pt>
                <c:pt idx="5">
                  <c:v>0.16</c:v>
                </c:pt>
              </c:numCache>
            </c:numRef>
          </c:val>
          <c:smooth val="0"/>
          <c:extLst>
            <c:ext xmlns:c16="http://schemas.microsoft.com/office/drawing/2014/chart" uri="{C3380CC4-5D6E-409C-BE32-E72D297353CC}">
              <c16:uniqueId val="{00000016-3EF3-4DA0-91C6-8030730B342D}"/>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0"/>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E7D-478D-A898-04D73150A1B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0.14000000000000001</c:v>
                </c:pt>
                <c:pt idx="1">
                  <c:v>0.12</c:v>
                </c:pt>
                <c:pt idx="2">
                  <c:v>0.1</c:v>
                </c:pt>
                <c:pt idx="3">
                  <c:v>0.14000000000000001</c:v>
                </c:pt>
                <c:pt idx="4">
                  <c:v>0.13</c:v>
                </c:pt>
                <c:pt idx="5">
                  <c:v>0.21</c:v>
                </c:pt>
              </c:numCache>
            </c:numRef>
          </c:val>
          <c:smooth val="0"/>
          <c:extLst>
            <c:ext xmlns:c16="http://schemas.microsoft.com/office/drawing/2014/chart" uri="{C3380CC4-5D6E-409C-BE32-E72D297353CC}">
              <c16:uniqueId val="{0000001B-3EF3-4DA0-91C6-8030730B342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DAC4-4EEF-8DB3-AF0809B5BE85}"/>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DAC4-4EEF-8DB3-AF0809B5BE85}"/>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DAC4-4EEF-8DB3-AF0809B5BE85}"/>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DAC4-4EEF-8DB3-AF0809B5BE8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0.72</c:v>
                </c:pt>
                <c:pt idx="1">
                  <c:v>0.71</c:v>
                </c:pt>
                <c:pt idx="2">
                  <c:v>0.69</c:v>
                </c:pt>
                <c:pt idx="3">
                  <c:v>0.71</c:v>
                </c:pt>
                <c:pt idx="4">
                  <c:v>0.69</c:v>
                </c:pt>
                <c:pt idx="5">
                  <c:v>0.7</c:v>
                </c:pt>
              </c:numCache>
            </c:numRef>
          </c:val>
          <c:smooth val="0"/>
          <c:extLst>
            <c:ext xmlns:c16="http://schemas.microsoft.com/office/drawing/2014/chart" uri="{C3380CC4-5D6E-409C-BE32-E72D297353CC}">
              <c16:uniqueId val="{00000007-DAC4-4EEF-8DB3-AF0809B5BE85}"/>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DAC4-4EEF-8DB3-AF0809B5BE85}"/>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DAC4-4EEF-8DB3-AF0809B5BE85}"/>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DAC4-4EEF-8DB3-AF0809B5BE85}"/>
              </c:ext>
            </c:extLst>
          </c:dPt>
          <c:dLbls>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DAC4-4EEF-8DB3-AF0809B5BE8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0.62</c:v>
                </c:pt>
                <c:pt idx="1">
                  <c:v>0.61</c:v>
                </c:pt>
                <c:pt idx="2">
                  <c:v>0.59</c:v>
                </c:pt>
                <c:pt idx="3">
                  <c:v>0.56999999999999995</c:v>
                </c:pt>
                <c:pt idx="4">
                  <c:v>0.51</c:v>
                </c:pt>
                <c:pt idx="5">
                  <c:v>0.53</c:v>
                </c:pt>
              </c:numCache>
            </c:numRef>
          </c:val>
          <c:smooth val="0"/>
          <c:extLst>
            <c:ext xmlns:c16="http://schemas.microsoft.com/office/drawing/2014/chart" uri="{C3380CC4-5D6E-409C-BE32-E72D297353CC}">
              <c16:uniqueId val="{0000000F-DAC4-4EEF-8DB3-AF0809B5BE85}"/>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0.23</c:v>
                </c:pt>
                <c:pt idx="1">
                  <c:v>0.22</c:v>
                </c:pt>
                <c:pt idx="2">
                  <c:v>0.2</c:v>
                </c:pt>
                <c:pt idx="3">
                  <c:v>0.2</c:v>
                </c:pt>
                <c:pt idx="4">
                  <c:v>0.2</c:v>
                </c:pt>
                <c:pt idx="5">
                  <c:v>0.2</c:v>
                </c:pt>
              </c:numCache>
            </c:numRef>
          </c:val>
          <c:smooth val="0"/>
          <c:extLst>
            <c:ext xmlns:c16="http://schemas.microsoft.com/office/drawing/2014/chart" uri="{C3380CC4-5D6E-409C-BE32-E72D297353CC}">
              <c16:uniqueId val="{00000016-DAC4-4EEF-8DB3-AF0809B5BE85}"/>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0.2</c:v>
                </c:pt>
                <c:pt idx="1">
                  <c:v>0.19</c:v>
                </c:pt>
                <c:pt idx="2">
                  <c:v>0.19</c:v>
                </c:pt>
                <c:pt idx="3">
                  <c:v>0.19</c:v>
                </c:pt>
                <c:pt idx="4">
                  <c:v>0.17</c:v>
                </c:pt>
                <c:pt idx="5">
                  <c:v>0.18</c:v>
                </c:pt>
              </c:numCache>
            </c:numRef>
          </c:val>
          <c:smooth val="0"/>
          <c:extLst>
            <c:ext xmlns:c16="http://schemas.microsoft.com/office/drawing/2014/chart" uri="{C3380CC4-5D6E-409C-BE32-E72D297353CC}">
              <c16:uniqueId val="{0000001B-DAC4-4EEF-8DB3-AF0809B5BE8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0"/>
        <c:axPos val="l"/>
        <c:numFmt formatCode="0%" sourceLinked="1"/>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2"/>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C94A-4415-A75D-A698A10DE27C}"/>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C94A-4415-A75D-A698A10DE27C}"/>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C94A-4415-A75D-A698A10DE27C}"/>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C94A-4415-A75D-A698A10DE27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0.73</c:v>
                </c:pt>
                <c:pt idx="1">
                  <c:v>0.72</c:v>
                </c:pt>
                <c:pt idx="2">
                  <c:v>0.74</c:v>
                </c:pt>
                <c:pt idx="3">
                  <c:v>0.77</c:v>
                </c:pt>
                <c:pt idx="4">
                  <c:v>0.78</c:v>
                </c:pt>
                <c:pt idx="5">
                  <c:v>0.76</c:v>
                </c:pt>
              </c:numCache>
            </c:numRef>
          </c:val>
          <c:smooth val="0"/>
          <c:extLst>
            <c:ext xmlns:c16="http://schemas.microsoft.com/office/drawing/2014/chart" uri="{C3380CC4-5D6E-409C-BE32-E72D297353CC}">
              <c16:uniqueId val="{00000007-C94A-4415-A75D-A698A10DE27C}"/>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C94A-4415-A75D-A698A10DE27C}"/>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C94A-4415-A75D-A698A10DE27C}"/>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C94A-4415-A75D-A698A10DE27C}"/>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0.67</c:v>
                </c:pt>
                <c:pt idx="1">
                  <c:v>0.68</c:v>
                </c:pt>
                <c:pt idx="2">
                  <c:v>0.69</c:v>
                </c:pt>
                <c:pt idx="3">
                  <c:v>0.67</c:v>
                </c:pt>
                <c:pt idx="4">
                  <c:v>0.61</c:v>
                </c:pt>
                <c:pt idx="5">
                  <c:v>0.6</c:v>
                </c:pt>
              </c:numCache>
            </c:numRef>
          </c:val>
          <c:smooth val="0"/>
          <c:extLst>
            <c:ext xmlns:c16="http://schemas.microsoft.com/office/drawing/2014/chart" uri="{C3380CC4-5D6E-409C-BE32-E72D297353CC}">
              <c16:uniqueId val="{0000000E-C94A-4415-A75D-A698A10DE27C}"/>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1"/>
              <c:layout>
                <c:manualLayout>
                  <c:x val="-4.3178029108277387E-2"/>
                  <c:y val="-4.895668714503747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23B-40C1-AC76-E7EC57E1AA13}"/>
                </c:ext>
              </c:extLst>
            </c:dLbl>
            <c:dLbl>
              <c:idx val="4"/>
              <c:layout>
                <c:manualLayout>
                  <c:x val="-4.3178029108277387E-2"/>
                  <c:y val="7.046829240199939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6AC-4BB8-A513-278C6E9C047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0.25</c:v>
                </c:pt>
                <c:pt idx="1">
                  <c:v>0.28000000000000003</c:v>
                </c:pt>
                <c:pt idx="2">
                  <c:v>0.27</c:v>
                </c:pt>
                <c:pt idx="3">
                  <c:v>0.26</c:v>
                </c:pt>
                <c:pt idx="4">
                  <c:v>0.23</c:v>
                </c:pt>
                <c:pt idx="5">
                  <c:v>0.24</c:v>
                </c:pt>
              </c:numCache>
            </c:numRef>
          </c:val>
          <c:smooth val="0"/>
          <c:extLst>
            <c:ext xmlns:c16="http://schemas.microsoft.com/office/drawing/2014/chart" uri="{C3380CC4-5D6E-409C-BE32-E72D297353CC}">
              <c16:uniqueId val="{00000016-C94A-4415-A75D-A698A10DE27C}"/>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
              <c:layout>
                <c:manualLayout>
                  <c:x val="-4.3178029108277387E-2"/>
                  <c:y val="6.329775731634537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23B-40C1-AC76-E7EC57E1AA13}"/>
                </c:ext>
              </c:extLst>
            </c:dLbl>
            <c:dLbl>
              <c:idx val="4"/>
              <c:layout>
                <c:manualLayout>
                  <c:x val="-4.3178029108277387E-2"/>
                  <c:y val="-7.04682924019994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6AC-4BB8-A513-278C6E9C047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0.25</c:v>
                </c:pt>
                <c:pt idx="1">
                  <c:v>0.26</c:v>
                </c:pt>
                <c:pt idx="2">
                  <c:v>0.26</c:v>
                </c:pt>
                <c:pt idx="3">
                  <c:v>0.25</c:v>
                </c:pt>
                <c:pt idx="4">
                  <c:v>0.24</c:v>
                </c:pt>
                <c:pt idx="5">
                  <c:v>0.22</c:v>
                </c:pt>
              </c:numCache>
            </c:numRef>
          </c:val>
          <c:smooth val="0"/>
          <c:extLst>
            <c:ext xmlns:c16="http://schemas.microsoft.com/office/drawing/2014/chart" uri="{C3380CC4-5D6E-409C-BE32-E72D297353CC}">
              <c16:uniqueId val="{0000001C-C94A-4415-A75D-A698A10DE27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315337845721E-2"/>
          <c:w val="0.76040422034285426"/>
          <c:h val="0.8551479563050673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B4E8-4A92-8C5A-E680C710CE58}"/>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B4E8-4A92-8C5A-E680C710CE58}"/>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B4E8-4A92-8C5A-E680C710CE58}"/>
              </c:ext>
            </c:extLst>
          </c:dPt>
          <c:dLbls>
            <c:dLbl>
              <c:idx val="0"/>
              <c:layout>
                <c:manualLayout>
                  <c:x val="-4.1328074866725628E-2"/>
                  <c:y val="-6.109702049579841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4E8-4A92-8C5A-E680C710CE58}"/>
                </c:ext>
              </c:extLst>
            </c:dLbl>
            <c:dLbl>
              <c:idx val="1"/>
              <c:layout>
                <c:manualLayout>
                  <c:x val="-3.8861469211323232E-2"/>
                  <c:y val="-9.410112280547806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4E8-4A92-8C5A-E680C710CE58}"/>
                </c:ext>
              </c:extLst>
            </c:dLbl>
            <c:dLbl>
              <c:idx val="2"/>
              <c:layout>
                <c:manualLayout>
                  <c:x val="-3.392825790051858E-2"/>
                  <c:y val="-9.410112280547813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4E8-4A92-8C5A-E680C710CE58}"/>
                </c:ext>
              </c:extLst>
            </c:dLbl>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B4E8-4A92-8C5A-E680C710CE58}"/>
                </c:ext>
              </c:extLst>
            </c:dLbl>
            <c:dLbl>
              <c:idx val="4"/>
              <c:layout>
                <c:manualLayout>
                  <c:x val="-3.3928257900518399E-2"/>
                  <c:y val="-5.123865227342656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39D-416E-9F72-259ADA34C596}"/>
                </c:ext>
              </c:extLst>
            </c:dLbl>
            <c:dLbl>
              <c:idx val="5"/>
              <c:layout>
                <c:manualLayout>
                  <c:x val="-1.9128623968104264E-2"/>
                  <c:y val="-5.123865227342656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BE2-4978-9B7D-B84123C278B6}"/>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1.5</c:v>
                </c:pt>
                <c:pt idx="1">
                  <c:v>1.6</c:v>
                </c:pt>
                <c:pt idx="2">
                  <c:v>1.6</c:v>
                </c:pt>
                <c:pt idx="3">
                  <c:v>1.5</c:v>
                </c:pt>
                <c:pt idx="4">
                  <c:v>1.5</c:v>
                </c:pt>
                <c:pt idx="5">
                  <c:v>1.5</c:v>
                </c:pt>
              </c:numCache>
            </c:numRef>
          </c:val>
          <c:smooth val="0"/>
          <c:extLst>
            <c:ext xmlns:c16="http://schemas.microsoft.com/office/drawing/2014/chart" uri="{C3380CC4-5D6E-409C-BE32-E72D297353CC}">
              <c16:uniqueId val="{00000008-B4E8-4A92-8C5A-E680C710CE58}"/>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A-B4E8-4A92-8C5A-E680C710CE58}"/>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C-B4E8-4A92-8C5A-E680C710CE58}"/>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E-B4E8-4A92-8C5A-E680C710CE58}"/>
              </c:ext>
            </c:extLst>
          </c:dPt>
          <c:dLbls>
            <c:dLbl>
              <c:idx val="0"/>
              <c:spPr>
                <a:noFill/>
                <a:ln>
                  <a:noFill/>
                </a:ln>
                <a:effectLst/>
              </c:spPr>
              <c:txPr>
                <a:bodyPr rot="0" spcFirstLastPara="1" vertOverflow="ellipsis" vert="horz" wrap="non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4.319026502609552E-2"/>
                      <c:h val="9.5333613083298352E-2"/>
                    </c:manualLayout>
                  </c15:layout>
                </c:ext>
                <c:ext xmlns:c16="http://schemas.microsoft.com/office/drawing/2014/chart" uri="{C3380CC4-5D6E-409C-BE32-E72D297353CC}">
                  <c16:uniqueId val="{0000000A-B4E8-4A92-8C5A-E680C710CE58}"/>
                </c:ext>
              </c:extLst>
            </c:dLbl>
            <c:dLbl>
              <c:idx val="3"/>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4.5656870681497895E-2"/>
                      <c:h val="8.1046114869235644E-2"/>
                    </c:manualLayout>
                  </c15:layout>
                </c:ext>
                <c:ext xmlns:c16="http://schemas.microsoft.com/office/drawing/2014/chart" uri="{C3380CC4-5D6E-409C-BE32-E72D297353CC}">
                  <c16:uniqueId val="{0000000F-B4E8-4A92-8C5A-E680C710CE58}"/>
                </c:ext>
              </c:extLst>
            </c:dLbl>
            <c:dLbl>
              <c:idx val="4"/>
              <c:layout>
                <c:manualLayout>
                  <c:x val="-1.2814113490274193E-2"/>
                  <c:y val="-3.923716052445220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4E8-4A92-8C5A-E680C710CE58}"/>
                </c:ext>
              </c:extLst>
            </c:dLbl>
            <c:dLbl>
              <c:idx val="5"/>
              <c:layout>
                <c:manualLayout>
                  <c:x val="-1.7747324801078938E-2"/>
                  <c:y val="8.455084867044253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BB0-4573-A5D9-793D87492742}"/>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12-B4E8-4A92-8C5A-E680C710CE58}"/>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1.23</c:v>
                </c:pt>
                <c:pt idx="1">
                  <c:v>1.3</c:v>
                </c:pt>
                <c:pt idx="2">
                  <c:v>1.4</c:v>
                </c:pt>
                <c:pt idx="3">
                  <c:v>1.3</c:v>
                </c:pt>
                <c:pt idx="4">
                  <c:v>1.3</c:v>
                </c:pt>
                <c:pt idx="5">
                  <c:v>1.2</c:v>
                </c:pt>
              </c:numCache>
            </c:numRef>
          </c:val>
          <c:smooth val="0"/>
          <c:extLst>
            <c:ext xmlns:c16="http://schemas.microsoft.com/office/drawing/2014/chart" uri="{C3380CC4-5D6E-409C-BE32-E72D297353CC}">
              <c16:uniqueId val="{00000013-B4E8-4A92-8C5A-E680C710CE58}"/>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1"/>
              <c:layout>
                <c:manualLayout>
                  <c:x val="-3.7480170044297954E-2"/>
                  <c:y val="6.781214087915314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7A9-470E-910D-2BD828BAEF97}"/>
                </c:ext>
              </c:extLst>
            </c:dLbl>
            <c:dLbl>
              <c:idx val="2"/>
              <c:layout>
                <c:manualLayout>
                  <c:x val="-3.5013564388895628E-2"/>
                  <c:y val="5.352465070180264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7A9-470E-910D-2BD828BAEF97}"/>
                </c:ext>
              </c:extLst>
            </c:dLbl>
            <c:dLbl>
              <c:idx val="3"/>
              <c:layout>
                <c:manualLayout>
                  <c:x val="-3.2546958733493163E-2"/>
                  <c:y val="6.781214087915314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7A9-470E-910D-2BD828BAEF97}"/>
                </c:ext>
              </c:extLst>
            </c:dLbl>
            <c:dLbl>
              <c:idx val="5"/>
              <c:layout>
                <c:manualLayout>
                  <c:x val="-1.5280719145676564E-2"/>
                  <c:y val="-1.31962952667319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D47-4286-A9A3-FFA5DC5E3870}"/>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1.1299999999999999</c:v>
                </c:pt>
                <c:pt idx="1">
                  <c:v>1.1000000000000001</c:v>
                </c:pt>
                <c:pt idx="2">
                  <c:v>1.1000000000000001</c:v>
                </c:pt>
                <c:pt idx="3">
                  <c:v>1.1000000000000001</c:v>
                </c:pt>
                <c:pt idx="4">
                  <c:v>1.2</c:v>
                </c:pt>
                <c:pt idx="5">
                  <c:v>1.3</c:v>
                </c:pt>
              </c:numCache>
            </c:numRef>
          </c:val>
          <c:smooth val="0"/>
          <c:extLst>
            <c:ext xmlns:c16="http://schemas.microsoft.com/office/drawing/2014/chart" uri="{C3380CC4-5D6E-409C-BE32-E72D297353CC}">
              <c16:uniqueId val="{0000001A-B4E8-4A92-8C5A-E680C710CE58}"/>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4"/>
              <c:layout>
                <c:manualLayout>
                  <c:x val="-3.5013564388895538E-2"/>
                  <c:y val="-7.129760822767880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6BF-4E28-ABB7-00D9DCD04565}"/>
                </c:ext>
              </c:extLst>
            </c:dLbl>
            <c:dLbl>
              <c:idx val="5"/>
              <c:layout>
                <c:manualLayout>
                  <c:x val="-1.7747324801079028E-2"/>
                  <c:y val="-4.6867378431415157E-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B0C-4A02-81C5-B77B3BD9BEEF}"/>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1.1000000000000001</c:v>
                </c:pt>
                <c:pt idx="1">
                  <c:v>1.1000000000000001</c:v>
                </c:pt>
                <c:pt idx="2">
                  <c:v>1.1000000000000001</c:v>
                </c:pt>
                <c:pt idx="3">
                  <c:v>1.2</c:v>
                </c:pt>
                <c:pt idx="4">
                  <c:v>1.3</c:v>
                </c:pt>
                <c:pt idx="5">
                  <c:v>1.4</c:v>
                </c:pt>
              </c:numCache>
            </c:numRef>
          </c:val>
          <c:smooth val="0"/>
          <c:extLst>
            <c:ext xmlns:c16="http://schemas.microsoft.com/office/drawing/2014/chart" uri="{C3380CC4-5D6E-409C-BE32-E72D297353CC}">
              <c16:uniqueId val="{0000001F-B4E8-4A92-8C5A-E680C710CE5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2"/>
          <c:min val="0.8"/>
        </c:scaling>
        <c:delete val="0"/>
        <c:axPos val="l"/>
        <c:numFmt formatCode="0.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4"/>
        <c:minorUnit val="4"/>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733017711393921E-2"/>
          <c:y val="7.9841461362081437E-2"/>
          <c:w val="0.80480312214009697"/>
          <c:h val="0.7921975514272413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0637-40A2-8125-0717521E0AF2}"/>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0637-40A2-8125-0717521E0AF2}"/>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0637-40A2-8125-0717521E0AF2}"/>
              </c:ext>
            </c:extLst>
          </c:dPt>
          <c:dLbls>
            <c:dLbl>
              <c:idx val="0"/>
              <c:layout>
                <c:manualLayout>
                  <c:x val="-3.3928257900518517E-2"/>
                  <c:y val="-0.1191777543164783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637-40A2-8125-0717521E0AF2}"/>
                </c:ext>
              </c:extLst>
            </c:dLbl>
            <c:dLbl>
              <c:idx val="1"/>
              <c:layout>
                <c:manualLayout>
                  <c:x val="-3.3928257900518489E-2"/>
                  <c:y val="-0.1191777543164783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637-40A2-8125-0717521E0AF2}"/>
                </c:ext>
              </c:extLst>
            </c:dLbl>
            <c:dLbl>
              <c:idx val="2"/>
              <c:layout>
                <c:manualLayout>
                  <c:x val="-3.3928257900518489E-2"/>
                  <c:y val="-6.36575364324106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637-40A2-8125-0717521E0AF2}"/>
                </c:ext>
              </c:extLst>
            </c:dLbl>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0637-40A2-8125-0717521E0AF2}"/>
                </c:ext>
              </c:extLst>
            </c:dLbl>
            <c:dLbl>
              <c:idx val="5"/>
              <c:layout>
                <c:manualLayout>
                  <c:x val="-1.172880700189733E-2"/>
                  <c:y val="-4.283745472588532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2A1-4CA5-91A8-1F3E8F0C0C3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1.5</c:v>
                </c:pt>
                <c:pt idx="1">
                  <c:v>1.5</c:v>
                </c:pt>
                <c:pt idx="2">
                  <c:v>1.4</c:v>
                </c:pt>
                <c:pt idx="3">
                  <c:v>1.4</c:v>
                </c:pt>
                <c:pt idx="4">
                  <c:v>1.4</c:v>
                </c:pt>
                <c:pt idx="5">
                  <c:v>1.4</c:v>
                </c:pt>
              </c:numCache>
            </c:numRef>
          </c:val>
          <c:smooth val="0"/>
          <c:extLst>
            <c:ext xmlns:c16="http://schemas.microsoft.com/office/drawing/2014/chart" uri="{C3380CC4-5D6E-409C-BE32-E72D297353CC}">
              <c16:uniqueId val="{00000007-0637-40A2-8125-0717521E0AF2}"/>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0637-40A2-8125-0717521E0AF2}"/>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0637-40A2-8125-0717521E0AF2}"/>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0637-40A2-8125-0717521E0AF2}"/>
              </c:ext>
            </c:extLst>
          </c:dPt>
          <c:dLbls>
            <c:dLbl>
              <c:idx val="0"/>
              <c:layout>
                <c:manualLayout>
                  <c:x val="-5.7213015287516877E-2"/>
                  <c:y val="-3.63161928217490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637-40A2-8125-0717521E0AF2}"/>
                </c:ext>
              </c:extLst>
            </c:dLbl>
            <c:dLbl>
              <c:idx val="3"/>
              <c:layout>
                <c:manualLayout>
                  <c:x val="-3.5161269396843144E-2"/>
                  <c:y val="-5.466992793300858E-2"/>
                </c:manualLayout>
              </c:layout>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15:layout>
                    <c:manualLayout>
                      <c:w val="4.8123476336900256E-2"/>
                      <c:h val="8.8520537936929766E-2"/>
                    </c:manualLayout>
                  </c15:layout>
                </c:ext>
                <c:ext xmlns:c16="http://schemas.microsoft.com/office/drawing/2014/chart" uri="{C3380CC4-5D6E-409C-BE32-E72D297353CC}">
                  <c16:uniqueId val="{0000000E-0637-40A2-8125-0717521E0AF2}"/>
                </c:ext>
              </c:extLst>
            </c:dLbl>
            <c:dLbl>
              <c:idx val="4"/>
              <c:layout>
                <c:manualLayout>
                  <c:x val="-3.2546958733493163E-2"/>
                  <c:y val="0.1696616958575839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2EE-41B3-AFA8-922258D2FCFA}"/>
                </c:ext>
              </c:extLst>
            </c:dLbl>
            <c:dLbl>
              <c:idx val="5"/>
              <c:layout>
                <c:manualLayout>
                  <c:x val="-1.4195412657299521E-2"/>
                  <c:y val="-6.8319103545206358E-2"/>
                </c:manualLayout>
              </c:layout>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15:layout>
                    <c:manualLayout>
                      <c:w val="4.5656870681497895E-2"/>
                      <c:h val="7.4179467765621745E-2"/>
                    </c:manualLayout>
                  </c15:layout>
                </c:ext>
                <c:ext xmlns:c16="http://schemas.microsoft.com/office/drawing/2014/chart" uri="{C3380CC4-5D6E-409C-BE32-E72D297353CC}">
                  <c16:uniqueId val="{0000000D-650B-4294-9D81-03C1B5A4850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1.2</c:v>
                </c:pt>
                <c:pt idx="1">
                  <c:v>1.2</c:v>
                </c:pt>
                <c:pt idx="2">
                  <c:v>1.2</c:v>
                </c:pt>
                <c:pt idx="3">
                  <c:v>1.3</c:v>
                </c:pt>
                <c:pt idx="4">
                  <c:v>1.3</c:v>
                </c:pt>
                <c:pt idx="5">
                  <c:v>1.2</c:v>
                </c:pt>
              </c:numCache>
            </c:numRef>
          </c:val>
          <c:smooth val="0"/>
          <c:extLst>
            <c:ext xmlns:c16="http://schemas.microsoft.com/office/drawing/2014/chart" uri="{C3380CC4-5D6E-409C-BE32-E72D297353CC}">
              <c16:uniqueId val="{00000011-0637-40A2-8125-0717521E0AF2}"/>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5.6127708799139836E-2"/>
                  <c:y val="9.8165481644990355E-3"/>
                </c:manualLayout>
              </c:layout>
              <c:dLblPos val="r"/>
              <c:showLegendKey val="0"/>
              <c:showVal val="1"/>
              <c:showCatName val="0"/>
              <c:showSerName val="0"/>
              <c:showPercent val="0"/>
              <c:showBubbleSize val="0"/>
              <c:extLst>
                <c:ext xmlns:c15="http://schemas.microsoft.com/office/drawing/2012/chart" uri="{CE6537A1-D6FC-4f65-9D91-7224C49458BB}">
                  <c15:layout>
                    <c:manualLayout>
                      <c:w val="4.5656870681497895E-2"/>
                      <c:h val="9.5691073022583784E-2"/>
                    </c:manualLayout>
                  </c15:layout>
                </c:ext>
                <c:ext xmlns:c16="http://schemas.microsoft.com/office/drawing/2014/chart" uri="{C3380CC4-5D6E-409C-BE32-E72D297353CC}">
                  <c16:uniqueId val="{0000000C-B13F-493D-B96B-91A2AA80E09F}"/>
                </c:ext>
              </c:extLst>
            </c:dLbl>
            <c:dLbl>
              <c:idx val="1"/>
              <c:layout>
                <c:manualLayout>
                  <c:x val="-3.5013564388895538E-2"/>
                  <c:y val="0.1463933368545809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C4A-4358-A84F-A3E2402740B5}"/>
                </c:ext>
              </c:extLst>
            </c:dLbl>
            <c:dLbl>
              <c:idx val="2"/>
              <c:layout>
                <c:manualLayout>
                  <c:x val="-3.5013564388895579E-2"/>
                  <c:y val="0.1463933368545809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C4A-4358-A84F-A3E2402740B5}"/>
                </c:ext>
              </c:extLst>
            </c:dLbl>
            <c:dLbl>
              <c:idx val="3"/>
              <c:layout>
                <c:manualLayout>
                  <c:x val="-3.5013564388895538E-2"/>
                  <c:y val="0.1678245721206066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C4A-4358-A84F-A3E2402740B5}"/>
                </c:ext>
              </c:extLst>
            </c:dLbl>
            <c:dLbl>
              <c:idx val="4"/>
              <c:layout>
                <c:manualLayout>
                  <c:x val="-3.6394863555920864E-2"/>
                  <c:y val="0.24780357963503899"/>
                </c:manualLayout>
              </c:layout>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15:layout>
                    <c:manualLayout>
                      <c:w val="4.5656870681497895E-2"/>
                      <c:h val="5.9838397594313704E-2"/>
                    </c:manualLayout>
                  </c15:layout>
                </c:ext>
                <c:ext xmlns:c16="http://schemas.microsoft.com/office/drawing/2014/chart" uri="{C3380CC4-5D6E-409C-BE32-E72D297353CC}">
                  <c16:uniqueId val="{0000000D-9D1D-48C1-B72F-0BC0AC7DC2F7}"/>
                </c:ext>
              </c:extLst>
            </c:dLbl>
            <c:dLbl>
              <c:idx val="5"/>
              <c:layout>
                <c:manualLayout>
                  <c:x val="-1.5280719145676745E-2"/>
                  <c:y val="6.587834514777339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2EE-41B3-AFA8-922258D2FCF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1.1000000000000001</c:v>
                </c:pt>
                <c:pt idx="1">
                  <c:v>1.1000000000000001</c:v>
                </c:pt>
                <c:pt idx="2">
                  <c:v>1.1000000000000001</c:v>
                </c:pt>
                <c:pt idx="3">
                  <c:v>1.2</c:v>
                </c:pt>
                <c:pt idx="4">
                  <c:v>1.3</c:v>
                </c:pt>
                <c:pt idx="5">
                  <c:v>1.2</c:v>
                </c:pt>
              </c:numCache>
            </c:numRef>
          </c:val>
          <c:smooth val="0"/>
          <c:extLst>
            <c:ext xmlns:c16="http://schemas.microsoft.com/office/drawing/2014/chart" uri="{C3380CC4-5D6E-409C-BE32-E72D297353CC}">
              <c16:uniqueId val="{00000018-0637-40A2-8125-0717521E0AF2}"/>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0"/>
              <c:layout>
                <c:manualLayout>
                  <c:x val="-5.2279803976712155E-2"/>
                  <c:y val="9.916755682230468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50B-4294-9D81-03C1B5A4850E}"/>
                </c:ext>
              </c:extLst>
            </c:dLbl>
            <c:dLbl>
              <c:idx val="1"/>
              <c:layout>
                <c:manualLayout>
                  <c:x val="-3.5013564388895538E-2"/>
                  <c:y val="5.533814945502225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19A-49AE-82BE-735EC479D7D0}"/>
                </c:ext>
              </c:extLst>
            </c:dLbl>
            <c:dLbl>
              <c:idx val="2"/>
              <c:layout>
                <c:manualLayout>
                  <c:x val="-3.6394863555920864E-2"/>
                  <c:y val="4.5455312499472655E-2"/>
                </c:manualLayout>
              </c:layout>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15:layout>
                    <c:manualLayout>
                      <c:w val="4.5656870681497895E-2"/>
                      <c:h val="0.10649499115829601"/>
                    </c:manualLayout>
                  </c15:layout>
                </c:ext>
                <c:ext xmlns:c16="http://schemas.microsoft.com/office/drawing/2014/chart" uri="{C3380CC4-5D6E-409C-BE32-E72D297353CC}">
                  <c16:uniqueId val="{0000000D-0A48-4D5A-8902-9667380FF2A5}"/>
                </c:ext>
              </c:extLst>
            </c:dLbl>
            <c:dLbl>
              <c:idx val="3"/>
              <c:layout>
                <c:manualLayout>
                  <c:x val="-3.5013564388895538E-2"/>
                  <c:y val="0.1523181452812751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19A-49AE-82BE-735EC479D7D0}"/>
                </c:ext>
              </c:extLst>
            </c:dLbl>
            <c:dLbl>
              <c:idx val="4"/>
              <c:layout>
                <c:manualLayout>
                  <c:x val="-3.0080353078090791E-2"/>
                  <c:y val="5.456752498482657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3A5-4C99-90C3-7F7684F0AD7C}"/>
                </c:ext>
              </c:extLst>
            </c:dLbl>
            <c:dLbl>
              <c:idx val="5"/>
              <c:layout>
                <c:manualLayout>
                  <c:x val="-1.5280719145676745E-2"/>
                  <c:y val="-5.199829067675654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260-4AD4-B931-6624F85D3D64}"/>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1.1000000000000001</c:v>
                </c:pt>
                <c:pt idx="1">
                  <c:v>1.1000000000000001</c:v>
                </c:pt>
                <c:pt idx="2">
                  <c:v>1.1000000000000001</c:v>
                </c:pt>
                <c:pt idx="3">
                  <c:v>1.3</c:v>
                </c:pt>
                <c:pt idx="4">
                  <c:v>1.3</c:v>
                </c:pt>
                <c:pt idx="5">
                  <c:v>1.3</c:v>
                </c:pt>
              </c:numCache>
            </c:numRef>
          </c:val>
          <c:smooth val="0"/>
          <c:extLst>
            <c:ext xmlns:c16="http://schemas.microsoft.com/office/drawing/2014/chart" uri="{C3380CC4-5D6E-409C-BE32-E72D297353CC}">
              <c16:uniqueId val="{00000020-0637-40A2-8125-0717521E0AF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2"/>
          <c:min val="0.8"/>
        </c:scaling>
        <c:delete val="0"/>
        <c:axPos val="l"/>
        <c:numFmt formatCode="0.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4"/>
        <c:minorUnit val="4"/>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E15E-48B6-BFB4-EA8E0416EB7B}"/>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E15E-48B6-BFB4-EA8E0416EB7B}"/>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E15E-48B6-BFB4-EA8E0416EB7B}"/>
              </c:ext>
            </c:extLst>
          </c:dPt>
          <c:dLbls>
            <c:dLbl>
              <c:idx val="0"/>
              <c:layout>
                <c:manualLayout>
                  <c:x val="-5.8594314454542204E-2"/>
                  <c:y val="-5.83823973621018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15E-48B6-BFB4-EA8E0416EB7B}"/>
                </c:ext>
              </c:extLst>
            </c:dLbl>
            <c:dLbl>
              <c:idx val="1"/>
              <c:layout>
                <c:manualLayout>
                  <c:x val="-3.3928257900518489E-2"/>
                  <c:y val="-0.1655385736922305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15E-48B6-BFB4-EA8E0416EB7B}"/>
                </c:ext>
              </c:extLst>
            </c:dLbl>
            <c:dLbl>
              <c:idx val="2"/>
              <c:layout>
                <c:manualLayout>
                  <c:x val="-3.8861469211323232E-2"/>
                  <c:y val="-5.83823973621018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15E-48B6-BFB4-EA8E0416EB7B}"/>
                </c:ext>
              </c:extLst>
            </c:dLbl>
            <c:dLbl>
              <c:idx val="3"/>
              <c:layout>
                <c:manualLayout>
                  <c:x val="-3.7796944361145252E-2"/>
                  <c:y val="-0.17233160027202482"/>
                </c:manualLayout>
              </c:layout>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E15E-48B6-BFB4-EA8E0416EB7B}"/>
                </c:ext>
              </c:extLst>
            </c:dLbl>
            <c:dLbl>
              <c:idx val="4"/>
              <c:layout>
                <c:manualLayout>
                  <c:x val="-3.1461652245116031E-2"/>
                  <c:y val="-6.552614245077713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D3D-4602-9288-774A68FB9D67}"/>
                </c:ext>
              </c:extLst>
            </c:dLbl>
            <c:dLbl>
              <c:idx val="5"/>
              <c:layout>
                <c:manualLayout>
                  <c:x val="-3.1461652245116212E-2"/>
                  <c:y val="-6.552614245077713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D3D-4602-9288-774A68FB9D67}"/>
                </c:ext>
              </c:extLst>
            </c:dLbl>
            <c:dLbl>
              <c:idx val="6"/>
              <c:layout>
                <c:manualLayout>
                  <c:x val="-4.3289900356900356E-3"/>
                  <c:y val="-0.1155323580715039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191-42A6-8C5D-FB8E39ACBE8F}"/>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General</c:formatCode>
                <c:ptCount val="6"/>
                <c:pt idx="0">
                  <c:v>1.3</c:v>
                </c:pt>
                <c:pt idx="1">
                  <c:v>1.3</c:v>
                </c:pt>
                <c:pt idx="2">
                  <c:v>1.3</c:v>
                </c:pt>
                <c:pt idx="3">
                  <c:v>1.3</c:v>
                </c:pt>
                <c:pt idx="4">
                  <c:v>1.3</c:v>
                </c:pt>
                <c:pt idx="5">
                  <c:v>1.3</c:v>
                </c:pt>
              </c:numCache>
            </c:numRef>
          </c:val>
          <c:smooth val="0"/>
          <c:extLst>
            <c:ext xmlns:c16="http://schemas.microsoft.com/office/drawing/2014/chart" uri="{C3380CC4-5D6E-409C-BE32-E72D297353CC}">
              <c16:uniqueId val="{00000008-E15E-48B6-BFB4-EA8E0416EB7B}"/>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A-E15E-48B6-BFB4-EA8E0416EB7B}"/>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C-E15E-48B6-BFB4-EA8E0416EB7B}"/>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E-E15E-48B6-BFB4-EA8E0416EB7B}"/>
              </c:ext>
            </c:extLst>
          </c:dPt>
          <c:dLbls>
            <c:dLbl>
              <c:idx val="0"/>
              <c:layout>
                <c:manualLayout>
                  <c:x val="-5.6127708799139836E-2"/>
                  <c:y val="2.019879861332595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15E-48B6-BFB4-EA8E0416EB7B}"/>
                </c:ext>
              </c:extLst>
            </c:dLbl>
            <c:dLbl>
              <c:idx val="1"/>
              <c:layout>
                <c:manualLayout>
                  <c:x val="-3.1461652245116122E-2"/>
                  <c:y val="0.127354974943454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15E-48B6-BFB4-EA8E0416EB7B}"/>
                </c:ext>
              </c:extLst>
            </c:dLbl>
            <c:dLbl>
              <c:idx val="2"/>
              <c:layout>
                <c:manualLayout>
                  <c:x val="-3.8861469211323232E-2"/>
                  <c:y val="0.1344987200321299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15E-48B6-BFB4-EA8E0416EB7B}"/>
                </c:ext>
              </c:extLst>
            </c:dLbl>
            <c:dLbl>
              <c:idx val="3"/>
              <c:layout>
                <c:manualLayout>
                  <c:x val="-3.1461652245116122E-2"/>
                  <c:y val="-0.1273549749434548"/>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64A-42AE-9490-05E3DA5ACEA9}"/>
                </c:ext>
              </c:extLst>
            </c:dLbl>
            <c:dLbl>
              <c:idx val="4"/>
              <c:layout>
                <c:manualLayout>
                  <c:x val="-2.4061835278909007E-2"/>
                  <c:y val="4.877377896802682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E15E-48B6-BFB4-EA8E0416EB7B}"/>
                </c:ext>
              </c:extLst>
            </c:dLbl>
            <c:dLbl>
              <c:idx val="5"/>
              <c:layout>
                <c:manualLayout>
                  <c:x val="-2.899504658971375E-2"/>
                  <c:y val="7.148413835465487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166-446C-805F-49E30AE7667B}"/>
                </c:ext>
              </c:extLst>
            </c:dLbl>
            <c:dLbl>
              <c:idx val="6"/>
              <c:layout>
                <c:manualLayout>
                  <c:x val="-1.8623843802876646E-3"/>
                  <c:y val="-5.83823973621018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191-42A6-8C5D-FB8E39ACBE8F}"/>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12-E15E-48B6-BFB4-EA8E0416EB7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General</c:formatCode>
                <c:ptCount val="6"/>
                <c:pt idx="0">
                  <c:v>1.1000000000000001</c:v>
                </c:pt>
                <c:pt idx="1">
                  <c:v>1.1000000000000001</c:v>
                </c:pt>
                <c:pt idx="2">
                  <c:v>1.2</c:v>
                </c:pt>
                <c:pt idx="3">
                  <c:v>1.2</c:v>
                </c:pt>
                <c:pt idx="4">
                  <c:v>1</c:v>
                </c:pt>
                <c:pt idx="5">
                  <c:v>1.2</c:v>
                </c:pt>
              </c:numCache>
            </c:numRef>
          </c:val>
          <c:smooth val="0"/>
          <c:extLst>
            <c:ext xmlns:c16="http://schemas.microsoft.com/office/drawing/2014/chart" uri="{C3380CC4-5D6E-409C-BE32-E72D297353CC}">
              <c16:uniqueId val="{00000013-E15E-48B6-BFB4-EA8E0416EB7B}"/>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5.8594314454542204E-2"/>
                  <c:y val="3.6951162096076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AD8-4921-9520-CC6E9ED0677D}"/>
                </c:ext>
              </c:extLst>
            </c:dLbl>
            <c:dLbl>
              <c:idx val="1"/>
              <c:layout>
                <c:manualLayout>
                  <c:x val="-3.7627875052245428E-2"/>
                  <c:y val="-0.15592995529815573"/>
                </c:manualLayout>
              </c:layout>
              <c:dLblPos val="r"/>
              <c:showLegendKey val="0"/>
              <c:showVal val="1"/>
              <c:showCatName val="0"/>
              <c:showSerName val="0"/>
              <c:showPercent val="0"/>
              <c:showBubbleSize val="0"/>
              <c:extLst>
                <c:ext xmlns:c15="http://schemas.microsoft.com/office/drawing/2012/chart" uri="{CE6537A1-D6FC-4f65-9D91-7224C49458BB}">
                  <c15:layout>
                    <c:manualLayout>
                      <c:w val="4.8123476336900256E-2"/>
                      <c:h val="9.5333613083298352E-2"/>
                    </c:manualLayout>
                  </c15:layout>
                </c:ext>
                <c:ext xmlns:c16="http://schemas.microsoft.com/office/drawing/2014/chart" uri="{C3380CC4-5D6E-409C-BE32-E72D297353CC}">
                  <c16:uniqueId val="{00000015-E15E-48B6-BFB4-EA8E0416EB7B}"/>
                </c:ext>
              </c:extLst>
            </c:dLbl>
            <c:dLbl>
              <c:idx val="2"/>
              <c:layout>
                <c:manualLayout>
                  <c:x val="-3.8861469211323232E-2"/>
                  <c:y val="-0.15592995529815579"/>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275-460E-947C-A2112380B9E3}"/>
                </c:ext>
              </c:extLst>
            </c:dLbl>
            <c:dLbl>
              <c:idx val="3"/>
              <c:layout>
                <c:manualLayout>
                  <c:x val="-3.1461652245116122E-2"/>
                  <c:y val="0.1441073384262048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F07-4E3E-B08E-4EDED5436BD8}"/>
                </c:ext>
              </c:extLst>
            </c:dLbl>
            <c:dLbl>
              <c:idx val="4"/>
              <c:layout>
                <c:manualLayout>
                  <c:x val="-3.3928257900518399E-2"/>
                  <c:y val="-2.523204515296895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275-460E-947C-A2112380B9E3}"/>
                </c:ext>
              </c:extLst>
            </c:dLbl>
            <c:dLbl>
              <c:idx val="5"/>
              <c:layout>
                <c:manualLayout>
                  <c:x val="-3.1461652245116122E-2"/>
                  <c:y val="-0.1466757116604482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166-446C-805F-49E30AE7667B}"/>
                </c:ext>
              </c:extLst>
            </c:dLbl>
            <c:dLbl>
              <c:idx val="6"/>
              <c:layout>
                <c:manualLayout>
                  <c:x val="3.0708269305170783E-3"/>
                  <c:y val="-5.38070255076699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191-42A6-8C5D-FB8E39ACBE8F}"/>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formatCode="General">
                  <c:v>1.3</c:v>
                </c:pt>
                <c:pt idx="1">
                  <c:v>1.2</c:v>
                </c:pt>
                <c:pt idx="2" formatCode="General">
                  <c:v>1.3</c:v>
                </c:pt>
                <c:pt idx="3" formatCode="General">
                  <c:v>1.1000000000000001</c:v>
                </c:pt>
                <c:pt idx="4" formatCode="General">
                  <c:v>1.1000000000000001</c:v>
                </c:pt>
                <c:pt idx="5" formatCode="General">
                  <c:v>1.5</c:v>
                </c:pt>
              </c:numCache>
            </c:numRef>
          </c:val>
          <c:smooth val="0"/>
          <c:extLst>
            <c:ext xmlns:c16="http://schemas.microsoft.com/office/drawing/2014/chart" uri="{C3380CC4-5D6E-409C-BE32-E72D297353CC}">
              <c16:uniqueId val="{0000001A-E15E-48B6-BFB4-EA8E0416EB7B}"/>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0"/>
              <c:layout>
                <c:manualLayout>
                  <c:x val="-6.1060920109944579E-2"/>
                  <c:y val="2.019879861332595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AD8-4921-9520-CC6E9ED0677D}"/>
                </c:ext>
              </c:extLst>
            </c:dLbl>
            <c:dLbl>
              <c:idx val="1"/>
              <c:layout>
                <c:manualLayout>
                  <c:x val="-3.6394863555920864E-2"/>
                  <c:y val="0.11049911153186069"/>
                </c:manualLayout>
              </c:layout>
              <c:dLblPos val="r"/>
              <c:showLegendKey val="0"/>
              <c:showVal val="1"/>
              <c:showCatName val="0"/>
              <c:showSerName val="0"/>
              <c:showPercent val="0"/>
              <c:showBubbleSize val="0"/>
              <c:extLst>
                <c:ext xmlns:c15="http://schemas.microsoft.com/office/drawing/2012/chart" uri="{CE6537A1-D6FC-4f65-9D91-7224C49458BB}">
                  <c15:layout>
                    <c:manualLayout>
                      <c:w val="4.5656870681497895E-2"/>
                      <c:h val="9.5333613083298352E-2"/>
                    </c:manualLayout>
                  </c15:layout>
                </c:ext>
                <c:ext xmlns:c16="http://schemas.microsoft.com/office/drawing/2014/chart" uri="{C3380CC4-5D6E-409C-BE32-E72D297353CC}">
                  <c16:uniqueId val="{0000001C-E15E-48B6-BFB4-EA8E0416EB7B}"/>
                </c:ext>
              </c:extLst>
            </c:dLbl>
            <c:dLbl>
              <c:idx val="2"/>
              <c:layout>
                <c:manualLayout>
                  <c:x val="-4.1328074866725607E-2"/>
                  <c:y val="5.591752405670220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9D3-45E6-93F4-58F9590B7CD1}"/>
                </c:ext>
              </c:extLst>
            </c:dLbl>
            <c:dLbl>
              <c:idx val="3"/>
              <c:layout>
                <c:manualLayout>
                  <c:x val="-3.1461652245116122E-2"/>
                  <c:y val="6.30612691453774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E15E-48B6-BFB4-EA8E0416EB7B}"/>
                </c:ext>
              </c:extLst>
            </c:dLbl>
            <c:dLbl>
              <c:idx val="4"/>
              <c:layout>
                <c:manualLayout>
                  <c:x val="-3.6394863555920774E-2"/>
                  <c:y val="-9.410112280547806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D20-4F2E-9A2B-F58ECCEC6340}"/>
                </c:ext>
              </c:extLst>
            </c:dLbl>
            <c:dLbl>
              <c:idx val="5"/>
              <c:layout>
                <c:manualLayout>
                  <c:x val="-3.1461652245116122E-2"/>
                  <c:y val="-6.552614245077706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166-446C-805F-49E30AE7667B}"/>
                </c:ext>
              </c:extLst>
            </c:dLbl>
            <c:dLbl>
              <c:idx val="6"/>
              <c:layout>
                <c:manualLayout>
                  <c:x val="3.0708269305170783E-3"/>
                  <c:y val="1.763042537908255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191-42A6-8C5D-FB8E39ACBE8F}"/>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General</c:formatCode>
                <c:ptCount val="6"/>
                <c:pt idx="0">
                  <c:v>1.2</c:v>
                </c:pt>
                <c:pt idx="1">
                  <c:v>1.2</c:v>
                </c:pt>
                <c:pt idx="2" formatCode="0.0">
                  <c:v>1.2</c:v>
                </c:pt>
                <c:pt idx="3">
                  <c:v>1.1000000000000001</c:v>
                </c:pt>
                <c:pt idx="4">
                  <c:v>1.1000000000000001</c:v>
                </c:pt>
                <c:pt idx="5">
                  <c:v>1.5</c:v>
                </c:pt>
              </c:numCache>
            </c:numRef>
          </c:val>
          <c:smooth val="0"/>
          <c:extLst>
            <c:ext xmlns:c16="http://schemas.microsoft.com/office/drawing/2014/chart" uri="{C3380CC4-5D6E-409C-BE32-E72D297353CC}">
              <c16:uniqueId val="{0000001F-E15E-48B6-BFB4-EA8E0416EB7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2"/>
          <c:min val="0.8"/>
        </c:scaling>
        <c:delete val="0"/>
        <c:axPos val="l"/>
        <c:numFmt formatCode="General"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4"/>
        <c:minorUnit val="4"/>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4580-405B-9EF7-94E42598D06A}"/>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4580-405B-9EF7-94E42598D06A}"/>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4580-405B-9EF7-94E42598D06A}"/>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4580-405B-9EF7-94E42598D06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0.65</c:v>
                </c:pt>
                <c:pt idx="1">
                  <c:v>0.66</c:v>
                </c:pt>
                <c:pt idx="2">
                  <c:v>0.65</c:v>
                </c:pt>
                <c:pt idx="3">
                  <c:v>0.64</c:v>
                </c:pt>
                <c:pt idx="4">
                  <c:v>0.62</c:v>
                </c:pt>
                <c:pt idx="5">
                  <c:v>0.62</c:v>
                </c:pt>
              </c:numCache>
            </c:numRef>
          </c:val>
          <c:smooth val="0"/>
          <c:extLst>
            <c:ext xmlns:c16="http://schemas.microsoft.com/office/drawing/2014/chart" uri="{C3380CC4-5D6E-409C-BE32-E72D297353CC}">
              <c16:uniqueId val="{00000007-4580-405B-9EF7-94E42598D06A}"/>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4580-405B-9EF7-94E42598D06A}"/>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4580-405B-9EF7-94E42598D06A}"/>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4580-405B-9EF7-94E42598D06A}"/>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0.6</c:v>
                </c:pt>
                <c:pt idx="1">
                  <c:v>0.59</c:v>
                </c:pt>
                <c:pt idx="2">
                  <c:v>0.57999999999999996</c:v>
                </c:pt>
                <c:pt idx="3">
                  <c:v>0.54</c:v>
                </c:pt>
                <c:pt idx="4">
                  <c:v>0.54</c:v>
                </c:pt>
                <c:pt idx="5">
                  <c:v>0.52</c:v>
                </c:pt>
              </c:numCache>
            </c:numRef>
          </c:val>
          <c:smooth val="0"/>
          <c:extLst>
            <c:ext xmlns:c16="http://schemas.microsoft.com/office/drawing/2014/chart" uri="{C3380CC4-5D6E-409C-BE32-E72D297353CC}">
              <c16:uniqueId val="{0000000E-4580-405B-9EF7-94E42598D06A}"/>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0"/>
              <c:layout>
                <c:manualLayout>
                  <c:x val="-4.0150125000582661E-2"/>
                  <c:y val="5.372537528152806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4580-405B-9EF7-94E42598D06A}"/>
                </c:ext>
              </c:extLst>
            </c:dLbl>
            <c:dLbl>
              <c:idx val="1"/>
              <c:layout>
                <c:manualLayout>
                  <c:x val="-3.7683519345180293E-2"/>
                  <c:y val="6.08959103671822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4580-405B-9EF7-94E42598D06A}"/>
                </c:ext>
              </c:extLst>
            </c:dLbl>
            <c:dLbl>
              <c:idx val="2"/>
              <c:layout>
                <c:manualLayout>
                  <c:x val="-4.0150125000582661E-2"/>
                  <c:y val="6.08959103671822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4580-405B-9EF7-94E42598D06A}"/>
                </c:ext>
              </c:extLst>
            </c:dLbl>
            <c:dLbl>
              <c:idx val="3"/>
              <c:layout>
                <c:manualLayout>
                  <c:x val="-4.0150125000582661E-2"/>
                  <c:y val="5.372537528152819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4580-405B-9EF7-94E42598D06A}"/>
                </c:ext>
              </c:extLst>
            </c:dLbl>
            <c:dLbl>
              <c:idx val="4"/>
              <c:layout>
                <c:manualLayout>
                  <c:x val="-4.0150125000582661E-2"/>
                  <c:y val="6.08959103671822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4580-405B-9EF7-94E42598D06A}"/>
                </c:ext>
              </c:extLst>
            </c:dLbl>
            <c:dLbl>
              <c:idx val="5"/>
              <c:layout>
                <c:manualLayout>
                  <c:x val="-4.0150125000582661E-2"/>
                  <c:y val="4.655484019587404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4580-405B-9EF7-94E42598D06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0.41</c:v>
                </c:pt>
                <c:pt idx="1">
                  <c:v>0.39</c:v>
                </c:pt>
                <c:pt idx="2">
                  <c:v>0.39</c:v>
                </c:pt>
                <c:pt idx="3">
                  <c:v>0.37</c:v>
                </c:pt>
                <c:pt idx="4">
                  <c:v>0.36</c:v>
                </c:pt>
                <c:pt idx="5">
                  <c:v>0.34</c:v>
                </c:pt>
              </c:numCache>
            </c:numRef>
          </c:val>
          <c:smooth val="0"/>
          <c:extLst>
            <c:ext xmlns:c16="http://schemas.microsoft.com/office/drawing/2014/chart" uri="{C3380CC4-5D6E-409C-BE32-E72D297353CC}">
              <c16:uniqueId val="{00000011-4580-405B-9EF7-94E42598D06A}"/>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0.33</c:v>
                </c:pt>
                <c:pt idx="1">
                  <c:v>0.27</c:v>
                </c:pt>
                <c:pt idx="2">
                  <c:v>0.3</c:v>
                </c:pt>
                <c:pt idx="3">
                  <c:v>0.28000000000000003</c:v>
                </c:pt>
                <c:pt idx="4">
                  <c:v>0.27</c:v>
                </c:pt>
                <c:pt idx="5">
                  <c:v>0.23</c:v>
                </c:pt>
              </c:numCache>
            </c:numRef>
          </c:val>
          <c:smooth val="0"/>
          <c:extLst>
            <c:ext xmlns:c16="http://schemas.microsoft.com/office/drawing/2014/chart" uri="{C3380CC4-5D6E-409C-BE32-E72D297353CC}">
              <c16:uniqueId val="{00000014-4580-405B-9EF7-94E42598D06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min val="0.1"/>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2898-4FF7-B50D-DDB3010AADB5}"/>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2898-4FF7-B50D-DDB3010AADB5}"/>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2898-4FF7-B50D-DDB3010AADB5}"/>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2898-4FF7-B50D-DDB3010AADB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0.42</c:v>
                </c:pt>
                <c:pt idx="1">
                  <c:v>0.44</c:v>
                </c:pt>
                <c:pt idx="2">
                  <c:v>0.43</c:v>
                </c:pt>
                <c:pt idx="3">
                  <c:v>0.43</c:v>
                </c:pt>
                <c:pt idx="4">
                  <c:v>0.4</c:v>
                </c:pt>
                <c:pt idx="5">
                  <c:v>0.42</c:v>
                </c:pt>
              </c:numCache>
            </c:numRef>
          </c:val>
          <c:smooth val="0"/>
          <c:extLst>
            <c:ext xmlns:c16="http://schemas.microsoft.com/office/drawing/2014/chart" uri="{C3380CC4-5D6E-409C-BE32-E72D297353CC}">
              <c16:uniqueId val="{00000007-2898-4FF7-B50D-DDB3010AADB5}"/>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2898-4FF7-B50D-DDB3010AADB5}"/>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2898-4FF7-B50D-DDB3010AADB5}"/>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2898-4FF7-B50D-DDB3010AADB5}"/>
              </c:ext>
            </c:extLst>
          </c:dPt>
          <c:dLbls>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2898-4FF7-B50D-DDB3010AADB5}"/>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0.28999999999999998</c:v>
                </c:pt>
                <c:pt idx="1">
                  <c:v>0.3</c:v>
                </c:pt>
                <c:pt idx="2">
                  <c:v>0.3</c:v>
                </c:pt>
                <c:pt idx="3">
                  <c:v>0.28999999999999998</c:v>
                </c:pt>
                <c:pt idx="4">
                  <c:v>0.31</c:v>
                </c:pt>
                <c:pt idx="5">
                  <c:v>0.31</c:v>
                </c:pt>
              </c:numCache>
            </c:numRef>
          </c:val>
          <c:smooth val="0"/>
          <c:extLst>
            <c:ext xmlns:c16="http://schemas.microsoft.com/office/drawing/2014/chart" uri="{C3380CC4-5D6E-409C-BE32-E72D297353CC}">
              <c16:uniqueId val="{0000000F-2898-4FF7-B50D-DDB3010AADB5}"/>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0.15</c:v>
                </c:pt>
                <c:pt idx="1">
                  <c:v>0.14000000000000001</c:v>
                </c:pt>
                <c:pt idx="2">
                  <c:v>0.15</c:v>
                </c:pt>
                <c:pt idx="3">
                  <c:v>0.16</c:v>
                </c:pt>
                <c:pt idx="4">
                  <c:v>0.17</c:v>
                </c:pt>
                <c:pt idx="5">
                  <c:v>0.16</c:v>
                </c:pt>
              </c:numCache>
            </c:numRef>
          </c:val>
          <c:smooth val="0"/>
          <c:extLst>
            <c:ext xmlns:c16="http://schemas.microsoft.com/office/drawing/2014/chart" uri="{C3380CC4-5D6E-409C-BE32-E72D297353CC}">
              <c16:uniqueId val="{00000010-2898-4FF7-B50D-DDB3010AADB5}"/>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0.13</c:v>
                </c:pt>
                <c:pt idx="1">
                  <c:v>0.12</c:v>
                </c:pt>
                <c:pt idx="2">
                  <c:v>0.12</c:v>
                </c:pt>
                <c:pt idx="3">
                  <c:v>0.12</c:v>
                </c:pt>
                <c:pt idx="4">
                  <c:v>0.11</c:v>
                </c:pt>
                <c:pt idx="5">
                  <c:v>0.11</c:v>
                </c:pt>
              </c:numCache>
            </c:numRef>
          </c:val>
          <c:smooth val="0"/>
          <c:extLst>
            <c:ext xmlns:c16="http://schemas.microsoft.com/office/drawing/2014/chart" uri="{C3380CC4-5D6E-409C-BE32-E72D297353CC}">
              <c16:uniqueId val="{00000011-2898-4FF7-B50D-DDB3010AADB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60000000000000009"/>
          <c:min val="0"/>
        </c:scaling>
        <c:delete val="0"/>
        <c:axPos val="l"/>
        <c:numFmt formatCode="0%" sourceLinked="1"/>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2"/>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4536867972048456"/>
          <c:w val="0.76040422034285426"/>
          <c:h val="0.7593212831012241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BAE4-4B95-BABA-4072636756CE}"/>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BAE4-4B95-BABA-4072636756CE}"/>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BAE4-4B95-BABA-4072636756CE}"/>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BAE4-4B95-BABA-4072636756C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3.7017543859649122</c:v>
                </c:pt>
                <c:pt idx="1">
                  <c:v>3.5040650406504064</c:v>
                </c:pt>
                <c:pt idx="2">
                  <c:v>3.481171548117155</c:v>
                </c:pt>
                <c:pt idx="3">
                  <c:v>3.2145922746781115</c:v>
                </c:pt>
                <c:pt idx="4">
                  <c:v>2.9543378995433791</c:v>
                </c:pt>
                <c:pt idx="5">
                  <c:v>2.9074889867841409</c:v>
                </c:pt>
              </c:numCache>
            </c:numRef>
          </c:val>
          <c:smooth val="0"/>
          <c:extLst>
            <c:ext xmlns:c16="http://schemas.microsoft.com/office/drawing/2014/chart" uri="{C3380CC4-5D6E-409C-BE32-E72D297353CC}">
              <c16:uniqueId val="{00000007-BAE4-4B95-BABA-4072636756CE}"/>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BAE4-4B95-BABA-4072636756CE}"/>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BAE4-4B95-BABA-4072636756CE}"/>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BAE4-4B95-BABA-4072636756CE}"/>
              </c:ext>
            </c:extLst>
          </c:dPt>
          <c:dLbls>
            <c:dLbl>
              <c:idx val="4"/>
              <c:layout>
                <c:manualLayout>
                  <c:x val="-3.2546958733493163E-2"/>
                  <c:y val="-5.71149549886976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AE4-4B95-BABA-4072636756CE}"/>
                </c:ext>
              </c:extLst>
            </c:dLbl>
            <c:dLbl>
              <c:idx val="5"/>
              <c:layout>
                <c:manualLayout>
                  <c:x val="-3.2546958733493253E-2"/>
                  <c:y val="-6.473788524308751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AE4-4B95-BABA-4072636756CE}"/>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F-BAE4-4B95-BABA-4072636756C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2.7772511848341233</c:v>
                </c:pt>
                <c:pt idx="1">
                  <c:v>2.6590909090909092</c:v>
                </c:pt>
                <c:pt idx="2">
                  <c:v>2.755868544600939</c:v>
                </c:pt>
                <c:pt idx="3">
                  <c:v>2.5918367346938775</c:v>
                </c:pt>
                <c:pt idx="4">
                  <c:v>2.5989583333333335</c:v>
                </c:pt>
                <c:pt idx="5">
                  <c:v>2.5208333333333335</c:v>
                </c:pt>
              </c:numCache>
            </c:numRef>
          </c:val>
          <c:smooth val="0"/>
          <c:extLst>
            <c:ext xmlns:c16="http://schemas.microsoft.com/office/drawing/2014/chart" uri="{C3380CC4-5D6E-409C-BE32-E72D297353CC}">
              <c16:uniqueId val="{00000010-BAE4-4B95-BABA-4072636756CE}"/>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4"/>
              <c:layout>
                <c:manualLayout>
                  <c:x val="-3.5013564388895538E-2"/>
                  <c:y val="-3.436020806397979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AE4-4B95-BABA-4072636756C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2.1164383561643834</c:v>
                </c:pt>
                <c:pt idx="1">
                  <c:v>1.9517241379310344</c:v>
                </c:pt>
                <c:pt idx="2">
                  <c:v>2.0972222222222223</c:v>
                </c:pt>
                <c:pt idx="3">
                  <c:v>2.0902255639097747</c:v>
                </c:pt>
                <c:pt idx="4">
                  <c:v>2.188976377952756</c:v>
                </c:pt>
                <c:pt idx="5">
                  <c:v>1.9444444444444444</c:v>
                </c:pt>
              </c:numCache>
            </c:numRef>
          </c:val>
          <c:smooth val="0"/>
          <c:extLst>
            <c:ext xmlns:c16="http://schemas.microsoft.com/office/drawing/2014/chart" uri="{C3380CC4-5D6E-409C-BE32-E72D297353CC}">
              <c16:uniqueId val="{00000012-BAE4-4B95-BABA-4072636756CE}"/>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
              <c:layout>
                <c:manualLayout>
                  <c:x val="-3.5013564388895579E-2"/>
                  <c:y val="-6.4737885243087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AE4-4B95-BABA-4072636756CE}"/>
                </c:ext>
              </c:extLst>
            </c:dLbl>
            <c:dLbl>
              <c:idx val="4"/>
              <c:layout>
                <c:manualLayout>
                  <c:x val="-3.5013564388895538E-2"/>
                  <c:y val="0.1258353711166572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AE4-4B95-BABA-4072636756CE}"/>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2.2347826086956522</c:v>
                </c:pt>
                <c:pt idx="1">
                  <c:v>2.262135922330097</c:v>
                </c:pt>
                <c:pt idx="2">
                  <c:v>2.0909090909090908</c:v>
                </c:pt>
                <c:pt idx="3">
                  <c:v>1.9902912621359223</c:v>
                </c:pt>
                <c:pt idx="4">
                  <c:v>1.8541666666666667</c:v>
                </c:pt>
                <c:pt idx="5">
                  <c:v>2.0235294117647058</c:v>
                </c:pt>
              </c:numCache>
            </c:numRef>
          </c:val>
          <c:smooth val="0"/>
          <c:extLst>
            <c:ext xmlns:c16="http://schemas.microsoft.com/office/drawing/2014/chart" uri="{C3380CC4-5D6E-409C-BE32-E72D297353CC}">
              <c16:uniqueId val="{00000014-BAE4-4B95-BABA-4072636756C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in val="1"/>
        </c:scaling>
        <c:delete val="1"/>
        <c:axPos val="l"/>
        <c:numFmt formatCode="0.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D4BF-4FF7-84A1-9EC6DC0A4736}"/>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D4BF-4FF7-84A1-9EC6DC0A4736}"/>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D4BF-4FF7-84A1-9EC6DC0A4736}"/>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D4BF-4FF7-84A1-9EC6DC0A4736}"/>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0.99</c:v>
                </c:pt>
                <c:pt idx="1">
                  <c:v>0.99</c:v>
                </c:pt>
                <c:pt idx="2">
                  <c:v>1</c:v>
                </c:pt>
                <c:pt idx="3">
                  <c:v>0.98</c:v>
                </c:pt>
                <c:pt idx="4">
                  <c:v>0.95</c:v>
                </c:pt>
                <c:pt idx="5">
                  <c:v>0.95</c:v>
                </c:pt>
              </c:numCache>
            </c:numRef>
          </c:val>
          <c:smooth val="0"/>
          <c:extLst>
            <c:ext xmlns:c16="http://schemas.microsoft.com/office/drawing/2014/chart" uri="{C3380CC4-5D6E-409C-BE32-E72D297353CC}">
              <c16:uniqueId val="{00000007-D4BF-4FF7-84A1-9EC6DC0A4736}"/>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D4BF-4FF7-84A1-9EC6DC0A4736}"/>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D4BF-4FF7-84A1-9EC6DC0A4736}"/>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D4BF-4FF7-84A1-9EC6DC0A4736}"/>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0.92</c:v>
                </c:pt>
                <c:pt idx="1">
                  <c:v>0.85</c:v>
                </c:pt>
                <c:pt idx="2">
                  <c:v>0.8</c:v>
                </c:pt>
                <c:pt idx="3">
                  <c:v>0.79</c:v>
                </c:pt>
                <c:pt idx="4">
                  <c:v>0.79</c:v>
                </c:pt>
                <c:pt idx="5">
                  <c:v>0.79</c:v>
                </c:pt>
              </c:numCache>
            </c:numRef>
          </c:val>
          <c:smooth val="0"/>
          <c:extLst>
            <c:ext xmlns:c16="http://schemas.microsoft.com/office/drawing/2014/chart" uri="{C3380CC4-5D6E-409C-BE32-E72D297353CC}">
              <c16:uniqueId val="{0000000E-D4BF-4FF7-84A1-9EC6DC0A4736}"/>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0.52</c:v>
                </c:pt>
                <c:pt idx="1">
                  <c:v>0.44</c:v>
                </c:pt>
                <c:pt idx="2">
                  <c:v>0.45</c:v>
                </c:pt>
                <c:pt idx="3">
                  <c:v>0.38</c:v>
                </c:pt>
                <c:pt idx="4">
                  <c:v>0.43</c:v>
                </c:pt>
                <c:pt idx="5">
                  <c:v>0.44</c:v>
                </c:pt>
              </c:numCache>
            </c:numRef>
          </c:val>
          <c:smooth val="0"/>
          <c:extLst>
            <c:ext xmlns:c16="http://schemas.microsoft.com/office/drawing/2014/chart" uri="{C3380CC4-5D6E-409C-BE32-E72D297353CC}">
              <c16:uniqueId val="{00000015-D4BF-4FF7-84A1-9EC6DC0A4736}"/>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0.36</c:v>
                </c:pt>
                <c:pt idx="1">
                  <c:v>0.27</c:v>
                </c:pt>
                <c:pt idx="2">
                  <c:v>0.33</c:v>
                </c:pt>
                <c:pt idx="3">
                  <c:v>0.26</c:v>
                </c:pt>
                <c:pt idx="4">
                  <c:v>0.23</c:v>
                </c:pt>
                <c:pt idx="5">
                  <c:v>0.24</c:v>
                </c:pt>
              </c:numCache>
            </c:numRef>
          </c:val>
          <c:smooth val="0"/>
          <c:extLst>
            <c:ext xmlns:c16="http://schemas.microsoft.com/office/drawing/2014/chart" uri="{C3380CC4-5D6E-409C-BE32-E72D297353CC}">
              <c16:uniqueId val="{00000016-D4BF-4FF7-84A1-9EC6DC0A473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in val="0.1"/>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905B-46BA-8B52-5E13C1324ADA}"/>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905B-46BA-8B52-5E13C1324ADA}"/>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905B-46BA-8B52-5E13C1324ADA}"/>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905B-46BA-8B52-5E13C1324AD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0.48</c:v>
                </c:pt>
                <c:pt idx="1">
                  <c:v>0.54</c:v>
                </c:pt>
                <c:pt idx="2">
                  <c:v>0.52</c:v>
                </c:pt>
                <c:pt idx="3">
                  <c:v>0.54</c:v>
                </c:pt>
                <c:pt idx="4">
                  <c:v>0.47</c:v>
                </c:pt>
                <c:pt idx="5">
                  <c:v>0.48</c:v>
                </c:pt>
              </c:numCache>
            </c:numRef>
          </c:val>
          <c:smooth val="0"/>
          <c:extLst>
            <c:ext xmlns:c16="http://schemas.microsoft.com/office/drawing/2014/chart" uri="{C3380CC4-5D6E-409C-BE32-E72D297353CC}">
              <c16:uniqueId val="{00000007-905B-46BA-8B52-5E13C1324ADA}"/>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905B-46BA-8B52-5E13C1324ADA}"/>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905B-46BA-8B52-5E13C1324ADA}"/>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905B-46BA-8B52-5E13C1324ADA}"/>
              </c:ext>
            </c:extLst>
          </c:dPt>
          <c:dLbls>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905B-46BA-8B52-5E13C1324ADA}"/>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0.32</c:v>
                </c:pt>
                <c:pt idx="1">
                  <c:v>0.32</c:v>
                </c:pt>
                <c:pt idx="2">
                  <c:v>0.31</c:v>
                </c:pt>
                <c:pt idx="3">
                  <c:v>0.28999999999999998</c:v>
                </c:pt>
                <c:pt idx="4">
                  <c:v>0.32</c:v>
                </c:pt>
                <c:pt idx="5">
                  <c:v>0.33</c:v>
                </c:pt>
              </c:numCache>
            </c:numRef>
          </c:val>
          <c:smooth val="0"/>
          <c:extLst>
            <c:ext xmlns:c16="http://schemas.microsoft.com/office/drawing/2014/chart" uri="{C3380CC4-5D6E-409C-BE32-E72D297353CC}">
              <c16:uniqueId val="{0000000F-905B-46BA-8B52-5E13C1324ADA}"/>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0.11</c:v>
                </c:pt>
                <c:pt idx="1">
                  <c:v>0.08</c:v>
                </c:pt>
                <c:pt idx="2">
                  <c:v>0.1</c:v>
                </c:pt>
                <c:pt idx="3">
                  <c:v>0.11</c:v>
                </c:pt>
                <c:pt idx="4">
                  <c:v>0.14000000000000001</c:v>
                </c:pt>
                <c:pt idx="5">
                  <c:v>0.12</c:v>
                </c:pt>
              </c:numCache>
            </c:numRef>
          </c:val>
          <c:smooth val="0"/>
          <c:extLst>
            <c:ext xmlns:c16="http://schemas.microsoft.com/office/drawing/2014/chart" uri="{C3380CC4-5D6E-409C-BE32-E72D297353CC}">
              <c16:uniqueId val="{00000010-905B-46BA-8B52-5E13C1324ADA}"/>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0.08</c:v>
                </c:pt>
                <c:pt idx="1">
                  <c:v>0.05</c:v>
                </c:pt>
                <c:pt idx="2">
                  <c:v>7.0000000000000007E-2</c:v>
                </c:pt>
                <c:pt idx="3">
                  <c:v>7.0000000000000007E-2</c:v>
                </c:pt>
                <c:pt idx="4">
                  <c:v>0.08</c:v>
                </c:pt>
                <c:pt idx="5">
                  <c:v>7.0000000000000007E-2</c:v>
                </c:pt>
              </c:numCache>
            </c:numRef>
          </c:val>
          <c:smooth val="0"/>
          <c:extLst>
            <c:ext xmlns:c16="http://schemas.microsoft.com/office/drawing/2014/chart" uri="{C3380CC4-5D6E-409C-BE32-E72D297353CC}">
              <c16:uniqueId val="{00000011-905B-46BA-8B52-5E13C1324AD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60000000000000009"/>
          <c:min val="0"/>
        </c:scaling>
        <c:delete val="0"/>
        <c:axPos val="l"/>
        <c:numFmt formatCode="0%" sourceLinked="1"/>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2"/>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4536867972048456"/>
          <c:w val="0.76040422034285426"/>
          <c:h val="0.7593212831012241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5D6A-43A5-B6E4-AC28137AA30C}"/>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5D6A-43A5-B6E4-AC28137AA30C}"/>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5D6A-43A5-B6E4-AC28137AA30C}"/>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5D6A-43A5-B6E4-AC28137AA30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6.5</c:v>
                </c:pt>
                <c:pt idx="1">
                  <c:v>6.4</c:v>
                </c:pt>
                <c:pt idx="2">
                  <c:v>6.8</c:v>
                </c:pt>
                <c:pt idx="3">
                  <c:v>5.4</c:v>
                </c:pt>
                <c:pt idx="4">
                  <c:v>4.5999999999999996</c:v>
                </c:pt>
                <c:pt idx="5">
                  <c:v>4.4000000000000004</c:v>
                </c:pt>
              </c:numCache>
            </c:numRef>
          </c:val>
          <c:smooth val="0"/>
          <c:extLst>
            <c:ext xmlns:c16="http://schemas.microsoft.com/office/drawing/2014/chart" uri="{C3380CC4-5D6E-409C-BE32-E72D297353CC}">
              <c16:uniqueId val="{00000007-5D6A-43A5-B6E4-AC28137AA30C}"/>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5D6A-43A5-B6E4-AC28137AA30C}"/>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5D6A-43A5-B6E4-AC28137AA30C}"/>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5D6A-43A5-B6E4-AC28137AA30C}"/>
              </c:ext>
            </c:extLst>
          </c:dPt>
          <c:dLbls>
            <c:dLbl>
              <c:idx val="4"/>
              <c:layout>
                <c:manualLayout>
                  <c:x val="-3.2546958733493163E-2"/>
                  <c:y val="-5.71149549886976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D6A-43A5-B6E4-AC28137AA30C}"/>
                </c:ext>
              </c:extLst>
            </c:dLbl>
            <c:dLbl>
              <c:idx val="5"/>
              <c:layout>
                <c:manualLayout>
                  <c:x val="-3.2546958733493253E-2"/>
                  <c:y val="-4.94920247343077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D6A-43A5-B6E4-AC28137AA30C}"/>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10-5D6A-43A5-B6E4-AC28137AA30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4.7</c:v>
                </c:pt>
                <c:pt idx="1">
                  <c:v>4.4000000000000004</c:v>
                </c:pt>
                <c:pt idx="2">
                  <c:v>5.0999999999999996</c:v>
                </c:pt>
                <c:pt idx="3">
                  <c:v>3.6</c:v>
                </c:pt>
                <c:pt idx="4">
                  <c:v>3.7</c:v>
                </c:pt>
                <c:pt idx="5">
                  <c:v>3.6</c:v>
                </c:pt>
              </c:numCache>
            </c:numRef>
          </c:val>
          <c:smooth val="0"/>
          <c:extLst>
            <c:ext xmlns:c16="http://schemas.microsoft.com/office/drawing/2014/chart" uri="{C3380CC4-5D6E-409C-BE32-E72D297353CC}">
              <c16:uniqueId val="{00000011-5D6A-43A5-B6E4-AC28137AA30C}"/>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4"/>
              <c:layout>
                <c:manualLayout>
                  <c:x val="-3.5013564388895538E-2"/>
                  <c:y val="5.711495498869751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5D6A-43A5-B6E4-AC28137AA30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2.9</c:v>
                </c:pt>
                <c:pt idx="1">
                  <c:v>2.2000000000000002</c:v>
                </c:pt>
                <c:pt idx="2">
                  <c:v>2.8</c:v>
                </c:pt>
                <c:pt idx="3">
                  <c:v>2.8</c:v>
                </c:pt>
                <c:pt idx="4">
                  <c:v>3</c:v>
                </c:pt>
                <c:pt idx="5">
                  <c:v>2.4</c:v>
                </c:pt>
              </c:numCache>
            </c:numRef>
          </c:val>
          <c:smooth val="0"/>
          <c:extLst>
            <c:ext xmlns:c16="http://schemas.microsoft.com/office/drawing/2014/chart" uri="{C3380CC4-5D6E-409C-BE32-E72D297353CC}">
              <c16:uniqueId val="{00000013-5D6A-43A5-B6E4-AC28137AA30C}"/>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
              <c:layout>
                <c:manualLayout>
                  <c:x val="-3.5013564388895579E-2"/>
                  <c:y val="-6.4737885243087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5D6A-43A5-B6E4-AC28137AA30C}"/>
                </c:ext>
              </c:extLst>
            </c:dLbl>
            <c:dLbl>
              <c:idx val="3"/>
              <c:layout>
                <c:manualLayout>
                  <c:x val="-3.5013564388895538E-2"/>
                  <c:y val="0.1715729526429959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5D6A-43A5-B6E4-AC28137AA30C}"/>
                </c:ext>
              </c:extLst>
            </c:dLbl>
            <c:dLbl>
              <c:idx val="4"/>
              <c:layout>
                <c:manualLayout>
                  <c:x val="-3.5013564388895538E-2"/>
                  <c:y val="0.1258353711166572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5D6A-43A5-B6E4-AC28137AA30C}"/>
                </c:ext>
              </c:extLst>
            </c:dLbl>
            <c:dLbl>
              <c:idx val="5"/>
              <c:layout>
                <c:manualLayout>
                  <c:x val="-3.5013564388895628E-2"/>
                  <c:y val="-4.94920247343080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5D6A-43A5-B6E4-AC28137AA30C}"/>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3</c:v>
                </c:pt>
                <c:pt idx="1">
                  <c:v>2.2999999999999998</c:v>
                </c:pt>
                <c:pt idx="2">
                  <c:v>2.7</c:v>
                </c:pt>
                <c:pt idx="3">
                  <c:v>2.7</c:v>
                </c:pt>
                <c:pt idx="4">
                  <c:v>3.2</c:v>
                </c:pt>
                <c:pt idx="5">
                  <c:v>2.7</c:v>
                </c:pt>
              </c:numCache>
            </c:numRef>
          </c:val>
          <c:smooth val="0"/>
          <c:extLst>
            <c:ext xmlns:c16="http://schemas.microsoft.com/office/drawing/2014/chart" uri="{C3380CC4-5D6E-409C-BE32-E72D297353CC}">
              <c16:uniqueId val="{00000016-5D6A-43A5-B6E4-AC28137AA30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in val="1"/>
        </c:scaling>
        <c:delete val="1"/>
        <c:axPos val="l"/>
        <c:numFmt formatCode="0.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F5EC-4BC5-8609-991D040E14D8}"/>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F5EC-4BC5-8609-991D040E14D8}"/>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F5EC-4BC5-8609-991D040E14D8}"/>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F5EC-4BC5-8609-991D040E14D8}"/>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0.78</c:v>
                </c:pt>
                <c:pt idx="1">
                  <c:v>0.77</c:v>
                </c:pt>
                <c:pt idx="2">
                  <c:v>0.73</c:v>
                </c:pt>
                <c:pt idx="3">
                  <c:v>0.67</c:v>
                </c:pt>
                <c:pt idx="4">
                  <c:v>0.66</c:v>
                </c:pt>
                <c:pt idx="5">
                  <c:v>0.7</c:v>
                </c:pt>
              </c:numCache>
            </c:numRef>
          </c:val>
          <c:smooth val="0"/>
          <c:extLst>
            <c:ext xmlns:c16="http://schemas.microsoft.com/office/drawing/2014/chart" uri="{C3380CC4-5D6E-409C-BE32-E72D297353CC}">
              <c16:uniqueId val="{00000007-F5EC-4BC5-8609-991D040E14D8}"/>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F5EC-4BC5-8609-991D040E14D8}"/>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F5EC-4BC5-8609-991D040E14D8}"/>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F5EC-4BC5-8609-991D040E14D8}"/>
              </c:ext>
            </c:extLst>
          </c:dPt>
          <c:dLbls>
            <c:dLbl>
              <c:idx val="4"/>
              <c:layout>
                <c:manualLayout>
                  <c:x val="-3.7683519345180293E-2"/>
                  <c:y val="5.372537528152825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F5EC-4BC5-8609-991D040E14D8}"/>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0.62</c:v>
                </c:pt>
                <c:pt idx="1">
                  <c:v>0.59</c:v>
                </c:pt>
                <c:pt idx="2">
                  <c:v>0.57999999999999996</c:v>
                </c:pt>
                <c:pt idx="3">
                  <c:v>0.54</c:v>
                </c:pt>
                <c:pt idx="4">
                  <c:v>0.46</c:v>
                </c:pt>
                <c:pt idx="5">
                  <c:v>0.49</c:v>
                </c:pt>
              </c:numCache>
            </c:numRef>
          </c:val>
          <c:smooth val="0"/>
          <c:extLst>
            <c:ext xmlns:c16="http://schemas.microsoft.com/office/drawing/2014/chart" uri="{C3380CC4-5D6E-409C-BE32-E72D297353CC}">
              <c16:uniqueId val="{0000000E-F5EC-4BC5-8609-991D040E14D8}"/>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4"/>
              <c:layout>
                <c:manualLayout>
                  <c:x val="-4.0150125000582661E-2"/>
                  <c:y val="-6.8066445452836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F5EC-4BC5-8609-991D040E14D8}"/>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0.22</c:v>
                </c:pt>
                <c:pt idx="1">
                  <c:v>0.19</c:v>
                </c:pt>
                <c:pt idx="2">
                  <c:v>0.19</c:v>
                </c:pt>
                <c:pt idx="3">
                  <c:v>0.17</c:v>
                </c:pt>
                <c:pt idx="4">
                  <c:v>0.22</c:v>
                </c:pt>
                <c:pt idx="5">
                  <c:v>0.21</c:v>
                </c:pt>
              </c:numCache>
            </c:numRef>
          </c:val>
          <c:smooth val="0"/>
          <c:extLst>
            <c:ext xmlns:c16="http://schemas.microsoft.com/office/drawing/2014/chart" uri="{C3380CC4-5D6E-409C-BE32-E72D297353CC}">
              <c16:uniqueId val="{0000000F-F5EC-4BC5-8609-991D040E14D8}"/>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0.13</c:v>
                </c:pt>
                <c:pt idx="1">
                  <c:v>0.12</c:v>
                </c:pt>
                <c:pt idx="2">
                  <c:v>0.12</c:v>
                </c:pt>
                <c:pt idx="3">
                  <c:v>0.09</c:v>
                </c:pt>
                <c:pt idx="4">
                  <c:v>0.08</c:v>
                </c:pt>
                <c:pt idx="5">
                  <c:v>0.1</c:v>
                </c:pt>
              </c:numCache>
            </c:numRef>
          </c:val>
          <c:smooth val="0"/>
          <c:extLst>
            <c:ext xmlns:c16="http://schemas.microsoft.com/office/drawing/2014/chart" uri="{C3380CC4-5D6E-409C-BE32-E72D297353CC}">
              <c16:uniqueId val="{00000010-F5EC-4BC5-8609-991D040E14D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02D6-4DCB-92D2-1635800C67A2}"/>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02D6-4DCB-92D2-1635800C67A2}"/>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02D6-4DCB-92D2-1635800C67A2}"/>
              </c:ext>
            </c:extLst>
          </c:dPt>
          <c:dLbls>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02D6-4DCB-92D2-1635800C67A2}"/>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0.49</c:v>
                </c:pt>
                <c:pt idx="1">
                  <c:v>0.54</c:v>
                </c:pt>
                <c:pt idx="2">
                  <c:v>0.53</c:v>
                </c:pt>
                <c:pt idx="3">
                  <c:v>0.56000000000000005</c:v>
                </c:pt>
                <c:pt idx="4">
                  <c:v>0.53</c:v>
                </c:pt>
                <c:pt idx="5">
                  <c:v>0.53</c:v>
                </c:pt>
              </c:numCache>
            </c:numRef>
          </c:val>
          <c:smooth val="0"/>
          <c:extLst>
            <c:ext xmlns:c16="http://schemas.microsoft.com/office/drawing/2014/chart" uri="{C3380CC4-5D6E-409C-BE32-E72D297353CC}">
              <c16:uniqueId val="{00000007-02D6-4DCB-92D2-1635800C67A2}"/>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02D6-4DCB-92D2-1635800C67A2}"/>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02D6-4DCB-92D2-1635800C67A2}"/>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02D6-4DCB-92D2-1635800C67A2}"/>
              </c:ext>
            </c:extLst>
          </c:dPt>
          <c:dLbls>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0E-02D6-4DCB-92D2-1635800C67A2}"/>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c:formatCode>
                <c:ptCount val="6"/>
                <c:pt idx="0">
                  <c:v>0.36</c:v>
                </c:pt>
                <c:pt idx="1">
                  <c:v>0.35</c:v>
                </c:pt>
                <c:pt idx="2">
                  <c:v>0.36</c:v>
                </c:pt>
                <c:pt idx="3">
                  <c:v>0.34</c:v>
                </c:pt>
                <c:pt idx="4">
                  <c:v>0.28999999999999998</c:v>
                </c:pt>
                <c:pt idx="5">
                  <c:v>0.3</c:v>
                </c:pt>
              </c:numCache>
            </c:numRef>
          </c:val>
          <c:smooth val="0"/>
          <c:extLst>
            <c:ext xmlns:c16="http://schemas.microsoft.com/office/drawing/2014/chart" uri="{C3380CC4-5D6E-409C-BE32-E72D297353CC}">
              <c16:uniqueId val="{0000000F-02D6-4DCB-92D2-1635800C67A2}"/>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c:formatCode>
                <c:ptCount val="6"/>
                <c:pt idx="0">
                  <c:v>0.09</c:v>
                </c:pt>
                <c:pt idx="1">
                  <c:v>7.0000000000000007E-2</c:v>
                </c:pt>
                <c:pt idx="2">
                  <c:v>7.0000000000000007E-2</c:v>
                </c:pt>
                <c:pt idx="3">
                  <c:v>7.0000000000000007E-2</c:v>
                </c:pt>
                <c:pt idx="4">
                  <c:v>0.11</c:v>
                </c:pt>
                <c:pt idx="5">
                  <c:v>0.1</c:v>
                </c:pt>
              </c:numCache>
            </c:numRef>
          </c:val>
          <c:smooth val="0"/>
          <c:extLst>
            <c:ext xmlns:c16="http://schemas.microsoft.com/office/drawing/2014/chart" uri="{C3380CC4-5D6E-409C-BE32-E72D297353CC}">
              <c16:uniqueId val="{00000010-02D6-4DCB-92D2-1635800C67A2}"/>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c:formatCode>
                <c:ptCount val="6"/>
                <c:pt idx="0">
                  <c:v>0.06</c:v>
                </c:pt>
                <c:pt idx="1">
                  <c:v>0.05</c:v>
                </c:pt>
                <c:pt idx="2">
                  <c:v>0.05</c:v>
                </c:pt>
                <c:pt idx="3">
                  <c:v>0.04</c:v>
                </c:pt>
                <c:pt idx="4">
                  <c:v>7.0000000000000007E-2</c:v>
                </c:pt>
                <c:pt idx="5">
                  <c:v>7.0000000000000007E-2</c:v>
                </c:pt>
              </c:numCache>
            </c:numRef>
          </c:val>
          <c:smooth val="0"/>
          <c:extLst>
            <c:ext xmlns:c16="http://schemas.microsoft.com/office/drawing/2014/chart" uri="{C3380CC4-5D6E-409C-BE32-E72D297353CC}">
              <c16:uniqueId val="{00000011-02D6-4DCB-92D2-1635800C67A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60000000000000009"/>
          <c:min val="0"/>
        </c:scaling>
        <c:delete val="0"/>
        <c:axPos val="l"/>
        <c:numFmt formatCode="0%" sourceLinked="1"/>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2"/>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0.14536867972048456"/>
          <c:w val="0.76040422034285426"/>
          <c:h val="0.7593212831012241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80A0-47CE-B3AF-E66896680B33}"/>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80A0-47CE-B3AF-E66896680B33}"/>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80A0-47CE-B3AF-E66896680B33}"/>
              </c:ext>
            </c:extLst>
          </c:dPt>
          <c:dLbls>
            <c:dLbl>
              <c:idx val="0"/>
              <c:layout>
                <c:manualLayout>
                  <c:x val="-3.2546958733493142E-2"/>
                  <c:y val="-0.1790818390589342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0A0-47CE-B3AF-E66896680B33}"/>
                </c:ext>
              </c:extLst>
            </c:dLbl>
            <c:dLbl>
              <c:idx val="3"/>
              <c:spPr>
                <a:noFill/>
                <a:ln>
                  <a:noFill/>
                </a:ln>
                <a:effectLst/>
              </c:spPr>
              <c:txPr>
                <a:bodyPr rot="0" spcFirstLastPara="1" vertOverflow="ellipsis" vert="horz" wrap="none" lIns="38100" tIns="19050" rIns="38100" bIns="19050" anchor="ctr" anchorCtr="0">
                  <a:no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5.8327658976162572E-2"/>
                      <c:h val="8.0346127939284195E-2"/>
                    </c:manualLayout>
                  </c15:layout>
                </c:ext>
                <c:ext xmlns:c16="http://schemas.microsoft.com/office/drawing/2014/chart" uri="{C3380CC4-5D6E-409C-BE32-E72D297353CC}">
                  <c16:uniqueId val="{00000006-80A0-47CE-B3AF-E66896680B33}"/>
                </c:ext>
              </c:extLst>
            </c:dLbl>
            <c:dLbl>
              <c:idx val="4"/>
              <c:layout>
                <c:manualLayout>
                  <c:x val="-3.2546958733493163E-2"/>
                  <c:y val="8.77207198447083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80A0-47CE-B3AF-E66896680B33}"/>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36729C"/>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0.0</c:formatCode>
                <c:ptCount val="6"/>
                <c:pt idx="0">
                  <c:v>1.6</c:v>
                </c:pt>
                <c:pt idx="1">
                  <c:v>2</c:v>
                </c:pt>
                <c:pt idx="2">
                  <c:v>2.1</c:v>
                </c:pt>
                <c:pt idx="3">
                  <c:v>2.1</c:v>
                </c:pt>
                <c:pt idx="4">
                  <c:v>1.8</c:v>
                </c:pt>
                <c:pt idx="5">
                  <c:v>1.7</c:v>
                </c:pt>
              </c:numCache>
            </c:numRef>
          </c:val>
          <c:smooth val="0"/>
          <c:extLst>
            <c:ext xmlns:c16="http://schemas.microsoft.com/office/drawing/2014/chart" uri="{C3380CC4-5D6E-409C-BE32-E72D297353CC}">
              <c16:uniqueId val="{00000007-80A0-47CE-B3AF-E66896680B33}"/>
            </c:ext>
          </c:extLst>
        </c:ser>
        <c:ser>
          <c:idx val="1"/>
          <c:order val="1"/>
          <c:tx>
            <c:strRef>
              <c:f>Sheet1!$C$1</c:f>
              <c:strCache>
                <c:ptCount val="1"/>
                <c:pt idx="0">
                  <c:v>Nestle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Pt>
            <c:idx val="0"/>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80A0-47CE-B3AF-E66896680B33}"/>
              </c:ext>
            </c:extLst>
          </c:dPt>
          <c:dPt>
            <c:idx val="1"/>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80A0-47CE-B3AF-E66896680B33}"/>
              </c:ext>
            </c:extLst>
          </c:dPt>
          <c:dPt>
            <c:idx val="2"/>
            <c:marker>
              <c:symbol val="circle"/>
              <c:size val="3"/>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80A0-47CE-B3AF-E66896680B33}"/>
              </c:ext>
            </c:extLst>
          </c:dPt>
          <c:dLbls>
            <c:dLbl>
              <c:idx val="0"/>
              <c:layout>
                <c:manualLayout>
                  <c:x val="-3.2546958733493142E-2"/>
                  <c:y val="-0.140967187786985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0A0-47CE-B3AF-E66896680B33}"/>
                </c:ext>
              </c:extLst>
            </c:dLbl>
            <c:dLbl>
              <c:idx val="4"/>
              <c:layout>
                <c:manualLayout>
                  <c:x val="-3.2546958733493163E-2"/>
                  <c:y val="-5.71149549886976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0A0-47CE-B3AF-E66896680B33}"/>
                </c:ext>
              </c:extLst>
            </c:dLbl>
            <c:dLbl>
              <c:idx val="5"/>
              <c:layout>
                <c:manualLayout>
                  <c:x val="-3.2546958733493253E-2"/>
                  <c:y val="-4.94920247343077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0A0-47CE-B3AF-E66896680B33}"/>
                </c:ext>
              </c:extLst>
            </c:dLbl>
            <c:dLbl>
              <c:idx val="8"/>
              <c:spPr>
                <a:noFill/>
                <a:ln>
                  <a:noFill/>
                </a:ln>
                <a:effectLst/>
              </c:spPr>
              <c:txPr>
                <a:bodyPr rot="0" spcFirstLastPara="1" vertOverflow="ellipsis" vert="horz" wrap="square" lIns="38100" tIns="19050" rIns="38100" bIns="19050" anchor="ctr" anchorCtr="0">
                  <a:no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extLst>
                <c:ext xmlns:c15="http://schemas.microsoft.com/office/drawing/2012/chart" uri="{CE6537A1-D6FC-4f65-9D91-7224C49458BB}">
                  <c15:layout>
                    <c:manualLayout>
                      <c:w val="6.7313668335930707E-2"/>
                      <c:h val="0.12290848463643943"/>
                    </c:manualLayout>
                  </c15:layout>
                </c:ext>
                <c:ext xmlns:c16="http://schemas.microsoft.com/office/drawing/2014/chart" uri="{C3380CC4-5D6E-409C-BE32-E72D297353CC}">
                  <c16:uniqueId val="{00000010-80A0-47CE-B3AF-E66896680B33}"/>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Sheet1!$C$2:$C$7</c:f>
              <c:numCache>
                <c:formatCode>0.0</c:formatCode>
                <c:ptCount val="6"/>
                <c:pt idx="0">
                  <c:v>1.5</c:v>
                </c:pt>
                <c:pt idx="1">
                  <c:v>1.7</c:v>
                </c:pt>
                <c:pt idx="2">
                  <c:v>1.8</c:v>
                </c:pt>
                <c:pt idx="3">
                  <c:v>1.6</c:v>
                </c:pt>
                <c:pt idx="4">
                  <c:v>1.4</c:v>
                </c:pt>
                <c:pt idx="5">
                  <c:v>1.4</c:v>
                </c:pt>
              </c:numCache>
            </c:numRef>
          </c:val>
          <c:smooth val="0"/>
          <c:extLst>
            <c:ext xmlns:c16="http://schemas.microsoft.com/office/drawing/2014/chart" uri="{C3380CC4-5D6E-409C-BE32-E72D297353CC}">
              <c16:uniqueId val="{00000011-80A0-47CE-B3AF-E66896680B33}"/>
            </c:ext>
          </c:extLst>
        </c:ser>
        <c:ser>
          <c:idx val="2"/>
          <c:order val="2"/>
          <c:tx>
            <c:strRef>
              <c:f>Sheet1!$D$1</c:f>
              <c:strCache>
                <c:ptCount val="1"/>
                <c:pt idx="0">
                  <c:v>Pancreaze</c:v>
                </c:pt>
              </c:strCache>
            </c:strRef>
          </c:tx>
          <c:spPr>
            <a:ln w="28575" cap="rnd">
              <a:solidFill>
                <a:srgbClr val="FF8813"/>
              </a:solidFill>
              <a:round/>
            </a:ln>
            <a:effectLst/>
          </c:spPr>
          <c:marker>
            <c:symbol val="circle"/>
            <c:size val="5"/>
            <c:spPr>
              <a:solidFill>
                <a:srgbClr val="FF8813">
                  <a:alpha val="95000"/>
                </a:srgbClr>
              </a:solidFill>
              <a:ln w="9525">
                <a:noFill/>
              </a:ln>
              <a:effectLst/>
            </c:spPr>
          </c:marker>
          <c:dLbls>
            <c:dLbl>
              <c:idx val="4"/>
              <c:layout>
                <c:manualLayout>
                  <c:x val="-3.5013564388895538E-2"/>
                  <c:y val="5.711495498869751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0A0-47CE-B3AF-E66896680B33}"/>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FF8813"/>
                    </a:solidFill>
                    <a:latin typeface="+mj-lt"/>
                    <a:ea typeface="+mn-ea"/>
                    <a:cs typeface="Calibri" panose="020F050202020403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Sheet1!$D$2:$D$7</c:f>
              <c:numCache>
                <c:formatCode>0.0</c:formatCode>
                <c:ptCount val="6"/>
                <c:pt idx="0">
                  <c:v>1.1000000000000001</c:v>
                </c:pt>
                <c:pt idx="1">
                  <c:v>1</c:v>
                </c:pt>
                <c:pt idx="2">
                  <c:v>1</c:v>
                </c:pt>
                <c:pt idx="3">
                  <c:v>1</c:v>
                </c:pt>
                <c:pt idx="4">
                  <c:v>1.1000000000000001</c:v>
                </c:pt>
                <c:pt idx="5">
                  <c:v>1.1000000000000001</c:v>
                </c:pt>
              </c:numCache>
            </c:numRef>
          </c:val>
          <c:smooth val="0"/>
          <c:extLst>
            <c:ext xmlns:c16="http://schemas.microsoft.com/office/drawing/2014/chart" uri="{C3380CC4-5D6E-409C-BE32-E72D297353CC}">
              <c16:uniqueId val="{00000013-80A0-47CE-B3AF-E66896680B33}"/>
            </c:ext>
          </c:extLst>
        </c:ser>
        <c:ser>
          <c:idx val="3"/>
          <c:order val="3"/>
          <c:tx>
            <c:strRef>
              <c:f>Sheet1!$E$1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1"/>
              <c:layout>
                <c:manualLayout>
                  <c:x val="-3.5013564388895579E-2"/>
                  <c:y val="-6.4737885243087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80A0-47CE-B3AF-E66896680B33}"/>
                </c:ext>
              </c:extLst>
            </c:dLbl>
            <c:dLbl>
              <c:idx val="3"/>
              <c:layout>
                <c:manualLayout>
                  <c:x val="-3.5013564388895538E-2"/>
                  <c:y val="-7.49117960944186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0A0-47CE-B3AF-E66896680B33}"/>
                </c:ext>
              </c:extLst>
            </c:dLbl>
            <c:dLbl>
              <c:idx val="4"/>
              <c:layout>
                <c:manualLayout>
                  <c:x val="-3.5013564388895538E-2"/>
                  <c:y val="-7.236081549747723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80A0-47CE-B3AF-E66896680B33}"/>
                </c:ext>
              </c:extLst>
            </c:dLbl>
            <c:dLbl>
              <c:idx val="5"/>
              <c:layout>
                <c:manualLayout>
                  <c:x val="-3.5013564388895628E-2"/>
                  <c:y val="-4.94920247343080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80A0-47CE-B3AF-E66896680B33}"/>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rgbClr val="00B3C8"/>
                    </a:solidFill>
                    <a:latin typeface="+mj-lt"/>
                    <a:ea typeface="+mn-ea"/>
                    <a:cs typeface="Calibri" panose="020F050202020403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Oct'25</c:v>
                </c:pt>
                <c:pt idx="1">
                  <c:v>Nov'25</c:v>
                </c:pt>
                <c:pt idx="2">
                  <c:v>Dec'25</c:v>
                </c:pt>
                <c:pt idx="3">
                  <c:v>Jan'26</c:v>
                </c:pt>
                <c:pt idx="4">
                  <c:v>Feb'26</c:v>
                </c:pt>
                <c:pt idx="5">
                  <c:v>Mar'26</c:v>
                </c:pt>
              </c:strCache>
            </c:strRef>
          </c:cat>
          <c:val>
            <c:numRef>
              <c:f>Sheet1!$E$2:$E$7</c:f>
              <c:numCache>
                <c:formatCode>0.0</c:formatCode>
                <c:ptCount val="6"/>
                <c:pt idx="0">
                  <c:v>1.2</c:v>
                </c:pt>
                <c:pt idx="1">
                  <c:v>1.1000000000000001</c:v>
                </c:pt>
                <c:pt idx="2">
                  <c:v>1.1000000000000001</c:v>
                </c:pt>
                <c:pt idx="3">
                  <c:v>1.1000000000000001</c:v>
                </c:pt>
                <c:pt idx="4">
                  <c:v>1.9</c:v>
                </c:pt>
                <c:pt idx="5">
                  <c:v>1.6</c:v>
                </c:pt>
              </c:numCache>
            </c:numRef>
          </c:val>
          <c:smooth val="0"/>
          <c:extLst>
            <c:ext xmlns:c16="http://schemas.microsoft.com/office/drawing/2014/chart" uri="{C3380CC4-5D6E-409C-BE32-E72D297353CC}">
              <c16:uniqueId val="{00000018-80A0-47CE-B3AF-E66896680B3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2.2999999999999998"/>
          <c:min val="1"/>
        </c:scaling>
        <c:delete val="0"/>
        <c:axPos val="l"/>
        <c:numFmt formatCode="0.0" sourceLinked="1"/>
        <c:majorTickMark val="out"/>
        <c:minorTickMark val="out"/>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0"/>
          <c:order val="0"/>
          <c:tx>
            <c:strRef>
              <c:f>Sheet1!$B$1</c:f>
              <c:strCache>
                <c:ptCount val="1"/>
                <c:pt idx="0">
                  <c:v>Mar'26 - Motivating to Prescribe - CREON_ME</c:v>
                </c:pt>
              </c:strCache>
            </c:strRef>
          </c:tx>
          <c:spPr>
            <a:solidFill>
              <a:srgbClr val="0074A3"/>
            </a:solidFill>
            <a:ln>
              <a:noFill/>
            </a:ln>
            <a:effectLst/>
          </c:spPr>
          <c:invertIfNegative val="0"/>
          <c:dPt>
            <c:idx val="0"/>
            <c:invertIfNegative val="0"/>
            <c:bubble3D val="0"/>
            <c:extLst>
              <c:ext xmlns:c16="http://schemas.microsoft.com/office/drawing/2014/chart" uri="{C3380CC4-5D6E-409C-BE32-E72D297353CC}">
                <c16:uniqueId val="{00000000-D943-49D2-8091-EBA916D76ABF}"/>
              </c:ext>
            </c:extLst>
          </c:dPt>
          <c:dPt>
            <c:idx val="1"/>
            <c:invertIfNegative val="0"/>
            <c:bubble3D val="0"/>
            <c:extLst>
              <c:ext xmlns:c16="http://schemas.microsoft.com/office/drawing/2014/chart" uri="{C3380CC4-5D6E-409C-BE32-E72D297353CC}">
                <c16:uniqueId val="{00000001-D943-49D2-8091-EBA916D76ABF}"/>
              </c:ext>
            </c:extLst>
          </c:dPt>
          <c:dPt>
            <c:idx val="2"/>
            <c:invertIfNegative val="0"/>
            <c:bubble3D val="0"/>
            <c:extLst>
              <c:ext xmlns:c16="http://schemas.microsoft.com/office/drawing/2014/chart" uri="{C3380CC4-5D6E-409C-BE32-E72D297353CC}">
                <c16:uniqueId val="{00000002-D943-49D2-8091-EBA916D76ABF}"/>
              </c:ext>
            </c:extLst>
          </c:dPt>
          <c:dPt>
            <c:idx val="3"/>
            <c:invertIfNegative val="0"/>
            <c:bubble3D val="0"/>
            <c:extLst>
              <c:ext xmlns:c16="http://schemas.microsoft.com/office/drawing/2014/chart" uri="{C3380CC4-5D6E-409C-BE32-E72D297353CC}">
                <c16:uniqueId val="{00000003-D943-49D2-8091-EBA916D76ABF}"/>
              </c:ext>
            </c:extLst>
          </c:dPt>
          <c:dPt>
            <c:idx val="4"/>
            <c:invertIfNegative val="0"/>
            <c:bubble3D val="0"/>
            <c:extLst>
              <c:ext xmlns:c16="http://schemas.microsoft.com/office/drawing/2014/chart" uri="{C3380CC4-5D6E-409C-BE32-E72D297353CC}">
                <c16:uniqueId val="{00000004-D943-49D2-8091-EBA916D76ABF}"/>
              </c:ext>
            </c:extLst>
          </c:dPt>
          <c:dPt>
            <c:idx val="5"/>
            <c:invertIfNegative val="0"/>
            <c:bubble3D val="0"/>
            <c:extLst>
              <c:ext xmlns:c16="http://schemas.microsoft.com/office/drawing/2014/chart" uri="{C3380CC4-5D6E-409C-BE32-E72D297353CC}">
                <c16:uniqueId val="{00000005-D943-49D2-8091-EBA916D76ABF}"/>
              </c:ext>
            </c:extLst>
          </c:dPt>
          <c:dPt>
            <c:idx val="6"/>
            <c:invertIfNegative val="0"/>
            <c:bubble3D val="0"/>
            <c:extLst>
              <c:ext xmlns:c16="http://schemas.microsoft.com/office/drawing/2014/chart" uri="{C3380CC4-5D6E-409C-BE32-E72D297353CC}">
                <c16:uniqueId val="{00000006-D943-49D2-8091-EBA916D76ABF}"/>
              </c:ext>
            </c:extLst>
          </c:dPt>
          <c:dLbls>
            <c:dLbl>
              <c:idx val="7"/>
              <c:spPr>
                <a:noFill/>
                <a:ln>
                  <a:noFill/>
                </a:ln>
                <a:effectLst/>
              </c:spPr>
              <c:txPr>
                <a:bodyPr wrap="square" lIns="38100" tIns="19050" rIns="38100" bIns="19050" anchor="ctr">
                  <a:spAutoFit/>
                </a:bodyPr>
                <a:lstStyle/>
                <a:p>
                  <a:pPr>
                    <a:defRPr>
                      <a:solidFill>
                        <a:srgbClr val="0074A3"/>
                      </a:solidFill>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30503518518518519"/>
                      <c:h val="8.2726388888888891E-2"/>
                    </c:manualLayout>
                  </c15:layout>
                </c:ext>
                <c:ext xmlns:c16="http://schemas.microsoft.com/office/drawing/2014/chart" uri="{C3380CC4-5D6E-409C-BE32-E72D297353CC}">
                  <c16:uniqueId val="{00000007-D943-49D2-8091-EBA916D76ABF}"/>
                </c:ext>
              </c:extLst>
            </c:dLbl>
            <c:spPr>
              <a:noFill/>
              <a:ln>
                <a:noFill/>
              </a:ln>
              <a:effectLst/>
            </c:spPr>
            <c:txPr>
              <a:bodyPr rot="0" spcFirstLastPara="1" vertOverflow="ellipsis" vert="horz" wrap="none" lIns="38100" tIns="19050" rIns="38100" bIns="19050" anchor="ctr" anchorCtr="0">
                <a:spAutoFit/>
              </a:bodyPr>
              <a:lstStyle/>
              <a:p>
                <a:pPr algn="ctr">
                  <a:defRPr lang="en-US" sz="900" b="0" i="0" u="none" strike="noStrike" kern="1200" baseline="0">
                    <a:solidFill>
                      <a:srgbClr val="0074A3"/>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Sheet1!$B$2:$B$9</c:f>
              <c:numCache>
                <c:formatCode>0%</c:formatCode>
                <c:ptCount val="8"/>
                <c:pt idx="0">
                  <c:v>0.37</c:v>
                </c:pt>
                <c:pt idx="1">
                  <c:v>0.65</c:v>
                </c:pt>
                <c:pt idx="2">
                  <c:v>0.51</c:v>
                </c:pt>
                <c:pt idx="3">
                  <c:v>0.66</c:v>
                </c:pt>
                <c:pt idx="4">
                  <c:v>0.66</c:v>
                </c:pt>
                <c:pt idx="5">
                  <c:v>0.52</c:v>
                </c:pt>
                <c:pt idx="6">
                  <c:v>0.61</c:v>
                </c:pt>
                <c:pt idx="7">
                  <c:v>0.55</c:v>
                </c:pt>
              </c:numCache>
            </c:numRef>
          </c:val>
          <c:extLst>
            <c:ext xmlns:c16="http://schemas.microsoft.com/office/drawing/2014/chart" uri="{C3380CC4-5D6E-409C-BE32-E72D297353CC}">
              <c16:uniqueId val="{00000008-D943-49D2-8091-EBA916D76ABF}"/>
            </c:ext>
          </c:extLst>
        </c:ser>
        <c:ser>
          <c:idx val="1"/>
          <c:order val="1"/>
          <c:tx>
            <c:strRef>
              <c:f>Sheet1!$C$1</c:f>
              <c:strCache>
                <c:ptCount val="1"/>
                <c:pt idx="0">
                  <c:v>Feb'26 - Motivating to Prescribe - CREON_ME</c:v>
                </c:pt>
              </c:strCache>
            </c:strRef>
          </c:tx>
          <c:spPr>
            <a:solidFill>
              <a:srgbClr val="4FCCFF"/>
            </a:solidFill>
            <a:ln>
              <a:noFill/>
            </a:ln>
            <a:effectLst/>
          </c:spPr>
          <c:invertIfNegative val="0"/>
          <c:dPt>
            <c:idx val="0"/>
            <c:invertIfNegative val="0"/>
            <c:bubble3D val="0"/>
            <c:extLst>
              <c:ext xmlns:c16="http://schemas.microsoft.com/office/drawing/2014/chart" uri="{C3380CC4-5D6E-409C-BE32-E72D297353CC}">
                <c16:uniqueId val="{00000009-D943-49D2-8091-EBA916D76ABF}"/>
              </c:ext>
            </c:extLst>
          </c:dPt>
          <c:dPt>
            <c:idx val="1"/>
            <c:invertIfNegative val="0"/>
            <c:bubble3D val="0"/>
            <c:extLst>
              <c:ext xmlns:c16="http://schemas.microsoft.com/office/drawing/2014/chart" uri="{C3380CC4-5D6E-409C-BE32-E72D297353CC}">
                <c16:uniqueId val="{0000000A-D943-49D2-8091-EBA916D76ABF}"/>
              </c:ext>
            </c:extLst>
          </c:dPt>
          <c:dPt>
            <c:idx val="2"/>
            <c:invertIfNegative val="0"/>
            <c:bubble3D val="0"/>
            <c:extLst>
              <c:ext xmlns:c16="http://schemas.microsoft.com/office/drawing/2014/chart" uri="{C3380CC4-5D6E-409C-BE32-E72D297353CC}">
                <c16:uniqueId val="{0000000B-D943-49D2-8091-EBA916D76ABF}"/>
              </c:ext>
            </c:extLst>
          </c:dPt>
          <c:dPt>
            <c:idx val="3"/>
            <c:invertIfNegative val="0"/>
            <c:bubble3D val="0"/>
            <c:extLst>
              <c:ext xmlns:c16="http://schemas.microsoft.com/office/drawing/2014/chart" uri="{C3380CC4-5D6E-409C-BE32-E72D297353CC}">
                <c16:uniqueId val="{0000000C-D943-49D2-8091-EBA916D76ABF}"/>
              </c:ext>
            </c:extLst>
          </c:dPt>
          <c:dPt>
            <c:idx val="4"/>
            <c:invertIfNegative val="0"/>
            <c:bubble3D val="0"/>
            <c:extLst>
              <c:ext xmlns:c16="http://schemas.microsoft.com/office/drawing/2014/chart" uri="{C3380CC4-5D6E-409C-BE32-E72D297353CC}">
                <c16:uniqueId val="{0000000D-D943-49D2-8091-EBA916D76ABF}"/>
              </c:ext>
            </c:extLst>
          </c:dPt>
          <c:dPt>
            <c:idx val="5"/>
            <c:invertIfNegative val="0"/>
            <c:bubble3D val="0"/>
            <c:extLst>
              <c:ext xmlns:c16="http://schemas.microsoft.com/office/drawing/2014/chart" uri="{C3380CC4-5D6E-409C-BE32-E72D297353CC}">
                <c16:uniqueId val="{0000000E-D943-49D2-8091-EBA916D76ABF}"/>
              </c:ext>
            </c:extLst>
          </c:dPt>
          <c:dPt>
            <c:idx val="6"/>
            <c:invertIfNegative val="0"/>
            <c:bubble3D val="0"/>
            <c:extLst>
              <c:ext xmlns:c16="http://schemas.microsoft.com/office/drawing/2014/chart" uri="{C3380CC4-5D6E-409C-BE32-E72D297353CC}">
                <c16:uniqueId val="{0000000F-D943-49D2-8091-EBA916D76ABF}"/>
              </c:ext>
            </c:extLst>
          </c:dPt>
          <c:dPt>
            <c:idx val="7"/>
            <c:invertIfNegative val="0"/>
            <c:bubble3D val="0"/>
            <c:extLst>
              <c:ext xmlns:c16="http://schemas.microsoft.com/office/drawing/2014/chart" uri="{C3380CC4-5D6E-409C-BE32-E72D297353CC}">
                <c16:uniqueId val="{00000010-D943-49D2-8091-EBA916D76ABF}"/>
              </c:ext>
            </c:extLst>
          </c:dPt>
          <c:dLbls>
            <c:spPr>
              <a:noFill/>
              <a:ln>
                <a:noFill/>
              </a:ln>
              <a:effectLst/>
            </c:spPr>
            <c:txPr>
              <a:bodyPr rot="0" spcFirstLastPara="1" vertOverflow="ellipsis" vert="horz" wrap="none" lIns="38100" tIns="19050" rIns="38100" bIns="19050" anchor="ctr" anchorCtr="0">
                <a:spAutoFit/>
              </a:bodyPr>
              <a:lstStyle/>
              <a:p>
                <a:pPr algn="ctr">
                  <a:defRPr lang="en-US" sz="900" b="0" i="0" u="none" strike="noStrike" kern="1200" baseline="0">
                    <a:solidFill>
                      <a:srgbClr val="4FCCFF"/>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Sheet1!$C$2:$C$9</c:f>
              <c:numCache>
                <c:formatCode>0%</c:formatCode>
                <c:ptCount val="8"/>
                <c:pt idx="0">
                  <c:v>0.39</c:v>
                </c:pt>
                <c:pt idx="1">
                  <c:v>0.62</c:v>
                </c:pt>
                <c:pt idx="2">
                  <c:v>0.48</c:v>
                </c:pt>
                <c:pt idx="3">
                  <c:v>0.6</c:v>
                </c:pt>
                <c:pt idx="4">
                  <c:v>0.66</c:v>
                </c:pt>
                <c:pt idx="5">
                  <c:v>0.53</c:v>
                </c:pt>
                <c:pt idx="6">
                  <c:v>0.56</c:v>
                </c:pt>
                <c:pt idx="7">
                  <c:v>0.5</c:v>
                </c:pt>
              </c:numCache>
            </c:numRef>
          </c:val>
          <c:extLst>
            <c:ext xmlns:c16="http://schemas.microsoft.com/office/drawing/2014/chart" uri="{C3380CC4-5D6E-409C-BE32-E72D297353CC}">
              <c16:uniqueId val="{00000011-D943-49D2-8091-EBA916D76ABF}"/>
            </c:ext>
          </c:extLst>
        </c:ser>
        <c:dLbls>
          <c:dLblPos val="outEnd"/>
          <c:showLegendKey val="0"/>
          <c:showVal val="1"/>
          <c:showCatName val="0"/>
          <c:showSerName val="0"/>
          <c:showPercent val="0"/>
          <c:showBubbleSize val="0"/>
        </c:dLbls>
        <c:gapWidth val="135"/>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9809629629629626"/>
          <c:h val="1"/>
        </c:manualLayout>
      </c:layout>
      <c:barChart>
        <c:barDir val="bar"/>
        <c:grouping val="clustered"/>
        <c:varyColors val="0"/>
        <c:ser>
          <c:idx val="1"/>
          <c:order val="0"/>
          <c:tx>
            <c:strRef>
              <c:f>Sheet1!$B$1</c:f>
              <c:strCache>
                <c:ptCount val="1"/>
                <c:pt idx="0">
                  <c:v>Mar'26 - CREON_ME</c:v>
                </c:pt>
              </c:strCache>
            </c:strRef>
          </c:tx>
          <c:spPr>
            <a:solidFill>
              <a:srgbClr val="0074A3"/>
            </a:solidFill>
            <a:ln>
              <a:noFill/>
            </a:ln>
            <a:effectLst/>
          </c:spPr>
          <c:invertIfNegative val="0"/>
          <c:dPt>
            <c:idx val="0"/>
            <c:invertIfNegative val="0"/>
            <c:bubble3D val="0"/>
            <c:extLst>
              <c:ext xmlns:c16="http://schemas.microsoft.com/office/drawing/2014/chart" uri="{C3380CC4-5D6E-409C-BE32-E72D297353CC}">
                <c16:uniqueId val="{00000000-9AAC-43B6-A776-C2D1CAD570C9}"/>
              </c:ext>
            </c:extLst>
          </c:dPt>
          <c:dPt>
            <c:idx val="1"/>
            <c:invertIfNegative val="0"/>
            <c:bubble3D val="0"/>
            <c:extLst>
              <c:ext xmlns:c16="http://schemas.microsoft.com/office/drawing/2014/chart" uri="{C3380CC4-5D6E-409C-BE32-E72D297353CC}">
                <c16:uniqueId val="{00000001-9AAC-43B6-A776-C2D1CAD570C9}"/>
              </c:ext>
            </c:extLst>
          </c:dPt>
          <c:dPt>
            <c:idx val="2"/>
            <c:invertIfNegative val="0"/>
            <c:bubble3D val="0"/>
            <c:extLst>
              <c:ext xmlns:c16="http://schemas.microsoft.com/office/drawing/2014/chart" uri="{C3380CC4-5D6E-409C-BE32-E72D297353CC}">
                <c16:uniqueId val="{00000002-9AAC-43B6-A776-C2D1CAD570C9}"/>
              </c:ext>
            </c:extLst>
          </c:dPt>
          <c:dPt>
            <c:idx val="3"/>
            <c:invertIfNegative val="0"/>
            <c:bubble3D val="0"/>
            <c:extLst>
              <c:ext xmlns:c16="http://schemas.microsoft.com/office/drawing/2014/chart" uri="{C3380CC4-5D6E-409C-BE32-E72D297353CC}">
                <c16:uniqueId val="{00000003-9AAC-43B6-A776-C2D1CAD570C9}"/>
              </c:ext>
            </c:extLst>
          </c:dPt>
          <c:dPt>
            <c:idx val="4"/>
            <c:invertIfNegative val="0"/>
            <c:bubble3D val="0"/>
            <c:extLst>
              <c:ext xmlns:c16="http://schemas.microsoft.com/office/drawing/2014/chart" uri="{C3380CC4-5D6E-409C-BE32-E72D297353CC}">
                <c16:uniqueId val="{00000004-9AAC-43B6-A776-C2D1CAD570C9}"/>
              </c:ext>
            </c:extLst>
          </c:dPt>
          <c:dPt>
            <c:idx val="5"/>
            <c:invertIfNegative val="0"/>
            <c:bubble3D val="0"/>
            <c:extLst>
              <c:ext xmlns:c16="http://schemas.microsoft.com/office/drawing/2014/chart" uri="{C3380CC4-5D6E-409C-BE32-E72D297353CC}">
                <c16:uniqueId val="{00000005-9AAC-43B6-A776-C2D1CAD570C9}"/>
              </c:ext>
            </c:extLst>
          </c:dPt>
          <c:dPt>
            <c:idx val="6"/>
            <c:invertIfNegative val="0"/>
            <c:bubble3D val="0"/>
            <c:extLst>
              <c:ext xmlns:c16="http://schemas.microsoft.com/office/drawing/2014/chart" uri="{C3380CC4-5D6E-409C-BE32-E72D297353CC}">
                <c16:uniqueId val="{00000006-9AAC-43B6-A776-C2D1CAD570C9}"/>
              </c:ext>
            </c:extLst>
          </c:dPt>
          <c:dPt>
            <c:idx val="7"/>
            <c:invertIfNegative val="0"/>
            <c:bubble3D val="0"/>
            <c:extLst>
              <c:ext xmlns:c16="http://schemas.microsoft.com/office/drawing/2014/chart" uri="{C3380CC4-5D6E-409C-BE32-E72D297353CC}">
                <c16:uniqueId val="{00000007-9AAC-43B6-A776-C2D1CAD570C9}"/>
              </c:ext>
            </c:extLst>
          </c:dPt>
          <c:dLbls>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0074A3"/>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Sheet1!$B$2:$B$9</c:f>
              <c:numCache>
                <c:formatCode>0%</c:formatCode>
                <c:ptCount val="8"/>
                <c:pt idx="0">
                  <c:v>0.34</c:v>
                </c:pt>
                <c:pt idx="1">
                  <c:v>0.62</c:v>
                </c:pt>
                <c:pt idx="2">
                  <c:v>0.49</c:v>
                </c:pt>
                <c:pt idx="3">
                  <c:v>0.47</c:v>
                </c:pt>
                <c:pt idx="4">
                  <c:v>0.52</c:v>
                </c:pt>
                <c:pt idx="5">
                  <c:v>0.51</c:v>
                </c:pt>
                <c:pt idx="6">
                  <c:v>0.48</c:v>
                </c:pt>
                <c:pt idx="7">
                  <c:v>0.46</c:v>
                </c:pt>
              </c:numCache>
            </c:numRef>
          </c:val>
          <c:extLst>
            <c:ext xmlns:c16="http://schemas.microsoft.com/office/drawing/2014/chart" uri="{C3380CC4-5D6E-409C-BE32-E72D297353CC}">
              <c16:uniqueId val="{00000008-9AAC-43B6-A776-C2D1CAD570C9}"/>
            </c:ext>
          </c:extLst>
        </c:ser>
        <c:ser>
          <c:idx val="0"/>
          <c:order val="1"/>
          <c:tx>
            <c:strRef>
              <c:f>Sheet1!$C$1</c:f>
              <c:strCache>
                <c:ptCount val="1"/>
                <c:pt idx="0">
                  <c:v>Feb'26 - CREON_ME</c:v>
                </c:pt>
              </c:strCache>
            </c:strRef>
          </c:tx>
          <c:spPr>
            <a:solidFill>
              <a:srgbClr val="4FCCFF"/>
            </a:solidFill>
            <a:ln>
              <a:noFill/>
            </a:ln>
            <a:effectLst/>
          </c:spPr>
          <c:invertIfNegative val="0"/>
          <c:dPt>
            <c:idx val="0"/>
            <c:invertIfNegative val="0"/>
            <c:bubble3D val="0"/>
            <c:extLst>
              <c:ext xmlns:c16="http://schemas.microsoft.com/office/drawing/2014/chart" uri="{C3380CC4-5D6E-409C-BE32-E72D297353CC}">
                <c16:uniqueId val="{00000009-9AAC-43B6-A776-C2D1CAD570C9}"/>
              </c:ext>
            </c:extLst>
          </c:dPt>
          <c:dPt>
            <c:idx val="1"/>
            <c:invertIfNegative val="0"/>
            <c:bubble3D val="0"/>
            <c:extLst>
              <c:ext xmlns:c16="http://schemas.microsoft.com/office/drawing/2014/chart" uri="{C3380CC4-5D6E-409C-BE32-E72D297353CC}">
                <c16:uniqueId val="{0000000A-9AAC-43B6-A776-C2D1CAD570C9}"/>
              </c:ext>
            </c:extLst>
          </c:dPt>
          <c:dPt>
            <c:idx val="2"/>
            <c:invertIfNegative val="0"/>
            <c:bubble3D val="0"/>
            <c:extLst>
              <c:ext xmlns:c16="http://schemas.microsoft.com/office/drawing/2014/chart" uri="{C3380CC4-5D6E-409C-BE32-E72D297353CC}">
                <c16:uniqueId val="{0000000B-9AAC-43B6-A776-C2D1CAD570C9}"/>
              </c:ext>
            </c:extLst>
          </c:dPt>
          <c:dPt>
            <c:idx val="3"/>
            <c:invertIfNegative val="0"/>
            <c:bubble3D val="0"/>
            <c:extLst>
              <c:ext xmlns:c16="http://schemas.microsoft.com/office/drawing/2014/chart" uri="{C3380CC4-5D6E-409C-BE32-E72D297353CC}">
                <c16:uniqueId val="{0000000C-9AAC-43B6-A776-C2D1CAD570C9}"/>
              </c:ext>
            </c:extLst>
          </c:dPt>
          <c:dPt>
            <c:idx val="4"/>
            <c:invertIfNegative val="0"/>
            <c:bubble3D val="0"/>
            <c:extLst>
              <c:ext xmlns:c16="http://schemas.microsoft.com/office/drawing/2014/chart" uri="{C3380CC4-5D6E-409C-BE32-E72D297353CC}">
                <c16:uniqueId val="{0000000D-9AAC-43B6-A776-C2D1CAD570C9}"/>
              </c:ext>
            </c:extLst>
          </c:dPt>
          <c:dPt>
            <c:idx val="5"/>
            <c:invertIfNegative val="0"/>
            <c:bubble3D val="0"/>
            <c:extLst>
              <c:ext xmlns:c16="http://schemas.microsoft.com/office/drawing/2014/chart" uri="{C3380CC4-5D6E-409C-BE32-E72D297353CC}">
                <c16:uniqueId val="{0000000E-9AAC-43B6-A776-C2D1CAD570C9}"/>
              </c:ext>
            </c:extLst>
          </c:dPt>
          <c:dPt>
            <c:idx val="6"/>
            <c:invertIfNegative val="0"/>
            <c:bubble3D val="0"/>
            <c:extLst>
              <c:ext xmlns:c16="http://schemas.microsoft.com/office/drawing/2014/chart" uri="{C3380CC4-5D6E-409C-BE32-E72D297353CC}">
                <c16:uniqueId val="{0000000F-9AAC-43B6-A776-C2D1CAD570C9}"/>
              </c:ext>
            </c:extLst>
          </c:dPt>
          <c:dLbls>
            <c:dLbl>
              <c:idx val="7"/>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4FCCFF"/>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28233981481481474"/>
                      <c:h val="5.7884953703703688E-2"/>
                    </c:manualLayout>
                  </c15:layout>
                </c:ext>
                <c:ext xmlns:c16="http://schemas.microsoft.com/office/drawing/2014/chart" uri="{C3380CC4-5D6E-409C-BE32-E72D297353CC}">
                  <c16:uniqueId val="{00000010-9AAC-43B6-A776-C2D1CAD570C9}"/>
                </c:ext>
              </c:extLst>
            </c:dLbl>
            <c:dLbl>
              <c:idx val="8"/>
              <c:delete val="1"/>
              <c:extLst>
                <c:ext xmlns:c15="http://schemas.microsoft.com/office/drawing/2012/chart" uri="{CE6537A1-D6FC-4f65-9D91-7224C49458BB}"/>
                <c:ext xmlns:c16="http://schemas.microsoft.com/office/drawing/2014/chart" uri="{C3380CC4-5D6E-409C-BE32-E72D297353CC}">
                  <c16:uniqueId val="{0000000F-6724-4A9E-AB8F-EF67774276D6}"/>
                </c:ext>
              </c:extLst>
            </c:dLbl>
            <c:dLbl>
              <c:idx val="9"/>
              <c:delete val="1"/>
              <c:extLst>
                <c:ext xmlns:c15="http://schemas.microsoft.com/office/drawing/2012/chart" uri="{CE6537A1-D6FC-4f65-9D91-7224C49458BB}"/>
                <c:ext xmlns:c16="http://schemas.microsoft.com/office/drawing/2014/chart" uri="{C3380CC4-5D6E-409C-BE32-E72D297353CC}">
                  <c16:uniqueId val="{00000010-6724-4A9E-AB8F-EF67774276D6}"/>
                </c:ext>
              </c:extLst>
            </c:dLbl>
            <c:dLbl>
              <c:idx val="10"/>
              <c:delete val="1"/>
              <c:extLst>
                <c:ext xmlns:c15="http://schemas.microsoft.com/office/drawing/2012/chart" uri="{CE6537A1-D6FC-4f65-9D91-7224C49458BB}"/>
                <c:ext xmlns:c16="http://schemas.microsoft.com/office/drawing/2014/chart" uri="{C3380CC4-5D6E-409C-BE32-E72D297353CC}">
                  <c16:uniqueId val="{00000011-6724-4A9E-AB8F-EF67774276D6}"/>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4FCCFF"/>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Sheet1!$C$2:$C$9</c:f>
              <c:numCache>
                <c:formatCode>0%</c:formatCode>
                <c:ptCount val="8"/>
                <c:pt idx="0">
                  <c:v>0.35</c:v>
                </c:pt>
                <c:pt idx="1">
                  <c:v>0.57</c:v>
                </c:pt>
                <c:pt idx="2">
                  <c:v>0.46</c:v>
                </c:pt>
                <c:pt idx="3">
                  <c:v>0.45</c:v>
                </c:pt>
                <c:pt idx="4">
                  <c:v>0.52</c:v>
                </c:pt>
                <c:pt idx="5">
                  <c:v>0.5</c:v>
                </c:pt>
                <c:pt idx="6">
                  <c:v>0.44</c:v>
                </c:pt>
                <c:pt idx="7">
                  <c:v>0.44</c:v>
                </c:pt>
              </c:numCache>
            </c:numRef>
          </c:val>
          <c:extLst>
            <c:ext xmlns:c16="http://schemas.microsoft.com/office/drawing/2014/chart" uri="{C3380CC4-5D6E-409C-BE32-E72D297353CC}">
              <c16:uniqueId val="{00000011-9AAC-43B6-A776-C2D1CAD570C9}"/>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1"/>
          <c:order val="0"/>
          <c:tx>
            <c:strRef>
              <c:f>Sheet1!$B$1</c:f>
              <c:strCache>
                <c:ptCount val="1"/>
                <c:pt idx="0">
                  <c:v>Mar'26 - Believable - CREON_ME</c:v>
                </c:pt>
              </c:strCache>
            </c:strRef>
          </c:tx>
          <c:spPr>
            <a:solidFill>
              <a:srgbClr val="0074A3"/>
            </a:solidFill>
            <a:ln>
              <a:noFill/>
            </a:ln>
            <a:effectLst/>
          </c:spPr>
          <c:invertIfNegative val="0"/>
          <c:dPt>
            <c:idx val="0"/>
            <c:invertIfNegative val="0"/>
            <c:bubble3D val="0"/>
            <c:extLst>
              <c:ext xmlns:c16="http://schemas.microsoft.com/office/drawing/2014/chart" uri="{C3380CC4-5D6E-409C-BE32-E72D297353CC}">
                <c16:uniqueId val="{00000000-1A5C-47E1-90B5-7F339D67911B}"/>
              </c:ext>
            </c:extLst>
          </c:dPt>
          <c:dPt>
            <c:idx val="1"/>
            <c:invertIfNegative val="0"/>
            <c:bubble3D val="0"/>
            <c:extLst>
              <c:ext xmlns:c16="http://schemas.microsoft.com/office/drawing/2014/chart" uri="{C3380CC4-5D6E-409C-BE32-E72D297353CC}">
                <c16:uniqueId val="{00000001-1A5C-47E1-90B5-7F339D67911B}"/>
              </c:ext>
            </c:extLst>
          </c:dPt>
          <c:dPt>
            <c:idx val="2"/>
            <c:invertIfNegative val="0"/>
            <c:bubble3D val="0"/>
            <c:extLst>
              <c:ext xmlns:c16="http://schemas.microsoft.com/office/drawing/2014/chart" uri="{C3380CC4-5D6E-409C-BE32-E72D297353CC}">
                <c16:uniqueId val="{00000002-1A5C-47E1-90B5-7F339D67911B}"/>
              </c:ext>
            </c:extLst>
          </c:dPt>
          <c:dPt>
            <c:idx val="3"/>
            <c:invertIfNegative val="0"/>
            <c:bubble3D val="0"/>
            <c:extLst>
              <c:ext xmlns:c16="http://schemas.microsoft.com/office/drawing/2014/chart" uri="{C3380CC4-5D6E-409C-BE32-E72D297353CC}">
                <c16:uniqueId val="{00000003-1A5C-47E1-90B5-7F339D67911B}"/>
              </c:ext>
            </c:extLst>
          </c:dPt>
          <c:dPt>
            <c:idx val="4"/>
            <c:invertIfNegative val="0"/>
            <c:bubble3D val="0"/>
            <c:extLst>
              <c:ext xmlns:c16="http://schemas.microsoft.com/office/drawing/2014/chart" uri="{C3380CC4-5D6E-409C-BE32-E72D297353CC}">
                <c16:uniqueId val="{00000004-1A5C-47E1-90B5-7F339D67911B}"/>
              </c:ext>
            </c:extLst>
          </c:dPt>
          <c:dPt>
            <c:idx val="5"/>
            <c:invertIfNegative val="0"/>
            <c:bubble3D val="0"/>
            <c:extLst>
              <c:ext xmlns:c16="http://schemas.microsoft.com/office/drawing/2014/chart" uri="{C3380CC4-5D6E-409C-BE32-E72D297353CC}">
                <c16:uniqueId val="{00000005-1A5C-47E1-90B5-7F339D67911B}"/>
              </c:ext>
            </c:extLst>
          </c:dPt>
          <c:dPt>
            <c:idx val="6"/>
            <c:invertIfNegative val="0"/>
            <c:bubble3D val="0"/>
            <c:extLst>
              <c:ext xmlns:c16="http://schemas.microsoft.com/office/drawing/2014/chart" uri="{C3380CC4-5D6E-409C-BE32-E72D297353CC}">
                <c16:uniqueId val="{00000006-1A5C-47E1-90B5-7F339D67911B}"/>
              </c:ext>
            </c:extLst>
          </c:dPt>
          <c:dPt>
            <c:idx val="7"/>
            <c:invertIfNegative val="0"/>
            <c:bubble3D val="0"/>
            <c:extLst>
              <c:ext xmlns:c16="http://schemas.microsoft.com/office/drawing/2014/chart" uri="{C3380CC4-5D6E-409C-BE32-E72D297353CC}">
                <c16:uniqueId val="{00000007-1A5C-47E1-90B5-7F339D67911B}"/>
              </c:ext>
            </c:extLst>
          </c:dPt>
          <c:dLbls>
            <c:dLbl>
              <c:idx val="1"/>
              <c:layout>
                <c:manualLayout>
                  <c:x val="-4.7037037037037037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A5C-47E1-90B5-7F339D67911B}"/>
                </c:ext>
              </c:extLst>
            </c:dLbl>
            <c:dLbl>
              <c:idx val="2"/>
              <c:layout>
                <c:manualLayout>
                  <c:x val="-3.5277777777777776E-2"/>
                  <c:y val="2.3148148148148148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A5C-47E1-90B5-7F339D67911B}"/>
                </c:ext>
              </c:extLst>
            </c:dLbl>
            <c:dLbl>
              <c:idx val="8"/>
              <c:layout>
                <c:manualLayout>
                  <c:x val="-4.7037037037037037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A5C-47E1-90B5-7F339D67911B}"/>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0074A3"/>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Sheet1!$B$2:$B$9</c:f>
              <c:numCache>
                <c:formatCode>0%</c:formatCode>
                <c:ptCount val="8"/>
                <c:pt idx="0">
                  <c:v>0.71</c:v>
                </c:pt>
                <c:pt idx="1">
                  <c:v>0.53</c:v>
                </c:pt>
                <c:pt idx="2">
                  <c:v>0.74</c:v>
                </c:pt>
                <c:pt idx="3">
                  <c:v>0.74</c:v>
                </c:pt>
                <c:pt idx="4">
                  <c:v>0.77</c:v>
                </c:pt>
                <c:pt idx="5">
                  <c:v>0.57</c:v>
                </c:pt>
                <c:pt idx="6">
                  <c:v>0.49</c:v>
                </c:pt>
                <c:pt idx="7">
                  <c:v>0.6</c:v>
                </c:pt>
              </c:numCache>
            </c:numRef>
          </c:val>
          <c:extLst>
            <c:ext xmlns:c16="http://schemas.microsoft.com/office/drawing/2014/chart" uri="{C3380CC4-5D6E-409C-BE32-E72D297353CC}">
              <c16:uniqueId val="{00000009-1A5C-47E1-90B5-7F339D67911B}"/>
            </c:ext>
          </c:extLst>
        </c:ser>
        <c:ser>
          <c:idx val="0"/>
          <c:order val="1"/>
          <c:tx>
            <c:strRef>
              <c:f>Sheet1!$C$1</c:f>
              <c:strCache>
                <c:ptCount val="1"/>
                <c:pt idx="0">
                  <c:v>Feb'26 - Believable - CREON_ME</c:v>
                </c:pt>
              </c:strCache>
            </c:strRef>
          </c:tx>
          <c:spPr>
            <a:solidFill>
              <a:srgbClr val="4FCCFF"/>
            </a:solidFill>
            <a:ln>
              <a:noFill/>
            </a:ln>
            <a:effectLst/>
          </c:spPr>
          <c:invertIfNegative val="0"/>
          <c:dPt>
            <c:idx val="0"/>
            <c:invertIfNegative val="0"/>
            <c:bubble3D val="0"/>
            <c:extLst>
              <c:ext xmlns:c16="http://schemas.microsoft.com/office/drawing/2014/chart" uri="{C3380CC4-5D6E-409C-BE32-E72D297353CC}">
                <c16:uniqueId val="{0000000A-1A5C-47E1-90B5-7F339D67911B}"/>
              </c:ext>
            </c:extLst>
          </c:dPt>
          <c:dPt>
            <c:idx val="1"/>
            <c:invertIfNegative val="0"/>
            <c:bubble3D val="0"/>
            <c:extLst>
              <c:ext xmlns:c16="http://schemas.microsoft.com/office/drawing/2014/chart" uri="{C3380CC4-5D6E-409C-BE32-E72D297353CC}">
                <c16:uniqueId val="{0000000B-1A5C-47E1-90B5-7F339D67911B}"/>
              </c:ext>
            </c:extLst>
          </c:dPt>
          <c:dPt>
            <c:idx val="2"/>
            <c:invertIfNegative val="0"/>
            <c:bubble3D val="0"/>
            <c:extLst>
              <c:ext xmlns:c16="http://schemas.microsoft.com/office/drawing/2014/chart" uri="{C3380CC4-5D6E-409C-BE32-E72D297353CC}">
                <c16:uniqueId val="{0000000C-1A5C-47E1-90B5-7F339D67911B}"/>
              </c:ext>
            </c:extLst>
          </c:dPt>
          <c:dPt>
            <c:idx val="3"/>
            <c:invertIfNegative val="0"/>
            <c:bubble3D val="0"/>
            <c:extLst>
              <c:ext xmlns:c16="http://schemas.microsoft.com/office/drawing/2014/chart" uri="{C3380CC4-5D6E-409C-BE32-E72D297353CC}">
                <c16:uniqueId val="{0000000D-1A5C-47E1-90B5-7F339D67911B}"/>
              </c:ext>
            </c:extLst>
          </c:dPt>
          <c:dPt>
            <c:idx val="4"/>
            <c:invertIfNegative val="0"/>
            <c:bubble3D val="0"/>
            <c:extLst>
              <c:ext xmlns:c16="http://schemas.microsoft.com/office/drawing/2014/chart" uri="{C3380CC4-5D6E-409C-BE32-E72D297353CC}">
                <c16:uniqueId val="{0000000E-1A5C-47E1-90B5-7F339D67911B}"/>
              </c:ext>
            </c:extLst>
          </c:dPt>
          <c:dPt>
            <c:idx val="5"/>
            <c:invertIfNegative val="0"/>
            <c:bubble3D val="0"/>
            <c:extLst>
              <c:ext xmlns:c16="http://schemas.microsoft.com/office/drawing/2014/chart" uri="{C3380CC4-5D6E-409C-BE32-E72D297353CC}">
                <c16:uniqueId val="{0000000F-1A5C-47E1-90B5-7F339D67911B}"/>
              </c:ext>
            </c:extLst>
          </c:dPt>
          <c:dPt>
            <c:idx val="6"/>
            <c:invertIfNegative val="0"/>
            <c:bubble3D val="0"/>
            <c:extLst>
              <c:ext xmlns:c16="http://schemas.microsoft.com/office/drawing/2014/chart" uri="{C3380CC4-5D6E-409C-BE32-E72D297353CC}">
                <c16:uniqueId val="{00000010-1A5C-47E1-90B5-7F339D67911B}"/>
              </c:ext>
            </c:extLst>
          </c:dPt>
          <c:dLbls>
            <c:dLbl>
              <c:idx val="7"/>
              <c:layout>
                <c:manualLayout>
                  <c:x val="-5.0340740740740741E-2"/>
                  <c:y val="-3.7231481481480402E-3"/>
                </c:manualLayout>
              </c:layout>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4FCCFF"/>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28666666666666668"/>
                      <c:h val="0.04"/>
                    </c:manualLayout>
                  </c15:layout>
                </c:ext>
                <c:ext xmlns:c16="http://schemas.microsoft.com/office/drawing/2014/chart" uri="{C3380CC4-5D6E-409C-BE32-E72D297353CC}">
                  <c16:uniqueId val="{00000011-1A5C-47E1-90B5-7F339D67911B}"/>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4FCCFF"/>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Sheet1!$C$2:$C$9</c:f>
              <c:numCache>
                <c:formatCode>0%</c:formatCode>
                <c:ptCount val="8"/>
                <c:pt idx="0">
                  <c:v>0.64</c:v>
                </c:pt>
                <c:pt idx="1">
                  <c:v>0.48</c:v>
                </c:pt>
                <c:pt idx="2">
                  <c:v>0.67</c:v>
                </c:pt>
                <c:pt idx="3">
                  <c:v>0.71</c:v>
                </c:pt>
                <c:pt idx="4">
                  <c:v>0.77</c:v>
                </c:pt>
                <c:pt idx="5">
                  <c:v>0.54</c:v>
                </c:pt>
                <c:pt idx="6">
                  <c:v>0.43</c:v>
                </c:pt>
                <c:pt idx="7">
                  <c:v>0.57</c:v>
                </c:pt>
              </c:numCache>
            </c:numRef>
          </c:val>
          <c:extLst>
            <c:ext xmlns:c16="http://schemas.microsoft.com/office/drawing/2014/chart" uri="{C3380CC4-5D6E-409C-BE32-E72D297353CC}">
              <c16:uniqueId val="{00000012-1A5C-47E1-90B5-7F339D67911B}"/>
            </c:ext>
          </c:extLst>
        </c:ser>
        <c:dLbls>
          <c:dLblPos val="outEnd"/>
          <c:showLegendKey val="0"/>
          <c:showVal val="1"/>
          <c:showCatName val="0"/>
          <c:showSerName val="0"/>
          <c:showPercent val="0"/>
          <c:showBubbleSize val="0"/>
        </c:dLbls>
        <c:gapWidth val="135"/>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0"/>
          <c:order val="0"/>
          <c:tx>
            <c:strRef>
              <c:f>Sheet1!$B$1</c:f>
              <c:strCache>
                <c:ptCount val="1"/>
                <c:pt idx="0">
                  <c:v>Mar'26 - Differentiated - CREON_ME</c:v>
                </c:pt>
              </c:strCache>
            </c:strRef>
          </c:tx>
          <c:spPr>
            <a:solidFill>
              <a:srgbClr val="0074A3"/>
            </a:solidFill>
            <a:ln>
              <a:noFill/>
            </a:ln>
            <a:effectLst/>
          </c:spPr>
          <c:invertIfNegative val="0"/>
          <c:dPt>
            <c:idx val="0"/>
            <c:invertIfNegative val="0"/>
            <c:bubble3D val="0"/>
            <c:extLst>
              <c:ext xmlns:c16="http://schemas.microsoft.com/office/drawing/2014/chart" uri="{C3380CC4-5D6E-409C-BE32-E72D297353CC}">
                <c16:uniqueId val="{00000000-89D5-4E4F-827F-2452CA11244A}"/>
              </c:ext>
            </c:extLst>
          </c:dPt>
          <c:dPt>
            <c:idx val="1"/>
            <c:invertIfNegative val="0"/>
            <c:bubble3D val="0"/>
            <c:extLst>
              <c:ext xmlns:c16="http://schemas.microsoft.com/office/drawing/2014/chart" uri="{C3380CC4-5D6E-409C-BE32-E72D297353CC}">
                <c16:uniqueId val="{00000001-89D5-4E4F-827F-2452CA11244A}"/>
              </c:ext>
            </c:extLst>
          </c:dPt>
          <c:dPt>
            <c:idx val="2"/>
            <c:invertIfNegative val="0"/>
            <c:bubble3D val="0"/>
            <c:extLst>
              <c:ext xmlns:c16="http://schemas.microsoft.com/office/drawing/2014/chart" uri="{C3380CC4-5D6E-409C-BE32-E72D297353CC}">
                <c16:uniqueId val="{00000002-89D5-4E4F-827F-2452CA11244A}"/>
              </c:ext>
            </c:extLst>
          </c:dPt>
          <c:dPt>
            <c:idx val="3"/>
            <c:invertIfNegative val="0"/>
            <c:bubble3D val="0"/>
            <c:extLst>
              <c:ext xmlns:c16="http://schemas.microsoft.com/office/drawing/2014/chart" uri="{C3380CC4-5D6E-409C-BE32-E72D297353CC}">
                <c16:uniqueId val="{00000003-89D5-4E4F-827F-2452CA11244A}"/>
              </c:ext>
            </c:extLst>
          </c:dPt>
          <c:dPt>
            <c:idx val="4"/>
            <c:invertIfNegative val="0"/>
            <c:bubble3D val="0"/>
            <c:extLst>
              <c:ext xmlns:c16="http://schemas.microsoft.com/office/drawing/2014/chart" uri="{C3380CC4-5D6E-409C-BE32-E72D297353CC}">
                <c16:uniqueId val="{00000004-89D5-4E4F-827F-2452CA11244A}"/>
              </c:ext>
            </c:extLst>
          </c:dPt>
          <c:dPt>
            <c:idx val="5"/>
            <c:invertIfNegative val="0"/>
            <c:bubble3D val="0"/>
            <c:extLst>
              <c:ext xmlns:c16="http://schemas.microsoft.com/office/drawing/2014/chart" uri="{C3380CC4-5D6E-409C-BE32-E72D297353CC}">
                <c16:uniqueId val="{00000005-89D5-4E4F-827F-2452CA11244A}"/>
              </c:ext>
            </c:extLst>
          </c:dPt>
          <c:dPt>
            <c:idx val="6"/>
            <c:invertIfNegative val="0"/>
            <c:bubble3D val="0"/>
            <c:extLst>
              <c:ext xmlns:c16="http://schemas.microsoft.com/office/drawing/2014/chart" uri="{C3380CC4-5D6E-409C-BE32-E72D297353CC}">
                <c16:uniqueId val="{00000006-89D5-4E4F-827F-2452CA11244A}"/>
              </c:ext>
            </c:extLst>
          </c:dPt>
          <c:dLbls>
            <c:dLbl>
              <c:idx val="7"/>
              <c:spPr>
                <a:noFill/>
                <a:ln>
                  <a:noFill/>
                </a:ln>
                <a:effectLst/>
              </c:spPr>
              <c:txPr>
                <a:bodyPr rot="0" spcFirstLastPara="1" vertOverflow="ellipsis" vert="horz" wrap="square" lIns="38100" tIns="19050" rIns="38100" bIns="19050" anchor="ctr" anchorCtr="1">
                  <a:noAutofit/>
                </a:bodyPr>
                <a:lstStyle/>
                <a:p>
                  <a:pPr>
                    <a:defRPr sz="1000" b="0" i="0" u="none" strike="noStrike" kern="1200" baseline="0">
                      <a:solidFill>
                        <a:srgbClr val="0074A3"/>
                      </a:solidFill>
                      <a:latin typeface="Source Sans Pro" panose="020B0503030403020204" pitchFamily="34" charset="0"/>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36383148148148142"/>
                      <c:h val="8.5666203703703703E-2"/>
                    </c:manualLayout>
                  </c15:layout>
                </c:ext>
                <c:ext xmlns:c16="http://schemas.microsoft.com/office/drawing/2014/chart" uri="{C3380CC4-5D6E-409C-BE32-E72D297353CC}">
                  <c16:uniqueId val="{00000007-89D5-4E4F-827F-2452CA11244A}"/>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0074A3"/>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Sheet1!$B$2:$B$9</c:f>
              <c:numCache>
                <c:formatCode>0%</c:formatCode>
                <c:ptCount val="8"/>
                <c:pt idx="0">
                  <c:v>0.34</c:v>
                </c:pt>
                <c:pt idx="1">
                  <c:v>0.62</c:v>
                </c:pt>
                <c:pt idx="2">
                  <c:v>0.49</c:v>
                </c:pt>
                <c:pt idx="3">
                  <c:v>0.47</c:v>
                </c:pt>
                <c:pt idx="4">
                  <c:v>0.52</c:v>
                </c:pt>
                <c:pt idx="5">
                  <c:v>0.51</c:v>
                </c:pt>
                <c:pt idx="6">
                  <c:v>0.48</c:v>
                </c:pt>
                <c:pt idx="7">
                  <c:v>0.46</c:v>
                </c:pt>
              </c:numCache>
            </c:numRef>
          </c:val>
          <c:extLst>
            <c:ext xmlns:c16="http://schemas.microsoft.com/office/drawing/2014/chart" uri="{C3380CC4-5D6E-409C-BE32-E72D297353CC}">
              <c16:uniqueId val="{00000008-89D5-4E4F-827F-2452CA11244A}"/>
            </c:ext>
          </c:extLst>
        </c:ser>
        <c:ser>
          <c:idx val="1"/>
          <c:order val="1"/>
          <c:tx>
            <c:strRef>
              <c:f>Sheet1!$C$1</c:f>
              <c:strCache>
                <c:ptCount val="1"/>
                <c:pt idx="0">
                  <c:v>Feb'26 - Differentiated - CREON_ME</c:v>
                </c:pt>
              </c:strCache>
            </c:strRef>
          </c:tx>
          <c:spPr>
            <a:solidFill>
              <a:srgbClr val="4FCCFF"/>
            </a:solidFill>
            <a:ln>
              <a:noFill/>
            </a:ln>
            <a:effectLst/>
          </c:spPr>
          <c:invertIfNegative val="0"/>
          <c:dPt>
            <c:idx val="0"/>
            <c:invertIfNegative val="0"/>
            <c:bubble3D val="0"/>
            <c:extLst>
              <c:ext xmlns:c16="http://schemas.microsoft.com/office/drawing/2014/chart" uri="{C3380CC4-5D6E-409C-BE32-E72D297353CC}">
                <c16:uniqueId val="{00000009-89D5-4E4F-827F-2452CA11244A}"/>
              </c:ext>
            </c:extLst>
          </c:dPt>
          <c:dPt>
            <c:idx val="1"/>
            <c:invertIfNegative val="0"/>
            <c:bubble3D val="0"/>
            <c:extLst>
              <c:ext xmlns:c16="http://schemas.microsoft.com/office/drawing/2014/chart" uri="{C3380CC4-5D6E-409C-BE32-E72D297353CC}">
                <c16:uniqueId val="{0000000A-89D5-4E4F-827F-2452CA11244A}"/>
              </c:ext>
            </c:extLst>
          </c:dPt>
          <c:dPt>
            <c:idx val="2"/>
            <c:invertIfNegative val="0"/>
            <c:bubble3D val="0"/>
            <c:extLst>
              <c:ext xmlns:c16="http://schemas.microsoft.com/office/drawing/2014/chart" uri="{C3380CC4-5D6E-409C-BE32-E72D297353CC}">
                <c16:uniqueId val="{0000000B-89D5-4E4F-827F-2452CA11244A}"/>
              </c:ext>
            </c:extLst>
          </c:dPt>
          <c:dPt>
            <c:idx val="3"/>
            <c:invertIfNegative val="0"/>
            <c:bubble3D val="0"/>
            <c:extLst>
              <c:ext xmlns:c16="http://schemas.microsoft.com/office/drawing/2014/chart" uri="{C3380CC4-5D6E-409C-BE32-E72D297353CC}">
                <c16:uniqueId val="{0000000C-89D5-4E4F-827F-2452CA11244A}"/>
              </c:ext>
            </c:extLst>
          </c:dPt>
          <c:dPt>
            <c:idx val="4"/>
            <c:invertIfNegative val="0"/>
            <c:bubble3D val="0"/>
            <c:extLst>
              <c:ext xmlns:c16="http://schemas.microsoft.com/office/drawing/2014/chart" uri="{C3380CC4-5D6E-409C-BE32-E72D297353CC}">
                <c16:uniqueId val="{0000000D-89D5-4E4F-827F-2452CA11244A}"/>
              </c:ext>
            </c:extLst>
          </c:dPt>
          <c:dPt>
            <c:idx val="5"/>
            <c:invertIfNegative val="0"/>
            <c:bubble3D val="0"/>
            <c:extLst>
              <c:ext xmlns:c16="http://schemas.microsoft.com/office/drawing/2014/chart" uri="{C3380CC4-5D6E-409C-BE32-E72D297353CC}">
                <c16:uniqueId val="{0000000E-89D5-4E4F-827F-2452CA11244A}"/>
              </c:ext>
            </c:extLst>
          </c:dPt>
          <c:dPt>
            <c:idx val="6"/>
            <c:invertIfNegative val="0"/>
            <c:bubble3D val="0"/>
            <c:extLst>
              <c:ext xmlns:c16="http://schemas.microsoft.com/office/drawing/2014/chart" uri="{C3380CC4-5D6E-409C-BE32-E72D297353CC}">
                <c16:uniqueId val="{0000000F-89D5-4E4F-827F-2452CA11244A}"/>
              </c:ext>
            </c:extLst>
          </c:dPt>
          <c:dPt>
            <c:idx val="7"/>
            <c:invertIfNegative val="0"/>
            <c:bubble3D val="0"/>
            <c:extLst>
              <c:ext xmlns:c16="http://schemas.microsoft.com/office/drawing/2014/chart" uri="{C3380CC4-5D6E-409C-BE32-E72D297353CC}">
                <c16:uniqueId val="{00000010-89D5-4E4F-827F-2452CA11244A}"/>
              </c:ext>
            </c:extLst>
          </c:dPt>
          <c:dLbls>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4FCCFF"/>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C6</c:v>
                </c:pt>
                <c:pt idx="1">
                  <c:v>C1</c:v>
                </c:pt>
                <c:pt idx="2">
                  <c:v>C7</c:v>
                </c:pt>
                <c:pt idx="3">
                  <c:v>C3</c:v>
                </c:pt>
                <c:pt idx="4">
                  <c:v>C9</c:v>
                </c:pt>
                <c:pt idx="5">
                  <c:v>C20</c:v>
                </c:pt>
                <c:pt idx="6">
                  <c:v>C22</c:v>
                </c:pt>
                <c:pt idx="7">
                  <c:v>C21</c:v>
                </c:pt>
              </c:strCache>
            </c:strRef>
          </c:cat>
          <c:val>
            <c:numRef>
              <c:f>Sheet1!$C$2:$C$9</c:f>
              <c:numCache>
                <c:formatCode>0%</c:formatCode>
                <c:ptCount val="8"/>
                <c:pt idx="0">
                  <c:v>0.35</c:v>
                </c:pt>
                <c:pt idx="1">
                  <c:v>0.57</c:v>
                </c:pt>
                <c:pt idx="2">
                  <c:v>0.46</c:v>
                </c:pt>
                <c:pt idx="3">
                  <c:v>0.45</c:v>
                </c:pt>
                <c:pt idx="4">
                  <c:v>0.52</c:v>
                </c:pt>
                <c:pt idx="5">
                  <c:v>0.5</c:v>
                </c:pt>
                <c:pt idx="6">
                  <c:v>0.44</c:v>
                </c:pt>
                <c:pt idx="7">
                  <c:v>0.44</c:v>
                </c:pt>
              </c:numCache>
            </c:numRef>
          </c:val>
          <c:extLst>
            <c:ext xmlns:c16="http://schemas.microsoft.com/office/drawing/2014/chart" uri="{C3380CC4-5D6E-409C-BE32-E72D297353CC}">
              <c16:uniqueId val="{00000011-89D5-4E4F-827F-2452CA11244A}"/>
            </c:ext>
          </c:extLst>
        </c:ser>
        <c:dLbls>
          <c:dLblPos val="outEnd"/>
          <c:showLegendKey val="0"/>
          <c:showVal val="1"/>
          <c:showCatName val="0"/>
          <c:showSerName val="0"/>
          <c:showPercent val="0"/>
          <c:showBubbleSize val="0"/>
        </c:dLbls>
        <c:gapWidth val="135"/>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0"/>
          <c:order val="0"/>
          <c:tx>
            <c:strRef>
              <c:f>Sheet1!$B$1</c:f>
              <c:strCache>
                <c:ptCount val="1"/>
                <c:pt idx="0">
                  <c:v>Mar'26 - Motivating to Prescribe - ZENPEP ME</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0368-4DDA-8407-83C640ADF114}"/>
              </c:ext>
            </c:extLst>
          </c:dPt>
          <c:dPt>
            <c:idx val="1"/>
            <c:invertIfNegative val="0"/>
            <c:bubble3D val="0"/>
            <c:extLst>
              <c:ext xmlns:c16="http://schemas.microsoft.com/office/drawing/2014/chart" uri="{C3380CC4-5D6E-409C-BE32-E72D297353CC}">
                <c16:uniqueId val="{00000001-0368-4DDA-8407-83C640ADF114}"/>
              </c:ext>
            </c:extLst>
          </c:dPt>
          <c:dPt>
            <c:idx val="2"/>
            <c:invertIfNegative val="0"/>
            <c:bubble3D val="0"/>
            <c:extLst>
              <c:ext xmlns:c16="http://schemas.microsoft.com/office/drawing/2014/chart" uri="{C3380CC4-5D6E-409C-BE32-E72D297353CC}">
                <c16:uniqueId val="{00000002-0368-4DDA-8407-83C640ADF114}"/>
              </c:ext>
            </c:extLst>
          </c:dPt>
          <c:dPt>
            <c:idx val="3"/>
            <c:invertIfNegative val="0"/>
            <c:bubble3D val="0"/>
            <c:extLst>
              <c:ext xmlns:c16="http://schemas.microsoft.com/office/drawing/2014/chart" uri="{C3380CC4-5D6E-409C-BE32-E72D297353CC}">
                <c16:uniqueId val="{00000003-0368-4DDA-8407-83C640ADF114}"/>
              </c:ext>
            </c:extLst>
          </c:dPt>
          <c:dPt>
            <c:idx val="4"/>
            <c:invertIfNegative val="0"/>
            <c:bubble3D val="0"/>
            <c:extLst>
              <c:ext xmlns:c16="http://schemas.microsoft.com/office/drawing/2014/chart" uri="{C3380CC4-5D6E-409C-BE32-E72D297353CC}">
                <c16:uniqueId val="{00000004-0368-4DDA-8407-83C640ADF114}"/>
              </c:ext>
            </c:extLst>
          </c:dPt>
          <c:dPt>
            <c:idx val="5"/>
            <c:invertIfNegative val="0"/>
            <c:bubble3D val="0"/>
            <c:extLst>
              <c:ext xmlns:c16="http://schemas.microsoft.com/office/drawing/2014/chart" uri="{C3380CC4-5D6E-409C-BE32-E72D297353CC}">
                <c16:uniqueId val="{00000005-0368-4DDA-8407-83C640ADF114}"/>
              </c:ext>
            </c:extLst>
          </c:dPt>
          <c:dPt>
            <c:idx val="6"/>
            <c:invertIfNegative val="0"/>
            <c:bubble3D val="0"/>
            <c:extLst>
              <c:ext xmlns:c16="http://schemas.microsoft.com/office/drawing/2014/chart" uri="{C3380CC4-5D6E-409C-BE32-E72D297353CC}">
                <c16:uniqueId val="{00000006-0368-4DDA-8407-83C640ADF114}"/>
              </c:ext>
            </c:extLst>
          </c:dPt>
          <c:dLbls>
            <c:dLbl>
              <c:idx val="7"/>
              <c:spPr>
                <a:noFill/>
                <a:ln>
                  <a:noFill/>
                </a:ln>
                <a:effectLst/>
              </c:spPr>
              <c:txPr>
                <a:bodyPr wrap="square" lIns="38100" tIns="19050" rIns="38100" bIns="19050" anchor="ctr">
                  <a:noAutofit/>
                </a:bodyPr>
                <a:lstStyle/>
                <a:p>
                  <a:pPr>
                    <a:defRPr sz="900">
                      <a:solidFill>
                        <a:srgbClr val="9778D4"/>
                      </a:solidFill>
                      <a:latin typeface="+mj-lt"/>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28233981481481474"/>
                      <c:h val="5.7884953703703688E-2"/>
                    </c:manualLayout>
                  </c15:layout>
                </c:ext>
                <c:ext xmlns:c16="http://schemas.microsoft.com/office/drawing/2014/chart" uri="{C3380CC4-5D6E-409C-BE32-E72D297353CC}">
                  <c16:uniqueId val="{00000007-0368-4DDA-8407-83C640ADF114}"/>
                </c:ext>
              </c:extLst>
            </c:dLbl>
            <c:spPr>
              <a:noFill/>
              <a:ln>
                <a:noFill/>
              </a:ln>
              <a:effectLst/>
            </c:spPr>
            <c:txPr>
              <a:bodyPr rot="0" spcFirstLastPara="1" vertOverflow="ellipsis" vert="horz" wrap="none" lIns="38100" tIns="19050" rIns="38100" bIns="19050" anchor="ctr" anchorCtr="0">
                <a:spAutoFit/>
              </a:bodyPr>
              <a:lstStyle/>
              <a:p>
                <a:pPr algn="ctr">
                  <a:defRPr lang="en-US" sz="900" b="0" i="0" u="none" strike="noStrike" kern="1200" baseline="0">
                    <a:solidFill>
                      <a:srgbClr val="9778D4"/>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Sheet1!$B$2:$B$15</c:f>
              <c:numCache>
                <c:formatCode>0%</c:formatCode>
                <c:ptCount val="14"/>
                <c:pt idx="0">
                  <c:v>0.71</c:v>
                </c:pt>
                <c:pt idx="1">
                  <c:v>0.64</c:v>
                </c:pt>
                <c:pt idx="2">
                  <c:v>0.68</c:v>
                </c:pt>
                <c:pt idx="3">
                  <c:v>0.71</c:v>
                </c:pt>
                <c:pt idx="4">
                  <c:v>0.54</c:v>
                </c:pt>
                <c:pt idx="5">
                  <c:v>0.66</c:v>
                </c:pt>
                <c:pt idx="6">
                  <c:v>0.56</c:v>
                </c:pt>
                <c:pt idx="7">
                  <c:v>0.55</c:v>
                </c:pt>
                <c:pt idx="8">
                  <c:v>0.49</c:v>
                </c:pt>
                <c:pt idx="9">
                  <c:v>0.51</c:v>
                </c:pt>
                <c:pt idx="10">
                  <c:v>0.43</c:v>
                </c:pt>
                <c:pt idx="11">
                  <c:v>0.52</c:v>
                </c:pt>
                <c:pt idx="12">
                  <c:v>0.53</c:v>
                </c:pt>
                <c:pt idx="13">
                  <c:v>0.52</c:v>
                </c:pt>
              </c:numCache>
            </c:numRef>
          </c:val>
          <c:extLst>
            <c:ext xmlns:c16="http://schemas.microsoft.com/office/drawing/2014/chart" uri="{C3380CC4-5D6E-409C-BE32-E72D297353CC}">
              <c16:uniqueId val="{00000008-0368-4DDA-8407-83C640ADF114}"/>
            </c:ext>
          </c:extLst>
        </c:ser>
        <c:ser>
          <c:idx val="1"/>
          <c:order val="1"/>
          <c:tx>
            <c:strRef>
              <c:f>Sheet1!$C$1</c:f>
              <c:strCache>
                <c:ptCount val="1"/>
                <c:pt idx="0">
                  <c:v>Feb'26 - Motivating to Prescribe - ZENPEP ME</c:v>
                </c:pt>
              </c:strCache>
            </c:strRef>
          </c:tx>
          <c:spPr>
            <a:solidFill>
              <a:srgbClr val="D3B0FF"/>
            </a:solidFill>
            <a:ln>
              <a:noFill/>
            </a:ln>
            <a:effectLst/>
          </c:spPr>
          <c:invertIfNegative val="0"/>
          <c:dPt>
            <c:idx val="0"/>
            <c:invertIfNegative val="0"/>
            <c:bubble3D val="0"/>
            <c:extLst>
              <c:ext xmlns:c16="http://schemas.microsoft.com/office/drawing/2014/chart" uri="{C3380CC4-5D6E-409C-BE32-E72D297353CC}">
                <c16:uniqueId val="{00000009-0368-4DDA-8407-83C640ADF114}"/>
              </c:ext>
            </c:extLst>
          </c:dPt>
          <c:dPt>
            <c:idx val="1"/>
            <c:invertIfNegative val="0"/>
            <c:bubble3D val="0"/>
            <c:extLst>
              <c:ext xmlns:c16="http://schemas.microsoft.com/office/drawing/2014/chart" uri="{C3380CC4-5D6E-409C-BE32-E72D297353CC}">
                <c16:uniqueId val="{0000000A-0368-4DDA-8407-83C640ADF114}"/>
              </c:ext>
            </c:extLst>
          </c:dPt>
          <c:dPt>
            <c:idx val="2"/>
            <c:invertIfNegative val="0"/>
            <c:bubble3D val="0"/>
            <c:extLst>
              <c:ext xmlns:c16="http://schemas.microsoft.com/office/drawing/2014/chart" uri="{C3380CC4-5D6E-409C-BE32-E72D297353CC}">
                <c16:uniqueId val="{0000000B-0368-4DDA-8407-83C640ADF114}"/>
              </c:ext>
            </c:extLst>
          </c:dPt>
          <c:dPt>
            <c:idx val="3"/>
            <c:invertIfNegative val="0"/>
            <c:bubble3D val="0"/>
            <c:extLst>
              <c:ext xmlns:c16="http://schemas.microsoft.com/office/drawing/2014/chart" uri="{C3380CC4-5D6E-409C-BE32-E72D297353CC}">
                <c16:uniqueId val="{0000000C-0368-4DDA-8407-83C640ADF114}"/>
              </c:ext>
            </c:extLst>
          </c:dPt>
          <c:dPt>
            <c:idx val="4"/>
            <c:invertIfNegative val="0"/>
            <c:bubble3D val="0"/>
            <c:extLst>
              <c:ext xmlns:c16="http://schemas.microsoft.com/office/drawing/2014/chart" uri="{C3380CC4-5D6E-409C-BE32-E72D297353CC}">
                <c16:uniqueId val="{0000000D-0368-4DDA-8407-83C640ADF114}"/>
              </c:ext>
            </c:extLst>
          </c:dPt>
          <c:dPt>
            <c:idx val="5"/>
            <c:invertIfNegative val="0"/>
            <c:bubble3D val="0"/>
            <c:extLst>
              <c:ext xmlns:c16="http://schemas.microsoft.com/office/drawing/2014/chart" uri="{C3380CC4-5D6E-409C-BE32-E72D297353CC}">
                <c16:uniqueId val="{0000000E-0368-4DDA-8407-83C640ADF114}"/>
              </c:ext>
            </c:extLst>
          </c:dPt>
          <c:dPt>
            <c:idx val="6"/>
            <c:invertIfNegative val="0"/>
            <c:bubble3D val="0"/>
            <c:extLst>
              <c:ext xmlns:c16="http://schemas.microsoft.com/office/drawing/2014/chart" uri="{C3380CC4-5D6E-409C-BE32-E72D297353CC}">
                <c16:uniqueId val="{0000000F-0368-4DDA-8407-83C640ADF114}"/>
              </c:ext>
            </c:extLst>
          </c:dPt>
          <c:dPt>
            <c:idx val="7"/>
            <c:invertIfNegative val="0"/>
            <c:bubble3D val="0"/>
            <c:extLst>
              <c:ext xmlns:c16="http://schemas.microsoft.com/office/drawing/2014/chart" uri="{C3380CC4-5D6E-409C-BE32-E72D297353CC}">
                <c16:uniqueId val="{00000010-0368-4DDA-8407-83C640ADF114}"/>
              </c:ext>
            </c:extLst>
          </c:dPt>
          <c:dLbls>
            <c:spPr>
              <a:noFill/>
              <a:ln>
                <a:noFill/>
              </a:ln>
              <a:effectLst/>
            </c:spPr>
            <c:txPr>
              <a:bodyPr rot="0" spcFirstLastPara="1" vertOverflow="ellipsis" vert="horz" wrap="none" lIns="38100" tIns="19050" rIns="38100" bIns="19050" anchor="ctr" anchorCtr="0">
                <a:spAutoFit/>
              </a:bodyPr>
              <a:lstStyle/>
              <a:p>
                <a:pPr algn="ctr">
                  <a:defRPr lang="en-US" sz="900" b="0" i="0" u="none" strike="noStrike" kern="1200" baseline="0">
                    <a:solidFill>
                      <a:srgbClr val="D3B0FF"/>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Sheet1!$C$2:$C$15</c:f>
              <c:numCache>
                <c:formatCode>0%</c:formatCode>
                <c:ptCount val="14"/>
                <c:pt idx="0">
                  <c:v>0.69</c:v>
                </c:pt>
                <c:pt idx="1">
                  <c:v>0.63</c:v>
                </c:pt>
                <c:pt idx="2">
                  <c:v>0.67</c:v>
                </c:pt>
                <c:pt idx="3">
                  <c:v>0.72</c:v>
                </c:pt>
                <c:pt idx="4">
                  <c:v>0.56</c:v>
                </c:pt>
                <c:pt idx="5">
                  <c:v>0.65</c:v>
                </c:pt>
                <c:pt idx="6">
                  <c:v>0.48</c:v>
                </c:pt>
                <c:pt idx="7">
                  <c:v>0.61</c:v>
                </c:pt>
                <c:pt idx="8">
                  <c:v>0.5</c:v>
                </c:pt>
                <c:pt idx="9">
                  <c:v>0.54</c:v>
                </c:pt>
                <c:pt idx="10">
                  <c:v>0.43</c:v>
                </c:pt>
                <c:pt idx="11">
                  <c:v>0.57</c:v>
                </c:pt>
                <c:pt idx="12">
                  <c:v>0.53</c:v>
                </c:pt>
                <c:pt idx="13">
                  <c:v>0.53</c:v>
                </c:pt>
              </c:numCache>
            </c:numRef>
          </c:val>
          <c:extLst>
            <c:ext xmlns:c16="http://schemas.microsoft.com/office/drawing/2014/chart" uri="{C3380CC4-5D6E-409C-BE32-E72D297353CC}">
              <c16:uniqueId val="{00000011-0368-4DDA-8407-83C640ADF114}"/>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1"/>
          <c:order val="0"/>
          <c:tx>
            <c:strRef>
              <c:f>Sheet1!$B$1</c:f>
              <c:strCache>
                <c:ptCount val="1"/>
                <c:pt idx="0">
                  <c:v>Mar'26 - Believable - ZENPEP ME</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BDFD-4A2F-9543-8BDFC58303AD}"/>
              </c:ext>
            </c:extLst>
          </c:dPt>
          <c:dPt>
            <c:idx val="1"/>
            <c:invertIfNegative val="0"/>
            <c:bubble3D val="0"/>
            <c:extLst>
              <c:ext xmlns:c16="http://schemas.microsoft.com/office/drawing/2014/chart" uri="{C3380CC4-5D6E-409C-BE32-E72D297353CC}">
                <c16:uniqueId val="{00000001-BDFD-4A2F-9543-8BDFC58303AD}"/>
              </c:ext>
            </c:extLst>
          </c:dPt>
          <c:dPt>
            <c:idx val="2"/>
            <c:invertIfNegative val="0"/>
            <c:bubble3D val="0"/>
            <c:extLst>
              <c:ext xmlns:c16="http://schemas.microsoft.com/office/drawing/2014/chart" uri="{C3380CC4-5D6E-409C-BE32-E72D297353CC}">
                <c16:uniqueId val="{00000002-BDFD-4A2F-9543-8BDFC58303AD}"/>
              </c:ext>
            </c:extLst>
          </c:dPt>
          <c:dPt>
            <c:idx val="3"/>
            <c:invertIfNegative val="0"/>
            <c:bubble3D val="0"/>
            <c:extLst>
              <c:ext xmlns:c16="http://schemas.microsoft.com/office/drawing/2014/chart" uri="{C3380CC4-5D6E-409C-BE32-E72D297353CC}">
                <c16:uniqueId val="{00000003-BDFD-4A2F-9543-8BDFC58303AD}"/>
              </c:ext>
            </c:extLst>
          </c:dPt>
          <c:dPt>
            <c:idx val="4"/>
            <c:invertIfNegative val="0"/>
            <c:bubble3D val="0"/>
            <c:extLst>
              <c:ext xmlns:c16="http://schemas.microsoft.com/office/drawing/2014/chart" uri="{C3380CC4-5D6E-409C-BE32-E72D297353CC}">
                <c16:uniqueId val="{00000004-BDFD-4A2F-9543-8BDFC58303AD}"/>
              </c:ext>
            </c:extLst>
          </c:dPt>
          <c:dPt>
            <c:idx val="5"/>
            <c:invertIfNegative val="0"/>
            <c:bubble3D val="0"/>
            <c:extLst>
              <c:ext xmlns:c16="http://schemas.microsoft.com/office/drawing/2014/chart" uri="{C3380CC4-5D6E-409C-BE32-E72D297353CC}">
                <c16:uniqueId val="{00000005-BDFD-4A2F-9543-8BDFC58303AD}"/>
              </c:ext>
            </c:extLst>
          </c:dPt>
          <c:dPt>
            <c:idx val="6"/>
            <c:invertIfNegative val="0"/>
            <c:bubble3D val="0"/>
            <c:extLst>
              <c:ext xmlns:c16="http://schemas.microsoft.com/office/drawing/2014/chart" uri="{C3380CC4-5D6E-409C-BE32-E72D297353CC}">
                <c16:uniqueId val="{00000006-BDFD-4A2F-9543-8BDFC58303AD}"/>
              </c:ext>
            </c:extLst>
          </c:dPt>
          <c:dPt>
            <c:idx val="7"/>
            <c:invertIfNegative val="0"/>
            <c:bubble3D val="0"/>
            <c:extLst>
              <c:ext xmlns:c16="http://schemas.microsoft.com/office/drawing/2014/chart" uri="{C3380CC4-5D6E-409C-BE32-E72D297353CC}">
                <c16:uniqueId val="{00000007-BDFD-4A2F-9543-8BDFC58303AD}"/>
              </c:ext>
            </c:extLst>
          </c:dPt>
          <c:dLbls>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9778D4"/>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Sheet1!$B$2:$B$15</c:f>
              <c:numCache>
                <c:formatCode>0%</c:formatCode>
                <c:ptCount val="14"/>
                <c:pt idx="0">
                  <c:v>0.43</c:v>
                </c:pt>
                <c:pt idx="1">
                  <c:v>0.68</c:v>
                </c:pt>
                <c:pt idx="2">
                  <c:v>0.65</c:v>
                </c:pt>
                <c:pt idx="3">
                  <c:v>0.74</c:v>
                </c:pt>
                <c:pt idx="4">
                  <c:v>0.61</c:v>
                </c:pt>
                <c:pt idx="5">
                  <c:v>0.68</c:v>
                </c:pt>
                <c:pt idx="6">
                  <c:v>0.54</c:v>
                </c:pt>
                <c:pt idx="7">
                  <c:v>0.67</c:v>
                </c:pt>
                <c:pt idx="8">
                  <c:v>0.56</c:v>
                </c:pt>
                <c:pt idx="9">
                  <c:v>0.6</c:v>
                </c:pt>
                <c:pt idx="10">
                  <c:v>0.46</c:v>
                </c:pt>
                <c:pt idx="11">
                  <c:v>0.37</c:v>
                </c:pt>
                <c:pt idx="12">
                  <c:v>0.66</c:v>
                </c:pt>
                <c:pt idx="13">
                  <c:v>0.59</c:v>
                </c:pt>
              </c:numCache>
            </c:numRef>
          </c:val>
          <c:extLst>
            <c:ext xmlns:c16="http://schemas.microsoft.com/office/drawing/2014/chart" uri="{C3380CC4-5D6E-409C-BE32-E72D297353CC}">
              <c16:uniqueId val="{00000008-BDFD-4A2F-9543-8BDFC58303AD}"/>
            </c:ext>
          </c:extLst>
        </c:ser>
        <c:ser>
          <c:idx val="0"/>
          <c:order val="1"/>
          <c:tx>
            <c:strRef>
              <c:f>Sheet1!$C$1</c:f>
              <c:strCache>
                <c:ptCount val="1"/>
                <c:pt idx="0">
                  <c:v>Feb'26 - Believable - ZENPEP ME</c:v>
                </c:pt>
              </c:strCache>
            </c:strRef>
          </c:tx>
          <c:spPr>
            <a:solidFill>
              <a:srgbClr val="D3B0FF"/>
            </a:solidFill>
            <a:ln>
              <a:noFill/>
            </a:ln>
            <a:effectLst/>
          </c:spPr>
          <c:invertIfNegative val="0"/>
          <c:dPt>
            <c:idx val="0"/>
            <c:invertIfNegative val="0"/>
            <c:bubble3D val="0"/>
            <c:extLst>
              <c:ext xmlns:c16="http://schemas.microsoft.com/office/drawing/2014/chart" uri="{C3380CC4-5D6E-409C-BE32-E72D297353CC}">
                <c16:uniqueId val="{00000009-BDFD-4A2F-9543-8BDFC58303AD}"/>
              </c:ext>
            </c:extLst>
          </c:dPt>
          <c:dPt>
            <c:idx val="1"/>
            <c:invertIfNegative val="0"/>
            <c:bubble3D val="0"/>
            <c:extLst>
              <c:ext xmlns:c16="http://schemas.microsoft.com/office/drawing/2014/chart" uri="{C3380CC4-5D6E-409C-BE32-E72D297353CC}">
                <c16:uniqueId val="{0000000A-BDFD-4A2F-9543-8BDFC58303AD}"/>
              </c:ext>
            </c:extLst>
          </c:dPt>
          <c:dPt>
            <c:idx val="2"/>
            <c:invertIfNegative val="0"/>
            <c:bubble3D val="0"/>
            <c:extLst>
              <c:ext xmlns:c16="http://schemas.microsoft.com/office/drawing/2014/chart" uri="{C3380CC4-5D6E-409C-BE32-E72D297353CC}">
                <c16:uniqueId val="{0000000B-BDFD-4A2F-9543-8BDFC58303AD}"/>
              </c:ext>
            </c:extLst>
          </c:dPt>
          <c:dPt>
            <c:idx val="3"/>
            <c:invertIfNegative val="0"/>
            <c:bubble3D val="0"/>
            <c:extLst>
              <c:ext xmlns:c16="http://schemas.microsoft.com/office/drawing/2014/chart" uri="{C3380CC4-5D6E-409C-BE32-E72D297353CC}">
                <c16:uniqueId val="{0000000C-BDFD-4A2F-9543-8BDFC58303AD}"/>
              </c:ext>
            </c:extLst>
          </c:dPt>
          <c:dPt>
            <c:idx val="4"/>
            <c:invertIfNegative val="0"/>
            <c:bubble3D val="0"/>
            <c:extLst>
              <c:ext xmlns:c16="http://schemas.microsoft.com/office/drawing/2014/chart" uri="{C3380CC4-5D6E-409C-BE32-E72D297353CC}">
                <c16:uniqueId val="{0000000D-BDFD-4A2F-9543-8BDFC58303AD}"/>
              </c:ext>
            </c:extLst>
          </c:dPt>
          <c:dPt>
            <c:idx val="5"/>
            <c:invertIfNegative val="0"/>
            <c:bubble3D val="0"/>
            <c:extLst>
              <c:ext xmlns:c16="http://schemas.microsoft.com/office/drawing/2014/chart" uri="{C3380CC4-5D6E-409C-BE32-E72D297353CC}">
                <c16:uniqueId val="{0000000E-BDFD-4A2F-9543-8BDFC58303AD}"/>
              </c:ext>
            </c:extLst>
          </c:dPt>
          <c:dPt>
            <c:idx val="6"/>
            <c:invertIfNegative val="0"/>
            <c:bubble3D val="0"/>
            <c:extLst>
              <c:ext xmlns:c16="http://schemas.microsoft.com/office/drawing/2014/chart" uri="{C3380CC4-5D6E-409C-BE32-E72D297353CC}">
                <c16:uniqueId val="{0000000F-BDFD-4A2F-9543-8BDFC58303AD}"/>
              </c:ext>
            </c:extLst>
          </c:dPt>
          <c:dLbls>
            <c:dLbl>
              <c:idx val="7"/>
              <c:layout>
                <c:manualLayout>
                  <c:x val="-4.1074447261888872E-2"/>
                  <c:y val="9.341280256634588E-5"/>
                </c:manualLayout>
              </c:layout>
              <c:tx>
                <c:rich>
                  <a:bodyPr rot="0" spcFirstLastPara="1" vertOverflow="ellipsis" vert="horz" wrap="none" lIns="38100" tIns="19050" rIns="38100" bIns="19050" anchor="ctr" anchorCtr="1">
                    <a:noAutofit/>
                  </a:bodyPr>
                  <a:lstStyle/>
                  <a:p>
                    <a:pPr>
                      <a:defRPr lang="en-US" sz="900" b="0" i="0" u="none" strike="noStrike" kern="1200" baseline="0">
                        <a:solidFill>
                          <a:srgbClr val="D3B0FF"/>
                        </a:solidFill>
                        <a:latin typeface="Arial (Headings)"/>
                        <a:ea typeface="+mn-ea"/>
                        <a:cs typeface="Arial" panose="020B0604020202020204" pitchFamily="34" charset="0"/>
                      </a:defRPr>
                    </a:pPr>
                    <a:fld id="{021ADBE4-841C-4C0A-9524-2FFC5466239E}" type="VALUE">
                      <a:rPr lang="en-US" sz="900" b="0" i="0" u="none" strike="noStrike" kern="1200" baseline="0">
                        <a:solidFill>
                          <a:srgbClr val="D3B0FF"/>
                        </a:solidFill>
                        <a:latin typeface="Arial (Headings)"/>
                        <a:ea typeface="+mn-ea"/>
                        <a:cs typeface="Arial" panose="020B0604020202020204" pitchFamily="34" charset="0"/>
                      </a:rPr>
                      <a:pPr>
                        <a:defRPr lang="en-US" sz="900">
                          <a:solidFill>
                            <a:srgbClr val="D3B0FF"/>
                          </a:solidFill>
                          <a:latin typeface="Arial (Headings)"/>
                          <a:cs typeface="Arial" panose="020B0604020202020204" pitchFamily="34" charset="0"/>
                        </a:defRPr>
                      </a:pPr>
                      <a:t>[VALUE]</a:t>
                    </a:fld>
                    <a:endParaRPr lang="en-US"/>
                  </a:p>
                </c:rich>
              </c:tx>
              <c:spPr>
                <a:noFill/>
                <a:ln>
                  <a:noFill/>
                </a:ln>
                <a:effectLst/>
              </c:spPr>
              <c:txPr>
                <a:bodyPr rot="0" spcFirstLastPara="1" vertOverflow="ellipsis" vert="horz" wrap="none" lIns="38100" tIns="19050" rIns="38100" bIns="19050" anchor="ctr" anchorCtr="1">
                  <a:noAutofit/>
                </a:bodyPr>
                <a:lstStyle/>
                <a:p>
                  <a:pPr>
                    <a:defRPr lang="en-US" sz="900" b="0" i="0" u="none" strike="noStrike" kern="1200" baseline="0">
                      <a:solidFill>
                        <a:srgbClr val="D3B0FF"/>
                      </a:solidFill>
                      <a:latin typeface="Arial (Headings)"/>
                      <a:ea typeface="+mn-ea"/>
                      <a:cs typeface="Arial" panose="020B0604020202020204" pitchFamily="34" charset="0"/>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28133016741551375"/>
                      <c:h val="4.2217118693496647E-2"/>
                    </c:manualLayout>
                  </c15:layout>
                  <c15:dlblFieldTable/>
                  <c15:showDataLabelsRange val="0"/>
                </c:ext>
                <c:ext xmlns:c16="http://schemas.microsoft.com/office/drawing/2014/chart" uri="{C3380CC4-5D6E-409C-BE32-E72D297353CC}">
                  <c16:uniqueId val="{00000010-BDFD-4A2F-9543-8BDFC58303AD}"/>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D3B0FF"/>
                    </a:solidFill>
                    <a:latin typeface="Arial (Headings)"/>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Sheet1!$C$2:$C$15</c:f>
              <c:numCache>
                <c:formatCode>0%</c:formatCode>
                <c:ptCount val="14"/>
                <c:pt idx="0">
                  <c:v>0.39</c:v>
                </c:pt>
                <c:pt idx="1">
                  <c:v>0.61</c:v>
                </c:pt>
                <c:pt idx="2">
                  <c:v>0.62</c:v>
                </c:pt>
                <c:pt idx="3">
                  <c:v>0.69</c:v>
                </c:pt>
                <c:pt idx="4">
                  <c:v>0.58</c:v>
                </c:pt>
                <c:pt idx="5">
                  <c:v>0.63</c:v>
                </c:pt>
                <c:pt idx="6">
                  <c:v>0.48</c:v>
                </c:pt>
                <c:pt idx="7">
                  <c:v>0.65</c:v>
                </c:pt>
                <c:pt idx="8">
                  <c:v>0.48</c:v>
                </c:pt>
                <c:pt idx="9">
                  <c:v>0.61</c:v>
                </c:pt>
                <c:pt idx="10">
                  <c:v>0.53</c:v>
                </c:pt>
                <c:pt idx="11">
                  <c:v>0.37</c:v>
                </c:pt>
                <c:pt idx="12">
                  <c:v>0.61</c:v>
                </c:pt>
                <c:pt idx="13">
                  <c:v>0.54</c:v>
                </c:pt>
              </c:numCache>
            </c:numRef>
          </c:val>
          <c:extLst>
            <c:ext xmlns:c16="http://schemas.microsoft.com/office/drawing/2014/chart" uri="{C3380CC4-5D6E-409C-BE32-E72D297353CC}">
              <c16:uniqueId val="{00000011-BDFD-4A2F-9543-8BDFC58303AD}"/>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2754106909444023"/>
          <c:h val="1"/>
        </c:manualLayout>
      </c:layout>
      <c:barChart>
        <c:barDir val="bar"/>
        <c:grouping val="clustered"/>
        <c:varyColors val="0"/>
        <c:ser>
          <c:idx val="0"/>
          <c:order val="0"/>
          <c:tx>
            <c:strRef>
              <c:f>Sheet1!$B$1</c:f>
              <c:strCache>
                <c:ptCount val="1"/>
                <c:pt idx="0">
                  <c:v>Mar'26 - Differentiated - ZENPEP ME</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BD04-49DC-872E-3DC0E1E6A591}"/>
              </c:ext>
            </c:extLst>
          </c:dPt>
          <c:dPt>
            <c:idx val="1"/>
            <c:invertIfNegative val="0"/>
            <c:bubble3D val="0"/>
            <c:extLst>
              <c:ext xmlns:c16="http://schemas.microsoft.com/office/drawing/2014/chart" uri="{C3380CC4-5D6E-409C-BE32-E72D297353CC}">
                <c16:uniqueId val="{00000001-BD04-49DC-872E-3DC0E1E6A591}"/>
              </c:ext>
            </c:extLst>
          </c:dPt>
          <c:dPt>
            <c:idx val="2"/>
            <c:invertIfNegative val="0"/>
            <c:bubble3D val="0"/>
            <c:extLst>
              <c:ext xmlns:c16="http://schemas.microsoft.com/office/drawing/2014/chart" uri="{C3380CC4-5D6E-409C-BE32-E72D297353CC}">
                <c16:uniqueId val="{00000002-BD04-49DC-872E-3DC0E1E6A591}"/>
              </c:ext>
            </c:extLst>
          </c:dPt>
          <c:dPt>
            <c:idx val="3"/>
            <c:invertIfNegative val="0"/>
            <c:bubble3D val="0"/>
            <c:extLst>
              <c:ext xmlns:c16="http://schemas.microsoft.com/office/drawing/2014/chart" uri="{C3380CC4-5D6E-409C-BE32-E72D297353CC}">
                <c16:uniqueId val="{00000003-BD04-49DC-872E-3DC0E1E6A591}"/>
              </c:ext>
            </c:extLst>
          </c:dPt>
          <c:dPt>
            <c:idx val="4"/>
            <c:invertIfNegative val="0"/>
            <c:bubble3D val="0"/>
            <c:extLst>
              <c:ext xmlns:c16="http://schemas.microsoft.com/office/drawing/2014/chart" uri="{C3380CC4-5D6E-409C-BE32-E72D297353CC}">
                <c16:uniqueId val="{00000004-BD04-49DC-872E-3DC0E1E6A591}"/>
              </c:ext>
            </c:extLst>
          </c:dPt>
          <c:dPt>
            <c:idx val="5"/>
            <c:invertIfNegative val="0"/>
            <c:bubble3D val="0"/>
            <c:extLst>
              <c:ext xmlns:c16="http://schemas.microsoft.com/office/drawing/2014/chart" uri="{C3380CC4-5D6E-409C-BE32-E72D297353CC}">
                <c16:uniqueId val="{00000005-BD04-49DC-872E-3DC0E1E6A591}"/>
              </c:ext>
            </c:extLst>
          </c:dPt>
          <c:dPt>
            <c:idx val="6"/>
            <c:invertIfNegative val="0"/>
            <c:bubble3D val="0"/>
            <c:extLst>
              <c:ext xmlns:c16="http://schemas.microsoft.com/office/drawing/2014/chart" uri="{C3380CC4-5D6E-409C-BE32-E72D297353CC}">
                <c16:uniqueId val="{00000006-BD04-49DC-872E-3DC0E1E6A591}"/>
              </c:ext>
            </c:extLst>
          </c:dPt>
          <c:dLbls>
            <c:dLbl>
              <c:idx val="7"/>
              <c:spPr>
                <a:noFill/>
                <a:ln>
                  <a:noFill/>
                </a:ln>
                <a:effectLst/>
              </c:spPr>
              <c:txPr>
                <a:bodyPr rot="0" spcFirstLastPara="1" vertOverflow="ellipsis" vert="horz" wrap="square" lIns="38100" tIns="19050" rIns="38100" bIns="19050" anchor="ctr" anchorCtr="1">
                  <a:noAutofit/>
                </a:bodyPr>
                <a:lstStyle/>
                <a:p>
                  <a:pPr>
                    <a:defRPr sz="900" b="0" i="0" u="none" strike="noStrike" kern="1200" baseline="0">
                      <a:solidFill>
                        <a:srgbClr val="9778D4"/>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29409907407407404"/>
                      <c:h val="6.3764583333333319E-2"/>
                    </c:manualLayout>
                  </c15:layout>
                </c:ext>
                <c:ext xmlns:c16="http://schemas.microsoft.com/office/drawing/2014/chart" uri="{C3380CC4-5D6E-409C-BE32-E72D297353CC}">
                  <c16:uniqueId val="{00000007-BD04-49DC-872E-3DC0E1E6A591}"/>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9778D4"/>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Sheet1!$B$2:$B$15</c:f>
              <c:numCache>
                <c:formatCode>0%</c:formatCode>
                <c:ptCount val="14"/>
                <c:pt idx="0">
                  <c:v>0.63</c:v>
                </c:pt>
                <c:pt idx="1">
                  <c:v>0.65</c:v>
                </c:pt>
                <c:pt idx="2">
                  <c:v>0.67</c:v>
                </c:pt>
                <c:pt idx="3">
                  <c:v>0.77</c:v>
                </c:pt>
                <c:pt idx="4">
                  <c:v>0.44</c:v>
                </c:pt>
                <c:pt idx="5">
                  <c:v>0.66</c:v>
                </c:pt>
                <c:pt idx="6">
                  <c:v>0.54</c:v>
                </c:pt>
                <c:pt idx="7">
                  <c:v>0.38</c:v>
                </c:pt>
                <c:pt idx="8">
                  <c:v>0.49</c:v>
                </c:pt>
                <c:pt idx="9">
                  <c:v>0.4</c:v>
                </c:pt>
                <c:pt idx="10">
                  <c:v>0.49</c:v>
                </c:pt>
                <c:pt idx="11">
                  <c:v>0.49</c:v>
                </c:pt>
                <c:pt idx="12">
                  <c:v>0.55</c:v>
                </c:pt>
                <c:pt idx="13">
                  <c:v>0.45</c:v>
                </c:pt>
              </c:numCache>
            </c:numRef>
          </c:val>
          <c:extLst>
            <c:ext xmlns:c16="http://schemas.microsoft.com/office/drawing/2014/chart" uri="{C3380CC4-5D6E-409C-BE32-E72D297353CC}">
              <c16:uniqueId val="{00000008-BD04-49DC-872E-3DC0E1E6A591}"/>
            </c:ext>
          </c:extLst>
        </c:ser>
        <c:ser>
          <c:idx val="1"/>
          <c:order val="1"/>
          <c:tx>
            <c:strRef>
              <c:f>Sheet1!$C$1</c:f>
              <c:strCache>
                <c:ptCount val="1"/>
                <c:pt idx="0">
                  <c:v>Feb'26 - Differentiated - ZENPEP ME</c:v>
                </c:pt>
              </c:strCache>
            </c:strRef>
          </c:tx>
          <c:spPr>
            <a:solidFill>
              <a:srgbClr val="D3B0FF"/>
            </a:solidFill>
            <a:ln>
              <a:noFill/>
            </a:ln>
            <a:effectLst/>
          </c:spPr>
          <c:invertIfNegative val="0"/>
          <c:dPt>
            <c:idx val="0"/>
            <c:invertIfNegative val="0"/>
            <c:bubble3D val="0"/>
            <c:extLst>
              <c:ext xmlns:c16="http://schemas.microsoft.com/office/drawing/2014/chart" uri="{C3380CC4-5D6E-409C-BE32-E72D297353CC}">
                <c16:uniqueId val="{00000009-BD04-49DC-872E-3DC0E1E6A591}"/>
              </c:ext>
            </c:extLst>
          </c:dPt>
          <c:dPt>
            <c:idx val="1"/>
            <c:invertIfNegative val="0"/>
            <c:bubble3D val="0"/>
            <c:extLst>
              <c:ext xmlns:c16="http://schemas.microsoft.com/office/drawing/2014/chart" uri="{C3380CC4-5D6E-409C-BE32-E72D297353CC}">
                <c16:uniqueId val="{0000000A-BD04-49DC-872E-3DC0E1E6A591}"/>
              </c:ext>
            </c:extLst>
          </c:dPt>
          <c:dPt>
            <c:idx val="2"/>
            <c:invertIfNegative val="0"/>
            <c:bubble3D val="0"/>
            <c:extLst>
              <c:ext xmlns:c16="http://schemas.microsoft.com/office/drawing/2014/chart" uri="{C3380CC4-5D6E-409C-BE32-E72D297353CC}">
                <c16:uniqueId val="{0000000B-BD04-49DC-872E-3DC0E1E6A591}"/>
              </c:ext>
            </c:extLst>
          </c:dPt>
          <c:dPt>
            <c:idx val="3"/>
            <c:invertIfNegative val="0"/>
            <c:bubble3D val="0"/>
            <c:extLst>
              <c:ext xmlns:c16="http://schemas.microsoft.com/office/drawing/2014/chart" uri="{C3380CC4-5D6E-409C-BE32-E72D297353CC}">
                <c16:uniqueId val="{0000000C-BD04-49DC-872E-3DC0E1E6A591}"/>
              </c:ext>
            </c:extLst>
          </c:dPt>
          <c:dPt>
            <c:idx val="4"/>
            <c:invertIfNegative val="0"/>
            <c:bubble3D val="0"/>
            <c:extLst>
              <c:ext xmlns:c16="http://schemas.microsoft.com/office/drawing/2014/chart" uri="{C3380CC4-5D6E-409C-BE32-E72D297353CC}">
                <c16:uniqueId val="{0000000D-BD04-49DC-872E-3DC0E1E6A591}"/>
              </c:ext>
            </c:extLst>
          </c:dPt>
          <c:dPt>
            <c:idx val="5"/>
            <c:invertIfNegative val="0"/>
            <c:bubble3D val="0"/>
            <c:extLst>
              <c:ext xmlns:c16="http://schemas.microsoft.com/office/drawing/2014/chart" uri="{C3380CC4-5D6E-409C-BE32-E72D297353CC}">
                <c16:uniqueId val="{0000000E-BD04-49DC-872E-3DC0E1E6A591}"/>
              </c:ext>
            </c:extLst>
          </c:dPt>
          <c:dPt>
            <c:idx val="6"/>
            <c:invertIfNegative val="0"/>
            <c:bubble3D val="0"/>
            <c:extLst>
              <c:ext xmlns:c16="http://schemas.microsoft.com/office/drawing/2014/chart" uri="{C3380CC4-5D6E-409C-BE32-E72D297353CC}">
                <c16:uniqueId val="{0000000F-BD04-49DC-872E-3DC0E1E6A591}"/>
              </c:ext>
            </c:extLst>
          </c:dPt>
          <c:dPt>
            <c:idx val="7"/>
            <c:invertIfNegative val="0"/>
            <c:bubble3D val="0"/>
            <c:extLst>
              <c:ext xmlns:c16="http://schemas.microsoft.com/office/drawing/2014/chart" uri="{C3380CC4-5D6E-409C-BE32-E72D297353CC}">
                <c16:uniqueId val="{00000010-BD04-49DC-872E-3DC0E1E6A591}"/>
              </c:ext>
            </c:extLst>
          </c:dPt>
          <c:dLbls>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D3B0FF"/>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Sheet1!$C$2:$C$15</c:f>
              <c:numCache>
                <c:formatCode>0%</c:formatCode>
                <c:ptCount val="14"/>
                <c:pt idx="0">
                  <c:v>0.56</c:v>
                </c:pt>
                <c:pt idx="1">
                  <c:v>0.66</c:v>
                </c:pt>
                <c:pt idx="2">
                  <c:v>0.63</c:v>
                </c:pt>
                <c:pt idx="3">
                  <c:v>0.75</c:v>
                </c:pt>
                <c:pt idx="4">
                  <c:v>0.5</c:v>
                </c:pt>
                <c:pt idx="5">
                  <c:v>0.63</c:v>
                </c:pt>
                <c:pt idx="6">
                  <c:v>0.5</c:v>
                </c:pt>
                <c:pt idx="7">
                  <c:v>0.39</c:v>
                </c:pt>
                <c:pt idx="8">
                  <c:v>0.48</c:v>
                </c:pt>
                <c:pt idx="9">
                  <c:v>0.39</c:v>
                </c:pt>
                <c:pt idx="10">
                  <c:v>0.49</c:v>
                </c:pt>
                <c:pt idx="11">
                  <c:v>0.49</c:v>
                </c:pt>
                <c:pt idx="12">
                  <c:v>0.57</c:v>
                </c:pt>
                <c:pt idx="13">
                  <c:v>0.48</c:v>
                </c:pt>
              </c:numCache>
            </c:numRef>
          </c:val>
          <c:extLst>
            <c:ext xmlns:c16="http://schemas.microsoft.com/office/drawing/2014/chart" uri="{C3380CC4-5D6E-409C-BE32-E72D297353CC}">
              <c16:uniqueId val="{00000011-BD04-49DC-872E-3DC0E1E6A591}"/>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9809629629629626"/>
          <c:h val="1"/>
        </c:manualLayout>
      </c:layout>
      <c:barChart>
        <c:barDir val="bar"/>
        <c:grouping val="clustered"/>
        <c:varyColors val="0"/>
        <c:ser>
          <c:idx val="0"/>
          <c:order val="0"/>
          <c:tx>
            <c:strRef>
              <c:f>Sheet1!$B$1</c:f>
              <c:strCache>
                <c:ptCount val="1"/>
                <c:pt idx="0">
                  <c:v>Mar'26 - ZENPEP ME - Average of me_score</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661E-4A8A-9AA7-374132DDB5A5}"/>
              </c:ext>
            </c:extLst>
          </c:dPt>
          <c:dPt>
            <c:idx val="1"/>
            <c:invertIfNegative val="0"/>
            <c:bubble3D val="0"/>
            <c:extLst>
              <c:ext xmlns:c16="http://schemas.microsoft.com/office/drawing/2014/chart" uri="{C3380CC4-5D6E-409C-BE32-E72D297353CC}">
                <c16:uniqueId val="{00000001-661E-4A8A-9AA7-374132DDB5A5}"/>
              </c:ext>
            </c:extLst>
          </c:dPt>
          <c:dPt>
            <c:idx val="2"/>
            <c:invertIfNegative val="0"/>
            <c:bubble3D val="0"/>
            <c:extLst>
              <c:ext xmlns:c16="http://schemas.microsoft.com/office/drawing/2014/chart" uri="{C3380CC4-5D6E-409C-BE32-E72D297353CC}">
                <c16:uniqueId val="{00000002-661E-4A8A-9AA7-374132DDB5A5}"/>
              </c:ext>
            </c:extLst>
          </c:dPt>
          <c:dPt>
            <c:idx val="3"/>
            <c:invertIfNegative val="0"/>
            <c:bubble3D val="0"/>
            <c:extLst>
              <c:ext xmlns:c16="http://schemas.microsoft.com/office/drawing/2014/chart" uri="{C3380CC4-5D6E-409C-BE32-E72D297353CC}">
                <c16:uniqueId val="{00000003-661E-4A8A-9AA7-374132DDB5A5}"/>
              </c:ext>
            </c:extLst>
          </c:dPt>
          <c:dPt>
            <c:idx val="4"/>
            <c:invertIfNegative val="0"/>
            <c:bubble3D val="0"/>
            <c:extLst>
              <c:ext xmlns:c16="http://schemas.microsoft.com/office/drawing/2014/chart" uri="{C3380CC4-5D6E-409C-BE32-E72D297353CC}">
                <c16:uniqueId val="{00000004-661E-4A8A-9AA7-374132DDB5A5}"/>
              </c:ext>
            </c:extLst>
          </c:dPt>
          <c:dPt>
            <c:idx val="5"/>
            <c:invertIfNegative val="0"/>
            <c:bubble3D val="0"/>
            <c:extLst>
              <c:ext xmlns:c16="http://schemas.microsoft.com/office/drawing/2014/chart" uri="{C3380CC4-5D6E-409C-BE32-E72D297353CC}">
                <c16:uniqueId val="{00000005-661E-4A8A-9AA7-374132DDB5A5}"/>
              </c:ext>
            </c:extLst>
          </c:dPt>
          <c:dPt>
            <c:idx val="6"/>
            <c:invertIfNegative val="0"/>
            <c:bubble3D val="0"/>
            <c:extLst>
              <c:ext xmlns:c16="http://schemas.microsoft.com/office/drawing/2014/chart" uri="{C3380CC4-5D6E-409C-BE32-E72D297353CC}">
                <c16:uniqueId val="{00000006-661E-4A8A-9AA7-374132DDB5A5}"/>
              </c:ext>
            </c:extLst>
          </c:dPt>
          <c:dLbls>
            <c:dLbl>
              <c:idx val="7"/>
              <c:layout>
                <c:manualLayout>
                  <c:x val="-3.5277777777777776E-2"/>
                  <c:y val="-1.1295031880227482E-7"/>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Source Sans Pro" panose="020B0503030403020204" pitchFamily="34" charset="0"/>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31679444444444443"/>
                      <c:h val="8.2726388888888891E-2"/>
                    </c:manualLayout>
                  </c15:layout>
                </c:ext>
                <c:ext xmlns:c16="http://schemas.microsoft.com/office/drawing/2014/chart" uri="{C3380CC4-5D6E-409C-BE32-E72D297353CC}">
                  <c16:uniqueId val="{00000007-661E-4A8A-9AA7-374132DDB5A5}"/>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9778D4"/>
                    </a:solidFill>
                    <a:latin typeface="+mj-lt"/>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Sheet1!$B$2:$B$15</c:f>
              <c:numCache>
                <c:formatCode>0%</c:formatCode>
                <c:ptCount val="14"/>
                <c:pt idx="0">
                  <c:v>0.58</c:v>
                </c:pt>
                <c:pt idx="1">
                  <c:v>0.66</c:v>
                </c:pt>
                <c:pt idx="2">
                  <c:v>0.67</c:v>
                </c:pt>
                <c:pt idx="3">
                  <c:v>0.74</c:v>
                </c:pt>
                <c:pt idx="4">
                  <c:v>0.52</c:v>
                </c:pt>
                <c:pt idx="5">
                  <c:v>0.67</c:v>
                </c:pt>
                <c:pt idx="6">
                  <c:v>0.55</c:v>
                </c:pt>
                <c:pt idx="7">
                  <c:v>0.52</c:v>
                </c:pt>
                <c:pt idx="8">
                  <c:v>0.52</c:v>
                </c:pt>
                <c:pt idx="9">
                  <c:v>0.49</c:v>
                </c:pt>
                <c:pt idx="10">
                  <c:v>0.46</c:v>
                </c:pt>
                <c:pt idx="11">
                  <c:v>0.46</c:v>
                </c:pt>
                <c:pt idx="12">
                  <c:v>0.58</c:v>
                </c:pt>
                <c:pt idx="13">
                  <c:v>0.52</c:v>
                </c:pt>
              </c:numCache>
            </c:numRef>
          </c:val>
          <c:extLst>
            <c:ext xmlns:c16="http://schemas.microsoft.com/office/drawing/2014/chart" uri="{C3380CC4-5D6E-409C-BE32-E72D297353CC}">
              <c16:uniqueId val="{00000008-661E-4A8A-9AA7-374132DDB5A5}"/>
            </c:ext>
          </c:extLst>
        </c:ser>
        <c:ser>
          <c:idx val="1"/>
          <c:order val="1"/>
          <c:tx>
            <c:strRef>
              <c:f>Sheet1!$C$1</c:f>
              <c:strCache>
                <c:ptCount val="1"/>
                <c:pt idx="0">
                  <c:v>Feb'26 - ZENPEP ME - Average of me_score</c:v>
                </c:pt>
              </c:strCache>
            </c:strRef>
          </c:tx>
          <c:spPr>
            <a:solidFill>
              <a:srgbClr val="D3B0FF"/>
            </a:solidFill>
            <a:ln>
              <a:noFill/>
            </a:ln>
            <a:effectLst/>
          </c:spPr>
          <c:invertIfNegative val="0"/>
          <c:dPt>
            <c:idx val="0"/>
            <c:invertIfNegative val="0"/>
            <c:bubble3D val="0"/>
            <c:extLst>
              <c:ext xmlns:c16="http://schemas.microsoft.com/office/drawing/2014/chart" uri="{C3380CC4-5D6E-409C-BE32-E72D297353CC}">
                <c16:uniqueId val="{00000009-661E-4A8A-9AA7-374132DDB5A5}"/>
              </c:ext>
            </c:extLst>
          </c:dPt>
          <c:dPt>
            <c:idx val="1"/>
            <c:invertIfNegative val="0"/>
            <c:bubble3D val="0"/>
            <c:extLst>
              <c:ext xmlns:c16="http://schemas.microsoft.com/office/drawing/2014/chart" uri="{C3380CC4-5D6E-409C-BE32-E72D297353CC}">
                <c16:uniqueId val="{0000000A-661E-4A8A-9AA7-374132DDB5A5}"/>
              </c:ext>
            </c:extLst>
          </c:dPt>
          <c:dPt>
            <c:idx val="2"/>
            <c:invertIfNegative val="0"/>
            <c:bubble3D val="0"/>
            <c:extLst>
              <c:ext xmlns:c16="http://schemas.microsoft.com/office/drawing/2014/chart" uri="{C3380CC4-5D6E-409C-BE32-E72D297353CC}">
                <c16:uniqueId val="{0000000B-661E-4A8A-9AA7-374132DDB5A5}"/>
              </c:ext>
            </c:extLst>
          </c:dPt>
          <c:dPt>
            <c:idx val="3"/>
            <c:invertIfNegative val="0"/>
            <c:bubble3D val="0"/>
            <c:extLst>
              <c:ext xmlns:c16="http://schemas.microsoft.com/office/drawing/2014/chart" uri="{C3380CC4-5D6E-409C-BE32-E72D297353CC}">
                <c16:uniqueId val="{0000000C-661E-4A8A-9AA7-374132DDB5A5}"/>
              </c:ext>
            </c:extLst>
          </c:dPt>
          <c:dPt>
            <c:idx val="4"/>
            <c:invertIfNegative val="0"/>
            <c:bubble3D val="0"/>
            <c:extLst>
              <c:ext xmlns:c16="http://schemas.microsoft.com/office/drawing/2014/chart" uri="{C3380CC4-5D6E-409C-BE32-E72D297353CC}">
                <c16:uniqueId val="{0000000D-661E-4A8A-9AA7-374132DDB5A5}"/>
              </c:ext>
            </c:extLst>
          </c:dPt>
          <c:dPt>
            <c:idx val="5"/>
            <c:invertIfNegative val="0"/>
            <c:bubble3D val="0"/>
            <c:extLst>
              <c:ext xmlns:c16="http://schemas.microsoft.com/office/drawing/2014/chart" uri="{C3380CC4-5D6E-409C-BE32-E72D297353CC}">
                <c16:uniqueId val="{0000000E-661E-4A8A-9AA7-374132DDB5A5}"/>
              </c:ext>
            </c:extLst>
          </c:dPt>
          <c:dPt>
            <c:idx val="6"/>
            <c:invertIfNegative val="0"/>
            <c:bubble3D val="0"/>
            <c:extLst>
              <c:ext xmlns:c16="http://schemas.microsoft.com/office/drawing/2014/chart" uri="{C3380CC4-5D6E-409C-BE32-E72D297353CC}">
                <c16:uniqueId val="{0000000F-661E-4A8A-9AA7-374132DDB5A5}"/>
              </c:ext>
            </c:extLst>
          </c:dPt>
          <c:dPt>
            <c:idx val="7"/>
            <c:invertIfNegative val="0"/>
            <c:bubble3D val="0"/>
            <c:extLst>
              <c:ext xmlns:c16="http://schemas.microsoft.com/office/drawing/2014/chart" uri="{C3380CC4-5D6E-409C-BE32-E72D297353CC}">
                <c16:uniqueId val="{00000010-661E-4A8A-9AA7-374132DDB5A5}"/>
              </c:ext>
            </c:extLst>
          </c:dPt>
          <c:dLbls>
            <c:dLbl>
              <c:idx val="8"/>
              <c:delete val="1"/>
              <c:extLst>
                <c:ext xmlns:c15="http://schemas.microsoft.com/office/drawing/2012/chart" uri="{CE6537A1-D6FC-4f65-9D91-7224C49458BB}"/>
                <c:ext xmlns:c16="http://schemas.microsoft.com/office/drawing/2014/chart" uri="{C3380CC4-5D6E-409C-BE32-E72D297353CC}">
                  <c16:uniqueId val="{0000000F-F7B5-4A91-8729-DBDA6294811E}"/>
                </c:ext>
              </c:extLst>
            </c:dLbl>
            <c:spPr>
              <a:noFill/>
              <a:ln>
                <a:noFill/>
              </a:ln>
              <a:effectLst/>
            </c:spPr>
            <c:txPr>
              <a:bodyPr rot="0" spcFirstLastPara="1" vertOverflow="ellipsis" horzOverflow="clip" vert="horz" wrap="none" lIns="38100" tIns="19050" rIns="38100" bIns="19050" anchor="ctr" anchorCtr="0">
                <a:spAutoFit/>
              </a:bodyPr>
              <a:lstStyle/>
              <a:p>
                <a:pPr algn="ctr">
                  <a:defRPr lang="en-US" sz="900" b="0" i="0" u="none" strike="noStrike" kern="1200" baseline="0">
                    <a:solidFill>
                      <a:srgbClr val="D3B0FF"/>
                    </a:solidFill>
                    <a:latin typeface="+mj-lt"/>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Sheet1!$A$2:$A$15</c:f>
              <c:strCache>
                <c:ptCount val="14"/>
                <c:pt idx="0">
                  <c:v>Z11</c:v>
                </c:pt>
                <c:pt idx="1">
                  <c:v>Z15</c:v>
                </c:pt>
                <c:pt idx="2">
                  <c:v>Z16</c:v>
                </c:pt>
                <c:pt idx="3">
                  <c:v>Z17</c:v>
                </c:pt>
                <c:pt idx="4">
                  <c:v>Z18</c:v>
                </c:pt>
                <c:pt idx="5">
                  <c:v>Z19</c:v>
                </c:pt>
                <c:pt idx="6">
                  <c:v>Z20</c:v>
                </c:pt>
                <c:pt idx="7">
                  <c:v>Z21</c:v>
                </c:pt>
                <c:pt idx="8">
                  <c:v>Z22</c:v>
                </c:pt>
                <c:pt idx="9">
                  <c:v>Z24</c:v>
                </c:pt>
                <c:pt idx="10">
                  <c:v>Z25</c:v>
                </c:pt>
                <c:pt idx="11">
                  <c:v>Z26</c:v>
                </c:pt>
                <c:pt idx="12">
                  <c:v>Z7</c:v>
                </c:pt>
                <c:pt idx="13">
                  <c:v>Z8</c:v>
                </c:pt>
              </c:strCache>
            </c:strRef>
          </c:cat>
          <c:val>
            <c:numRef>
              <c:f>Sheet1!$C$2:$C$15</c:f>
              <c:numCache>
                <c:formatCode>0%</c:formatCode>
                <c:ptCount val="14"/>
                <c:pt idx="0">
                  <c:v>0.53</c:v>
                </c:pt>
                <c:pt idx="1">
                  <c:v>0.63</c:v>
                </c:pt>
                <c:pt idx="2">
                  <c:v>0.64</c:v>
                </c:pt>
                <c:pt idx="3">
                  <c:v>0.72</c:v>
                </c:pt>
                <c:pt idx="4">
                  <c:v>0.55</c:v>
                </c:pt>
                <c:pt idx="5">
                  <c:v>0.63</c:v>
                </c:pt>
                <c:pt idx="6">
                  <c:v>0.49</c:v>
                </c:pt>
                <c:pt idx="7">
                  <c:v>0.54</c:v>
                </c:pt>
                <c:pt idx="8">
                  <c:v>0.49</c:v>
                </c:pt>
                <c:pt idx="9">
                  <c:v>0.51</c:v>
                </c:pt>
                <c:pt idx="10">
                  <c:v>0.48</c:v>
                </c:pt>
                <c:pt idx="11">
                  <c:v>0.47</c:v>
                </c:pt>
                <c:pt idx="12">
                  <c:v>0.57</c:v>
                </c:pt>
                <c:pt idx="13">
                  <c:v>0.52</c:v>
                </c:pt>
              </c:numCache>
            </c:numRef>
          </c:val>
          <c:extLst>
            <c:ext xmlns:c16="http://schemas.microsoft.com/office/drawing/2014/chart" uri="{C3380CC4-5D6E-409C-BE32-E72D297353CC}">
              <c16:uniqueId val="{00000011-661E-4A8A-9AA7-374132DDB5A5}"/>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1.5"/>
          <c:min val="0"/>
        </c:scaling>
        <c:delete val="1"/>
        <c:axPos val="b"/>
        <c:numFmt formatCode="0%" sourceLinked="1"/>
        <c:majorTickMark val="out"/>
        <c:minorTickMark val="none"/>
        <c:tickLblPos val="nextTo"/>
        <c:crossAx val="422529552"/>
        <c:crosses val="max"/>
        <c:crossBetween val="between"/>
        <c:majorUnit val="1.5"/>
      </c:valAx>
      <c:spPr>
        <a:noFill/>
        <a:ln>
          <a:noFill/>
        </a:ln>
        <a:effectLst/>
      </c:spPr>
    </c:plotArea>
    <c:plotVisOnly val="1"/>
    <c:dispBlanksAs val="gap"/>
    <c:showDLblsOverMax val="0"/>
  </c:chart>
  <c:spPr>
    <a:noFill/>
    <a:ln>
      <a:noFill/>
    </a:ln>
    <a:effectLst/>
  </c:spPr>
  <c:txPr>
    <a:bodyPr/>
    <a:lstStyle/>
    <a:p>
      <a:pPr algn="just">
        <a:defRPr sz="1000">
          <a:latin typeface="Source Sans Pro" panose="020B0503030403020204" pitchFamily="34" charset="0"/>
        </a:defRPr>
      </a:pPr>
      <a:endParaRPr lang="en-US"/>
    </a:p>
  </c:txPr>
  <c:externalData r:id="rId3">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CR6</c:v>
                </c:pt>
                <c:pt idx="1">
                  <c:v>Take CREON every meal, every snack, every day.</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266854938271604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28A-439B-AD33-6128DB03DF64}"/>
                </c:ext>
              </c:extLst>
            </c:dLbl>
            <c:dLbl>
              <c:idx val="1"/>
              <c:layout>
                <c:manualLayout>
                  <c:x val="-6.9178680262541023E-2"/>
                  <c:y val="-0.25492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28A-439B-AD33-6128DB03DF64}"/>
                </c:ext>
              </c:extLst>
            </c:dLbl>
            <c:dLbl>
              <c:idx val="2"/>
              <c:layout>
                <c:manualLayout>
                  <c:x val="-6.9178680262541023E-2"/>
                  <c:y val="-0.2907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8A-439B-AD33-6128DB03DF64}"/>
                </c:ext>
              </c:extLst>
            </c:dLbl>
            <c:dLbl>
              <c:idx val="3"/>
              <c:layout>
                <c:manualLayout>
                  <c:x val="-6.9178680262541023E-2"/>
                  <c:y val="-0.278790123456790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8A-439B-AD33-6128DB03DF64}"/>
                </c:ext>
              </c:extLst>
            </c:dLbl>
            <c:dLbl>
              <c:idx val="4"/>
              <c:layout>
                <c:manualLayout>
                  <c:x val="-6.9178680262541023E-2"/>
                  <c:y val="-0.284756172839506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28A-439B-AD33-6128DB03DF64}"/>
                </c:ext>
              </c:extLst>
            </c:dLbl>
            <c:dLbl>
              <c:idx val="5"/>
              <c:layout>
                <c:manualLayout>
                  <c:x val="-6.8378164556962023E-2"/>
                  <c:y val="-0.278790123456790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8A-439B-AD33-6128DB03DF64}"/>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0.59</c:v>
                </c:pt>
                <c:pt idx="1">
                  <c:v>0.61</c:v>
                </c:pt>
                <c:pt idx="2">
                  <c:v>0.55000000000000004</c:v>
                </c:pt>
                <c:pt idx="3">
                  <c:v>0.56999999999999995</c:v>
                </c:pt>
                <c:pt idx="4">
                  <c:v>0.56000000000000005</c:v>
                </c:pt>
                <c:pt idx="5">
                  <c:v>0.56999999999999995</c:v>
                </c:pt>
              </c:numCache>
            </c:numRef>
          </c:val>
          <c:smooth val="0"/>
          <c:extLst>
            <c:ext xmlns:c16="http://schemas.microsoft.com/office/drawing/2014/chart" uri="{C3380CC4-5D6E-409C-BE32-E72D297353CC}">
              <c16:uniqueId val="{00000006-328A-439B-AD33-6128DB03DF6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CR10</c:v>
                </c:pt>
                <c:pt idx="1">
                  <c:v>CREON is the #1 PERT prescribed by Gastroenterologists, Primary Care Physicians, and Nurse Practitioners and Physician Assistants.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308623456790123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91B-4CD5-ACE6-257687A0B3E9}"/>
                </c:ext>
              </c:extLst>
            </c:dLbl>
            <c:dLbl>
              <c:idx val="1"/>
              <c:layout>
                <c:manualLayout>
                  <c:x val="-6.9178680262541023E-2"/>
                  <c:y val="-0.3324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91B-4CD5-ACE6-257687A0B3E9}"/>
                </c:ext>
              </c:extLst>
            </c:dLbl>
            <c:dLbl>
              <c:idx val="2"/>
              <c:layout>
                <c:manualLayout>
                  <c:x val="-6.9178680262541023E-2"/>
                  <c:y val="-0.320555555555555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91B-4CD5-ACE6-257687A0B3E9}"/>
                </c:ext>
              </c:extLst>
            </c:dLbl>
            <c:dLbl>
              <c:idx val="3"/>
              <c:layout>
                <c:manualLayout>
                  <c:x val="-6.9178680262541023E-2"/>
                  <c:y val="-0.31458950617283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91B-4CD5-ACE6-257687A0B3E9}"/>
                </c:ext>
              </c:extLst>
            </c:dLbl>
            <c:dLbl>
              <c:idx val="4"/>
              <c:layout>
                <c:manualLayout>
                  <c:x val="-6.9178680262541023E-2"/>
                  <c:y val="-0.2907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91B-4CD5-ACE6-257687A0B3E9}"/>
                </c:ext>
              </c:extLst>
            </c:dLbl>
            <c:dLbl>
              <c:idx val="5"/>
              <c:layout>
                <c:manualLayout>
                  <c:x val="-6.8378164556962023E-2"/>
                  <c:y val="-0.2907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91B-4CD5-ACE6-257687A0B3E9}"/>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0.52</c:v>
                </c:pt>
                <c:pt idx="1">
                  <c:v>0.48</c:v>
                </c:pt>
                <c:pt idx="2">
                  <c:v>0.5</c:v>
                </c:pt>
                <c:pt idx="3">
                  <c:v>0.51</c:v>
                </c:pt>
                <c:pt idx="4">
                  <c:v>0.55000000000000004</c:v>
                </c:pt>
                <c:pt idx="5">
                  <c:v>0.55000000000000004</c:v>
                </c:pt>
              </c:numCache>
            </c:numRef>
          </c:val>
          <c:smooth val="0"/>
          <c:extLst>
            <c:ext xmlns:c16="http://schemas.microsoft.com/office/drawing/2014/chart" uri="{C3380CC4-5D6E-409C-BE32-E72D297353CC}">
              <c16:uniqueId val="{00000006-491B-4CD5-ACE6-257687A0B3E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CR7</c:v>
                </c:pt>
                <c:pt idx="1">
                  <c:v>CREON 36K capsules can be an appropriate dose for many adults.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242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49C-4246-B85C-83F932C6B3A3}"/>
                </c:ext>
              </c:extLst>
            </c:dLbl>
            <c:dLbl>
              <c:idx val="1"/>
              <c:layout>
                <c:manualLayout>
                  <c:x val="-6.9178680262541023E-2"/>
                  <c:y val="-0.242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49C-4246-B85C-83F932C6B3A3}"/>
                </c:ext>
              </c:extLst>
            </c:dLbl>
            <c:dLbl>
              <c:idx val="2"/>
              <c:layout>
                <c:manualLayout>
                  <c:x val="-6.9178680262541023E-2"/>
                  <c:y val="-0.242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49C-4246-B85C-83F932C6B3A3}"/>
                </c:ext>
              </c:extLst>
            </c:dLbl>
            <c:dLbl>
              <c:idx val="3"/>
              <c:layout>
                <c:manualLayout>
                  <c:x val="-6.9178680262541023E-2"/>
                  <c:y val="-0.26088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49C-4246-B85C-83F932C6B3A3}"/>
                </c:ext>
              </c:extLst>
            </c:dLbl>
            <c:dLbl>
              <c:idx val="4"/>
              <c:layout>
                <c:manualLayout>
                  <c:x val="-6.9178680262541023E-2"/>
                  <c:y val="-0.284756172839506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49C-4246-B85C-83F932C6B3A3}"/>
                </c:ext>
              </c:extLst>
            </c:dLbl>
            <c:dLbl>
              <c:idx val="5"/>
              <c:layout>
                <c:manualLayout>
                  <c:x val="-6.8378164556962023E-2"/>
                  <c:y val="-0.302654320987654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49C-4246-B85C-83F932C6B3A3}"/>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0.63</c:v>
                </c:pt>
                <c:pt idx="1">
                  <c:v>0.63</c:v>
                </c:pt>
                <c:pt idx="2">
                  <c:v>0.63</c:v>
                </c:pt>
                <c:pt idx="3">
                  <c:v>0.6</c:v>
                </c:pt>
                <c:pt idx="4">
                  <c:v>0.56000000000000005</c:v>
                </c:pt>
                <c:pt idx="5">
                  <c:v>0.53</c:v>
                </c:pt>
              </c:numCache>
            </c:numRef>
          </c:val>
          <c:smooth val="0"/>
          <c:extLst>
            <c:ext xmlns:c16="http://schemas.microsoft.com/office/drawing/2014/chart" uri="{C3380CC4-5D6E-409C-BE32-E72D297353CC}">
              <c16:uniqueId val="{00000006-149C-4246-B85C-83F932C6B3A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CR11</c:v>
                </c:pt>
                <c:pt idx="1">
                  <c:v>95% of commercially eligible patients pay $5 or less for their CREON prescription with the CREON Complete Savings card.</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344422839506172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D04-4857-8E0D-2E41C11A23B2}"/>
                </c:ext>
              </c:extLst>
            </c:dLbl>
            <c:dLbl>
              <c:idx val="1"/>
              <c:layout>
                <c:manualLayout>
                  <c:x val="-6.9178680262541023E-2"/>
                  <c:y val="-0.35635493827160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D04-4857-8E0D-2E41C11A23B2}"/>
                </c:ext>
              </c:extLst>
            </c:dLbl>
            <c:dLbl>
              <c:idx val="2"/>
              <c:layout>
                <c:manualLayout>
                  <c:x val="-6.9178680262541023E-2"/>
                  <c:y val="-0.320555555555555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D04-4857-8E0D-2E41C11A23B2}"/>
                </c:ext>
              </c:extLst>
            </c:dLbl>
            <c:dLbl>
              <c:idx val="3"/>
              <c:layout>
                <c:manualLayout>
                  <c:x val="-6.9178680262541023E-2"/>
                  <c:y val="-0.320555555555555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D04-4857-8E0D-2E41C11A23B2}"/>
                </c:ext>
              </c:extLst>
            </c:dLbl>
            <c:dLbl>
              <c:idx val="4"/>
              <c:layout>
                <c:manualLayout>
                  <c:x val="-6.9178680262541023E-2"/>
                  <c:y val="-0.326521604938271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04-4857-8E0D-2E41C11A23B2}"/>
                </c:ext>
              </c:extLst>
            </c:dLbl>
            <c:dLbl>
              <c:idx val="5"/>
              <c:layout>
                <c:manualLayout>
                  <c:x val="-6.8378164556962023E-2"/>
                  <c:y val="-0.3324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D04-4857-8E0D-2E41C11A23B2}"/>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0.46</c:v>
                </c:pt>
                <c:pt idx="1">
                  <c:v>0.44</c:v>
                </c:pt>
                <c:pt idx="2">
                  <c:v>0.5</c:v>
                </c:pt>
                <c:pt idx="3">
                  <c:v>0.5</c:v>
                </c:pt>
                <c:pt idx="4">
                  <c:v>0.49</c:v>
                </c:pt>
                <c:pt idx="5">
                  <c:v>0.48</c:v>
                </c:pt>
              </c:numCache>
            </c:numRef>
          </c:val>
          <c:smooth val="0"/>
          <c:extLst>
            <c:ext xmlns:c16="http://schemas.microsoft.com/office/drawing/2014/chart" uri="{C3380CC4-5D6E-409C-BE32-E72D297353CC}">
              <c16:uniqueId val="{00000006-1D04-4857-8E0D-2E41C11A23B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CR3</c:v>
                </c:pt>
                <c:pt idx="1">
                  <c:v>Exocrine Pancreatic Insufficiency (EPI) is under-recognized and can have an impact on nutritional health and quality of life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350388888888888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C49-4F4C-8DBA-4034E5E74C18}"/>
                </c:ext>
              </c:extLst>
            </c:dLbl>
            <c:dLbl>
              <c:idx val="1"/>
              <c:layout>
                <c:manualLayout>
                  <c:x val="-6.9178680262541023E-2"/>
                  <c:y val="-0.368290123456790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C49-4F4C-8DBA-4034E5E74C18}"/>
                </c:ext>
              </c:extLst>
            </c:dLbl>
            <c:dLbl>
              <c:idx val="2"/>
              <c:layout>
                <c:manualLayout>
                  <c:x val="-6.9178680262541023E-2"/>
                  <c:y val="-0.362320987654320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C49-4F4C-8DBA-4034E5E74C18}"/>
                </c:ext>
              </c:extLst>
            </c:dLbl>
            <c:dLbl>
              <c:idx val="3"/>
              <c:layout>
                <c:manualLayout>
                  <c:x val="-6.9178680262541023E-2"/>
                  <c:y val="-0.344422839506172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C49-4F4C-8DBA-4034E5E74C18}"/>
                </c:ext>
              </c:extLst>
            </c:dLbl>
            <c:dLbl>
              <c:idx val="4"/>
              <c:layout>
                <c:manualLayout>
                  <c:x val="-6.9178680262541023E-2"/>
                  <c:y val="-0.338456790123456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C49-4F4C-8DBA-4034E5E74C18}"/>
                </c:ext>
              </c:extLst>
            </c:dLbl>
            <c:dLbl>
              <c:idx val="5"/>
              <c:layout>
                <c:manualLayout>
                  <c:x val="-6.8378164556962023E-2"/>
                  <c:y val="-0.3324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C49-4F4C-8DBA-4034E5E74C18}"/>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0.45</c:v>
                </c:pt>
                <c:pt idx="1">
                  <c:v>0.42</c:v>
                </c:pt>
                <c:pt idx="2">
                  <c:v>0.43</c:v>
                </c:pt>
                <c:pt idx="3">
                  <c:v>0.46</c:v>
                </c:pt>
                <c:pt idx="4">
                  <c:v>0.47</c:v>
                </c:pt>
                <c:pt idx="5">
                  <c:v>0.48</c:v>
                </c:pt>
              </c:numCache>
            </c:numRef>
          </c:val>
          <c:smooth val="0"/>
          <c:extLst>
            <c:ext xmlns:c16="http://schemas.microsoft.com/office/drawing/2014/chart" uri="{C3380CC4-5D6E-409C-BE32-E72D297353CC}">
              <c16:uniqueId val="{00000006-7C49-4F4C-8DBA-4034E5E74C1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CR4</c:v>
                </c:pt>
                <c:pt idx="1">
                  <c:v>EPI is largely a clinical diagnosis based on signs and symptoms and should be considered as part of the differential diagnosis of GI symptoms.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35635493827160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FAF-4D37-8270-2B1222DC8D7E}"/>
                </c:ext>
              </c:extLst>
            </c:dLbl>
            <c:dLbl>
              <c:idx val="1"/>
              <c:layout>
                <c:manualLayout>
                  <c:x val="-6.9178680262541023E-2"/>
                  <c:y val="-0.344422839506172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FAF-4D37-8270-2B1222DC8D7E}"/>
                </c:ext>
              </c:extLst>
            </c:dLbl>
            <c:dLbl>
              <c:idx val="2"/>
              <c:layout>
                <c:manualLayout>
                  <c:x val="-6.9178680262541023E-2"/>
                  <c:y val="-0.368290123456790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FAF-4D37-8270-2B1222DC8D7E}"/>
                </c:ext>
              </c:extLst>
            </c:dLbl>
            <c:dLbl>
              <c:idx val="3"/>
              <c:layout>
                <c:manualLayout>
                  <c:x val="-6.9178680262541023E-2"/>
                  <c:y val="-0.344422839506172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FAF-4D37-8270-2B1222DC8D7E}"/>
                </c:ext>
              </c:extLst>
            </c:dLbl>
            <c:dLbl>
              <c:idx val="4"/>
              <c:layout>
                <c:manualLayout>
                  <c:x val="-6.9178680262541023E-2"/>
                  <c:y val="-0.368290123456790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FAF-4D37-8270-2B1222DC8D7E}"/>
                </c:ext>
              </c:extLst>
            </c:dLbl>
            <c:dLbl>
              <c:idx val="5"/>
              <c:layout>
                <c:manualLayout>
                  <c:x val="-6.8378164556962023E-2"/>
                  <c:y val="-0.35635493827160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FAF-4D37-8270-2B1222DC8D7E}"/>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0.44</c:v>
                </c:pt>
                <c:pt idx="1">
                  <c:v>0.46</c:v>
                </c:pt>
                <c:pt idx="2">
                  <c:v>0.42</c:v>
                </c:pt>
                <c:pt idx="3">
                  <c:v>0.46</c:v>
                </c:pt>
                <c:pt idx="4">
                  <c:v>0.42</c:v>
                </c:pt>
                <c:pt idx="5">
                  <c:v>0.44</c:v>
                </c:pt>
              </c:numCache>
            </c:numRef>
          </c:val>
          <c:smooth val="0"/>
          <c:extLst>
            <c:ext xmlns:c16="http://schemas.microsoft.com/office/drawing/2014/chart" uri="{C3380CC4-5D6E-409C-BE32-E72D297353CC}">
              <c16:uniqueId val="{00000006-0FAF-4D37-8270-2B1222DC8D7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CR9</c:v>
                </c:pt>
                <c:pt idx="1">
                  <c:v>CREON significantly improves fat absorption compared with placebo in randomized clinical trials of patients with EPI due to CF, CP, or pancreatectomy.</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16021604938271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391-4765-BF5B-351103213DCF}"/>
                </c:ext>
              </c:extLst>
            </c:dLbl>
            <c:dLbl>
              <c:idx val="1"/>
              <c:layout>
                <c:manualLayout>
                  <c:x val="-6.9178680262541023E-2"/>
                  <c:y val="-0.4100555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391-4765-BF5B-351103213DCF}"/>
                </c:ext>
              </c:extLst>
            </c:dLbl>
            <c:dLbl>
              <c:idx val="2"/>
              <c:layout>
                <c:manualLayout>
                  <c:x val="-6.9178680262541023E-2"/>
                  <c:y val="-0.398123456790123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391-4765-BF5B-351103213DCF}"/>
                </c:ext>
              </c:extLst>
            </c:dLbl>
            <c:dLbl>
              <c:idx val="3"/>
              <c:layout>
                <c:manualLayout>
                  <c:x val="-6.9178680262541023E-2"/>
                  <c:y val="-0.404089506172839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391-4765-BF5B-351103213DCF}"/>
                </c:ext>
              </c:extLst>
            </c:dLbl>
            <c:dLbl>
              <c:idx val="4"/>
              <c:layout>
                <c:manualLayout>
                  <c:x val="-6.9178680262541023E-2"/>
                  <c:y val="-0.404089506172839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391-4765-BF5B-351103213DCF}"/>
                </c:ext>
              </c:extLst>
            </c:dLbl>
            <c:dLbl>
              <c:idx val="5"/>
              <c:layout>
                <c:manualLayout>
                  <c:x val="-6.8378164556962023E-2"/>
                  <c:y val="-0.374256172839506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391-4765-BF5B-351103213DCF}"/>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0.34</c:v>
                </c:pt>
                <c:pt idx="1">
                  <c:v>0.35</c:v>
                </c:pt>
                <c:pt idx="2">
                  <c:v>0.37</c:v>
                </c:pt>
                <c:pt idx="3">
                  <c:v>0.36</c:v>
                </c:pt>
                <c:pt idx="4">
                  <c:v>0.36</c:v>
                </c:pt>
                <c:pt idx="5">
                  <c:v>0.41</c:v>
                </c:pt>
              </c:numCache>
            </c:numRef>
          </c:val>
          <c:smooth val="0"/>
          <c:extLst>
            <c:ext xmlns:c16="http://schemas.microsoft.com/office/drawing/2014/chart" uri="{C3380CC4-5D6E-409C-BE32-E72D297353CC}">
              <c16:uniqueId val="{00000006-B391-4765-BF5B-351103213DC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CR1</c:v>
                </c:pt>
                <c:pt idx="1">
                  <c:v>CREON maintains category leading coverage: 89% of national commercial and Medicare Part D insured lives have preferred access to CREON with the lowest branded copay, without a prior authorization.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380222222222222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5F0-43C5-BD1A-846F84A816F0}"/>
                </c:ext>
              </c:extLst>
            </c:dLbl>
            <c:dLbl>
              <c:idx val="1"/>
              <c:layout>
                <c:manualLayout>
                  <c:x val="-6.9178680262541023E-2"/>
                  <c:y val="-0.368290123456790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5F0-43C5-BD1A-846F84A816F0}"/>
                </c:ext>
              </c:extLst>
            </c:dLbl>
            <c:dLbl>
              <c:idx val="2"/>
              <c:layout>
                <c:manualLayout>
                  <c:x val="-6.9178680262541023E-2"/>
                  <c:y val="-0.392154320987654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5F0-43C5-BD1A-846F84A816F0}"/>
                </c:ext>
              </c:extLst>
            </c:dLbl>
            <c:dLbl>
              <c:idx val="3"/>
              <c:layout>
                <c:manualLayout>
                  <c:x val="-6.9178680262541023E-2"/>
                  <c:y val="-0.404089506172839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5F0-43C5-BD1A-846F84A816F0}"/>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5F0-43C5-BD1A-846F84A816F0}"/>
                </c:ext>
              </c:extLst>
            </c:dLbl>
            <c:dLbl>
              <c:idx val="5"/>
              <c:layout>
                <c:manualLayout>
                  <c:x val="-6.8378164556962023E-2"/>
                  <c:y val="-0.404089506172839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5F0-43C5-BD1A-846F84A816F0}"/>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c:v>
                </c:pt>
                <c:pt idx="1">
                  <c:v>0.42</c:v>
                </c:pt>
                <c:pt idx="2">
                  <c:v>0.38</c:v>
                </c:pt>
                <c:pt idx="3">
                  <c:v>0.36</c:v>
                </c:pt>
                <c:pt idx="4">
                  <c:v>0.32</c:v>
                </c:pt>
                <c:pt idx="5">
                  <c:v>0.36</c:v>
                </c:pt>
              </c:numCache>
            </c:numRef>
          </c:val>
          <c:smooth val="0"/>
          <c:extLst>
            <c:ext xmlns:c16="http://schemas.microsoft.com/office/drawing/2014/chart" uri="{C3380CC4-5D6E-409C-BE32-E72D297353CC}">
              <c16:uniqueId val="{00000006-F5F0-43C5-BD1A-846F84A816F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CR20</c:v>
                </c:pt>
                <c:pt idx="1">
                  <c:v>Significant experience, exceptional patient support, and excellent coverage make CREON a proven partner for patients with EPl.</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4796061884669477E-2"/>
                  <c:y val="-0.3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1A3-4E82-A9CB-D41E27BC8A77}"/>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1A3-4E82-A9CB-D41E27BC8A77}"/>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1A3-4E82-A9CB-D41E27BC8A77}"/>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1A3-4E82-A9CB-D41E27BC8A77}"/>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1A3-4E82-A9CB-D41E27BC8A77}"/>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1A3-4E82-A9CB-D41E27BC8A77}"/>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0.28999999999999998</c:v>
                </c:pt>
                <c:pt idx="2">
                  <c:v>0.3</c:v>
                </c:pt>
                <c:pt idx="3">
                  <c:v>0.28000000000000003</c:v>
                </c:pt>
                <c:pt idx="4">
                  <c:v>0.3</c:v>
                </c:pt>
                <c:pt idx="5">
                  <c:v>0.31</c:v>
                </c:pt>
              </c:numCache>
            </c:numRef>
          </c:val>
          <c:smooth val="0"/>
          <c:extLst>
            <c:ext xmlns:c16="http://schemas.microsoft.com/office/drawing/2014/chart" uri="{C3380CC4-5D6E-409C-BE32-E72D297353CC}">
              <c16:uniqueId val="{00000006-31A3-4E82-A9CB-D41E27BC8A7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CR16</c:v>
                </c:pt>
                <c:pt idx="1">
                  <c:v>Based on the FDA-approved label, CREON is the only PERT specifically studied for patients with EPI due to chronic pancreatitis and pancreatectomy, in addition to cystic fibrosis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31A-450B-A98C-64919F0DF1A2}"/>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31A-450B-A98C-64919F0DF1A2}"/>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31A-450B-A98C-64919F0DF1A2}"/>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31A-450B-A98C-64919F0DF1A2}"/>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31A-450B-A98C-64919F0DF1A2}"/>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31A-450B-A98C-64919F0DF1A2}"/>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0.26</c:v>
                </c:pt>
                <c:pt idx="1">
                  <c:v>0.24</c:v>
                </c:pt>
                <c:pt idx="2">
                  <c:v>0.27</c:v>
                </c:pt>
                <c:pt idx="3">
                  <c:v>0.28000000000000003</c:v>
                </c:pt>
                <c:pt idx="4">
                  <c:v>0.3</c:v>
                </c:pt>
                <c:pt idx="5">
                  <c:v>0.3</c:v>
                </c:pt>
              </c:numCache>
            </c:numRef>
          </c:val>
          <c:smooth val="0"/>
          <c:extLst>
            <c:ext xmlns:c16="http://schemas.microsoft.com/office/drawing/2014/chart" uri="{C3380CC4-5D6E-409C-BE32-E72D297353CC}">
              <c16:uniqueId val="{00000006-F31A-450B-A98C-64919F0DF1A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CR22</c:v>
                </c:pt>
                <c:pt idx="1">
                  <c:v>71% of CREON Medicare Part D patients paid less than $30 in 2024.</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4796061884669477E-2"/>
                  <c:y val="-0.3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FCB-491C-BD87-E7307DF0ED32}"/>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FCB-491C-BD87-E7307DF0ED32}"/>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FCB-491C-BD87-E7307DF0ED32}"/>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FCB-491C-BD87-E7307DF0ED32}"/>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FCB-491C-BD87-E7307DF0ED32}"/>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FCB-491C-BD87-E7307DF0ED32}"/>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0.26</c:v>
                </c:pt>
                <c:pt idx="2">
                  <c:v>0.31</c:v>
                </c:pt>
                <c:pt idx="3">
                  <c:v>0.27</c:v>
                </c:pt>
                <c:pt idx="4">
                  <c:v>0.24</c:v>
                </c:pt>
                <c:pt idx="5">
                  <c:v>0.24</c:v>
                </c:pt>
              </c:numCache>
            </c:numRef>
          </c:val>
          <c:smooth val="0"/>
          <c:extLst>
            <c:ext xmlns:c16="http://schemas.microsoft.com/office/drawing/2014/chart" uri="{C3380CC4-5D6E-409C-BE32-E72D297353CC}">
              <c16:uniqueId val="{00000006-6FCB-491C-BD87-E7307DF0ED3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Sheet1!$B$1:$B$2</c:f>
              <c:strCache>
                <c:ptCount val="2"/>
                <c:pt idx="0">
                  <c:v>CR21</c:v>
                </c:pt>
                <c:pt idx="1">
                  <c:v>CREON Complete may help patients start and stay on track with their treatment.</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4796061884669477E-2"/>
                  <c:y val="-0.3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5EC-47AC-ADBF-9F7130D9051C}"/>
                </c:ext>
              </c:extLst>
            </c:dLbl>
            <c:dLbl>
              <c:idx val="1"/>
              <c:layout>
                <c:manualLayout>
                  <c:x val="-6.9178680262541023E-2"/>
                  <c:y val="-0.404089506172839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5EC-47AC-ADBF-9F7130D9051C}"/>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5EC-47AC-ADBF-9F7130D9051C}"/>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5EC-47AC-ADBF-9F7130D9051C}"/>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5EC-47AC-ADBF-9F7130D9051C}"/>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5EC-47AC-ADBF-9F7130D9051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0.36</c:v>
                </c:pt>
                <c:pt idx="2">
                  <c:v>0.28999999999999998</c:v>
                </c:pt>
                <c:pt idx="3">
                  <c:v>0.25</c:v>
                </c:pt>
                <c:pt idx="4">
                  <c:v>0.22</c:v>
                </c:pt>
                <c:pt idx="5">
                  <c:v>0.23</c:v>
                </c:pt>
              </c:numCache>
            </c:numRef>
          </c:val>
          <c:smooth val="0"/>
          <c:extLst>
            <c:ext xmlns:c16="http://schemas.microsoft.com/office/drawing/2014/chart" uri="{C3380CC4-5D6E-409C-BE32-E72D297353CC}">
              <c16:uniqueId val="{00000006-75EC-47AC-ADBF-9F7130D9051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13918439716312E-2"/>
          <c:y val="0.2722222222222222"/>
          <c:w val="0.91969057474040927"/>
          <c:h val="0.59666650787395326"/>
        </c:manualLayout>
      </c:layout>
      <c:lineChart>
        <c:grouping val="standard"/>
        <c:varyColors val="0"/>
        <c:ser>
          <c:idx val="0"/>
          <c:order val="0"/>
          <c:tx>
            <c:strRef>
              <c:f>Sheet1!$B$1</c:f>
              <c:strCache>
                <c:ptCount val="1"/>
                <c:pt idx="0">
                  <c:v>Oct'25</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Sheet1!$B$2:$B$2</c:f>
              <c:numCache>
                <c:formatCode>0%</c:formatCode>
                <c:ptCount val="1"/>
                <c:pt idx="0">
                  <c:v>0.59</c:v>
                </c:pt>
              </c:numCache>
            </c:numRef>
          </c:val>
          <c:smooth val="0"/>
          <c:extLst>
            <c:ext xmlns:c16="http://schemas.microsoft.com/office/drawing/2014/chart" uri="{C3380CC4-5D6E-409C-BE32-E72D297353CC}">
              <c16:uniqueId val="{00000006-2AAF-4FC3-A1CD-A55068704E81}"/>
            </c:ext>
          </c:extLst>
        </c:ser>
        <c:ser>
          <c:idx val="1"/>
          <c:order val="1"/>
          <c:tx>
            <c:strRef>
              <c:f>Sheet1!$C$1</c:f>
              <c:strCache>
                <c:ptCount val="1"/>
                <c:pt idx="0">
                  <c:v>Nov'25</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Sheet1!$C$2:$C$2</c:f>
              <c:numCache>
                <c:formatCode>General</c:formatCode>
                <c:ptCount val="1"/>
                <c:pt idx="0">
                  <c:v>0.61</c:v>
                </c:pt>
              </c:numCache>
            </c:numRef>
          </c:val>
          <c:smooth val="0"/>
          <c:extLst>
            <c:ext xmlns:c16="http://schemas.microsoft.com/office/drawing/2014/chart" uri="{C3380CC4-5D6E-409C-BE32-E72D297353CC}">
              <c16:uniqueId val="{00000006-2AAF-4FC3-A1CD-A55068704E81}"/>
            </c:ext>
          </c:extLst>
        </c:ser>
        <c:ser>
          <c:idx val="2"/>
          <c:order val="2"/>
          <c:tx>
            <c:strRef>
              <c:f>Sheet1!$D$1</c:f>
              <c:strCache>
                <c:ptCount val="1"/>
                <c:pt idx="0">
                  <c:v>Dec'25</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Sheet1!$D$2:$D$2</c:f>
              <c:numCache>
                <c:formatCode>General</c:formatCode>
                <c:ptCount val="1"/>
                <c:pt idx="0">
                  <c:v>0.55</c:v>
                </c:pt>
              </c:numCache>
            </c:numRef>
          </c:val>
          <c:smooth val="0"/>
          <c:extLst>
            <c:ext xmlns:c16="http://schemas.microsoft.com/office/drawing/2014/chart" uri="{C3380CC4-5D6E-409C-BE32-E72D297353CC}">
              <c16:uniqueId val="{00000006-2AAF-4FC3-A1CD-A55068704E81}"/>
            </c:ext>
          </c:extLst>
        </c:ser>
        <c:ser>
          <c:idx val="3"/>
          <c:order val="3"/>
          <c:tx>
            <c:strRef>
              <c:f>Sheet1!$E$1</c:f>
              <c:strCache>
                <c:ptCount val="1"/>
                <c:pt idx="0">
                  <c:v>Jan'26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Sheet1!$E$2:$E$2</c:f>
              <c:numCache>
                <c:formatCode>General</c:formatCode>
                <c:ptCount val="1"/>
                <c:pt idx="0">
                  <c:v>0.57</c:v>
                </c:pt>
              </c:numCache>
            </c:numRef>
          </c:val>
          <c:smooth val="0"/>
          <c:extLst>
            <c:ext xmlns:c16="http://schemas.microsoft.com/office/drawing/2014/chart" uri="{C3380CC4-5D6E-409C-BE32-E72D297353CC}">
              <c16:uniqueId val="{00000006-2AAF-4FC3-A1CD-A55068704E81}"/>
            </c:ext>
          </c:extLst>
        </c:ser>
        <c:ser>
          <c:idx val="4"/>
          <c:order val="4"/>
          <c:tx>
            <c:strRef>
              <c:f>Sheet1!$F$1</c:f>
              <c:strCache>
                <c:ptCount val="1"/>
                <c:pt idx="0">
                  <c:v>Feb'26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Sheet1!$F$2:$F$2</c:f>
              <c:numCache>
                <c:formatCode>General</c:formatCode>
                <c:ptCount val="1"/>
                <c:pt idx="0">
                  <c:v>0.56</c:v>
                </c:pt>
              </c:numCache>
            </c:numRef>
          </c:val>
          <c:smooth val="0"/>
          <c:extLst>
            <c:ext xmlns:c16="http://schemas.microsoft.com/office/drawing/2014/chart" uri="{C3380CC4-5D6E-409C-BE32-E72D297353CC}">
              <c16:uniqueId val="{00000006-2AAF-4FC3-A1CD-A55068704E81}"/>
            </c:ext>
          </c:extLst>
        </c:ser>
        <c:ser>
          <c:idx val="5"/>
          <c:order val="5"/>
          <c:tx>
            <c:strRef>
              <c:f>Sheet1!$G$1</c:f>
              <c:strCache>
                <c:ptCount val="1"/>
                <c:pt idx="0">
                  <c:v>Mar'26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6.5141086497890299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AF-4FC3-A1CD-A55068704E81}"/>
                </c:ext>
              </c:extLst>
            </c:dLbl>
            <c:dLbl>
              <c:idx val="1"/>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AF-4FC3-A1CD-A55068704E81}"/>
                </c:ext>
              </c:extLst>
            </c:dLbl>
            <c:dLbl>
              <c:idx val="2"/>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AF-4FC3-A1CD-A55068704E81}"/>
                </c:ext>
              </c:extLst>
            </c:dLbl>
            <c:dLbl>
              <c:idx val="3"/>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AF-4FC3-A1CD-A55068704E81}"/>
                </c:ext>
              </c:extLst>
            </c:dLbl>
            <c:dLbl>
              <c:idx val="4"/>
              <c:layout>
                <c:manualLayout>
                  <c:x val="-6.9178680262541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AF-4FC3-A1CD-A55068704E81}"/>
                </c:ext>
              </c:extLst>
            </c:dLbl>
            <c:dLbl>
              <c:idx val="5"/>
              <c:layout>
                <c:manualLayout>
                  <c:x val="-6.8378164556962023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Roboto"/>
                      <a:ea typeface="Roboto"/>
                      <a:cs typeface="Roboto"/>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AF-4FC3-A1CD-A55068704E8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c:f>
              <c:strCache>
                <c:ptCount val="1"/>
                <c:pt idx="0">
                  <c:v>Take CREON every meal, every snack, every day.</c:v>
                </c:pt>
              </c:strCache>
            </c:strRef>
          </c:cat>
          <c:val>
            <c:numRef>
              <c:f>Sheet1!$G$2:$G$2</c:f>
              <c:numCache>
                <c:formatCode>General</c:formatCode>
                <c:ptCount val="1"/>
                <c:pt idx="0">
                  <c:v>0.57</c:v>
                </c:pt>
              </c:numCache>
            </c:numRef>
          </c:val>
          <c:smooth val="0"/>
          <c:extLst>
            <c:ext xmlns:c16="http://schemas.microsoft.com/office/drawing/2014/chart" uri="{C3380CC4-5D6E-409C-BE32-E72D297353CC}">
              <c16:uniqueId val="{00000006-2AAF-4FC3-A1CD-A55068704E8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ZP11</c:v>
                </c:pt>
                <c:pt idx="1">
                  <c:v>ZENPEP is now $0 for commercially insured patients</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304524691358024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685-41B3-923B-4C2CC25608A9}"/>
                </c:ext>
              </c:extLst>
            </c:dLbl>
            <c:dLbl>
              <c:idx val="1"/>
              <c:layout>
                <c:manualLayout>
                  <c:x val="-6.1410447516324247E-2"/>
                  <c:y val="-0.280293209876543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685-41B3-923B-4C2CC25608A9}"/>
                </c:ext>
              </c:extLst>
            </c:dLbl>
            <c:dLbl>
              <c:idx val="2"/>
              <c:layout>
                <c:manualLayout>
                  <c:x val="-6.1410447516324247E-2"/>
                  <c:y val="-0.29241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685-41B3-923B-4C2CC25608A9}"/>
                </c:ext>
              </c:extLst>
            </c:dLbl>
            <c:dLbl>
              <c:idx val="3"/>
              <c:layout>
                <c:manualLayout>
                  <c:x val="-6.1410447516324247E-2"/>
                  <c:y val="-0.298466049382716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685-41B3-923B-4C2CC25608A9}"/>
                </c:ext>
              </c:extLst>
            </c:dLbl>
            <c:dLbl>
              <c:idx val="4"/>
              <c:layout>
                <c:manualLayout>
                  <c:x val="-6.1410447516324247E-2"/>
                  <c:y val="-0.274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685-41B3-923B-4C2CC25608A9}"/>
                </c:ext>
              </c:extLst>
            </c:dLbl>
            <c:dLbl>
              <c:idx val="5"/>
              <c:layout>
                <c:manualLayout>
                  <c:x val="-6.1410447516324247E-2"/>
                  <c:y val="-0.213654320987654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685-41B3-923B-4C2CC25608A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0.49</c:v>
                </c:pt>
                <c:pt idx="1">
                  <c:v>0.53</c:v>
                </c:pt>
                <c:pt idx="2">
                  <c:v>0.51</c:v>
                </c:pt>
                <c:pt idx="3">
                  <c:v>0.5</c:v>
                </c:pt>
                <c:pt idx="4">
                  <c:v>0.54</c:v>
                </c:pt>
                <c:pt idx="5">
                  <c:v>0.64</c:v>
                </c:pt>
              </c:numCache>
            </c:numRef>
          </c:val>
          <c:smooth val="0"/>
          <c:extLst>
            <c:ext xmlns:c16="http://schemas.microsoft.com/office/drawing/2014/chart" uri="{C3380CC4-5D6E-409C-BE32-E72D297353CC}">
              <c16:uniqueId val="{00000006-9685-41B3-923B-4C2CC25608A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ZP17</c:v>
                </c:pt>
                <c:pt idx="1">
                  <c:v>Only ZENPEP offers 40k and 60k lipase-unit capsules, which may help reduce the number of pills your adult patients need to take</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22576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499-47FD-8529-647521801B8A}"/>
                </c:ext>
              </c:extLst>
            </c:dLbl>
            <c:dLbl>
              <c:idx val="1"/>
              <c:layout>
                <c:manualLayout>
                  <c:x val="-6.1410447516324247E-2"/>
                  <c:y val="-0.207595679012345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499-47FD-8529-647521801B8A}"/>
                </c:ext>
              </c:extLst>
            </c:dLbl>
            <c:dLbl>
              <c:idx val="2"/>
              <c:layout>
                <c:manualLayout>
                  <c:x val="-6.1410447516324247E-2"/>
                  <c:y val="-0.207595679012345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499-47FD-8529-647521801B8A}"/>
                </c:ext>
              </c:extLst>
            </c:dLbl>
            <c:dLbl>
              <c:idx val="3"/>
              <c:layout>
                <c:manualLayout>
                  <c:x val="-6.1410447516324247E-2"/>
                  <c:y val="-0.237885802469135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499-47FD-8529-647521801B8A}"/>
                </c:ext>
              </c:extLst>
            </c:dLbl>
            <c:dLbl>
              <c:idx val="4"/>
              <c:layout>
                <c:manualLayout>
                  <c:x val="-6.1410447516324247E-2"/>
                  <c:y val="-0.237885802469135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499-47FD-8529-647521801B8A}"/>
                </c:ext>
              </c:extLst>
            </c:dLbl>
            <c:dLbl>
              <c:idx val="5"/>
              <c:layout>
                <c:manualLayout>
                  <c:x val="-6.1410447516324247E-2"/>
                  <c:y val="-0.213654320987654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499-47FD-8529-647521801B8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0.62</c:v>
                </c:pt>
                <c:pt idx="1">
                  <c:v>0.65</c:v>
                </c:pt>
                <c:pt idx="2">
                  <c:v>0.65</c:v>
                </c:pt>
                <c:pt idx="3">
                  <c:v>0.6</c:v>
                </c:pt>
                <c:pt idx="4">
                  <c:v>0.6</c:v>
                </c:pt>
                <c:pt idx="5">
                  <c:v>0.64</c:v>
                </c:pt>
              </c:numCache>
            </c:numRef>
          </c:val>
          <c:smooth val="0"/>
          <c:extLst>
            <c:ext xmlns:c16="http://schemas.microsoft.com/office/drawing/2014/chart" uri="{C3380CC4-5D6E-409C-BE32-E72D297353CC}">
              <c16:uniqueId val="{00000006-4499-47FD-8529-647521801B8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ZP16</c:v>
                </c:pt>
                <c:pt idx="1">
                  <c:v>ZENPEP offers a single-capsule starting dose for almost all adult patients</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243944444444444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8C3-4E71-A1A9-E40C0E6E8C9E}"/>
                </c:ext>
              </c:extLst>
            </c:dLbl>
            <c:dLbl>
              <c:idx val="1"/>
              <c:layout>
                <c:manualLayout>
                  <c:x val="-6.1410447516324247E-2"/>
                  <c:y val="-0.219709876543209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C3-4E71-A1A9-E40C0E6E8C9E}"/>
                </c:ext>
              </c:extLst>
            </c:dLbl>
            <c:dLbl>
              <c:idx val="2"/>
              <c:layout>
                <c:manualLayout>
                  <c:x val="-6.1410447516324247E-2"/>
                  <c:y val="-0.243944444444444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8C3-4E71-A1A9-E40C0E6E8C9E}"/>
                </c:ext>
              </c:extLst>
            </c:dLbl>
            <c:dLbl>
              <c:idx val="3"/>
              <c:layout>
                <c:manualLayout>
                  <c:x val="-6.1410447516324247E-2"/>
                  <c:y val="-0.256061728395061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C3-4E71-A1A9-E40C0E6E8C9E}"/>
                </c:ext>
              </c:extLst>
            </c:dLbl>
            <c:dLbl>
              <c:idx val="4"/>
              <c:layout>
                <c:manualLayout>
                  <c:x val="-6.1410447516324247E-2"/>
                  <c:y val="-0.286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8C3-4E71-A1A9-E40C0E6E8C9E}"/>
                </c:ext>
              </c:extLst>
            </c:dLbl>
            <c:dLbl>
              <c:idx val="5"/>
              <c:layout>
                <c:manualLayout>
                  <c:x val="-6.1410447516324247E-2"/>
                  <c:y val="-0.274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8C3-4E71-A1A9-E40C0E6E8C9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0.59</c:v>
                </c:pt>
                <c:pt idx="1">
                  <c:v>0.63</c:v>
                </c:pt>
                <c:pt idx="2">
                  <c:v>0.59</c:v>
                </c:pt>
                <c:pt idx="3">
                  <c:v>0.56999999999999995</c:v>
                </c:pt>
                <c:pt idx="4">
                  <c:v>0.52</c:v>
                </c:pt>
                <c:pt idx="5">
                  <c:v>0.54</c:v>
                </c:pt>
              </c:numCache>
            </c:numRef>
          </c:val>
          <c:smooth val="0"/>
          <c:extLst>
            <c:ext xmlns:c16="http://schemas.microsoft.com/office/drawing/2014/chart" uri="{C3380CC4-5D6E-409C-BE32-E72D297353CC}">
              <c16:uniqueId val="{00000006-88C3-4E71-A1A9-E40C0E6E8C9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ZP21</c:v>
                </c:pt>
                <c:pt idx="1">
                  <c:v>ZENPEP can help your patients absorb the fat and nutrients they need and treat uncomfortable GI symptoms</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383280864197530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164-416D-AC61-D5B783E85420}"/>
                </c:ext>
              </c:extLst>
            </c:dLbl>
            <c:dLbl>
              <c:idx val="1"/>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164-416D-AC61-D5B783E85420}"/>
                </c:ext>
              </c:extLst>
            </c:dLbl>
            <c:dLbl>
              <c:idx val="2"/>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164-416D-AC61-D5B783E85420}"/>
                </c:ext>
              </c:extLst>
            </c:dLbl>
            <c:dLbl>
              <c:idx val="3"/>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164-416D-AC61-D5B783E85420}"/>
                </c:ext>
              </c:extLst>
            </c:dLbl>
            <c:dLbl>
              <c:idx val="4"/>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164-416D-AC61-D5B783E85420}"/>
                </c:ext>
              </c:extLst>
            </c:dLbl>
            <c:dLbl>
              <c:idx val="5"/>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164-416D-AC61-D5B783E854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0.36</c:v>
                </c:pt>
                <c:pt idx="1">
                  <c:v>0.35</c:v>
                </c:pt>
                <c:pt idx="2">
                  <c:v>0.35</c:v>
                </c:pt>
                <c:pt idx="3">
                  <c:v>0.35</c:v>
                </c:pt>
                <c:pt idx="4">
                  <c:v>0.35</c:v>
                </c:pt>
                <c:pt idx="5">
                  <c:v>0.35</c:v>
                </c:pt>
              </c:numCache>
            </c:numRef>
          </c:val>
          <c:smooth val="0"/>
          <c:extLst>
            <c:ext xmlns:c16="http://schemas.microsoft.com/office/drawing/2014/chart" uri="{C3380CC4-5D6E-409C-BE32-E72D297353CC}">
              <c16:uniqueId val="{00000006-9164-416D-AC61-D5B783E8542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ZP23</c:v>
                </c:pt>
                <c:pt idx="1">
                  <c:v>Zenpep is the most widely covered treatment in its class.</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274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C3D-4989-B470-B7380F6AF2C5}"/>
                </c:ext>
              </c:extLst>
            </c:dLbl>
            <c:dLbl>
              <c:idx val="1"/>
              <c:layout>
                <c:manualLayout>
                  <c:x val="-6.1410447516324247E-2"/>
                  <c:y val="-0.304524691358024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C3D-4989-B470-B7380F6AF2C5}"/>
                </c:ext>
              </c:extLst>
            </c:dLbl>
            <c:dLbl>
              <c:idx val="2"/>
              <c:layout>
                <c:manualLayout>
                  <c:x val="-6.1410447516324247E-2"/>
                  <c:y val="-0.35299074074074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C3D-4989-B470-B7380F6AF2C5}"/>
                </c:ext>
              </c:extLst>
            </c:dLbl>
            <c:dLbl>
              <c:idx val="3"/>
              <c:layout>
                <c:manualLayout>
                  <c:x val="-6.1410447516324247E-2"/>
                  <c:y val="-0.383280864197530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C3D-4989-B470-B7380F6AF2C5}"/>
                </c:ext>
              </c:extLst>
            </c:dLbl>
            <c:dLbl>
              <c:idx val="4"/>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C3D-4989-B470-B7380F6AF2C5}"/>
                </c:ext>
              </c:extLst>
            </c:dLbl>
            <c:dLbl>
              <c:idx val="5"/>
              <c:layout>
                <c:manualLayout>
                  <c:x val="-6.1410447516324247E-2"/>
                  <c:y val="-0.395398148148148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C3D-4989-B470-B7380F6AF2C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0.54</c:v>
                </c:pt>
                <c:pt idx="1">
                  <c:v>0.49</c:v>
                </c:pt>
                <c:pt idx="2">
                  <c:v>0.41</c:v>
                </c:pt>
                <c:pt idx="3">
                  <c:v>0.36</c:v>
                </c:pt>
                <c:pt idx="4">
                  <c:v>0.35</c:v>
                </c:pt>
                <c:pt idx="5">
                  <c:v>0.34</c:v>
                </c:pt>
              </c:numCache>
            </c:numRef>
          </c:val>
          <c:smooth val="0"/>
          <c:extLst>
            <c:ext xmlns:c16="http://schemas.microsoft.com/office/drawing/2014/chart" uri="{C3380CC4-5D6E-409C-BE32-E72D297353CC}">
              <c16:uniqueId val="{00000006-AC3D-4989-B470-B7380F6AF2C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ZP15</c:v>
                </c:pt>
                <c:pt idx="1">
                  <c:v>When prescribing PERT to your adult patients with EPI -Start simply with one capsule of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35299074074074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CF1-41CB-AB62-C7C75891AD87}"/>
                </c:ext>
              </c:extLst>
            </c:dLbl>
            <c:dLbl>
              <c:idx val="1"/>
              <c:layout>
                <c:manualLayout>
                  <c:x val="-6.1410447516324247E-2"/>
                  <c:y val="-0.3469320987654320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CF1-41CB-AB62-C7C75891AD87}"/>
                </c:ext>
              </c:extLst>
            </c:dLbl>
            <c:dLbl>
              <c:idx val="2"/>
              <c:layout>
                <c:manualLayout>
                  <c:x val="-6.1410447516324247E-2"/>
                  <c:y val="-0.359049382716049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CF1-41CB-AB62-C7C75891AD87}"/>
                </c:ext>
              </c:extLst>
            </c:dLbl>
            <c:dLbl>
              <c:idx val="3"/>
              <c:layout>
                <c:manualLayout>
                  <c:x val="-6.1410447516324247E-2"/>
                  <c:y val="-0.377225308641975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CF1-41CB-AB62-C7C75891AD87}"/>
                </c:ext>
              </c:extLst>
            </c:dLbl>
            <c:dLbl>
              <c:idx val="4"/>
              <c:layout>
                <c:manualLayout>
                  <c:x val="-6.1410447516324247E-2"/>
                  <c:y val="-0.413574074074074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CF1-41CB-AB62-C7C75891AD87}"/>
                </c:ext>
              </c:extLst>
            </c:dLbl>
            <c:dLbl>
              <c:idx val="5"/>
              <c:layout>
                <c:manualLayout>
                  <c:x val="-6.1410447516324247E-2"/>
                  <c:y val="-0.407515432098765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CF1-41CB-AB62-C7C75891AD8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0.41</c:v>
                </c:pt>
                <c:pt idx="1">
                  <c:v>0.42</c:v>
                </c:pt>
                <c:pt idx="2">
                  <c:v>0.4</c:v>
                </c:pt>
                <c:pt idx="3">
                  <c:v>0.37</c:v>
                </c:pt>
                <c:pt idx="4">
                  <c:v>0.31</c:v>
                </c:pt>
                <c:pt idx="5">
                  <c:v>0.32</c:v>
                </c:pt>
              </c:numCache>
            </c:numRef>
          </c:val>
          <c:smooth val="0"/>
          <c:extLst>
            <c:ext xmlns:c16="http://schemas.microsoft.com/office/drawing/2014/chart" uri="{C3380CC4-5D6E-409C-BE32-E72D297353CC}">
              <c16:uniqueId val="{00000006-3CF1-41CB-AB62-C7C75891AD8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ZP19</c:v>
                </c:pt>
                <c:pt idx="1">
                  <c:v>Meets the ACG guideline for EPI and CP in a single capsule</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19632716049382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053-4995-B154-E69C35689A77}"/>
                </c:ext>
              </c:extLst>
            </c:dLbl>
            <c:dLbl>
              <c:idx val="1"/>
              <c:layout>
                <c:manualLayout>
                  <c:x val="-6.1410447516324247E-2"/>
                  <c:y val="-0.413574074074074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053-4995-B154-E69C35689A77}"/>
                </c:ext>
              </c:extLst>
            </c:dLbl>
            <c:dLbl>
              <c:idx val="2"/>
              <c:layout>
                <c:manualLayout>
                  <c:x val="-6.1410447516324247E-2"/>
                  <c:y val="-0.383280864197530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053-4995-B154-E69C35689A77}"/>
                </c:ext>
              </c:extLst>
            </c:dLbl>
            <c:dLbl>
              <c:idx val="3"/>
              <c:layout>
                <c:manualLayout>
                  <c:x val="-6.1410447516324247E-2"/>
                  <c:y val="-0.389339506172839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053-4995-B154-E69C35689A77}"/>
                </c:ext>
              </c:extLst>
            </c:dLbl>
            <c:dLbl>
              <c:idx val="4"/>
              <c:layout>
                <c:manualLayout>
                  <c:x val="-6.1410447516324247E-2"/>
                  <c:y val="-0.395398148148148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053-4995-B154-E69C35689A77}"/>
                </c:ext>
              </c:extLst>
            </c:dLbl>
            <c:dLbl>
              <c:idx val="5"/>
              <c:layout>
                <c:manualLayout>
                  <c:x val="-6.1410447516324247E-2"/>
                  <c:y val="-0.419632716049382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053-4995-B154-E69C35689A7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0.3</c:v>
                </c:pt>
                <c:pt idx="1">
                  <c:v>0.31</c:v>
                </c:pt>
                <c:pt idx="2">
                  <c:v>0.36</c:v>
                </c:pt>
                <c:pt idx="3">
                  <c:v>0.35</c:v>
                </c:pt>
                <c:pt idx="4">
                  <c:v>0.34</c:v>
                </c:pt>
                <c:pt idx="5">
                  <c:v>0.3</c:v>
                </c:pt>
              </c:numCache>
            </c:numRef>
          </c:val>
          <c:smooth val="0"/>
          <c:extLst>
            <c:ext xmlns:c16="http://schemas.microsoft.com/office/drawing/2014/chart" uri="{C3380CC4-5D6E-409C-BE32-E72D297353CC}">
              <c16:uniqueId val="{00000006-2053-4995-B154-E69C35689A7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ZP7</c:v>
                </c:pt>
                <c:pt idx="1">
                  <c:v>ZENPEP has an enteric coating that minimizes degradation and targets enzyme release in the small intestine</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13574074074074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7F6-45A4-8156-5E3409EB09F4}"/>
                </c:ext>
              </c:extLst>
            </c:dLbl>
            <c:dLbl>
              <c:idx val="1"/>
              <c:layout>
                <c:manualLayout>
                  <c:x val="-6.1410447516324247E-2"/>
                  <c:y val="-0.407515432098765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7F6-45A4-8156-5E3409EB09F4}"/>
                </c:ext>
              </c:extLst>
            </c:dLbl>
            <c:dLbl>
              <c:idx val="2"/>
              <c:layout>
                <c:manualLayout>
                  <c:x val="-6.1410447516324247E-2"/>
                  <c:y val="-0.3651080246913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7F6-45A4-8156-5E3409EB09F4}"/>
                </c:ext>
              </c:extLst>
            </c:dLbl>
            <c:dLbl>
              <c:idx val="3"/>
              <c:layout>
                <c:manualLayout>
                  <c:x val="-6.1410447516324247E-2"/>
                  <c:y val="-0.37116666666666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7F6-45A4-8156-5E3409EB09F4}"/>
                </c:ext>
              </c:extLst>
            </c:dLbl>
            <c:dLbl>
              <c:idx val="4"/>
              <c:layout>
                <c:manualLayout>
                  <c:x val="-6.1410447516324247E-2"/>
                  <c:y val="-0.401456790123456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7F6-45A4-8156-5E3409EB09F4}"/>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7F6-45A4-8156-5E3409EB09F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0.31</c:v>
                </c:pt>
                <c:pt idx="1">
                  <c:v>0.32</c:v>
                </c:pt>
                <c:pt idx="2">
                  <c:v>0.39</c:v>
                </c:pt>
                <c:pt idx="3">
                  <c:v>0.38</c:v>
                </c:pt>
                <c:pt idx="4">
                  <c:v>0.33</c:v>
                </c:pt>
                <c:pt idx="5">
                  <c:v>0.27</c:v>
                </c:pt>
              </c:numCache>
            </c:numRef>
          </c:val>
          <c:smooth val="0"/>
          <c:extLst>
            <c:ext xmlns:c16="http://schemas.microsoft.com/office/drawing/2014/chart" uri="{C3380CC4-5D6E-409C-BE32-E72D297353CC}">
              <c16:uniqueId val="{00000006-27F6-45A4-8156-5E3409EB09F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ZP24</c:v>
                </c:pt>
                <c:pt idx="1">
                  <c:v>Zenpep is designed to mimic typical exocrine pancreatic function.</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2099300155156493E-2"/>
                  <c:y val="-0.325012345679012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CE8-4A99-9ECD-70D96F52F6E0}"/>
                </c:ext>
              </c:extLst>
            </c:dLbl>
            <c:dLbl>
              <c:idx val="1"/>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CE8-4A99-9ECD-70D96F52F6E0}"/>
                </c:ext>
              </c:extLst>
            </c:dLbl>
            <c:dLbl>
              <c:idx val="2"/>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CE8-4A99-9ECD-70D96F52F6E0}"/>
                </c:ext>
              </c:extLst>
            </c:dLbl>
            <c:dLbl>
              <c:idx val="3"/>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CE8-4A99-9ECD-70D96F52F6E0}"/>
                </c:ext>
              </c:extLst>
            </c:dLbl>
            <c:dLbl>
              <c:idx val="4"/>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CE8-4A99-9ECD-70D96F52F6E0}"/>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CE8-4A99-9ECD-70D96F52F6E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0.23</c:v>
                </c:pt>
                <c:pt idx="2">
                  <c:v>0.25</c:v>
                </c:pt>
                <c:pt idx="3">
                  <c:v>0.22</c:v>
                </c:pt>
                <c:pt idx="4">
                  <c:v>0.26</c:v>
                </c:pt>
                <c:pt idx="5">
                  <c:v>0.26</c:v>
                </c:pt>
              </c:numCache>
            </c:numRef>
          </c:val>
          <c:smooth val="0"/>
          <c:extLst>
            <c:ext xmlns:c16="http://schemas.microsoft.com/office/drawing/2014/chart" uri="{C3380CC4-5D6E-409C-BE32-E72D297353CC}">
              <c16:uniqueId val="{00000006-ACE8-4A99-9ECD-70D96F52F6E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ZP18</c:v>
                </c:pt>
                <c:pt idx="1">
                  <c:v>In a clinical trial, the right dose helped patients absorb nutrients from their food and provided symptom relief</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A1-4DA0-B206-7935716B013C}"/>
                </c:ext>
              </c:extLst>
            </c:dLbl>
            <c:dLbl>
              <c:idx val="1"/>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0A1-4DA0-B206-7935716B013C}"/>
                </c:ext>
              </c:extLst>
            </c:dLbl>
            <c:dLbl>
              <c:idx val="2"/>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0A1-4DA0-B206-7935716B013C}"/>
                </c:ext>
              </c:extLst>
            </c:dLbl>
            <c:dLbl>
              <c:idx val="3"/>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0A1-4DA0-B206-7935716B013C}"/>
                </c:ext>
              </c:extLst>
            </c:dLbl>
            <c:dLbl>
              <c:idx val="4"/>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0A1-4DA0-B206-7935716B013C}"/>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0A1-4DA0-B206-7935716B013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0.23</c:v>
                </c:pt>
                <c:pt idx="1">
                  <c:v>0.24</c:v>
                </c:pt>
                <c:pt idx="2">
                  <c:v>0.25</c:v>
                </c:pt>
                <c:pt idx="3">
                  <c:v>0.23</c:v>
                </c:pt>
                <c:pt idx="4">
                  <c:v>0.26</c:v>
                </c:pt>
                <c:pt idx="5">
                  <c:v>0.21</c:v>
                </c:pt>
              </c:numCache>
            </c:numRef>
          </c:val>
          <c:smooth val="0"/>
          <c:extLst>
            <c:ext xmlns:c16="http://schemas.microsoft.com/office/drawing/2014/chart" uri="{C3380CC4-5D6E-409C-BE32-E72D297353CC}">
              <c16:uniqueId val="{00000006-B0A1-4DA0-B206-7935716B013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ZP22</c:v>
                </c:pt>
                <c:pt idx="1">
                  <c:v>Through My SampleCloset, practices are able to easily request samples of Zenpep at any strength</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366-40F4-8993-46341A936E9A}"/>
                </c:ext>
              </c:extLst>
            </c:dLbl>
            <c:dLbl>
              <c:idx val="1"/>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366-40F4-8993-46341A936E9A}"/>
                </c:ext>
              </c:extLst>
            </c:dLbl>
            <c:dLbl>
              <c:idx val="2"/>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366-40F4-8993-46341A936E9A}"/>
                </c:ext>
              </c:extLst>
            </c:dLbl>
            <c:dLbl>
              <c:idx val="3"/>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366-40F4-8993-46341A936E9A}"/>
                </c:ext>
              </c:extLst>
            </c:dLbl>
            <c:dLbl>
              <c:idx val="4"/>
              <c:layout>
                <c:manualLayout>
                  <c:x val="-6.1410447516324247E-2"/>
                  <c:y val="-0.403768518518518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366-40F4-8993-46341A936E9A}"/>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366-40F4-8993-46341A936E9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0.18</c:v>
                </c:pt>
                <c:pt idx="1">
                  <c:v>0.21</c:v>
                </c:pt>
                <c:pt idx="2">
                  <c:v>0.19</c:v>
                </c:pt>
                <c:pt idx="3">
                  <c:v>0.18</c:v>
                </c:pt>
                <c:pt idx="4">
                  <c:v>0.13</c:v>
                </c:pt>
                <c:pt idx="5">
                  <c:v>0.21</c:v>
                </c:pt>
              </c:numCache>
            </c:numRef>
          </c:val>
          <c:smooth val="0"/>
          <c:extLst>
            <c:ext xmlns:c16="http://schemas.microsoft.com/office/drawing/2014/chart" uri="{C3380CC4-5D6E-409C-BE32-E72D297353CC}">
              <c16:uniqueId val="{00000006-F366-40F4-8993-46341A936E9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ZP25</c:v>
                </c:pt>
                <c:pt idx="1">
                  <c:v>ZENPEP is the fastest growing PERT</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2099300155156493E-2"/>
                  <c:y val="-0.325012345679012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EE4-4B0A-8EF6-AA7A1876E3E4}"/>
                </c:ext>
              </c:extLst>
            </c:dLbl>
            <c:dLbl>
              <c:idx val="1"/>
              <c:layout>
                <c:manualLayout>
                  <c:x val="-5.2099300155156493E-2"/>
                  <c:y val="-0.325012345679012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EE4-4B0A-8EF6-AA7A1876E3E4}"/>
                </c:ext>
              </c:extLst>
            </c:dLbl>
            <c:dLbl>
              <c:idx val="2"/>
              <c:layout>
                <c:manualLayout>
                  <c:x val="-5.2099300155156493E-2"/>
                  <c:y val="-0.325012345679012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EE4-4B0A-8EF6-AA7A1876E3E4}"/>
                </c:ext>
              </c:extLst>
            </c:dLbl>
            <c:dLbl>
              <c:idx val="3"/>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EE4-4B0A-8EF6-AA7A1876E3E4}"/>
                </c:ext>
              </c:extLst>
            </c:dLbl>
            <c:dLbl>
              <c:idx val="4"/>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EE4-4B0A-8EF6-AA7A1876E3E4}"/>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EE4-4B0A-8EF6-AA7A1876E3E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c:v>
                </c:pt>
                <c:pt idx="2">
                  <c:v>0</c:v>
                </c:pt>
                <c:pt idx="3">
                  <c:v>0.22</c:v>
                </c:pt>
                <c:pt idx="4">
                  <c:v>0.19</c:v>
                </c:pt>
                <c:pt idx="5">
                  <c:v>0.19</c:v>
                </c:pt>
              </c:numCache>
            </c:numRef>
          </c:val>
          <c:smooth val="0"/>
          <c:extLst>
            <c:ext xmlns:c16="http://schemas.microsoft.com/office/drawing/2014/chart" uri="{C3380CC4-5D6E-409C-BE32-E72D297353CC}">
              <c16:uniqueId val="{00000006-5EE4-4B0A-8EF6-AA7A1876E3E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Sheet1!$B$1:$B$2</c:f>
              <c:strCache>
                <c:ptCount val="2"/>
                <c:pt idx="0">
                  <c:v>ZP20</c:v>
                </c:pt>
                <c:pt idx="1">
                  <c:v>91% of patients achieved a CFA of 80% or higher with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ABA-4E82-A18F-2457F955C91F}"/>
                </c:ext>
              </c:extLst>
            </c:dLbl>
            <c:dLbl>
              <c:idx val="1"/>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ABA-4E82-A18F-2457F955C91F}"/>
                </c:ext>
              </c:extLst>
            </c:dLbl>
            <c:dLbl>
              <c:idx val="2"/>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ABA-4E82-A18F-2457F955C91F}"/>
                </c:ext>
              </c:extLst>
            </c:dLbl>
            <c:dLbl>
              <c:idx val="3"/>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ABA-4E82-A18F-2457F955C91F}"/>
                </c:ext>
              </c:extLst>
            </c:dLbl>
            <c:dLbl>
              <c:idx val="4"/>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ABA-4E82-A18F-2457F955C91F}"/>
                </c:ext>
              </c:extLst>
            </c:dLbl>
            <c:dLbl>
              <c:idx val="5"/>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ABA-4E82-A18F-2457F955C91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0.21</c:v>
                </c:pt>
                <c:pt idx="1">
                  <c:v>0.25</c:v>
                </c:pt>
                <c:pt idx="2">
                  <c:v>0.24</c:v>
                </c:pt>
                <c:pt idx="3">
                  <c:v>0.2</c:v>
                </c:pt>
                <c:pt idx="4">
                  <c:v>0.18</c:v>
                </c:pt>
                <c:pt idx="5">
                  <c:v>0.19</c:v>
                </c:pt>
              </c:numCache>
            </c:numRef>
          </c:val>
          <c:smooth val="0"/>
          <c:extLst>
            <c:ext xmlns:c16="http://schemas.microsoft.com/office/drawing/2014/chart" uri="{C3380CC4-5D6E-409C-BE32-E72D297353CC}">
              <c16:uniqueId val="{00000006-FABA-4E82-A18F-2457F955C91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24968476513243E-2"/>
          <c:y val="0.37805555555555564"/>
          <c:w val="0.90860707518995643"/>
          <c:h val="0.59666650787395326"/>
        </c:manualLayout>
      </c:layout>
      <c:lineChart>
        <c:grouping val="standard"/>
        <c:varyColors val="0"/>
        <c:ser>
          <c:idx val="0"/>
          <c:order val="0"/>
          <c:tx>
            <c:strRef>
              <c:f>Sheet1!$B$1</c:f>
              <c:strCache>
                <c:ptCount val="1"/>
                <c:pt idx="0">
                  <c:v>ZENPEP has an enteric coating that minimizes degradation and targets enzyme release in the small intestine</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6.1410447516324247E-2"/>
                  <c:y val="-0.426388888888888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812-4CB9-954A-116D2E7230CD}"/>
                </c:ext>
              </c:extLst>
            </c:dLbl>
            <c:dLbl>
              <c:idx val="1"/>
              <c:layout>
                <c:manualLayout>
                  <c:x val="-6.1410447516324247E-2"/>
                  <c:y val="-0.42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812-4CB9-954A-116D2E7230CD}"/>
                </c:ext>
              </c:extLst>
            </c:dLbl>
            <c:dLbl>
              <c:idx val="2"/>
              <c:layout>
                <c:manualLayout>
                  <c:x val="-6.1410447516324247E-2"/>
                  <c:y val="-0.415885802469135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812-4CB9-954A-116D2E7230CD}"/>
                </c:ext>
              </c:extLst>
            </c:dLbl>
            <c:dLbl>
              <c:idx val="3"/>
              <c:layout>
                <c:manualLayout>
                  <c:x val="-6.1410447516324247E-2"/>
                  <c:y val="-0.42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812-4CB9-954A-116D2E7230CD}"/>
                </c:ext>
              </c:extLst>
            </c:dLbl>
            <c:dLbl>
              <c:idx val="4"/>
              <c:layout>
                <c:manualLayout>
                  <c:x val="-6.1410447516324247E-2"/>
                  <c:y val="-0.415885802469135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812-4CB9-954A-116D2E7230CD}"/>
                </c:ext>
              </c:extLst>
            </c:dLbl>
            <c:dLbl>
              <c:idx val="5"/>
              <c:layout>
                <c:manualLayout>
                  <c:x val="-6.1410447516324247E-2"/>
                  <c:y val="-0.42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812-4CB9-954A-116D2E7230C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0.31</c:v>
                </c:pt>
                <c:pt idx="1">
                  <c:v>0.32</c:v>
                </c:pt>
                <c:pt idx="2">
                  <c:v>0.39</c:v>
                </c:pt>
                <c:pt idx="3">
                  <c:v>0.38</c:v>
                </c:pt>
                <c:pt idx="4">
                  <c:v>0.33</c:v>
                </c:pt>
                <c:pt idx="5">
                  <c:v>0.27</c:v>
                </c:pt>
              </c:numCache>
            </c:numRef>
          </c:val>
          <c:smooth val="0"/>
          <c:extLst>
            <c:ext xmlns:c16="http://schemas.microsoft.com/office/drawing/2014/chart" uri="{C3380CC4-5D6E-409C-BE32-E72D297353CC}">
              <c16:uniqueId val="{00000006-A812-4CB9-954A-116D2E7230C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8"/>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135-4420-A38A-DDD1AD1A1DED}"/>
                </c:ext>
              </c:extLst>
            </c:dLbl>
            <c:dLbl>
              <c:idx val="1"/>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135-4420-A38A-DDD1AD1A1DED}"/>
                </c:ext>
              </c:extLst>
            </c:dLbl>
            <c:dLbl>
              <c:idx val="2"/>
              <c:layout>
                <c:manualLayout>
                  <c:x val="-5.6915798754181172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135-4420-A38A-DDD1AD1A1DED}"/>
                </c:ext>
              </c:extLst>
            </c:dLbl>
            <c:dLbl>
              <c:idx val="3"/>
              <c:layout>
                <c:manualLayout>
                  <c:x val="-5.6915798754181172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135-4420-A38A-DDD1AD1A1DED}"/>
                </c:ext>
              </c:extLst>
            </c:dLbl>
            <c:dLbl>
              <c:idx val="4"/>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135-4420-A38A-DDD1AD1A1DED}"/>
                </c:ext>
              </c:extLst>
            </c:dLbl>
            <c:dLbl>
              <c:idx val="5"/>
              <c:layout>
                <c:manualLayout>
                  <c:x val="-5.6915798754181172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135-4420-A38A-DDD1AD1A1DE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c:v>
                </c:pt>
                <c:pt idx="1">
                  <c:v>0.61</c:v>
                </c:pt>
                <c:pt idx="2">
                  <c:v>0.56000000000000005</c:v>
                </c:pt>
                <c:pt idx="3">
                  <c:v>0.54</c:v>
                </c:pt>
                <c:pt idx="4">
                  <c:v>0.53</c:v>
                </c:pt>
                <c:pt idx="5">
                  <c:v>0.56999999999999995</c:v>
                </c:pt>
              </c:numCache>
            </c:numRef>
          </c:val>
          <c:smooth val="0"/>
          <c:extLst>
            <c:ext xmlns:c16="http://schemas.microsoft.com/office/drawing/2014/chart" uri="{C3380CC4-5D6E-409C-BE32-E72D297353CC}">
              <c16:uniqueId val="{00000006-4135-4420-A38A-DDD1AD1A1DE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CR9</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F86-4F89-88A3-EE1A736196E9}"/>
                </c:ext>
              </c:extLst>
            </c:dLbl>
            <c:dLbl>
              <c:idx val="1"/>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F86-4F89-88A3-EE1A736196E9}"/>
                </c:ext>
              </c:extLst>
            </c:dLbl>
            <c:dLbl>
              <c:idx val="2"/>
              <c:layout>
                <c:manualLayout>
                  <c:x val="-5.6915798754181172E-2"/>
                  <c:y val="-0.229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F86-4F89-88A3-EE1A736196E9}"/>
                </c:ext>
              </c:extLst>
            </c:dLbl>
            <c:dLbl>
              <c:idx val="3"/>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F86-4F89-88A3-EE1A736196E9}"/>
                </c:ext>
              </c:extLst>
            </c:dLbl>
            <c:dLbl>
              <c:idx val="4"/>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F86-4F89-88A3-EE1A736196E9}"/>
                </c:ext>
              </c:extLst>
            </c:dLbl>
            <c:dLbl>
              <c:idx val="5"/>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F86-4F89-88A3-EE1A736196E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c:v>
                </c:pt>
                <c:pt idx="1">
                  <c:v>0.61</c:v>
                </c:pt>
                <c:pt idx="2">
                  <c:v>0.65</c:v>
                </c:pt>
                <c:pt idx="3">
                  <c:v>0.64</c:v>
                </c:pt>
                <c:pt idx="4">
                  <c:v>0.64</c:v>
                </c:pt>
                <c:pt idx="5">
                  <c:v>0.64</c:v>
                </c:pt>
              </c:numCache>
            </c:numRef>
          </c:val>
          <c:smooth val="0"/>
          <c:extLst>
            <c:ext xmlns:c16="http://schemas.microsoft.com/office/drawing/2014/chart" uri="{C3380CC4-5D6E-409C-BE32-E72D297353CC}">
              <c16:uniqueId val="{00000006-9F86-4F89-88A3-EE1A736196E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CR10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3210493827160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D28-461C-9FAB-95CC989B3A5D}"/>
                </c:ext>
              </c:extLst>
            </c:dLbl>
            <c:dLbl>
              <c:idx val="1"/>
              <c:layout>
                <c:manualLayout>
                  <c:x val="-5.6915798754181172E-2"/>
                  <c:y val="-0.229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D28-461C-9FAB-95CC989B3A5D}"/>
                </c:ext>
              </c:extLst>
            </c:dLbl>
            <c:dLbl>
              <c:idx val="2"/>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D28-461C-9FAB-95CC989B3A5D}"/>
                </c:ext>
              </c:extLst>
            </c:dLbl>
            <c:dLbl>
              <c:idx val="3"/>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D28-461C-9FAB-95CC989B3A5D}"/>
                </c:ext>
              </c:extLst>
            </c:dLbl>
            <c:dLbl>
              <c:idx val="4"/>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D28-461C-9FAB-95CC989B3A5D}"/>
                </c:ext>
              </c:extLst>
            </c:dLbl>
            <c:dLbl>
              <c:idx val="5"/>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D28-461C-9FAB-95CC989B3A5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0.63</c:v>
                </c:pt>
                <c:pt idx="1">
                  <c:v>0.65</c:v>
                </c:pt>
                <c:pt idx="2">
                  <c:v>0.64</c:v>
                </c:pt>
                <c:pt idx="3">
                  <c:v>0.64</c:v>
                </c:pt>
                <c:pt idx="4">
                  <c:v>0.6</c:v>
                </c:pt>
                <c:pt idx="5">
                  <c:v>0.64</c:v>
                </c:pt>
              </c:numCache>
            </c:numRef>
          </c:val>
          <c:smooth val="0"/>
          <c:extLst>
            <c:ext xmlns:c16="http://schemas.microsoft.com/office/drawing/2014/chart" uri="{C3380CC4-5D6E-409C-BE32-E72D297353CC}">
              <c16:uniqueId val="{00000006-6D28-461C-9FAB-95CC989B3A5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CR16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29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81-4062-A589-B9413EBCD4EB}"/>
                </c:ext>
              </c:extLst>
            </c:dLbl>
            <c:dLbl>
              <c:idx val="1"/>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81-4062-A589-B9413EBCD4EB}"/>
                </c:ext>
              </c:extLst>
            </c:dLbl>
            <c:dLbl>
              <c:idx val="2"/>
              <c:layout>
                <c:manualLayout>
                  <c:x val="-5.6915798754181172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81-4062-A589-B9413EBCD4EB}"/>
                </c:ext>
              </c:extLst>
            </c:dLbl>
            <c:dLbl>
              <c:idx val="3"/>
              <c:layout>
                <c:manualLayout>
                  <c:x val="-5.6915798754181172E-2"/>
                  <c:y val="-0.229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81-4062-A589-B9413EBCD4EB}"/>
                </c:ext>
              </c:extLst>
            </c:dLbl>
            <c:dLbl>
              <c:idx val="4"/>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181-4062-A589-B9413EBCD4EB}"/>
                </c:ext>
              </c:extLst>
            </c:dLbl>
            <c:dLbl>
              <c:idx val="5"/>
              <c:layout>
                <c:manualLayout>
                  <c:x val="-5.6915798754181172E-2"/>
                  <c:y val="-0.23210493827160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181-4062-A589-B9413EBCD4E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0.65</c:v>
                </c:pt>
                <c:pt idx="1">
                  <c:v>0.64</c:v>
                </c:pt>
                <c:pt idx="2">
                  <c:v>0.64</c:v>
                </c:pt>
                <c:pt idx="3">
                  <c:v>0.65</c:v>
                </c:pt>
                <c:pt idx="4">
                  <c:v>0.61</c:v>
                </c:pt>
                <c:pt idx="5">
                  <c:v>0.63</c:v>
                </c:pt>
              </c:numCache>
            </c:numRef>
          </c:val>
          <c:smooth val="0"/>
          <c:extLst>
            <c:ext xmlns:c16="http://schemas.microsoft.com/office/drawing/2014/chart" uri="{C3380CC4-5D6E-409C-BE32-E72D297353CC}">
              <c16:uniqueId val="{00000006-C181-4062-A589-B9413EBCD4E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CR3</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85D-41F6-9252-6C0570560071}"/>
                </c:ext>
              </c:extLst>
            </c:dLbl>
            <c:dLbl>
              <c:idx val="1"/>
              <c:layout>
                <c:manualLayout>
                  <c:x val="-5.6915798754181172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85D-41F6-9252-6C0570560071}"/>
                </c:ext>
              </c:extLst>
            </c:dLbl>
            <c:dLbl>
              <c:idx val="2"/>
              <c:layout>
                <c:manualLayout>
                  <c:x val="-5.6915798754181172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85D-41F6-9252-6C0570560071}"/>
                </c:ext>
              </c:extLst>
            </c:dLbl>
            <c:dLbl>
              <c:idx val="3"/>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85D-41F6-9252-6C0570560071}"/>
                </c:ext>
              </c:extLst>
            </c:dLbl>
            <c:dLbl>
              <c:idx val="4"/>
              <c:layout>
                <c:manualLayout>
                  <c:x val="-5.6915798754181172E-2"/>
                  <c:y val="-0.238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85D-41F6-9252-6C0570560071}"/>
                </c:ext>
              </c:extLst>
            </c:dLbl>
            <c:dLbl>
              <c:idx val="5"/>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85D-41F6-9252-6C057056007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0.62</c:v>
                </c:pt>
                <c:pt idx="1">
                  <c:v>0.62</c:v>
                </c:pt>
                <c:pt idx="2">
                  <c:v>0.62</c:v>
                </c:pt>
                <c:pt idx="3">
                  <c:v>0.6</c:v>
                </c:pt>
                <c:pt idx="4">
                  <c:v>0.57999999999999996</c:v>
                </c:pt>
                <c:pt idx="5">
                  <c:v>0.61</c:v>
                </c:pt>
              </c:numCache>
            </c:numRef>
          </c:val>
          <c:smooth val="0"/>
          <c:extLst>
            <c:ext xmlns:c16="http://schemas.microsoft.com/office/drawing/2014/chart" uri="{C3380CC4-5D6E-409C-BE32-E72D297353CC}">
              <c16:uniqueId val="{00000006-185D-41F6-9252-6C057056007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9D1-4378-93C3-5E00D69C12F1}"/>
                </c:ext>
              </c:extLst>
            </c:dLbl>
            <c:dLbl>
              <c:idx val="1"/>
              <c:layout>
                <c:manualLayout>
                  <c:x val="-5.6915798754181172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9D1-4378-93C3-5E00D69C12F1}"/>
                </c:ext>
              </c:extLst>
            </c:dLbl>
            <c:dLbl>
              <c:idx val="2"/>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9D1-4378-93C3-5E00D69C12F1}"/>
                </c:ext>
              </c:extLst>
            </c:dLbl>
            <c:dLbl>
              <c:idx val="3"/>
              <c:layout>
                <c:manualLayout>
                  <c:x val="-5.6915798754181172E-2"/>
                  <c:y val="-0.238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9D1-4378-93C3-5E00D69C12F1}"/>
                </c:ext>
              </c:extLst>
            </c:dLbl>
            <c:dLbl>
              <c:idx val="4"/>
              <c:layout>
                <c:manualLayout>
                  <c:x val="-5.6915798754181172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9D1-4378-93C3-5E00D69C12F1}"/>
                </c:ext>
              </c:extLst>
            </c:dLbl>
            <c:dLbl>
              <c:idx val="5"/>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9D1-4378-93C3-5E00D69C12F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0.56999999999999995</c:v>
                </c:pt>
                <c:pt idx="1">
                  <c:v>0.62</c:v>
                </c:pt>
                <c:pt idx="2">
                  <c:v>0.6</c:v>
                </c:pt>
                <c:pt idx="3">
                  <c:v>0.57999999999999996</c:v>
                </c:pt>
                <c:pt idx="4">
                  <c:v>0.55000000000000004</c:v>
                </c:pt>
                <c:pt idx="5">
                  <c:v>0.6</c:v>
                </c:pt>
              </c:numCache>
            </c:numRef>
          </c:val>
          <c:smooth val="0"/>
          <c:extLst>
            <c:ext xmlns:c16="http://schemas.microsoft.com/office/drawing/2014/chart" uri="{C3380CC4-5D6E-409C-BE32-E72D297353CC}">
              <c16:uniqueId val="{00000006-89D1-4378-93C3-5E00D69C12F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CR11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BE3-4973-9BD5-7FB88969433C}"/>
                </c:ext>
              </c:extLst>
            </c:dLbl>
            <c:dLbl>
              <c:idx val="1"/>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BE3-4973-9BD5-7FB88969433C}"/>
                </c:ext>
              </c:extLst>
            </c:dLbl>
            <c:dLbl>
              <c:idx val="2"/>
              <c:layout>
                <c:manualLayout>
                  <c:x val="-5.6915798754181172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BE3-4973-9BD5-7FB88969433C}"/>
                </c:ext>
              </c:extLst>
            </c:dLbl>
            <c:dLbl>
              <c:idx val="3"/>
              <c:layout>
                <c:manualLayout>
                  <c:x val="-5.6915798754181172E-2"/>
                  <c:y val="-0.23761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BE3-4973-9BD5-7FB88969433C}"/>
                </c:ext>
              </c:extLst>
            </c:dLbl>
            <c:dLbl>
              <c:idx val="4"/>
              <c:layout>
                <c:manualLayout>
                  <c:x val="-5.6915798754181172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BE3-4973-9BD5-7FB88969433C}"/>
                </c:ext>
              </c:extLst>
            </c:dLbl>
            <c:dLbl>
              <c:idx val="5"/>
              <c:layout>
                <c:manualLayout>
                  <c:x val="-5.6915798754181172E-2"/>
                  <c:y val="-0.23761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BE3-4973-9BD5-7FB88969433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0.61</c:v>
                </c:pt>
                <c:pt idx="1">
                  <c:v>0.6</c:v>
                </c:pt>
                <c:pt idx="2">
                  <c:v>0.62</c:v>
                </c:pt>
                <c:pt idx="3">
                  <c:v>0.59</c:v>
                </c:pt>
                <c:pt idx="4">
                  <c:v>0.56000000000000005</c:v>
                </c:pt>
                <c:pt idx="5">
                  <c:v>0.59</c:v>
                </c:pt>
              </c:numCache>
            </c:numRef>
          </c:val>
          <c:smooth val="0"/>
          <c:extLst>
            <c:ext xmlns:c16="http://schemas.microsoft.com/office/drawing/2014/chart" uri="{C3380CC4-5D6E-409C-BE32-E72D297353CC}">
              <c16:uniqueId val="{00000006-3BE3-4973-9BD5-7FB88969433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CR17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42E-4675-9383-B01ACD35A287}"/>
                </c:ext>
              </c:extLst>
            </c:dLbl>
            <c:dLbl>
              <c:idx val="1"/>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42E-4675-9383-B01ACD35A287}"/>
                </c:ext>
              </c:extLst>
            </c:dLbl>
            <c:dLbl>
              <c:idx val="2"/>
              <c:layout>
                <c:manualLayout>
                  <c:x val="-5.6915798754181172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42E-4675-9383-B01ACD35A287}"/>
                </c:ext>
              </c:extLst>
            </c:dLbl>
            <c:dLbl>
              <c:idx val="3"/>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42E-4675-9383-B01ACD35A287}"/>
                </c:ext>
              </c:extLst>
            </c:dLbl>
            <c:dLbl>
              <c:idx val="4"/>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42E-4675-9383-B01ACD35A287}"/>
                </c:ext>
              </c:extLst>
            </c:dLbl>
            <c:dLbl>
              <c:idx val="5"/>
              <c:layout>
                <c:manualLayout>
                  <c:x val="-5.6915798754181172E-2"/>
                  <c:y val="-0.238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42E-4675-9383-B01ACD35A28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0.56999999999999995</c:v>
                </c:pt>
                <c:pt idx="1">
                  <c:v>0.61</c:v>
                </c:pt>
                <c:pt idx="2">
                  <c:v>0.56999999999999995</c:v>
                </c:pt>
                <c:pt idx="3">
                  <c:v>0.53</c:v>
                </c:pt>
                <c:pt idx="4">
                  <c:v>0.53</c:v>
                </c:pt>
                <c:pt idx="5">
                  <c:v>0.57999999999999996</c:v>
                </c:pt>
              </c:numCache>
            </c:numRef>
          </c:val>
          <c:smooth val="0"/>
          <c:extLst>
            <c:ext xmlns:c16="http://schemas.microsoft.com/office/drawing/2014/chart" uri="{C3380CC4-5D6E-409C-BE32-E72D297353CC}">
              <c16:uniqueId val="{00000006-042E-4675-9383-B01ACD35A28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CR21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8286137014004533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0E0-4ED0-93E5-7B527232955C}"/>
                </c:ext>
              </c:extLst>
            </c:dLbl>
            <c:dLbl>
              <c:idx val="1"/>
              <c:layout>
                <c:manualLayout>
                  <c:x val="-5.6915798754181172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0E0-4ED0-93E5-7B527232955C}"/>
                </c:ext>
              </c:extLst>
            </c:dLbl>
            <c:dLbl>
              <c:idx val="2"/>
              <c:layout>
                <c:manualLayout>
                  <c:x val="-5.6915798754181172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0E0-4ED0-93E5-7B527232955C}"/>
                </c:ext>
              </c:extLst>
            </c:dLbl>
            <c:dLbl>
              <c:idx val="3"/>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0E0-4ED0-93E5-7B527232955C}"/>
                </c:ext>
              </c:extLst>
            </c:dLbl>
            <c:dLbl>
              <c:idx val="4"/>
              <c:layout>
                <c:manualLayout>
                  <c:x val="-5.6915798754181172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0E0-4ED0-93E5-7B527232955C}"/>
                </c:ext>
              </c:extLst>
            </c:dLbl>
            <c:dLbl>
              <c:idx val="5"/>
              <c:layout>
                <c:manualLayout>
                  <c:x val="-5.6915798754181172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0E0-4ED0-93E5-7B527232955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c:v>
                </c:pt>
                <c:pt idx="1">
                  <c:v>0.6</c:v>
                </c:pt>
                <c:pt idx="2">
                  <c:v>0.5</c:v>
                </c:pt>
                <c:pt idx="3">
                  <c:v>0.53</c:v>
                </c:pt>
                <c:pt idx="4">
                  <c:v>0.5</c:v>
                </c:pt>
                <c:pt idx="5">
                  <c:v>0.54</c:v>
                </c:pt>
              </c:numCache>
            </c:numRef>
          </c:val>
          <c:smooth val="0"/>
          <c:extLst>
            <c:ext xmlns:c16="http://schemas.microsoft.com/office/drawing/2014/chart" uri="{C3380CC4-5D6E-409C-BE32-E72D297353CC}">
              <c16:uniqueId val="{00000006-F0E0-4ED0-93E5-7B527232955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CR20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8286137014004533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A3A-4388-9150-396016489F38}"/>
                </c:ext>
              </c:extLst>
            </c:dLbl>
            <c:dLbl>
              <c:idx val="1"/>
              <c:layout>
                <c:manualLayout>
                  <c:x val="-5.6915798754181172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A3A-4388-9150-396016489F38}"/>
                </c:ext>
              </c:extLst>
            </c:dLbl>
            <c:dLbl>
              <c:idx val="2"/>
              <c:layout>
                <c:manualLayout>
                  <c:x val="-5.6915798754181172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A3A-4388-9150-396016489F38}"/>
                </c:ext>
              </c:extLst>
            </c:dLbl>
            <c:dLbl>
              <c:idx val="3"/>
              <c:layout>
                <c:manualLayout>
                  <c:x val="-5.6915798754181172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A3A-4388-9150-396016489F38}"/>
                </c:ext>
              </c:extLst>
            </c:dLbl>
            <c:dLbl>
              <c:idx val="4"/>
              <c:layout>
                <c:manualLayout>
                  <c:x val="-5.6915798754181172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A3A-4388-9150-396016489F38}"/>
                </c:ext>
              </c:extLst>
            </c:dLbl>
            <c:dLbl>
              <c:idx val="5"/>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A3A-4388-9150-396016489F3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c:v>
                </c:pt>
                <c:pt idx="1">
                  <c:v>0.61</c:v>
                </c:pt>
                <c:pt idx="2">
                  <c:v>0.54</c:v>
                </c:pt>
                <c:pt idx="3">
                  <c:v>0.52</c:v>
                </c:pt>
                <c:pt idx="4">
                  <c:v>0.52</c:v>
                </c:pt>
                <c:pt idx="5">
                  <c:v>0.53</c:v>
                </c:pt>
              </c:numCache>
            </c:numRef>
          </c:val>
          <c:smooth val="0"/>
          <c:extLst>
            <c:ext xmlns:c16="http://schemas.microsoft.com/office/drawing/2014/chart" uri="{C3380CC4-5D6E-409C-BE32-E72D297353CC}">
              <c16:uniqueId val="{00000006-BA3A-4388-9150-396016489F3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CR22</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8286137014004533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32A-46C3-AB1E-AAC8B1E745C1}"/>
                </c:ext>
              </c:extLst>
            </c:dLbl>
            <c:dLbl>
              <c:idx val="1"/>
              <c:layout>
                <c:manualLayout>
                  <c:x val="-5.6915798754181172E-2"/>
                  <c:y val="-0.227975308641975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32A-46C3-AB1E-AAC8B1E745C1}"/>
                </c:ext>
              </c:extLst>
            </c:dLbl>
            <c:dLbl>
              <c:idx val="2"/>
              <c:layout>
                <c:manualLayout>
                  <c:x val="-5.6915798754181172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32A-46C3-AB1E-AAC8B1E745C1}"/>
                </c:ext>
              </c:extLst>
            </c:dLbl>
            <c:dLbl>
              <c:idx val="3"/>
              <c:layout>
                <c:manualLayout>
                  <c:x val="-5.6915798754181172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2A-46C3-AB1E-AAC8B1E745C1}"/>
                </c:ext>
              </c:extLst>
            </c:dLbl>
            <c:dLbl>
              <c:idx val="4"/>
              <c:layout>
                <c:manualLayout>
                  <c:x val="-5.6915798754181172E-2"/>
                  <c:y val="-0.254129629629629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32A-46C3-AB1E-AAC8B1E745C1}"/>
                </c:ext>
              </c:extLst>
            </c:dLbl>
            <c:dLbl>
              <c:idx val="5"/>
              <c:layout>
                <c:manualLayout>
                  <c:x val="-5.6915798754181172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32A-46C3-AB1E-AAC8B1E745C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c:v>
                </c:pt>
                <c:pt idx="1">
                  <c:v>0.66</c:v>
                </c:pt>
                <c:pt idx="2">
                  <c:v>0.53</c:v>
                </c:pt>
                <c:pt idx="3">
                  <c:v>0.52</c:v>
                </c:pt>
                <c:pt idx="4">
                  <c:v>0.47</c:v>
                </c:pt>
                <c:pt idx="5">
                  <c:v>0.52</c:v>
                </c:pt>
              </c:numCache>
            </c:numRef>
          </c:val>
          <c:smooth val="0"/>
          <c:extLst>
            <c:ext xmlns:c16="http://schemas.microsoft.com/office/drawing/2014/chart" uri="{C3380CC4-5D6E-409C-BE32-E72D297353CC}">
              <c16:uniqueId val="{00000006-932A-46C3-AB1E-AAC8B1E745C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CR4</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D25-4FA9-9EFE-6F38D53994AB}"/>
                </c:ext>
              </c:extLst>
            </c:dLbl>
            <c:dLbl>
              <c:idx val="1"/>
              <c:layout>
                <c:manualLayout>
                  <c:x val="-5.6915798754181172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D25-4FA9-9EFE-6F38D53994AB}"/>
                </c:ext>
              </c:extLst>
            </c:dLbl>
            <c:dLbl>
              <c:idx val="2"/>
              <c:layout>
                <c:manualLayout>
                  <c:x val="-5.6915798754181172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D25-4FA9-9EFE-6F38D53994AB}"/>
                </c:ext>
              </c:extLst>
            </c:dLbl>
            <c:dLbl>
              <c:idx val="3"/>
              <c:layout>
                <c:manualLayout>
                  <c:x val="-5.6915798754181172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D25-4FA9-9EFE-6F38D53994AB}"/>
                </c:ext>
              </c:extLst>
            </c:dLbl>
            <c:dLbl>
              <c:idx val="4"/>
              <c:layout>
                <c:manualLayout>
                  <c:x val="-5.6915798754181172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D25-4FA9-9EFE-6F38D53994AB}"/>
                </c:ext>
              </c:extLst>
            </c:dLbl>
            <c:dLbl>
              <c:idx val="5"/>
              <c:layout>
                <c:manualLayout>
                  <c:x val="-5.6915798754181172E-2"/>
                  <c:y val="-0.24862345679012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D25-4FA9-9EFE-6F38D53994A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0.5</c:v>
                </c:pt>
                <c:pt idx="1">
                  <c:v>0.54</c:v>
                </c:pt>
                <c:pt idx="2">
                  <c:v>0.56000000000000005</c:v>
                </c:pt>
                <c:pt idx="3">
                  <c:v>0.55000000000000004</c:v>
                </c:pt>
                <c:pt idx="4">
                  <c:v>0.49</c:v>
                </c:pt>
                <c:pt idx="5">
                  <c:v>0.51</c:v>
                </c:pt>
              </c:numCache>
            </c:numRef>
          </c:val>
          <c:smooth val="0"/>
          <c:extLst>
            <c:ext xmlns:c16="http://schemas.microsoft.com/office/drawing/2014/chart" uri="{C3380CC4-5D6E-409C-BE32-E72D297353CC}">
              <c16:uniqueId val="{00000006-0D25-4FA9-9EFE-6F38D53994A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CR6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6915798754181172E-2"/>
                  <c:y val="-0.261012345679012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4AA-46B6-B20C-0CF5D9275735}"/>
                </c:ext>
              </c:extLst>
            </c:dLbl>
            <c:dLbl>
              <c:idx val="1"/>
              <c:layout>
                <c:manualLayout>
                  <c:x val="-5.6915798754181172E-2"/>
                  <c:y val="-0.256882716049382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4AA-46B6-B20C-0CF5D9275735}"/>
                </c:ext>
              </c:extLst>
            </c:dLbl>
            <c:dLbl>
              <c:idx val="2"/>
              <c:layout>
                <c:manualLayout>
                  <c:x val="-5.6915798754181172E-2"/>
                  <c:y val="-0.254129629629629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4AA-46B6-B20C-0CF5D9275735}"/>
                </c:ext>
              </c:extLst>
            </c:dLbl>
            <c:dLbl>
              <c:idx val="3"/>
              <c:layout>
                <c:manualLayout>
                  <c:x val="-5.6915798754181172E-2"/>
                  <c:y val="-0.254129629629629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4AA-46B6-B20C-0CF5D9275735}"/>
                </c:ext>
              </c:extLst>
            </c:dLbl>
            <c:dLbl>
              <c:idx val="4"/>
              <c:layout>
                <c:manualLayout>
                  <c:x val="-5.6915798754181172E-2"/>
                  <c:y val="-0.258259259259259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4AA-46B6-B20C-0CF5D9275735}"/>
                </c:ext>
              </c:extLst>
            </c:dLbl>
            <c:dLbl>
              <c:idx val="5"/>
              <c:layout>
                <c:manualLayout>
                  <c:x val="-5.6915798754181172E-2"/>
                  <c:y val="-0.256882716049382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4AA-46B6-B20C-0CF5D927573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0.42</c:v>
                </c:pt>
                <c:pt idx="1">
                  <c:v>0.45</c:v>
                </c:pt>
                <c:pt idx="2">
                  <c:v>0.47</c:v>
                </c:pt>
                <c:pt idx="3">
                  <c:v>0.47</c:v>
                </c:pt>
                <c:pt idx="4">
                  <c:v>0.44</c:v>
                </c:pt>
                <c:pt idx="5">
                  <c:v>0.45</c:v>
                </c:pt>
              </c:numCache>
            </c:numRef>
          </c:val>
          <c:smooth val="0"/>
          <c:extLst>
            <c:ext xmlns:c16="http://schemas.microsoft.com/office/drawing/2014/chart" uri="{C3380CC4-5D6E-409C-BE32-E72D297353CC}">
              <c16:uniqueId val="{00000006-74AA-46B6-B20C-0CF5D927573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ZP17</c:v>
                </c:pt>
                <c:pt idx="1">
                  <c:v>Only ZENPEP offers 40k and 60k lipase-unit capsules, which may help reduce the number of pills your adult patients need to take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2659876543209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ABF-4BF8-A0FC-4DC6FE1B5DB2}"/>
                </c:ext>
              </c:extLst>
            </c:dLbl>
            <c:dLbl>
              <c:idx val="1"/>
              <c:layout>
                <c:manualLayout>
                  <c:x val="-5.691701965895514E-2"/>
                  <c:y val="-0.225222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ABF-4BF8-A0FC-4DC6FE1B5DB2}"/>
                </c:ext>
              </c:extLst>
            </c:dLbl>
            <c:dLbl>
              <c:idx val="2"/>
              <c:layout>
                <c:manualLayout>
                  <c:x val="-5.691701965895514E-2"/>
                  <c:y val="-0.21971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ABF-4BF8-A0FC-4DC6FE1B5DB2}"/>
                </c:ext>
              </c:extLst>
            </c:dLbl>
            <c:dLbl>
              <c:idx val="3"/>
              <c:layout>
                <c:manualLayout>
                  <c:x val="-5.691701965895514E-2"/>
                  <c:y val="-0.216962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ABF-4BF8-A0FC-4DC6FE1B5DB2}"/>
                </c:ext>
              </c:extLst>
            </c:dLbl>
            <c:dLbl>
              <c:idx val="4"/>
              <c:layout>
                <c:manualLayout>
                  <c:x val="-5.691701965895514E-2"/>
                  <c:y val="-0.21971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ABF-4BF8-A0FC-4DC6FE1B5DB2}"/>
                </c:ext>
              </c:extLst>
            </c:dLbl>
            <c:dLbl>
              <c:idx val="5"/>
              <c:layout>
                <c:manualLayout>
                  <c:x val="-5.691701965895514E-2"/>
                  <c:y val="-0.216962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ABF-4BF8-A0FC-4DC6FE1B5DB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0.67</c:v>
                </c:pt>
                <c:pt idx="1">
                  <c:v>0.68</c:v>
                </c:pt>
                <c:pt idx="2">
                  <c:v>0.72</c:v>
                </c:pt>
                <c:pt idx="3">
                  <c:v>0.74</c:v>
                </c:pt>
                <c:pt idx="4">
                  <c:v>0.72</c:v>
                </c:pt>
                <c:pt idx="5">
                  <c:v>0.74</c:v>
                </c:pt>
              </c:numCache>
            </c:numRef>
          </c:val>
          <c:smooth val="0"/>
          <c:extLst>
            <c:ext xmlns:c16="http://schemas.microsoft.com/office/drawing/2014/chart" uri="{C3380CC4-5D6E-409C-BE32-E72D297353CC}">
              <c16:uniqueId val="{00000000-7893-4E54-A9D6-A34BAECCCD3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ZP16</c:v>
                </c:pt>
                <c:pt idx="1">
                  <c:v>ZENPEP offers a single-capsule starting dose for almost all adult patients</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2659876543209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C74-44ED-86E2-48D4DEB31B4D}"/>
                </c:ext>
              </c:extLst>
            </c:dLbl>
            <c:dLbl>
              <c:idx val="1"/>
              <c:layout>
                <c:manualLayout>
                  <c:x val="-5.691701965895514E-2"/>
                  <c:y val="-0.227975308641975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C74-44ED-86E2-48D4DEB31B4D}"/>
                </c:ext>
              </c:extLst>
            </c:dLbl>
            <c:dLbl>
              <c:idx val="2"/>
              <c:layout>
                <c:manualLayout>
                  <c:x val="-5.691701965895514E-2"/>
                  <c:y val="-0.225222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C74-44ED-86E2-48D4DEB31B4D}"/>
                </c:ext>
              </c:extLst>
            </c:dLbl>
            <c:dLbl>
              <c:idx val="3"/>
              <c:layout>
                <c:manualLayout>
                  <c:x val="-5.691701965895514E-2"/>
                  <c:y val="-0.225222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C74-44ED-86E2-48D4DEB31B4D}"/>
                </c:ext>
              </c:extLst>
            </c:dLbl>
            <c:dLbl>
              <c:idx val="4"/>
              <c:layout>
                <c:manualLayout>
                  <c:x val="-5.691701965895514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C74-44ED-86E2-48D4DEB31B4D}"/>
                </c:ext>
              </c:extLst>
            </c:dLbl>
            <c:dLbl>
              <c:idx val="5"/>
              <c:layout>
                <c:manualLayout>
                  <c:x val="-5.691701965895514E-2"/>
                  <c:y val="-0.22659876543209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C74-44ED-86E2-48D4DEB31B4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0.67</c:v>
                </c:pt>
                <c:pt idx="1">
                  <c:v>0.66</c:v>
                </c:pt>
                <c:pt idx="2">
                  <c:v>0.68</c:v>
                </c:pt>
                <c:pt idx="3">
                  <c:v>0.68</c:v>
                </c:pt>
                <c:pt idx="4">
                  <c:v>0.64</c:v>
                </c:pt>
                <c:pt idx="5">
                  <c:v>0.67</c:v>
                </c:pt>
              </c:numCache>
            </c:numRef>
          </c:val>
          <c:smooth val="0"/>
          <c:extLst>
            <c:ext xmlns:c16="http://schemas.microsoft.com/office/drawing/2014/chart" uri="{C3380CC4-5D6E-409C-BE32-E72D297353CC}">
              <c16:uniqueId val="{00000006-EC74-44ED-86E2-48D4DEB31B4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ZP19</c:v>
                </c:pt>
                <c:pt idx="1">
                  <c:v>Meets the ACG guideline for EPI and CP in a single capsule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FBB-4F7E-BBBD-5C0071A5ADA2}"/>
                </c:ext>
              </c:extLst>
            </c:dLbl>
            <c:dLbl>
              <c:idx val="1"/>
              <c:layout>
                <c:manualLayout>
                  <c:x val="-5.691701965895514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FBB-4F7E-BBBD-5C0071A5ADA2}"/>
                </c:ext>
              </c:extLst>
            </c:dLbl>
            <c:dLbl>
              <c:idx val="2"/>
              <c:layout>
                <c:manualLayout>
                  <c:x val="-5.691701965895514E-2"/>
                  <c:y val="-0.2293518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FBB-4F7E-BBBD-5C0071A5ADA2}"/>
                </c:ext>
              </c:extLst>
            </c:dLbl>
            <c:dLbl>
              <c:idx val="3"/>
              <c:layout>
                <c:manualLayout>
                  <c:x val="-5.691701965895514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FBB-4F7E-BBBD-5C0071A5ADA2}"/>
                </c:ext>
              </c:extLst>
            </c:dLbl>
            <c:dLbl>
              <c:idx val="4"/>
              <c:layout>
                <c:manualLayout>
                  <c:x val="-5.691701965895514E-2"/>
                  <c:y val="-0.23210493827160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FBB-4F7E-BBBD-5C0071A5ADA2}"/>
                </c:ext>
              </c:extLst>
            </c:dLbl>
            <c:dLbl>
              <c:idx val="5"/>
              <c:layout>
                <c:manualLayout>
                  <c:x val="-5.691701965895514E-2"/>
                  <c:y val="-0.22659876543209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FBB-4F7E-BBBD-5C0071A5ADA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0.62</c:v>
                </c:pt>
                <c:pt idx="1">
                  <c:v>0.64</c:v>
                </c:pt>
                <c:pt idx="2">
                  <c:v>0.65</c:v>
                </c:pt>
                <c:pt idx="3">
                  <c:v>0.64</c:v>
                </c:pt>
                <c:pt idx="4">
                  <c:v>0.63</c:v>
                </c:pt>
                <c:pt idx="5">
                  <c:v>0.67</c:v>
                </c:pt>
              </c:numCache>
            </c:numRef>
          </c:val>
          <c:smooth val="0"/>
          <c:extLst>
            <c:ext xmlns:c16="http://schemas.microsoft.com/office/drawing/2014/chart" uri="{C3380CC4-5D6E-409C-BE32-E72D297353CC}">
              <c16:uniqueId val="{00000006-BFBB-4F7E-BBBD-5C0071A5ADA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ZP15</c:v>
                </c:pt>
                <c:pt idx="1">
                  <c:v>When prescribing PERT to your adult patients with EPI -Start simply with one capsule of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3485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C28-4FF6-A0E6-04A159E55E03}"/>
                </c:ext>
              </c:extLst>
            </c:dLbl>
            <c:dLbl>
              <c:idx val="1"/>
              <c:layout>
                <c:manualLayout>
                  <c:x val="-5.691701965895514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C28-4FF6-A0E6-04A159E55E03}"/>
                </c:ext>
              </c:extLst>
            </c:dLbl>
            <c:dLbl>
              <c:idx val="2"/>
              <c:layout>
                <c:manualLayout>
                  <c:x val="-5.691701965895514E-2"/>
                  <c:y val="-0.230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C28-4FF6-A0E6-04A159E55E03}"/>
                </c:ext>
              </c:extLst>
            </c:dLbl>
            <c:dLbl>
              <c:idx val="3"/>
              <c:layout>
                <c:manualLayout>
                  <c:x val="-5.691701965895514E-2"/>
                  <c:y val="-0.23210493827160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C28-4FF6-A0E6-04A159E55E03}"/>
                </c:ext>
              </c:extLst>
            </c:dLbl>
            <c:dLbl>
              <c:idx val="4"/>
              <c:layout>
                <c:manualLayout>
                  <c:x val="-5.691701965895514E-2"/>
                  <c:y val="-0.232104938271604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C28-4FF6-A0E6-04A159E55E03}"/>
                </c:ext>
              </c:extLst>
            </c:dLbl>
            <c:dLbl>
              <c:idx val="5"/>
              <c:layout>
                <c:manualLayout>
                  <c:x val="-5.691701965895514E-2"/>
                  <c:y val="-0.227975308641975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C28-4FF6-A0E6-04A159E55E0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0.61</c:v>
                </c:pt>
                <c:pt idx="1">
                  <c:v>0.62</c:v>
                </c:pt>
                <c:pt idx="2">
                  <c:v>0.64</c:v>
                </c:pt>
                <c:pt idx="3">
                  <c:v>0.63</c:v>
                </c:pt>
                <c:pt idx="4">
                  <c:v>0.63</c:v>
                </c:pt>
                <c:pt idx="5">
                  <c:v>0.66</c:v>
                </c:pt>
              </c:numCache>
            </c:numRef>
          </c:val>
          <c:smooth val="0"/>
          <c:extLst>
            <c:ext xmlns:c16="http://schemas.microsoft.com/office/drawing/2014/chart" uri="{C3380CC4-5D6E-409C-BE32-E72D297353CC}">
              <c16:uniqueId val="{00000006-6C28-4FF6-A0E6-04A159E55E0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ZP7</c:v>
                </c:pt>
                <c:pt idx="1">
                  <c:v>ZENPEP has an enteric coating that minimizes degradation and targets enzyme release in the small intestine</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05D-4A97-87EF-A60CBA28068F}"/>
                </c:ext>
              </c:extLst>
            </c:dLbl>
            <c:dLbl>
              <c:idx val="1"/>
              <c:layout>
                <c:manualLayout>
                  <c:x val="-5.691701965895514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05D-4A97-87EF-A60CBA28068F}"/>
                </c:ext>
              </c:extLst>
            </c:dLbl>
            <c:dLbl>
              <c:idx val="2"/>
              <c:layout>
                <c:manualLayout>
                  <c:x val="-5.691701965895514E-2"/>
                  <c:y val="-0.23348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05D-4A97-87EF-A60CBA28068F}"/>
                </c:ext>
              </c:extLst>
            </c:dLbl>
            <c:dLbl>
              <c:idx val="3"/>
              <c:layout>
                <c:manualLayout>
                  <c:x val="-5.691701965895514E-2"/>
                  <c:y val="-0.23761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05D-4A97-87EF-A60CBA28068F}"/>
                </c:ext>
              </c:extLst>
            </c:dLbl>
            <c:dLbl>
              <c:idx val="4"/>
              <c:layout>
                <c:manualLayout>
                  <c:x val="-5.691701965895514E-2"/>
                  <c:y val="-0.240364197530864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05D-4A97-87EF-A60CBA28068F}"/>
                </c:ext>
              </c:extLst>
            </c:dLbl>
            <c:dLbl>
              <c:idx val="5"/>
              <c:layout>
                <c:manualLayout>
                  <c:x val="-5.691701965895514E-2"/>
                  <c:y val="-0.238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05D-4A97-87EF-A60CBA28068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0.56999999999999995</c:v>
                </c:pt>
                <c:pt idx="1">
                  <c:v>0.6</c:v>
                </c:pt>
                <c:pt idx="2">
                  <c:v>0.62</c:v>
                </c:pt>
                <c:pt idx="3">
                  <c:v>0.59</c:v>
                </c:pt>
                <c:pt idx="4">
                  <c:v>0.56999999999999995</c:v>
                </c:pt>
                <c:pt idx="5">
                  <c:v>0.57999999999999996</c:v>
                </c:pt>
              </c:numCache>
            </c:numRef>
          </c:val>
          <c:smooth val="0"/>
          <c:extLst>
            <c:ext xmlns:c16="http://schemas.microsoft.com/office/drawing/2014/chart" uri="{C3380CC4-5D6E-409C-BE32-E72D297353CC}">
              <c16:uniqueId val="{00000006-C05D-4A97-87EF-A60CBA28068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ZP11</c:v>
                </c:pt>
                <c:pt idx="1">
                  <c:v>ZENPEP is now $0 for commercially insured patients</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862345679012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A30-426B-91B5-86B169431CAD}"/>
                </c:ext>
              </c:extLst>
            </c:dLbl>
            <c:dLbl>
              <c:idx val="1"/>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A30-426B-91B5-86B169431CAD}"/>
                </c:ext>
              </c:extLst>
            </c:dLbl>
            <c:dLbl>
              <c:idx val="2"/>
              <c:layout>
                <c:manualLayout>
                  <c:x val="-5.691701965895514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A30-426B-91B5-86B169431CAD}"/>
                </c:ext>
              </c:extLst>
            </c:dLbl>
            <c:dLbl>
              <c:idx val="3"/>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A30-426B-91B5-86B169431CAD}"/>
                </c:ext>
              </c:extLst>
            </c:dLbl>
            <c:dLbl>
              <c:idx val="4"/>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A30-426B-91B5-86B169431CAD}"/>
                </c:ext>
              </c:extLst>
            </c:dLbl>
            <c:dLbl>
              <c:idx val="5"/>
              <c:layout>
                <c:manualLayout>
                  <c:x val="-5.691701965895514E-2"/>
                  <c:y val="-0.238987654320987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A30-426B-91B5-86B169431CA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0.51</c:v>
                </c:pt>
                <c:pt idx="1">
                  <c:v>0.53</c:v>
                </c:pt>
                <c:pt idx="2">
                  <c:v>0.54</c:v>
                </c:pt>
                <c:pt idx="3">
                  <c:v>0.53</c:v>
                </c:pt>
                <c:pt idx="4">
                  <c:v>0.53</c:v>
                </c:pt>
                <c:pt idx="5">
                  <c:v>0.57999999999999996</c:v>
                </c:pt>
              </c:numCache>
            </c:numRef>
          </c:val>
          <c:smooth val="0"/>
          <c:extLst>
            <c:ext xmlns:c16="http://schemas.microsoft.com/office/drawing/2014/chart" uri="{C3380CC4-5D6E-409C-BE32-E72D297353CC}">
              <c16:uniqueId val="{00000006-FA30-426B-91B5-86B169431CA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ZP20</c:v>
                </c:pt>
                <c:pt idx="1">
                  <c:v>91% of patients achieved a CFA of 80% or higher with Zenpep</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DCA-461B-94DB-1EBE1F0314C4}"/>
                </c:ext>
              </c:extLst>
            </c:dLbl>
            <c:dLbl>
              <c:idx val="1"/>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DCA-461B-94DB-1EBE1F0314C4}"/>
                </c:ext>
              </c:extLst>
            </c:dLbl>
            <c:dLbl>
              <c:idx val="2"/>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DCA-461B-94DB-1EBE1F0314C4}"/>
                </c:ext>
              </c:extLst>
            </c:dLbl>
            <c:dLbl>
              <c:idx val="3"/>
              <c:layout>
                <c:manualLayout>
                  <c:x val="-5.691701965895514E-2"/>
                  <c:y val="-0.24862345679012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DCA-461B-94DB-1EBE1F0314C4}"/>
                </c:ext>
              </c:extLst>
            </c:dLbl>
            <c:dLbl>
              <c:idx val="4"/>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DCA-461B-94DB-1EBE1F0314C4}"/>
                </c:ext>
              </c:extLst>
            </c:dLbl>
            <c:dLbl>
              <c:idx val="5"/>
              <c:layout>
                <c:manualLayout>
                  <c:x val="-5.691701965895514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DCA-461B-94DB-1EBE1F0314C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0.52</c:v>
                </c:pt>
                <c:pt idx="1">
                  <c:v>0.52</c:v>
                </c:pt>
                <c:pt idx="2">
                  <c:v>0.52</c:v>
                </c:pt>
                <c:pt idx="3">
                  <c:v>0.51</c:v>
                </c:pt>
                <c:pt idx="4">
                  <c:v>0.49</c:v>
                </c:pt>
                <c:pt idx="5">
                  <c:v>0.55000000000000004</c:v>
                </c:pt>
              </c:numCache>
            </c:numRef>
          </c:val>
          <c:smooth val="0"/>
          <c:extLst>
            <c:ext xmlns:c16="http://schemas.microsoft.com/office/drawing/2014/chart" uri="{C3380CC4-5D6E-409C-BE32-E72D297353CC}">
              <c16:uniqueId val="{00000006-ADCA-461B-94DB-1EBE1F0314C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ZP18</c:v>
                </c:pt>
                <c:pt idx="1">
                  <c:v>In a clinical trial, the right dose helped patients absorb nutrients from their food and provided symptom relief</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862345679012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BF3-4A2F-81AC-EC20496A179F}"/>
                </c:ext>
              </c:extLst>
            </c:dLbl>
            <c:dLbl>
              <c:idx val="1"/>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BF3-4A2F-81AC-EC20496A179F}"/>
                </c:ext>
              </c:extLst>
            </c:dLbl>
            <c:dLbl>
              <c:idx val="2"/>
              <c:layout>
                <c:manualLayout>
                  <c:x val="-5.691701965895514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BF3-4A2F-81AC-EC20496A179F}"/>
                </c:ext>
              </c:extLst>
            </c:dLbl>
            <c:dLbl>
              <c:idx val="3"/>
              <c:layout>
                <c:manualLayout>
                  <c:x val="-5.691701965895514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BF3-4A2F-81AC-EC20496A179F}"/>
                </c:ext>
              </c:extLst>
            </c:dLbl>
            <c:dLbl>
              <c:idx val="4"/>
              <c:layout>
                <c:manualLayout>
                  <c:x val="-5.691701965895514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BF3-4A2F-81AC-EC20496A179F}"/>
                </c:ext>
              </c:extLst>
            </c:dLbl>
            <c:dLbl>
              <c:idx val="5"/>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BF3-4A2F-81AC-EC20496A179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0.51</c:v>
                </c:pt>
                <c:pt idx="1">
                  <c:v>0.53</c:v>
                </c:pt>
                <c:pt idx="2">
                  <c:v>0.55000000000000004</c:v>
                </c:pt>
                <c:pt idx="3">
                  <c:v>0.56000000000000005</c:v>
                </c:pt>
                <c:pt idx="4">
                  <c:v>0.55000000000000004</c:v>
                </c:pt>
                <c:pt idx="5">
                  <c:v>0.52</c:v>
                </c:pt>
              </c:numCache>
            </c:numRef>
          </c:val>
          <c:smooth val="0"/>
          <c:extLst>
            <c:ext xmlns:c16="http://schemas.microsoft.com/office/drawing/2014/chart" uri="{C3380CC4-5D6E-409C-BE32-E72D297353CC}">
              <c16:uniqueId val="{00000006-1BF3-4A2F-81AC-EC20496A179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ZP8</c:v>
                </c:pt>
                <c:pt idx="1">
                  <c:v>ZENPEP helps fuel nutritional health, increasing coefficient of fat absorption (CFA) by 26 percentage points vs placebo</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52753086419753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48F-4D0B-ABDF-850B1D6AF7A2}"/>
                </c:ext>
              </c:extLst>
            </c:dLbl>
            <c:dLbl>
              <c:idx val="1"/>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48F-4D0B-ABDF-850B1D6AF7A2}"/>
                </c:ext>
              </c:extLst>
            </c:dLbl>
            <c:dLbl>
              <c:idx val="2"/>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48F-4D0B-ABDF-850B1D6AF7A2}"/>
                </c:ext>
              </c:extLst>
            </c:dLbl>
            <c:dLbl>
              <c:idx val="3"/>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48F-4D0B-ABDF-850B1D6AF7A2}"/>
                </c:ext>
              </c:extLst>
            </c:dLbl>
            <c:dLbl>
              <c:idx val="4"/>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48F-4D0B-ABDF-850B1D6AF7A2}"/>
                </c:ext>
              </c:extLst>
            </c:dLbl>
            <c:dLbl>
              <c:idx val="5"/>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48F-4D0B-ABDF-850B1D6AF7A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0.48</c:v>
                </c:pt>
                <c:pt idx="1">
                  <c:v>0.49</c:v>
                </c:pt>
                <c:pt idx="2">
                  <c:v>0.52</c:v>
                </c:pt>
                <c:pt idx="3">
                  <c:v>0.53</c:v>
                </c:pt>
                <c:pt idx="4">
                  <c:v>0.52</c:v>
                </c:pt>
                <c:pt idx="5">
                  <c:v>0.52</c:v>
                </c:pt>
              </c:numCache>
            </c:numRef>
          </c:val>
          <c:smooth val="0"/>
          <c:extLst>
            <c:ext xmlns:c16="http://schemas.microsoft.com/office/drawing/2014/chart" uri="{C3380CC4-5D6E-409C-BE32-E72D297353CC}">
              <c16:uniqueId val="{00000006-648F-4D0B-ABDF-850B1D6AF7A2}"/>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ZP21</c:v>
                </c:pt>
                <c:pt idx="1">
                  <c:v>ZENPEP can help your patients absorb the fat and nutrients they need and treat uncomfortable GI symptoms</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EF5-40DF-8D29-1FCA4617981E}"/>
                </c:ext>
              </c:extLst>
            </c:dLbl>
            <c:dLbl>
              <c:idx val="1"/>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EF5-40DF-8D29-1FCA4617981E}"/>
                </c:ext>
              </c:extLst>
            </c:dLbl>
            <c:dLbl>
              <c:idx val="2"/>
              <c:layout>
                <c:manualLayout>
                  <c:x val="-5.691701965895514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EF5-40DF-8D29-1FCA4617981E}"/>
                </c:ext>
              </c:extLst>
            </c:dLbl>
            <c:dLbl>
              <c:idx val="3"/>
              <c:layout>
                <c:manualLayout>
                  <c:x val="-5.691701965895514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EF5-40DF-8D29-1FCA4617981E}"/>
                </c:ext>
              </c:extLst>
            </c:dLbl>
            <c:dLbl>
              <c:idx val="4"/>
              <c:layout>
                <c:manualLayout>
                  <c:x val="-5.691701965895514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EF5-40DF-8D29-1FCA4617981E}"/>
                </c:ext>
              </c:extLst>
            </c:dLbl>
            <c:dLbl>
              <c:idx val="5"/>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EF5-40DF-8D29-1FCA4617981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0.52</c:v>
                </c:pt>
                <c:pt idx="1">
                  <c:v>0.52</c:v>
                </c:pt>
                <c:pt idx="2">
                  <c:v>0.56000000000000005</c:v>
                </c:pt>
                <c:pt idx="3">
                  <c:v>0.56000000000000005</c:v>
                </c:pt>
                <c:pt idx="4">
                  <c:v>0.54</c:v>
                </c:pt>
                <c:pt idx="5">
                  <c:v>0.52</c:v>
                </c:pt>
              </c:numCache>
            </c:numRef>
          </c:val>
          <c:smooth val="0"/>
          <c:extLst>
            <c:ext xmlns:c16="http://schemas.microsoft.com/office/drawing/2014/chart" uri="{C3380CC4-5D6E-409C-BE32-E72D297353CC}">
              <c16:uniqueId val="{00000006-2EF5-40DF-8D29-1FCA4617981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ZP22</c:v>
                </c:pt>
                <c:pt idx="1">
                  <c:v>Through My SampleCloset, practices are able to easily request samples of Zenpep at any strength</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44493827160493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2AC-480A-B6BC-88E07F544CA5}"/>
                </c:ext>
              </c:extLst>
            </c:dLbl>
            <c:dLbl>
              <c:idx val="1"/>
              <c:layout>
                <c:manualLayout>
                  <c:x val="-5.691701965895514E-2"/>
                  <c:y val="-0.241740740740740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2AC-480A-B6BC-88E07F544CA5}"/>
                </c:ext>
              </c:extLst>
            </c:dLbl>
            <c:dLbl>
              <c:idx val="2"/>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2AC-480A-B6BC-88E07F544CA5}"/>
                </c:ext>
              </c:extLst>
            </c:dLbl>
            <c:dLbl>
              <c:idx val="3"/>
              <c:layout>
                <c:manualLayout>
                  <c:x val="-5.69170196589551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AC-480A-B6BC-88E07F544CA5}"/>
                </c:ext>
              </c:extLst>
            </c:dLbl>
            <c:dLbl>
              <c:idx val="4"/>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2AC-480A-B6BC-88E07F544CA5}"/>
                </c:ext>
              </c:extLst>
            </c:dLbl>
            <c:dLbl>
              <c:idx val="5"/>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AC-480A-B6BC-88E07F544CA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0.54</c:v>
                </c:pt>
                <c:pt idx="1">
                  <c:v>0.56000000000000005</c:v>
                </c:pt>
                <c:pt idx="2">
                  <c:v>0.52</c:v>
                </c:pt>
                <c:pt idx="3">
                  <c:v>0.5</c:v>
                </c:pt>
                <c:pt idx="4">
                  <c:v>0.49</c:v>
                </c:pt>
                <c:pt idx="5">
                  <c:v>0.52</c:v>
                </c:pt>
              </c:numCache>
            </c:numRef>
          </c:val>
          <c:smooth val="0"/>
          <c:extLst>
            <c:ext xmlns:c16="http://schemas.microsoft.com/office/drawing/2014/chart" uri="{C3380CC4-5D6E-409C-BE32-E72D297353CC}">
              <c16:uniqueId val="{00000006-B2AC-480A-B6BC-88E07F544CA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ZP24</c:v>
                </c:pt>
                <c:pt idx="1">
                  <c:v>Zenpep is designed to mimic typical exocrine pancreatic function.</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8287172803301838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0E2-4BE7-B7AA-81E52E9E54E3}"/>
                </c:ext>
              </c:extLst>
            </c:dLbl>
            <c:dLbl>
              <c:idx val="1"/>
              <c:layout>
                <c:manualLayout>
                  <c:x val="-5.691701965895514E-2"/>
                  <c:y val="-0.236234567901234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0E2-4BE7-B7AA-81E52E9E54E3}"/>
                </c:ext>
              </c:extLst>
            </c:dLbl>
            <c:dLbl>
              <c:idx val="2"/>
              <c:layout>
                <c:manualLayout>
                  <c:x val="-5.691701965895514E-2"/>
                  <c:y val="-0.24311728395061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0E2-4BE7-B7AA-81E52E9E54E3}"/>
                </c:ext>
              </c:extLst>
            </c:dLbl>
            <c:dLbl>
              <c:idx val="3"/>
              <c:layout>
                <c:manualLayout>
                  <c:x val="-5.691701965895514E-2"/>
                  <c:y val="-0.24724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0E2-4BE7-B7AA-81E52E9E54E3}"/>
                </c:ext>
              </c:extLst>
            </c:dLbl>
            <c:dLbl>
              <c:idx val="4"/>
              <c:layout>
                <c:manualLayout>
                  <c:x val="-5.691701965895514E-2"/>
                  <c:y val="-0.248623456790123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0E2-4BE7-B7AA-81E52E9E54E3}"/>
                </c:ext>
              </c:extLst>
            </c:dLbl>
            <c:dLbl>
              <c:idx val="5"/>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0E2-4BE7-B7AA-81E52E9E54E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0.6</c:v>
                </c:pt>
                <c:pt idx="2">
                  <c:v>0.55000000000000004</c:v>
                </c:pt>
                <c:pt idx="3">
                  <c:v>0.52</c:v>
                </c:pt>
                <c:pt idx="4">
                  <c:v>0.51</c:v>
                </c:pt>
                <c:pt idx="5">
                  <c:v>0.49</c:v>
                </c:pt>
              </c:numCache>
            </c:numRef>
          </c:val>
          <c:smooth val="0"/>
          <c:extLst>
            <c:ext xmlns:c16="http://schemas.microsoft.com/office/drawing/2014/chart" uri="{C3380CC4-5D6E-409C-BE32-E72D297353CC}">
              <c16:uniqueId val="{00000006-60E2-4BE7-B7AA-81E52E9E54E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ZP25</c:v>
                </c:pt>
                <c:pt idx="1">
                  <c:v>ZENPEP is the fastest growing PERT</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8287172803301838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9F-4F00-B894-2729128F6358}"/>
                </c:ext>
              </c:extLst>
            </c:dLbl>
            <c:dLbl>
              <c:idx val="1"/>
              <c:layout>
                <c:manualLayout>
                  <c:x val="-4.8287172803301838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9F-4F00-B894-2729128F6358}"/>
                </c:ext>
              </c:extLst>
            </c:dLbl>
            <c:dLbl>
              <c:idx val="2"/>
              <c:layout>
                <c:manualLayout>
                  <c:x val="-4.8287172803301838E-2"/>
                  <c:y val="-0.3188271604938271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E9F-4F00-B894-2729128F6358}"/>
                </c:ext>
              </c:extLst>
            </c:dLbl>
            <c:dLbl>
              <c:idx val="3"/>
              <c:layout>
                <c:manualLayout>
                  <c:x val="-5.691701965895514E-2"/>
                  <c:y val="-0.2458703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9F-4F00-B894-2729128F6358}"/>
                </c:ext>
              </c:extLst>
            </c:dLbl>
            <c:dLbl>
              <c:idx val="4"/>
              <c:layout>
                <c:manualLayout>
                  <c:x val="-5.691701965895514E-2"/>
                  <c:y val="-0.252753086419753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9F-4F00-B894-2729128F6358}"/>
                </c:ext>
              </c:extLst>
            </c:dLbl>
            <c:dLbl>
              <c:idx val="5"/>
              <c:layout>
                <c:manualLayout>
                  <c:x val="-5.691701965895514E-2"/>
                  <c:y val="-0.255506172839506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9F-4F00-B894-2729128F635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Oct'25</c:v>
                </c:pt>
                <c:pt idx="1">
                  <c:v>Nov'25</c:v>
                </c:pt>
                <c:pt idx="2">
                  <c:v>Dec'25</c:v>
                </c:pt>
                <c:pt idx="3">
                  <c:v>Jan'26</c:v>
                </c:pt>
                <c:pt idx="4">
                  <c:v>Feb'26</c:v>
                </c:pt>
                <c:pt idx="5">
                  <c:v>Mar'26</c:v>
                </c:pt>
              </c:strCache>
            </c:strRef>
          </c:cat>
          <c:val>
            <c:numRef>
              <c:f>Sheet1!$B$3:$B$8</c:f>
              <c:numCache>
                <c:formatCode>0%</c:formatCode>
                <c:ptCount val="6"/>
                <c:pt idx="0">
                  <c:v>0</c:v>
                </c:pt>
                <c:pt idx="1">
                  <c:v>0</c:v>
                </c:pt>
                <c:pt idx="2">
                  <c:v>0</c:v>
                </c:pt>
                <c:pt idx="3">
                  <c:v>0.53</c:v>
                </c:pt>
                <c:pt idx="4">
                  <c:v>0.48</c:v>
                </c:pt>
                <c:pt idx="5">
                  <c:v>0.46</c:v>
                </c:pt>
              </c:numCache>
            </c:numRef>
          </c:val>
          <c:smooth val="0"/>
          <c:extLst>
            <c:ext xmlns:c16="http://schemas.microsoft.com/office/drawing/2014/chart" uri="{C3380CC4-5D6E-409C-BE32-E72D297353CC}">
              <c16:uniqueId val="{00000006-CE9F-4F00-B894-2729128F635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ZENPEP helps fuel nutritional health, increasing coefficient of fat absorption (CFA) by 26 percentage points vs placebo</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14D-4EE9-BA7F-C9D305D6A205}"/>
                </c:ext>
              </c:extLst>
            </c:dLbl>
            <c:dLbl>
              <c:idx val="1"/>
              <c:layout>
                <c:manualLayout>
                  <c:x val="-5.69170196589551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14D-4EE9-BA7F-C9D305D6A205}"/>
                </c:ext>
              </c:extLst>
            </c:dLbl>
            <c:dLbl>
              <c:idx val="2"/>
              <c:layout>
                <c:manualLayout>
                  <c:x val="-5.69170196589551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14D-4EE9-BA7F-C9D305D6A205}"/>
                </c:ext>
              </c:extLst>
            </c:dLbl>
            <c:dLbl>
              <c:idx val="3"/>
              <c:layout>
                <c:manualLayout>
                  <c:x val="-5.691701965895514E-2"/>
                  <c:y val="-0.25137654320987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14D-4EE9-BA7F-C9D305D6A205}"/>
                </c:ext>
              </c:extLst>
            </c:dLbl>
            <c:dLbl>
              <c:idx val="4"/>
              <c:layout>
                <c:manualLayout>
                  <c:x val="-5.691701965895514E-2"/>
                  <c:y val="-0.254129629629629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4D-4EE9-BA7F-C9D305D6A205}"/>
                </c:ext>
              </c:extLst>
            </c:dLbl>
            <c:dLbl>
              <c:idx val="5"/>
              <c:layout>
                <c:manualLayout>
                  <c:x val="-5.691701965895514E-2"/>
                  <c:y val="-0.255506172839506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A58ADA"/>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14D-4EE9-BA7F-C9D305D6A20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Oct'25</c:v>
                </c:pt>
                <c:pt idx="1">
                  <c:v>Nov'25</c:v>
                </c:pt>
                <c:pt idx="2">
                  <c:v>Dec'25</c:v>
                </c:pt>
                <c:pt idx="3">
                  <c:v>Jan'26</c:v>
                </c:pt>
                <c:pt idx="4">
                  <c:v>Feb'26</c:v>
                </c:pt>
                <c:pt idx="5">
                  <c:v>Mar'26</c:v>
                </c:pt>
              </c:strCache>
            </c:strRef>
          </c:cat>
          <c:val>
            <c:numRef>
              <c:f>Sheet1!$B$2:$B$7</c:f>
              <c:numCache>
                <c:formatCode>0%</c:formatCode>
                <c:ptCount val="6"/>
                <c:pt idx="0">
                  <c:v>0.48</c:v>
                </c:pt>
                <c:pt idx="1">
                  <c:v>0.49</c:v>
                </c:pt>
                <c:pt idx="2">
                  <c:v>0.52</c:v>
                </c:pt>
                <c:pt idx="3">
                  <c:v>0.53</c:v>
                </c:pt>
                <c:pt idx="4">
                  <c:v>0.52</c:v>
                </c:pt>
                <c:pt idx="5">
                  <c:v>0.52</c:v>
                </c:pt>
              </c:numCache>
            </c:numRef>
          </c:val>
          <c:smooth val="0"/>
          <c:extLst>
            <c:ext xmlns:c16="http://schemas.microsoft.com/office/drawing/2014/chart" uri="{C3380CC4-5D6E-409C-BE32-E72D297353CC}">
              <c16:uniqueId val="{00000006-F14D-4EE9-BA7F-C9D305D6A20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9205486058779204E-2"/>
          <c:y val="4.8705195379032298E-2"/>
          <c:w val="0.85795373609530412"/>
          <c:h val="0.7691409568462142"/>
        </c:manualLayout>
      </c:layout>
      <c:scatterChart>
        <c:scatterStyle val="lineMarker"/>
        <c:varyColors val="0"/>
        <c:ser>
          <c:idx val="0"/>
          <c:order val="0"/>
          <c:tx>
            <c:strRef>
              <c:f>Sheet1!$B:$B</c:f>
              <c:strCache>
                <c:ptCount val="1048576"/>
                <c:pt idx="0">
                  <c:v>MR W31</c:v>
                </c:pt>
                <c:pt idx="9">
                  <c:v>63%</c:v>
                </c:pt>
                <c:pt idx="10">
                  <c:v>56%</c:v>
                </c:pt>
                <c:pt idx="11">
                  <c:v>54%</c:v>
                </c:pt>
                <c:pt idx="12">
                  <c:v>50%</c:v>
                </c:pt>
                <c:pt idx="13">
                  <c:v>44%</c:v>
                </c:pt>
                <c:pt idx="14">
                  <c:v>43%</c:v>
                </c:pt>
                <c:pt idx="15">
                  <c:v>40%</c:v>
                </c:pt>
                <c:pt idx="16">
                  <c:v>39%</c:v>
                </c:pt>
                <c:pt idx="17">
                  <c:v>31%</c:v>
                </c:pt>
                <c:pt idx="18">
                  <c:v>30%</c:v>
                </c:pt>
                <c:pt idx="19">
                  <c:v>29%</c:v>
                </c:pt>
                <c:pt idx="20">
                  <c:v>28%</c:v>
                </c:pt>
                <c:pt idx="21">
                  <c:v>18%</c:v>
                </c:pt>
                <c:pt idx="24">
                  <c:v>38%</c:v>
                </c:pt>
                <c:pt idx="28">
                  <c:v>42%</c:v>
                </c:pt>
              </c:strCache>
            </c:strRef>
          </c:tx>
          <c:spPr>
            <a:ln w="19050">
              <a:noFill/>
            </a:ln>
            <a:effectLst/>
          </c:spPr>
          <c:marker>
            <c:symbol val="circle"/>
            <c:size val="6"/>
            <c:spPr>
              <a:solidFill>
                <a:srgbClr val="36729C"/>
              </a:solidFill>
              <a:ln w="12700">
                <a:noFill/>
              </a:ln>
            </c:spPr>
          </c:marker>
          <c:dPt>
            <c:idx val="0"/>
            <c:bubble3D val="0"/>
            <c:extLst>
              <c:ext xmlns:c16="http://schemas.microsoft.com/office/drawing/2014/chart" uri="{C3380CC4-5D6E-409C-BE32-E72D297353CC}">
                <c16:uniqueId val="{00000000-42E7-4EC4-B11F-EF6F52A32E8D}"/>
              </c:ext>
            </c:extLst>
          </c:dPt>
          <c:dPt>
            <c:idx val="1"/>
            <c:bubble3D val="0"/>
            <c:extLst>
              <c:ext xmlns:c16="http://schemas.microsoft.com/office/drawing/2014/chart" uri="{C3380CC4-5D6E-409C-BE32-E72D297353CC}">
                <c16:uniqueId val="{00000001-42E7-4EC4-B11F-EF6F52A32E8D}"/>
              </c:ext>
            </c:extLst>
          </c:dPt>
          <c:dPt>
            <c:idx val="2"/>
            <c:bubble3D val="0"/>
            <c:extLst>
              <c:ext xmlns:c16="http://schemas.microsoft.com/office/drawing/2014/chart" uri="{C3380CC4-5D6E-409C-BE32-E72D297353CC}">
                <c16:uniqueId val="{00000002-42E7-4EC4-B11F-EF6F52A32E8D}"/>
              </c:ext>
            </c:extLst>
          </c:dPt>
          <c:dPt>
            <c:idx val="3"/>
            <c:bubble3D val="0"/>
            <c:extLst>
              <c:ext xmlns:c16="http://schemas.microsoft.com/office/drawing/2014/chart" uri="{C3380CC4-5D6E-409C-BE32-E72D297353CC}">
                <c16:uniqueId val="{00000003-42E7-4EC4-B11F-EF6F52A32E8D}"/>
              </c:ext>
            </c:extLst>
          </c:dPt>
          <c:dPt>
            <c:idx val="4"/>
            <c:bubble3D val="0"/>
            <c:extLst>
              <c:ext xmlns:c16="http://schemas.microsoft.com/office/drawing/2014/chart" uri="{C3380CC4-5D6E-409C-BE32-E72D297353CC}">
                <c16:uniqueId val="{00000004-42E7-4EC4-B11F-EF6F52A32E8D}"/>
              </c:ext>
            </c:extLst>
          </c:dPt>
          <c:dPt>
            <c:idx val="5"/>
            <c:bubble3D val="0"/>
            <c:extLst>
              <c:ext xmlns:c16="http://schemas.microsoft.com/office/drawing/2014/chart" uri="{C3380CC4-5D6E-409C-BE32-E72D297353CC}">
                <c16:uniqueId val="{00000005-42E7-4EC4-B11F-EF6F52A32E8D}"/>
              </c:ext>
            </c:extLst>
          </c:dPt>
          <c:dPt>
            <c:idx val="6"/>
            <c:bubble3D val="0"/>
            <c:extLst>
              <c:ext xmlns:c16="http://schemas.microsoft.com/office/drawing/2014/chart" uri="{C3380CC4-5D6E-409C-BE32-E72D297353CC}">
                <c16:uniqueId val="{00000006-42E7-4EC4-B11F-EF6F52A32E8D}"/>
              </c:ext>
            </c:extLst>
          </c:dPt>
          <c:dPt>
            <c:idx val="7"/>
            <c:bubble3D val="0"/>
            <c:extLst>
              <c:ext xmlns:c16="http://schemas.microsoft.com/office/drawing/2014/chart" uri="{C3380CC4-5D6E-409C-BE32-E72D297353CC}">
                <c16:uniqueId val="{00000007-42E7-4EC4-B11F-EF6F52A32E8D}"/>
              </c:ext>
            </c:extLst>
          </c:dPt>
          <c:dPt>
            <c:idx val="8"/>
            <c:bubble3D val="0"/>
            <c:extLst>
              <c:ext xmlns:c16="http://schemas.microsoft.com/office/drawing/2014/chart" uri="{C3380CC4-5D6E-409C-BE32-E72D297353CC}">
                <c16:uniqueId val="{00000008-42E7-4EC4-B11F-EF6F52A32E8D}"/>
              </c:ext>
            </c:extLst>
          </c:dPt>
          <c:dPt>
            <c:idx val="9"/>
            <c:bubble3D val="0"/>
            <c:extLst>
              <c:ext xmlns:c16="http://schemas.microsoft.com/office/drawing/2014/chart" uri="{C3380CC4-5D6E-409C-BE32-E72D297353CC}">
                <c16:uniqueId val="{00000009-42E7-4EC4-B11F-EF6F52A32E8D}"/>
              </c:ext>
            </c:extLst>
          </c:dPt>
          <c:dPt>
            <c:idx val="10"/>
            <c:bubble3D val="0"/>
            <c:extLst>
              <c:ext xmlns:c16="http://schemas.microsoft.com/office/drawing/2014/chart" uri="{C3380CC4-5D6E-409C-BE32-E72D297353CC}">
                <c16:uniqueId val="{0000000A-42E7-4EC4-B11F-EF6F52A32E8D}"/>
              </c:ext>
            </c:extLst>
          </c:dPt>
          <c:dPt>
            <c:idx val="11"/>
            <c:bubble3D val="0"/>
            <c:extLst>
              <c:ext xmlns:c16="http://schemas.microsoft.com/office/drawing/2014/chart" uri="{C3380CC4-5D6E-409C-BE32-E72D297353CC}">
                <c16:uniqueId val="{0000000B-42E7-4EC4-B11F-EF6F52A32E8D}"/>
              </c:ext>
            </c:extLst>
          </c:dPt>
          <c:dPt>
            <c:idx val="12"/>
            <c:bubble3D val="0"/>
            <c:extLst>
              <c:ext xmlns:c16="http://schemas.microsoft.com/office/drawing/2014/chart" uri="{C3380CC4-5D6E-409C-BE32-E72D297353CC}">
                <c16:uniqueId val="{0000000C-42E7-4EC4-B11F-EF6F52A32E8D}"/>
              </c:ext>
            </c:extLst>
          </c:dPt>
          <c:dPt>
            <c:idx val="13"/>
            <c:bubble3D val="0"/>
            <c:extLst>
              <c:ext xmlns:c16="http://schemas.microsoft.com/office/drawing/2014/chart" uri="{C3380CC4-5D6E-409C-BE32-E72D297353CC}">
                <c16:uniqueId val="{0000000D-42E7-4EC4-B11F-EF6F52A32E8D}"/>
              </c:ext>
            </c:extLst>
          </c:dPt>
          <c:dPt>
            <c:idx val="14"/>
            <c:bubble3D val="0"/>
            <c:extLst>
              <c:ext xmlns:c16="http://schemas.microsoft.com/office/drawing/2014/chart" uri="{C3380CC4-5D6E-409C-BE32-E72D297353CC}">
                <c16:uniqueId val="{0000000E-42E7-4EC4-B11F-EF6F52A32E8D}"/>
              </c:ext>
            </c:extLst>
          </c:dPt>
          <c:dPt>
            <c:idx val="15"/>
            <c:bubble3D val="0"/>
            <c:extLst>
              <c:ext xmlns:c16="http://schemas.microsoft.com/office/drawing/2014/chart" uri="{C3380CC4-5D6E-409C-BE32-E72D297353CC}">
                <c16:uniqueId val="{0000000F-42E7-4EC4-B11F-EF6F52A32E8D}"/>
              </c:ext>
            </c:extLst>
          </c:dPt>
          <c:dPt>
            <c:idx val="16"/>
            <c:bubble3D val="0"/>
            <c:extLst>
              <c:ext xmlns:c16="http://schemas.microsoft.com/office/drawing/2014/chart" uri="{C3380CC4-5D6E-409C-BE32-E72D297353CC}">
                <c16:uniqueId val="{00000010-42E7-4EC4-B11F-EF6F52A32E8D}"/>
              </c:ext>
            </c:extLst>
          </c:dPt>
          <c:dPt>
            <c:idx val="17"/>
            <c:bubble3D val="0"/>
            <c:extLst>
              <c:ext xmlns:c16="http://schemas.microsoft.com/office/drawing/2014/chart" uri="{C3380CC4-5D6E-409C-BE32-E72D297353CC}">
                <c16:uniqueId val="{00000011-42E7-4EC4-B11F-EF6F52A32E8D}"/>
              </c:ext>
            </c:extLst>
          </c:dPt>
          <c:dPt>
            <c:idx val="18"/>
            <c:bubble3D val="0"/>
            <c:extLst>
              <c:ext xmlns:c16="http://schemas.microsoft.com/office/drawing/2014/chart" uri="{C3380CC4-5D6E-409C-BE32-E72D297353CC}">
                <c16:uniqueId val="{00000012-42E7-4EC4-B11F-EF6F52A32E8D}"/>
              </c:ext>
            </c:extLst>
          </c:dPt>
          <c:dPt>
            <c:idx val="19"/>
            <c:bubble3D val="0"/>
            <c:extLst>
              <c:ext xmlns:c16="http://schemas.microsoft.com/office/drawing/2014/chart" uri="{C3380CC4-5D6E-409C-BE32-E72D297353CC}">
                <c16:uniqueId val="{00000013-42E7-4EC4-B11F-EF6F52A32E8D}"/>
              </c:ext>
            </c:extLst>
          </c:dPt>
          <c:dPt>
            <c:idx val="20"/>
            <c:bubble3D val="0"/>
            <c:extLst>
              <c:ext xmlns:c16="http://schemas.microsoft.com/office/drawing/2014/chart" uri="{C3380CC4-5D6E-409C-BE32-E72D297353CC}">
                <c16:uniqueId val="{00000014-42E7-4EC4-B11F-EF6F52A32E8D}"/>
              </c:ext>
            </c:extLst>
          </c:dPt>
          <c:dPt>
            <c:idx val="21"/>
            <c:bubble3D val="0"/>
            <c:extLst>
              <c:ext xmlns:c16="http://schemas.microsoft.com/office/drawing/2014/chart" uri="{C3380CC4-5D6E-409C-BE32-E72D297353CC}">
                <c16:uniqueId val="{00000015-42E7-4EC4-B11F-EF6F52A32E8D}"/>
              </c:ext>
            </c:extLst>
          </c:dPt>
          <c:dPt>
            <c:idx val="22"/>
            <c:marker>
              <c:symbol val="square"/>
              <c:size val="6"/>
              <c:spPr>
                <a:solidFill>
                  <a:srgbClr val="00B050"/>
                </a:solidFill>
                <a:ln w="12700">
                  <a:noFill/>
                </a:ln>
              </c:spPr>
            </c:marker>
            <c:bubble3D val="0"/>
            <c:extLst>
              <c:ext xmlns:c16="http://schemas.microsoft.com/office/drawing/2014/chart" uri="{C3380CC4-5D6E-409C-BE32-E72D297353CC}">
                <c16:uniqueId val="{00000016-42E7-4EC4-B11F-EF6F52A32E8D}"/>
              </c:ext>
            </c:extLst>
          </c:dPt>
          <c:dPt>
            <c:idx val="23"/>
            <c:marker>
              <c:symbol val="square"/>
              <c:size val="6"/>
              <c:spPr>
                <a:solidFill>
                  <a:schemeClr val="bg1">
                    <a:lumMod val="50000"/>
                  </a:schemeClr>
                </a:solidFill>
                <a:ln w="12700">
                  <a:noFill/>
                </a:ln>
              </c:spPr>
            </c:marker>
            <c:bubble3D val="0"/>
            <c:extLst>
              <c:ext xmlns:c16="http://schemas.microsoft.com/office/drawing/2014/chart" uri="{C3380CC4-5D6E-409C-BE32-E72D297353CC}">
                <c16:uniqueId val="{00000017-42E7-4EC4-B11F-EF6F52A32E8D}"/>
              </c:ext>
            </c:extLst>
          </c:dPt>
          <c:dPt>
            <c:idx val="24"/>
            <c:bubble3D val="0"/>
            <c:extLst>
              <c:ext xmlns:c16="http://schemas.microsoft.com/office/drawing/2014/chart" uri="{C3380CC4-5D6E-409C-BE32-E72D297353CC}">
                <c16:uniqueId val="{00000018-42E7-4EC4-B11F-EF6F52A32E8D}"/>
              </c:ext>
            </c:extLst>
          </c:dPt>
          <c:dLbls>
            <c:dLbl>
              <c:idx val="0"/>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42E7-4EC4-B11F-EF6F52A32E8D}"/>
                </c:ext>
              </c:extLst>
            </c:dLbl>
            <c:dLbl>
              <c:idx val="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42E7-4EC4-B11F-EF6F52A32E8D}"/>
                </c:ext>
              </c:extLst>
            </c:dLbl>
            <c:dLbl>
              <c:idx val="2"/>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2-42E7-4EC4-B11F-EF6F52A32E8D}"/>
                </c:ext>
              </c:extLst>
            </c:dLbl>
            <c:dLbl>
              <c:idx val="3"/>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42E7-4EC4-B11F-EF6F52A32E8D}"/>
                </c:ext>
              </c:extLst>
            </c:dLbl>
            <c:dLbl>
              <c:idx val="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42E7-4EC4-B11F-EF6F52A32E8D}"/>
                </c:ext>
              </c:extLst>
            </c:dLbl>
            <c:dLbl>
              <c:idx val="5"/>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42E7-4EC4-B11F-EF6F52A32E8D}"/>
                </c:ext>
              </c:extLst>
            </c:dLbl>
            <c:dLbl>
              <c:idx val="6"/>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42E7-4EC4-B11F-EF6F52A32E8D}"/>
                </c:ext>
              </c:extLst>
            </c:dLbl>
            <c:dLbl>
              <c:idx val="7"/>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7-42E7-4EC4-B11F-EF6F52A32E8D}"/>
                </c:ext>
              </c:extLst>
            </c:dLbl>
            <c:dLbl>
              <c:idx val="8"/>
              <c:layout>
                <c:manualLayout>
                  <c:x val="-6.1250941974378293E-3"/>
                  <c:y val="-3.1721632929752569E-3"/>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42E7-4EC4-B11F-EF6F52A32E8D}"/>
                </c:ext>
              </c:extLst>
            </c:dLbl>
            <c:dLbl>
              <c:idx val="9"/>
              <c:layout>
                <c:manualLayout>
                  <c:x val="-8.0159155990957038E-3"/>
                  <c:y val="-5.8155655218788007E-17"/>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42E7-4EC4-B11F-EF6F52A32E8D}"/>
                </c:ext>
              </c:extLst>
            </c:dLbl>
            <c:dLbl>
              <c:idx val="10"/>
              <c:layout>
                <c:manualLayout>
                  <c:x val="-4.6966209495101843E-2"/>
                  <c:y val="-2.2912510487496558E-2"/>
                </c:manualLayout>
              </c:layout>
              <c:tx>
                <c:rich>
                  <a:bodyPr rot="0" spcFirstLastPara="1" vertOverflow="ellipsis" vert="horz" wrap="none" lIns="0" tIns="0" rIns="0" bIns="0" anchor="ctr" anchorCtr="1">
                    <a:no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fld id="{BF757265-28D4-4320-9029-3BE4F5F6ADA6}" type="CELLRANGE">
                      <a:rPr lang="en-US" sz="900" dirty="0">
                        <a:latin typeface="Arial" panose="020B0604020202020204" pitchFamily="34" charset="0"/>
                        <a:cs typeface="Arial" panose="020B0604020202020204" pitchFamily="34" charset="0"/>
                      </a:rPr>
                      <a:pPr>
                        <a:defRPr sz="900" b="0" i="0" u="none" strike="noStrike" kern="1200" baseline="0">
                          <a:solidFill>
                            <a:srgbClr val="36729C"/>
                          </a:solidFill>
                          <a:latin typeface="Arial" panose="020B0604020202020204" pitchFamily="34" charset="0"/>
                          <a:ea typeface="+mn-ea"/>
                          <a:cs typeface="Arial" panose="020B0604020202020204" pitchFamily="34" charset="0"/>
                        </a:defRPr>
                      </a:pPr>
                      <a:t>[CELLRANGE]</a:t>
                    </a:fld>
                    <a:endParaRPr lang="en-US"/>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5.1056518462697813E-2"/>
                      <c:h val="3.3136617579729327E-2"/>
                    </c:manualLayout>
                  </c15:layout>
                  <c15:dlblFieldTable/>
                  <c15:showDataLabelsRange val="1"/>
                </c:ext>
                <c:ext xmlns:c16="http://schemas.microsoft.com/office/drawing/2014/chart" uri="{C3380CC4-5D6E-409C-BE32-E72D297353CC}">
                  <c16:uniqueId val="{0000000A-42E7-4EC4-B11F-EF6F52A32E8D}"/>
                </c:ext>
              </c:extLst>
            </c:dLbl>
            <c:dLbl>
              <c:idx val="11"/>
              <c:layout>
                <c:manualLayout>
                  <c:x val="-4.3903662396382818E-2"/>
                  <c:y val="-2.608467378047187E-2"/>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layout>
                    <c:manualLayout>
                      <c:w val="5.1056518462697813E-2"/>
                      <c:h val="3.3136617579729327E-2"/>
                    </c:manualLayout>
                  </c15:layout>
                  <c15:dlblFieldTable/>
                  <c15:showDataLabelsRange val="1"/>
                </c:ext>
                <c:ext xmlns:c16="http://schemas.microsoft.com/office/drawing/2014/chart" uri="{C3380CC4-5D6E-409C-BE32-E72D297353CC}">
                  <c16:uniqueId val="{0000000B-42E7-4EC4-B11F-EF6F52A32E8D}"/>
                </c:ext>
              </c:extLst>
            </c:dLbl>
            <c:dLbl>
              <c:idx val="12"/>
              <c:layout>
                <c:manualLayout>
                  <c:x val="-3.6164822908816882E-2"/>
                  <c:y val="-1.9740347194521359E-2"/>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42E7-4EC4-B11F-EF6F52A32E8D}"/>
                </c:ext>
              </c:extLst>
            </c:dLbl>
            <c:dLbl>
              <c:idx val="13"/>
              <c:layout>
                <c:manualLayout>
                  <c:x val="-6.1250941974378352E-2"/>
                  <c:y val="-1.5860816464876283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D-42E7-4EC4-B11F-EF6F52A32E8D}"/>
                </c:ext>
              </c:extLst>
            </c:dLbl>
            <c:dLbl>
              <c:idx val="14"/>
              <c:layout>
                <c:manualLayout>
                  <c:x val="-3.3688018085908066E-2"/>
                  <c:y val="-2.5377306343802055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42E7-4EC4-B11F-EF6F52A32E8D}"/>
                </c:ext>
              </c:extLst>
            </c:dLbl>
            <c:dLbl>
              <c:idx val="15"/>
              <c:layout>
                <c:manualLayout>
                  <c:x val="-1.2250188394875659E-2"/>
                  <c:y val="-1.2688653171901087E-2"/>
                </c:manualLayout>
              </c:layout>
              <c:tx>
                <c:rich>
                  <a:bodyPr rot="0" spcFirstLastPara="1" vertOverflow="ellipsis" vert="horz" wrap="none" lIns="0" tIns="0" rIns="0" bIns="0" anchor="ctr" anchorCtr="1">
                    <a:sp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fld id="{4DAA323B-45EC-420A-8126-8B1D1E00CED3}" type="CELLRANGE">
                      <a:rPr lang="en-US" sz="900" dirty="0">
                        <a:solidFill>
                          <a:srgbClr val="36729C"/>
                        </a:solidFill>
                        <a:latin typeface="Arial" panose="020B0604020202020204" pitchFamily="34" charset="0"/>
                        <a:cs typeface="Arial" panose="020B0604020202020204" pitchFamily="34" charset="0"/>
                      </a:rPr>
                      <a:pPr>
                        <a:defRPr sz="900" b="0" i="0" u="none" strike="noStrike" kern="1200" baseline="0">
                          <a:solidFill>
                            <a:srgbClr val="36729C"/>
                          </a:solidFill>
                          <a:latin typeface="Arial" panose="020B0604020202020204" pitchFamily="34" charset="0"/>
                          <a:ea typeface="+mn-ea"/>
                          <a:cs typeface="Arial" panose="020B0604020202020204" pitchFamily="34" charset="0"/>
                        </a:defRPr>
                      </a:pPr>
                      <a:t>[CELLRANGE]</a:t>
                    </a:fld>
                    <a:endParaRPr lang="en-US"/>
                  </a:p>
                </c:rich>
              </c:tx>
              <c:numFmt formatCode="General" sourceLinked="0"/>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1"/>
                </c:ext>
                <c:ext xmlns:c16="http://schemas.microsoft.com/office/drawing/2014/chart" uri="{C3380CC4-5D6E-409C-BE32-E72D297353CC}">
                  <c16:uniqueId val="{0000000F-42E7-4EC4-B11F-EF6F52A32E8D}"/>
                </c:ext>
              </c:extLst>
            </c:dLbl>
            <c:dLbl>
              <c:idx val="16"/>
              <c:layout>
                <c:manualLayout>
                  <c:x val="-6.1250941974378297E-2"/>
                  <c:y val="-2.2205143050826798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0-42E7-4EC4-B11F-EF6F52A32E8D}"/>
                </c:ext>
              </c:extLst>
            </c:dLbl>
            <c:dLbl>
              <c:idx val="17"/>
              <c:layout>
                <c:manualLayout>
                  <c:x val="-9.1876412961567448E-3"/>
                  <c:y val="-5.8155655218788007E-17"/>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1-42E7-4EC4-B11F-EF6F52A32E8D}"/>
                </c:ext>
              </c:extLst>
            </c:dLbl>
            <c:dLbl>
              <c:idx val="18"/>
              <c:layout>
                <c:manualLayout>
                  <c:x val="-8.8813865862848534E-2"/>
                  <c:y val="0"/>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2-42E7-4EC4-B11F-EF6F52A32E8D}"/>
                </c:ext>
              </c:extLst>
            </c:dLbl>
            <c:dLbl>
              <c:idx val="19"/>
              <c:layout>
                <c:manualLayout>
                  <c:x val="-4.6966209495101843E-2"/>
                  <c:y val="2.6084923557109056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3-42E7-4EC4-B11F-EF6F52A32E8D}"/>
                </c:ext>
              </c:extLst>
            </c:dLbl>
            <c:dLbl>
              <c:idx val="20"/>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4-42E7-4EC4-B11F-EF6F52A32E8D}"/>
                </c:ext>
              </c:extLst>
            </c:dLbl>
            <c:dLbl>
              <c:idx val="2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5-42E7-4EC4-B11F-EF6F52A32E8D}"/>
                </c:ext>
              </c:extLst>
            </c:dLbl>
            <c:dLbl>
              <c:idx val="22"/>
              <c:delete val="1"/>
              <c:extLst>
                <c:ext xmlns:c15="http://schemas.microsoft.com/office/drawing/2012/chart" uri="{CE6537A1-D6FC-4f65-9D91-7224C49458BB}"/>
                <c:ext xmlns:c16="http://schemas.microsoft.com/office/drawing/2014/chart" uri="{C3380CC4-5D6E-409C-BE32-E72D297353CC}">
                  <c16:uniqueId val="{00000016-42E7-4EC4-B11F-EF6F52A32E8D}"/>
                </c:ext>
              </c:extLst>
            </c:dLbl>
            <c:dLbl>
              <c:idx val="23"/>
              <c:delete val="1"/>
              <c:extLst>
                <c:ext xmlns:c15="http://schemas.microsoft.com/office/drawing/2012/chart" uri="{CE6537A1-D6FC-4f65-9D91-7224C49458BB}"/>
                <c:ext xmlns:c16="http://schemas.microsoft.com/office/drawing/2014/chart" uri="{C3380CC4-5D6E-409C-BE32-E72D297353CC}">
                  <c16:uniqueId val="{00000017-42E7-4EC4-B11F-EF6F52A32E8D}"/>
                </c:ext>
              </c:extLst>
            </c:dLbl>
            <c:dLbl>
              <c:idx val="2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8-42E7-4EC4-B11F-EF6F52A32E8D}"/>
                </c:ext>
              </c:extLst>
            </c:dLbl>
            <c:spPr>
              <a:noFill/>
              <a:ln>
                <a:noFill/>
              </a:ln>
              <a:effectLst/>
            </c:spPr>
            <c:txPr>
              <a:bodyPr rot="0" spcFirstLastPara="1" vertOverflow="ellipsis" vert="horz" wrap="none" lIns="0" tIns="0" rIns="0" bIns="0" anchor="ctr" anchorCtr="1">
                <a:sp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DataLabelsRange val="1"/>
                <c15:showLeaderLines val="0"/>
              </c:ext>
            </c:extLst>
          </c:dLbls>
          <c:xVal>
            <c:numRef>
              <c:f>Sheet1!$A$2:$A$26</c:f>
              <c:numCache>
                <c:formatCode>General</c:formatCode>
                <c:ptCount val="25"/>
                <c:pt idx="8" formatCode="0%">
                  <c:v>0.53</c:v>
                </c:pt>
                <c:pt idx="9" formatCode="0%">
                  <c:v>0.46</c:v>
                </c:pt>
                <c:pt idx="10" formatCode="0%">
                  <c:v>0.59</c:v>
                </c:pt>
                <c:pt idx="11" formatCode="0%">
                  <c:v>0.63</c:v>
                </c:pt>
                <c:pt idx="12" formatCode="0%">
                  <c:v>0.6</c:v>
                </c:pt>
                <c:pt idx="13" formatCode="0%">
                  <c:v>0.56000000000000005</c:v>
                </c:pt>
                <c:pt idx="14" formatCode="0%">
                  <c:v>0.57999999999999996</c:v>
                </c:pt>
                <c:pt idx="15" formatCode="0%">
                  <c:v>0.65</c:v>
                </c:pt>
                <c:pt idx="16" formatCode="0%">
                  <c:v>0.53</c:v>
                </c:pt>
                <c:pt idx="17" formatCode="0%">
                  <c:v>0.54</c:v>
                </c:pt>
                <c:pt idx="18" formatCode="0%">
                  <c:v>0.5</c:v>
                </c:pt>
                <c:pt idx="19" formatCode="0%">
                  <c:v>0.62</c:v>
                </c:pt>
                <c:pt idx="20" formatCode="0%">
                  <c:v>0.54</c:v>
                </c:pt>
                <c:pt idx="23" formatCode="0%">
                  <c:v>0.56999999999999995</c:v>
                </c:pt>
              </c:numCache>
            </c:numRef>
          </c:xVal>
          <c:yVal>
            <c:numRef>
              <c:f>Sheet1!$B$2:$B$26</c:f>
              <c:numCache>
                <c:formatCode>General</c:formatCode>
                <c:ptCount val="25"/>
                <c:pt idx="8" formatCode="0%">
                  <c:v>0.63</c:v>
                </c:pt>
                <c:pt idx="9" formatCode="0%">
                  <c:v>0.56000000000000005</c:v>
                </c:pt>
                <c:pt idx="10" formatCode="0%">
                  <c:v>0.54</c:v>
                </c:pt>
                <c:pt idx="11" formatCode="0%">
                  <c:v>0.5</c:v>
                </c:pt>
                <c:pt idx="12" formatCode="0%">
                  <c:v>0.44</c:v>
                </c:pt>
                <c:pt idx="13" formatCode="0%">
                  <c:v>0.43</c:v>
                </c:pt>
                <c:pt idx="14" formatCode="0%">
                  <c:v>0.4</c:v>
                </c:pt>
                <c:pt idx="15" formatCode="0%">
                  <c:v>0.39</c:v>
                </c:pt>
                <c:pt idx="16" formatCode="0%">
                  <c:v>0.31</c:v>
                </c:pt>
                <c:pt idx="17" formatCode="0%">
                  <c:v>0.3</c:v>
                </c:pt>
                <c:pt idx="18" formatCode="0%">
                  <c:v>0.28999999999999998</c:v>
                </c:pt>
                <c:pt idx="19" formatCode="0%">
                  <c:v>0.28000000000000003</c:v>
                </c:pt>
                <c:pt idx="20" formatCode="0%">
                  <c:v>0.18</c:v>
                </c:pt>
                <c:pt idx="23" formatCode="0%">
                  <c:v>0.38</c:v>
                </c:pt>
              </c:numCache>
            </c:numRef>
          </c:yVal>
          <c:smooth val="0"/>
          <c:extLst>
            <c:ext xmlns:c15="http://schemas.microsoft.com/office/drawing/2012/chart" uri="{02D57815-91ED-43cb-92C2-25804820EDAC}">
              <c15:datalabelsRange>
                <c15:f>Sheet1!$D$2:$D$26</c15:f>
                <c15:dlblRangeCache>
                  <c:ptCount val="25"/>
                  <c:pt idx="8">
                    <c:v>C7</c:v>
                  </c:pt>
                  <c:pt idx="9">
                    <c:v>C6</c:v>
                  </c:pt>
                  <c:pt idx="10">
                    <c:v>C11</c:v>
                  </c:pt>
                  <c:pt idx="11">
                    <c:v>C10</c:v>
                  </c:pt>
                  <c:pt idx="12">
                    <c:v>C3</c:v>
                  </c:pt>
                  <c:pt idx="13">
                    <c:v>C4</c:v>
                  </c:pt>
                  <c:pt idx="14">
                    <c:v>C1</c:v>
                  </c:pt>
                  <c:pt idx="15">
                    <c:v>C9</c:v>
                  </c:pt>
                  <c:pt idx="16">
                    <c:v>C22*</c:v>
                  </c:pt>
                  <c:pt idx="17">
                    <c:v>C20*</c:v>
                  </c:pt>
                  <c:pt idx="18">
                    <c:v>C21*</c:v>
                  </c:pt>
                  <c:pt idx="19">
                    <c:v>C19</c:v>
                  </c:pt>
                  <c:pt idx="20">
                    <c:v>C17</c:v>
                  </c:pt>
                  <c:pt idx="22">
                    <c:v>IA</c:v>
                  </c:pt>
                  <c:pt idx="23">
                    <c:v>WA</c:v>
                  </c:pt>
                </c15:dlblRangeCache>
              </c15:datalabelsRange>
            </c:ext>
            <c:ext xmlns:c16="http://schemas.microsoft.com/office/drawing/2014/chart" uri="{C3380CC4-5D6E-409C-BE32-E72D297353CC}">
              <c16:uniqueId val="{00000019-42E7-4EC4-B11F-EF6F52A32E8D}"/>
            </c:ext>
          </c:extLst>
        </c:ser>
        <c:ser>
          <c:idx val="1"/>
          <c:order val="1"/>
          <c:tx>
            <c:v>W3</c:v>
          </c:tx>
          <c:spPr>
            <a:ln w="28575">
              <a:noFill/>
            </a:ln>
          </c:spPr>
          <c:marker>
            <c:symbol val="circle"/>
            <c:size val="6"/>
            <c:spPr>
              <a:solidFill>
                <a:srgbClr val="9778D4"/>
              </a:solidFill>
              <a:ln>
                <a:noFill/>
              </a:ln>
            </c:spPr>
          </c:marker>
          <c:dLbls>
            <c:dLbl>
              <c:idx val="0"/>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1-9429-4D8F-970C-2FB3CFC7829E}"/>
                </c:ext>
              </c:extLst>
            </c:dLbl>
            <c:dLbl>
              <c:idx val="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2-9429-4D8F-970C-2FB3CFC7829E}"/>
                </c:ext>
              </c:extLst>
            </c:dLbl>
            <c:dLbl>
              <c:idx val="2"/>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3-9429-4D8F-970C-2FB3CFC7829E}"/>
                </c:ext>
              </c:extLst>
            </c:dLbl>
            <c:dLbl>
              <c:idx val="3"/>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4-9429-4D8F-970C-2FB3CFC7829E}"/>
                </c:ext>
              </c:extLst>
            </c:dLbl>
            <c:dLbl>
              <c:idx val="4"/>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5-9429-4D8F-970C-2FB3CFC7829E}"/>
                </c:ext>
              </c:extLst>
            </c:dLbl>
            <c:dLbl>
              <c:idx val="5"/>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6-9429-4D8F-970C-2FB3CFC7829E}"/>
                </c:ext>
              </c:extLst>
            </c:dLbl>
            <c:dLbl>
              <c:idx val="6"/>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7-9429-4D8F-970C-2FB3CFC7829E}"/>
                </c:ext>
              </c:extLst>
            </c:dLbl>
            <c:dLbl>
              <c:idx val="7"/>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429-4D8F-970C-2FB3CFC7829E}"/>
                </c:ext>
              </c:extLst>
            </c:dLbl>
            <c:dLbl>
              <c:idx val="8"/>
              <c:layout>
                <c:manualLayout>
                  <c:x val="-5.2836654107008399E-2"/>
                  <c:y val="-2.3243964085116885E-2"/>
                </c:manualLayout>
              </c:layout>
              <c:tx>
                <c:rich>
                  <a:bodyPr/>
                  <a:lstStyle/>
                  <a:p>
                    <a:fld id="{34776591-F94B-4487-85B9-3367B467BDEE}"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4-B1B4-417B-982C-B6396995408C}"/>
                </c:ext>
              </c:extLst>
            </c:dLbl>
            <c:dLbl>
              <c:idx val="9"/>
              <c:layout>
                <c:manualLayout>
                  <c:x val="-4.5938206480783721E-2"/>
                  <c:y val="-2.5377306343802055E-2"/>
                </c:manualLayout>
              </c:layout>
              <c:tx>
                <c:rich>
                  <a:bodyPr/>
                  <a:lstStyle/>
                  <a:p>
                    <a:fld id="{3070E2F9-5C95-44F9-90E1-A89A45D87DF5}"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F-B1B4-417B-982C-B6396995408C}"/>
                </c:ext>
              </c:extLst>
            </c:dLbl>
            <c:dLbl>
              <c:idx val="10"/>
              <c:layout>
                <c:manualLayout>
                  <c:x val="-6.5752524491333841E-2"/>
                  <c:y val="-2.8549469636777312E-2"/>
                </c:manualLayout>
              </c:layout>
              <c:tx>
                <c:rich>
                  <a:bodyPr wrap="none" lIns="38100" tIns="19050" rIns="38100" bIns="19050" anchor="ctr">
                    <a:noAutofit/>
                  </a:bodyPr>
                  <a:lstStyle/>
                  <a:p>
                    <a:pPr>
                      <a:defRPr sz="900">
                        <a:solidFill>
                          <a:srgbClr val="9778D4"/>
                        </a:solidFill>
                        <a:latin typeface="Arial" panose="020B0604020202020204" pitchFamily="34" charset="0"/>
                        <a:cs typeface="Arial" panose="020B0604020202020204" pitchFamily="34" charset="0"/>
                      </a:defRPr>
                    </a:pPr>
                    <a:fld id="{2A98E60E-5EB5-4934-B60B-64A47B180C68}" type="CELLRANGE">
                      <a:rPr lang="en-US"/>
                      <a:pPr>
                        <a:defRPr sz="900">
                          <a:solidFill>
                            <a:srgbClr val="9778D4"/>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5.9627792012057264E-2"/>
                      <c:h val="2.9199888000155865E-2"/>
                    </c:manualLayout>
                  </c15:layout>
                  <c15:dlblFieldTable/>
                  <c15:showDataLabelsRange val="1"/>
                </c:ext>
                <c:ext xmlns:c16="http://schemas.microsoft.com/office/drawing/2014/chart" uri="{C3380CC4-5D6E-409C-BE32-E72D297353CC}">
                  <c16:uniqueId val="{0000001C-B1B4-417B-982C-B6396995408C}"/>
                </c:ext>
              </c:extLst>
            </c:dLbl>
            <c:dLbl>
              <c:idx val="11"/>
              <c:layout>
                <c:manualLayout>
                  <c:x val="-4.8250550113036923E-2"/>
                  <c:y val="-2.4338485309511968E-2"/>
                </c:manualLayout>
              </c:layout>
              <c:tx>
                <c:rich>
                  <a:bodyPr/>
                  <a:lstStyle/>
                  <a:p>
                    <a:fld id="{F68006FF-215F-4BC9-8B46-41446D6A2FA1}"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E-B1B4-417B-982C-B6396995408C}"/>
                </c:ext>
              </c:extLst>
            </c:dLbl>
            <c:dLbl>
              <c:idx val="12"/>
              <c:layout>
                <c:manualLayout>
                  <c:x val="-1.7625079125847778E-2"/>
                  <c:y val="-2.1333422586852289E-3"/>
                </c:manualLayout>
              </c:layout>
              <c:tx>
                <c:rich>
                  <a:bodyPr/>
                  <a:lstStyle/>
                  <a:p>
                    <a:fld id="{A46E0B4C-6E7A-426C-A425-5FAA28EAAFE4}"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2-B1B4-417B-982C-B6396995408C}"/>
                </c:ext>
              </c:extLst>
            </c:dLbl>
            <c:dLbl>
              <c:idx val="13"/>
              <c:layout>
                <c:manualLayout>
                  <c:x val="-4.5938206480783721E-2"/>
                  <c:y val="2.5377306343802055E-2"/>
                </c:manualLayout>
              </c:layout>
              <c:tx>
                <c:rich>
                  <a:bodyPr/>
                  <a:lstStyle/>
                  <a:p>
                    <a:fld id="{F387796B-A7BC-4767-9EBF-E7D6508FEE7E}"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3-B1B4-417B-982C-B6396995408C}"/>
                </c:ext>
              </c:extLst>
            </c:dLbl>
            <c:dLbl>
              <c:idx val="14"/>
              <c:layout>
                <c:manualLayout>
                  <c:x val="-6.431348907309721E-2"/>
                  <c:y val="-1.903297975785154E-2"/>
                </c:manualLayout>
              </c:layout>
              <c:tx>
                <c:rich>
                  <a:bodyPr/>
                  <a:lstStyle/>
                  <a:p>
                    <a:fld id="{52AC20DF-2EA7-4ADE-9ED1-76D8CDEBD070}"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D-B1B4-417B-982C-B6396995408C}"/>
                </c:ext>
              </c:extLst>
            </c:dLbl>
            <c:dLbl>
              <c:idx val="15"/>
              <c:layout>
                <c:manualLayout>
                  <c:x val="-8.8813865862848534E-2"/>
                  <c:y val="3.1721632929751988E-3"/>
                </c:manualLayout>
              </c:layout>
              <c:tx>
                <c:rich>
                  <a:bodyPr/>
                  <a:lstStyle/>
                  <a:p>
                    <a:fld id="{A7005302-BEF6-4910-8425-5A849BD0CA7C}"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9429-4D8F-970C-2FB3CFC7829E}"/>
                </c:ext>
              </c:extLst>
            </c:dLbl>
            <c:dLbl>
              <c:idx val="16"/>
              <c:layout>
                <c:manualLayout>
                  <c:x val="-4.9000753579502634E-2"/>
                  <c:y val="3.8065959515703081E-2"/>
                </c:manualLayout>
              </c:layout>
              <c:tx>
                <c:rich>
                  <a:bodyPr/>
                  <a:lstStyle/>
                  <a:p>
                    <a:fld id="{64084D13-1FDC-4CAD-A648-B862FC9EB13C}"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B-B1B4-417B-982C-B6396995408C}"/>
                </c:ext>
              </c:extLst>
            </c:dLbl>
            <c:dLbl>
              <c:idx val="17"/>
              <c:layout>
                <c:manualLayout>
                  <c:x val="-1.2862697814619555E-2"/>
                  <c:y val="-2.0944270586028445E-2"/>
                </c:manualLayout>
              </c:layout>
              <c:tx>
                <c:rich>
                  <a:bodyPr wrap="none" lIns="38100" tIns="19050" rIns="38100" bIns="19050" anchor="ctr">
                    <a:noAutofit/>
                  </a:bodyPr>
                  <a:lstStyle/>
                  <a:p>
                    <a:pPr>
                      <a:defRPr sz="900">
                        <a:solidFill>
                          <a:srgbClr val="9778D4"/>
                        </a:solidFill>
                        <a:latin typeface="Arial" panose="020B0604020202020204" pitchFamily="34" charset="0"/>
                        <a:cs typeface="Arial" panose="020B0604020202020204" pitchFamily="34" charset="0"/>
                      </a:defRPr>
                    </a:pPr>
                    <a:fld id="{1EA86154-5959-4BE9-9E94-45BE62E93F08}" type="CELLRANGE">
                      <a:rPr lang="en-US" sz="900" dirty="0">
                        <a:solidFill>
                          <a:srgbClr val="9778D4"/>
                        </a:solidFill>
                        <a:latin typeface="Arial" panose="020B0604020202020204" pitchFamily="34" charset="0"/>
                        <a:cs typeface="Arial" panose="020B0604020202020204" pitchFamily="34" charset="0"/>
                      </a:rPr>
                      <a:pPr>
                        <a:defRPr sz="900">
                          <a:solidFill>
                            <a:srgbClr val="9778D4"/>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6.8601055011303688E-2"/>
                      <c:h val="4.1888541172056891E-2"/>
                    </c:manualLayout>
                  </c15:layout>
                  <c15:dlblFieldTable/>
                  <c15:showDataLabelsRange val="1"/>
                </c:ext>
                <c:ext xmlns:c16="http://schemas.microsoft.com/office/drawing/2014/chart" uri="{C3380CC4-5D6E-409C-BE32-E72D297353CC}">
                  <c16:uniqueId val="{00000025-B1B4-417B-982C-B6396995408C}"/>
                </c:ext>
              </c:extLst>
            </c:dLbl>
            <c:dLbl>
              <c:idx val="18"/>
              <c:layout>
                <c:manualLayout>
                  <c:x val="-5.0562652599849281E-2"/>
                  <c:y val="9.8337062082232848E-2"/>
                </c:manualLayout>
              </c:layout>
              <c:tx>
                <c:rich>
                  <a:bodyPr/>
                  <a:lstStyle/>
                  <a:p>
                    <a:fld id="{FD79787B-A81E-43EC-A2EB-CE57E047EAF0}"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0-B1B4-417B-982C-B6396995408C}"/>
                </c:ext>
              </c:extLst>
            </c:dLbl>
            <c:dLbl>
              <c:idx val="19"/>
              <c:layout>
                <c:manualLayout>
                  <c:x val="-6.5875388093443912E-2"/>
                  <c:y val="-4.4410286101653595E-2"/>
                </c:manualLayout>
              </c:layout>
              <c:tx>
                <c:rich>
                  <a:bodyPr/>
                  <a:lstStyle/>
                  <a:p>
                    <a:fld id="{725819EC-BAF2-47F6-BB4C-C9C002423CD0}"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1-B1B4-417B-982C-B6396995408C}"/>
                </c:ext>
              </c:extLst>
            </c:dLbl>
            <c:dLbl>
              <c:idx val="20"/>
              <c:layout>
                <c:manualLayout>
                  <c:x val="-9.571231348907315E-2"/>
                  <c:y val="-3.7027138481412994E-2"/>
                </c:manualLayout>
              </c:layout>
              <c:tx>
                <c:rich>
                  <a:bodyPr/>
                  <a:lstStyle/>
                  <a:p>
                    <a:fld id="{17CFA876-9B52-428F-B23B-0443FC9A850F}"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9429-4D8F-970C-2FB3CFC7829E}"/>
                </c:ext>
              </c:extLst>
            </c:dLbl>
            <c:dLbl>
              <c:idx val="2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429-4D8F-970C-2FB3CFC7829E}"/>
                </c:ext>
              </c:extLst>
            </c:dLbl>
            <c:spPr>
              <a:noFill/>
              <a:ln>
                <a:noFill/>
              </a:ln>
              <a:effectLst/>
            </c:spPr>
            <c:txPr>
              <a:bodyPr wrap="square" lIns="38100" tIns="19050" rIns="38100" bIns="19050" anchor="ctr">
                <a:spAutoFit/>
              </a:bodyPr>
              <a:lstStyle/>
              <a:p>
                <a:pPr>
                  <a:defRPr sz="900">
                    <a:solidFill>
                      <a:srgbClr val="9778D4"/>
                    </a:solidFill>
                    <a:latin typeface="Arial" panose="020B0604020202020204" pitchFamily="34" charset="0"/>
                    <a:cs typeface="Arial" panose="020B0604020202020204" pitchFamily="34" charset="0"/>
                  </a:defRPr>
                </a:pPr>
                <a:endParaRPr lang="en-US"/>
              </a:p>
            </c:txPr>
            <c:dLblPos val="t"/>
            <c:showLegendKey val="0"/>
            <c:showVal val="0"/>
            <c:showCatName val="0"/>
            <c:showSerName val="0"/>
            <c:showPercent val="0"/>
            <c:showBubbleSize val="0"/>
            <c:showLeaderLines val="0"/>
            <c:extLst xmlns:c15="http://schemas.microsoft.com/office/drawing/2012/chart">
              <c:ext xmlns:c15="http://schemas.microsoft.com/office/drawing/2012/chart" uri="{CE6537A1-D6FC-4f65-9D91-7224C49458BB}">
                <c15:showDataLabelsRange val="1"/>
                <c15:showLeaderLines val="0"/>
              </c:ext>
            </c:extLst>
          </c:dLbls>
          <c:xVal>
            <c:numRef>
              <c:f>Sheet1!$G$2:$G$23</c:f>
              <c:numCache>
                <c:formatCode>General</c:formatCode>
                <c:ptCount val="22"/>
                <c:pt idx="8" formatCode="0%">
                  <c:v>0.72</c:v>
                </c:pt>
                <c:pt idx="9" formatCode="0%">
                  <c:v>0.68</c:v>
                </c:pt>
                <c:pt idx="10" formatCode="0%">
                  <c:v>0.52</c:v>
                </c:pt>
                <c:pt idx="11" formatCode="0%">
                  <c:v>0.63</c:v>
                </c:pt>
                <c:pt idx="12" formatCode="0%">
                  <c:v>0.59</c:v>
                </c:pt>
                <c:pt idx="13" formatCode="0%">
                  <c:v>0.63</c:v>
                </c:pt>
                <c:pt idx="14" formatCode="0%">
                  <c:v>0.55000000000000004</c:v>
                </c:pt>
                <c:pt idx="15" formatCode="0%">
                  <c:v>0.5</c:v>
                </c:pt>
                <c:pt idx="16" formatCode="0%">
                  <c:v>0.55000000000000004</c:v>
                </c:pt>
                <c:pt idx="17" formatCode="0%">
                  <c:v>0.55000000000000004</c:v>
                </c:pt>
                <c:pt idx="18" formatCode="0%">
                  <c:v>0.52</c:v>
                </c:pt>
                <c:pt idx="19" formatCode="0%">
                  <c:v>0.51</c:v>
                </c:pt>
                <c:pt idx="20" formatCode="0%">
                  <c:v>0.52</c:v>
                </c:pt>
              </c:numCache>
              <c:extLst xmlns:c15="http://schemas.microsoft.com/office/drawing/2012/chart"/>
            </c:numRef>
          </c:xVal>
          <c:yVal>
            <c:numRef>
              <c:f>Sheet1!$H$2:$H$23</c:f>
              <c:numCache>
                <c:formatCode>General</c:formatCode>
                <c:ptCount val="22"/>
                <c:pt idx="8" formatCode="0%">
                  <c:v>0.66</c:v>
                </c:pt>
                <c:pt idx="9" formatCode="0%">
                  <c:v>0.59</c:v>
                </c:pt>
                <c:pt idx="10" formatCode="0%">
                  <c:v>0.49</c:v>
                </c:pt>
                <c:pt idx="11" formatCode="0%">
                  <c:v>0.4</c:v>
                </c:pt>
                <c:pt idx="12" formatCode="0%">
                  <c:v>0.4</c:v>
                </c:pt>
                <c:pt idx="13" formatCode="0%">
                  <c:v>0.37</c:v>
                </c:pt>
                <c:pt idx="14" formatCode="0%">
                  <c:v>0.37</c:v>
                </c:pt>
                <c:pt idx="15" formatCode="0%">
                  <c:v>0.37</c:v>
                </c:pt>
                <c:pt idx="16" formatCode="0%">
                  <c:v>0.25</c:v>
                </c:pt>
                <c:pt idx="17" formatCode="0%">
                  <c:v>0.23</c:v>
                </c:pt>
                <c:pt idx="18" formatCode="0%">
                  <c:v>0.23</c:v>
                </c:pt>
                <c:pt idx="19" formatCode="0%">
                  <c:v>0.19</c:v>
                </c:pt>
                <c:pt idx="20" formatCode="0%">
                  <c:v>0.15</c:v>
                </c:pt>
              </c:numCache>
              <c:extLst xmlns:c15="http://schemas.microsoft.com/office/drawing/2012/chart"/>
            </c:numRef>
          </c:yVal>
          <c:smooth val="0"/>
          <c:extLst xmlns:c15="http://schemas.microsoft.com/office/drawing/2012/chart">
            <c:ext xmlns:c15="http://schemas.microsoft.com/office/drawing/2012/chart" uri="{02D57815-91ED-43cb-92C2-25804820EDAC}">
              <c15:datalabelsRange>
                <c15:f>Sheet1!$I$2:$I$23</c15:f>
                <c15:dlblRangeCache>
                  <c:ptCount val="22"/>
                  <c:pt idx="8">
                    <c:v>Z17</c:v>
                  </c:pt>
                  <c:pt idx="9">
                    <c:v>Z16</c:v>
                  </c:pt>
                  <c:pt idx="10">
                    <c:v>Z11</c:v>
                  </c:pt>
                  <c:pt idx="11">
                    <c:v>Z15</c:v>
                  </c:pt>
                  <c:pt idx="12">
                    <c:v>Z7</c:v>
                  </c:pt>
                  <c:pt idx="13">
                    <c:v>Z19</c:v>
                  </c:pt>
                  <c:pt idx="14">
                    <c:v>Z21</c:v>
                  </c:pt>
                  <c:pt idx="15">
                    <c:v>Z23</c:v>
                  </c:pt>
                  <c:pt idx="16">
                    <c:v>Z24*</c:v>
                  </c:pt>
                  <c:pt idx="17">
                    <c:v>Z18</c:v>
                  </c:pt>
                  <c:pt idx="18">
                    <c:v>Z20</c:v>
                  </c:pt>
                  <c:pt idx="19">
                    <c:v>Z22</c:v>
                  </c:pt>
                  <c:pt idx="20">
                    <c:v>Z8</c:v>
                  </c:pt>
                </c15:dlblRangeCache>
              </c15:datalabelsRange>
            </c:ext>
            <c:ext xmlns:c16="http://schemas.microsoft.com/office/drawing/2014/chart" uri="{C3380CC4-5D6E-409C-BE32-E72D297353CC}">
              <c16:uniqueId val="{0000001A-B1B4-417B-982C-B6396995408C}"/>
            </c:ext>
          </c:extLst>
        </c:ser>
        <c:dLbls>
          <c:dLblPos val="ctr"/>
          <c:showLegendKey val="0"/>
          <c:showVal val="1"/>
          <c:showCatName val="0"/>
          <c:showSerName val="0"/>
          <c:showPercent val="0"/>
          <c:showBubbleSize val="0"/>
        </c:dLbls>
        <c:axId val="681510616"/>
        <c:axId val="681511008"/>
        <c:extLst/>
      </c:scatterChart>
      <c:valAx>
        <c:axId val="681510616"/>
        <c:scaling>
          <c:orientation val="minMax"/>
          <c:max val="0.8"/>
          <c:min val="0.30000000000000004"/>
        </c:scaling>
        <c:delete val="1"/>
        <c:axPos val="b"/>
        <c:numFmt formatCode="General" sourceLinked="1"/>
        <c:majorTickMark val="out"/>
        <c:minorTickMark val="out"/>
        <c:tickLblPos val="nextTo"/>
        <c:crossAx val="681511008"/>
        <c:crosses val="autoZero"/>
        <c:crossBetween val="midCat"/>
      </c:valAx>
      <c:valAx>
        <c:axId val="681511008"/>
        <c:scaling>
          <c:orientation val="minMax"/>
          <c:max val="0.8"/>
        </c:scaling>
        <c:delete val="1"/>
        <c:axPos val="l"/>
        <c:numFmt formatCode="General" sourceLinked="1"/>
        <c:majorTickMark val="out"/>
        <c:minorTickMark val="out"/>
        <c:tickLblPos val="nextTo"/>
        <c:crossAx val="681510616"/>
        <c:crosses val="autoZero"/>
        <c:crossBetween val="midCat"/>
      </c:valAx>
      <c:spPr>
        <a:noFill/>
        <a:ln w="0">
          <a:solidFill>
            <a:schemeClr val="tx1"/>
          </a:solidFill>
        </a:ln>
        <a:effectLst/>
      </c:spPr>
    </c:plotArea>
    <c:plotVisOnly val="1"/>
    <c:dispBlanksAs val="gap"/>
    <c:showDLblsOverMax val="0"/>
  </c:chart>
  <c:spPr>
    <a:noFill/>
    <a:ln>
      <a:noFill/>
    </a:ln>
    <a:effectLst/>
  </c:spPr>
  <c:txPr>
    <a:bodyPr/>
    <a:lstStyle/>
    <a:p>
      <a:pPr>
        <a:defRPr sz="1000">
          <a:solidFill>
            <a:schemeClr val="tx1">
              <a:lumMod val="75000"/>
              <a:lumOff val="25000"/>
            </a:schemeClr>
          </a:solidFill>
          <a:latin typeface="Arial(Body)"/>
          <a:cs typeface="Arial" panose="020B0604020202020204" pitchFamily="34" charset="0"/>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0293680320011954E-2"/>
          <c:y val="4.4892785730841385E-2"/>
          <c:w val="0.83623637102745396"/>
          <c:h val="0.9074602267213886"/>
        </c:manualLayout>
      </c:layout>
      <c:scatterChart>
        <c:scatterStyle val="lineMarker"/>
        <c:varyColors val="0"/>
        <c:ser>
          <c:idx val="0"/>
          <c:order val="0"/>
          <c:tx>
            <c:strRef>
              <c:f>Sheet1!$B$1</c:f>
              <c:strCache>
                <c:ptCount val="1"/>
                <c:pt idx="0">
                  <c:v>LTIP when Message was recalled</c:v>
                </c:pt>
              </c:strCache>
            </c:strRef>
          </c:tx>
          <c:spPr>
            <a:ln w="19050">
              <a:noFill/>
            </a:ln>
          </c:spPr>
          <c:marker>
            <c:symbol val="circle"/>
            <c:size val="6"/>
            <c:spPr>
              <a:solidFill>
                <a:srgbClr val="36729C"/>
              </a:solidFill>
              <a:ln>
                <a:noFill/>
              </a:ln>
            </c:spPr>
          </c:marker>
          <c:dLbls>
            <c:spPr>
              <a:noFill/>
              <a:ln>
                <a:noFill/>
              </a:ln>
              <a:effectLst/>
            </c:spPr>
            <c:txPr>
              <a:bodyPr wrap="square" lIns="38100" tIns="19050" rIns="38100" bIns="19050" anchor="ctr">
                <a:spAutoFit/>
              </a:bodyPr>
              <a:lstStyle/>
              <a:p>
                <a:pPr>
                  <a:defRPr sz="900" b="1">
                    <a:solidFill>
                      <a:srgbClr val="36729C"/>
                    </a:solidFill>
                  </a:defRPr>
                </a:pPr>
                <a:endParaRPr lang="en-US"/>
              </a:p>
            </c:txPr>
            <c:dLblPos val="r"/>
            <c:showLegendKey val="0"/>
            <c:showVal val="0"/>
            <c:showCatName val="1"/>
            <c:showSerName val="0"/>
            <c:showPercent val="0"/>
            <c:showBubbleSize val="0"/>
            <c:showLeaderLines val="0"/>
            <c:extLst>
              <c:ext xmlns:c15="http://schemas.microsoft.com/office/drawing/2012/chart" uri="{CE6537A1-D6FC-4f65-9D91-7224C49458BB}">
                <c15:showLeaderLines val="0"/>
              </c:ext>
            </c:extLst>
          </c:dLbls>
          <c:xVal>
            <c:numRef>
              <c:f>Sheet1!$B$2:$B$16</c:f>
              <c:numCache>
                <c:formatCode>0%</c:formatCode>
                <c:ptCount val="15"/>
                <c:pt idx="0">
                  <c:v>0.75</c:v>
                </c:pt>
                <c:pt idx="1">
                  <c:v>0.7</c:v>
                </c:pt>
                <c:pt idx="2">
                  <c:v>0.68</c:v>
                </c:pt>
                <c:pt idx="3">
                  <c:v>0.68</c:v>
                </c:pt>
                <c:pt idx="4">
                  <c:v>0.67</c:v>
                </c:pt>
                <c:pt idx="5">
                  <c:v>0.67</c:v>
                </c:pt>
                <c:pt idx="6">
                  <c:v>0.67</c:v>
                </c:pt>
                <c:pt idx="7">
                  <c:v>0.66</c:v>
                </c:pt>
                <c:pt idx="8">
                  <c:v>0.66</c:v>
                </c:pt>
                <c:pt idx="9">
                  <c:v>0.64</c:v>
                </c:pt>
                <c:pt idx="10">
                  <c:v>0.64</c:v>
                </c:pt>
                <c:pt idx="11">
                  <c:v>0.63</c:v>
                </c:pt>
                <c:pt idx="12">
                  <c:v>0.63</c:v>
                </c:pt>
                <c:pt idx="13">
                  <c:v>0.62</c:v>
                </c:pt>
                <c:pt idx="14">
                  <c:v>0.62</c:v>
                </c:pt>
              </c:numCache>
            </c:numRef>
          </c:xVal>
          <c:yVal>
            <c:numRef>
              <c:f>Sheet1!$D$2:$D$16</c:f>
              <c:numCache>
                <c:formatCode>General</c:formatCode>
                <c:ptCount val="15"/>
                <c:pt idx="0">
                  <c:v>15</c:v>
                </c:pt>
                <c:pt idx="1">
                  <c:v>14</c:v>
                </c:pt>
                <c:pt idx="2">
                  <c:v>13</c:v>
                </c:pt>
                <c:pt idx="3">
                  <c:v>12</c:v>
                </c:pt>
                <c:pt idx="4">
                  <c:v>11</c:v>
                </c:pt>
                <c:pt idx="5">
                  <c:v>10</c:v>
                </c:pt>
                <c:pt idx="6">
                  <c:v>9</c:v>
                </c:pt>
                <c:pt idx="7">
                  <c:v>8</c:v>
                </c:pt>
                <c:pt idx="8">
                  <c:v>7</c:v>
                </c:pt>
                <c:pt idx="9">
                  <c:v>6</c:v>
                </c:pt>
                <c:pt idx="10">
                  <c:v>5</c:v>
                </c:pt>
                <c:pt idx="11">
                  <c:v>4</c:v>
                </c:pt>
                <c:pt idx="12">
                  <c:v>3</c:v>
                </c:pt>
                <c:pt idx="13">
                  <c:v>2</c:v>
                </c:pt>
                <c:pt idx="14">
                  <c:v>1</c:v>
                </c:pt>
              </c:numCache>
            </c:numRef>
          </c:yVal>
          <c:smooth val="0"/>
          <c:extLst>
            <c:ext xmlns:c16="http://schemas.microsoft.com/office/drawing/2014/chart" uri="{C3380CC4-5D6E-409C-BE32-E72D297353CC}">
              <c16:uniqueId val="{0000000B-E9D6-4030-A23C-16E7E2E1759F}"/>
            </c:ext>
          </c:extLst>
        </c:ser>
        <c:ser>
          <c:idx val="1"/>
          <c:order val="1"/>
          <c:tx>
            <c:strRef>
              <c:f>Sheet1!$C$1</c:f>
              <c:strCache>
                <c:ptCount val="1"/>
                <c:pt idx="0">
                  <c:v>LTIP when Message was not recalled</c:v>
                </c:pt>
              </c:strCache>
            </c:strRef>
          </c:tx>
          <c:spPr>
            <a:ln w="19050">
              <a:noFill/>
            </a:ln>
          </c:spPr>
          <c:marker>
            <c:symbol val="circle"/>
            <c:size val="6"/>
            <c:spPr>
              <a:noFill/>
              <a:ln>
                <a:solidFill>
                  <a:srgbClr val="36729C"/>
                </a:solidFill>
              </a:ln>
            </c:spPr>
          </c:marker>
          <c:dLbls>
            <c:spPr>
              <a:noFill/>
              <a:ln>
                <a:noFill/>
              </a:ln>
              <a:effectLst/>
            </c:spPr>
            <c:txPr>
              <a:bodyPr wrap="square" lIns="38100" tIns="19050" rIns="38100" bIns="19050" anchor="ctr">
                <a:spAutoFit/>
              </a:bodyPr>
              <a:lstStyle/>
              <a:p>
                <a:pPr>
                  <a:defRPr sz="900">
                    <a:solidFill>
                      <a:srgbClr val="36729C"/>
                    </a:solidFill>
                  </a:defRPr>
                </a:pPr>
                <a:endParaRPr lang="en-US"/>
              </a:p>
            </c:txPr>
            <c:dLblPos val="l"/>
            <c:showLegendKey val="0"/>
            <c:showVal val="0"/>
            <c:showCatName val="1"/>
            <c:showSerName val="0"/>
            <c:showPercent val="0"/>
            <c:showBubbleSize val="0"/>
            <c:showLeaderLines val="0"/>
            <c:extLst>
              <c:ext xmlns:c15="http://schemas.microsoft.com/office/drawing/2012/chart" uri="{CE6537A1-D6FC-4f65-9D91-7224C49458BB}">
                <c15:showLeaderLines val="0"/>
              </c:ext>
            </c:extLst>
          </c:dLbls>
          <c:xVal>
            <c:numRef>
              <c:f>Sheet1!$C$2:$C$16</c:f>
              <c:numCache>
                <c:formatCode>0%</c:formatCode>
                <c:ptCount val="15"/>
                <c:pt idx="0">
                  <c:v>0.52</c:v>
                </c:pt>
                <c:pt idx="1">
                  <c:v>0.56999999999999995</c:v>
                </c:pt>
                <c:pt idx="2">
                  <c:v>0.59</c:v>
                </c:pt>
                <c:pt idx="3">
                  <c:v>0.56999999999999995</c:v>
                </c:pt>
                <c:pt idx="4">
                  <c:v>0.56000000000000005</c:v>
                </c:pt>
                <c:pt idx="5">
                  <c:v>0.56999999999999995</c:v>
                </c:pt>
                <c:pt idx="6">
                  <c:v>0.61</c:v>
                </c:pt>
                <c:pt idx="7">
                  <c:v>0.56000000000000005</c:v>
                </c:pt>
                <c:pt idx="8">
                  <c:v>0.57999999999999996</c:v>
                </c:pt>
                <c:pt idx="9">
                  <c:v>0.56000000000000005</c:v>
                </c:pt>
                <c:pt idx="10">
                  <c:v>0.59</c:v>
                </c:pt>
                <c:pt idx="11">
                  <c:v>0.59</c:v>
                </c:pt>
                <c:pt idx="12">
                  <c:v>0.59</c:v>
                </c:pt>
                <c:pt idx="13">
                  <c:v>0.61</c:v>
                </c:pt>
                <c:pt idx="14">
                  <c:v>0.57999999999999996</c:v>
                </c:pt>
              </c:numCache>
            </c:numRef>
          </c:xVal>
          <c:yVal>
            <c:numRef>
              <c:f>Sheet1!$D$2:$D$16</c:f>
              <c:numCache>
                <c:formatCode>General</c:formatCode>
                <c:ptCount val="15"/>
                <c:pt idx="0">
                  <c:v>15</c:v>
                </c:pt>
                <c:pt idx="1">
                  <c:v>14</c:v>
                </c:pt>
                <c:pt idx="2">
                  <c:v>13</c:v>
                </c:pt>
                <c:pt idx="3">
                  <c:v>12</c:v>
                </c:pt>
                <c:pt idx="4">
                  <c:v>11</c:v>
                </c:pt>
                <c:pt idx="5">
                  <c:v>10</c:v>
                </c:pt>
                <c:pt idx="6">
                  <c:v>9</c:v>
                </c:pt>
                <c:pt idx="7">
                  <c:v>8</c:v>
                </c:pt>
                <c:pt idx="8">
                  <c:v>7</c:v>
                </c:pt>
                <c:pt idx="9">
                  <c:v>6</c:v>
                </c:pt>
                <c:pt idx="10">
                  <c:v>5</c:v>
                </c:pt>
                <c:pt idx="11">
                  <c:v>4</c:v>
                </c:pt>
                <c:pt idx="12">
                  <c:v>3</c:v>
                </c:pt>
                <c:pt idx="13">
                  <c:v>2</c:v>
                </c:pt>
                <c:pt idx="14">
                  <c:v>1</c:v>
                </c:pt>
              </c:numCache>
            </c:numRef>
          </c:yVal>
          <c:smooth val="0"/>
          <c:extLst>
            <c:ext xmlns:c16="http://schemas.microsoft.com/office/drawing/2014/chart" uri="{C3380CC4-5D6E-409C-BE32-E72D297353CC}">
              <c16:uniqueId val="{0000000C-E9D6-4030-A23C-16E7E2E1759F}"/>
            </c:ext>
          </c:extLst>
        </c:ser>
        <c:dLbls>
          <c:dLblPos val="t"/>
          <c:showLegendKey val="0"/>
          <c:showVal val="1"/>
          <c:showCatName val="0"/>
          <c:showSerName val="0"/>
          <c:showPercent val="0"/>
          <c:showBubbleSize val="0"/>
        </c:dLbls>
        <c:axId val="463748832"/>
        <c:axId val="463751008"/>
      </c:scatterChart>
      <c:valAx>
        <c:axId val="463748832"/>
        <c:scaling>
          <c:orientation val="minMax"/>
          <c:max val="0.9"/>
          <c:min val="0.45"/>
        </c:scaling>
        <c:delete val="1"/>
        <c:axPos val="t"/>
        <c:numFmt formatCode="0%" sourceLinked="1"/>
        <c:majorTickMark val="out"/>
        <c:minorTickMark val="none"/>
        <c:tickLblPos val="nextTo"/>
        <c:crossAx val="463751008"/>
        <c:crosses val="max"/>
        <c:crossBetween val="midCat"/>
        <c:majorUnit val="1"/>
      </c:valAx>
      <c:valAx>
        <c:axId val="463751008"/>
        <c:scaling>
          <c:orientation val="minMax"/>
          <c:max val="15"/>
          <c:min val="1"/>
        </c:scaling>
        <c:delete val="1"/>
        <c:axPos val="l"/>
        <c:majorGridlines>
          <c:spPr>
            <a:ln>
              <a:solidFill>
                <a:schemeClr val="bg1">
                  <a:lumMod val="85000"/>
                </a:schemeClr>
              </a:solidFill>
              <a:headEnd type="none"/>
              <a:tailEnd type="none"/>
            </a:ln>
          </c:spPr>
        </c:majorGridlines>
        <c:numFmt formatCode="#,##0" sourceLinked="0"/>
        <c:majorTickMark val="out"/>
        <c:minorTickMark val="none"/>
        <c:tickLblPos val="nextTo"/>
        <c:crossAx val="463748832"/>
        <c:crosses val="autoZero"/>
        <c:crossBetween val="midCat"/>
        <c:majorUnit val="1"/>
      </c:valAx>
      <c:spPr>
        <a:noFill/>
        <a:ln>
          <a:noFill/>
        </a:ln>
      </c:spPr>
    </c:plotArea>
    <c:plotVisOnly val="1"/>
    <c:dispBlanksAs val="gap"/>
    <c:showDLblsOverMax val="0"/>
  </c:chart>
  <c:spPr>
    <a:ln>
      <a:noFill/>
    </a:ln>
  </c:spPr>
  <c:txPr>
    <a:bodyPr/>
    <a:lstStyle/>
    <a:p>
      <a:pPr>
        <a:defRPr sz="1000">
          <a:solidFill>
            <a:schemeClr val="tx1">
              <a:lumMod val="65000"/>
              <a:lumOff val="35000"/>
            </a:schemeClr>
          </a:solidFill>
          <a:latin typeface="+mn-lt"/>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0293680320011954E-2"/>
          <c:y val="4.4892785730841385E-2"/>
          <c:w val="0.83623637102745396"/>
          <c:h val="0.9074602267213886"/>
        </c:manualLayout>
      </c:layout>
      <c:scatterChart>
        <c:scatterStyle val="lineMarker"/>
        <c:varyColors val="0"/>
        <c:ser>
          <c:idx val="0"/>
          <c:order val="0"/>
          <c:tx>
            <c:strRef>
              <c:f>Sheet1!$B$1</c:f>
              <c:strCache>
                <c:ptCount val="1"/>
                <c:pt idx="0">
                  <c:v>LTIP when Message was recalled</c:v>
                </c:pt>
              </c:strCache>
            </c:strRef>
          </c:tx>
          <c:spPr>
            <a:ln w="19050">
              <a:noFill/>
            </a:ln>
          </c:spPr>
          <c:marker>
            <c:symbol val="circle"/>
            <c:size val="6"/>
            <c:spPr>
              <a:solidFill>
                <a:srgbClr val="9778D4"/>
              </a:solidFill>
              <a:ln>
                <a:noFill/>
              </a:ln>
            </c:spPr>
          </c:marker>
          <c:dLbls>
            <c:dLbl>
              <c:idx val="11"/>
              <c:layout>
                <c:manualLayout>
                  <c:x val="-0.18262757738047547"/>
                  <c:y val="0"/>
                </c:manualLayout>
              </c:layout>
              <c:dLblPos val="r"/>
              <c:showLegendKey val="0"/>
              <c:showVal val="0"/>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089-4C8E-AA5E-0C11DC536878}"/>
                </c:ext>
              </c:extLst>
            </c:dLbl>
            <c:spPr>
              <a:noFill/>
              <a:ln>
                <a:noFill/>
              </a:ln>
              <a:effectLst/>
            </c:spPr>
            <c:txPr>
              <a:bodyPr wrap="square" lIns="38100" tIns="19050" rIns="38100" bIns="19050" anchor="ctr">
                <a:spAutoFit/>
              </a:bodyPr>
              <a:lstStyle/>
              <a:p>
                <a:pPr>
                  <a:defRPr sz="900" b="1">
                    <a:solidFill>
                      <a:srgbClr val="9778D4"/>
                    </a:solidFill>
                  </a:defRPr>
                </a:pPr>
                <a:endParaRPr lang="en-US"/>
              </a:p>
            </c:txPr>
            <c:dLblPos val="r"/>
            <c:showLegendKey val="0"/>
            <c:showVal val="0"/>
            <c:showCatName val="1"/>
            <c:showSerName val="0"/>
            <c:showPercent val="0"/>
            <c:showBubbleSize val="0"/>
            <c:showLeaderLines val="0"/>
            <c:extLst>
              <c:ext xmlns:c15="http://schemas.microsoft.com/office/drawing/2012/chart" uri="{CE6537A1-D6FC-4f65-9D91-7224C49458BB}">
                <c15:showLeaderLines val="0"/>
              </c:ext>
            </c:extLst>
          </c:dLbls>
          <c:xVal>
            <c:numRef>
              <c:f>Sheet1!$B$2:$B$14</c:f>
              <c:numCache>
                <c:formatCode>0%</c:formatCode>
                <c:ptCount val="13"/>
                <c:pt idx="0">
                  <c:v>0.84</c:v>
                </c:pt>
                <c:pt idx="1">
                  <c:v>0.77</c:v>
                </c:pt>
                <c:pt idx="2">
                  <c:v>0.76</c:v>
                </c:pt>
                <c:pt idx="3">
                  <c:v>0.72</c:v>
                </c:pt>
                <c:pt idx="4">
                  <c:v>0.71</c:v>
                </c:pt>
                <c:pt idx="5">
                  <c:v>0.68</c:v>
                </c:pt>
                <c:pt idx="6">
                  <c:v>0.65</c:v>
                </c:pt>
                <c:pt idx="7">
                  <c:v>0.64</c:v>
                </c:pt>
                <c:pt idx="8">
                  <c:v>0.64</c:v>
                </c:pt>
                <c:pt idx="9">
                  <c:v>0.63</c:v>
                </c:pt>
                <c:pt idx="10">
                  <c:v>0.6</c:v>
                </c:pt>
                <c:pt idx="11">
                  <c:v>0.59</c:v>
                </c:pt>
                <c:pt idx="12">
                  <c:v>0.59</c:v>
                </c:pt>
              </c:numCache>
            </c:numRef>
          </c:xVal>
          <c:yVal>
            <c:numRef>
              <c:f>Sheet1!$D$2:$D$14</c:f>
              <c:numCache>
                <c:formatCode>General</c:formatCode>
                <c:ptCount val="13"/>
                <c:pt idx="0">
                  <c:v>13</c:v>
                </c:pt>
                <c:pt idx="1">
                  <c:v>12</c:v>
                </c:pt>
                <c:pt idx="2">
                  <c:v>11</c:v>
                </c:pt>
                <c:pt idx="3">
                  <c:v>10</c:v>
                </c:pt>
                <c:pt idx="4">
                  <c:v>9</c:v>
                </c:pt>
                <c:pt idx="5">
                  <c:v>8</c:v>
                </c:pt>
                <c:pt idx="6">
                  <c:v>7</c:v>
                </c:pt>
                <c:pt idx="7">
                  <c:v>6</c:v>
                </c:pt>
                <c:pt idx="8">
                  <c:v>5</c:v>
                </c:pt>
                <c:pt idx="9">
                  <c:v>4</c:v>
                </c:pt>
                <c:pt idx="10">
                  <c:v>3</c:v>
                </c:pt>
                <c:pt idx="11">
                  <c:v>2</c:v>
                </c:pt>
                <c:pt idx="12">
                  <c:v>1</c:v>
                </c:pt>
              </c:numCache>
            </c:numRef>
          </c:yVal>
          <c:smooth val="0"/>
          <c:extLst>
            <c:ext xmlns:c16="http://schemas.microsoft.com/office/drawing/2014/chart" uri="{C3380CC4-5D6E-409C-BE32-E72D297353CC}">
              <c16:uniqueId val="{0000000B-E9D6-4030-A23C-16E7E2E1759F}"/>
            </c:ext>
          </c:extLst>
        </c:ser>
        <c:ser>
          <c:idx val="1"/>
          <c:order val="1"/>
          <c:tx>
            <c:strRef>
              <c:f>Sheet1!$C$1</c:f>
              <c:strCache>
                <c:ptCount val="1"/>
                <c:pt idx="0">
                  <c:v>LTIP when Message was not recalled</c:v>
                </c:pt>
              </c:strCache>
            </c:strRef>
          </c:tx>
          <c:spPr>
            <a:ln w="19050">
              <a:noFill/>
            </a:ln>
          </c:spPr>
          <c:marker>
            <c:symbol val="circle"/>
            <c:size val="6"/>
            <c:spPr>
              <a:noFill/>
              <a:ln>
                <a:solidFill>
                  <a:srgbClr val="9778D4"/>
                </a:solidFill>
              </a:ln>
            </c:spPr>
          </c:marker>
          <c:dLbls>
            <c:dLbl>
              <c:idx val="11"/>
              <c:layout>
                <c:manualLayout>
                  <c:x val="5.1657514744763069E-3"/>
                  <c:y val="0"/>
                </c:manualLayout>
              </c:layout>
              <c:dLblPos val="r"/>
              <c:showLegendKey val="0"/>
              <c:showVal val="0"/>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089-4C8E-AA5E-0C11DC536878}"/>
                </c:ext>
              </c:extLst>
            </c:dLbl>
            <c:spPr>
              <a:noFill/>
              <a:ln>
                <a:noFill/>
              </a:ln>
              <a:effectLst/>
            </c:spPr>
            <c:txPr>
              <a:bodyPr wrap="square" lIns="38100" tIns="19050" rIns="38100" bIns="19050" anchor="ctr">
                <a:spAutoFit/>
              </a:bodyPr>
              <a:lstStyle/>
              <a:p>
                <a:pPr>
                  <a:defRPr sz="900">
                    <a:solidFill>
                      <a:srgbClr val="9778D4"/>
                    </a:solidFill>
                  </a:defRPr>
                </a:pPr>
                <a:endParaRPr lang="en-US"/>
              </a:p>
            </c:txPr>
            <c:dLblPos val="l"/>
            <c:showLegendKey val="0"/>
            <c:showVal val="0"/>
            <c:showCatName val="1"/>
            <c:showSerName val="0"/>
            <c:showPercent val="0"/>
            <c:showBubbleSize val="0"/>
            <c:showLeaderLines val="0"/>
            <c:extLst>
              <c:ext xmlns:c15="http://schemas.microsoft.com/office/drawing/2012/chart" uri="{CE6537A1-D6FC-4f65-9D91-7224C49458BB}">
                <c15:showLeaderLines val="0"/>
              </c:ext>
            </c:extLst>
          </c:dLbls>
          <c:xVal>
            <c:numRef>
              <c:f>Sheet1!$C$2:$C$14</c:f>
              <c:numCache>
                <c:formatCode>0%</c:formatCode>
                <c:ptCount val="13"/>
                <c:pt idx="0">
                  <c:v>0.54</c:v>
                </c:pt>
                <c:pt idx="1">
                  <c:v>0.56000000000000005</c:v>
                </c:pt>
                <c:pt idx="2">
                  <c:v>0.55000000000000004</c:v>
                </c:pt>
                <c:pt idx="3">
                  <c:v>0.56000000000000005</c:v>
                </c:pt>
                <c:pt idx="4">
                  <c:v>0.51</c:v>
                </c:pt>
                <c:pt idx="5">
                  <c:v>0.55000000000000004</c:v>
                </c:pt>
                <c:pt idx="6">
                  <c:v>0.54</c:v>
                </c:pt>
                <c:pt idx="7">
                  <c:v>0.56000000000000005</c:v>
                </c:pt>
                <c:pt idx="8">
                  <c:v>0.54</c:v>
                </c:pt>
                <c:pt idx="9">
                  <c:v>0.56999999999999995</c:v>
                </c:pt>
                <c:pt idx="10">
                  <c:v>0.56000000000000005</c:v>
                </c:pt>
                <c:pt idx="11">
                  <c:v>0.61</c:v>
                </c:pt>
                <c:pt idx="12">
                  <c:v>0.59</c:v>
                </c:pt>
              </c:numCache>
            </c:numRef>
          </c:xVal>
          <c:yVal>
            <c:numRef>
              <c:f>Sheet1!$D$2:$D$14</c:f>
              <c:numCache>
                <c:formatCode>General</c:formatCode>
                <c:ptCount val="13"/>
                <c:pt idx="0">
                  <c:v>13</c:v>
                </c:pt>
                <c:pt idx="1">
                  <c:v>12</c:v>
                </c:pt>
                <c:pt idx="2">
                  <c:v>11</c:v>
                </c:pt>
                <c:pt idx="3">
                  <c:v>10</c:v>
                </c:pt>
                <c:pt idx="4">
                  <c:v>9</c:v>
                </c:pt>
                <c:pt idx="5">
                  <c:v>8</c:v>
                </c:pt>
                <c:pt idx="6">
                  <c:v>7</c:v>
                </c:pt>
                <c:pt idx="7">
                  <c:v>6</c:v>
                </c:pt>
                <c:pt idx="8">
                  <c:v>5</c:v>
                </c:pt>
                <c:pt idx="9">
                  <c:v>4</c:v>
                </c:pt>
                <c:pt idx="10">
                  <c:v>3</c:v>
                </c:pt>
                <c:pt idx="11">
                  <c:v>2</c:v>
                </c:pt>
                <c:pt idx="12">
                  <c:v>1</c:v>
                </c:pt>
              </c:numCache>
            </c:numRef>
          </c:yVal>
          <c:smooth val="0"/>
          <c:extLst>
            <c:ext xmlns:c16="http://schemas.microsoft.com/office/drawing/2014/chart" uri="{C3380CC4-5D6E-409C-BE32-E72D297353CC}">
              <c16:uniqueId val="{0000000C-E9D6-4030-A23C-16E7E2E1759F}"/>
            </c:ext>
          </c:extLst>
        </c:ser>
        <c:dLbls>
          <c:dLblPos val="t"/>
          <c:showLegendKey val="0"/>
          <c:showVal val="1"/>
          <c:showCatName val="0"/>
          <c:showSerName val="0"/>
          <c:showPercent val="0"/>
          <c:showBubbleSize val="0"/>
        </c:dLbls>
        <c:axId val="463748832"/>
        <c:axId val="463751008"/>
      </c:scatterChart>
      <c:valAx>
        <c:axId val="463748832"/>
        <c:scaling>
          <c:orientation val="minMax"/>
          <c:max val="1"/>
          <c:min val="0.4"/>
        </c:scaling>
        <c:delete val="1"/>
        <c:axPos val="t"/>
        <c:numFmt formatCode="0%" sourceLinked="1"/>
        <c:majorTickMark val="out"/>
        <c:minorTickMark val="none"/>
        <c:tickLblPos val="nextTo"/>
        <c:crossAx val="463751008"/>
        <c:crosses val="max"/>
        <c:crossBetween val="midCat"/>
        <c:majorUnit val="1"/>
      </c:valAx>
      <c:valAx>
        <c:axId val="463751008"/>
        <c:scaling>
          <c:orientation val="minMax"/>
          <c:max val="13"/>
          <c:min val="1"/>
        </c:scaling>
        <c:delete val="1"/>
        <c:axPos val="l"/>
        <c:majorGridlines>
          <c:spPr>
            <a:ln>
              <a:solidFill>
                <a:schemeClr val="bg1">
                  <a:lumMod val="85000"/>
                </a:schemeClr>
              </a:solidFill>
              <a:headEnd type="none"/>
              <a:tailEnd type="none"/>
            </a:ln>
          </c:spPr>
        </c:majorGridlines>
        <c:numFmt formatCode="#,##0" sourceLinked="0"/>
        <c:majorTickMark val="out"/>
        <c:minorTickMark val="none"/>
        <c:tickLblPos val="nextTo"/>
        <c:crossAx val="463748832"/>
        <c:crosses val="autoZero"/>
        <c:crossBetween val="midCat"/>
        <c:majorUnit val="1"/>
      </c:valAx>
      <c:spPr>
        <a:noFill/>
        <a:ln>
          <a:noFill/>
        </a:ln>
      </c:spPr>
    </c:plotArea>
    <c:plotVisOnly val="1"/>
    <c:dispBlanksAs val="gap"/>
    <c:showDLblsOverMax val="0"/>
  </c:chart>
  <c:spPr>
    <a:ln>
      <a:noFill/>
    </a:ln>
  </c:spPr>
  <c:txPr>
    <a:bodyPr/>
    <a:lstStyle/>
    <a:p>
      <a:pPr>
        <a:defRPr sz="1000">
          <a:solidFill>
            <a:schemeClr val="tx1">
              <a:lumMod val="65000"/>
              <a:lumOff val="35000"/>
            </a:schemeClr>
          </a:solidFill>
          <a:latin typeface="+mn-lt"/>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0903895116"/>
          <c:h val="1"/>
        </c:manualLayout>
      </c:layout>
      <c:lineChart>
        <c:grouping val="standard"/>
        <c:varyColors val="0"/>
        <c:ser>
          <c:idx val="0"/>
          <c:order val="0"/>
          <c:tx>
            <c:strRef>
              <c:f>Sheet1!$B$1</c:f>
              <c:strCache>
                <c:ptCount val="1"/>
                <c:pt idx="0">
                  <c:v>EPI Deepdive Module - 482371 - 2_100bz_c895297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B32-4F23-95A2-9BACC32A856D}"/>
                </c:ext>
              </c:extLst>
            </c:dLbl>
            <c:dLbl>
              <c:idx val="1"/>
              <c:layout>
                <c:manualLayout>
                  <c:x val="-5.2698082279944894E-2"/>
                  <c:y val="-0.178888888888888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E8C-4B30-BEF3-FF54015CF020}"/>
                </c:ext>
              </c:extLst>
            </c:dLbl>
            <c:dLbl>
              <c:idx val="2"/>
              <c:layout>
                <c:manualLayout>
                  <c:x val="-5.2698082279944894E-2"/>
                  <c:y val="0.14075349956255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F8-49B6-99FA-B65666A0AC58}"/>
                </c:ext>
              </c:extLst>
            </c:dLbl>
            <c:dLbl>
              <c:idx val="3"/>
              <c:layout>
                <c:manualLayout>
                  <c:x val="-5.2698082279944894E-2"/>
                  <c:y val="0.109444444444444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B32-4F23-95A2-9BACC32A856D}"/>
                </c:ext>
              </c:extLst>
            </c:dLbl>
            <c:dLbl>
              <c:idx val="4"/>
              <c:layout>
                <c:manualLayout>
                  <c:x val="-5.2698082279944894E-2"/>
                  <c:y val="-0.178888888888888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8C-4B30-BEF3-FF54015CF020}"/>
                </c:ext>
              </c:extLst>
            </c:dLbl>
            <c:dLbl>
              <c:idx val="5"/>
              <c:layout>
                <c:manualLayout>
                  <c:x val="-2.8481712774408946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E8C-4B30-BEF3-FF54015CF0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0.79</c:v>
                </c:pt>
                <c:pt idx="1">
                  <c:v>0.75</c:v>
                </c:pt>
                <c:pt idx="2">
                  <c:v>0.57999999999999996</c:v>
                </c:pt>
                <c:pt idx="3">
                  <c:v>0.71</c:v>
                </c:pt>
                <c:pt idx="4">
                  <c:v>0.68</c:v>
                </c:pt>
                <c:pt idx="5">
                  <c:v>0.65</c:v>
                </c:pt>
              </c:numCache>
            </c:numRef>
          </c:val>
          <c:smooth val="0"/>
          <c:extLst>
            <c:ext xmlns:c16="http://schemas.microsoft.com/office/drawing/2014/chart" uri="{C3380CC4-5D6E-409C-BE32-E72D297353CC}">
              <c16:uniqueId val="{00000004-9B32-4F23-95A2-9BACC32A856D}"/>
            </c:ext>
          </c:extLst>
        </c:ser>
        <c:ser>
          <c:idx val="1"/>
          <c:order val="1"/>
          <c:tx>
            <c:strRef>
              <c:f>Sheet1!$C$1</c:f>
              <c:strCache>
                <c:ptCount val="1"/>
                <c:pt idx="0">
                  <c:v>EPI Deepdive Module - 482371 - 2_100bz_z895450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B32-4F23-95A2-9BACC32A856D}"/>
                </c:ext>
              </c:extLst>
            </c:dLbl>
            <c:dLbl>
              <c:idx val="1"/>
              <c:layout>
                <c:manualLayout>
                  <c:x val="-5.2698082279944894E-2"/>
                  <c:y val="3.1324365704286837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E8C-4B30-BEF3-FF54015CF020}"/>
                </c:ext>
              </c:extLst>
            </c:dLbl>
            <c:dLbl>
              <c:idx val="2"/>
              <c:layout>
                <c:manualLayout>
                  <c:x val="-5.2698082279944894E-2"/>
                  <c:y val="-0.18831802274715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F8-49B6-99FA-B65666A0AC58}"/>
                </c:ext>
              </c:extLst>
            </c:dLbl>
            <c:dLbl>
              <c:idx val="3"/>
              <c:layout>
                <c:manualLayout>
                  <c:x val="-5.2698082279944894E-2"/>
                  <c:y val="-5.9747375328084051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B32-4F23-95A2-9BACC32A856D}"/>
                </c:ext>
              </c:extLst>
            </c:dLbl>
            <c:dLbl>
              <c:idx val="4"/>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E8C-4B30-BEF3-FF54015CF020}"/>
                </c:ext>
              </c:extLst>
            </c:dLbl>
            <c:dLbl>
              <c:idx val="5"/>
              <c:layout>
                <c:manualLayout>
                  <c:x val="-2.8481712774408946E-2"/>
                  <c:y val="-0.202603893263342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E8C-4B30-BEF3-FF54015CF0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0.63</c:v>
                </c:pt>
                <c:pt idx="1">
                  <c:v>0.52</c:v>
                </c:pt>
                <c:pt idx="2">
                  <c:v>0.59</c:v>
                </c:pt>
                <c:pt idx="3">
                  <c:v>0.81</c:v>
                </c:pt>
                <c:pt idx="4">
                  <c:v>0.67</c:v>
                </c:pt>
                <c:pt idx="5">
                  <c:v>0.65</c:v>
                </c:pt>
              </c:numCache>
            </c:numRef>
          </c:val>
          <c:smooth val="0"/>
          <c:extLst>
            <c:ext xmlns:c16="http://schemas.microsoft.com/office/drawing/2014/chart" uri="{C3380CC4-5D6E-409C-BE32-E72D297353CC}">
              <c16:uniqueId val="{00000009-9B32-4F23-95A2-9BACC32A856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1000000000000001"/>
          <c:min val="0.4"/>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52558834852"/>
          <c:h val="1"/>
        </c:manualLayout>
      </c:layout>
      <c:lineChart>
        <c:grouping val="standard"/>
        <c:varyColors val="0"/>
        <c:ser>
          <c:idx val="0"/>
          <c:order val="0"/>
          <c:tx>
            <c:strRef>
              <c:f>Sheet1!$B$1</c:f>
              <c:strCache>
                <c:ptCount val="1"/>
                <c:pt idx="0">
                  <c:v>EPI Deepdive Module - 482371 - 2_100bz_c895297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6138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F86-4CEF-81BD-261102172213}"/>
                </c:ext>
              </c:extLst>
            </c:dLbl>
            <c:dLbl>
              <c:idx val="1"/>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FCD-405D-9035-63C52A9D1550}"/>
                </c:ext>
              </c:extLst>
            </c:dLbl>
            <c:dLbl>
              <c:idx val="2"/>
              <c:layout>
                <c:manualLayout>
                  <c:x val="-5.2698082279944894E-2"/>
                  <c:y val="0.1677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435-4A12-BFE8-8F3C6753F473}"/>
                </c:ext>
              </c:extLst>
            </c:dLbl>
            <c:dLbl>
              <c:idx val="3"/>
              <c:layout>
                <c:manualLayout>
                  <c:x val="-5.2698082279944894E-2"/>
                  <c:y val="-0.16138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F86-4CEF-81BD-261102172213}"/>
                </c:ext>
              </c:extLst>
            </c:dLbl>
            <c:dLbl>
              <c:idx val="4"/>
              <c:layout>
                <c:manualLayout>
                  <c:x val="-5.2698082279944894E-2"/>
                  <c:y val="0.123333333333333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435-4A12-BFE8-8F3C6753F473}"/>
                </c:ext>
              </c:extLst>
            </c:dLbl>
            <c:dLbl>
              <c:idx val="5"/>
              <c:layout>
                <c:manualLayout>
                  <c:x val="-2.8481712774408946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F86-4CEF-81BD-26110217221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0.65</c:v>
                </c:pt>
                <c:pt idx="1">
                  <c:v>0.62</c:v>
                </c:pt>
                <c:pt idx="2">
                  <c:v>0.56000000000000005</c:v>
                </c:pt>
                <c:pt idx="3">
                  <c:v>0.65</c:v>
                </c:pt>
                <c:pt idx="4">
                  <c:v>0.57999999999999996</c:v>
                </c:pt>
                <c:pt idx="5">
                  <c:v>0.6</c:v>
                </c:pt>
              </c:numCache>
            </c:numRef>
          </c:val>
          <c:smooth val="0"/>
          <c:extLst>
            <c:ext xmlns:c16="http://schemas.microsoft.com/office/drawing/2014/chart" uri="{C3380CC4-5D6E-409C-BE32-E72D297353CC}">
              <c16:uniqueId val="{00000000-66FB-48E5-884A-2494D172EBBA}"/>
            </c:ext>
          </c:extLst>
        </c:ser>
        <c:ser>
          <c:idx val="1"/>
          <c:order val="1"/>
          <c:tx>
            <c:strRef>
              <c:f>Sheet1!$C$1</c:f>
              <c:strCache>
                <c:ptCount val="1"/>
                <c:pt idx="0">
                  <c:v>EPI Deepdive Module - 482371 - 2_100bz_z895450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F86-4CEF-81BD-261102172213}"/>
                </c:ext>
              </c:extLst>
            </c:dLbl>
            <c:dLbl>
              <c:idx val="1"/>
              <c:layout>
                <c:manualLayout>
                  <c:x val="-5.2698082279944894E-2"/>
                  <c:y val="0.155173884514435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FCD-405D-9035-63C52A9D1550}"/>
                </c:ext>
              </c:extLst>
            </c:dLbl>
            <c:dLbl>
              <c:idx val="2"/>
              <c:layout>
                <c:manualLayout>
                  <c:x val="-5.2698082279944894E-2"/>
                  <c:y val="-0.191492782152230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435-4A12-BFE8-8F3C6753F473}"/>
                </c:ext>
              </c:extLst>
            </c:dLbl>
            <c:dLbl>
              <c:idx val="3"/>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F86-4CEF-81BD-261102172213}"/>
                </c:ext>
              </c:extLst>
            </c:dLbl>
            <c:dLbl>
              <c:idx val="4"/>
              <c:layout>
                <c:manualLayout>
                  <c:x val="-5.2698082279944894E-2"/>
                  <c:y val="-0.147048337707786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435-4A12-BFE8-8F3C6753F473}"/>
                </c:ext>
              </c:extLst>
            </c:dLbl>
            <c:dLbl>
              <c:idx val="5"/>
              <c:layout>
                <c:manualLayout>
                  <c:x val="-2.8481712774408946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F86-4CEF-81BD-26110217221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0.6</c:v>
                </c:pt>
                <c:pt idx="1">
                  <c:v>0.51</c:v>
                </c:pt>
                <c:pt idx="2">
                  <c:v>0.56999999999999995</c:v>
                </c:pt>
                <c:pt idx="3">
                  <c:v>0.56000000000000005</c:v>
                </c:pt>
                <c:pt idx="4">
                  <c:v>0.63</c:v>
                </c:pt>
                <c:pt idx="5">
                  <c:v>0.56999999999999995</c:v>
                </c:pt>
              </c:numCache>
            </c:numRef>
          </c:val>
          <c:smooth val="0"/>
          <c:extLst>
            <c:ext xmlns:c16="http://schemas.microsoft.com/office/drawing/2014/chart" uri="{C3380CC4-5D6E-409C-BE32-E72D297353CC}">
              <c16:uniqueId val="{00000001-66FB-48E5-884A-2494D172EBB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min val="0"/>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2186238148"/>
          <c:h val="0.95964322916666667"/>
        </c:manualLayout>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8A3-40CB-8B36-C12FBBF1B8C3}"/>
                </c:ext>
              </c:extLst>
            </c:dLbl>
            <c:dLbl>
              <c:idx val="1"/>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7F0-4B03-8DC8-490BB73F2163}"/>
                </c:ext>
              </c:extLst>
            </c:dLbl>
            <c:dLbl>
              <c:idx val="2"/>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DA7-4C88-A68B-D19F797FD9AF}"/>
                </c:ext>
              </c:extLst>
            </c:dLbl>
            <c:dLbl>
              <c:idx val="3"/>
              <c:layout>
                <c:manualLayout>
                  <c:x val="-5.2698082279944894E-2"/>
                  <c:y val="-0.152310804899387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7F0-4B03-8DC8-490BB73F2163}"/>
                </c:ext>
              </c:extLst>
            </c:dLbl>
            <c:dLbl>
              <c:idx val="4"/>
              <c:layout>
                <c:manualLayout>
                  <c:x val="-5.2698082279944894E-2"/>
                  <c:y val="8.292432195975503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7F0-4B03-8DC8-490BB73F2163}"/>
                </c:ext>
              </c:extLst>
            </c:dLbl>
            <c:dLbl>
              <c:idx val="5"/>
              <c:layout>
                <c:manualLayout>
                  <c:x val="-2.8481712774408946E-2"/>
                  <c:y val="0.12131014873140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81D-471D-994A-9C8D701CCB6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0.81</c:v>
                </c:pt>
                <c:pt idx="1">
                  <c:v>0.78</c:v>
                </c:pt>
                <c:pt idx="2">
                  <c:v>0.78</c:v>
                </c:pt>
                <c:pt idx="3">
                  <c:v>0.86</c:v>
                </c:pt>
                <c:pt idx="4">
                  <c:v>0.74</c:v>
                </c:pt>
                <c:pt idx="5">
                  <c:v>0.8</c:v>
                </c:pt>
              </c:numCache>
            </c:numRef>
          </c:val>
          <c:smooth val="0"/>
          <c:extLst>
            <c:ext xmlns:c16="http://schemas.microsoft.com/office/drawing/2014/chart" uri="{C3380CC4-5D6E-409C-BE32-E72D297353CC}">
              <c16:uniqueId val="{00000002-6B22-41E0-9AF9-89F04ABAB1E0}"/>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8A3-40CB-8B36-C12FBBF1B8C3}"/>
                </c:ext>
              </c:extLst>
            </c:dLbl>
            <c:dLbl>
              <c:idx val="1"/>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7F0-4B03-8DC8-490BB73F2163}"/>
                </c:ext>
              </c:extLst>
            </c:dLbl>
            <c:dLbl>
              <c:idx val="2"/>
              <c:layout>
                <c:manualLayout>
                  <c:x val="-5.2698082279944894E-2"/>
                  <c:y val="0.155173884514435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DA7-4C88-A68B-D19F797FD9AF}"/>
                </c:ext>
              </c:extLst>
            </c:dLbl>
            <c:dLbl>
              <c:idx val="3"/>
              <c:layout>
                <c:manualLayout>
                  <c:x val="-5.2698082279944894E-2"/>
                  <c:y val="0.15517388451443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7F0-4B03-8DC8-490BB73F2163}"/>
                </c:ext>
              </c:extLst>
            </c:dLbl>
            <c:dLbl>
              <c:idx val="4"/>
              <c:layout>
                <c:manualLayout>
                  <c:x val="-5.2698082279944894E-2"/>
                  <c:y val="-0.106639326334208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7F0-4B03-8DC8-490BB73F2163}"/>
                </c:ext>
              </c:extLst>
            </c:dLbl>
            <c:dLbl>
              <c:idx val="5"/>
              <c:layout>
                <c:manualLayout>
                  <c:x val="-2.8481712774408946E-2"/>
                  <c:y val="-0.145025153105861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81D-471D-994A-9C8D701CCB6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0.75</c:v>
                </c:pt>
                <c:pt idx="1">
                  <c:v>0.74</c:v>
                </c:pt>
                <c:pt idx="2">
                  <c:v>0.76</c:v>
                </c:pt>
                <c:pt idx="3">
                  <c:v>0.72</c:v>
                </c:pt>
                <c:pt idx="4">
                  <c:v>0.79</c:v>
                </c:pt>
                <c:pt idx="5">
                  <c:v>0.83</c:v>
                </c:pt>
              </c:numCache>
            </c:numRef>
          </c:val>
          <c:smooth val="0"/>
          <c:extLst>
            <c:ext xmlns:c16="http://schemas.microsoft.com/office/drawing/2014/chart" uri="{C3380CC4-5D6E-409C-BE32-E72D297353CC}">
              <c16:uniqueId val="{00000006-6B22-41E0-9AF9-89F04ABAB1E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5"/>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2186238148"/>
          <c:h val="1"/>
        </c:manualLayout>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78888888888888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BB4-43B5-9987-2ADD8E27F817}"/>
                </c:ext>
              </c:extLst>
            </c:dLbl>
            <c:dLbl>
              <c:idx val="1"/>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A57-43F3-BE16-B9B10B2FDCB5}"/>
                </c:ext>
              </c:extLst>
            </c:dLbl>
            <c:dLbl>
              <c:idx val="2"/>
              <c:layout>
                <c:manualLayout>
                  <c:x val="-5.2698082279944894E-2"/>
                  <c:y val="0.11888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639-4C95-92BC-A8136BFD2D8A}"/>
                </c:ext>
              </c:extLst>
            </c:dLbl>
            <c:dLbl>
              <c:idx val="3"/>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BB4-43B5-9987-2ADD8E27F817}"/>
                </c:ext>
              </c:extLst>
            </c:dLbl>
            <c:dLbl>
              <c:idx val="4"/>
              <c:layout>
                <c:manualLayout>
                  <c:x val="-5.2698082279944894E-2"/>
                  <c:y val="8.3611111111111108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BB4-43B5-9987-2ADD8E27F817}"/>
                </c:ext>
              </c:extLst>
            </c:dLbl>
            <c:dLbl>
              <c:idx val="5"/>
              <c:layout>
                <c:manualLayout>
                  <c:x val="-2.8481712774408946E-2"/>
                  <c:y val="0.109444444444444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BB4-43B5-9987-2ADD8E27F8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0.7</c:v>
                </c:pt>
                <c:pt idx="1">
                  <c:v>0.71</c:v>
                </c:pt>
                <c:pt idx="2">
                  <c:v>0.71</c:v>
                </c:pt>
                <c:pt idx="3">
                  <c:v>0.8</c:v>
                </c:pt>
                <c:pt idx="4">
                  <c:v>0.6</c:v>
                </c:pt>
                <c:pt idx="5">
                  <c:v>0.74</c:v>
                </c:pt>
              </c:numCache>
            </c:numRef>
          </c:val>
          <c:smooth val="0"/>
          <c:extLst>
            <c:ext xmlns:c16="http://schemas.microsoft.com/office/drawing/2014/chart" uri="{C3380CC4-5D6E-409C-BE32-E72D297353CC}">
              <c16:uniqueId val="{00000004-29F9-4BDB-8410-383A7E301B79}"/>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BB4-43B5-9987-2ADD8E27F817}"/>
                </c:ext>
              </c:extLst>
            </c:dLbl>
            <c:dLbl>
              <c:idx val="1"/>
              <c:layout>
                <c:manualLayout>
                  <c:x val="-5.2698082279944894E-2"/>
                  <c:y val="-0.202603893263342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A57-43F3-BE16-B9B10B2FDCB5}"/>
                </c:ext>
              </c:extLst>
            </c:dLbl>
            <c:dLbl>
              <c:idx val="2"/>
              <c:layout>
                <c:manualLayout>
                  <c:x val="-5.2698082279944894E-2"/>
                  <c:y val="-0.142603893263342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639-4C95-92BC-A8136BFD2D8A}"/>
                </c:ext>
              </c:extLst>
            </c:dLbl>
            <c:dLbl>
              <c:idx val="3"/>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BB4-43B5-9987-2ADD8E27F817}"/>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BB4-43B5-9987-2ADD8E27F817}"/>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BB4-43B5-9987-2ADD8E27F8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0.65</c:v>
                </c:pt>
                <c:pt idx="1">
                  <c:v>0.71</c:v>
                </c:pt>
                <c:pt idx="2">
                  <c:v>0.74</c:v>
                </c:pt>
                <c:pt idx="3">
                  <c:v>0.71</c:v>
                </c:pt>
                <c:pt idx="4">
                  <c:v>0.75</c:v>
                </c:pt>
                <c:pt idx="5">
                  <c:v>0.85</c:v>
                </c:pt>
              </c:numCache>
            </c:numRef>
          </c:val>
          <c:smooth val="0"/>
          <c:extLst>
            <c:ext xmlns:c16="http://schemas.microsoft.com/office/drawing/2014/chart" uri="{C3380CC4-5D6E-409C-BE32-E72D297353CC}">
              <c16:uniqueId val="{00000009-29F9-4BDB-8410-383A7E301B7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5"/>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0903895116"/>
          <c:h val="1"/>
        </c:manualLayout>
      </c:layout>
      <c:lineChart>
        <c:grouping val="standard"/>
        <c:varyColors val="0"/>
        <c:ser>
          <c:idx val="0"/>
          <c:order val="0"/>
          <c:tx>
            <c:strRef>
              <c:f>Sheet1!$B$1</c:f>
              <c:strCache>
                <c:ptCount val="1"/>
                <c:pt idx="0">
                  <c:v>EPI Deepdive Module - 482371 - 2_100bz_c895297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348-44BC-B3D4-100FF2C04A96}"/>
                </c:ext>
              </c:extLst>
            </c:dLbl>
            <c:dLbl>
              <c:idx val="1"/>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D3B-4CAA-A3F0-164D1F11C38C}"/>
                </c:ext>
              </c:extLst>
            </c:dLbl>
            <c:dLbl>
              <c:idx val="2"/>
              <c:layout>
                <c:manualLayout>
                  <c:x val="-5.2698082279944894E-2"/>
                  <c:y val="0.1677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EC0-46AD-BFF9-C73F23009FC1}"/>
                </c:ext>
              </c:extLst>
            </c:dLbl>
            <c:dLbl>
              <c:idx val="3"/>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D3B-4CAA-A3F0-164D1F11C38C}"/>
                </c:ext>
              </c:extLst>
            </c:dLbl>
            <c:dLbl>
              <c:idx val="4"/>
              <c:layout>
                <c:manualLayout>
                  <c:x val="-5.2698082279944894E-2"/>
                  <c:y val="0.126111111111111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EC0-46AD-BFF9-C73F23009FC1}"/>
                </c:ext>
              </c:extLst>
            </c:dLbl>
            <c:dLbl>
              <c:idx val="5"/>
              <c:layout>
                <c:manualLayout>
                  <c:x val="-2.8481712774408946E-2"/>
                  <c:y val="0.145555555555555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D3B-4CAA-A3F0-164D1F11C38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0.57999999999999996</c:v>
                </c:pt>
                <c:pt idx="1">
                  <c:v>0.48</c:v>
                </c:pt>
                <c:pt idx="2">
                  <c:v>0.54</c:v>
                </c:pt>
                <c:pt idx="3">
                  <c:v>0.57999999999999996</c:v>
                </c:pt>
                <c:pt idx="4">
                  <c:v>0.53</c:v>
                </c:pt>
                <c:pt idx="5">
                  <c:v>0.51</c:v>
                </c:pt>
              </c:numCache>
            </c:numRef>
          </c:val>
          <c:smooth val="0"/>
          <c:extLst>
            <c:ext xmlns:c16="http://schemas.microsoft.com/office/drawing/2014/chart" uri="{C3380CC4-5D6E-409C-BE32-E72D297353CC}">
              <c16:uniqueId val="{00000004-C219-492E-AB8B-059298281C21}"/>
            </c:ext>
          </c:extLst>
        </c:ser>
        <c:ser>
          <c:idx val="1"/>
          <c:order val="1"/>
          <c:tx>
            <c:strRef>
              <c:f>Sheet1!$C$1</c:f>
              <c:strCache>
                <c:ptCount val="1"/>
                <c:pt idx="0">
                  <c:v>EPI Deepdive Module - 482371 - 2_100bz_z895450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48-44BC-B3D4-100FF2C04A96}"/>
                </c:ext>
              </c:extLst>
            </c:dLbl>
            <c:dLbl>
              <c:idx val="1"/>
              <c:layout>
                <c:manualLayout>
                  <c:x val="-5.2698082279944894E-2"/>
                  <c:y val="-0.202603893263342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D3B-4CAA-A3F0-164D1F11C38C}"/>
                </c:ext>
              </c:extLst>
            </c:dLbl>
            <c:dLbl>
              <c:idx val="2"/>
              <c:layout>
                <c:manualLayout>
                  <c:x val="-5.2698082279944894E-2"/>
                  <c:y val="-0.191492782152230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EC0-46AD-BFF9-C73F23009FC1}"/>
                </c:ext>
              </c:extLst>
            </c:dLbl>
            <c:dLbl>
              <c:idx val="3"/>
              <c:layout>
                <c:manualLayout>
                  <c:x val="-5.2698082279944894E-2"/>
                  <c:y val="0.155173884514435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D3B-4CAA-A3F0-164D1F11C38C}"/>
                </c:ext>
              </c:extLst>
            </c:dLbl>
            <c:dLbl>
              <c:idx val="4"/>
              <c:layout>
                <c:manualLayout>
                  <c:x val="-5.2698082279944894E-2"/>
                  <c:y val="-8.038167104111985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EC0-46AD-BFF9-C73F23009FC1}"/>
                </c:ext>
              </c:extLst>
            </c:dLbl>
            <c:dLbl>
              <c:idx val="5"/>
              <c:layout>
                <c:manualLayout>
                  <c:x val="-2.8481712774408946E-2"/>
                  <c:y val="-0.16927055993000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D3B-4CAA-A3F0-164D1F11C38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0.56000000000000005</c:v>
                </c:pt>
                <c:pt idx="1">
                  <c:v>0.48</c:v>
                </c:pt>
                <c:pt idx="2">
                  <c:v>0.55000000000000004</c:v>
                </c:pt>
                <c:pt idx="3">
                  <c:v>0.51</c:v>
                </c:pt>
                <c:pt idx="4">
                  <c:v>0.64</c:v>
                </c:pt>
                <c:pt idx="5">
                  <c:v>0.54</c:v>
                </c:pt>
              </c:numCache>
            </c:numRef>
          </c:val>
          <c:smooth val="0"/>
          <c:extLst>
            <c:ext xmlns:c16="http://schemas.microsoft.com/office/drawing/2014/chart" uri="{C3380CC4-5D6E-409C-BE32-E72D297353CC}">
              <c16:uniqueId val="{00000009-C219-492E-AB8B-059298281C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min val="0"/>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2186238148"/>
          <c:h val="0.92657031249999999"/>
        </c:manualLayout>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15253718285214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CE0-4EE1-9A17-0F8865276451}"/>
                </c:ext>
              </c:extLst>
            </c:dLbl>
            <c:dLbl>
              <c:idx val="1"/>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55-4A6A-B279-0CB6B6442E50}"/>
                </c:ext>
              </c:extLst>
            </c:dLbl>
            <c:dLbl>
              <c:idx val="2"/>
              <c:layout>
                <c:manualLayout>
                  <c:x val="-5.2698082279944894E-2"/>
                  <c:y val="-0.161582458442694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C1D-46CF-A31C-3DC0BB85A398}"/>
                </c:ext>
              </c:extLst>
            </c:dLbl>
            <c:dLbl>
              <c:idx val="3"/>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CE0-4EE1-9A17-0F8865276451}"/>
                </c:ext>
              </c:extLst>
            </c:dLbl>
            <c:dLbl>
              <c:idx val="4"/>
              <c:layout>
                <c:manualLayout>
                  <c:x val="-5.2698082279944894E-2"/>
                  <c:y val="0.101675415573053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D2E-4DE1-BAFD-61E14AF96CCA}"/>
                </c:ext>
              </c:extLst>
            </c:dLbl>
            <c:dLbl>
              <c:idx val="5"/>
              <c:layout>
                <c:manualLayout>
                  <c:x val="-2.8481712774408946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B82-45A2-A886-EEE6AD39929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0.95</c:v>
                </c:pt>
                <c:pt idx="1">
                  <c:v>0.85</c:v>
                </c:pt>
                <c:pt idx="2">
                  <c:v>0.92</c:v>
                </c:pt>
                <c:pt idx="3">
                  <c:v>0.9</c:v>
                </c:pt>
                <c:pt idx="4">
                  <c:v>0.83</c:v>
                </c:pt>
                <c:pt idx="5">
                  <c:v>0.86</c:v>
                </c:pt>
              </c:numCache>
            </c:numRef>
          </c:val>
          <c:smooth val="0"/>
          <c:extLst>
            <c:ext xmlns:c16="http://schemas.microsoft.com/office/drawing/2014/chart" uri="{C3380CC4-5D6E-409C-BE32-E72D297353CC}">
              <c16:uniqueId val="{00000004-519E-4404-8415-6ACDDCC45810}"/>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CE0-4EE1-9A17-0F8865276451}"/>
                </c:ext>
              </c:extLst>
            </c:dLbl>
            <c:dLbl>
              <c:idx val="1"/>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55-4A6A-B279-0CB6B6442E50}"/>
                </c:ext>
              </c:extLst>
            </c:dLbl>
            <c:dLbl>
              <c:idx val="2"/>
              <c:layout>
                <c:manualLayout>
                  <c:x val="-5.2698082279944894E-2"/>
                  <c:y val="0.155173884514435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C1D-46CF-A31C-3DC0BB85A398}"/>
                </c:ext>
              </c:extLst>
            </c:dLbl>
            <c:dLbl>
              <c:idx val="3"/>
              <c:layout>
                <c:manualLayout>
                  <c:x val="-5.2698082279944894E-2"/>
                  <c:y val="0.15517388451443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CE0-4EE1-9A17-0F8865276451}"/>
                </c:ext>
              </c:extLst>
            </c:dLbl>
            <c:dLbl>
              <c:idx val="4"/>
              <c:layout>
                <c:manualLayout>
                  <c:x val="-5.2698082279944894E-2"/>
                  <c:y val="-0.125390419947506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D2E-4DE1-BAFD-61E14AF96CCA}"/>
                </c:ext>
              </c:extLst>
            </c:dLbl>
            <c:dLbl>
              <c:idx val="5"/>
              <c:layout>
                <c:manualLayout>
                  <c:x val="-2.8481712774408946E-2"/>
                  <c:y val="0.155173884514435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B82-45A2-A886-EEE6AD39929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0.87</c:v>
                </c:pt>
                <c:pt idx="1">
                  <c:v>0.83</c:v>
                </c:pt>
                <c:pt idx="2">
                  <c:v>0.79</c:v>
                </c:pt>
                <c:pt idx="3">
                  <c:v>0.88</c:v>
                </c:pt>
                <c:pt idx="4">
                  <c:v>0.88</c:v>
                </c:pt>
                <c:pt idx="5">
                  <c:v>0.79</c:v>
                </c:pt>
              </c:numCache>
            </c:numRef>
          </c:val>
          <c:smooth val="0"/>
          <c:extLst>
            <c:ext xmlns:c16="http://schemas.microsoft.com/office/drawing/2014/chart" uri="{C3380CC4-5D6E-409C-BE32-E72D297353CC}">
              <c16:uniqueId val="{00000009-519E-4404-8415-6ACDDCC4581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1000000000000001"/>
          <c:min val="0.5"/>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114942528735633"/>
          <c:y val="0.12125220458553791"/>
          <c:w val="0.76372924648786711"/>
          <c:h val="0.75749559082892415"/>
        </c:manualLayout>
      </c:layout>
      <c:lineChart>
        <c:grouping val="standard"/>
        <c:varyColors val="0"/>
        <c:ser>
          <c:idx val="0"/>
          <c:order val="0"/>
          <c:tx>
            <c:strRef>
              <c:f>Sheet1!$B$1:$B$2</c:f>
              <c:strCache>
                <c:ptCount val="2"/>
                <c:pt idx="0">
                  <c:v>CREON</c:v>
                </c:pt>
                <c:pt idx="1">
                  <c:v>The overall quality of the rep’s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6.3881095322854756E-2"/>
                  <c:y val="-0.19277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29A-4903-B4AE-240CC7056498}"/>
                </c:ext>
              </c:extLst>
            </c:dLbl>
            <c:dLbl>
              <c:idx val="1"/>
              <c:layout>
                <c:manualLayout>
                  <c:x val="-5.5890930300379123E-2"/>
                  <c:y val="-0.192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29A-4903-B4AE-240CC7056498}"/>
                </c:ext>
              </c:extLst>
            </c:dLbl>
            <c:dLbl>
              <c:idx val="2"/>
              <c:layout>
                <c:manualLayout>
                  <c:x val="-5.5890930300379123E-2"/>
                  <c:y val="0.19277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29A-4903-B4AE-240CC7056498}"/>
                </c:ext>
              </c:extLst>
            </c:dLbl>
            <c:dLbl>
              <c:idx val="3"/>
              <c:layout>
                <c:manualLayout>
                  <c:x val="-5.5890930300379123E-2"/>
                  <c:y val="-0.192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29A-4903-B4AE-240CC7056498}"/>
                </c:ext>
              </c:extLst>
            </c:dLbl>
            <c:dLbl>
              <c:idx val="4"/>
              <c:layout>
                <c:manualLayout>
                  <c:x val="-5.5890930300379123E-2"/>
                  <c:y val="-0.192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29A-4903-B4AE-240CC7056498}"/>
                </c:ext>
              </c:extLst>
            </c:dLbl>
            <c:dLbl>
              <c:idx val="5"/>
              <c:layout>
                <c:manualLayout>
                  <c:x val="-5.5890930300379123E-2"/>
                  <c:y val="-0.1927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29A-4903-B4AE-240CC705649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1</c:v>
                </c:pt>
                <c:pt idx="1">
                  <c:v>0.9</c:v>
                </c:pt>
                <c:pt idx="2">
                  <c:v>0.78</c:v>
                </c:pt>
                <c:pt idx="3">
                  <c:v>0.93</c:v>
                </c:pt>
                <c:pt idx="4">
                  <c:v>0.9</c:v>
                </c:pt>
                <c:pt idx="5">
                  <c:v>0.89</c:v>
                </c:pt>
              </c:numCache>
            </c:numRef>
          </c:val>
          <c:smooth val="0"/>
          <c:extLst>
            <c:ext xmlns:c16="http://schemas.microsoft.com/office/drawing/2014/chart" uri="{C3380CC4-5D6E-409C-BE32-E72D297353CC}">
              <c16:uniqueId val="{00000006-D29A-4903-B4AE-240CC7056498}"/>
            </c:ext>
          </c:extLst>
        </c:ser>
        <c:ser>
          <c:idx val="1"/>
          <c:order val="1"/>
          <c:tx>
            <c:strRef>
              <c:f>Sheet1!$C$1:$C$2</c:f>
              <c:strCache>
                <c:ptCount val="2"/>
                <c:pt idx="0">
                  <c:v>ZENPEP</c:v>
                </c:pt>
                <c:pt idx="1">
                  <c:v>The overall quality of the rep’s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5890930300379123E-2"/>
                  <c:y val="0.16906277340332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29A-4903-B4AE-240CC7056498}"/>
                </c:ext>
              </c:extLst>
            </c:dLbl>
            <c:dLbl>
              <c:idx val="1"/>
              <c:layout>
                <c:manualLayout>
                  <c:x val="-5.5890930300379123E-2"/>
                  <c:y val="0.16906277340332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29A-4903-B4AE-240CC7056498}"/>
                </c:ext>
              </c:extLst>
            </c:dLbl>
            <c:dLbl>
              <c:idx val="2"/>
              <c:layout>
                <c:manualLayout>
                  <c:x val="-5.5890930300379123E-2"/>
                  <c:y val="-0.2164927821522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29A-4903-B4AE-240CC7056498}"/>
                </c:ext>
              </c:extLst>
            </c:dLbl>
            <c:dLbl>
              <c:idx val="3"/>
              <c:layout>
                <c:manualLayout>
                  <c:x val="-5.5890930300379123E-2"/>
                  <c:y val="0.1690627734033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29A-4903-B4AE-240CC7056498}"/>
                </c:ext>
              </c:extLst>
            </c:dLbl>
            <c:dLbl>
              <c:idx val="4"/>
              <c:layout>
                <c:manualLayout>
                  <c:x val="-5.5890930300379123E-2"/>
                  <c:y val="0.16906277340332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D29A-4903-B4AE-240CC7056498}"/>
                </c:ext>
              </c:extLst>
            </c:dLbl>
            <c:dLbl>
              <c:idx val="5"/>
              <c:layout>
                <c:manualLayout>
                  <c:x val="-5.5890930300379123E-2"/>
                  <c:y val="0.16906277340332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29A-4903-B4AE-240CC705649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0.94</c:v>
                </c:pt>
                <c:pt idx="1">
                  <c:v>0.75</c:v>
                </c:pt>
                <c:pt idx="2">
                  <c:v>0.78</c:v>
                </c:pt>
                <c:pt idx="3">
                  <c:v>0.61</c:v>
                </c:pt>
                <c:pt idx="4">
                  <c:v>0.84</c:v>
                </c:pt>
                <c:pt idx="5">
                  <c:v>0.84</c:v>
                </c:pt>
              </c:numCache>
            </c:numRef>
          </c:val>
          <c:smooth val="0"/>
          <c:extLst>
            <c:ext xmlns:c16="http://schemas.microsoft.com/office/drawing/2014/chart" uri="{C3380CC4-5D6E-409C-BE32-E72D297353CC}">
              <c16:uniqueId val="{0000000D-D29A-4903-B4AE-240CC7056498}"/>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25947172151548"/>
          <c:y val="0"/>
          <c:w val="0.80174040903895116"/>
          <c:h val="1"/>
        </c:manualLayout>
      </c:layout>
      <c:lineChart>
        <c:grouping val="standard"/>
        <c:varyColors val="0"/>
        <c:ser>
          <c:idx val="0"/>
          <c:order val="0"/>
          <c:tx>
            <c:strRef>
              <c:f>Sheet1!$B$1</c:f>
              <c:strCache>
                <c:ptCount val="1"/>
                <c:pt idx="0">
                  <c:v>EPI Deepdive Module - 482371 - 2_100bz_c895297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5.2698082279944894E-2"/>
                  <c:y val="0.1788888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B32-4F23-95A2-9BACC32A856D}"/>
                </c:ext>
              </c:extLst>
            </c:dLbl>
            <c:dLbl>
              <c:idx val="1"/>
              <c:layout>
                <c:manualLayout>
                  <c:x val="-5.2698082279944949E-2"/>
                  <c:y val="-8.5991907261592296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E8C-4B30-BEF3-FF54015CF020}"/>
                </c:ext>
              </c:extLst>
            </c:dLbl>
            <c:dLbl>
              <c:idx val="2"/>
              <c:layout>
                <c:manualLayout>
                  <c:x val="-5.2698082279944894E-2"/>
                  <c:y val="0.126468722659667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F8-49B6-99FA-B65666A0AC58}"/>
                </c:ext>
              </c:extLst>
            </c:dLbl>
            <c:dLbl>
              <c:idx val="3"/>
              <c:layout>
                <c:manualLayout>
                  <c:x val="-5.2698082279944894E-2"/>
                  <c:y val="-0.178888888888888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B32-4F23-95A2-9BACC32A856D}"/>
                </c:ext>
              </c:extLst>
            </c:dLbl>
            <c:dLbl>
              <c:idx val="4"/>
              <c:layout>
                <c:manualLayout>
                  <c:x val="-5.2698082279944894E-2"/>
                  <c:y val="0.126468722659667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8C-4B30-BEF3-FF54015CF020}"/>
                </c:ext>
              </c:extLst>
            </c:dLbl>
            <c:dLbl>
              <c:idx val="5"/>
              <c:layout>
                <c:manualLayout>
                  <c:x val="-2.8481712774408946E-2"/>
                  <c:y val="-0.178888888888888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E8C-4B30-BEF3-FF54015CF0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Wave 27</c:v>
                </c:pt>
                <c:pt idx="1">
                  <c:v>Wave 28</c:v>
                </c:pt>
                <c:pt idx="2">
                  <c:v>Wave 29</c:v>
                </c:pt>
                <c:pt idx="3">
                  <c:v>Wave 30</c:v>
                </c:pt>
                <c:pt idx="4">
                  <c:v>Wave 31</c:v>
                </c:pt>
                <c:pt idx="5">
                  <c:v>Wave 32</c:v>
                </c:pt>
              </c:strCache>
            </c:strRef>
          </c:cat>
          <c:val>
            <c:numRef>
              <c:f>Sheet1!$B$2:$B$7</c:f>
              <c:numCache>
                <c:formatCode>0%</c:formatCode>
                <c:ptCount val="6"/>
                <c:pt idx="0">
                  <c:v>0.67</c:v>
                </c:pt>
                <c:pt idx="1">
                  <c:v>0.9</c:v>
                </c:pt>
                <c:pt idx="2">
                  <c:v>0.56999999999999995</c:v>
                </c:pt>
                <c:pt idx="3">
                  <c:v>0.75</c:v>
                </c:pt>
                <c:pt idx="4">
                  <c:v>0.56999999999999995</c:v>
                </c:pt>
                <c:pt idx="5">
                  <c:v>0.75</c:v>
                </c:pt>
              </c:numCache>
            </c:numRef>
          </c:val>
          <c:smooth val="0"/>
          <c:extLst>
            <c:ext xmlns:c16="http://schemas.microsoft.com/office/drawing/2014/chart" uri="{C3380CC4-5D6E-409C-BE32-E72D297353CC}">
              <c16:uniqueId val="{00000004-9B32-4F23-95A2-9BACC32A856D}"/>
            </c:ext>
          </c:extLst>
        </c:ser>
        <c:ser>
          <c:idx val="1"/>
          <c:order val="1"/>
          <c:tx>
            <c:strRef>
              <c:f>Sheet1!$C$1</c:f>
              <c:strCache>
                <c:ptCount val="1"/>
                <c:pt idx="0">
                  <c:v>EPI Deepdive Module - 482371 - 2_100bz_z895450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5.2698082279944894E-2"/>
                  <c:y val="-0.202603893263342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B32-4F23-95A2-9BACC32A856D}"/>
                </c:ext>
              </c:extLst>
            </c:dLbl>
            <c:dLbl>
              <c:idx val="1"/>
              <c:layout>
                <c:manualLayout>
                  <c:x val="-5.2698082279944894E-2"/>
                  <c:y val="0.131324365704286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E8C-4B30-BEF3-FF54015CF020}"/>
                </c:ext>
              </c:extLst>
            </c:dLbl>
            <c:dLbl>
              <c:idx val="2"/>
              <c:layout>
                <c:manualLayout>
                  <c:x val="-5.2698082279944894E-2"/>
                  <c:y val="-0.1597473753280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F8-49B6-99FA-B65666A0AC58}"/>
                </c:ext>
              </c:extLst>
            </c:dLbl>
            <c:dLbl>
              <c:idx val="3"/>
              <c:layout>
                <c:manualLayout>
                  <c:x val="-5.2698082279944894E-2"/>
                  <c:y val="-0.176611986001749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B32-4F23-95A2-9BACC32A856D}"/>
                </c:ext>
              </c:extLst>
            </c:dLbl>
            <c:dLbl>
              <c:idx val="4"/>
              <c:layout>
                <c:manualLayout>
                  <c:x val="-5.2698082279944894E-2"/>
                  <c:y val="-0.188319116360454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E8C-4B30-BEF3-FF54015CF020}"/>
                </c:ext>
              </c:extLst>
            </c:dLbl>
            <c:dLbl>
              <c:idx val="5"/>
              <c:layout>
                <c:manualLayout>
                  <c:x val="-2.8481712774408946E-2"/>
                  <c:y val="8.8467847769028746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E8C-4B30-BEF3-FF54015CF0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Wave 27</c:v>
                </c:pt>
                <c:pt idx="1">
                  <c:v>Wave 28</c:v>
                </c:pt>
                <c:pt idx="2">
                  <c:v>Wave 29</c:v>
                </c:pt>
                <c:pt idx="3">
                  <c:v>Wave 30</c:v>
                </c:pt>
                <c:pt idx="4">
                  <c:v>Wave 31</c:v>
                </c:pt>
                <c:pt idx="5">
                  <c:v>Wave 32</c:v>
                </c:pt>
              </c:strCache>
            </c:strRef>
          </c:cat>
          <c:val>
            <c:numRef>
              <c:f>Sheet1!$C$2:$C$7</c:f>
              <c:numCache>
                <c:formatCode>0%</c:formatCode>
                <c:ptCount val="6"/>
                <c:pt idx="0">
                  <c:v>0.67</c:v>
                </c:pt>
                <c:pt idx="1">
                  <c:v>0.59</c:v>
                </c:pt>
                <c:pt idx="2">
                  <c:v>0.6</c:v>
                </c:pt>
                <c:pt idx="3">
                  <c:v>0.53</c:v>
                </c:pt>
                <c:pt idx="4">
                  <c:v>0.57999999999999996</c:v>
                </c:pt>
                <c:pt idx="5">
                  <c:v>0.56000000000000005</c:v>
                </c:pt>
              </c:numCache>
            </c:numRef>
          </c:val>
          <c:smooth val="0"/>
          <c:extLst>
            <c:ext xmlns:c16="http://schemas.microsoft.com/office/drawing/2014/chart" uri="{C3380CC4-5D6E-409C-BE32-E72D297353CC}">
              <c16:uniqueId val="{00000009-9B32-4F23-95A2-9BACC32A856D}"/>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1000000000000001"/>
          <c:min val="0.4"/>
        </c:scaling>
        <c:delete val="0"/>
        <c:axPos val="l"/>
        <c:numFmt formatCode="0%" sourceLinked="1"/>
        <c:majorTickMark val="out"/>
        <c:minorTickMark val="out"/>
        <c:tickLblPos val="none"/>
        <c:spPr>
          <a:noFill/>
          <a:ln>
            <a:noFill/>
          </a:ln>
          <a:effectLst/>
        </c:spPr>
        <c:txPr>
          <a:bodyPr rot="-60000000" spcFirstLastPara="1" vertOverflow="ellipsis" vert="horz" wrap="square" anchor="ctr" anchorCtr="1"/>
          <a:lstStyle/>
          <a:p>
            <a:pPr>
              <a:defRPr sz="1000" b="0" i="0" u="none" strike="noStrike" kern="1200" baseline="0">
                <a:solidFill>
                  <a:srgbClr val="071D49"/>
                </a:solid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1.1000000000000001"/>
        <c:minorUnit val="1.1000000000000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160070954509491E-2"/>
          <c:y val="0.29707602339181288"/>
          <c:w val="0.94367985809098098"/>
          <c:h val="0.59152046783625734"/>
        </c:manualLayout>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2-E6D9-47CE-BBE1-6154371D4BA9}"/>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0E53-474E-AE78-B24523F0EDD9}"/>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0E53-474E-AE78-B24523F0EDD9}"/>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2-0E53-474E-AE78-B24523F0EDD9}"/>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0E53-474E-AE78-B24523F0EDD9}"/>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002-484E-A712-4032D3FBA8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0.81</c:v>
                </c:pt>
                <c:pt idx="1">
                  <c:v>0.78</c:v>
                </c:pt>
                <c:pt idx="2">
                  <c:v>0.76</c:v>
                </c:pt>
                <c:pt idx="3">
                  <c:v>0.82</c:v>
                </c:pt>
                <c:pt idx="4">
                  <c:v>0.77</c:v>
                </c:pt>
                <c:pt idx="5">
                  <c:v>0.77</c:v>
                </c:pt>
              </c:numCache>
            </c:numRef>
          </c:val>
          <c:smooth val="0"/>
          <c:extLst>
            <c:ext xmlns:c16="http://schemas.microsoft.com/office/drawing/2014/chart" uri="{C3380CC4-5D6E-409C-BE32-E72D297353CC}">
              <c16:uniqueId val="{00000000-849D-4D61-AC69-0A23ECDCFE85}"/>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E6D9-47CE-BBE1-6154371D4BA9}"/>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4-0E53-474E-AE78-B24523F0EDD9}"/>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0E53-474E-AE78-B24523F0EDD9}"/>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0E53-474E-AE78-B24523F0EDD9}"/>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0E53-474E-AE78-B24523F0EDD9}"/>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002-484E-A712-4032D3FBA8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0.69</c:v>
                </c:pt>
                <c:pt idx="1">
                  <c:v>0.69</c:v>
                </c:pt>
                <c:pt idx="2">
                  <c:v>0.68</c:v>
                </c:pt>
                <c:pt idx="3">
                  <c:v>0.75</c:v>
                </c:pt>
                <c:pt idx="4">
                  <c:v>0.77</c:v>
                </c:pt>
                <c:pt idx="5">
                  <c:v>0.78</c:v>
                </c:pt>
              </c:numCache>
            </c:numRef>
          </c:val>
          <c:smooth val="0"/>
          <c:extLst>
            <c:ext xmlns:c16="http://schemas.microsoft.com/office/drawing/2014/chart" uri="{C3380CC4-5D6E-409C-BE32-E72D297353CC}">
              <c16:uniqueId val="{00000001-849D-4D61-AC69-0A23ECDCFE8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B971-4D2A-B836-440C7C8B126B}"/>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9E39-4966-A84B-2C5855DFA30C}"/>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B971-4D2A-B836-440C7C8B126B}"/>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E349-4369-89A7-8C487B9BCA73}"/>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349-4369-89A7-8C487B9BCA73}"/>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349-4369-89A7-8C487B9BCA73}"/>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0.81</c:v>
                </c:pt>
                <c:pt idx="1">
                  <c:v>0.78</c:v>
                </c:pt>
                <c:pt idx="2">
                  <c:v>0.78</c:v>
                </c:pt>
                <c:pt idx="3">
                  <c:v>0.86</c:v>
                </c:pt>
                <c:pt idx="4">
                  <c:v>0.74</c:v>
                </c:pt>
                <c:pt idx="5">
                  <c:v>0.8</c:v>
                </c:pt>
              </c:numCache>
            </c:numRef>
          </c:val>
          <c:smooth val="0"/>
          <c:extLst>
            <c:ext xmlns:c16="http://schemas.microsoft.com/office/drawing/2014/chart" uri="{C3380CC4-5D6E-409C-BE32-E72D297353CC}">
              <c16:uniqueId val="{00000005-E349-4369-89A7-8C487B9BCA73}"/>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2-B971-4D2A-B836-440C7C8B126B}"/>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9E39-4966-A84B-2C5855DFA30C}"/>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B971-4D2A-B836-440C7C8B126B}"/>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E349-4369-89A7-8C487B9BCA73}"/>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349-4369-89A7-8C487B9BCA73}"/>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349-4369-89A7-8C487B9BCA73}"/>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0.75</c:v>
                </c:pt>
                <c:pt idx="1">
                  <c:v>0.74</c:v>
                </c:pt>
                <c:pt idx="2">
                  <c:v>0.76</c:v>
                </c:pt>
                <c:pt idx="3">
                  <c:v>0.72</c:v>
                </c:pt>
                <c:pt idx="4">
                  <c:v>0.79</c:v>
                </c:pt>
                <c:pt idx="5">
                  <c:v>0.83</c:v>
                </c:pt>
              </c:numCache>
            </c:numRef>
          </c:val>
          <c:smooth val="0"/>
          <c:extLst>
            <c:ext xmlns:c16="http://schemas.microsoft.com/office/drawing/2014/chart" uri="{C3380CC4-5D6E-409C-BE32-E72D297353CC}">
              <c16:uniqueId val="{0000000B-E349-4369-89A7-8C487B9BCA7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Sheet1!$A$1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0D0F-4F2B-A820-3730A1A7CE52}"/>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65B8-44DD-B77E-EA86B7935965}"/>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7D74-419A-9B73-113345E49750}"/>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B5C1-445F-89D1-F7F325BC6935}"/>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CE1-4406-B645-C406EFF1D796}"/>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5B8-44DD-B77E-EA86B7935965}"/>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Sheet1!$A$2:$A$7</c:f>
              <c:numCache>
                <c:formatCode>0%</c:formatCode>
                <c:ptCount val="6"/>
                <c:pt idx="0">
                  <c:v>0.84</c:v>
                </c:pt>
                <c:pt idx="1">
                  <c:v>0.84</c:v>
                </c:pt>
                <c:pt idx="2">
                  <c:v>0.83</c:v>
                </c:pt>
                <c:pt idx="3">
                  <c:v>0.83</c:v>
                </c:pt>
                <c:pt idx="4">
                  <c:v>0.81</c:v>
                </c:pt>
                <c:pt idx="5">
                  <c:v>0.8</c:v>
                </c:pt>
              </c:numCache>
            </c:numRef>
          </c:val>
          <c:smooth val="0"/>
          <c:extLst>
            <c:ext xmlns:c16="http://schemas.microsoft.com/office/drawing/2014/chart" uri="{C3380CC4-5D6E-409C-BE32-E72D297353CC}">
              <c16:uniqueId val="{00000000-E017-4C74-BA9B-73906C5A8187}"/>
            </c:ext>
          </c:extLst>
        </c:ser>
        <c:ser>
          <c:idx val="1"/>
          <c:order val="1"/>
          <c:tx>
            <c:strRef>
              <c:f>Sheet1!$B$1</c:f>
              <c:strCache>
                <c:ptCount val="1"/>
                <c:pt idx="0">
                  <c:v>EPI Deepdive Module - 482371 - Q2_40BZ_Z1895441</c:v>
                </c:pt>
              </c:strCache>
            </c:strRef>
          </c:tx>
          <c:spPr>
            <a:ln w="28575" cap="rnd">
              <a:solidFill>
                <a:srgbClr val="9778D4"/>
              </a:solidFill>
              <a:round/>
            </a:ln>
            <a:effectLst/>
          </c:spPr>
          <c:marker>
            <c:symbol val="circle"/>
            <c:size val="5"/>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4-0D0F-4F2B-A820-3730A1A7CE52}"/>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0D0F-4F2B-A820-3730A1A7CE52}"/>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2-0D0F-4F2B-A820-3730A1A7CE52}"/>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F55A-4A2B-BD58-15C69F49FADE}"/>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D0F-4F2B-A820-3730A1A7CE52}"/>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55A-4A2B-BD58-15C69F49FADE}"/>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Sheet1!$B$2:$B$7</c:f>
              <c:numCache>
                <c:formatCode>0%</c:formatCode>
                <c:ptCount val="6"/>
                <c:pt idx="0">
                  <c:v>0.75</c:v>
                </c:pt>
                <c:pt idx="1">
                  <c:v>0.76</c:v>
                </c:pt>
                <c:pt idx="2">
                  <c:v>0.79</c:v>
                </c:pt>
                <c:pt idx="3">
                  <c:v>0.8</c:v>
                </c:pt>
                <c:pt idx="4">
                  <c:v>0.83</c:v>
                </c:pt>
                <c:pt idx="5">
                  <c:v>0.83</c:v>
                </c:pt>
              </c:numCache>
            </c:numRef>
          </c:val>
          <c:smooth val="0"/>
          <c:extLst>
            <c:ext xmlns:c16="http://schemas.microsoft.com/office/drawing/2014/chart" uri="{C3380CC4-5D6E-409C-BE32-E72D297353CC}">
              <c16:uniqueId val="{00000001-0D0F-4F2B-A820-3730A1A7CE52}"/>
            </c:ext>
          </c:extLst>
        </c:ser>
        <c:dLbls>
          <c:dLblPos val="b"/>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160070954509491E-2"/>
          <c:y val="0.24137426900584796"/>
          <c:w val="0.94367985809098098"/>
          <c:h val="0.59152046783625734"/>
        </c:manualLayout>
      </c:layout>
      <c:lineChart>
        <c:grouping val="standard"/>
        <c:varyColors val="0"/>
        <c:ser>
          <c:idx val="0"/>
          <c:order val="0"/>
          <c:tx>
            <c:strRef>
              <c:f>Sheet1!$A$1</c:f>
              <c:strCache>
                <c:ptCount val="1"/>
                <c:pt idx="0">
                  <c:v>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062C-4880-812E-ABFA7432F596}"/>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4494-4454-9D9F-F8AEA17D16E6}"/>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3E1C-4D33-BAD7-4B8C3A41A284}"/>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2-8A77-471B-9E94-22F65914D33C}"/>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E1C-4D33-BAD7-4B8C3A41A284}"/>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8A77-471B-9E94-22F65914D33C}"/>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Sheet1!$A$2:$A$7</c:f>
              <c:numCache>
                <c:formatCode>0%</c:formatCode>
                <c:ptCount val="6"/>
                <c:pt idx="0">
                  <c:v>0.81</c:v>
                </c:pt>
                <c:pt idx="1">
                  <c:v>0.8</c:v>
                </c:pt>
                <c:pt idx="2">
                  <c:v>0.82</c:v>
                </c:pt>
                <c:pt idx="3">
                  <c:v>0.84</c:v>
                </c:pt>
                <c:pt idx="4">
                  <c:v>0.8</c:v>
                </c:pt>
                <c:pt idx="5">
                  <c:v>0.82</c:v>
                </c:pt>
              </c:numCache>
            </c:numRef>
          </c:val>
          <c:smooth val="0"/>
          <c:extLst>
            <c:ext xmlns:c16="http://schemas.microsoft.com/office/drawing/2014/chart" uri="{C3380CC4-5D6E-409C-BE32-E72D297353CC}">
              <c16:uniqueId val="{00000004-0F32-4313-A6CA-1D72C172D40C}"/>
            </c:ext>
          </c:extLst>
        </c:ser>
        <c:ser>
          <c:idx val="1"/>
          <c:order val="1"/>
          <c:tx>
            <c:strRef>
              <c:f>Sheet1!$B$1</c:f>
              <c:strCache>
                <c:ptCount val="1"/>
                <c:pt idx="0">
                  <c:v>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062C-4880-812E-ABFA7432F596}"/>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4494-4454-9D9F-F8AEA17D16E6}"/>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3E66-4A6F-9A43-4ED5C7C88A61}"/>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8A77-471B-9E94-22F65914D33C}"/>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E1C-4D33-BAD7-4B8C3A41A284}"/>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22E1-4333-ACD2-3634268947C2}"/>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Sheet1!$B$2:$B$7</c:f>
              <c:numCache>
                <c:formatCode>0%</c:formatCode>
                <c:ptCount val="6"/>
                <c:pt idx="0">
                  <c:v>0.72</c:v>
                </c:pt>
                <c:pt idx="1">
                  <c:v>0.81</c:v>
                </c:pt>
                <c:pt idx="2">
                  <c:v>0.72</c:v>
                </c:pt>
                <c:pt idx="3">
                  <c:v>0.71</c:v>
                </c:pt>
                <c:pt idx="4">
                  <c:v>0.82</c:v>
                </c:pt>
                <c:pt idx="5">
                  <c:v>0.79</c:v>
                </c:pt>
              </c:numCache>
            </c:numRef>
          </c:val>
          <c:smooth val="0"/>
          <c:extLst>
            <c:ext xmlns:c16="http://schemas.microsoft.com/office/drawing/2014/chart" uri="{C3380CC4-5D6E-409C-BE32-E72D297353CC}">
              <c16:uniqueId val="{0000000A-0F32-4313-A6CA-1D72C172D40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160070954509491E-2"/>
          <c:y val="0.24137426900584796"/>
          <c:w val="0.94367985809098098"/>
          <c:h val="0.59152046783625734"/>
        </c:manualLayout>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4912-4B3C-A02E-3FCF1A161150}"/>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4912-4B3C-A02E-3FCF1A161150}"/>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2-4912-4B3C-A02E-3FCF1A161150}"/>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4912-4B3C-A02E-3FCF1A161150}"/>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4-4912-4B3C-A02E-3FCF1A161150}"/>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912-4B3C-A02E-3FCF1A161150}"/>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0.79</c:v>
                </c:pt>
                <c:pt idx="1">
                  <c:v>0.84</c:v>
                </c:pt>
                <c:pt idx="2">
                  <c:v>0.79</c:v>
                </c:pt>
                <c:pt idx="3">
                  <c:v>0.82</c:v>
                </c:pt>
                <c:pt idx="4">
                  <c:v>0.75</c:v>
                </c:pt>
                <c:pt idx="5">
                  <c:v>0.82</c:v>
                </c:pt>
              </c:numCache>
            </c:numRef>
          </c:val>
          <c:smooth val="0"/>
          <c:extLst>
            <c:ext xmlns:c16="http://schemas.microsoft.com/office/drawing/2014/chart" uri="{C3380CC4-5D6E-409C-BE32-E72D297353CC}">
              <c16:uniqueId val="{00000006-4912-4B3C-A02E-3FCF1A161150}"/>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4912-4B3C-A02E-3FCF1A161150}"/>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4912-4B3C-A02E-3FCF1A161150}"/>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9-4912-4B3C-A02E-3FCF1A161150}"/>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A-4912-4B3C-A02E-3FCF1A161150}"/>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B-4912-4B3C-A02E-3FCF1A161150}"/>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912-4B3C-A02E-3FCF1A161150}"/>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0.73</c:v>
                </c:pt>
                <c:pt idx="1">
                  <c:v>0.75</c:v>
                </c:pt>
                <c:pt idx="2">
                  <c:v>0.75</c:v>
                </c:pt>
                <c:pt idx="3">
                  <c:v>0.68</c:v>
                </c:pt>
                <c:pt idx="4">
                  <c:v>0.77</c:v>
                </c:pt>
                <c:pt idx="5">
                  <c:v>0.83</c:v>
                </c:pt>
              </c:numCache>
            </c:numRef>
          </c:val>
          <c:smooth val="0"/>
          <c:extLst>
            <c:ext xmlns:c16="http://schemas.microsoft.com/office/drawing/2014/chart" uri="{C3380CC4-5D6E-409C-BE32-E72D297353CC}">
              <c16:uniqueId val="{0000000D-4912-4B3C-A02E-3FCF1A16115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EPI Deepdive Module - 482371 - Q2_40BZ_C1895288</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848A-4C6E-8D01-6A49961A3B1E}"/>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368F-40B0-BC67-96A5BC23EEC0}"/>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FA5E-4584-87EC-F4ADF4F1C7FB}"/>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2-368F-40B0-BC67-96A5BC23EEC0}"/>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368F-40B0-BC67-96A5BC23EEC0}"/>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0-04C5-4B9A-80E9-FACC0D16E64C}"/>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497FA5"/>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Sheet1!$B$2:$B$7</c:f>
              <c:numCache>
                <c:formatCode>0%</c:formatCode>
                <c:ptCount val="6"/>
                <c:pt idx="0">
                  <c:v>0.72</c:v>
                </c:pt>
                <c:pt idx="1">
                  <c:v>0.78</c:v>
                </c:pt>
                <c:pt idx="2">
                  <c:v>0.72</c:v>
                </c:pt>
                <c:pt idx="3">
                  <c:v>0.71</c:v>
                </c:pt>
                <c:pt idx="4">
                  <c:v>0.67</c:v>
                </c:pt>
                <c:pt idx="5">
                  <c:v>0.71</c:v>
                </c:pt>
              </c:numCache>
            </c:numRef>
          </c:val>
          <c:smooth val="0"/>
          <c:extLst>
            <c:ext xmlns:c16="http://schemas.microsoft.com/office/drawing/2014/chart" uri="{C3380CC4-5D6E-409C-BE32-E72D297353CC}">
              <c16:uniqueId val="{00000007-368F-40B0-BC67-96A5BC23EEC0}"/>
            </c:ext>
          </c:extLst>
        </c:ser>
        <c:ser>
          <c:idx val="1"/>
          <c:order val="1"/>
          <c:tx>
            <c:strRef>
              <c:f>Sheet1!$C$1</c:f>
              <c:strCache>
                <c:ptCount val="1"/>
                <c:pt idx="0">
                  <c:v>EPI Deepdive Module - 482371 - Q2_40BZ_Z1895441</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848A-4C6E-8D01-6A49961A3B1E}"/>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9-368F-40B0-BC67-96A5BC23EEC0}"/>
                </c:ext>
              </c:extLst>
            </c:dLbl>
            <c:dLbl>
              <c:idx val="2"/>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FA5E-4584-87EC-F4ADF4F1C7FB}"/>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A-368F-40B0-BC67-96A5BC23EEC0}"/>
                </c:ext>
              </c:extLst>
            </c:dLbl>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B-368F-40B0-BC67-96A5BC23EEC0}"/>
                </c:ext>
              </c:extLst>
            </c:dLbl>
            <c:dLbl>
              <c:idx val="5"/>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0-4B9B-48E8-AFFC-5CFB643098C0}"/>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c:v>
                </c:pt>
                <c:pt idx="1">
                  <c:v>W28</c:v>
                </c:pt>
                <c:pt idx="2">
                  <c:v>W29</c:v>
                </c:pt>
                <c:pt idx="3">
                  <c:v>W30</c:v>
                </c:pt>
                <c:pt idx="4">
                  <c:v>W31</c:v>
                </c:pt>
                <c:pt idx="5">
                  <c:v>W32</c:v>
                </c:pt>
              </c:strCache>
            </c:strRef>
          </c:cat>
          <c:val>
            <c:numRef>
              <c:f>Sheet1!$C$2:$C$7</c:f>
              <c:numCache>
                <c:formatCode>0%</c:formatCode>
                <c:ptCount val="6"/>
                <c:pt idx="0">
                  <c:v>0.56000000000000005</c:v>
                </c:pt>
                <c:pt idx="1">
                  <c:v>0.67</c:v>
                </c:pt>
                <c:pt idx="2">
                  <c:v>0.65</c:v>
                </c:pt>
                <c:pt idx="3">
                  <c:v>0.65</c:v>
                </c:pt>
                <c:pt idx="4">
                  <c:v>0.67</c:v>
                </c:pt>
                <c:pt idx="5">
                  <c:v>0.65</c:v>
                </c:pt>
              </c:numCache>
            </c:numRef>
          </c:val>
          <c:smooth val="0"/>
          <c:extLst>
            <c:ext xmlns:c16="http://schemas.microsoft.com/office/drawing/2014/chart" uri="{C3380CC4-5D6E-409C-BE32-E72D297353CC}">
              <c16:uniqueId val="{0000000F-368F-40B0-BC67-96A5BC23EEC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9925925925925928"/>
          <c:w val="1"/>
          <c:h val="0.49269468186134852"/>
        </c:manualLayout>
      </c:layout>
      <c:lineChart>
        <c:grouping val="standard"/>
        <c:varyColors val="0"/>
        <c:ser>
          <c:idx val="0"/>
          <c:order val="0"/>
          <c:tx>
            <c:strRef>
              <c:f>Sheet1!$B$1:$B$2</c:f>
              <c:strCache>
                <c:ptCount val="2"/>
                <c:pt idx="0">
                  <c:v>EPI Deepdive Module - 482371 - Q2_40BZ_C1895288</c:v>
                </c:pt>
                <c:pt idx="1">
                  <c:v>How well the rep performed in discussing efficacy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23E-2"/>
                  <c:y val="-0.181002314814814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F60-455C-A3A9-90DEE11FA69B}"/>
                </c:ext>
              </c:extLst>
            </c:dLbl>
            <c:dLbl>
              <c:idx val="1"/>
              <c:layout>
                <c:manualLayout>
                  <c:x val="-5.1928643371958523E-2"/>
                  <c:y val="-0.171150462962962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F60-455C-A3A9-90DEE11FA69B}"/>
                </c:ext>
              </c:extLst>
            </c:dLbl>
            <c:dLbl>
              <c:idx val="2"/>
              <c:layout>
                <c:manualLayout>
                  <c:x val="-5.1928643371958523E-2"/>
                  <c:y val="-0.1662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F60-455C-A3A9-90DEE11FA69B}"/>
                </c:ext>
              </c:extLst>
            </c:dLbl>
            <c:dLbl>
              <c:idx val="3"/>
              <c:layout>
                <c:manualLayout>
                  <c:x val="-5.1928643371958523E-2"/>
                  <c:y val="-0.14158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F60-455C-A3A9-90DEE11FA69B}"/>
                </c:ext>
              </c:extLst>
            </c:dLbl>
            <c:dLbl>
              <c:idx val="4"/>
              <c:layout>
                <c:manualLayout>
                  <c:x val="-5.1928643371958523E-2"/>
                  <c:y val="-0.1563680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F60-455C-A3A9-90DEE11FA69B}"/>
                </c:ext>
              </c:extLst>
            </c:dLbl>
            <c:dLbl>
              <c:idx val="5"/>
              <c:layout>
                <c:manualLayout>
                  <c:x val="-4.772065597419755E-2"/>
                  <c:y val="-0.171150462962962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F60-455C-A3A9-90DEE11FA69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0.74</c:v>
                </c:pt>
                <c:pt idx="1">
                  <c:v>0.76</c:v>
                </c:pt>
                <c:pt idx="2">
                  <c:v>0.77</c:v>
                </c:pt>
                <c:pt idx="3">
                  <c:v>0.82</c:v>
                </c:pt>
                <c:pt idx="4">
                  <c:v>0.79</c:v>
                </c:pt>
                <c:pt idx="5">
                  <c:v>0.76</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How well the rep performed in discussing efficacy</c:v>
                </c:pt>
              </c:strCache>
            </c:strRef>
          </c:tx>
          <c:spPr>
            <a:ln w="19050" cap="rnd">
              <a:solidFill>
                <a:srgbClr val="9778D4"/>
              </a:solidFill>
              <a:round/>
              <a:tailEnd type="none"/>
            </a:ln>
            <a:effectLst/>
          </c:spPr>
          <c:marker>
            <c:symbol val="circle"/>
            <c:size val="5"/>
            <c:spPr>
              <a:solidFill>
                <a:srgbClr val="9778D4"/>
              </a:solidFill>
              <a:ln w="9525">
                <a:solidFill>
                  <a:srgbClr val="9778D4"/>
                </a:solidFill>
              </a:ln>
              <a:effectLst/>
            </c:spPr>
          </c:marker>
          <c:dPt>
            <c:idx val="1"/>
            <c:marker>
              <c:symbol val="circle"/>
              <c:size val="5"/>
              <c:spPr>
                <a:solidFill>
                  <a:srgbClr val="9778D4"/>
                </a:solidFill>
                <a:ln w="9525">
                  <a:solidFill>
                    <a:srgbClr val="9778D4"/>
                  </a:solidFill>
                </a:ln>
                <a:effectLst/>
              </c:spPr>
            </c:marker>
            <c:bubble3D val="0"/>
            <c:spPr>
              <a:ln w="28575" cap="rnd">
                <a:solidFill>
                  <a:srgbClr val="9778D4"/>
                </a:solidFill>
                <a:round/>
                <a:tailEnd type="none"/>
              </a:ln>
              <a:effectLst/>
            </c:spPr>
            <c:extLst>
              <c:ext xmlns:c16="http://schemas.microsoft.com/office/drawing/2014/chart" uri="{C3380CC4-5D6E-409C-BE32-E72D297353CC}">
                <c16:uniqueId val="{0000000A-EF60-455C-A3A9-90DEE11FA69B}"/>
              </c:ext>
            </c:extLst>
          </c:dPt>
          <c:dLbls>
            <c:dLbl>
              <c:idx val="0"/>
              <c:layout>
                <c:manualLayout>
                  <c:x val="-5.1928643371958523E-2"/>
                  <c:y val="0.221891203703703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F60-455C-A3A9-90DEE11FA69B}"/>
                </c:ext>
              </c:extLst>
            </c:dLbl>
            <c:dLbl>
              <c:idx val="1"/>
              <c:layout>
                <c:manualLayout>
                  <c:x val="-5.1928643371958523E-2"/>
                  <c:y val="0.271159722222222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F60-455C-A3A9-90DEE11FA69B}"/>
                </c:ext>
              </c:extLst>
            </c:dLbl>
            <c:dLbl>
              <c:idx val="2"/>
              <c:layout>
                <c:manualLayout>
                  <c:x val="-5.1928643371958523E-2"/>
                  <c:y val="0.276087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F60-455C-A3A9-90DEE11FA69B}"/>
                </c:ext>
              </c:extLst>
            </c:dLbl>
            <c:dLbl>
              <c:idx val="3"/>
              <c:layout>
                <c:manualLayout>
                  <c:x val="-5.1928643371958523E-2"/>
                  <c:y val="0.285939814814814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F60-455C-A3A9-90DEE11FA69B}"/>
                </c:ext>
              </c:extLst>
            </c:dLbl>
            <c:dLbl>
              <c:idx val="4"/>
              <c:layout>
                <c:manualLayout>
                  <c:x val="-5.1928643371958523E-2"/>
                  <c:y val="0.28101388888888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F60-455C-A3A9-90DEE11FA69B}"/>
                </c:ext>
              </c:extLst>
            </c:dLbl>
            <c:dLbl>
              <c:idx val="5"/>
              <c:layout>
                <c:manualLayout>
                  <c:x val="-4.772065597419755E-2"/>
                  <c:y val="0.28101388888888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F60-455C-A3A9-90DEE11FA69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0.63</c:v>
                </c:pt>
                <c:pt idx="1">
                  <c:v>0.73</c:v>
                </c:pt>
                <c:pt idx="2">
                  <c:v>0.74</c:v>
                </c:pt>
                <c:pt idx="3">
                  <c:v>0.76</c:v>
                </c:pt>
                <c:pt idx="4">
                  <c:v>0.75</c:v>
                </c:pt>
                <c:pt idx="5">
                  <c:v>0.75</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9925925925925928"/>
          <c:w val="1"/>
          <c:h val="0.46254273504273513"/>
        </c:manualLayout>
      </c:layout>
      <c:lineChart>
        <c:grouping val="standard"/>
        <c:varyColors val="0"/>
        <c:ser>
          <c:idx val="0"/>
          <c:order val="0"/>
          <c:tx>
            <c:strRef>
              <c:f>Sheet1!$B$1:$B$2</c:f>
              <c:strCache>
                <c:ptCount val="2"/>
                <c:pt idx="0">
                  <c:v>EPI Deepdive Module - 482371 - Q2_40BZ_C1895288</c:v>
                </c:pt>
                <c:pt idx="1">
                  <c:v>How well the rep performed on providing credible support for product claims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23E-2"/>
                  <c:y val="-0.177789351851851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8A-4493-9AB0-A780C7C2B044}"/>
                </c:ext>
              </c:extLst>
            </c:dLbl>
            <c:dLbl>
              <c:idx val="1"/>
              <c:layout>
                <c:manualLayout>
                  <c:x val="-5.1928643371958523E-2"/>
                  <c:y val="-0.159287037037037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B8A-4493-9AB0-A780C7C2B044}"/>
                </c:ext>
              </c:extLst>
            </c:dLbl>
            <c:dLbl>
              <c:idx val="2"/>
              <c:layout>
                <c:manualLayout>
                  <c:x val="-5.1928643371958523E-2"/>
                  <c:y val="-0.16853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B8A-4493-9AB0-A780C7C2B044}"/>
                </c:ext>
              </c:extLst>
            </c:dLbl>
            <c:dLbl>
              <c:idx val="3"/>
              <c:layout>
                <c:manualLayout>
                  <c:x val="-5.1928643371958523E-2"/>
                  <c:y val="-0.150037037037037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B8A-4493-9AB0-A780C7C2B044}"/>
                </c:ext>
              </c:extLst>
            </c:dLbl>
            <c:dLbl>
              <c:idx val="4"/>
              <c:layout>
                <c:manualLayout>
                  <c:x val="-5.1928643371958523E-2"/>
                  <c:y val="-0.173164351851851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B8A-4493-9AB0-A780C7C2B044}"/>
                </c:ext>
              </c:extLst>
            </c:dLbl>
            <c:dLbl>
              <c:idx val="5"/>
              <c:layout>
                <c:manualLayout>
                  <c:x val="-4.772065597419755E-2"/>
                  <c:y val="-0.182414351851851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B8A-4493-9AB0-A780C7C2B04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0.73</c:v>
                </c:pt>
                <c:pt idx="1">
                  <c:v>0.77</c:v>
                </c:pt>
                <c:pt idx="2">
                  <c:v>0.75</c:v>
                </c:pt>
                <c:pt idx="3">
                  <c:v>0.79</c:v>
                </c:pt>
                <c:pt idx="4">
                  <c:v>0.74</c:v>
                </c:pt>
                <c:pt idx="5">
                  <c:v>0.72</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How well the rep performed on providing credible support for product claims</c:v>
                </c:pt>
              </c:strCache>
            </c:strRef>
          </c:tx>
          <c:spPr>
            <a:ln w="28575" cap="rnd">
              <a:solidFill>
                <a:srgbClr val="9778D4"/>
              </a:solidFill>
              <a:round/>
            </a:ln>
            <a:effectLst/>
          </c:spPr>
          <c:marker>
            <c:symbol val="circle"/>
            <c:size val="5"/>
            <c:spPr>
              <a:solidFill>
                <a:srgbClr val="9778D4"/>
              </a:solidFill>
              <a:ln w="9525">
                <a:solidFill>
                  <a:srgbClr val="9778D4"/>
                </a:solidFill>
              </a:ln>
              <a:effectLst/>
            </c:spPr>
          </c:marker>
          <c:dLbls>
            <c:dLbl>
              <c:idx val="0"/>
              <c:layout>
                <c:manualLayout>
                  <c:x val="-5.1928643371958523E-2"/>
                  <c:y val="0.274675925925925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B8A-4493-9AB0-A780C7C2B044}"/>
                </c:ext>
              </c:extLst>
            </c:dLbl>
            <c:dLbl>
              <c:idx val="1"/>
              <c:layout>
                <c:manualLayout>
                  <c:x val="-5.1928643371958523E-2"/>
                  <c:y val="0.274675925925925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B8A-4493-9AB0-A780C7C2B044}"/>
                </c:ext>
              </c:extLst>
            </c:dLbl>
            <c:dLbl>
              <c:idx val="2"/>
              <c:layout>
                <c:manualLayout>
                  <c:x val="-5.1928643371958523E-2"/>
                  <c:y val="0.274675925925925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B8A-4493-9AB0-A780C7C2B044}"/>
                </c:ext>
              </c:extLst>
            </c:dLbl>
            <c:dLbl>
              <c:idx val="3"/>
              <c:layout>
                <c:manualLayout>
                  <c:x val="-5.1928643371958523E-2"/>
                  <c:y val="0.237673611111111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B8A-4493-9AB0-A780C7C2B044}"/>
                </c:ext>
              </c:extLst>
            </c:dLbl>
            <c:dLbl>
              <c:idx val="4"/>
              <c:layout>
                <c:manualLayout>
                  <c:x val="-5.1928643371958523E-2"/>
                  <c:y val="0.256173611111111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B8A-4493-9AB0-A780C7C2B044}"/>
                </c:ext>
              </c:extLst>
            </c:dLbl>
            <c:dLbl>
              <c:idx val="5"/>
              <c:layout>
                <c:manualLayout>
                  <c:x val="-4.772065597419755E-2"/>
                  <c:y val="0.256173611111111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B8A-4493-9AB0-A780C7C2B04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0.72</c:v>
                </c:pt>
                <c:pt idx="1">
                  <c:v>0.72</c:v>
                </c:pt>
                <c:pt idx="2">
                  <c:v>0.72</c:v>
                </c:pt>
                <c:pt idx="3">
                  <c:v>0.64</c:v>
                </c:pt>
                <c:pt idx="4">
                  <c:v>0.68</c:v>
                </c:pt>
                <c:pt idx="5">
                  <c:v>0.68</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9925925925925928"/>
          <c:w val="1"/>
          <c:h val="0.583150522317189"/>
        </c:manualLayout>
      </c:layout>
      <c:lineChart>
        <c:grouping val="standard"/>
        <c:varyColors val="0"/>
        <c:ser>
          <c:idx val="0"/>
          <c:order val="0"/>
          <c:tx>
            <c:strRef>
              <c:f>Sheet1!$B$1:$B$2</c:f>
              <c:strCache>
                <c:ptCount val="2"/>
                <c:pt idx="0">
                  <c:v>EPI Deepdive Module - 482371 - Q2_40BZ_C1895288</c:v>
                </c:pt>
                <c:pt idx="1">
                  <c:v>The rep’s knowledge of EPI and its associated illnesses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23E-2"/>
                  <c:y val="-0.163701388888888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33B-4049-89BB-CC18129B005B}"/>
                </c:ext>
              </c:extLst>
            </c:dLbl>
            <c:dLbl>
              <c:idx val="1"/>
              <c:layout>
                <c:manualLayout>
                  <c:x val="-5.1928643371958523E-2"/>
                  <c:y val="-0.1928587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33B-4049-89BB-CC18129B005B}"/>
                </c:ext>
              </c:extLst>
            </c:dLbl>
            <c:dLbl>
              <c:idx val="2"/>
              <c:layout>
                <c:manualLayout>
                  <c:x val="-5.1928643371958523E-2"/>
                  <c:y val="-0.2103541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33B-4049-89BB-CC18129B005B}"/>
                </c:ext>
              </c:extLst>
            </c:dLbl>
            <c:dLbl>
              <c:idx val="3"/>
              <c:layout>
                <c:manualLayout>
                  <c:x val="-5.1928643371958523E-2"/>
                  <c:y val="-0.18702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33B-4049-89BB-CC18129B005B}"/>
                </c:ext>
              </c:extLst>
            </c:dLbl>
            <c:dLbl>
              <c:idx val="4"/>
              <c:layout>
                <c:manualLayout>
                  <c:x val="-5.1928643371958523E-2"/>
                  <c:y val="0.308597222222222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33B-4049-89BB-CC18129B005B}"/>
                </c:ext>
              </c:extLst>
            </c:dLbl>
            <c:dLbl>
              <c:idx val="5"/>
              <c:layout>
                <c:manualLayout>
                  <c:x val="-4.772065597419755E-2"/>
                  <c:y val="-0.198689814814814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33B-4049-89BB-CC18129B005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0.81</c:v>
                </c:pt>
                <c:pt idx="1">
                  <c:v>0.76</c:v>
                </c:pt>
                <c:pt idx="2">
                  <c:v>0.73</c:v>
                </c:pt>
                <c:pt idx="3">
                  <c:v>0.77</c:v>
                </c:pt>
                <c:pt idx="4">
                  <c:v>0.75</c:v>
                </c:pt>
                <c:pt idx="5">
                  <c:v>0.75</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The rep’s knowledge of EPI and its associated illnesses</c:v>
                </c:pt>
              </c:strCache>
            </c:strRef>
          </c:tx>
          <c:spPr>
            <a:ln w="28575" cap="rnd">
              <a:solidFill>
                <a:srgbClr val="9778D4"/>
              </a:solidFill>
              <a:round/>
            </a:ln>
            <a:effectLst/>
          </c:spPr>
          <c:marker>
            <c:symbol val="circle"/>
            <c:size val="5"/>
            <c:spPr>
              <a:solidFill>
                <a:srgbClr val="9778D4"/>
              </a:solidFill>
              <a:ln w="9525">
                <a:solidFill>
                  <a:srgbClr val="9778D4"/>
                </a:solidFill>
              </a:ln>
              <a:effectLst/>
            </c:spPr>
          </c:marker>
          <c:dLbls>
            <c:dLbl>
              <c:idx val="0"/>
              <c:layout>
                <c:manualLayout>
                  <c:x val="-5.1928643371958523E-2"/>
                  <c:y val="0.246736111111111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33B-4049-89BB-CC18129B005B}"/>
                </c:ext>
              </c:extLst>
            </c:dLbl>
            <c:dLbl>
              <c:idx val="1"/>
              <c:layout>
                <c:manualLayout>
                  <c:x val="-5.1928643371958523E-2"/>
                  <c:y val="0.240905092592592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33B-4049-89BB-CC18129B005B}"/>
                </c:ext>
              </c:extLst>
            </c:dLbl>
            <c:dLbl>
              <c:idx val="2"/>
              <c:layout>
                <c:manualLayout>
                  <c:x val="-5.1928643371958523E-2"/>
                  <c:y val="0.2059166666666666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33B-4049-89BB-CC18129B005B}"/>
                </c:ext>
              </c:extLst>
            </c:dLbl>
            <c:dLbl>
              <c:idx val="3"/>
              <c:layout>
                <c:manualLayout>
                  <c:x val="-5.1928643371958523E-2"/>
                  <c:y val="0.211747685185185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33B-4049-89BB-CC18129B005B}"/>
                </c:ext>
              </c:extLst>
            </c:dLbl>
            <c:dLbl>
              <c:idx val="4"/>
              <c:layout>
                <c:manualLayout>
                  <c:x val="-5.1928643371958523E-2"/>
                  <c:y val="-0.231393518518518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33B-4049-89BB-CC18129B005B}"/>
                </c:ext>
              </c:extLst>
            </c:dLbl>
            <c:dLbl>
              <c:idx val="5"/>
              <c:layout>
                <c:manualLayout>
                  <c:x val="-4.772065597419755E-2"/>
                  <c:y val="0.240905092592592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3B-4049-89BB-CC18129B005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0.73</c:v>
                </c:pt>
                <c:pt idx="1">
                  <c:v>0.72</c:v>
                </c:pt>
                <c:pt idx="2">
                  <c:v>0.66</c:v>
                </c:pt>
                <c:pt idx="3">
                  <c:v>0.67</c:v>
                </c:pt>
                <c:pt idx="4">
                  <c:v>0.78</c:v>
                </c:pt>
                <c:pt idx="5">
                  <c:v>0.72</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9925925925925928"/>
          <c:w val="1"/>
          <c:h val="0.46254273504273513"/>
        </c:manualLayout>
      </c:layout>
      <c:lineChart>
        <c:grouping val="standard"/>
        <c:varyColors val="0"/>
        <c:ser>
          <c:idx val="0"/>
          <c:order val="0"/>
          <c:tx>
            <c:strRef>
              <c:f>Sheet1!$B$1:$B$2</c:f>
              <c:strCache>
                <c:ptCount val="2"/>
                <c:pt idx="0">
                  <c:v>EPI Deepdive Module - 482371 - Q2_40BZ_C1895288</c:v>
                </c:pt>
                <c:pt idx="1">
                  <c:v>How well the rep explained dosing guidelines and considerations</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23E-2"/>
                  <c:y val="-0.256421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AD3-45DA-B36F-A101C94CD605}"/>
                </c:ext>
              </c:extLst>
            </c:dLbl>
            <c:dLbl>
              <c:idx val="1"/>
              <c:layout>
                <c:manualLayout>
                  <c:x val="-5.1928643371958523E-2"/>
                  <c:y val="-0.247171296296296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AD3-45DA-B36F-A101C94CD605}"/>
                </c:ext>
              </c:extLst>
            </c:dLbl>
            <c:dLbl>
              <c:idx val="2"/>
              <c:layout>
                <c:manualLayout>
                  <c:x val="-5.1928643371958523E-2"/>
                  <c:y val="0.213863425925925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AD3-45DA-B36F-A101C94CD605}"/>
                </c:ext>
              </c:extLst>
            </c:dLbl>
            <c:dLbl>
              <c:idx val="3"/>
              <c:layout>
                <c:manualLayout>
                  <c:x val="-5.1928643371958523E-2"/>
                  <c:y val="-0.2841736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AD3-45DA-B36F-A101C94CD605}"/>
                </c:ext>
              </c:extLst>
            </c:dLbl>
            <c:dLbl>
              <c:idx val="4"/>
              <c:layout>
                <c:manualLayout>
                  <c:x val="-5.1928643371958523E-2"/>
                  <c:y val="0.176858796296296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AD3-45DA-B36F-A101C94CD605}"/>
                </c:ext>
              </c:extLst>
            </c:dLbl>
            <c:dLbl>
              <c:idx val="5"/>
              <c:layout>
                <c:manualLayout>
                  <c:x val="-4.772065597419755E-2"/>
                  <c:y val="0.223113425925925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AD3-45DA-B36F-A101C94CD60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0.78</c:v>
                </c:pt>
                <c:pt idx="1">
                  <c:v>0.79</c:v>
                </c:pt>
                <c:pt idx="2">
                  <c:v>0.74</c:v>
                </c:pt>
                <c:pt idx="3">
                  <c:v>0.75</c:v>
                </c:pt>
                <c:pt idx="4">
                  <c:v>0.7</c:v>
                </c:pt>
                <c:pt idx="5">
                  <c:v>0.75</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How well the rep explained dosing guidelines and considerations</c:v>
                </c:pt>
              </c:strCache>
            </c:strRef>
          </c:tx>
          <c:spPr>
            <a:ln w="28575" cap="rnd">
              <a:solidFill>
                <a:srgbClr val="9778D4"/>
              </a:solidFill>
              <a:round/>
            </a:ln>
            <a:effectLst/>
          </c:spPr>
          <c:marker>
            <c:symbol val="circle"/>
            <c:size val="5"/>
            <c:spPr>
              <a:solidFill>
                <a:srgbClr val="9778D4"/>
              </a:solidFill>
              <a:ln w="9525">
                <a:solidFill>
                  <a:srgbClr val="9778D4"/>
                </a:solidFill>
              </a:ln>
              <a:effectLst/>
            </c:spPr>
          </c:marker>
          <c:dLbls>
            <c:dLbl>
              <c:idx val="0"/>
              <c:layout>
                <c:manualLayout>
                  <c:x val="-5.1928643371958523E-2"/>
                  <c:y val="0.126662037037036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AD3-45DA-B36F-A101C94CD605}"/>
                </c:ext>
              </c:extLst>
            </c:dLbl>
            <c:dLbl>
              <c:idx val="1"/>
              <c:layout>
                <c:manualLayout>
                  <c:x val="-5.1928643371958523E-2"/>
                  <c:y val="0.182166666666666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AD3-45DA-B36F-A101C94CD605}"/>
                </c:ext>
              </c:extLst>
            </c:dLbl>
            <c:dLbl>
              <c:idx val="2"/>
              <c:layout>
                <c:manualLayout>
                  <c:x val="-5.1928643371958523E-2"/>
                  <c:y val="-0.334370370370370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AD3-45DA-B36F-A101C94CD605}"/>
                </c:ext>
              </c:extLst>
            </c:dLbl>
            <c:dLbl>
              <c:idx val="3"/>
              <c:layout>
                <c:manualLayout>
                  <c:x val="-5.1928643371958523E-2"/>
                  <c:y val="9.890972222222214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AD3-45DA-B36F-A101C94CD605}"/>
                </c:ext>
              </c:extLst>
            </c:dLbl>
            <c:dLbl>
              <c:idx val="4"/>
              <c:layout>
                <c:manualLayout>
                  <c:x val="-5.1928643371958523E-2"/>
                  <c:y val="-0.288115740740740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AD3-45DA-B36F-A101C94CD605}"/>
                </c:ext>
              </c:extLst>
            </c:dLbl>
            <c:dLbl>
              <c:idx val="5"/>
              <c:layout>
                <c:manualLayout>
                  <c:x val="-4.772065597419755E-2"/>
                  <c:y val="-0.288115740740740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AD3-45DA-B36F-A101C94CD60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0.7</c:v>
                </c:pt>
                <c:pt idx="1">
                  <c:v>0.76</c:v>
                </c:pt>
                <c:pt idx="2">
                  <c:v>0.75</c:v>
                </c:pt>
                <c:pt idx="3">
                  <c:v>0.67</c:v>
                </c:pt>
                <c:pt idx="4">
                  <c:v>0.8</c:v>
                </c:pt>
                <c:pt idx="5">
                  <c:v>0.8</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9699768518518521"/>
          <c:w val="1"/>
          <c:h val="0.46480324074074075"/>
        </c:manualLayout>
      </c:layout>
      <c:lineChart>
        <c:grouping val="standard"/>
        <c:varyColors val="0"/>
        <c:ser>
          <c:idx val="0"/>
          <c:order val="0"/>
          <c:tx>
            <c:strRef>
              <c:f>Sheet1!$B$1:$B$2</c:f>
              <c:strCache>
                <c:ptCount val="2"/>
                <c:pt idx="0">
                  <c:v>EPI Deepdive Module - 482371 - Q2_40BZ_C1895288</c:v>
                </c:pt>
                <c:pt idx="1">
                  <c:v>How well the rep performed in discussing safety</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23E-2"/>
                  <c:y val="-0.1947291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66E-421B-ABD8-7A6CFE07E586}"/>
                </c:ext>
              </c:extLst>
            </c:dLbl>
            <c:dLbl>
              <c:idx val="1"/>
              <c:layout>
                <c:manualLayout>
                  <c:x val="-5.1928643371958523E-2"/>
                  <c:y val="-0.17149074074074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66E-421B-ABD8-7A6CFE07E586}"/>
                </c:ext>
              </c:extLst>
            </c:dLbl>
            <c:dLbl>
              <c:idx val="2"/>
              <c:layout>
                <c:manualLayout>
                  <c:x val="-5.1928643371958523E-2"/>
                  <c:y val="-0.180787037037037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66E-421B-ABD8-7A6CFE07E586}"/>
                </c:ext>
              </c:extLst>
            </c:dLbl>
            <c:dLbl>
              <c:idx val="3"/>
              <c:layout>
                <c:manualLayout>
                  <c:x val="-5.1928643371958523E-2"/>
                  <c:y val="-0.180787037037037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66E-421B-ABD8-7A6CFE07E586}"/>
                </c:ext>
              </c:extLst>
            </c:dLbl>
            <c:dLbl>
              <c:idx val="4"/>
              <c:layout>
                <c:manualLayout>
                  <c:x val="-5.1928643371958523E-2"/>
                  <c:y val="0.298613425925925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66E-421B-ABD8-7A6CFE07E586}"/>
                </c:ext>
              </c:extLst>
            </c:dLbl>
            <c:dLbl>
              <c:idx val="5"/>
              <c:layout>
                <c:manualLayout>
                  <c:x val="-4.772065597419755E-2"/>
                  <c:y val="-0.1761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66E-421B-ABD8-7A6CFE07E58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0.69</c:v>
                </c:pt>
                <c:pt idx="1">
                  <c:v>0.74</c:v>
                </c:pt>
                <c:pt idx="2">
                  <c:v>0.72</c:v>
                </c:pt>
                <c:pt idx="3">
                  <c:v>0.72</c:v>
                </c:pt>
                <c:pt idx="4">
                  <c:v>0.66</c:v>
                </c:pt>
                <c:pt idx="5">
                  <c:v>0.73</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How well the rep performed in discussing safety</c:v>
                </c:pt>
              </c:strCache>
            </c:strRef>
          </c:tx>
          <c:spPr>
            <a:ln w="28575" cap="rnd">
              <a:solidFill>
                <a:srgbClr val="9778D4"/>
              </a:solidFill>
              <a:round/>
            </a:ln>
            <a:effectLst/>
          </c:spPr>
          <c:marker>
            <c:symbol val="circle"/>
            <c:size val="5"/>
            <c:spPr>
              <a:solidFill>
                <a:srgbClr val="9778D4"/>
              </a:solidFill>
              <a:ln w="9525">
                <a:solidFill>
                  <a:srgbClr val="9778D4"/>
                </a:solidFill>
              </a:ln>
              <a:effectLst/>
            </c:spPr>
          </c:marker>
          <c:dLbls>
            <c:dLbl>
              <c:idx val="0"/>
              <c:layout>
                <c:manualLayout>
                  <c:x val="-5.1928643371958523E-2"/>
                  <c:y val="0.211231481481481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66E-421B-ABD8-7A6CFE07E586}"/>
                </c:ext>
              </c:extLst>
            </c:dLbl>
            <c:dLbl>
              <c:idx val="1"/>
              <c:layout>
                <c:manualLayout>
                  <c:x val="-5.1928643371958523E-2"/>
                  <c:y val="0.253064814814814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66E-421B-ABD8-7A6CFE07E586}"/>
                </c:ext>
              </c:extLst>
            </c:dLbl>
            <c:dLbl>
              <c:idx val="2"/>
              <c:layout>
                <c:manualLayout>
                  <c:x val="-5.1928643371958523E-2"/>
                  <c:y val="0.229824074074074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66E-421B-ABD8-7A6CFE07E586}"/>
                </c:ext>
              </c:extLst>
            </c:dLbl>
            <c:dLbl>
              <c:idx val="3"/>
              <c:layout>
                <c:manualLayout>
                  <c:x val="-5.1928643371958523E-2"/>
                  <c:y val="0.267009259259259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66E-421B-ABD8-7A6CFE07E586}"/>
                </c:ext>
              </c:extLst>
            </c:dLbl>
            <c:dLbl>
              <c:idx val="4"/>
              <c:layout>
                <c:manualLayout>
                  <c:x val="-5.1928643371958523E-2"/>
                  <c:y val="-0.2077430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66E-421B-ABD8-7A6CFE07E586}"/>
                </c:ext>
              </c:extLst>
            </c:dLbl>
            <c:dLbl>
              <c:idx val="5"/>
              <c:layout>
                <c:manualLayout>
                  <c:x val="-4.772065597419755E-2"/>
                  <c:y val="0.267009259259259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66E-421B-ABD8-7A6CFE07E58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0.57999999999999996</c:v>
                </c:pt>
                <c:pt idx="1">
                  <c:v>0.67</c:v>
                </c:pt>
                <c:pt idx="2">
                  <c:v>0.62</c:v>
                </c:pt>
                <c:pt idx="3">
                  <c:v>0.7</c:v>
                </c:pt>
                <c:pt idx="4">
                  <c:v>0.77</c:v>
                </c:pt>
                <c:pt idx="5">
                  <c:v>0.7</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3744675925925929"/>
          <c:w val="1"/>
          <c:h val="0.583150522317189"/>
        </c:manualLayout>
      </c:layout>
      <c:lineChart>
        <c:grouping val="standard"/>
        <c:varyColors val="0"/>
        <c:ser>
          <c:idx val="0"/>
          <c:order val="0"/>
          <c:tx>
            <c:strRef>
              <c:f>Sheet1!$B$1:$B$2</c:f>
              <c:strCache>
                <c:ptCount val="2"/>
                <c:pt idx="0">
                  <c:v>EPI Deepdive Module - 482371 - Q2_40BZ_C1895288</c:v>
                </c:pt>
                <c:pt idx="1">
                  <c:v>How well the rep articulated differentiation as a treatment for exocrine pancreatic insufficiency (EPI)</c:v>
                </c:pt>
              </c:strCache>
            </c:strRef>
          </c:tx>
          <c:spPr>
            <a:ln w="28575" cap="rnd">
              <a:solidFill>
                <a:srgbClr val="36729C"/>
              </a:solidFill>
              <a:round/>
            </a:ln>
            <a:effectLst/>
          </c:spPr>
          <c:marker>
            <c:symbol val="circle"/>
            <c:size val="5"/>
            <c:spPr>
              <a:solidFill>
                <a:srgbClr val="36729C"/>
              </a:solidFill>
              <a:ln w="9525">
                <a:solidFill>
                  <a:srgbClr val="36729C"/>
                </a:solidFill>
              </a:ln>
              <a:effectLst/>
            </c:spPr>
          </c:marker>
          <c:dLbls>
            <c:dLbl>
              <c:idx val="0"/>
              <c:layout>
                <c:manualLayout>
                  <c:x val="-5.192864337195853E-2"/>
                  <c:y val="0.1483516817342276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918-40AC-9FD0-497AD8512569}"/>
                </c:ext>
              </c:extLst>
            </c:dLbl>
            <c:dLbl>
              <c:idx val="1"/>
              <c:layout>
                <c:manualLayout>
                  <c:x val="-5.1928643371958523E-2"/>
                  <c:y val="-0.1660347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918-40AC-9FD0-497AD8512569}"/>
                </c:ext>
              </c:extLst>
            </c:dLbl>
            <c:dLbl>
              <c:idx val="2"/>
              <c:layout>
                <c:manualLayout>
                  <c:x val="-5.1928643371958523E-2"/>
                  <c:y val="0.182220278020802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918-40AC-9FD0-497AD8512569}"/>
                </c:ext>
              </c:extLst>
            </c:dLbl>
            <c:dLbl>
              <c:idx val="3"/>
              <c:layout>
                <c:manualLayout>
                  <c:x val="-5.1928643371958634E-2"/>
                  <c:y val="0.206222052104598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918-40AC-9FD0-497AD8512569}"/>
                </c:ext>
              </c:extLst>
            </c:dLbl>
            <c:dLbl>
              <c:idx val="4"/>
              <c:layout>
                <c:manualLayout>
                  <c:x val="-5.1928643371958634E-2"/>
                  <c:y val="0.224567415184213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918-40AC-9FD0-497AD8512569}"/>
                </c:ext>
              </c:extLst>
            </c:dLbl>
            <c:dLbl>
              <c:idx val="5"/>
              <c:layout>
                <c:manualLayout>
                  <c:x val="-4.772065597419755E-2"/>
                  <c:y val="0.196798750850588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918-40AC-9FD0-497AD851256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Sheet1!$B$3:$B$8</c:f>
              <c:numCache>
                <c:formatCode>0%</c:formatCode>
                <c:ptCount val="6"/>
                <c:pt idx="0">
                  <c:v>0.68</c:v>
                </c:pt>
                <c:pt idx="1">
                  <c:v>0.68</c:v>
                </c:pt>
                <c:pt idx="2">
                  <c:v>0.69</c:v>
                </c:pt>
                <c:pt idx="3">
                  <c:v>0.68</c:v>
                </c:pt>
                <c:pt idx="4">
                  <c:v>0.71</c:v>
                </c:pt>
                <c:pt idx="5">
                  <c:v>0.7</c:v>
                </c:pt>
              </c:numCache>
            </c:numRef>
          </c:val>
          <c:smooth val="0"/>
          <c:extLst>
            <c:ext xmlns:c16="http://schemas.microsoft.com/office/drawing/2014/chart" uri="{C3380CC4-5D6E-409C-BE32-E72D297353CC}">
              <c16:uniqueId val="{00000000-EF60-455C-A3A9-90DEE11FA69B}"/>
            </c:ext>
          </c:extLst>
        </c:ser>
        <c:ser>
          <c:idx val="1"/>
          <c:order val="1"/>
          <c:tx>
            <c:strRef>
              <c:f>Sheet1!$C$1:$C$2</c:f>
              <c:strCache>
                <c:ptCount val="2"/>
                <c:pt idx="0">
                  <c:v>EPI Deepdive Module - 482371 - Q2_40BZ_Z1895441</c:v>
                </c:pt>
                <c:pt idx="1">
                  <c:v>How well the rep articulated differentiation as a treatment for exocrine pancreatic insufficiency (EPI)</c:v>
                </c:pt>
              </c:strCache>
            </c:strRef>
          </c:tx>
          <c:spPr>
            <a:ln w="28575" cap="rnd">
              <a:solidFill>
                <a:srgbClr val="9778D4"/>
              </a:solidFill>
              <a:round/>
            </a:ln>
            <a:effectLst/>
          </c:spPr>
          <c:marker>
            <c:symbol val="circle"/>
            <c:size val="5"/>
            <c:spPr>
              <a:solidFill>
                <a:srgbClr val="9778D4"/>
              </a:solidFill>
              <a:ln w="9525">
                <a:solidFill>
                  <a:srgbClr val="9778D4"/>
                </a:solidFill>
              </a:ln>
              <a:effectLst/>
            </c:spPr>
          </c:marker>
          <c:dLbls>
            <c:dLbl>
              <c:idx val="0"/>
              <c:layout>
                <c:manualLayout>
                  <c:x val="-5.1928643371958523E-2"/>
                  <c:y val="-0.2162314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918-40AC-9FD0-497AD8512569}"/>
                </c:ext>
              </c:extLst>
            </c:dLbl>
            <c:dLbl>
              <c:idx val="1"/>
              <c:layout>
                <c:manualLayout>
                  <c:x val="-5.1928643371958523E-2"/>
                  <c:y val="0.194160408768348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918-40AC-9FD0-497AD8512569}"/>
                </c:ext>
              </c:extLst>
            </c:dLbl>
            <c:dLbl>
              <c:idx val="2"/>
              <c:layout>
                <c:manualLayout>
                  <c:x val="-5.1928643371958523E-2"/>
                  <c:y val="-0.128759259259259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918-40AC-9FD0-497AD8512569}"/>
                </c:ext>
              </c:extLst>
            </c:dLbl>
            <c:dLbl>
              <c:idx val="3"/>
              <c:layout>
                <c:manualLayout>
                  <c:x val="-5.1928643371958523E-2"/>
                  <c:y val="-0.201652777777777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918-40AC-9FD0-497AD8512569}"/>
                </c:ext>
              </c:extLst>
            </c:dLbl>
            <c:dLbl>
              <c:idx val="4"/>
              <c:layout>
                <c:manualLayout>
                  <c:x val="-5.1928643371958523E-2"/>
                  <c:y val="-0.14333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918-40AC-9FD0-497AD8512569}"/>
                </c:ext>
              </c:extLst>
            </c:dLbl>
            <c:dLbl>
              <c:idx val="5"/>
              <c:layout>
                <c:manualLayout>
                  <c:x val="-4.772065597419755E-2"/>
                  <c:y val="-0.187074074074074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918-40AC-9FD0-497AD851256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c:v>
                </c:pt>
                <c:pt idx="1">
                  <c:v>W28</c:v>
                </c:pt>
                <c:pt idx="2">
                  <c:v>W29</c:v>
                </c:pt>
                <c:pt idx="3">
                  <c:v>W30</c:v>
                </c:pt>
                <c:pt idx="4">
                  <c:v>W31</c:v>
                </c:pt>
                <c:pt idx="5">
                  <c:v>W32</c:v>
                </c:pt>
              </c:strCache>
            </c:strRef>
          </c:cat>
          <c:val>
            <c:numRef>
              <c:f>Sheet1!$C$3:$C$8</c:f>
              <c:numCache>
                <c:formatCode>0%</c:formatCode>
                <c:ptCount val="6"/>
                <c:pt idx="0">
                  <c:v>0.68</c:v>
                </c:pt>
                <c:pt idx="1">
                  <c:v>0.64</c:v>
                </c:pt>
                <c:pt idx="2">
                  <c:v>0.74</c:v>
                </c:pt>
                <c:pt idx="3">
                  <c:v>0.69</c:v>
                </c:pt>
                <c:pt idx="4">
                  <c:v>0.73</c:v>
                </c:pt>
                <c:pt idx="5">
                  <c:v>0.7</c:v>
                </c:pt>
              </c:numCache>
            </c:numRef>
          </c:val>
          <c:smooth val="0"/>
          <c:extLst>
            <c:ext xmlns:c16="http://schemas.microsoft.com/office/drawing/2014/chart" uri="{C3380CC4-5D6E-409C-BE32-E72D297353CC}">
              <c16:uniqueId val="{00000001-EF60-455C-A3A9-90DEE11FA69B}"/>
            </c:ext>
          </c:extLst>
        </c:ser>
        <c:dLbls>
          <c:dLblPos val="t"/>
          <c:showLegendKey val="0"/>
          <c:showVal val="1"/>
          <c:showCatName val="0"/>
          <c:showSerName val="0"/>
          <c:showPercent val="0"/>
          <c:showBubbleSize val="0"/>
        </c:dLbls>
        <c:marker val="1"/>
        <c:smooth val="0"/>
        <c:axId val="2143261919"/>
        <c:axId val="2143263839"/>
      </c:lineChart>
      <c:catAx>
        <c:axId val="2143261919"/>
        <c:scaling>
          <c:orientation val="minMax"/>
        </c:scaling>
        <c:delete val="1"/>
        <c:axPos val="b"/>
        <c:numFmt formatCode="General" sourceLinked="1"/>
        <c:majorTickMark val="none"/>
        <c:minorTickMark val="none"/>
        <c:tickLblPos val="nextTo"/>
        <c:crossAx val="2143263839"/>
        <c:crosses val="autoZero"/>
        <c:auto val="1"/>
        <c:lblAlgn val="ctr"/>
        <c:lblOffset val="100"/>
        <c:noMultiLvlLbl val="0"/>
      </c:catAx>
      <c:valAx>
        <c:axId val="2143263839"/>
        <c:scaling>
          <c:orientation val="minMax"/>
        </c:scaling>
        <c:delete val="1"/>
        <c:axPos val="l"/>
        <c:numFmt formatCode="0%" sourceLinked="1"/>
        <c:majorTickMark val="none"/>
        <c:minorTickMark val="none"/>
        <c:tickLblPos val="nextTo"/>
        <c:crossAx val="21432619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overall quality of the rep’s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55461419753086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0FF-44DE-BE13-4D23AE751F9C}"/>
                </c:ext>
              </c:extLst>
            </c:dLbl>
            <c:dLbl>
              <c:idx val="1"/>
              <c:layout>
                <c:manualLayout>
                  <c:x val="-4.3114589539271178E-2"/>
                  <c:y val="-0.249773148148148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0FF-44DE-BE13-4D23AE751F9C}"/>
                </c:ext>
              </c:extLst>
            </c:dLbl>
            <c:dLbl>
              <c:idx val="2"/>
              <c:layout>
                <c:manualLayout>
                  <c:x val="-4.3114589539271178E-2"/>
                  <c:y val="0.157097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0FF-44DE-BE13-4D23AE751F9C}"/>
                </c:ext>
              </c:extLst>
            </c:dLbl>
            <c:dLbl>
              <c:idx val="3"/>
              <c:layout>
                <c:manualLayout>
                  <c:x val="-4.3114589539271178E-2"/>
                  <c:y val="-0.19857870370370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0FF-44DE-BE13-4D23AE751F9C}"/>
                </c:ext>
              </c:extLst>
            </c:dLbl>
            <c:dLbl>
              <c:idx val="4"/>
              <c:layout>
                <c:manualLayout>
                  <c:x val="-4.3114589539271178E-2"/>
                  <c:y val="9.4526234567901241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0FF-44DE-BE13-4D23AE751F9C}"/>
                </c:ext>
              </c:extLst>
            </c:dLbl>
            <c:dLbl>
              <c:idx val="5"/>
              <c:layout>
                <c:manualLayout>
                  <c:x val="-4.3114589539271178E-2"/>
                  <c:y val="0.174162037037037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0FF-44DE-BE13-4D23AE751F9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0.7</c:v>
                </c:pt>
                <c:pt idx="1">
                  <c:v>0.71</c:v>
                </c:pt>
                <c:pt idx="2">
                  <c:v>0.71</c:v>
                </c:pt>
                <c:pt idx="3">
                  <c:v>0.8</c:v>
                </c:pt>
                <c:pt idx="4">
                  <c:v>0.6</c:v>
                </c:pt>
                <c:pt idx="5">
                  <c:v>0.74</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The overall quality of the rep’s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15643209876543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0FF-44DE-BE13-4D23AE751F9C}"/>
                </c:ext>
              </c:extLst>
            </c:dLbl>
            <c:dLbl>
              <c:idx val="1"/>
              <c:layout>
                <c:manualLayout>
                  <c:x val="-4.3114589539271178E-2"/>
                  <c:y val="0.190561728395061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0FF-44DE-BE13-4D23AE751F9C}"/>
                </c:ext>
              </c:extLst>
            </c:dLbl>
            <c:dLbl>
              <c:idx val="2"/>
              <c:layout>
                <c:manualLayout>
                  <c:x val="-4.3114589539271178E-2"/>
                  <c:y val="-0.199243827160493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0FF-44DE-BE13-4D23AE751F9C}"/>
                </c:ext>
              </c:extLst>
            </c:dLbl>
            <c:dLbl>
              <c:idx val="3"/>
              <c:layout>
                <c:manualLayout>
                  <c:x val="-4.3114589539271178E-2"/>
                  <c:y val="0.190561728395061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0FF-44DE-BE13-4D23AE751F9C}"/>
                </c:ext>
              </c:extLst>
            </c:dLbl>
            <c:dLbl>
              <c:idx val="4"/>
              <c:layout>
                <c:manualLayout>
                  <c:x val="-4.3114589539271178E-2"/>
                  <c:y val="-0.1935555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0FF-44DE-BE13-4D23AE751F9C}"/>
                </c:ext>
              </c:extLst>
            </c:dLbl>
            <c:dLbl>
              <c:idx val="5"/>
              <c:layout>
                <c:manualLayout>
                  <c:x val="-4.3114589539271178E-2"/>
                  <c:y val="-0.1366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0FF-44DE-BE13-4D23AE751F9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0.65</c:v>
                </c:pt>
                <c:pt idx="1">
                  <c:v>0.71</c:v>
                </c:pt>
                <c:pt idx="2">
                  <c:v>0.74</c:v>
                </c:pt>
                <c:pt idx="3">
                  <c:v>0.71</c:v>
                </c:pt>
                <c:pt idx="4">
                  <c:v>0.75</c:v>
                </c:pt>
                <c:pt idx="5">
                  <c:v>0.85</c:v>
                </c:pt>
              </c:numCache>
            </c:numRef>
          </c:val>
          <c:smooth val="0"/>
          <c:extLst>
            <c:ext xmlns:c16="http://schemas.microsoft.com/office/drawing/2014/chart" uri="{C3380CC4-5D6E-409C-BE32-E72D297353CC}">
              <c16:uniqueId val="{00000008-80FF-44DE-BE13-4D23AE751F9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preparedness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10620370370370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4D9-40F3-B9B1-5130FEE587D9}"/>
                </c:ext>
              </c:extLst>
            </c:dLbl>
            <c:dLbl>
              <c:idx val="1"/>
              <c:layout>
                <c:manualLayout>
                  <c:x val="-4.3114589539271178E-2"/>
                  <c:y val="0.249277777777777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4D9-40F3-B9B1-5130FEE587D9}"/>
                </c:ext>
              </c:extLst>
            </c:dLbl>
            <c:dLbl>
              <c:idx val="2"/>
              <c:layout>
                <c:manualLayout>
                  <c:x val="-4.3114589539271178E-2"/>
                  <c:y val="-0.204932098765432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4D9-40F3-B9B1-5130FEE587D9}"/>
                </c:ext>
              </c:extLst>
            </c:dLbl>
            <c:dLbl>
              <c:idx val="3"/>
              <c:layout>
                <c:manualLayout>
                  <c:x val="-4.3114589539271178E-2"/>
                  <c:y val="-0.17649074074074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4D9-40F3-B9B1-5130FEE587D9}"/>
                </c:ext>
              </c:extLst>
            </c:dLbl>
            <c:dLbl>
              <c:idx val="4"/>
              <c:layout>
                <c:manualLayout>
                  <c:x val="-4.3114589539271178E-2"/>
                  <c:y val="0.249277777777777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4D9-40F3-B9B1-5130FEE587D9}"/>
                </c:ext>
              </c:extLst>
            </c:dLbl>
            <c:dLbl>
              <c:idx val="5"/>
              <c:layout>
                <c:manualLayout>
                  <c:x val="-4.3114589539271178E-2"/>
                  <c:y val="-0.148049382716049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4D9-40F3-B9B1-5130FEE587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0.72</c:v>
                </c:pt>
                <c:pt idx="1">
                  <c:v>0.74</c:v>
                </c:pt>
                <c:pt idx="2">
                  <c:v>0.73</c:v>
                </c:pt>
                <c:pt idx="3">
                  <c:v>0.78</c:v>
                </c:pt>
                <c:pt idx="4">
                  <c:v>0.75</c:v>
                </c:pt>
                <c:pt idx="5">
                  <c:v>0.83</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The rep’s preparedness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4D9-40F3-B9B1-5130FEE587D9}"/>
                </c:ext>
              </c:extLst>
            </c:dLbl>
            <c:dLbl>
              <c:idx val="1"/>
              <c:layout>
                <c:manualLayout>
                  <c:x val="-4.3114589539271178E-2"/>
                  <c:y val="-0.20995524691358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4D9-40F3-B9B1-5130FEE587D9}"/>
                </c:ext>
              </c:extLst>
            </c:dLbl>
            <c:dLbl>
              <c:idx val="2"/>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4D9-40F3-B9B1-5130FEE587D9}"/>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4D9-40F3-B9B1-5130FEE587D9}"/>
                </c:ext>
              </c:extLst>
            </c:dLbl>
            <c:dLbl>
              <c:idx val="4"/>
              <c:layout>
                <c:manualLayout>
                  <c:x val="-4.3114589539271178E-2"/>
                  <c:y val="-0.204266975308641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4D9-40F3-B9B1-5130FEE587D9}"/>
                </c:ext>
              </c:extLst>
            </c:dLbl>
            <c:dLbl>
              <c:idx val="5"/>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4D9-40F3-B9B1-5130FEE587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0.63</c:v>
                </c:pt>
                <c:pt idx="1">
                  <c:v>0.78</c:v>
                </c:pt>
                <c:pt idx="2">
                  <c:v>0.64</c:v>
                </c:pt>
                <c:pt idx="3">
                  <c:v>0.71</c:v>
                </c:pt>
                <c:pt idx="4">
                  <c:v>0.79</c:v>
                </c:pt>
                <c:pt idx="5">
                  <c:v>0.73</c:v>
                </c:pt>
              </c:numCache>
            </c:numRef>
          </c:val>
          <c:smooth val="0"/>
          <c:extLst>
            <c:ext xmlns:c16="http://schemas.microsoft.com/office/drawing/2014/chart" uri="{C3380CC4-5D6E-409C-BE32-E72D297353CC}">
              <c16:uniqueId val="{00000001-80FF-44DE-BE13-4D23AE751F9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092797388541357E-2"/>
          <c:y val="0.21558641975308643"/>
          <c:w val="0.94581440522291726"/>
          <c:h val="0.74521604938271613"/>
        </c:manualLayout>
      </c:layout>
      <c:lineChart>
        <c:grouping val="standard"/>
        <c:varyColors val="0"/>
        <c:ser>
          <c:idx val="0"/>
          <c:order val="0"/>
          <c:tx>
            <c:strRef>
              <c:f>Sheet1!$B$1:$B$2</c:f>
              <c:strCache>
                <c:ptCount val="2"/>
                <c:pt idx="0">
                  <c:v>CREON</c:v>
                </c:pt>
                <c:pt idx="1">
                  <c:v>The rep’s understanding of insurance and access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61814814814814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652-41FC-ABC8-5979898504A5}"/>
                </c:ext>
              </c:extLst>
            </c:dLbl>
            <c:dLbl>
              <c:idx val="1"/>
              <c:layout>
                <c:manualLayout>
                  <c:x val="-4.3114589539271178E-2"/>
                  <c:y val="-0.232708333333333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652-41FC-ABC8-5979898504A5}"/>
                </c:ext>
              </c:extLst>
            </c:dLbl>
            <c:dLbl>
              <c:idx val="2"/>
              <c:layout>
                <c:manualLayout>
                  <c:x val="-4.3114589539271178E-2"/>
                  <c:y val="-0.249773148148148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652-41FC-ABC8-5979898504A5}"/>
                </c:ext>
              </c:extLst>
            </c:dLbl>
            <c:dLbl>
              <c:idx val="3"/>
              <c:layout>
                <c:manualLayout>
                  <c:x val="-4.3114589539271178E-2"/>
                  <c:y val="-0.27252623456790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652-41FC-ABC8-5979898504A5}"/>
                </c:ext>
              </c:extLst>
            </c:dLbl>
            <c:dLbl>
              <c:idx val="4"/>
              <c:layout>
                <c:manualLayout>
                  <c:x val="-4.3114589539271178E-2"/>
                  <c:y val="0.259538580246913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652-41FC-ABC8-5979898504A5}"/>
                </c:ext>
              </c:extLst>
            </c:dLbl>
            <c:dLbl>
              <c:idx val="5"/>
              <c:layout>
                <c:manualLayout>
                  <c:x val="-4.3114589539271178E-2"/>
                  <c:y val="-0.278214506172839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652-41FC-ABC8-5979898504A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0.63</c:v>
                </c:pt>
                <c:pt idx="1">
                  <c:v>0.74</c:v>
                </c:pt>
                <c:pt idx="2">
                  <c:v>0.71</c:v>
                </c:pt>
                <c:pt idx="3">
                  <c:v>0.67</c:v>
                </c:pt>
                <c:pt idx="4">
                  <c:v>0.57999999999999996</c:v>
                </c:pt>
                <c:pt idx="5">
                  <c:v>0.66</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The rep’s understanding of insurance and access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85E-2"/>
                  <c:y val="0.188745370370370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652-41FC-ABC8-5979898504A5}"/>
                </c:ext>
              </c:extLst>
            </c:dLbl>
            <c:dLbl>
              <c:idx val="1"/>
              <c:layout>
                <c:manualLayout>
                  <c:x val="-4.3114589539271178E-2"/>
                  <c:y val="0.16212037037037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652-41FC-ABC8-5979898504A5}"/>
                </c:ext>
              </c:extLst>
            </c:dLbl>
            <c:dLbl>
              <c:idx val="2"/>
              <c:layout>
                <c:manualLayout>
                  <c:x val="-4.3114589539271178E-2"/>
                  <c:y val="0.16212037037037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9652-41FC-ABC8-5979898504A5}"/>
                </c:ext>
              </c:extLst>
            </c:dLbl>
            <c:dLbl>
              <c:idx val="3"/>
              <c:layout>
                <c:manualLayout>
                  <c:x val="-4.3114589539271178E-2"/>
                  <c:y val="0.16212037037037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9652-41FC-ABC8-5979898504A5}"/>
                </c:ext>
              </c:extLst>
            </c:dLbl>
            <c:dLbl>
              <c:idx val="4"/>
              <c:layout>
                <c:manualLayout>
                  <c:x val="-4.3114589539271178E-2"/>
                  <c:y val="-0.244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9652-41FC-ABC8-5979898504A5}"/>
                </c:ext>
              </c:extLst>
            </c:dLbl>
            <c:dLbl>
              <c:idx val="5"/>
              <c:layout>
                <c:manualLayout>
                  <c:x val="-4.3114589539271178E-2"/>
                  <c:y val="0.1450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9652-41FC-ABC8-5979898504A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0.49</c:v>
                </c:pt>
                <c:pt idx="1">
                  <c:v>0.66</c:v>
                </c:pt>
                <c:pt idx="2">
                  <c:v>0.66</c:v>
                </c:pt>
                <c:pt idx="3">
                  <c:v>0.66</c:v>
                </c:pt>
                <c:pt idx="4">
                  <c:v>0.66</c:v>
                </c:pt>
                <c:pt idx="5">
                  <c:v>0.63</c:v>
                </c:pt>
              </c:numCache>
            </c:numRef>
          </c:val>
          <c:smooth val="0"/>
          <c:extLst>
            <c:ext xmlns:c16="http://schemas.microsoft.com/office/drawing/2014/chart" uri="{C3380CC4-5D6E-409C-BE32-E72D297353CC}">
              <c16:uniqueId val="{00000006-9652-41FC-ABC8-5979898504A5}"/>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How well the rep performed in providing a compelling reason to prescribe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2133179012345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8B7-405F-99C2-820D58A29DEB}"/>
                </c:ext>
              </c:extLst>
            </c:dLbl>
            <c:dLbl>
              <c:idx val="1"/>
              <c:layout>
                <c:manualLayout>
                  <c:x val="-4.3114589539271178E-2"/>
                  <c:y val="-0.199243827160493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8B7-405F-99C2-820D58A29DEB}"/>
                </c:ext>
              </c:extLst>
            </c:dLbl>
            <c:dLbl>
              <c:idx val="2"/>
              <c:layout>
                <c:manualLayout>
                  <c:x val="-4.3114589539271178E-2"/>
                  <c:y val="-0.2383966049382716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8B7-405F-99C2-820D58A29DEB}"/>
                </c:ext>
              </c:extLst>
            </c:dLbl>
            <c:dLbl>
              <c:idx val="3"/>
              <c:layout>
                <c:manualLayout>
                  <c:x val="-4.3114589539271178E-2"/>
                  <c:y val="-0.20995524691358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8B7-405F-99C2-820D58A29DEB}"/>
                </c:ext>
              </c:extLst>
            </c:dLbl>
            <c:dLbl>
              <c:idx val="4"/>
              <c:layout>
                <c:manualLayout>
                  <c:x val="-4.3114589539271178E-2"/>
                  <c:y val="0.145720679012345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8B7-405F-99C2-820D58A29DEB}"/>
                </c:ext>
              </c:extLst>
            </c:dLbl>
            <c:dLbl>
              <c:idx val="5"/>
              <c:layout>
                <c:manualLayout>
                  <c:x val="-4.3114589539271178E-2"/>
                  <c:y val="0.151408950617283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8B7-405F-99C2-820D58A29DE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0.76</c:v>
                </c:pt>
                <c:pt idx="1">
                  <c:v>0.74</c:v>
                </c:pt>
                <c:pt idx="2">
                  <c:v>0.73</c:v>
                </c:pt>
                <c:pt idx="3">
                  <c:v>0.78</c:v>
                </c:pt>
                <c:pt idx="4">
                  <c:v>0.69</c:v>
                </c:pt>
                <c:pt idx="5">
                  <c:v>0.7</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How well the rep performed in providing a compelling reason to prescribe CREON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167808641975308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8B7-405F-99C2-820D58A29DEB}"/>
                </c:ext>
              </c:extLst>
            </c:dLbl>
            <c:dLbl>
              <c:idx val="1"/>
              <c:layout>
                <c:manualLayout>
                  <c:x val="-4.3114589539271178E-2"/>
                  <c:y val="0.10021450617283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8B7-405F-99C2-820D58A29DEB}"/>
                </c:ext>
              </c:extLst>
            </c:dLbl>
            <c:dLbl>
              <c:idx val="2"/>
              <c:layout>
                <c:manualLayout>
                  <c:x val="-4.3114589539271178E-2"/>
                  <c:y val="0.162120370370370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8B7-405F-99C2-820D58A29DEB}"/>
                </c:ext>
              </c:extLst>
            </c:dLbl>
            <c:dLbl>
              <c:idx val="3"/>
              <c:layout>
                <c:manualLayout>
                  <c:x val="-4.3114589539271178E-2"/>
                  <c:y val="0.1962500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8B7-405F-99C2-820D58A29DEB}"/>
                </c:ext>
              </c:extLst>
            </c:dLbl>
            <c:dLbl>
              <c:idx val="4"/>
              <c:layout>
                <c:manualLayout>
                  <c:x val="-4.3114589539271178E-2"/>
                  <c:y val="-0.22199691358024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8B7-405F-99C2-820D58A29DEB}"/>
                </c:ext>
              </c:extLst>
            </c:dLbl>
            <c:dLbl>
              <c:idx val="5"/>
              <c:layout>
                <c:manualLayout>
                  <c:x val="-4.3114589539271178E-2"/>
                  <c:y val="-0.182179012345679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8B7-405F-99C2-820D58A29DE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0.67</c:v>
                </c:pt>
                <c:pt idx="1">
                  <c:v>0.61</c:v>
                </c:pt>
                <c:pt idx="2">
                  <c:v>0.66</c:v>
                </c:pt>
                <c:pt idx="3">
                  <c:v>0.72</c:v>
                </c:pt>
                <c:pt idx="4">
                  <c:v>0.7</c:v>
                </c:pt>
                <c:pt idx="5">
                  <c:v>0.77</c:v>
                </c:pt>
              </c:numCache>
            </c:numRef>
          </c:val>
          <c:smooth val="0"/>
          <c:extLst>
            <c:ext xmlns:c16="http://schemas.microsoft.com/office/drawing/2014/chart" uri="{C3380CC4-5D6E-409C-BE32-E72D297353CC}">
              <c16:uniqueId val="{00000001-80FF-44DE-BE13-4D23AE751F9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knowledge of the product being discussed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187867283950617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89E-44C3-8E38-D3ADB001C0D9}"/>
                </c:ext>
              </c:extLst>
            </c:dLbl>
            <c:dLbl>
              <c:idx val="1"/>
              <c:layout>
                <c:manualLayout>
                  <c:x val="-4.3114589539271178E-2"/>
                  <c:y val="-0.159425925925925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89E-44C3-8E38-D3ADB001C0D9}"/>
                </c:ext>
              </c:extLst>
            </c:dLbl>
            <c:dLbl>
              <c:idx val="2"/>
              <c:layout>
                <c:manualLayout>
                  <c:x val="-4.3114589539271178E-2"/>
                  <c:y val="0.266342592592592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1E8-42F3-B240-2D80E5D7EB89}"/>
                </c:ext>
              </c:extLst>
            </c:dLbl>
            <c:dLbl>
              <c:idx val="3"/>
              <c:layout>
                <c:manualLayout>
                  <c:x val="-4.3114589539271178E-2"/>
                  <c:y val="0.249277777777777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1E8-42F3-B240-2D80E5D7EB89}"/>
                </c:ext>
              </c:extLst>
            </c:dLbl>
            <c:dLbl>
              <c:idx val="4"/>
              <c:layout>
                <c:manualLayout>
                  <c:x val="-4.3114589539271178E-2"/>
                  <c:y val="0.232212962962962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89E-44C3-8E38-D3ADB001C0D9}"/>
                </c:ext>
              </c:extLst>
            </c:dLbl>
            <c:dLbl>
              <c:idx val="5"/>
              <c:layout>
                <c:manualLayout>
                  <c:x val="-4.3114589539271178E-2"/>
                  <c:y val="0.226524691358024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89E-44C3-8E38-D3ADB001C0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0.76</c:v>
                </c:pt>
                <c:pt idx="1">
                  <c:v>0.81</c:v>
                </c:pt>
                <c:pt idx="2">
                  <c:v>0.73</c:v>
                </c:pt>
                <c:pt idx="3">
                  <c:v>0.78</c:v>
                </c:pt>
                <c:pt idx="4">
                  <c:v>0.75</c:v>
                </c:pt>
                <c:pt idx="5">
                  <c:v>0.77</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The rep’s knowledge of the product being discussed</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89E-44C3-8E38-D3ADB001C0D9}"/>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89E-44C3-8E38-D3ADB001C0D9}"/>
                </c:ext>
              </c:extLst>
            </c:dLbl>
            <c:dLbl>
              <c:idx val="2"/>
              <c:layout>
                <c:manualLayout>
                  <c:x val="-4.3114589539271178E-2"/>
                  <c:y val="-0.232708333333333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1E8-42F3-B240-2D80E5D7EB89}"/>
                </c:ext>
              </c:extLst>
            </c:dLbl>
            <c:dLbl>
              <c:idx val="3"/>
              <c:layout>
                <c:manualLayout>
                  <c:x val="-4.3114589539271178E-2"/>
                  <c:y val="-0.187202160493827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1E8-42F3-B240-2D80E5D7EB89}"/>
                </c:ext>
              </c:extLst>
            </c:dLbl>
            <c:dLbl>
              <c:idx val="4"/>
              <c:layout>
                <c:manualLayout>
                  <c:x val="-4.3114589539271178E-2"/>
                  <c:y val="-0.187202160493827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89E-44C3-8E38-D3ADB001C0D9}"/>
                </c:ext>
              </c:extLst>
            </c:dLbl>
            <c:dLbl>
              <c:idx val="5"/>
              <c:layout>
                <c:manualLayout>
                  <c:x val="-4.3114589539271178E-2"/>
                  <c:y val="-0.170137345679012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89E-44C3-8E38-D3ADB001C0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0.69</c:v>
                </c:pt>
                <c:pt idx="1">
                  <c:v>0.69</c:v>
                </c:pt>
                <c:pt idx="2">
                  <c:v>0.74</c:v>
                </c:pt>
                <c:pt idx="3">
                  <c:v>0.82</c:v>
                </c:pt>
                <c:pt idx="4">
                  <c:v>0.82</c:v>
                </c:pt>
                <c:pt idx="5">
                  <c:v>0.85</c:v>
                </c:pt>
              </c:numCache>
            </c:numRef>
          </c:val>
          <c:smooth val="0"/>
          <c:extLst>
            <c:ext xmlns:c16="http://schemas.microsoft.com/office/drawing/2014/chart" uri="{C3380CC4-5D6E-409C-BE32-E72D297353CC}">
              <c16:uniqueId val="{00000001-80FF-44DE-BE13-4D23AE751F9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ability to execute a smooth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928-44C0-BF8D-0AF6F0AFED5A}"/>
                </c:ext>
              </c:extLst>
            </c:dLbl>
            <c:dLbl>
              <c:idx val="1"/>
              <c:layout>
                <c:manualLayout>
                  <c:x val="-4.3114589539271178E-2"/>
                  <c:y val="-0.17080246913580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928-44C0-BF8D-0AF6F0AFED5A}"/>
                </c:ext>
              </c:extLst>
            </c:dLbl>
            <c:dLbl>
              <c:idx val="2"/>
              <c:layout>
                <c:manualLayout>
                  <c:x val="-4.3114589539271178E-2"/>
                  <c:y val="0.25496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928-44C0-BF8D-0AF6F0AFED5A}"/>
                </c:ext>
              </c:extLst>
            </c:dLbl>
            <c:dLbl>
              <c:idx val="3"/>
              <c:layout>
                <c:manualLayout>
                  <c:x val="-4.3114589539271178E-2"/>
                  <c:y val="-0.216308641975308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928-44C0-BF8D-0AF6F0AFED5A}"/>
                </c:ext>
              </c:extLst>
            </c:dLbl>
            <c:dLbl>
              <c:idx val="4"/>
              <c:layout>
                <c:manualLayout>
                  <c:x val="-4.3114589539271178E-2"/>
                  <c:y val="0.220836419753086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928-44C0-BF8D-0AF6F0AFED5A}"/>
                </c:ext>
              </c:extLst>
            </c:dLbl>
            <c:dLbl>
              <c:idx val="5"/>
              <c:layout>
                <c:manualLayout>
                  <c:x val="-4.3114589539271178E-2"/>
                  <c:y val="0.226524691358024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928-44C0-BF8D-0AF6F0AFED5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0.67</c:v>
                </c:pt>
                <c:pt idx="1">
                  <c:v>0.79</c:v>
                </c:pt>
                <c:pt idx="2">
                  <c:v>0.73</c:v>
                </c:pt>
                <c:pt idx="3">
                  <c:v>0.71</c:v>
                </c:pt>
                <c:pt idx="4">
                  <c:v>0.63</c:v>
                </c:pt>
                <c:pt idx="5">
                  <c:v>0.77</c:v>
                </c:pt>
              </c:numCache>
            </c:numRef>
          </c:val>
          <c:smooth val="0"/>
          <c:extLst>
            <c:ext xmlns:c16="http://schemas.microsoft.com/office/drawing/2014/chart" uri="{C3380CC4-5D6E-409C-BE32-E72D297353CC}">
              <c16:uniqueId val="{00000000-80FF-44DE-BE13-4D23AE751F9C}"/>
            </c:ext>
          </c:extLst>
        </c:ser>
        <c:ser>
          <c:idx val="1"/>
          <c:order val="1"/>
          <c:tx>
            <c:strRef>
              <c:f>Sheet1!$C$1:$C$2</c:f>
              <c:strCache>
                <c:ptCount val="2"/>
                <c:pt idx="0">
                  <c:v>ZENPEP</c:v>
                </c:pt>
                <c:pt idx="1">
                  <c:v>The rep’s ability to execute a smooth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7252623456790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928-44C0-BF8D-0AF6F0AFED5A}"/>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928-44C0-BF8D-0AF6F0AFED5A}"/>
                </c:ext>
              </c:extLst>
            </c:dLbl>
            <c:dLbl>
              <c:idx val="2"/>
              <c:layout>
                <c:manualLayout>
                  <c:x val="-4.3114589539271178E-2"/>
                  <c:y val="-0.22133179012345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928-44C0-BF8D-0AF6F0AFED5A}"/>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928-44C0-BF8D-0AF6F0AFED5A}"/>
                </c:ext>
              </c:extLst>
            </c:dLbl>
            <c:dLbl>
              <c:idx val="4"/>
              <c:layout>
                <c:manualLayout>
                  <c:x val="-4.3114589539271178E-2"/>
                  <c:y val="-0.244084876543209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928-44C0-BF8D-0AF6F0AFED5A}"/>
                </c:ext>
              </c:extLst>
            </c:dLbl>
            <c:dLbl>
              <c:idx val="5"/>
              <c:layout>
                <c:manualLayout>
                  <c:x val="-4.3114589539271178E-2"/>
                  <c:y val="-0.170137345679012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928-44C0-BF8D-0AF6F0AFED5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Sheet1!$C$3:$C$8</c:f>
              <c:numCache>
                <c:formatCode>0%</c:formatCode>
                <c:ptCount val="6"/>
                <c:pt idx="0">
                  <c:v>0.67</c:v>
                </c:pt>
                <c:pt idx="1">
                  <c:v>0.71</c:v>
                </c:pt>
                <c:pt idx="2">
                  <c:v>0.76</c:v>
                </c:pt>
                <c:pt idx="3">
                  <c:v>0.66</c:v>
                </c:pt>
                <c:pt idx="4">
                  <c:v>0.72</c:v>
                </c:pt>
                <c:pt idx="5">
                  <c:v>0.85</c:v>
                </c:pt>
              </c:numCache>
            </c:numRef>
          </c:val>
          <c:smooth val="0"/>
          <c:extLst>
            <c:ext xmlns:c16="http://schemas.microsoft.com/office/drawing/2014/chart" uri="{C3380CC4-5D6E-409C-BE32-E72D297353CC}">
              <c16:uniqueId val="{00000001-80FF-44DE-BE13-4D23AE751F9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overall quality of the rep’s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7.9790123456790124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778-4CAC-8DFD-745C8621796C}"/>
                </c:ext>
              </c:extLst>
            </c:dLbl>
            <c:dLbl>
              <c:idx val="1"/>
              <c:layout>
                <c:manualLayout>
                  <c:x val="-4.3114589539271178E-2"/>
                  <c:y val="-0.1366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778-4CAC-8DFD-745C8621796C}"/>
                </c:ext>
              </c:extLst>
            </c:dLbl>
            <c:dLbl>
              <c:idx val="2"/>
              <c:layout>
                <c:manualLayout>
                  <c:x val="-4.3114589539271178E-2"/>
                  <c:y val="-9.685493827160493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778-4CAC-8DFD-745C8621796C}"/>
                </c:ext>
              </c:extLst>
            </c:dLbl>
            <c:dLbl>
              <c:idx val="3"/>
              <c:layout>
                <c:manualLayout>
                  <c:x val="-4.3114589539271178E-2"/>
                  <c:y val="-0.10823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778-4CAC-8DFD-745C8621796C}"/>
                </c:ext>
              </c:extLst>
            </c:dLbl>
            <c:dLbl>
              <c:idx val="4"/>
              <c:layout>
                <c:manualLayout>
                  <c:x val="-4.3114589539271178E-2"/>
                  <c:y val="0.243589506172839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778-4CAC-8DFD-745C8621796C}"/>
                </c:ext>
              </c:extLst>
            </c:dLbl>
            <c:dLbl>
              <c:idx val="5"/>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778-4CAC-8DFD-745C8621796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0.95</c:v>
                </c:pt>
                <c:pt idx="1">
                  <c:v>0.85</c:v>
                </c:pt>
                <c:pt idx="2">
                  <c:v>0.92</c:v>
                </c:pt>
                <c:pt idx="3">
                  <c:v>0.9</c:v>
                </c:pt>
                <c:pt idx="4">
                  <c:v>0.83</c:v>
                </c:pt>
                <c:pt idx="5">
                  <c:v>0.86</c:v>
                </c:pt>
              </c:numCache>
            </c:numRef>
          </c:val>
          <c:smooth val="0"/>
          <c:extLst>
            <c:ext xmlns:c16="http://schemas.microsoft.com/office/drawing/2014/chart" uri="{C3380CC4-5D6E-409C-BE32-E72D297353CC}">
              <c16:uniqueId val="{00000000-645D-4695-BEC6-DD1366944737}"/>
            </c:ext>
          </c:extLst>
        </c:ser>
        <c:ser>
          <c:idx val="1"/>
          <c:order val="1"/>
          <c:tx>
            <c:strRef>
              <c:f>Sheet1!$C$1:$C$2</c:f>
              <c:strCache>
                <c:ptCount val="2"/>
                <c:pt idx="0">
                  <c:v>ZENPEP</c:v>
                </c:pt>
                <c:pt idx="1">
                  <c:v>The overall quality of the rep’s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778-4CAC-8DFD-745C8621796C}"/>
                </c:ext>
              </c:extLst>
            </c:dLbl>
            <c:dLbl>
              <c:idx val="1"/>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778-4CAC-8DFD-745C8621796C}"/>
                </c:ext>
              </c:extLst>
            </c:dLbl>
            <c:dLbl>
              <c:idx val="2"/>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778-4CAC-8DFD-745C8621796C}"/>
                </c:ext>
              </c:extLst>
            </c:dLbl>
            <c:dLbl>
              <c:idx val="3"/>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778-4CAC-8DFD-745C8621796C}"/>
                </c:ext>
              </c:extLst>
            </c:dLbl>
            <c:dLbl>
              <c:idx val="4"/>
              <c:layout>
                <c:manualLayout>
                  <c:x val="-4.3114589539271178E-2"/>
                  <c:y val="-0.153072530864197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778-4CAC-8DFD-745C8621796C}"/>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778-4CAC-8DFD-745C8621796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0.87</c:v>
                </c:pt>
                <c:pt idx="1">
                  <c:v>0.83</c:v>
                </c:pt>
                <c:pt idx="2">
                  <c:v>0.79</c:v>
                </c:pt>
                <c:pt idx="3">
                  <c:v>0.88</c:v>
                </c:pt>
                <c:pt idx="4">
                  <c:v>0.88</c:v>
                </c:pt>
                <c:pt idx="5">
                  <c:v>0.79</c:v>
                </c:pt>
              </c:numCache>
            </c:numRef>
          </c:val>
          <c:smooth val="0"/>
          <c:extLst>
            <c:ext xmlns:c16="http://schemas.microsoft.com/office/drawing/2014/chart" uri="{C3380CC4-5D6E-409C-BE32-E72D297353CC}">
              <c16:uniqueId val="{00000001-645D-4695-BEC6-DD1366944737}"/>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preparedness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113919753086419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64C-46CF-B9BB-E4D0C0232B45}"/>
                </c:ext>
              </c:extLst>
            </c:dLbl>
            <c:dLbl>
              <c:idx val="1"/>
              <c:layout>
                <c:manualLayout>
                  <c:x val="-4.3114589539271178E-2"/>
                  <c:y val="0.220836419753086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A0F-4B13-A669-B8D57B8AB12D}"/>
                </c:ext>
              </c:extLst>
            </c:dLbl>
            <c:dLbl>
              <c:idx val="2"/>
              <c:layout>
                <c:manualLayout>
                  <c:x val="-4.3114589539271178E-2"/>
                  <c:y val="-9.685493827160493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64C-46CF-B9BB-E4D0C0232B45}"/>
                </c:ext>
              </c:extLst>
            </c:dLbl>
            <c:dLbl>
              <c:idx val="3"/>
              <c:layout>
                <c:manualLayout>
                  <c:x val="-4.3114589539271178E-2"/>
                  <c:y val="-7.9790123456790124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64C-46CF-B9BB-E4D0C0232B45}"/>
                </c:ext>
              </c:extLst>
            </c:dLbl>
            <c:dLbl>
              <c:idx val="4"/>
              <c:layout>
                <c:manualLayout>
                  <c:x val="-4.3114589539271178E-2"/>
                  <c:y val="0.237901234567901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64C-46CF-B9BB-E4D0C0232B45}"/>
                </c:ext>
              </c:extLst>
            </c:dLbl>
            <c:dLbl>
              <c:idx val="5"/>
              <c:layout>
                <c:manualLayout>
                  <c:x val="-4.3114589539271178E-2"/>
                  <c:y val="0.25496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64C-46CF-B9BB-E4D0C0232B4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0.89</c:v>
                </c:pt>
                <c:pt idx="1">
                  <c:v>0.85</c:v>
                </c:pt>
                <c:pt idx="2">
                  <c:v>0.92</c:v>
                </c:pt>
                <c:pt idx="3">
                  <c:v>0.95</c:v>
                </c:pt>
                <c:pt idx="4">
                  <c:v>0.88</c:v>
                </c:pt>
                <c:pt idx="5">
                  <c:v>0.86</c:v>
                </c:pt>
              </c:numCache>
            </c:numRef>
          </c:val>
          <c:smooth val="0"/>
          <c:extLst>
            <c:ext xmlns:c16="http://schemas.microsoft.com/office/drawing/2014/chart" uri="{C3380CC4-5D6E-409C-BE32-E72D297353CC}">
              <c16:uniqueId val="{00000000-FA0F-4B13-A669-B8D57B8AB12D}"/>
            </c:ext>
          </c:extLst>
        </c:ser>
        <c:ser>
          <c:idx val="1"/>
          <c:order val="1"/>
          <c:tx>
            <c:strRef>
              <c:f>Sheet1!$C$1:$C$2</c:f>
              <c:strCache>
                <c:ptCount val="2"/>
                <c:pt idx="0">
                  <c:v>ZENPEP</c:v>
                </c:pt>
                <c:pt idx="1">
                  <c:v>The rep’s preparedness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64C-46CF-B9BB-E4D0C0232B45}"/>
                </c:ext>
              </c:extLst>
            </c:dLbl>
            <c:dLbl>
              <c:idx val="1"/>
              <c:layout>
                <c:manualLayout>
                  <c:x val="-4.3114589539271178E-2"/>
                  <c:y val="-0.11894290123456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A0F-4B13-A669-B8D57B8AB12D}"/>
                </c:ext>
              </c:extLst>
            </c:dLbl>
            <c:dLbl>
              <c:idx val="2"/>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64C-46CF-B9BB-E4D0C0232B45}"/>
                </c:ext>
              </c:extLst>
            </c:dLbl>
            <c:dLbl>
              <c:idx val="3"/>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64C-46CF-B9BB-E4D0C0232B45}"/>
                </c:ext>
              </c:extLst>
            </c:dLbl>
            <c:dLbl>
              <c:idx val="4"/>
              <c:layout>
                <c:manualLayout>
                  <c:x val="-4.3114589539271178E-2"/>
                  <c:y val="-0.11894290123456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64C-46CF-B9BB-E4D0C0232B45}"/>
                </c:ext>
              </c:extLst>
            </c:dLbl>
            <c:dLbl>
              <c:idx val="5"/>
              <c:layout>
                <c:manualLayout>
                  <c:x val="-4.3114589539271178E-2"/>
                  <c:y val="-0.147384259259259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64C-46CF-B9BB-E4D0C0232B4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0.87</c:v>
                </c:pt>
                <c:pt idx="1">
                  <c:v>0.94</c:v>
                </c:pt>
                <c:pt idx="2">
                  <c:v>0.79</c:v>
                </c:pt>
                <c:pt idx="3">
                  <c:v>0.88</c:v>
                </c:pt>
                <c:pt idx="4">
                  <c:v>0.94</c:v>
                </c:pt>
                <c:pt idx="5">
                  <c:v>0.89</c:v>
                </c:pt>
              </c:numCache>
            </c:numRef>
          </c:val>
          <c:smooth val="0"/>
          <c:extLst>
            <c:ext xmlns:c16="http://schemas.microsoft.com/office/drawing/2014/chart" uri="{C3380CC4-5D6E-409C-BE32-E72D297353CC}">
              <c16:uniqueId val="{00000001-FA0F-4B13-A669-B8D57B8AB12D}"/>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understanding of insurance and access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17080246913580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7EE-4486-9F85-ACCD46BABC7F}"/>
                </c:ext>
              </c:extLst>
            </c:dLbl>
            <c:dLbl>
              <c:idx val="1"/>
              <c:layout>
                <c:manualLayout>
                  <c:x val="-4.3114589539271178E-2"/>
                  <c:y val="-0.1366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7EE-4486-9F85-ACCD46BABC7F}"/>
                </c:ext>
              </c:extLst>
            </c:dLbl>
            <c:dLbl>
              <c:idx val="2"/>
              <c:layout>
                <c:manualLayout>
                  <c:x val="-4.3114589539271178E-2"/>
                  <c:y val="-0.1935555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7EE-4486-9F85-ACCD46BABC7F}"/>
                </c:ext>
              </c:extLst>
            </c:dLbl>
            <c:dLbl>
              <c:idx val="3"/>
              <c:layout>
                <c:manualLayout>
                  <c:x val="-4.3114589539271178E-2"/>
                  <c:y val="-0.187867283950617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7EE-4486-9F85-ACCD46BABC7F}"/>
                </c:ext>
              </c:extLst>
            </c:dLbl>
            <c:dLbl>
              <c:idx val="4"/>
              <c:layout>
                <c:manualLayout>
                  <c:x val="-4.3114589539271178E-2"/>
                  <c:y val="-0.17080246913580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7EE-4486-9F85-ACCD46BABC7F}"/>
                </c:ext>
              </c:extLst>
            </c:dLbl>
            <c:dLbl>
              <c:idx val="5"/>
              <c:layout>
                <c:manualLayout>
                  <c:x val="-4.3114589539271178E-2"/>
                  <c:y val="-0.182179012345679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7EE-4486-9F85-ACCD46BABC7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0.79</c:v>
                </c:pt>
                <c:pt idx="1">
                  <c:v>0.85</c:v>
                </c:pt>
                <c:pt idx="2">
                  <c:v>0.75</c:v>
                </c:pt>
                <c:pt idx="3">
                  <c:v>0.76</c:v>
                </c:pt>
                <c:pt idx="4">
                  <c:v>0.79</c:v>
                </c:pt>
                <c:pt idx="5">
                  <c:v>0.77</c:v>
                </c:pt>
              </c:numCache>
            </c:numRef>
          </c:val>
          <c:smooth val="0"/>
          <c:extLst>
            <c:ext xmlns:c16="http://schemas.microsoft.com/office/drawing/2014/chart" uri="{C3380CC4-5D6E-409C-BE32-E72D297353CC}">
              <c16:uniqueId val="{00000000-07CA-4C59-9E0D-E418A3225C06}"/>
            </c:ext>
          </c:extLst>
        </c:ser>
        <c:ser>
          <c:idx val="1"/>
          <c:order val="1"/>
          <c:tx>
            <c:strRef>
              <c:f>Sheet1!$C$1:$C$2</c:f>
              <c:strCache>
                <c:ptCount val="2"/>
                <c:pt idx="0">
                  <c:v>ZENPEP</c:v>
                </c:pt>
                <c:pt idx="1">
                  <c:v>The rep’s understanding of insurance and access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7EE-4486-9F85-ACCD46BABC7F}"/>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7EE-4486-9F85-ACCD46BABC7F}"/>
                </c:ext>
              </c:extLst>
            </c:dLbl>
            <c:dLbl>
              <c:idx val="2"/>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7EE-4486-9F85-ACCD46BABC7F}"/>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7EE-4486-9F85-ACCD46BABC7F}"/>
                </c:ext>
              </c:extLst>
            </c:dLbl>
            <c:dLbl>
              <c:idx val="4"/>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7EE-4486-9F85-ACCD46BABC7F}"/>
                </c:ext>
              </c:extLst>
            </c:dLbl>
            <c:dLbl>
              <c:idx val="5"/>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7EE-4486-9F85-ACCD46BABC7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0.73</c:v>
                </c:pt>
                <c:pt idx="1">
                  <c:v>0.67</c:v>
                </c:pt>
                <c:pt idx="2">
                  <c:v>0.43</c:v>
                </c:pt>
                <c:pt idx="3">
                  <c:v>0.75</c:v>
                </c:pt>
                <c:pt idx="4">
                  <c:v>0.75</c:v>
                </c:pt>
                <c:pt idx="5">
                  <c:v>0.74</c:v>
                </c:pt>
              </c:numCache>
            </c:numRef>
          </c:val>
          <c:smooth val="0"/>
          <c:extLst>
            <c:ext xmlns:c16="http://schemas.microsoft.com/office/drawing/2014/chart" uri="{C3380CC4-5D6E-409C-BE32-E72D297353CC}">
              <c16:uniqueId val="{00000001-07CA-4C59-9E0D-E418A3225C06}"/>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How well the rep performed in providing a compelling reason to prescribe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66342592592592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96A-4C74-8045-50BE1F2D941C}"/>
                </c:ext>
              </c:extLst>
            </c:dLbl>
            <c:dLbl>
              <c:idx val="1"/>
              <c:layout>
                <c:manualLayout>
                  <c:x val="-4.3114589539271178E-2"/>
                  <c:y val="-7.9790123456790124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96A-4C74-8045-50BE1F2D941C}"/>
                </c:ext>
              </c:extLst>
            </c:dLbl>
            <c:dLbl>
              <c:idx val="2"/>
              <c:layout>
                <c:manualLayout>
                  <c:x val="-4.3114589539271178E-2"/>
                  <c:y val="-0.1935555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96A-4C74-8045-50BE1F2D941C}"/>
                </c:ext>
              </c:extLst>
            </c:dLbl>
            <c:dLbl>
              <c:idx val="3"/>
              <c:layout>
                <c:manualLayout>
                  <c:x val="-4.3114589539271178E-2"/>
                  <c:y val="0.226524691358024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854-4804-B14C-C808EE43688B}"/>
                </c:ext>
              </c:extLst>
            </c:dLbl>
            <c:dLbl>
              <c:idx val="4"/>
              <c:layout>
                <c:manualLayout>
                  <c:x val="-4.3114589539271178E-2"/>
                  <c:y val="-9.685493827160493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96A-4C74-8045-50BE1F2D941C}"/>
                </c:ext>
              </c:extLst>
            </c:dLbl>
            <c:dLbl>
              <c:idx val="5"/>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96A-4C74-8045-50BE1F2D941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0.79</c:v>
                </c:pt>
                <c:pt idx="1">
                  <c:v>0.95</c:v>
                </c:pt>
                <c:pt idx="2">
                  <c:v>0.75</c:v>
                </c:pt>
                <c:pt idx="3">
                  <c:v>0.86</c:v>
                </c:pt>
                <c:pt idx="4">
                  <c:v>0.92</c:v>
                </c:pt>
                <c:pt idx="5">
                  <c:v>0.86</c:v>
                </c:pt>
              </c:numCache>
            </c:numRef>
          </c:val>
          <c:smooth val="0"/>
          <c:extLst>
            <c:ext xmlns:c16="http://schemas.microsoft.com/office/drawing/2014/chart" uri="{C3380CC4-5D6E-409C-BE32-E72D297353CC}">
              <c16:uniqueId val="{00000000-E854-4804-B14C-C808EE43688B}"/>
            </c:ext>
          </c:extLst>
        </c:ser>
        <c:ser>
          <c:idx val="1"/>
          <c:order val="1"/>
          <c:tx>
            <c:strRef>
              <c:f>Sheet1!$C$1:$C$2</c:f>
              <c:strCache>
                <c:ptCount val="2"/>
                <c:pt idx="0">
                  <c:v>ZENPEP</c:v>
                </c:pt>
                <c:pt idx="1">
                  <c:v>How well the rep performed in providing a compelling reason to prescribe CREON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19857870370370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96A-4C74-8045-50BE1F2D941C}"/>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96A-4C74-8045-50BE1F2D941C}"/>
                </c:ext>
              </c:extLst>
            </c:dLbl>
            <c:dLbl>
              <c:idx val="2"/>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96A-4C74-8045-50BE1F2D941C}"/>
                </c:ext>
              </c:extLst>
            </c:dLbl>
            <c:dLbl>
              <c:idx val="3"/>
              <c:layout>
                <c:manualLayout>
                  <c:x val="-4.3114589539271178E-2"/>
                  <c:y val="-0.11894290123456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854-4804-B14C-C808EE43688B}"/>
                </c:ext>
              </c:extLst>
            </c:dLbl>
            <c:dLbl>
              <c:idx val="4"/>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96A-4C74-8045-50BE1F2D941C}"/>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96A-4C74-8045-50BE1F2D941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0.8</c:v>
                </c:pt>
                <c:pt idx="1">
                  <c:v>0.89</c:v>
                </c:pt>
                <c:pt idx="2">
                  <c:v>0.5</c:v>
                </c:pt>
                <c:pt idx="3">
                  <c:v>0.94</c:v>
                </c:pt>
                <c:pt idx="4">
                  <c:v>0.88</c:v>
                </c:pt>
                <c:pt idx="5">
                  <c:v>0.79</c:v>
                </c:pt>
              </c:numCache>
            </c:numRef>
          </c:val>
          <c:smooth val="0"/>
          <c:extLst>
            <c:ext xmlns:c16="http://schemas.microsoft.com/office/drawing/2014/chart" uri="{C3380CC4-5D6E-409C-BE32-E72D297353CC}">
              <c16:uniqueId val="{00000001-E854-4804-B14C-C808EE43688B}"/>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knowledge of the product being discussed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10823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157-4480-8202-D2AB003247FD}"/>
                </c:ext>
              </c:extLst>
            </c:dLbl>
            <c:dLbl>
              <c:idx val="1"/>
              <c:layout>
                <c:manualLayout>
                  <c:x val="-4.3114589539271178E-2"/>
                  <c:y val="-0.108231481481481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157-4480-8202-D2AB003247FD}"/>
                </c:ext>
              </c:extLst>
            </c:dLbl>
            <c:dLbl>
              <c:idx val="2"/>
              <c:layout>
                <c:manualLayout>
                  <c:x val="-4.3114589539271178E-2"/>
                  <c:y val="-9.685493827160493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157-4480-8202-D2AB003247FD}"/>
                </c:ext>
              </c:extLst>
            </c:dLbl>
            <c:dLbl>
              <c:idx val="3"/>
              <c:layout>
                <c:manualLayout>
                  <c:x val="-4.3114589539271178E-2"/>
                  <c:y val="-0.16511419753086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157-4480-8202-D2AB003247FD}"/>
                </c:ext>
              </c:extLst>
            </c:dLbl>
            <c:dLbl>
              <c:idx val="4"/>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157-4480-8202-D2AB003247FD}"/>
                </c:ext>
              </c:extLst>
            </c:dLbl>
            <c:dLbl>
              <c:idx val="5"/>
              <c:layout>
                <c:manualLayout>
                  <c:x val="-4.3114589539271178E-2"/>
                  <c:y val="0.249277777777777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157-4480-8202-D2AB003247F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0.95</c:v>
                </c:pt>
                <c:pt idx="1">
                  <c:v>0.95</c:v>
                </c:pt>
                <c:pt idx="2">
                  <c:v>0.96</c:v>
                </c:pt>
                <c:pt idx="3">
                  <c:v>0.9</c:v>
                </c:pt>
                <c:pt idx="4">
                  <c:v>0.88</c:v>
                </c:pt>
                <c:pt idx="5">
                  <c:v>0.82</c:v>
                </c:pt>
              </c:numCache>
            </c:numRef>
          </c:val>
          <c:smooth val="0"/>
          <c:extLst>
            <c:ext xmlns:c16="http://schemas.microsoft.com/office/drawing/2014/chart" uri="{C3380CC4-5D6E-409C-BE32-E72D297353CC}">
              <c16:uniqueId val="{00000000-FA0F-4B13-A669-B8D57B8AB12D}"/>
            </c:ext>
          </c:extLst>
        </c:ser>
        <c:ser>
          <c:idx val="1"/>
          <c:order val="1"/>
          <c:tx>
            <c:strRef>
              <c:f>Sheet1!$C$1:$C$2</c:f>
              <c:strCache>
                <c:ptCount val="2"/>
                <c:pt idx="0">
                  <c:v>ZENPEP</c:v>
                </c:pt>
                <c:pt idx="1">
                  <c:v>The rep’s knowledge of the product being discussed</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157-4480-8202-D2AB003247FD}"/>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157-4480-8202-D2AB003247FD}"/>
                </c:ext>
              </c:extLst>
            </c:dLbl>
            <c:dLbl>
              <c:idx val="2"/>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157-4480-8202-D2AB003247FD}"/>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157-4480-8202-D2AB003247FD}"/>
                </c:ext>
              </c:extLst>
            </c:dLbl>
            <c:dLbl>
              <c:idx val="4"/>
              <c:layout>
                <c:manualLayout>
                  <c:x val="-4.3114589539271178E-2"/>
                  <c:y val="-0.22133179012345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157-4480-8202-D2AB003247FD}"/>
                </c:ext>
              </c:extLst>
            </c:dLbl>
            <c:dLbl>
              <c:idx val="5"/>
              <c:layout>
                <c:manualLayout>
                  <c:x val="-4.3114589539271178E-2"/>
                  <c:y val="-0.26683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157-4480-8202-D2AB003247F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0.8</c:v>
                </c:pt>
                <c:pt idx="1">
                  <c:v>0.89</c:v>
                </c:pt>
                <c:pt idx="2">
                  <c:v>0.86</c:v>
                </c:pt>
                <c:pt idx="3">
                  <c:v>0.88</c:v>
                </c:pt>
                <c:pt idx="4">
                  <c:v>0.88</c:v>
                </c:pt>
                <c:pt idx="5">
                  <c:v>0.84</c:v>
                </c:pt>
              </c:numCache>
            </c:numRef>
          </c:val>
          <c:smooth val="0"/>
          <c:extLst>
            <c:ext xmlns:c16="http://schemas.microsoft.com/office/drawing/2014/chart" uri="{C3380CC4-5D6E-409C-BE32-E72D297353CC}">
              <c16:uniqueId val="{00000001-FA0F-4B13-A669-B8D57B8AB12D}"/>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ability to execute a smooth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26B-4B6C-A2D0-5C8B7B0AE0B6}"/>
                </c:ext>
              </c:extLst>
            </c:dLbl>
            <c:dLbl>
              <c:idx val="1"/>
              <c:layout>
                <c:manualLayout>
                  <c:x val="-4.9278249429053719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F89-4F74-8406-EDCC8852A5DA}"/>
                </c:ext>
              </c:extLst>
            </c:dLbl>
            <c:dLbl>
              <c:idx val="2"/>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26B-4B6C-A2D0-5C8B7B0AE0B6}"/>
                </c:ext>
              </c:extLst>
            </c:dLbl>
            <c:dLbl>
              <c:idx val="3"/>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26B-4B6C-A2D0-5C8B7B0AE0B6}"/>
                </c:ext>
              </c:extLst>
            </c:dLbl>
            <c:dLbl>
              <c:idx val="4"/>
              <c:layout>
                <c:manualLayout>
                  <c:x val="-4.3114589539271178E-2"/>
                  <c:y val="0.25496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F89-4F74-8406-EDCC8852A5DA}"/>
                </c:ext>
              </c:extLst>
            </c:dLbl>
            <c:dLbl>
              <c:idx val="5"/>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26B-4B6C-A2D0-5C8B7B0AE0B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0.95</c:v>
                </c:pt>
                <c:pt idx="1">
                  <c:v>1</c:v>
                </c:pt>
                <c:pt idx="2">
                  <c:v>0.96</c:v>
                </c:pt>
                <c:pt idx="3">
                  <c:v>0.95</c:v>
                </c:pt>
                <c:pt idx="4">
                  <c:v>0.88</c:v>
                </c:pt>
                <c:pt idx="5">
                  <c:v>0.91</c:v>
                </c:pt>
              </c:numCache>
            </c:numRef>
          </c:val>
          <c:smooth val="0"/>
          <c:extLst>
            <c:ext xmlns:c16="http://schemas.microsoft.com/office/drawing/2014/chart" uri="{C3380CC4-5D6E-409C-BE32-E72D297353CC}">
              <c16:uniqueId val="{00000000-FA0F-4B13-A669-B8D57B8AB12D}"/>
            </c:ext>
          </c:extLst>
        </c:ser>
        <c:ser>
          <c:idx val="1"/>
          <c:order val="1"/>
          <c:tx>
            <c:strRef>
              <c:f>Sheet1!$C$1:$C$2</c:f>
              <c:strCache>
                <c:ptCount val="2"/>
                <c:pt idx="0">
                  <c:v>ZENPEP</c:v>
                </c:pt>
                <c:pt idx="1">
                  <c:v>The rep’s ability to execute a smooth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26B-4B6C-A2D0-5C8B7B0AE0B6}"/>
                </c:ext>
              </c:extLst>
            </c:dLbl>
            <c:dLbl>
              <c:idx val="1"/>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F89-4F74-8406-EDCC8852A5DA}"/>
                </c:ext>
              </c:extLst>
            </c:dLbl>
            <c:dLbl>
              <c:idx val="2"/>
              <c:layout>
                <c:manualLayout>
                  <c:x val="-4.3114589539271178E-2"/>
                  <c:y val="0.1799999999999999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26B-4B6C-A2D0-5C8B7B0AE0B6}"/>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26B-4B6C-A2D0-5C8B7B0AE0B6}"/>
                </c:ext>
              </c:extLst>
            </c:dLbl>
            <c:dLbl>
              <c:idx val="4"/>
              <c:layout>
                <c:manualLayout>
                  <c:x val="-4.3114589539271178E-2"/>
                  <c:y val="-0.288430555555555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F89-4F74-8406-EDCC8852A5DA}"/>
                </c:ext>
              </c:extLst>
            </c:dLbl>
            <c:dLbl>
              <c:idx val="5"/>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26B-4B6C-A2D0-5C8B7B0AE0B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Sheet1!$C$3:$C$8</c:f>
              <c:numCache>
                <c:formatCode>0%</c:formatCode>
                <c:ptCount val="6"/>
                <c:pt idx="0">
                  <c:v>0.8</c:v>
                </c:pt>
                <c:pt idx="1">
                  <c:v>0.89</c:v>
                </c:pt>
                <c:pt idx="2">
                  <c:v>0.56999999999999995</c:v>
                </c:pt>
                <c:pt idx="3">
                  <c:v>0.94</c:v>
                </c:pt>
                <c:pt idx="4">
                  <c:v>0.94</c:v>
                </c:pt>
                <c:pt idx="5">
                  <c:v>0.89</c:v>
                </c:pt>
              </c:numCache>
            </c:numRef>
          </c:val>
          <c:smooth val="0"/>
          <c:extLst>
            <c:ext xmlns:c16="http://schemas.microsoft.com/office/drawing/2014/chart" uri="{C3380CC4-5D6E-409C-BE32-E72D297353CC}">
              <c16:uniqueId val="{00000001-FA0F-4B13-A669-B8D57B8AB12D}"/>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overall quality of the rep’s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9278249429053719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842-412D-B730-AA4CE8EC6B17}"/>
                </c:ext>
              </c:extLst>
            </c:dLbl>
            <c:dLbl>
              <c:idx val="1"/>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842-412D-B730-AA4CE8EC6B17}"/>
                </c:ext>
              </c:extLst>
            </c:dLbl>
            <c:dLbl>
              <c:idx val="2"/>
              <c:layout>
                <c:manualLayout>
                  <c:x val="-4.3114589539271178E-2"/>
                  <c:y val="0.272030864197530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842-412D-B730-AA4CE8EC6B17}"/>
                </c:ext>
              </c:extLst>
            </c:dLbl>
            <c:dLbl>
              <c:idx val="3"/>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842-412D-B730-AA4CE8EC6B17}"/>
                </c:ext>
              </c:extLst>
            </c:dLbl>
            <c:dLbl>
              <c:idx val="4"/>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842-412D-B730-AA4CE8EC6B17}"/>
                </c:ext>
              </c:extLst>
            </c:dLbl>
            <c:dLbl>
              <c:idx val="5"/>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842-412D-B730-AA4CE8EC6B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1</c:v>
                </c:pt>
                <c:pt idx="1">
                  <c:v>0.9</c:v>
                </c:pt>
                <c:pt idx="2">
                  <c:v>0.78</c:v>
                </c:pt>
                <c:pt idx="3">
                  <c:v>0.93</c:v>
                </c:pt>
                <c:pt idx="4">
                  <c:v>0.9</c:v>
                </c:pt>
                <c:pt idx="5">
                  <c:v>0.89</c:v>
                </c:pt>
              </c:numCache>
            </c:numRef>
          </c:val>
          <c:smooth val="0"/>
          <c:extLst>
            <c:ext xmlns:c16="http://schemas.microsoft.com/office/drawing/2014/chart" uri="{C3380CC4-5D6E-409C-BE32-E72D297353CC}">
              <c16:uniqueId val="{00000000-7306-44D8-928B-0C25083F13D3}"/>
            </c:ext>
          </c:extLst>
        </c:ser>
        <c:ser>
          <c:idx val="1"/>
          <c:order val="1"/>
          <c:tx>
            <c:strRef>
              <c:f>Sheet1!$C$1:$C$2</c:f>
              <c:strCache>
                <c:ptCount val="2"/>
                <c:pt idx="0">
                  <c:v>ZENPEP</c:v>
                </c:pt>
                <c:pt idx="1">
                  <c:v>The overall quality of the rep’s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842-412D-B730-AA4CE8EC6B17}"/>
                </c:ext>
              </c:extLst>
            </c:dLbl>
            <c:dLbl>
              <c:idx val="1"/>
              <c:layout>
                <c:manualLayout>
                  <c:x val="-4.3114589539271178E-2"/>
                  <c:y val="0.231194444444444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842-412D-B730-AA4CE8EC6B17}"/>
                </c:ext>
              </c:extLst>
            </c:dLbl>
            <c:dLbl>
              <c:idx val="2"/>
              <c:layout>
                <c:manualLayout>
                  <c:x val="-4.3114589539271178E-2"/>
                  <c:y val="-0.305495370370370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842-412D-B730-AA4CE8EC6B17}"/>
                </c:ext>
              </c:extLst>
            </c:dLbl>
            <c:dLbl>
              <c:idx val="3"/>
              <c:layout>
                <c:manualLayout>
                  <c:x val="-4.3114589539271178E-2"/>
                  <c:y val="0.191376543209876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842-412D-B730-AA4CE8EC6B17}"/>
                </c:ext>
              </c:extLst>
            </c:dLbl>
            <c:dLbl>
              <c:idx val="4"/>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842-412D-B730-AA4CE8EC6B17}"/>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842-412D-B730-AA4CE8EC6B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0.94</c:v>
                </c:pt>
                <c:pt idx="1">
                  <c:v>0.75</c:v>
                </c:pt>
                <c:pt idx="2">
                  <c:v>0.78</c:v>
                </c:pt>
                <c:pt idx="3">
                  <c:v>0.61</c:v>
                </c:pt>
                <c:pt idx="4">
                  <c:v>0.84</c:v>
                </c:pt>
                <c:pt idx="5">
                  <c:v>0.84</c:v>
                </c:pt>
              </c:numCache>
            </c:numRef>
          </c:val>
          <c:smooth val="0"/>
          <c:extLst>
            <c:ext xmlns:c16="http://schemas.microsoft.com/office/drawing/2014/chart" uri="{C3380CC4-5D6E-409C-BE32-E72D297353CC}">
              <c16:uniqueId val="{00000001-7306-44D8-928B-0C25083F13D3}"/>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preparedness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9278249429053719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170-4008-85FD-766791CE8F7D}"/>
                </c:ext>
              </c:extLst>
            </c:dLbl>
            <c:dLbl>
              <c:idx val="1"/>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170-4008-85FD-766791CE8F7D}"/>
                </c:ext>
              </c:extLst>
            </c:dLbl>
            <c:dLbl>
              <c:idx val="2"/>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170-4008-85FD-766791CE8F7D}"/>
                </c:ext>
              </c:extLst>
            </c:dLbl>
            <c:dLbl>
              <c:idx val="3"/>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170-4008-85FD-766791CE8F7D}"/>
                </c:ext>
              </c:extLst>
            </c:dLbl>
            <c:dLbl>
              <c:idx val="4"/>
              <c:layout>
                <c:manualLayout>
                  <c:x val="-4.3114589539271178E-2"/>
                  <c:y val="0.269186728395061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F66-4A8A-9159-C00EEA05AE40}"/>
                </c:ext>
              </c:extLst>
            </c:dLbl>
            <c:dLbl>
              <c:idx val="5"/>
              <c:layout>
                <c:manualLayout>
                  <c:x val="-4.3114589539271178E-2"/>
                  <c:y val="0.25496604938271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170-4008-85FD-766791CE8F7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1</c:v>
                </c:pt>
                <c:pt idx="1">
                  <c:v>0.9</c:v>
                </c:pt>
                <c:pt idx="2">
                  <c:v>0.91</c:v>
                </c:pt>
                <c:pt idx="3">
                  <c:v>0.86</c:v>
                </c:pt>
                <c:pt idx="4">
                  <c:v>0.83</c:v>
                </c:pt>
                <c:pt idx="5">
                  <c:v>0.78</c:v>
                </c:pt>
              </c:numCache>
            </c:numRef>
          </c:val>
          <c:smooth val="0"/>
          <c:extLst>
            <c:ext xmlns:c16="http://schemas.microsoft.com/office/drawing/2014/chart" uri="{C3380CC4-5D6E-409C-BE32-E72D297353CC}">
              <c16:uniqueId val="{00000000-BF66-4A8A-9159-C00EEA05AE40}"/>
            </c:ext>
          </c:extLst>
        </c:ser>
        <c:ser>
          <c:idx val="1"/>
          <c:order val="1"/>
          <c:tx>
            <c:strRef>
              <c:f>Sheet1!$C$1:$C$2</c:f>
              <c:strCache>
                <c:ptCount val="2"/>
                <c:pt idx="0">
                  <c:v>ZENPEP</c:v>
                </c:pt>
                <c:pt idx="1">
                  <c:v>The rep’s preparedness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170-4008-85FD-766791CE8F7D}"/>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170-4008-85FD-766791CE8F7D}"/>
                </c:ext>
              </c:extLst>
            </c:dLbl>
            <c:dLbl>
              <c:idx val="2"/>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170-4008-85FD-766791CE8F7D}"/>
                </c:ext>
              </c:extLst>
            </c:dLbl>
            <c:dLbl>
              <c:idx val="3"/>
              <c:layout>
                <c:manualLayout>
                  <c:x val="-4.3114589539271178E-2"/>
                  <c:y val="0.17715586419753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170-4008-85FD-766791CE8F7D}"/>
                </c:ext>
              </c:extLst>
            </c:dLbl>
            <c:dLbl>
              <c:idx val="4"/>
              <c:layout>
                <c:manualLayout>
                  <c:x val="-4.3114589539271178E-2"/>
                  <c:y val="-0.302651234567901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F66-4A8A-9159-C00EEA05AE40}"/>
                </c:ext>
              </c:extLst>
            </c:dLbl>
            <c:dLbl>
              <c:idx val="5"/>
              <c:layout>
                <c:manualLayout>
                  <c:x val="-4.3114589539271178E-2"/>
                  <c:y val="-0.288430555555555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170-4008-85FD-766791CE8F7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0.82</c:v>
                </c:pt>
                <c:pt idx="1">
                  <c:v>0.8</c:v>
                </c:pt>
                <c:pt idx="2">
                  <c:v>0.87</c:v>
                </c:pt>
                <c:pt idx="3">
                  <c:v>0.56000000000000005</c:v>
                </c:pt>
                <c:pt idx="4">
                  <c:v>0.84</c:v>
                </c:pt>
                <c:pt idx="5">
                  <c:v>0.84</c:v>
                </c:pt>
              </c:numCache>
            </c:numRef>
          </c:val>
          <c:smooth val="0"/>
          <c:extLst>
            <c:ext xmlns:c16="http://schemas.microsoft.com/office/drawing/2014/chart" uri="{C3380CC4-5D6E-409C-BE32-E72D297353CC}">
              <c16:uniqueId val="{00000001-BF66-4A8A-9159-C00EEA05AE40}"/>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understanding of insurance and access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0.119608024691358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F5D-4852-979A-0EC3F4101890}"/>
                </c:ext>
              </c:extLst>
            </c:dLbl>
            <c:dLbl>
              <c:idx val="1"/>
              <c:layout>
                <c:manualLayout>
                  <c:x val="-4.3114589539271178E-2"/>
                  <c:y val="-0.159425925925925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F5D-4852-979A-0EC3F4101890}"/>
                </c:ext>
              </c:extLst>
            </c:dLbl>
            <c:dLbl>
              <c:idx val="2"/>
              <c:layout>
                <c:manualLayout>
                  <c:x val="-4.3114589539271178E-2"/>
                  <c:y val="0.226524691358024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F5D-4852-979A-0EC3F4101890}"/>
                </c:ext>
              </c:extLst>
            </c:dLbl>
            <c:dLbl>
              <c:idx val="3"/>
              <c:layout>
                <c:manualLayout>
                  <c:x val="-4.3114589539271178E-2"/>
                  <c:y val="-0.1935555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F5D-4852-979A-0EC3F4101890}"/>
                </c:ext>
              </c:extLst>
            </c:dLbl>
            <c:dLbl>
              <c:idx val="4"/>
              <c:layout>
                <c:manualLayout>
                  <c:x val="-4.3114589539271178E-2"/>
                  <c:y val="-0.210620370370370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F5D-4852-979A-0EC3F4101890}"/>
                </c:ext>
              </c:extLst>
            </c:dLbl>
            <c:dLbl>
              <c:idx val="5"/>
              <c:layout>
                <c:manualLayout>
                  <c:x val="-4.3114589539271178E-2"/>
                  <c:y val="-0.199243827160493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65-4EEE-A508-C157FC59FDC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0.88</c:v>
                </c:pt>
                <c:pt idx="1">
                  <c:v>0.81</c:v>
                </c:pt>
                <c:pt idx="2">
                  <c:v>0.7</c:v>
                </c:pt>
                <c:pt idx="3">
                  <c:v>0.75</c:v>
                </c:pt>
                <c:pt idx="4">
                  <c:v>0.72</c:v>
                </c:pt>
                <c:pt idx="5">
                  <c:v>0.74</c:v>
                </c:pt>
              </c:numCache>
            </c:numRef>
          </c:val>
          <c:smooth val="0"/>
          <c:extLst>
            <c:ext xmlns:c16="http://schemas.microsoft.com/office/drawing/2014/chart" uri="{C3380CC4-5D6E-409C-BE32-E72D297353CC}">
              <c16:uniqueId val="{00000000-3265-4EEE-A508-C157FC59FDC8}"/>
            </c:ext>
          </c:extLst>
        </c:ser>
        <c:ser>
          <c:idx val="1"/>
          <c:order val="1"/>
          <c:tx>
            <c:strRef>
              <c:f>Sheet1!$C$1:$C$2</c:f>
              <c:strCache>
                <c:ptCount val="2"/>
                <c:pt idx="0">
                  <c:v>ZENPEP</c:v>
                </c:pt>
                <c:pt idx="1">
                  <c:v>The rep’s understanding of insurance and access</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F5D-4852-979A-0EC3F4101890}"/>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F5D-4852-979A-0EC3F4101890}"/>
                </c:ext>
              </c:extLst>
            </c:dLbl>
            <c:dLbl>
              <c:idx val="2"/>
              <c:layout>
                <c:manualLayout>
                  <c:x val="-4.3114589539271178E-2"/>
                  <c:y val="-0.20995524691358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F5D-4852-979A-0EC3F4101890}"/>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F5D-4852-979A-0EC3F4101890}"/>
                </c:ext>
              </c:extLst>
            </c:dLbl>
            <c:dLbl>
              <c:idx val="4"/>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F5D-4852-979A-0EC3F4101890}"/>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65-4EEE-A508-C157FC59FDC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0.59</c:v>
                </c:pt>
                <c:pt idx="1">
                  <c:v>0.7</c:v>
                </c:pt>
                <c:pt idx="2">
                  <c:v>0.78</c:v>
                </c:pt>
                <c:pt idx="3">
                  <c:v>0.5</c:v>
                </c:pt>
                <c:pt idx="4">
                  <c:v>0.63</c:v>
                </c:pt>
                <c:pt idx="5">
                  <c:v>0.6</c:v>
                </c:pt>
              </c:numCache>
            </c:numRef>
          </c:val>
          <c:smooth val="0"/>
          <c:extLst>
            <c:ext xmlns:c16="http://schemas.microsoft.com/office/drawing/2014/chart" uri="{C3380CC4-5D6E-409C-BE32-E72D297353CC}">
              <c16:uniqueId val="{00000001-3265-4EEE-A508-C157FC59FDC8}"/>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How well the rep performed in providing a compelling reason to prescribe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9278249429053719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43F-44D5-9BDB-7CD89F4E85C0}"/>
                </c:ext>
              </c:extLst>
            </c:dLbl>
            <c:dLbl>
              <c:idx val="1"/>
              <c:layout>
                <c:manualLayout>
                  <c:x val="-4.3114589539271178E-2"/>
                  <c:y val="0.253282407407407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779-496B-B0FD-AEEA2B6A0523}"/>
                </c:ext>
              </c:extLst>
            </c:dLbl>
            <c:dLbl>
              <c:idx val="2"/>
              <c:layout>
                <c:manualLayout>
                  <c:x val="-4.3114589539271178E-2"/>
                  <c:y val="0.260654320987654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43F-44D5-9BDB-7CD89F4E85C0}"/>
                </c:ext>
              </c:extLst>
            </c:dLbl>
            <c:dLbl>
              <c:idx val="3"/>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779-496B-B0FD-AEEA2B6A0523}"/>
                </c:ext>
              </c:extLst>
            </c:dLbl>
            <c:dLbl>
              <c:idx val="4"/>
              <c:layout>
                <c:manualLayout>
                  <c:x val="-4.3114589539271178E-2"/>
                  <c:y val="0.24358950617283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43F-44D5-9BDB-7CD89F4E85C0}"/>
                </c:ext>
              </c:extLst>
            </c:dLbl>
            <c:dLbl>
              <c:idx val="5"/>
              <c:layout>
                <c:manualLayout>
                  <c:x val="-4.3114589539271178E-2"/>
                  <c:y val="-0.2720308641975308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43F-44D5-9BDB-7CD89F4E85C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1</c:v>
                </c:pt>
                <c:pt idx="1">
                  <c:v>0.71</c:v>
                </c:pt>
                <c:pt idx="2">
                  <c:v>0.83</c:v>
                </c:pt>
                <c:pt idx="3">
                  <c:v>0.86</c:v>
                </c:pt>
                <c:pt idx="4">
                  <c:v>0.79</c:v>
                </c:pt>
                <c:pt idx="5">
                  <c:v>0.85</c:v>
                </c:pt>
              </c:numCache>
            </c:numRef>
          </c:val>
          <c:smooth val="0"/>
          <c:extLst>
            <c:ext xmlns:c16="http://schemas.microsoft.com/office/drawing/2014/chart" uri="{C3380CC4-5D6E-409C-BE32-E72D297353CC}">
              <c16:uniqueId val="{00000000-F43F-44D5-9BDB-7CD89F4E85C0}"/>
            </c:ext>
          </c:extLst>
        </c:ser>
        <c:ser>
          <c:idx val="1"/>
          <c:order val="1"/>
          <c:tx>
            <c:strRef>
              <c:f>Sheet1!$C$1:$C$2</c:f>
              <c:strCache>
                <c:ptCount val="2"/>
                <c:pt idx="0">
                  <c:v>ZENPEP</c:v>
                </c:pt>
                <c:pt idx="1">
                  <c:v>How well the rep performed in providing a compelling reason to prescribe CREON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02753086419753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43F-44D5-9BDB-7CD89F4E85C0}"/>
                </c:ext>
              </c:extLst>
            </c:dLbl>
            <c:dLbl>
              <c:idx val="1"/>
              <c:layout>
                <c:manualLayout>
                  <c:x val="-4.3114589539271178E-2"/>
                  <c:y val="-0.294118827160493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779-496B-B0FD-AEEA2B6A0523}"/>
                </c:ext>
              </c:extLst>
            </c:dLbl>
            <c:dLbl>
              <c:idx val="2"/>
              <c:layout>
                <c:manualLayout>
                  <c:x val="-4.3114589539271178E-2"/>
                  <c:y val="-0.294118827160493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43F-44D5-9BDB-7CD89F4E85C0}"/>
                </c:ext>
              </c:extLst>
            </c:dLbl>
            <c:dLbl>
              <c:idx val="3"/>
              <c:layout>
                <c:manualLayout>
                  <c:x val="-4.3114589539271178E-2"/>
                  <c:y val="0.20844135802469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779-496B-B0FD-AEEA2B6A0523}"/>
                </c:ext>
              </c:extLst>
            </c:dLbl>
            <c:dLbl>
              <c:idx val="4"/>
              <c:layout>
                <c:manualLayout>
                  <c:x val="-4.3114589539271178E-2"/>
                  <c:y val="-0.2770540123456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43F-44D5-9BDB-7CD89F4E85C0}"/>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43F-44D5-9BDB-7CD89F4E85C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0.65</c:v>
                </c:pt>
                <c:pt idx="1">
                  <c:v>0.75</c:v>
                </c:pt>
                <c:pt idx="2">
                  <c:v>0.87</c:v>
                </c:pt>
                <c:pt idx="3">
                  <c:v>0.67</c:v>
                </c:pt>
                <c:pt idx="4">
                  <c:v>0.89</c:v>
                </c:pt>
                <c:pt idx="5">
                  <c:v>0.8</c:v>
                </c:pt>
              </c:numCache>
            </c:numRef>
          </c:val>
          <c:smooth val="0"/>
          <c:extLst>
            <c:ext xmlns:c16="http://schemas.microsoft.com/office/drawing/2014/chart" uri="{C3380CC4-5D6E-409C-BE32-E72D297353CC}">
              <c16:uniqueId val="{00000001-F43F-44D5-9BDB-7CD89F4E85C0}"/>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knowledge of the product being discussed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8.547839506172839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5AB-457D-A288-53D107C31D17}"/>
                </c:ext>
              </c:extLst>
            </c:dLbl>
            <c:dLbl>
              <c:idx val="1"/>
              <c:layout>
                <c:manualLayout>
                  <c:x val="-4.3114589539271178E-2"/>
                  <c:y val="0.249277777777777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AB-457D-A288-53D107C31D17}"/>
                </c:ext>
              </c:extLst>
            </c:dLbl>
            <c:dLbl>
              <c:idx val="2"/>
              <c:layout>
                <c:manualLayout>
                  <c:x val="-4.3114589539271178E-2"/>
                  <c:y val="-0.102543209876543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11-43B8-81DF-E0CF5C0E78D2}"/>
                </c:ext>
              </c:extLst>
            </c:dLbl>
            <c:dLbl>
              <c:idx val="3"/>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5AB-457D-A288-53D107C31D17}"/>
                </c:ext>
              </c:extLst>
            </c:dLbl>
            <c:dLbl>
              <c:idx val="4"/>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AB-457D-A288-53D107C31D17}"/>
                </c:ext>
              </c:extLst>
            </c:dLbl>
            <c:dLbl>
              <c:idx val="5"/>
              <c:layout>
                <c:manualLayout>
                  <c:x val="-4.3114589539271178E-2"/>
                  <c:y val="-0.1366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5AB-457D-A288-53D107C31D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0.94</c:v>
                </c:pt>
                <c:pt idx="1">
                  <c:v>0.81</c:v>
                </c:pt>
                <c:pt idx="2">
                  <c:v>0.91</c:v>
                </c:pt>
                <c:pt idx="3">
                  <c:v>0.86</c:v>
                </c:pt>
                <c:pt idx="4">
                  <c:v>0.86</c:v>
                </c:pt>
                <c:pt idx="5">
                  <c:v>0.85</c:v>
                </c:pt>
              </c:numCache>
            </c:numRef>
          </c:val>
          <c:smooth val="0"/>
          <c:extLst>
            <c:ext xmlns:c16="http://schemas.microsoft.com/office/drawing/2014/chart" uri="{C3380CC4-5D6E-409C-BE32-E72D297353CC}">
              <c16:uniqueId val="{00000000-BF66-4A8A-9159-C00EEA05AE40}"/>
            </c:ext>
          </c:extLst>
        </c:ser>
        <c:ser>
          <c:idx val="1"/>
          <c:order val="1"/>
          <c:tx>
            <c:strRef>
              <c:f>Sheet1!$C$1:$C$2</c:f>
              <c:strCache>
                <c:ptCount val="2"/>
                <c:pt idx="0">
                  <c:v>ZENPEP</c:v>
                </c:pt>
                <c:pt idx="1">
                  <c:v>The rep’s knowledge of the product being discussed</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AB-457D-A288-53D107C31D17}"/>
                </c:ext>
              </c:extLst>
            </c:dLbl>
            <c:dLbl>
              <c:idx val="1"/>
              <c:layout>
                <c:manualLayout>
                  <c:x val="-4.3114589539271178E-2"/>
                  <c:y val="-0.170137345679012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5AB-457D-A288-53D107C31D17}"/>
                </c:ext>
              </c:extLst>
            </c:dLbl>
            <c:dLbl>
              <c:idx val="2"/>
              <c:layout>
                <c:manualLayout>
                  <c:x val="-4.3114589539271178E-2"/>
                  <c:y val="0.238566358024691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11-43B8-81DF-E0CF5C0E78D2}"/>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5AB-457D-A288-53D107C31D17}"/>
                </c:ext>
              </c:extLst>
            </c:dLbl>
            <c:dLbl>
              <c:idx val="4"/>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5AB-457D-A288-53D107C31D17}"/>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5AB-457D-A288-53D107C31D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0.88</c:v>
                </c:pt>
                <c:pt idx="1">
                  <c:v>0.85</c:v>
                </c:pt>
                <c:pt idx="2">
                  <c:v>0.87</c:v>
                </c:pt>
                <c:pt idx="3">
                  <c:v>0.67</c:v>
                </c:pt>
                <c:pt idx="4">
                  <c:v>0.84</c:v>
                </c:pt>
                <c:pt idx="5">
                  <c:v>0.8</c:v>
                </c:pt>
              </c:numCache>
            </c:numRef>
          </c:val>
          <c:smooth val="0"/>
          <c:extLst>
            <c:ext xmlns:c16="http://schemas.microsoft.com/office/drawing/2014/chart" uri="{C3380CC4-5D6E-409C-BE32-E72D297353CC}">
              <c16:uniqueId val="{00000001-BF66-4A8A-9159-C00EEA05AE40}"/>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CREON</c:v>
                </c:pt>
                <c:pt idx="1">
                  <c:v>The rep’s ability to execute a smooth interaction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114589539271178E-2"/>
                  <c:y val="-8.547839506172839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40F-4CB2-B5E8-DC4B6CC57F16}"/>
                </c:ext>
              </c:extLst>
            </c:dLbl>
            <c:dLbl>
              <c:idx val="1"/>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33-40CB-B387-2281012C27E9}"/>
                </c:ext>
              </c:extLst>
            </c:dLbl>
            <c:dLbl>
              <c:idx val="2"/>
              <c:layout>
                <c:manualLayout>
                  <c:x val="-4.3114589539271178E-2"/>
                  <c:y val="0.220836419753086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033-40CB-B387-2281012C27E9}"/>
                </c:ext>
              </c:extLst>
            </c:dLbl>
            <c:dLbl>
              <c:idx val="3"/>
              <c:layout>
                <c:manualLayout>
                  <c:x val="-4.3114589539271178E-2"/>
                  <c:y val="-9.116666666666666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033-40CB-B387-2281012C27E9}"/>
                </c:ext>
              </c:extLst>
            </c:dLbl>
            <c:dLbl>
              <c:idx val="4"/>
              <c:layout>
                <c:manualLayout>
                  <c:x val="-4.3114589539271178E-2"/>
                  <c:y val="-0.130984567901234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033-40CB-B387-2281012C27E9}"/>
                </c:ext>
              </c:extLst>
            </c:dLbl>
            <c:dLbl>
              <c:idx val="5"/>
              <c:layout>
                <c:manualLayout>
                  <c:x val="-4.3114589539271178E-2"/>
                  <c:y val="-0.136672839506172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40F-4CB2-B5E8-DC4B6CC57F1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Sheet1!$B$3:$B$8</c:f>
              <c:numCache>
                <c:formatCode>0%</c:formatCode>
                <c:ptCount val="6"/>
                <c:pt idx="0">
                  <c:v>0.94</c:v>
                </c:pt>
                <c:pt idx="1">
                  <c:v>0.86</c:v>
                </c:pt>
                <c:pt idx="2">
                  <c:v>0.74</c:v>
                </c:pt>
                <c:pt idx="3">
                  <c:v>0.93</c:v>
                </c:pt>
                <c:pt idx="4">
                  <c:v>0.86</c:v>
                </c:pt>
                <c:pt idx="5">
                  <c:v>0.85</c:v>
                </c:pt>
              </c:numCache>
            </c:numRef>
          </c:val>
          <c:smooth val="0"/>
          <c:extLst>
            <c:ext xmlns:c16="http://schemas.microsoft.com/office/drawing/2014/chart" uri="{C3380CC4-5D6E-409C-BE32-E72D297353CC}">
              <c16:uniqueId val="{00000000-BF66-4A8A-9159-C00EEA05AE40}"/>
            </c:ext>
          </c:extLst>
        </c:ser>
        <c:ser>
          <c:idx val="1"/>
          <c:order val="1"/>
          <c:tx>
            <c:strRef>
              <c:f>Sheet1!$C$1:$C$2</c:f>
              <c:strCache>
                <c:ptCount val="2"/>
                <c:pt idx="0">
                  <c:v>ZENPEP</c:v>
                </c:pt>
                <c:pt idx="1">
                  <c:v>The rep’s ability to execute a smooth interaction</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114589539271178E-2"/>
                  <c:y val="0.238566358024691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40F-4CB2-B5E8-DC4B6CC57F16}"/>
                </c:ext>
              </c:extLst>
            </c:dLbl>
            <c:dLbl>
              <c:idx val="1"/>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033-40CB-B387-2281012C27E9}"/>
                </c:ext>
              </c:extLst>
            </c:dLbl>
            <c:dLbl>
              <c:idx val="2"/>
              <c:layout>
                <c:manualLayout>
                  <c:x val="-4.3114589539271178E-2"/>
                  <c:y val="-0.18151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033-40CB-B387-2281012C27E9}"/>
                </c:ext>
              </c:extLst>
            </c:dLbl>
            <c:dLbl>
              <c:idx val="3"/>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033-40CB-B387-2281012C27E9}"/>
                </c:ext>
              </c:extLst>
            </c:dLbl>
            <c:dLbl>
              <c:idx val="4"/>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033-40CB-B387-2281012C27E9}"/>
                </c:ext>
              </c:extLst>
            </c:dLbl>
            <c:dLbl>
              <c:idx val="5"/>
              <c:layout>
                <c:manualLayout>
                  <c:x val="-4.3114589539271178E-2"/>
                  <c:y val="0.238566358024691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40F-4CB2-B5E8-DC4B6CC57F1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Sheet1!$A$3:$A$8</c:f>
              <c:strCache>
                <c:ptCount val="6"/>
                <c:pt idx="0">
                  <c:v>Speciality  - NP/PA - W27</c:v>
                </c:pt>
                <c:pt idx="1">
                  <c:v>Speciality  - NP/PA - W28</c:v>
                </c:pt>
                <c:pt idx="2">
                  <c:v>Speciality  - NP/PA - W29</c:v>
                </c:pt>
                <c:pt idx="3">
                  <c:v>Speciality  - NP/PA - W30</c:v>
                </c:pt>
                <c:pt idx="4">
                  <c:v>Speciality  - NP/PA - W31</c:v>
                </c:pt>
                <c:pt idx="5">
                  <c:v>Speciality  - NP/PA - W32</c:v>
                </c:pt>
              </c:strCache>
            </c:strRef>
          </c:cat>
          <c:val>
            <c:numRef>
              <c:f>Sheet1!$C$3:$C$8</c:f>
              <c:numCache>
                <c:formatCode>0%</c:formatCode>
                <c:ptCount val="6"/>
                <c:pt idx="0">
                  <c:v>0.82</c:v>
                </c:pt>
                <c:pt idx="1">
                  <c:v>0.75</c:v>
                </c:pt>
                <c:pt idx="2">
                  <c:v>0.83</c:v>
                </c:pt>
                <c:pt idx="3">
                  <c:v>0.5</c:v>
                </c:pt>
                <c:pt idx="4">
                  <c:v>0.79</c:v>
                </c:pt>
                <c:pt idx="5">
                  <c:v>0.76</c:v>
                </c:pt>
              </c:numCache>
            </c:numRef>
          </c:val>
          <c:smooth val="0"/>
          <c:extLst>
            <c:ext xmlns:c16="http://schemas.microsoft.com/office/drawing/2014/chart" uri="{C3380CC4-5D6E-409C-BE32-E72D297353CC}">
              <c16:uniqueId val="{00000001-BF66-4A8A-9159-C00EEA05AE40}"/>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963076539706532"/>
          <c:h val="0.8407779861185216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ACBC-4C7C-842F-3652F4A3B72E}"/>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ACBC-4C7C-842F-3652F4A3B72E}"/>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ACBC-4C7C-842F-3652F4A3B72E}"/>
              </c:ext>
            </c:extLst>
          </c:dPt>
          <c:dLbls>
            <c:dLbl>
              <c:idx val="0"/>
              <c:layout>
                <c:manualLayout>
                  <c:x val="-3.0511670763011933E-2"/>
                  <c:y val="-4.986680802338341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CBC-4C7C-842F-3652F4A3B72E}"/>
                </c:ext>
              </c:extLst>
            </c:dLbl>
            <c:dLbl>
              <c:idx val="1"/>
              <c:layout>
                <c:manualLayout>
                  <c:x val="-3.0511670763011933E-2"/>
                  <c:y val="-4.986680802338345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CBC-4C7C-842F-3652F4A3B72E}"/>
                </c:ext>
              </c:extLst>
            </c:dLbl>
            <c:dLbl>
              <c:idx val="2"/>
              <c:layout>
                <c:manualLayout>
                  <c:x val="-3.0511670763011933E-2"/>
                  <c:y val="-4.986680802338341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CBC-4C7C-842F-3652F4A3B72E}"/>
                </c:ext>
              </c:extLst>
            </c:dLbl>
            <c:dLbl>
              <c:idx val="3"/>
              <c:layout>
                <c:manualLayout>
                  <c:x val="-3.0511670763011933E-2"/>
                  <c:y val="-4.986680802338341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CBC-4C7C-842F-3652F4A3B72E}"/>
                </c:ext>
              </c:extLst>
            </c:dLbl>
            <c:dLbl>
              <c:idx val="4"/>
              <c:layout>
                <c:manualLayout>
                  <c:x val="-3.0511670763011933E-2"/>
                  <c:y val="-4.9866808023383419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813-4442-B4C2-7CEDDD6BD1F8}"/>
                </c:ext>
              </c:extLst>
            </c:dLbl>
            <c:dLbl>
              <c:idx val="5"/>
              <c:layout>
                <c:manualLayout>
                  <c:x val="-3.0511670763011933E-2"/>
                  <c:y val="-4.986680802338345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813-4442-B4C2-7CEDDD6BD1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0.76</c:v>
                </c:pt>
                <c:pt idx="1">
                  <c:v>0.78</c:v>
                </c:pt>
                <c:pt idx="2">
                  <c:v>0.81</c:v>
                </c:pt>
                <c:pt idx="3">
                  <c:v>0.77</c:v>
                </c:pt>
                <c:pt idx="4">
                  <c:v>0.77</c:v>
                </c:pt>
                <c:pt idx="5">
                  <c:v>0.78</c:v>
                </c:pt>
                <c:pt idx="6">
                  <c:v>0.82</c:v>
                </c:pt>
                <c:pt idx="7">
                  <c:v>0.8</c:v>
                </c:pt>
                <c:pt idx="8">
                  <c:v>0.78</c:v>
                </c:pt>
                <c:pt idx="9">
                  <c:v>0.77</c:v>
                </c:pt>
                <c:pt idx="10">
                  <c:v>0.75</c:v>
                </c:pt>
                <c:pt idx="11">
                  <c:v>0.74</c:v>
                </c:pt>
                <c:pt idx="12">
                  <c:v>0.82</c:v>
                </c:pt>
                <c:pt idx="13">
                  <c:v>0.78</c:v>
                </c:pt>
                <c:pt idx="14">
                  <c:v>0.79</c:v>
                </c:pt>
              </c:numCache>
            </c:numRef>
          </c:val>
          <c:smooth val="0"/>
          <c:extLst>
            <c:ext xmlns:c16="http://schemas.microsoft.com/office/drawing/2014/chart" uri="{C3380CC4-5D6E-409C-BE32-E72D297353CC}">
              <c16:uniqueId val="{00000007-ACBC-4C7C-842F-3652F4A3B72E}"/>
            </c:ext>
          </c:extLst>
        </c:ser>
        <c:ser>
          <c:idx val="1"/>
          <c:order val="1"/>
          <c:tx>
            <c:strRef>
              <c:f>Sheet1!$C$1</c:f>
              <c:strCache>
                <c:ptCount val="1"/>
                <c:pt idx="0">
                  <c:v>Digestive Care, Inc</c:v>
                </c:pt>
              </c:strCache>
            </c:strRef>
          </c:tx>
          <c:spPr>
            <a:ln w="28575" cap="rnd">
              <a:solidFill>
                <a:srgbClr val="00B3C8"/>
              </a:solidFill>
              <a:round/>
            </a:ln>
            <a:effectLst/>
          </c:spPr>
          <c:marker>
            <c:symbol val="circle"/>
            <c:size val="3"/>
            <c:spPr>
              <a:solidFill>
                <a:srgbClr val="00B3C8"/>
              </a:solidFill>
              <a:ln w="28575">
                <a:solidFill>
                  <a:srgbClr val="00B3C8"/>
                </a:solidFill>
              </a:ln>
              <a:effectLst/>
            </c:spPr>
          </c:marker>
          <c:dPt>
            <c:idx val="0"/>
            <c:marker>
              <c:symbol val="circle"/>
              <c:size val="3"/>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9-ACBC-4C7C-842F-3652F4A3B72E}"/>
              </c:ext>
            </c:extLst>
          </c:dPt>
          <c:dPt>
            <c:idx val="1"/>
            <c:marker>
              <c:symbol val="circle"/>
              <c:size val="3"/>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B-ACBC-4C7C-842F-3652F4A3B72E}"/>
              </c:ext>
            </c:extLst>
          </c:dPt>
          <c:dPt>
            <c:idx val="2"/>
            <c:marker>
              <c:symbol val="circle"/>
              <c:size val="3"/>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D-ACBC-4C7C-842F-3652F4A3B72E}"/>
              </c:ext>
            </c:extLst>
          </c:dPt>
          <c:dLbls>
            <c:dLbl>
              <c:idx val="0"/>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CBC-4C7C-842F-3652F4A3B72E}"/>
                </c:ext>
              </c:extLst>
            </c:dLbl>
            <c:dLbl>
              <c:idx val="1"/>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CBC-4C7C-842F-3652F4A3B72E}"/>
                </c:ext>
              </c:extLst>
            </c:dLbl>
            <c:dLbl>
              <c:idx val="2"/>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CBC-4C7C-842F-3652F4A3B72E}"/>
                </c:ext>
              </c:extLst>
            </c:dLbl>
            <c:dLbl>
              <c:idx val="3"/>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813-4442-B4C2-7CEDDD6BD1F8}"/>
                </c:ext>
              </c:extLst>
            </c:dLbl>
            <c:dLbl>
              <c:idx val="4"/>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A813-4442-B4C2-7CEDDD6BD1F8}"/>
                </c:ext>
              </c:extLst>
            </c:dLbl>
            <c:dLbl>
              <c:idx val="5"/>
              <c:layout>
                <c:manualLayout>
                  <c:x val="-3.0511670763011933E-2"/>
                  <c:y val="-5.747818227571409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A813-4442-B4C2-7CEDDD6BD1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0.23</c:v>
                </c:pt>
                <c:pt idx="1">
                  <c:v>0.23</c:v>
                </c:pt>
                <c:pt idx="2">
                  <c:v>0.23</c:v>
                </c:pt>
                <c:pt idx="3">
                  <c:v>0.23</c:v>
                </c:pt>
                <c:pt idx="4">
                  <c:v>0.23</c:v>
                </c:pt>
                <c:pt idx="5">
                  <c:v>0.23</c:v>
                </c:pt>
                <c:pt idx="6">
                  <c:v>0.27</c:v>
                </c:pt>
                <c:pt idx="7">
                  <c:v>0.17</c:v>
                </c:pt>
                <c:pt idx="8">
                  <c:v>0.25</c:v>
                </c:pt>
                <c:pt idx="9">
                  <c:v>0.26</c:v>
                </c:pt>
                <c:pt idx="10">
                  <c:v>0.21</c:v>
                </c:pt>
                <c:pt idx="11">
                  <c:v>0.26</c:v>
                </c:pt>
                <c:pt idx="12">
                  <c:v>0.26</c:v>
                </c:pt>
                <c:pt idx="13">
                  <c:v>0.26</c:v>
                </c:pt>
                <c:pt idx="14">
                  <c:v>0.17</c:v>
                </c:pt>
              </c:numCache>
            </c:numRef>
          </c:val>
          <c:smooth val="0"/>
          <c:extLst>
            <c:ext xmlns:c16="http://schemas.microsoft.com/office/drawing/2014/chart" uri="{C3380CC4-5D6E-409C-BE32-E72D297353CC}">
              <c16:uniqueId val="{00000011-ACBC-4C7C-842F-3652F4A3B72E}"/>
            </c:ext>
          </c:extLst>
        </c:ser>
        <c:ser>
          <c:idx val="2"/>
          <c:order val="2"/>
          <c:tx>
            <c:strRef>
              <c:f>Sheet1!$D$1</c:f>
              <c:strCache>
                <c:ptCount val="1"/>
                <c:pt idx="0">
                  <c:v>Nestlé Health Science</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A813-4442-B4C2-7CEDDD6BD1F8}"/>
                </c:ext>
              </c:extLst>
            </c:dLbl>
            <c:dLbl>
              <c:idx val="1"/>
              <c:layout>
                <c:manualLayout>
                  <c:x val="-3.2360302738959339E-2"/>
                  <c:y val="4.6037520083027146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A813-4442-B4C2-7CEDDD6BD1F8}"/>
                </c:ext>
              </c:extLst>
            </c:dLbl>
            <c:dLbl>
              <c:idx val="2"/>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A813-4442-B4C2-7CEDDD6BD1F8}"/>
                </c:ext>
              </c:extLst>
            </c:dLbl>
            <c:dLbl>
              <c:idx val="3"/>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A813-4442-B4C2-7CEDDD6BD1F8}"/>
                </c:ext>
              </c:extLst>
            </c:dLbl>
            <c:dLbl>
              <c:idx val="4"/>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A813-4442-B4C2-7CEDDD6BD1F8}"/>
                </c:ext>
              </c:extLst>
            </c:dLbl>
            <c:dLbl>
              <c:idx val="5"/>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A813-4442-B4C2-7CEDDD6BD1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Sheet1!$D$2:$D$16</c:f>
              <c:numCache>
                <c:formatCode>0%</c:formatCode>
                <c:ptCount val="15"/>
                <c:pt idx="0">
                  <c:v>0.65</c:v>
                </c:pt>
                <c:pt idx="1">
                  <c:v>0.66</c:v>
                </c:pt>
                <c:pt idx="2">
                  <c:v>0.65</c:v>
                </c:pt>
                <c:pt idx="3">
                  <c:v>0.64</c:v>
                </c:pt>
                <c:pt idx="4">
                  <c:v>0.63</c:v>
                </c:pt>
                <c:pt idx="5">
                  <c:v>0.64</c:v>
                </c:pt>
                <c:pt idx="6">
                  <c:v>0.66</c:v>
                </c:pt>
                <c:pt idx="7">
                  <c:v>0.56</c:v>
                </c:pt>
                <c:pt idx="8">
                  <c:v>0.64</c:v>
                </c:pt>
                <c:pt idx="9">
                  <c:v>0.64</c:v>
                </c:pt>
                <c:pt idx="10">
                  <c:v>0.56</c:v>
                </c:pt>
                <c:pt idx="11">
                  <c:v>0.56</c:v>
                </c:pt>
                <c:pt idx="12">
                  <c:v>0.69</c:v>
                </c:pt>
                <c:pt idx="13">
                  <c:v>0.64</c:v>
                </c:pt>
                <c:pt idx="14">
                  <c:v>0.58</c:v>
                </c:pt>
              </c:numCache>
            </c:numRef>
          </c:val>
          <c:smooth val="0"/>
          <c:extLst>
            <c:ext xmlns:c16="http://schemas.microsoft.com/office/drawing/2014/chart" uri="{C3380CC4-5D6E-409C-BE32-E72D297353CC}">
              <c16:uniqueId val="{00000016-ACBC-4C7C-842F-3652F4A3B72E}"/>
            </c:ext>
          </c:extLst>
        </c:ser>
        <c:ser>
          <c:idx val="3"/>
          <c:order val="3"/>
          <c:tx>
            <c:strRef>
              <c:f>Sheet1!$E$1</c:f>
              <c:strCache>
                <c:ptCount val="1"/>
                <c:pt idx="0">
                  <c:v>Vivus</c:v>
                </c:pt>
              </c:strCache>
            </c:strRef>
          </c:tx>
          <c:spPr>
            <a:ln w="28575" cap="rnd">
              <a:solidFill>
                <a:srgbClr val="FF8813"/>
              </a:solidFill>
              <a:round/>
            </a:ln>
            <a:effectLst/>
          </c:spPr>
          <c:marker>
            <c:symbol val="circle"/>
            <c:size val="5"/>
            <c:spPr>
              <a:solidFill>
                <a:srgbClr val="FF8813"/>
              </a:solidFill>
              <a:ln w="9525">
                <a:noFill/>
              </a:ln>
              <a:effectLst/>
            </c:spPr>
          </c:marker>
          <c:dLbls>
            <c:dLbl>
              <c:idx val="0"/>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247-4C39-9F16-F70207FDC1F8}"/>
                </c:ext>
              </c:extLst>
            </c:dLbl>
            <c:dLbl>
              <c:idx val="1"/>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A813-4442-B4C2-7CEDDD6BD1F8}"/>
                </c:ext>
              </c:extLst>
            </c:dLbl>
            <c:dLbl>
              <c:idx val="2"/>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A813-4442-B4C2-7CEDDD6BD1F8}"/>
                </c:ext>
              </c:extLst>
            </c:dLbl>
            <c:dLbl>
              <c:idx val="3"/>
              <c:layout>
                <c:manualLayout>
                  <c:x val="-3.2360302738959339E-2"/>
                  <c:y val="4.6037520083027077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A813-4442-B4C2-7CEDDD6BD1F8}"/>
                </c:ext>
              </c:extLst>
            </c:dLbl>
            <c:dLbl>
              <c:idx val="4"/>
              <c:layout>
                <c:manualLayout>
                  <c:x val="-3.2360302738959339E-2"/>
                  <c:y val="4.6037520083027077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A813-4442-B4C2-7CEDDD6BD1F8}"/>
                </c:ext>
              </c:extLst>
            </c:dLbl>
            <c:dLbl>
              <c:idx val="5"/>
              <c:layout>
                <c:manualLayout>
                  <c:x val="-3.2360302738959339E-2"/>
                  <c:y val="4.6037520083027215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A813-4442-B4C2-7CEDDD6BD1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Sheet1!$E$2:$E$16</c:f>
              <c:numCache>
                <c:formatCode>0%</c:formatCode>
                <c:ptCount val="15"/>
                <c:pt idx="0">
                  <c:v>0.21</c:v>
                </c:pt>
                <c:pt idx="1">
                  <c:v>0.18</c:v>
                </c:pt>
                <c:pt idx="2">
                  <c:v>0.19</c:v>
                </c:pt>
                <c:pt idx="3">
                  <c:v>0.2</c:v>
                </c:pt>
                <c:pt idx="4">
                  <c:v>0.2</c:v>
                </c:pt>
                <c:pt idx="5">
                  <c:v>0.18</c:v>
                </c:pt>
                <c:pt idx="6">
                  <c:v>0.28</c:v>
                </c:pt>
                <c:pt idx="7">
                  <c:v>0.19</c:v>
                </c:pt>
                <c:pt idx="8">
                  <c:v>0.25</c:v>
                </c:pt>
                <c:pt idx="9">
                  <c:v>0.26</c:v>
                </c:pt>
                <c:pt idx="10">
                  <c:v>0.22</c:v>
                </c:pt>
                <c:pt idx="11">
                  <c:v>0.24</c:v>
                </c:pt>
                <c:pt idx="12">
                  <c:v>0.28</c:v>
                </c:pt>
                <c:pt idx="13">
                  <c:v>0.26</c:v>
                </c:pt>
                <c:pt idx="14">
                  <c:v>0.21</c:v>
                </c:pt>
              </c:numCache>
            </c:numRef>
          </c:val>
          <c:smooth val="0"/>
          <c:extLst>
            <c:ext xmlns:c16="http://schemas.microsoft.com/office/drawing/2014/chart" uri="{C3380CC4-5D6E-409C-BE32-E72D297353CC}">
              <c16:uniqueId val="{00000019-ACBC-4C7C-842F-3652F4A3B72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0"/>
        <c:axPos val="l"/>
        <c:numFmt formatCode="0%" sourceLinked="1"/>
        <c:majorTickMark val="out"/>
        <c:minorTickMark val="out"/>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 consider the Company rep a "Best in Class" sales representative.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32269736842105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2B6-4E66-8A39-6C28A09AC0D9}"/>
                </c:ext>
              </c:extLst>
            </c:dLbl>
            <c:dLbl>
              <c:idx val="1"/>
              <c:layout>
                <c:manualLayout>
                  <c:x val="-5.822611111111111E-2"/>
                  <c:y val="-0.226354532163742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2B6-4E66-8A39-6C28A09AC0D9}"/>
                </c:ext>
              </c:extLst>
            </c:dLbl>
            <c:dLbl>
              <c:idx val="2"/>
              <c:layout>
                <c:manualLayout>
                  <c:x val="-5.822611111111111E-2"/>
                  <c:y val="-0.214524122807017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2B6-4E66-8A39-6C28A09AC0D9}"/>
                </c:ext>
              </c:extLst>
            </c:dLbl>
            <c:dLbl>
              <c:idx val="3"/>
              <c:layout>
                <c:manualLayout>
                  <c:x val="-5.822611111111111E-2"/>
                  <c:y val="-0.214524122807017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2B6-4E66-8A39-6C28A09AC0D9}"/>
                </c:ext>
              </c:extLst>
            </c:dLbl>
            <c:dLbl>
              <c:idx val="4"/>
              <c:layout>
                <c:manualLayout>
                  <c:x val="-5.822611111111111E-2"/>
                  <c:y val="-0.244100146198830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2B6-4E66-8A39-6C28A09AC0D9}"/>
                </c:ext>
              </c:extLst>
            </c:dLbl>
            <c:dLbl>
              <c:idx val="5"/>
              <c:layout>
                <c:manualLayout>
                  <c:x val="-5.822611111111111E-2"/>
                  <c:y val="-0.238184941520467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497FA5"/>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2B6-4E66-8A39-6C28A09AC0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0.68</c:v>
                </c:pt>
                <c:pt idx="1">
                  <c:v>0.69</c:v>
                </c:pt>
                <c:pt idx="2">
                  <c:v>0.71</c:v>
                </c:pt>
                <c:pt idx="3">
                  <c:v>0.71</c:v>
                </c:pt>
                <c:pt idx="4">
                  <c:v>0.66</c:v>
                </c:pt>
                <c:pt idx="5">
                  <c:v>0.67</c:v>
                </c:pt>
                <c:pt idx="6">
                  <c:v>0.79</c:v>
                </c:pt>
                <c:pt idx="7">
                  <c:v>0.7</c:v>
                </c:pt>
                <c:pt idx="8">
                  <c:v>0.75</c:v>
                </c:pt>
                <c:pt idx="9">
                  <c:v>0.74</c:v>
                </c:pt>
                <c:pt idx="10">
                  <c:v>0.68</c:v>
                </c:pt>
                <c:pt idx="11">
                  <c:v>0.7</c:v>
                </c:pt>
                <c:pt idx="12">
                  <c:v>0.79</c:v>
                </c:pt>
                <c:pt idx="13">
                  <c:v>0.76</c:v>
                </c:pt>
                <c:pt idx="14">
                  <c:v>0.67</c:v>
                </c:pt>
              </c:numCache>
            </c:numRef>
          </c:val>
          <c:smooth val="0"/>
          <c:extLst>
            <c:ext xmlns:c16="http://schemas.microsoft.com/office/drawing/2014/chart" uri="{C3380CC4-5D6E-409C-BE32-E72D297353CC}">
              <c16:uniqueId val="{00000007-784C-46D7-95E9-1D360206E55E}"/>
            </c:ext>
          </c:extLst>
        </c:ser>
        <c:ser>
          <c:idx val="1"/>
          <c:order val="1"/>
          <c:tx>
            <c:strRef>
              <c:f>Sheet1!$C$1</c:f>
              <c:strCache>
                <c:ptCount val="1"/>
                <c:pt idx="0">
                  <c:v>I consider the Company rep a "Best in Class" sales representative.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2B6-4E66-8A39-6C28A09AC0D9}"/>
                </c:ext>
              </c:extLst>
            </c:dLbl>
            <c:dLbl>
              <c:idx val="1"/>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2B6-4E66-8A39-6C28A09AC0D9}"/>
                </c:ext>
              </c:extLst>
            </c:dLbl>
            <c:dLbl>
              <c:idx val="2"/>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2B6-4E66-8A39-6C28A09AC0D9}"/>
                </c:ext>
              </c:extLst>
            </c:dLbl>
            <c:dLbl>
              <c:idx val="3"/>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2B6-4E66-8A39-6C28A09AC0D9}"/>
                </c:ext>
              </c:extLst>
            </c:dLbl>
            <c:dLbl>
              <c:idx val="4"/>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2B6-4E66-8A39-6C28A09AC0D9}"/>
                </c:ext>
              </c:extLst>
            </c:dLbl>
            <c:dLbl>
              <c:idx val="5"/>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2B6-4E66-8A39-6C28A09AC0D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c:v>
                </c:pt>
                <c:pt idx="1">
                  <c:v>0.48</c:v>
                </c:pt>
                <c:pt idx="2">
                  <c:v>0.5</c:v>
                </c:pt>
                <c:pt idx="3">
                  <c:v>0.54</c:v>
                </c:pt>
                <c:pt idx="4">
                  <c:v>0.52</c:v>
                </c:pt>
                <c:pt idx="5">
                  <c:v>0.54</c:v>
                </c:pt>
                <c:pt idx="6">
                  <c:v>0.51</c:v>
                </c:pt>
                <c:pt idx="7">
                  <c:v>0.49</c:v>
                </c:pt>
                <c:pt idx="8">
                  <c:v>0.53</c:v>
                </c:pt>
                <c:pt idx="9">
                  <c:v>0.54</c:v>
                </c:pt>
                <c:pt idx="10">
                  <c:v>0.52</c:v>
                </c:pt>
                <c:pt idx="11">
                  <c:v>0.54</c:v>
                </c:pt>
                <c:pt idx="12">
                  <c:v>0.51</c:v>
                </c:pt>
                <c:pt idx="13">
                  <c:v>0.54</c:v>
                </c:pt>
                <c:pt idx="14">
                  <c:v>0.44</c:v>
                </c:pt>
              </c:numCache>
            </c:numRef>
          </c:val>
          <c:smooth val="0"/>
          <c:extLst>
            <c:ext xmlns:c16="http://schemas.microsoft.com/office/drawing/2014/chart" uri="{C3380CC4-5D6E-409C-BE32-E72D297353CC}">
              <c16:uniqueId val="{0000000F-784C-46D7-95E9-1D360206E55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5277777777777776E-2"/>
          <c:y val="0.16710526315789473"/>
          <c:w val="0.92238888888888892"/>
          <c:h val="0.59152046783625734"/>
        </c:manualLayout>
      </c:layout>
      <c:lineChart>
        <c:grouping val="standard"/>
        <c:varyColors val="0"/>
        <c:ser>
          <c:idx val="0"/>
          <c:order val="0"/>
          <c:tx>
            <c:strRef>
              <c:f>Sheet1!$B$1</c:f>
              <c:strCache>
                <c:ptCount val="1"/>
                <c:pt idx="0">
                  <c:v>Company is focused on exocrine pancreatic insufficiency (EPI) patients (e.g., offers patient-focused programs for financial support, treatment logistics, disease education, peer network building, etc.)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E48-4A94-B47E-E83D6A1EFFF9}"/>
                </c:ext>
              </c:extLst>
            </c:dLbl>
            <c:dLbl>
              <c:idx val="1"/>
              <c:layout>
                <c:manualLayout>
                  <c:x val="-5.822611111111111E-2"/>
                  <c:y val="-0.230626461988304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135-4EE8-B67F-31EDEB2E8D11}"/>
                </c:ext>
              </c:extLst>
            </c:dLbl>
            <c:dLbl>
              <c:idx val="2"/>
              <c:layout>
                <c:manualLayout>
                  <c:x val="-5.822611111111111E-2"/>
                  <c:y val="-0.236541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135-4EE8-B67F-31EDEB2E8D11}"/>
                </c:ext>
              </c:extLst>
            </c:dLbl>
            <c:dLbl>
              <c:idx val="3"/>
              <c:layout>
                <c:manualLayout>
                  <c:x val="-5.822611111111111E-2"/>
                  <c:y val="-0.2306264619883040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135-4EE8-B67F-31EDEB2E8D11}"/>
                </c:ext>
              </c:extLst>
            </c:dLbl>
            <c:dLbl>
              <c:idx val="4"/>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135-4EE8-B67F-31EDEB2E8D11}"/>
                </c:ext>
              </c:extLst>
            </c:dLbl>
            <c:dLbl>
              <c:idx val="5"/>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135-4EE8-B67F-31EDEB2E8D1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0.59</c:v>
                </c:pt>
                <c:pt idx="1">
                  <c:v>0.62</c:v>
                </c:pt>
                <c:pt idx="2">
                  <c:v>0.61</c:v>
                </c:pt>
                <c:pt idx="3">
                  <c:v>0.62</c:v>
                </c:pt>
                <c:pt idx="4">
                  <c:v>0.57</c:v>
                </c:pt>
                <c:pt idx="5">
                  <c:v>0.58</c:v>
                </c:pt>
                <c:pt idx="6">
                  <c:v>0.66</c:v>
                </c:pt>
                <c:pt idx="7">
                  <c:v>0.63</c:v>
                </c:pt>
                <c:pt idx="8">
                  <c:v>0.63</c:v>
                </c:pt>
                <c:pt idx="9">
                  <c:v>0.64</c:v>
                </c:pt>
                <c:pt idx="10">
                  <c:v>0.61</c:v>
                </c:pt>
                <c:pt idx="11">
                  <c:v>0.62</c:v>
                </c:pt>
                <c:pt idx="12">
                  <c:v>0.67</c:v>
                </c:pt>
                <c:pt idx="13">
                  <c:v>0.64</c:v>
                </c:pt>
                <c:pt idx="14">
                  <c:v>0.58</c:v>
                </c:pt>
              </c:numCache>
            </c:numRef>
          </c:val>
          <c:smooth val="0"/>
          <c:extLst>
            <c:ext xmlns:c16="http://schemas.microsoft.com/office/drawing/2014/chart" uri="{C3380CC4-5D6E-409C-BE32-E72D297353CC}">
              <c16:uniqueId val="{00000005-0F84-4BCE-8901-0B7D50174B63}"/>
            </c:ext>
          </c:extLst>
        </c:ser>
        <c:ser>
          <c:idx val="1"/>
          <c:order val="1"/>
          <c:tx>
            <c:strRef>
              <c:f>Sheet1!$C$1</c:f>
              <c:strCache>
                <c:ptCount val="1"/>
                <c:pt idx="0">
                  <c:v>Company is focused on exocrine pancreatic insufficiency (EPI) patients (e.g., offers patient-focused programs for financial support, treatment logistics, disease education, peer network building, etc.)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135-4EE8-B67F-31EDEB2E8D11}"/>
                </c:ext>
              </c:extLst>
            </c:dLbl>
            <c:dLbl>
              <c:idx val="1"/>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135-4EE8-B67F-31EDEB2E8D11}"/>
                </c:ext>
              </c:extLst>
            </c:dLbl>
            <c:dLbl>
              <c:idx val="2"/>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135-4EE8-B67F-31EDEB2E8D11}"/>
                </c:ext>
              </c:extLst>
            </c:dLbl>
            <c:dLbl>
              <c:idx val="3"/>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135-4EE8-B67F-31EDEB2E8D11}"/>
                </c:ext>
              </c:extLst>
            </c:dLbl>
            <c:dLbl>
              <c:idx val="4"/>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135-4EE8-B67F-31EDEB2E8D11}"/>
                </c:ext>
              </c:extLst>
            </c:dLbl>
            <c:dLbl>
              <c:idx val="5"/>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135-4EE8-B67F-31EDEB2E8D1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0.49</c:v>
                </c:pt>
                <c:pt idx="1">
                  <c:v>0.48</c:v>
                </c:pt>
                <c:pt idx="2">
                  <c:v>0.51</c:v>
                </c:pt>
                <c:pt idx="3">
                  <c:v>0.52</c:v>
                </c:pt>
                <c:pt idx="4">
                  <c:v>0.46</c:v>
                </c:pt>
                <c:pt idx="5">
                  <c:v>0.43</c:v>
                </c:pt>
                <c:pt idx="6">
                  <c:v>0.53</c:v>
                </c:pt>
                <c:pt idx="7">
                  <c:v>0.42</c:v>
                </c:pt>
                <c:pt idx="8">
                  <c:v>0.53</c:v>
                </c:pt>
                <c:pt idx="9">
                  <c:v>0.54</c:v>
                </c:pt>
                <c:pt idx="10">
                  <c:v>0.47</c:v>
                </c:pt>
                <c:pt idx="11">
                  <c:v>0.5</c:v>
                </c:pt>
                <c:pt idx="12">
                  <c:v>0.53</c:v>
                </c:pt>
                <c:pt idx="13">
                  <c:v>0.54</c:v>
                </c:pt>
                <c:pt idx="14">
                  <c:v>0.44</c:v>
                </c:pt>
              </c:numCache>
            </c:numRef>
          </c:val>
          <c:smooth val="0"/>
          <c:extLst>
            <c:ext xmlns:c16="http://schemas.microsoft.com/office/drawing/2014/chart" uri="{C3380CC4-5D6E-409C-BE32-E72D297353CC}">
              <c16:uniqueId val="{0000000B-0F84-4BCE-8901-0B7D50174B6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Company reps provide better support than the average exocrine pancreatic insufficiency (EPI) rep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888-45CF-BA76-DF61AD34EFF2}"/>
                </c:ext>
              </c:extLst>
            </c:dLbl>
            <c:dLbl>
              <c:idx val="1"/>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888-45CF-BA76-DF61AD34EFF2}"/>
                </c:ext>
              </c:extLst>
            </c:dLbl>
            <c:dLbl>
              <c:idx val="2"/>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888-45CF-BA76-DF61AD34EFF2}"/>
                </c:ext>
              </c:extLst>
            </c:dLbl>
            <c:dLbl>
              <c:idx val="3"/>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888-45CF-BA76-DF61AD34EFF2}"/>
                </c:ext>
              </c:extLst>
            </c:dLbl>
            <c:dLbl>
              <c:idx val="4"/>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888-45CF-BA76-DF61AD34EFF2}"/>
                </c:ext>
              </c:extLst>
            </c:dLbl>
            <c:dLbl>
              <c:idx val="5"/>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888-45CF-BA76-DF61AD34EFF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0.59</c:v>
                </c:pt>
                <c:pt idx="1">
                  <c:v>0.58</c:v>
                </c:pt>
                <c:pt idx="2">
                  <c:v>0.65</c:v>
                </c:pt>
                <c:pt idx="3">
                  <c:v>0.64</c:v>
                </c:pt>
                <c:pt idx="4">
                  <c:v>0.61</c:v>
                </c:pt>
                <c:pt idx="5">
                  <c:v>0.62</c:v>
                </c:pt>
                <c:pt idx="6">
                  <c:v>0.65</c:v>
                </c:pt>
                <c:pt idx="7">
                  <c:v>0.68</c:v>
                </c:pt>
                <c:pt idx="8">
                  <c:v>0.67</c:v>
                </c:pt>
                <c:pt idx="9">
                  <c:v>0.67</c:v>
                </c:pt>
                <c:pt idx="10">
                  <c:v>0.67</c:v>
                </c:pt>
                <c:pt idx="11">
                  <c:v>0.66</c:v>
                </c:pt>
                <c:pt idx="12">
                  <c:v>0.65</c:v>
                </c:pt>
                <c:pt idx="13">
                  <c:v>0.65</c:v>
                </c:pt>
                <c:pt idx="14">
                  <c:v>0.61</c:v>
                </c:pt>
              </c:numCache>
            </c:numRef>
          </c:val>
          <c:smooth val="0"/>
          <c:extLst>
            <c:ext xmlns:c16="http://schemas.microsoft.com/office/drawing/2014/chart" uri="{C3380CC4-5D6E-409C-BE32-E72D297353CC}">
              <c16:uniqueId val="{00000008-4549-4CC2-A3BE-A72BAEE1C3F6}"/>
            </c:ext>
          </c:extLst>
        </c:ser>
        <c:ser>
          <c:idx val="1"/>
          <c:order val="1"/>
          <c:tx>
            <c:strRef>
              <c:f>Sheet1!$C$1</c:f>
              <c:strCache>
                <c:ptCount val="1"/>
                <c:pt idx="0">
                  <c:v>Company reps provide better support than the average exocrine pancreatic insufficiency (EPI) rep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888-45CF-BA76-DF61AD34EFF2}"/>
                </c:ext>
              </c:extLst>
            </c:dLbl>
            <c:dLbl>
              <c:idx val="1"/>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888-45CF-BA76-DF61AD34EFF2}"/>
                </c:ext>
              </c:extLst>
            </c:dLbl>
            <c:dLbl>
              <c:idx val="2"/>
              <c:layout>
                <c:manualLayout>
                  <c:x val="-5.822611111111111E-2"/>
                  <c:y val="0.207442982456140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888-45CF-BA76-DF61AD34EFF2}"/>
                </c:ext>
              </c:extLst>
            </c:dLbl>
            <c:dLbl>
              <c:idx val="3"/>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888-45CF-BA76-DF61AD34EFF2}"/>
                </c:ext>
              </c:extLst>
            </c:dLbl>
            <c:dLbl>
              <c:idx val="4"/>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888-45CF-BA76-DF61AD34EFF2}"/>
                </c:ext>
              </c:extLst>
            </c:dLbl>
            <c:dLbl>
              <c:idx val="5"/>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888-45CF-BA76-DF61AD34EFF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0.45</c:v>
                </c:pt>
                <c:pt idx="1">
                  <c:v>0.42</c:v>
                </c:pt>
                <c:pt idx="2">
                  <c:v>0.47</c:v>
                </c:pt>
                <c:pt idx="3">
                  <c:v>0.48</c:v>
                </c:pt>
                <c:pt idx="4">
                  <c:v>0.44</c:v>
                </c:pt>
                <c:pt idx="5">
                  <c:v>0.45</c:v>
                </c:pt>
                <c:pt idx="6">
                  <c:v>0.51</c:v>
                </c:pt>
                <c:pt idx="7">
                  <c:v>0.4</c:v>
                </c:pt>
                <c:pt idx="8">
                  <c:v>0.49</c:v>
                </c:pt>
                <c:pt idx="9">
                  <c:v>0.52</c:v>
                </c:pt>
                <c:pt idx="10">
                  <c:v>0.43</c:v>
                </c:pt>
                <c:pt idx="11">
                  <c:v>0.48</c:v>
                </c:pt>
                <c:pt idx="12">
                  <c:v>0.51</c:v>
                </c:pt>
                <c:pt idx="13">
                  <c:v>0.51</c:v>
                </c:pt>
                <c:pt idx="14">
                  <c:v>0.41</c:v>
                </c:pt>
              </c:numCache>
            </c:numRef>
          </c:val>
          <c:smooth val="0"/>
          <c:extLst>
            <c:ext xmlns:c16="http://schemas.microsoft.com/office/drawing/2014/chart" uri="{C3380CC4-5D6E-409C-BE32-E72D297353CC}">
              <c16:uniqueId val="{00000011-4549-4CC2-A3BE-A72BAEE1C3F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Company offers innovative and differentiating exocrine pancreatic insufficiency (EPI) therapies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4DC-4B8D-9F60-130026F740EA}"/>
                </c:ext>
              </c:extLst>
            </c:dLbl>
            <c:dLbl>
              <c:idx val="1"/>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4DC-4B8D-9F60-130026F740EA}"/>
                </c:ext>
              </c:extLst>
            </c:dLbl>
            <c:dLbl>
              <c:idx val="2"/>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4DC-4B8D-9F60-130026F740EA}"/>
                </c:ext>
              </c:extLst>
            </c:dLbl>
            <c:dLbl>
              <c:idx val="3"/>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4DC-4B8D-9F60-130026F740EA}"/>
                </c:ext>
              </c:extLst>
            </c:dLbl>
            <c:dLbl>
              <c:idx val="4"/>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4DC-4B8D-9F60-130026F740EA}"/>
                </c:ext>
              </c:extLst>
            </c:dLbl>
            <c:dLbl>
              <c:idx val="5"/>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4DC-4B8D-9F60-130026F740E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0.6</c:v>
                </c:pt>
                <c:pt idx="1">
                  <c:v>0.55</c:v>
                </c:pt>
                <c:pt idx="2">
                  <c:v>0.58</c:v>
                </c:pt>
                <c:pt idx="3">
                  <c:v>0.58</c:v>
                </c:pt>
                <c:pt idx="4">
                  <c:v>0.53</c:v>
                </c:pt>
                <c:pt idx="5">
                  <c:v>0.54</c:v>
                </c:pt>
                <c:pt idx="6">
                  <c:v>0.6</c:v>
                </c:pt>
                <c:pt idx="7">
                  <c:v>0.58</c:v>
                </c:pt>
                <c:pt idx="8">
                  <c:v>0.59</c:v>
                </c:pt>
                <c:pt idx="9">
                  <c:v>0.59</c:v>
                </c:pt>
                <c:pt idx="10">
                  <c:v>0.59</c:v>
                </c:pt>
                <c:pt idx="11">
                  <c:v>0.58</c:v>
                </c:pt>
                <c:pt idx="12">
                  <c:v>0.6</c:v>
                </c:pt>
                <c:pt idx="13">
                  <c:v>0.59</c:v>
                </c:pt>
                <c:pt idx="14">
                  <c:v>0.58</c:v>
                </c:pt>
              </c:numCache>
            </c:numRef>
          </c:val>
          <c:smooth val="0"/>
          <c:extLst>
            <c:ext xmlns:c16="http://schemas.microsoft.com/office/drawing/2014/chart" uri="{C3380CC4-5D6E-409C-BE32-E72D297353CC}">
              <c16:uniqueId val="{00000004-66FD-44D8-AD56-D498E03EE8AA}"/>
            </c:ext>
          </c:extLst>
        </c:ser>
        <c:ser>
          <c:idx val="1"/>
          <c:order val="1"/>
          <c:tx>
            <c:strRef>
              <c:f>Sheet1!$C$1</c:f>
              <c:strCache>
                <c:ptCount val="1"/>
                <c:pt idx="0">
                  <c:v>Company offers innovative and differentiating exocrine pancreatic insufficiency (EPI) therapies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4DC-4B8D-9F60-130026F740EA}"/>
                </c:ext>
              </c:extLst>
            </c:dLbl>
            <c:dLbl>
              <c:idx val="1"/>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4DC-4B8D-9F60-130026F740EA}"/>
                </c:ext>
              </c:extLst>
            </c:dLbl>
            <c:dLbl>
              <c:idx val="2"/>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4DC-4B8D-9F60-130026F740EA}"/>
                </c:ext>
              </c:extLst>
            </c:dLbl>
            <c:dLbl>
              <c:idx val="3"/>
              <c:layout>
                <c:manualLayout>
                  <c:x val="-5.822611111111111E-2"/>
                  <c:y val="0.207442982456140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4DC-4B8D-9F60-130026F740EA}"/>
                </c:ext>
              </c:extLst>
            </c:dLbl>
            <c:dLbl>
              <c:idx val="4"/>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4DC-4B8D-9F60-130026F740EA}"/>
                </c:ext>
              </c:extLst>
            </c:dLbl>
            <c:dLbl>
              <c:idx val="5"/>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4DC-4B8D-9F60-130026F740E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0.49</c:v>
                </c:pt>
                <c:pt idx="1">
                  <c:v>0.49</c:v>
                </c:pt>
                <c:pt idx="2">
                  <c:v>0.52</c:v>
                </c:pt>
                <c:pt idx="3">
                  <c:v>0.53</c:v>
                </c:pt>
                <c:pt idx="4">
                  <c:v>0.48</c:v>
                </c:pt>
                <c:pt idx="5">
                  <c:v>0.48</c:v>
                </c:pt>
                <c:pt idx="6">
                  <c:v>0.47</c:v>
                </c:pt>
                <c:pt idx="7">
                  <c:v>0.47</c:v>
                </c:pt>
                <c:pt idx="8">
                  <c:v>0.51</c:v>
                </c:pt>
                <c:pt idx="9">
                  <c:v>0.55</c:v>
                </c:pt>
                <c:pt idx="10">
                  <c:v>0.46</c:v>
                </c:pt>
                <c:pt idx="11">
                  <c:v>0.47</c:v>
                </c:pt>
                <c:pt idx="12">
                  <c:v>0.47</c:v>
                </c:pt>
                <c:pt idx="13">
                  <c:v>0.48</c:v>
                </c:pt>
                <c:pt idx="14">
                  <c:v>0.44</c:v>
                </c:pt>
              </c:numCache>
            </c:numRef>
          </c:val>
          <c:smooth val="0"/>
          <c:extLst>
            <c:ext xmlns:c16="http://schemas.microsoft.com/office/drawing/2014/chart" uri="{C3380CC4-5D6E-409C-BE32-E72D297353CC}">
              <c16:uniqueId val="{00000009-66FD-44D8-AD56-D498E03EE8A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Company is focused on affordability and access (e.g., offers reimbursement support programs, product pricing reflects value, products are well-covered by insurers, etc.)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7C9-45D5-87FA-3EFA6A009F50}"/>
                </c:ext>
              </c:extLst>
            </c:dLbl>
            <c:dLbl>
              <c:idx val="1"/>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7C9-45D5-87FA-3EFA6A009F50}"/>
                </c:ext>
              </c:extLst>
            </c:dLbl>
            <c:dLbl>
              <c:idx val="2"/>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7C9-45D5-87FA-3EFA6A009F50}"/>
                </c:ext>
              </c:extLst>
            </c:dLbl>
            <c:dLbl>
              <c:idx val="3"/>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7C9-45D5-87FA-3EFA6A009F50}"/>
                </c:ext>
              </c:extLst>
            </c:dLbl>
            <c:dLbl>
              <c:idx val="4"/>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7C9-45D5-87FA-3EFA6A009F50}"/>
                </c:ext>
              </c:extLst>
            </c:dLbl>
            <c:dLbl>
              <c:idx val="5"/>
              <c:layout>
                <c:manualLayout>
                  <c:x val="-5.822611111111111E-2"/>
                  <c:y val="-0.24480921052631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7C9-45D5-87FA-3EFA6A009F5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0.54</c:v>
                </c:pt>
                <c:pt idx="1">
                  <c:v>0.58</c:v>
                </c:pt>
                <c:pt idx="2">
                  <c:v>0.61</c:v>
                </c:pt>
                <c:pt idx="3">
                  <c:v>0.59</c:v>
                </c:pt>
                <c:pt idx="4">
                  <c:v>0.54</c:v>
                </c:pt>
                <c:pt idx="5">
                  <c:v>0.57</c:v>
                </c:pt>
                <c:pt idx="6">
                  <c:v>0.56</c:v>
                </c:pt>
                <c:pt idx="7">
                  <c:v>0.48</c:v>
                </c:pt>
                <c:pt idx="8">
                  <c:v>0.6</c:v>
                </c:pt>
                <c:pt idx="9">
                  <c:v>0.6</c:v>
                </c:pt>
                <c:pt idx="10">
                  <c:v>0.5</c:v>
                </c:pt>
                <c:pt idx="11">
                  <c:v>0.6</c:v>
                </c:pt>
                <c:pt idx="12">
                  <c:v>0.58</c:v>
                </c:pt>
                <c:pt idx="13">
                  <c:v>0.62</c:v>
                </c:pt>
                <c:pt idx="14">
                  <c:v>0.46</c:v>
                </c:pt>
              </c:numCache>
            </c:numRef>
          </c:val>
          <c:smooth val="0"/>
          <c:extLst>
            <c:ext xmlns:c16="http://schemas.microsoft.com/office/drawing/2014/chart" uri="{C3380CC4-5D6E-409C-BE32-E72D297353CC}">
              <c16:uniqueId val="{00000001-75B2-4B57-9970-48150A324B6F}"/>
            </c:ext>
          </c:extLst>
        </c:ser>
        <c:ser>
          <c:idx val="1"/>
          <c:order val="1"/>
          <c:tx>
            <c:strRef>
              <c:f>Sheet1!$C$1</c:f>
              <c:strCache>
                <c:ptCount val="1"/>
                <c:pt idx="0">
                  <c:v>Company is focused on affordability and access (e.g., offers reimbursement support programs, product pricing reflects value, products are well-covered by insurers, etc.)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Lbls>
            <c:dLbl>
              <c:idx val="0"/>
              <c:layout>
                <c:manualLayout>
                  <c:x val="-5.822611111111111E-2"/>
                  <c:y val="0.207442982456140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7C9-45D5-87FA-3EFA6A009F50}"/>
                </c:ext>
              </c:extLst>
            </c:dLbl>
            <c:dLbl>
              <c:idx val="1"/>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7C9-45D5-87FA-3EFA6A009F50}"/>
                </c:ext>
              </c:extLst>
            </c:dLbl>
            <c:dLbl>
              <c:idx val="2"/>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7C9-45D5-87FA-3EFA6A009F50}"/>
                </c:ext>
              </c:extLst>
            </c:dLbl>
            <c:dLbl>
              <c:idx val="3"/>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7C9-45D5-87FA-3EFA6A009F50}"/>
                </c:ext>
              </c:extLst>
            </c:dLbl>
            <c:dLbl>
              <c:idx val="4"/>
              <c:layout>
                <c:manualLayout>
                  <c:x val="-5.822611111111111E-2"/>
                  <c:y val="0.207442982456140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7C9-45D5-87FA-3EFA6A009F50}"/>
                </c:ext>
              </c:extLst>
            </c:dLbl>
            <c:dLbl>
              <c:idx val="5"/>
              <c:layout>
                <c:manualLayout>
                  <c:x val="-5.822611111111111E-2"/>
                  <c:y val="0.207442982456140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7C9-45D5-87FA-3EFA6A009F5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0.47</c:v>
                </c:pt>
                <c:pt idx="1">
                  <c:v>0.42</c:v>
                </c:pt>
                <c:pt idx="2">
                  <c:v>0.44</c:v>
                </c:pt>
                <c:pt idx="3">
                  <c:v>0.45</c:v>
                </c:pt>
                <c:pt idx="4">
                  <c:v>0.43</c:v>
                </c:pt>
                <c:pt idx="5">
                  <c:v>0.46</c:v>
                </c:pt>
                <c:pt idx="6">
                  <c:v>0.52</c:v>
                </c:pt>
                <c:pt idx="7">
                  <c:v>0.42</c:v>
                </c:pt>
                <c:pt idx="8">
                  <c:v>0.51</c:v>
                </c:pt>
                <c:pt idx="9">
                  <c:v>0.51</c:v>
                </c:pt>
                <c:pt idx="10">
                  <c:v>0.41</c:v>
                </c:pt>
                <c:pt idx="11">
                  <c:v>0.44</c:v>
                </c:pt>
                <c:pt idx="12">
                  <c:v>0.52</c:v>
                </c:pt>
                <c:pt idx="13">
                  <c:v>0.49</c:v>
                </c:pt>
                <c:pt idx="14">
                  <c:v>0.41</c:v>
                </c:pt>
              </c:numCache>
            </c:numRef>
          </c:val>
          <c:smooth val="0"/>
          <c:extLst>
            <c:ext xmlns:c16="http://schemas.microsoft.com/office/drawing/2014/chart" uri="{C3380CC4-5D6E-409C-BE32-E72D297353CC}">
              <c16:uniqueId val="{00000003-75B2-4B57-9970-48150A324B6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Company is a leader in the exocrine pancreatic insufficiency (EPI) space.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Lbls>
            <c:dLbl>
              <c:idx val="0"/>
              <c:layout>
                <c:manualLayout>
                  <c:x val="-5.822611111111111E-2"/>
                  <c:y val="-0.214524122807017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575-4C80-9A3A-D16CDFF7D588}"/>
                </c:ext>
              </c:extLst>
            </c:dLbl>
            <c:dLbl>
              <c:idx val="1"/>
              <c:layout>
                <c:manualLayout>
                  <c:x val="-5.822611111111111E-2"/>
                  <c:y val="-0.226354532163742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575-4C80-9A3A-D16CDFF7D588}"/>
                </c:ext>
              </c:extLst>
            </c:dLbl>
            <c:dLbl>
              <c:idx val="2"/>
              <c:layout>
                <c:manualLayout>
                  <c:x val="-5.822611111111111E-2"/>
                  <c:y val="-0.226354532163742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575-4C80-9A3A-D16CDFF7D588}"/>
                </c:ext>
              </c:extLst>
            </c:dLbl>
            <c:dLbl>
              <c:idx val="3"/>
              <c:layout>
                <c:manualLayout>
                  <c:x val="-5.822611111111111E-2"/>
                  <c:y val="-0.214524122807017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575-4C80-9A3A-D16CDFF7D588}"/>
                </c:ext>
              </c:extLst>
            </c:dLbl>
            <c:dLbl>
              <c:idx val="4"/>
              <c:layout>
                <c:manualLayout>
                  <c:x val="-5.822611111111111E-2"/>
                  <c:y val="-0.238184941520467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575-4C80-9A3A-D16CDFF7D588}"/>
                </c:ext>
              </c:extLst>
            </c:dLbl>
            <c:dLbl>
              <c:idx val="5"/>
              <c:layout>
                <c:manualLayout>
                  <c:x val="-5.822611111111111E-2"/>
                  <c:y val="-0.226354532163742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575-4C80-9A3A-D16CDFF7D58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0.71</c:v>
                </c:pt>
                <c:pt idx="1">
                  <c:v>0.69</c:v>
                </c:pt>
                <c:pt idx="2">
                  <c:v>0.69</c:v>
                </c:pt>
                <c:pt idx="3">
                  <c:v>0.71</c:v>
                </c:pt>
                <c:pt idx="4">
                  <c:v>0.67</c:v>
                </c:pt>
                <c:pt idx="5">
                  <c:v>0.69</c:v>
                </c:pt>
                <c:pt idx="6">
                  <c:v>0.76</c:v>
                </c:pt>
                <c:pt idx="7">
                  <c:v>0.7</c:v>
                </c:pt>
                <c:pt idx="8">
                  <c:v>0.77</c:v>
                </c:pt>
                <c:pt idx="9">
                  <c:v>0.75</c:v>
                </c:pt>
                <c:pt idx="10">
                  <c:v>0.67</c:v>
                </c:pt>
                <c:pt idx="11">
                  <c:v>0.7</c:v>
                </c:pt>
                <c:pt idx="12">
                  <c:v>0.74</c:v>
                </c:pt>
                <c:pt idx="13">
                  <c:v>0.73</c:v>
                </c:pt>
                <c:pt idx="14">
                  <c:v>0.73</c:v>
                </c:pt>
              </c:numCache>
            </c:numRef>
          </c:val>
          <c:smooth val="0"/>
          <c:extLst>
            <c:ext xmlns:c16="http://schemas.microsoft.com/office/drawing/2014/chart" uri="{C3380CC4-5D6E-409C-BE32-E72D297353CC}">
              <c16:uniqueId val="{00000006-5575-4C80-9A3A-D16CDFF7D588}"/>
            </c:ext>
          </c:extLst>
        </c:ser>
        <c:ser>
          <c:idx val="1"/>
          <c:order val="1"/>
          <c:tx>
            <c:strRef>
              <c:f>Sheet1!$C$1</c:f>
              <c:strCache>
                <c:ptCount val="1"/>
                <c:pt idx="0">
                  <c:v>Company is a leader in the exocrine pancreatic insufficiency (EPI) space. - ZENPEP</c:v>
                </c:pt>
              </c:strCache>
            </c:strRef>
          </c:tx>
          <c:spPr>
            <a:ln w="28575" cap="rnd">
              <a:solidFill>
                <a:srgbClr val="9778D4"/>
              </a:solidFill>
              <a:round/>
            </a:ln>
            <a:effectLst/>
          </c:spPr>
          <c:marker>
            <c:symbol val="circle"/>
            <c:size val="5"/>
            <c:spPr>
              <a:solidFill>
                <a:srgbClr val="9778D4"/>
              </a:solidFill>
              <a:ln w="28575">
                <a:solidFill>
                  <a:srgbClr val="9778D4"/>
                </a:solidFill>
                <a:prstDash val="solid"/>
              </a:ln>
              <a:effectLst/>
            </c:spPr>
          </c:marker>
          <c:dLbls>
            <c:dLbl>
              <c:idx val="0"/>
              <c:layout>
                <c:manualLayout>
                  <c:x val="-6.1753888888888886E-2"/>
                  <c:y val="0.22601023391812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575-4C80-9A3A-D16CDFF7D588}"/>
                </c:ext>
              </c:extLst>
            </c:dLbl>
            <c:dLbl>
              <c:idx val="1"/>
              <c:layout>
                <c:manualLayout>
                  <c:x val="-6.1753888888888886E-2"/>
                  <c:y val="0.22601023391812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575-4C80-9A3A-D16CDFF7D588}"/>
                </c:ext>
              </c:extLst>
            </c:dLbl>
            <c:dLbl>
              <c:idx val="2"/>
              <c:layout>
                <c:manualLayout>
                  <c:x val="-6.1753888888888886E-2"/>
                  <c:y val="0.22601023391812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575-4C80-9A3A-D16CDFF7D588}"/>
                </c:ext>
              </c:extLst>
            </c:dLbl>
            <c:dLbl>
              <c:idx val="3"/>
              <c:layout>
                <c:manualLayout>
                  <c:x val="-6.1753888888888886E-2"/>
                  <c:y val="0.22601023391812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575-4C80-9A3A-D16CDFF7D588}"/>
                </c:ext>
              </c:extLst>
            </c:dLbl>
            <c:dLbl>
              <c:idx val="4"/>
              <c:layout>
                <c:manualLayout>
                  <c:x val="-6.1753888888888886E-2"/>
                  <c:y val="0.2260102339181286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575-4C80-9A3A-D16CDFF7D588}"/>
                </c:ext>
              </c:extLst>
            </c:dLbl>
            <c:dLbl>
              <c:idx val="5"/>
              <c:layout>
                <c:manualLayout>
                  <c:x val="-6.1753888888888886E-2"/>
                  <c:y val="0.22601023391812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575-4C80-9A3A-D16CDFF7D58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0.51</c:v>
                </c:pt>
                <c:pt idx="1">
                  <c:v>0.52</c:v>
                </c:pt>
                <c:pt idx="2">
                  <c:v>0.53</c:v>
                </c:pt>
                <c:pt idx="3">
                  <c:v>0.55</c:v>
                </c:pt>
                <c:pt idx="4">
                  <c:v>0.5</c:v>
                </c:pt>
                <c:pt idx="5">
                  <c:v>0.51</c:v>
                </c:pt>
                <c:pt idx="6">
                  <c:v>0.52</c:v>
                </c:pt>
                <c:pt idx="7">
                  <c:v>0.46</c:v>
                </c:pt>
                <c:pt idx="8">
                  <c:v>0.48</c:v>
                </c:pt>
                <c:pt idx="9">
                  <c:v>0.5</c:v>
                </c:pt>
                <c:pt idx="10">
                  <c:v>0.49</c:v>
                </c:pt>
                <c:pt idx="11">
                  <c:v>0.47</c:v>
                </c:pt>
                <c:pt idx="12">
                  <c:v>0.53</c:v>
                </c:pt>
                <c:pt idx="13">
                  <c:v>0.51</c:v>
                </c:pt>
                <c:pt idx="14">
                  <c:v>0.47</c:v>
                </c:pt>
              </c:numCache>
            </c:numRef>
          </c:val>
          <c:smooth val="0"/>
          <c:extLst>
            <c:ext xmlns:c16="http://schemas.microsoft.com/office/drawing/2014/chart" uri="{C3380CC4-5D6E-409C-BE32-E72D297353CC}">
              <c16:uniqueId val="{00000007-5575-4C80-9A3A-D16CDFF7D58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3415035696466364"/>
          <c:h val="0.99980300925925925"/>
        </c:manualLayout>
      </c:layout>
      <c:barChart>
        <c:barDir val="bar"/>
        <c:grouping val="clustered"/>
        <c:varyColors val="0"/>
        <c:ser>
          <c:idx val="0"/>
          <c:order val="0"/>
          <c:tx>
            <c:strRef>
              <c:f>Sheet1!$B$1</c:f>
              <c:strCache>
                <c:ptCount val="1"/>
                <c:pt idx="0">
                  <c:v>Mar'26</c:v>
                </c:pt>
              </c:strCache>
            </c:strRef>
          </c:tx>
          <c:spPr>
            <a:solidFill>
              <a:schemeClr val="bg1">
                <a:lumMod val="85000"/>
              </a:schemeClr>
            </a:solidFill>
            <a:ln>
              <a:noFill/>
            </a:ln>
            <a:effectLst/>
          </c:spPr>
          <c:invertIfNegative val="0"/>
          <c:dPt>
            <c:idx val="0"/>
            <c:invertIfNegative val="0"/>
            <c:bubble3D val="0"/>
            <c:extLst>
              <c:ext xmlns:c16="http://schemas.microsoft.com/office/drawing/2014/chart" uri="{C3380CC4-5D6E-409C-BE32-E72D297353CC}">
                <c16:uniqueId val="{00000000-7C84-439E-A5F0-37D3B358F2DC}"/>
              </c:ext>
            </c:extLst>
          </c:dPt>
          <c:dPt>
            <c:idx val="1"/>
            <c:invertIfNegative val="0"/>
            <c:bubble3D val="0"/>
            <c:extLst>
              <c:ext xmlns:c16="http://schemas.microsoft.com/office/drawing/2014/chart" uri="{C3380CC4-5D6E-409C-BE32-E72D297353CC}">
                <c16:uniqueId val="{00000001-7C84-439E-A5F0-37D3B358F2DC}"/>
              </c:ext>
            </c:extLst>
          </c:dPt>
          <c:dPt>
            <c:idx val="2"/>
            <c:invertIfNegative val="0"/>
            <c:bubble3D val="0"/>
            <c:extLst>
              <c:ext xmlns:c16="http://schemas.microsoft.com/office/drawing/2014/chart" uri="{C3380CC4-5D6E-409C-BE32-E72D297353CC}">
                <c16:uniqueId val="{00000002-7C84-439E-A5F0-37D3B358F2DC}"/>
              </c:ext>
            </c:extLst>
          </c:dPt>
          <c:dPt>
            <c:idx val="3"/>
            <c:invertIfNegative val="0"/>
            <c:bubble3D val="0"/>
            <c:extLst>
              <c:ext xmlns:c16="http://schemas.microsoft.com/office/drawing/2014/chart" uri="{C3380CC4-5D6E-409C-BE32-E72D297353CC}">
                <c16:uniqueId val="{00000003-7C84-439E-A5F0-37D3B358F2DC}"/>
              </c:ext>
            </c:extLst>
          </c:dPt>
          <c:dPt>
            <c:idx val="4"/>
            <c:invertIfNegative val="0"/>
            <c:bubble3D val="0"/>
            <c:extLst>
              <c:ext xmlns:c16="http://schemas.microsoft.com/office/drawing/2014/chart" uri="{C3380CC4-5D6E-409C-BE32-E72D297353CC}">
                <c16:uniqueId val="{00000004-7C84-439E-A5F0-37D3B358F2DC}"/>
              </c:ext>
            </c:extLst>
          </c:dPt>
          <c:dPt>
            <c:idx val="5"/>
            <c:invertIfNegative val="0"/>
            <c:bubble3D val="0"/>
            <c:extLst>
              <c:ext xmlns:c16="http://schemas.microsoft.com/office/drawing/2014/chart" uri="{C3380CC4-5D6E-409C-BE32-E72D297353CC}">
                <c16:uniqueId val="{00000005-7C84-439E-A5F0-37D3B358F2DC}"/>
              </c:ext>
            </c:extLst>
          </c:dPt>
          <c:dPt>
            <c:idx val="6"/>
            <c:invertIfNegative val="0"/>
            <c:bubble3D val="0"/>
            <c:extLst>
              <c:ext xmlns:c16="http://schemas.microsoft.com/office/drawing/2014/chart" uri="{C3380CC4-5D6E-409C-BE32-E72D297353CC}">
                <c16:uniqueId val="{00000006-7C84-439E-A5F0-37D3B358F2DC}"/>
              </c:ext>
            </c:extLst>
          </c:dPt>
          <c:dLbls>
            <c:dLbl>
              <c:idx val="0"/>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C84-439E-A5F0-37D3B358F2DC}"/>
                </c:ext>
              </c:extLst>
            </c:dLbl>
            <c:dLbl>
              <c:idx val="1"/>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C84-439E-A5F0-37D3B358F2DC}"/>
                </c:ext>
              </c:extLst>
            </c:dLbl>
            <c:dLbl>
              <c:idx val="2"/>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C84-439E-A5F0-37D3B358F2DC}"/>
                </c:ext>
              </c:extLst>
            </c:dLbl>
            <c:dLbl>
              <c:idx val="3"/>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C84-439E-A5F0-37D3B358F2DC}"/>
                </c:ext>
              </c:extLst>
            </c:dLbl>
            <c:dLbl>
              <c:idx val="4"/>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C84-439E-A5F0-37D3B358F2DC}"/>
                </c:ext>
              </c:extLst>
            </c:dLbl>
            <c:dLbl>
              <c:idx val="5"/>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C84-439E-A5F0-37D3B358F2DC}"/>
                </c:ext>
              </c:extLst>
            </c:dLbl>
            <c:dLbl>
              <c:idx val="6"/>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C84-439E-A5F0-37D3B358F2DC}"/>
                </c:ext>
              </c:extLst>
            </c:dLbl>
            <c:dLbl>
              <c:idx val="7"/>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EA6-4F04-9192-C9A582AE4D9B}"/>
                </c:ext>
              </c:extLst>
            </c:dLbl>
            <c:dLbl>
              <c:idx val="8"/>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EA6-4F04-9192-C9A582AE4D9B}"/>
                </c:ext>
              </c:extLst>
            </c:dLbl>
            <c:dLbl>
              <c:idx val="9"/>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EA6-4F04-9192-C9A582AE4D9B}"/>
                </c:ext>
              </c:extLst>
            </c:dLbl>
            <c:dLbl>
              <c:idx val="10"/>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EA6-4F04-9192-C9A582AE4D9B}"/>
                </c:ext>
              </c:extLst>
            </c:dLbl>
            <c:dLbl>
              <c:idx val="11"/>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9EA6-4F04-9192-C9A582AE4D9B}"/>
                </c:ext>
              </c:extLst>
            </c:dLbl>
            <c:dLbl>
              <c:idx val="12"/>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EA6-4F04-9192-C9A582AE4D9B}"/>
                </c:ext>
              </c:extLst>
            </c:dLbl>
            <c:dLbl>
              <c:idx val="13"/>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EA6-4F04-9192-C9A582AE4D9B}"/>
                </c:ext>
              </c:extLst>
            </c:dLbl>
            <c:dLbl>
              <c:idx val="14"/>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9EA6-4F04-9192-C9A582AE4D9B}"/>
                </c:ext>
              </c:extLst>
            </c:dLbl>
            <c:dLbl>
              <c:idx val="15"/>
              <c:spPr>
                <a:noFill/>
                <a:ln>
                  <a:noFill/>
                </a:ln>
                <a:effectLst/>
              </c:spPr>
              <c:txPr>
                <a:bodyPr wrap="square" lIns="38100" tIns="19050" rIns="38100" bIns="19050" anchor="ctr">
                  <a:spAutoFit/>
                </a:bodyPr>
                <a:lstStyle/>
                <a:p>
                  <a:pPr>
                    <a:defRPr sz="1000" b="0" i="0" u="none" strike="noStrike">
                      <a:solidFill>
                        <a:srgbClr val="071D49"/>
                      </a:solidFill>
                      <a:latin typeface="Arial"/>
                      <a:ea typeface="Arial"/>
                      <a:cs typeface="Aria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910-461E-9430-5F3137E77DF1}"/>
                </c:ext>
              </c:extLst>
            </c:dLbl>
            <c:dLbl>
              <c:idx val="16"/>
              <c:numFmt formatCode="0%" sourceLinked="0"/>
              <c:spPr>
                <a:noFill/>
                <a:ln>
                  <a:noFill/>
                </a:ln>
                <a:effectLst/>
              </c:spPr>
              <c:txPr>
                <a:bodyPr rot="0" vert="horz"/>
                <a:lstStyle/>
                <a:p>
                  <a:pPr>
                    <a:defRPr sz="1000" b="0" i="0" u="none" strike="noStrike">
                      <a:solidFill>
                        <a:srgbClr val="071D49"/>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9EA6-4F04-9192-C9A582AE4D9B}"/>
                </c:ext>
              </c:extLst>
            </c:dLbl>
            <c:numFmt formatCode="0%" sourceLinked="0"/>
            <c:spPr>
              <a:noFill/>
              <a:ln>
                <a:noFill/>
              </a:ln>
              <a:effectLst/>
            </c:spPr>
            <c:txPr>
              <a:bodyPr rot="0" vert="horz"/>
              <a:lstStyle/>
              <a:p>
                <a:pPr>
                  <a:defRPr>
                    <a:solidFill>
                      <a:schemeClr val="tx1"/>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Sheet1!$A$2:$A$19</c:f>
              <c:strCache>
                <c:ptCount val="18"/>
                <c:pt idx="0">
                  <c:v>I have seen more patients with chronic pancreatitis</c:v>
                </c:pt>
                <c:pt idx="1">
                  <c:v>Increased patient awareness of exocrine pancreatic insufficiency (EPI)</c:v>
                </c:pt>
                <c:pt idx="2">
                  <c:v>Increased referrals of patients with exocrine pancreatic insufficiency (EPI)</c:v>
                </c:pt>
                <c:pt idx="3">
                  <c:v>Recent increase in performing confirmatory tests related to exocrine pancreatic insufficiency (EPI)</c:v>
                </c:pt>
                <c:pt idx="4">
                  <c:v>Recent increase in performing clinical tests related to exocrine pancreatic insufficiency (EPI)</c:v>
                </c:pt>
                <c:pt idx="5">
                  <c:v>I have seen more patients with type 2 diabetes</c:v>
                </c:pt>
                <c:pt idx="6">
                  <c:v>I have seen more patients with acute pancreatitis</c:v>
                </c:pt>
                <c:pt idx="7">
                  <c:v>I have seen more patients with pancreatic cancer</c:v>
                </c:pt>
                <c:pt idx="8">
                  <c:v>I have seen more patients with celiac disease</c:v>
                </c:pt>
                <c:pt idx="9">
                  <c:v>I have seen more patients with inflammatory bowel disease</c:v>
                </c:pt>
                <c:pt idx="10">
                  <c:v>I have seen more patients who have had recent surgery on the digestive tract (including weight loss surgery)</c:v>
                </c:pt>
                <c:pt idx="11">
                  <c:v>I have seen more patients with type 1 diabetes</c:v>
                </c:pt>
                <c:pt idx="12">
                  <c:v>I have performed more colonoscopies due to increased patient volume</c:v>
                </c:pt>
                <c:pt idx="13">
                  <c:v>I have seen more patients with Crohn's disease</c:v>
                </c:pt>
                <c:pt idx="14">
                  <c:v>I have performed more colonoscopies based on updated screening guidelines</c:v>
                </c:pt>
                <c:pt idx="15">
                  <c:v>I have seen more patients who have underwent a pancreatectomy</c:v>
                </c:pt>
                <c:pt idx="16">
                  <c:v>I have seen more patients with cystic fibrosis</c:v>
                </c:pt>
                <c:pt idx="17">
                  <c:v>Other</c:v>
                </c:pt>
              </c:strCache>
            </c:strRef>
          </c:cat>
          <c:val>
            <c:numRef>
              <c:f>Sheet1!$B$2:$B$19</c:f>
              <c:numCache>
                <c:formatCode>0%</c:formatCode>
                <c:ptCount val="18"/>
                <c:pt idx="0">
                  <c:v>0.56</c:v>
                </c:pt>
                <c:pt idx="1">
                  <c:v>0.53</c:v>
                </c:pt>
                <c:pt idx="2">
                  <c:v>0.47</c:v>
                </c:pt>
                <c:pt idx="3">
                  <c:v>0.47</c:v>
                </c:pt>
                <c:pt idx="4">
                  <c:v>0.44</c:v>
                </c:pt>
                <c:pt idx="5">
                  <c:v>0.38</c:v>
                </c:pt>
                <c:pt idx="6">
                  <c:v>0.29</c:v>
                </c:pt>
                <c:pt idx="7">
                  <c:v>0.22</c:v>
                </c:pt>
                <c:pt idx="8">
                  <c:v>0.2</c:v>
                </c:pt>
                <c:pt idx="9">
                  <c:v>0.2</c:v>
                </c:pt>
                <c:pt idx="10">
                  <c:v>0.18</c:v>
                </c:pt>
                <c:pt idx="11">
                  <c:v>0.18</c:v>
                </c:pt>
                <c:pt idx="12">
                  <c:v>0.13</c:v>
                </c:pt>
                <c:pt idx="13">
                  <c:v>0.13</c:v>
                </c:pt>
                <c:pt idx="14">
                  <c:v>0.09</c:v>
                </c:pt>
                <c:pt idx="15">
                  <c:v>0.07</c:v>
                </c:pt>
                <c:pt idx="16">
                  <c:v>0.07</c:v>
                </c:pt>
                <c:pt idx="17">
                  <c:v>0.02</c:v>
                </c:pt>
              </c:numCache>
            </c:numRef>
          </c:val>
          <c:extLst>
            <c:ext xmlns:c16="http://schemas.microsoft.com/office/drawing/2014/chart" uri="{C3380CC4-5D6E-409C-BE32-E72D297353CC}">
              <c16:uniqueId val="{00000007-7C84-439E-A5F0-37D3B358F2DC}"/>
            </c:ext>
          </c:extLst>
        </c:ser>
        <c:dLbls>
          <c:dLblPos val="outEnd"/>
          <c:showLegendKey val="0"/>
          <c:showVal val="1"/>
          <c:showCatName val="0"/>
          <c:showSerName val="0"/>
          <c:showPercent val="0"/>
          <c:showBubbleSize val="0"/>
        </c:dLbls>
        <c:gapWidth val="58"/>
        <c:axId val="422529552"/>
        <c:axId val="422528376"/>
        <c:extLst/>
      </c:barChart>
      <c:catAx>
        <c:axId val="422529552"/>
        <c:scaling>
          <c:orientation val="maxMin"/>
        </c:scaling>
        <c:delete val="1"/>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in val="0"/>
        </c:scaling>
        <c:delete val="1"/>
        <c:axPos val="b"/>
        <c:numFmt formatCode="0%" sourceLinked="1"/>
        <c:majorTickMark val="out"/>
        <c:minorTickMark val="none"/>
        <c:tickLblPos val="nextTo"/>
        <c:crossAx val="422529552"/>
        <c:crosses val="max"/>
        <c:crossBetween val="between"/>
        <c:majorUnit val="0.2"/>
      </c:valAx>
      <c:spPr>
        <a:noFill/>
        <a:ln>
          <a:noFill/>
        </a:ln>
        <a:effectLst/>
      </c:spPr>
    </c:plotArea>
    <c:plotVisOnly val="1"/>
    <c:dispBlanksAs val="gap"/>
    <c:showDLblsOverMax val="0"/>
  </c:chart>
  <c:spPr>
    <a:noFill/>
    <a:ln>
      <a:noFill/>
    </a:ln>
    <a:effectLst/>
  </c:spPr>
  <c:txPr>
    <a:bodyPr/>
    <a:lstStyle/>
    <a:p>
      <a:pPr algn="just">
        <a:defRPr sz="1000">
          <a:latin typeface="+mj-lt"/>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6510800349501E-2"/>
          <c:y val="1.8326250550148269E-2"/>
          <c:w val="0.95269783993009982"/>
          <c:h val="0.98167374944985175"/>
        </c:manualLayout>
      </c:layout>
      <c:lineChart>
        <c:grouping val="standard"/>
        <c:varyColors val="0"/>
        <c:ser>
          <c:idx val="0"/>
          <c:order val="0"/>
          <c:tx>
            <c:strRef>
              <c:f>Sheet1!$B$1</c:f>
              <c:strCache>
                <c:ptCount val="1"/>
                <c:pt idx="0">
                  <c:v>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3.7637553377880432E-2"/>
                  <c:y val="-0.241231150793650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E35-4DFF-B703-556FB4E2F5E3}"/>
                </c:ext>
              </c:extLst>
            </c:dLbl>
            <c:dLbl>
              <c:idx val="1"/>
              <c:layout>
                <c:manualLayout>
                  <c:x val="-3.7637553377880432E-2"/>
                  <c:y val="-0.1430625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E35-4DFF-B703-556FB4E2F5E3}"/>
                </c:ext>
              </c:extLst>
            </c:dLbl>
            <c:dLbl>
              <c:idx val="2"/>
              <c:layout>
                <c:manualLayout>
                  <c:x val="-3.7637553377880432E-2"/>
                  <c:y val="-0.241231150793650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E35-4DFF-B703-556FB4E2F5E3}"/>
                </c:ext>
              </c:extLst>
            </c:dLbl>
            <c:dLbl>
              <c:idx val="3"/>
              <c:layout>
                <c:manualLayout>
                  <c:x val="-3.7637553377880432E-2"/>
                  <c:y val="-0.339397817460317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E35-4DFF-B703-556FB4E2F5E3}"/>
                </c:ext>
              </c:extLst>
            </c:dLbl>
            <c:dLbl>
              <c:idx val="4"/>
              <c:layout>
                <c:manualLayout>
                  <c:x val="-3.7637553377880432E-2"/>
                  <c:y val="-0.314856150793650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E35-4DFF-B703-556FB4E2F5E3}"/>
                </c:ext>
              </c:extLst>
            </c:dLbl>
            <c:dLbl>
              <c:idx val="5"/>
              <c:layout>
                <c:manualLayout>
                  <c:x val="-3.7637553377880432E-2"/>
                  <c:y val="-0.290314484126984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E35-4DFF-B703-556FB4E2F5E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0.62</c:v>
                </c:pt>
                <c:pt idx="1">
                  <c:v>0.66</c:v>
                </c:pt>
                <c:pt idx="2">
                  <c:v>0.62</c:v>
                </c:pt>
                <c:pt idx="3">
                  <c:v>0.58</c:v>
                </c:pt>
                <c:pt idx="4">
                  <c:v>0.59</c:v>
                </c:pt>
                <c:pt idx="5">
                  <c:v>0.6</c:v>
                </c:pt>
                <c:pt idx="6">
                  <c:v>0.64</c:v>
                </c:pt>
                <c:pt idx="7">
                  <c:v>0.53</c:v>
                </c:pt>
                <c:pt idx="8">
                  <c:v>0.52</c:v>
                </c:pt>
                <c:pt idx="9">
                  <c:v>0.57</c:v>
                </c:pt>
                <c:pt idx="10">
                  <c:v>0.65</c:v>
                </c:pt>
                <c:pt idx="11">
                  <c:v>0.64</c:v>
                </c:pt>
                <c:pt idx="12">
                  <c:v>0.56</c:v>
                </c:pt>
                <c:pt idx="13">
                  <c:v>0.7</c:v>
                </c:pt>
                <c:pt idx="14">
                  <c:v>0.6</c:v>
                </c:pt>
              </c:numCache>
            </c:numRef>
          </c:val>
          <c:smooth val="0"/>
          <c:extLst>
            <c:ext xmlns:c16="http://schemas.microsoft.com/office/drawing/2014/chart" uri="{C3380CC4-5D6E-409C-BE32-E72D297353CC}">
              <c16:uniqueId val="{00000000-AE35-4DFF-B703-556FB4E2F5E3}"/>
            </c:ext>
          </c:extLst>
        </c:ser>
        <c:dLbls>
          <c:dLblPos val="t"/>
          <c:showLegendKey val="0"/>
          <c:showVal val="1"/>
          <c:showCatName val="0"/>
          <c:showSerName val="0"/>
          <c:showPercent val="0"/>
          <c:showBubbleSize val="0"/>
        </c:dLbls>
        <c:marker val="1"/>
        <c:smooth val="0"/>
        <c:axId val="460702000"/>
        <c:axId val="460685680"/>
      </c:lineChart>
      <c:catAx>
        <c:axId val="460702000"/>
        <c:scaling>
          <c:orientation val="minMax"/>
        </c:scaling>
        <c:delete val="1"/>
        <c:axPos val="b"/>
        <c:numFmt formatCode="General" sourceLinked="1"/>
        <c:majorTickMark val="none"/>
        <c:minorTickMark val="none"/>
        <c:tickLblPos val="nextTo"/>
        <c:crossAx val="460685680"/>
        <c:crosses val="autoZero"/>
        <c:auto val="1"/>
        <c:lblAlgn val="ctr"/>
        <c:lblOffset val="100"/>
        <c:noMultiLvlLbl val="0"/>
      </c:catAx>
      <c:valAx>
        <c:axId val="460685680"/>
        <c:scaling>
          <c:orientation val="minMax"/>
        </c:scaling>
        <c:delete val="1"/>
        <c:axPos val="l"/>
        <c:numFmt formatCode="0%" sourceLinked="1"/>
        <c:majorTickMark val="none"/>
        <c:minorTickMark val="none"/>
        <c:tickLblPos val="nextTo"/>
        <c:crossAx val="46070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6510800349501E-2"/>
          <c:y val="0.2955079365079365"/>
          <c:w val="0.95269783993009982"/>
          <c:h val="0.70449206349206339"/>
        </c:manualLayout>
      </c:layout>
      <c:lineChart>
        <c:grouping val="standard"/>
        <c:varyColors val="0"/>
        <c:ser>
          <c:idx val="0"/>
          <c:order val="0"/>
          <c:tx>
            <c:strRef>
              <c:f>Sheet1!$B$1</c:f>
              <c:strCache>
                <c:ptCount val="1"/>
                <c:pt idx="0">
                  <c:v>None of the above</c:v>
                </c:pt>
              </c:strCache>
            </c:strRef>
          </c:tx>
          <c:spPr>
            <a:ln w="28575" cap="rnd">
              <a:solidFill>
                <a:schemeClr val="bg1">
                  <a:lumMod val="50000"/>
                </a:schemeClr>
              </a:solidFill>
              <a:round/>
            </a:ln>
            <a:effectLst/>
          </c:spPr>
          <c:marker>
            <c:symbol val="circle"/>
            <c:size val="5"/>
            <c:spPr>
              <a:solidFill>
                <a:schemeClr val="bg1">
                  <a:lumMod val="50000"/>
                </a:schemeClr>
              </a:solidFill>
              <a:ln w="9525">
                <a:noFill/>
              </a:ln>
              <a:effectLst/>
            </c:spPr>
          </c:marker>
          <c:dLbls>
            <c:dLbl>
              <c:idx val="0"/>
              <c:layout>
                <c:manualLayout>
                  <c:x val="-3.7637553377880432E-2"/>
                  <c:y val="-0.33027678571428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6A-44F6-BB0B-2B0F28AE5F77}"/>
                </c:ext>
              </c:extLst>
            </c:dLbl>
            <c:dLbl>
              <c:idx val="1"/>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36A-44F6-BB0B-2B0F28AE5F77}"/>
                </c:ext>
              </c:extLst>
            </c:dLbl>
            <c:dLbl>
              <c:idx val="2"/>
              <c:layout>
                <c:manualLayout>
                  <c:x val="-3.7637553377880432E-2"/>
                  <c:y val="-0.3161875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6A-44F6-BB0B-2B0F28AE5F77}"/>
                </c:ext>
              </c:extLst>
            </c:dLbl>
            <c:dLbl>
              <c:idx val="3"/>
              <c:layout>
                <c:manualLayout>
                  <c:x val="-3.7637553377880432E-2"/>
                  <c:y val="-0.344366071428571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36A-44F6-BB0B-2B0F28AE5F77}"/>
                </c:ext>
              </c:extLst>
            </c:dLbl>
            <c:dLbl>
              <c:idx val="4"/>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36A-44F6-BB0B-2B0F28AE5F77}"/>
                </c:ext>
              </c:extLst>
            </c:dLbl>
            <c:dLbl>
              <c:idx val="5"/>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7F7F7F"/>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36A-44F6-BB0B-2B0F28AE5F7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0.32</c:v>
                </c:pt>
                <c:pt idx="1">
                  <c:v>0.29</c:v>
                </c:pt>
                <c:pt idx="2">
                  <c:v>0.33</c:v>
                </c:pt>
                <c:pt idx="3">
                  <c:v>0.31</c:v>
                </c:pt>
                <c:pt idx="4">
                  <c:v>0.26</c:v>
                </c:pt>
                <c:pt idx="5">
                  <c:v>0.29</c:v>
                </c:pt>
                <c:pt idx="6">
                  <c:v>0.29</c:v>
                </c:pt>
                <c:pt idx="7">
                  <c:v>0.33</c:v>
                </c:pt>
                <c:pt idx="8">
                  <c:v>0.36</c:v>
                </c:pt>
                <c:pt idx="9">
                  <c:v>0.32</c:v>
                </c:pt>
                <c:pt idx="10">
                  <c:v>0.26</c:v>
                </c:pt>
                <c:pt idx="11">
                  <c:v>0.32</c:v>
                </c:pt>
                <c:pt idx="12">
                  <c:v>0.33</c:v>
                </c:pt>
                <c:pt idx="13">
                  <c:v>0.24</c:v>
                </c:pt>
                <c:pt idx="14">
                  <c:v>0.27</c:v>
                </c:pt>
              </c:numCache>
            </c:numRef>
          </c:val>
          <c:smooth val="0"/>
          <c:extLst>
            <c:ext xmlns:c16="http://schemas.microsoft.com/office/drawing/2014/chart" uri="{C3380CC4-5D6E-409C-BE32-E72D297353CC}">
              <c16:uniqueId val="{00000000-036A-44F6-BB0B-2B0F28AE5F77}"/>
            </c:ext>
          </c:extLst>
        </c:ser>
        <c:dLbls>
          <c:dLblPos val="t"/>
          <c:showLegendKey val="0"/>
          <c:showVal val="1"/>
          <c:showCatName val="0"/>
          <c:showSerName val="0"/>
          <c:showPercent val="0"/>
          <c:showBubbleSize val="0"/>
        </c:dLbls>
        <c:marker val="1"/>
        <c:smooth val="0"/>
        <c:axId val="460702000"/>
        <c:axId val="460685680"/>
      </c:lineChart>
      <c:catAx>
        <c:axId val="460702000"/>
        <c:scaling>
          <c:orientation val="minMax"/>
        </c:scaling>
        <c:delete val="1"/>
        <c:axPos val="b"/>
        <c:numFmt formatCode="General" sourceLinked="1"/>
        <c:majorTickMark val="none"/>
        <c:minorTickMark val="none"/>
        <c:tickLblPos val="nextTo"/>
        <c:crossAx val="460685680"/>
        <c:crosses val="autoZero"/>
        <c:auto val="1"/>
        <c:lblAlgn val="ctr"/>
        <c:lblOffset val="100"/>
        <c:noMultiLvlLbl val="0"/>
      </c:catAx>
      <c:valAx>
        <c:axId val="460685680"/>
        <c:scaling>
          <c:orientation val="minMax"/>
        </c:scaling>
        <c:delete val="1"/>
        <c:axPos val="l"/>
        <c:numFmt formatCode="0%" sourceLinked="1"/>
        <c:majorTickMark val="none"/>
        <c:minorTickMark val="none"/>
        <c:tickLblPos val="nextTo"/>
        <c:crossAx val="46070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6510800349501E-2"/>
          <c:y val="1.8326250550148269E-2"/>
          <c:w val="0.95269783993009982"/>
          <c:h val="0.88088095238095254"/>
        </c:manualLayout>
      </c:layout>
      <c:lineChart>
        <c:grouping val="standard"/>
        <c:varyColors val="0"/>
        <c:ser>
          <c:idx val="0"/>
          <c:order val="0"/>
          <c:tx>
            <c:strRef>
              <c:f>Sheet1!$B$1</c:f>
              <c:strCache>
                <c:ptCount val="1"/>
                <c:pt idx="0">
                  <c:v>PERTZYE</c:v>
                </c:pt>
              </c:strCache>
            </c:strRef>
          </c:tx>
          <c:spPr>
            <a:ln w="28575" cap="rnd">
              <a:solidFill>
                <a:srgbClr val="00B3C8"/>
              </a:solidFill>
              <a:round/>
            </a:ln>
            <a:effectLst/>
          </c:spPr>
          <c:marker>
            <c:symbol val="circle"/>
            <c:size val="5"/>
            <c:spPr>
              <a:solidFill>
                <a:srgbClr val="00B3C8"/>
              </a:solidFill>
              <a:ln w="9525">
                <a:noFill/>
              </a:ln>
              <a:effectLst/>
            </c:spPr>
          </c:marker>
          <c:dLbls>
            <c:dLbl>
              <c:idx val="0"/>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9C7-4F53-9736-CFD3DF61B335}"/>
                </c:ext>
              </c:extLst>
            </c:dLbl>
            <c:dLbl>
              <c:idx val="1"/>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9C7-4F53-9736-CFD3DF61B335}"/>
                </c:ext>
              </c:extLst>
            </c:dLbl>
            <c:dLbl>
              <c:idx val="2"/>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9C7-4F53-9736-CFD3DF61B335}"/>
                </c:ext>
              </c:extLst>
            </c:dLbl>
            <c:dLbl>
              <c:idx val="3"/>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9C7-4F53-9736-CFD3DF61B335}"/>
                </c:ext>
              </c:extLst>
            </c:dLbl>
            <c:dLbl>
              <c:idx val="4"/>
              <c:layout>
                <c:manualLayout>
                  <c:x val="-3.2256890345161868E-2"/>
                  <c:y val="0.227101190476190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9C7-4F53-9736-CFD3DF61B335}"/>
                </c:ext>
              </c:extLst>
            </c:dLbl>
            <c:dLbl>
              <c:idx val="5"/>
              <c:layout>
                <c:manualLayout>
                  <c:x val="-3.2256890345161868E-2"/>
                  <c:y val="-0.239917658730158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9C7-4F53-9736-CFD3DF61B33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0.03</c:v>
                </c:pt>
                <c:pt idx="1">
                  <c:v>0.03</c:v>
                </c:pt>
                <c:pt idx="2">
                  <c:v>0.03</c:v>
                </c:pt>
                <c:pt idx="3">
                  <c:v>0.03</c:v>
                </c:pt>
                <c:pt idx="4">
                  <c:v>0.09</c:v>
                </c:pt>
                <c:pt idx="5">
                  <c:v>0.05</c:v>
                </c:pt>
                <c:pt idx="6">
                  <c:v>0.07</c:v>
                </c:pt>
                <c:pt idx="7">
                  <c:v>0.1</c:v>
                </c:pt>
                <c:pt idx="8">
                  <c:v>0.03</c:v>
                </c:pt>
                <c:pt idx="9">
                  <c:v>0.0</c:v>
                </c:pt>
                <c:pt idx="10">
                  <c:v>0.1</c:v>
                </c:pt>
                <c:pt idx="11">
                  <c:v>0.0</c:v>
                </c:pt>
                <c:pt idx="12">
                  <c:v>0.05</c:v>
                </c:pt>
                <c:pt idx="13">
                  <c:v>0.03</c:v>
                </c:pt>
                <c:pt idx="14">
                  <c:v>0.07</c:v>
                </c:pt>
              </c:numCache>
            </c:numRef>
          </c:val>
          <c:smooth val="0"/>
          <c:extLst>
            <c:ext xmlns:c16="http://schemas.microsoft.com/office/drawing/2014/chart" uri="{C3380CC4-5D6E-409C-BE32-E72D297353CC}">
              <c16:uniqueId val="{00000000-79C7-4F53-9736-CFD3DF61B335}"/>
            </c:ext>
          </c:extLst>
        </c:ser>
        <c:dLbls>
          <c:dLblPos val="t"/>
          <c:showLegendKey val="0"/>
          <c:showVal val="1"/>
          <c:showCatName val="0"/>
          <c:showSerName val="0"/>
          <c:showPercent val="0"/>
          <c:showBubbleSize val="0"/>
        </c:dLbls>
        <c:marker val="1"/>
        <c:smooth val="0"/>
        <c:axId val="460702000"/>
        <c:axId val="460685680"/>
      </c:lineChart>
      <c:catAx>
        <c:axId val="460702000"/>
        <c:scaling>
          <c:orientation val="minMax"/>
        </c:scaling>
        <c:delete val="1"/>
        <c:axPos val="b"/>
        <c:numFmt formatCode="General" sourceLinked="1"/>
        <c:majorTickMark val="out"/>
        <c:minorTickMark val="none"/>
        <c:tickLblPos val="nextTo"/>
        <c:crossAx val="460685680"/>
        <c:crosses val="autoZero"/>
        <c:auto val="1"/>
        <c:lblAlgn val="ctr"/>
        <c:lblOffset val="100"/>
        <c:noMultiLvlLbl val="0"/>
      </c:catAx>
      <c:valAx>
        <c:axId val="460685680"/>
        <c:scaling>
          <c:orientation val="minMax"/>
        </c:scaling>
        <c:delete val="1"/>
        <c:axPos val="l"/>
        <c:numFmt formatCode="0%" sourceLinked="1"/>
        <c:majorTickMark val="out"/>
        <c:minorTickMark val="none"/>
        <c:tickLblPos val="nextTo"/>
        <c:crossAx val="46070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6510800349501E-2"/>
          <c:y val="1.8326250550148269E-2"/>
          <c:w val="0.95269783993009982"/>
          <c:h val="0.98167374944985175"/>
        </c:manualLayout>
      </c:layout>
      <c:lineChart>
        <c:grouping val="standard"/>
        <c:varyColors val="0"/>
        <c:ser>
          <c:idx val="0"/>
          <c:order val="0"/>
          <c:tx>
            <c:strRef>
              <c:f>Sheet1!$B$1</c:f>
              <c:strCache>
                <c:ptCount val="1"/>
                <c:pt idx="0">
                  <c:v>ZENPEP</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32B-4A82-BD81-0F514D194123}"/>
                </c:ext>
              </c:extLst>
            </c:dLbl>
            <c:dLbl>
              <c:idx val="1"/>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32B-4A82-BD81-0F514D194123}"/>
                </c:ext>
              </c:extLst>
            </c:dLbl>
            <c:dLbl>
              <c:idx val="2"/>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2B-4A82-BD81-0F514D194123}"/>
                </c:ext>
              </c:extLst>
            </c:dLbl>
            <c:dLbl>
              <c:idx val="3"/>
              <c:layout>
                <c:manualLayout>
                  <c:x val="-3.7637553377880432E-2"/>
                  <c:y val="-0.290314484126984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32B-4A82-BD81-0F514D194123}"/>
                </c:ext>
              </c:extLst>
            </c:dLbl>
            <c:dLbl>
              <c:idx val="4"/>
              <c:layout>
                <c:manualLayout>
                  <c:x val="-3.7637553377880432E-2"/>
                  <c:y val="-0.290314484126984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32B-4A82-BD81-0F514D194123}"/>
                </c:ext>
              </c:extLst>
            </c:dLbl>
            <c:dLbl>
              <c:idx val="5"/>
              <c:layout>
                <c:manualLayout>
                  <c:x val="-3.7637553377880432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32B-4A82-BD81-0F514D19412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0.38</c:v>
                </c:pt>
                <c:pt idx="1">
                  <c:v>0.4</c:v>
                </c:pt>
                <c:pt idx="2">
                  <c:v>0.41</c:v>
                </c:pt>
                <c:pt idx="3">
                  <c:v>0.5</c:v>
                </c:pt>
                <c:pt idx="4">
                  <c:v>0.5</c:v>
                </c:pt>
                <c:pt idx="5">
                  <c:v>0.4</c:v>
                </c:pt>
                <c:pt idx="6">
                  <c:v>0.32</c:v>
                </c:pt>
                <c:pt idx="7">
                  <c:v>0.47</c:v>
                </c:pt>
                <c:pt idx="8">
                  <c:v>0.33</c:v>
                </c:pt>
                <c:pt idx="9">
                  <c:v>0.32</c:v>
                </c:pt>
                <c:pt idx="10">
                  <c:v>0.48</c:v>
                </c:pt>
                <c:pt idx="11">
                  <c:v>0.32</c:v>
                </c:pt>
                <c:pt idx="12">
                  <c:v>0.33</c:v>
                </c:pt>
                <c:pt idx="13">
                  <c:v>0.3</c:v>
                </c:pt>
                <c:pt idx="14">
                  <c:v>0.5</c:v>
                </c:pt>
              </c:numCache>
            </c:numRef>
          </c:val>
          <c:smooth val="0"/>
          <c:extLst>
            <c:ext xmlns:c16="http://schemas.microsoft.com/office/drawing/2014/chart" uri="{C3380CC4-5D6E-409C-BE32-E72D297353CC}">
              <c16:uniqueId val="{00000000-932B-4A82-BD81-0F514D194123}"/>
            </c:ext>
          </c:extLst>
        </c:ser>
        <c:dLbls>
          <c:dLblPos val="t"/>
          <c:showLegendKey val="0"/>
          <c:showVal val="1"/>
          <c:showCatName val="0"/>
          <c:showSerName val="0"/>
          <c:showPercent val="0"/>
          <c:showBubbleSize val="0"/>
        </c:dLbls>
        <c:marker val="1"/>
        <c:smooth val="0"/>
        <c:axId val="460702000"/>
        <c:axId val="460685680"/>
      </c:lineChart>
      <c:catAx>
        <c:axId val="460702000"/>
        <c:scaling>
          <c:orientation val="minMax"/>
        </c:scaling>
        <c:delete val="1"/>
        <c:axPos val="b"/>
        <c:numFmt formatCode="General" sourceLinked="1"/>
        <c:majorTickMark val="none"/>
        <c:minorTickMark val="none"/>
        <c:tickLblPos val="nextTo"/>
        <c:crossAx val="460685680"/>
        <c:crosses val="autoZero"/>
        <c:auto val="1"/>
        <c:lblAlgn val="ctr"/>
        <c:lblOffset val="100"/>
        <c:noMultiLvlLbl val="0"/>
      </c:catAx>
      <c:valAx>
        <c:axId val="460685680"/>
        <c:scaling>
          <c:orientation val="minMax"/>
        </c:scaling>
        <c:delete val="1"/>
        <c:axPos val="l"/>
        <c:numFmt formatCode="0%" sourceLinked="1"/>
        <c:majorTickMark val="none"/>
        <c:minorTickMark val="none"/>
        <c:tickLblPos val="nextTo"/>
        <c:crossAx val="46070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6510800349501E-2"/>
          <c:y val="1.8326250550148269E-2"/>
          <c:w val="0.95269783993009982"/>
          <c:h val="0.98167374944985175"/>
        </c:manualLayout>
      </c:layout>
      <c:lineChart>
        <c:grouping val="standard"/>
        <c:varyColors val="0"/>
        <c:ser>
          <c:idx val="0"/>
          <c:order val="0"/>
          <c:tx>
            <c:strRef>
              <c:f>Sheet1!$B$1</c:f>
              <c:strCache>
                <c:ptCount val="1"/>
                <c:pt idx="0">
                  <c:v>PANCREAZE</c:v>
                </c:pt>
              </c:strCache>
            </c:strRef>
          </c:tx>
          <c:spPr>
            <a:ln w="28575" cap="rnd">
              <a:solidFill>
                <a:srgbClr val="FF8813"/>
              </a:solidFill>
              <a:round/>
            </a:ln>
            <a:effectLst/>
          </c:spPr>
          <c:marker>
            <c:symbol val="circle"/>
            <c:size val="5"/>
            <c:spPr>
              <a:solidFill>
                <a:srgbClr val="FF8813"/>
              </a:solidFill>
              <a:ln w="9525">
                <a:noFill/>
              </a:ln>
              <a:effectLst/>
            </c:spPr>
          </c:marker>
          <c:dLbls>
            <c:dLbl>
              <c:idx val="0"/>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FB7-4241-9939-5CB7683F9F2C}"/>
                </c:ext>
              </c:extLst>
            </c:dLbl>
            <c:dLbl>
              <c:idx val="1"/>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FB7-4241-9939-5CB7683F9F2C}"/>
                </c:ext>
              </c:extLst>
            </c:dLbl>
            <c:dLbl>
              <c:idx val="2"/>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FB7-4241-9939-5CB7683F9F2C}"/>
                </c:ext>
              </c:extLst>
            </c:dLbl>
            <c:dLbl>
              <c:idx val="3"/>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FB7-4241-9939-5CB7683F9F2C}"/>
                </c:ext>
              </c:extLst>
            </c:dLbl>
            <c:dLbl>
              <c:idx val="4"/>
              <c:layout>
                <c:manualLayout>
                  <c:x val="-4.1937749747871442E-2"/>
                  <c:y val="-9.5607142857142863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FB7-4241-9939-5CB7683F9F2C}"/>
                </c:ext>
              </c:extLst>
            </c:dLbl>
            <c:dLbl>
              <c:idx val="5"/>
              <c:layout>
                <c:manualLayout>
                  <c:x val="-3.2256890345161868E-2"/>
                  <c:y val="-0.35743948412698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FB7-4241-9939-5CB7683F9F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0.06</c:v>
                </c:pt>
                <c:pt idx="1">
                  <c:v>0.06</c:v>
                </c:pt>
                <c:pt idx="2">
                  <c:v>0.08</c:v>
                </c:pt>
                <c:pt idx="3">
                  <c:v>0.08</c:v>
                </c:pt>
                <c:pt idx="4">
                  <c:v>0.15</c:v>
                </c:pt>
                <c:pt idx="5">
                  <c:v>0.05</c:v>
                </c:pt>
                <c:pt idx="6">
                  <c:v>0.07</c:v>
                </c:pt>
                <c:pt idx="7">
                  <c:v>0.1</c:v>
                </c:pt>
                <c:pt idx="8">
                  <c:v>0.09</c:v>
                </c:pt>
                <c:pt idx="9">
                  <c:v>0.05</c:v>
                </c:pt>
                <c:pt idx="10">
                  <c:v>0.06</c:v>
                </c:pt>
                <c:pt idx="11">
                  <c:v>0.0</c:v>
                </c:pt>
                <c:pt idx="12">
                  <c:v>0.05</c:v>
                </c:pt>
                <c:pt idx="13">
                  <c:v>0.03</c:v>
                </c:pt>
                <c:pt idx="14">
                  <c:v>0.1</c:v>
                </c:pt>
              </c:numCache>
            </c:numRef>
          </c:val>
          <c:smooth val="0"/>
          <c:extLst>
            <c:ext xmlns:c16="http://schemas.microsoft.com/office/drawing/2014/chart" uri="{C3380CC4-5D6E-409C-BE32-E72D297353CC}">
              <c16:uniqueId val="{00000006-4FB7-4241-9939-5CB7683F9F2C}"/>
            </c:ext>
          </c:extLst>
        </c:ser>
        <c:dLbls>
          <c:dLblPos val="t"/>
          <c:showLegendKey val="0"/>
          <c:showVal val="1"/>
          <c:showCatName val="0"/>
          <c:showSerName val="0"/>
          <c:showPercent val="0"/>
          <c:showBubbleSize val="0"/>
        </c:dLbls>
        <c:marker val="1"/>
        <c:smooth val="0"/>
        <c:axId val="460702000"/>
        <c:axId val="460685680"/>
      </c:lineChart>
      <c:catAx>
        <c:axId val="460702000"/>
        <c:scaling>
          <c:orientation val="minMax"/>
        </c:scaling>
        <c:delete val="1"/>
        <c:axPos val="b"/>
        <c:numFmt formatCode="General" sourceLinked="1"/>
        <c:majorTickMark val="none"/>
        <c:minorTickMark val="none"/>
        <c:tickLblPos val="nextTo"/>
        <c:crossAx val="460685680"/>
        <c:crosses val="autoZero"/>
        <c:auto val="1"/>
        <c:lblAlgn val="ctr"/>
        <c:lblOffset val="100"/>
        <c:noMultiLvlLbl val="0"/>
      </c:catAx>
      <c:valAx>
        <c:axId val="460685680"/>
        <c:scaling>
          <c:orientation val="minMax"/>
        </c:scaling>
        <c:delete val="1"/>
        <c:axPos val="l"/>
        <c:numFmt formatCode="0%" sourceLinked="1"/>
        <c:majorTickMark val="none"/>
        <c:minorTickMark val="none"/>
        <c:tickLblPos val="nextTo"/>
        <c:crossAx val="46070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596016149539379"/>
          <c:y val="8.678154202639321E-2"/>
          <c:w val="0.85527090629252078"/>
          <c:h val="0.84077798611852161"/>
        </c:manualLayout>
      </c:layout>
      <c:lineChart>
        <c:grouping val="standard"/>
        <c:varyColors val="0"/>
        <c:ser>
          <c:idx val="0"/>
          <c:order val="0"/>
          <c:tx>
            <c:strRef>
              <c:f>Sheet1!$B$1</c:f>
              <c:strCache>
                <c:ptCount val="1"/>
                <c:pt idx="0">
                  <c:v>Discussed Product and gave patient a sample and/or prescription for ZENPEP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Pt>
            <c:idx val="0"/>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67CA-4130-8369-39F91C1FC3F9}"/>
              </c:ext>
            </c:extLst>
          </c:dPt>
          <c:dPt>
            <c:idx val="1"/>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67CA-4130-8369-39F91C1FC3F9}"/>
              </c:ext>
            </c:extLst>
          </c:dPt>
          <c:dPt>
            <c:idx val="2"/>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67CA-4130-8369-39F91C1FC3F9}"/>
              </c:ext>
            </c:extLst>
          </c:dPt>
          <c:dLbls>
            <c:dLbl>
              <c:idx val="0"/>
              <c:layout>
                <c:manualLayout>
                  <c:x val="-4.9589346657446853E-2"/>
                  <c:y val="0.10006298399525289"/>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CA-4130-8369-39F91C1FC3F9}"/>
                </c:ext>
              </c:extLst>
            </c:dLbl>
            <c:dLbl>
              <c:idx val="1"/>
              <c:layout>
                <c:manualLayout>
                  <c:x val="-4.9589346657446853E-2"/>
                  <c:y val="-0.10006298399525289"/>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7CA-4130-8369-39F91C1FC3F9}"/>
                </c:ext>
              </c:extLst>
            </c:dLbl>
            <c:dLbl>
              <c:idx val="2"/>
              <c:layout>
                <c:manualLayout>
                  <c:x val="-4.9589346657446853E-2"/>
                  <c:y val="-0.10006298399525289"/>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7CA-4130-8369-39F91C1FC3F9}"/>
                </c:ext>
              </c:extLst>
            </c:dLbl>
            <c:dLbl>
              <c:idx val="3"/>
              <c:layout>
                <c:manualLayout>
                  <c:x val="-4.9589346657446853E-2"/>
                  <c:y val="-0.1000629839952529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7CA-4130-8369-39F91C1FC3F9}"/>
                </c:ext>
              </c:extLst>
            </c:dLbl>
            <c:dLbl>
              <c:idx val="4"/>
              <c:layout>
                <c:manualLayout>
                  <c:x val="-4.9589346657446853E-2"/>
                  <c:y val="-0.10006298399525289"/>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B5E-478C-ABD4-FF7270C5D643}"/>
                </c:ext>
              </c:extLst>
            </c:dLbl>
            <c:dLbl>
              <c:idx val="5"/>
              <c:layout>
                <c:manualLayout>
                  <c:x val="-4.9589346657446853E-2"/>
                  <c:y val="6.4029445914137395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65D-4E78-921B-4C9E67BF117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0.82</c:v>
                </c:pt>
                <c:pt idx="1">
                  <c:v>0.78</c:v>
                </c:pt>
                <c:pt idx="2">
                  <c:v>0.77</c:v>
                </c:pt>
                <c:pt idx="3">
                  <c:v>0.74</c:v>
                </c:pt>
                <c:pt idx="4">
                  <c:v>0.73</c:v>
                </c:pt>
                <c:pt idx="5">
                  <c:v>0.72</c:v>
                </c:pt>
                <c:pt idx="6">
                  <c:v>0.73</c:v>
                </c:pt>
                <c:pt idx="7">
                  <c:v>0.77</c:v>
                </c:pt>
                <c:pt idx="8">
                  <c:v>0.76</c:v>
                </c:pt>
                <c:pt idx="9">
                  <c:v>0.75</c:v>
                </c:pt>
                <c:pt idx="10">
                  <c:v>0.75</c:v>
                </c:pt>
                <c:pt idx="11">
                  <c:v>0.75</c:v>
                </c:pt>
                <c:pt idx="12">
                  <c:v>0.74</c:v>
                </c:pt>
                <c:pt idx="13">
                  <c:v>0.77</c:v>
                </c:pt>
                <c:pt idx="14">
                  <c:v>0.79</c:v>
                </c:pt>
              </c:numCache>
            </c:numRef>
          </c:val>
          <c:smooth val="0"/>
          <c:extLst>
            <c:ext xmlns:c16="http://schemas.microsoft.com/office/drawing/2014/chart" uri="{C3380CC4-5D6E-409C-BE32-E72D297353CC}">
              <c16:uniqueId val="{00000007-67CA-4130-8369-39F91C1FC3F9}"/>
            </c:ext>
          </c:extLst>
        </c:ser>
        <c:ser>
          <c:idx val="1"/>
          <c:order val="1"/>
          <c:tx>
            <c:strRef>
              <c:f>Sheet1!$C$1</c:f>
              <c:strCache>
                <c:ptCount val="1"/>
                <c:pt idx="0">
                  <c:v>Discussed Product and gave patient a sample and/or prescription for ZENPEP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Pt>
            <c:idx val="0"/>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67CA-4130-8369-39F91C1FC3F9}"/>
              </c:ext>
            </c:extLst>
          </c:dPt>
          <c:dPt>
            <c:idx val="1"/>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67CA-4130-8369-39F91C1FC3F9}"/>
              </c:ext>
            </c:extLst>
          </c:dPt>
          <c:dPt>
            <c:idx val="2"/>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67CA-4130-8369-39F91C1FC3F9}"/>
              </c:ext>
            </c:extLst>
          </c:dPt>
          <c:dLbls>
            <c:dLbl>
              <c:idx val="0"/>
              <c:layout>
                <c:manualLayout>
                  <c:x val="-4.9589346657446853E-2"/>
                  <c:y val="-0.1109534187342129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7CA-4130-8369-39F91C1FC3F9}"/>
                </c:ext>
              </c:extLst>
            </c:dLbl>
            <c:dLbl>
              <c:idx val="1"/>
              <c:layout>
                <c:manualLayout>
                  <c:x val="-4.9589346657446853E-2"/>
                  <c:y val="8.9172549256292866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7CA-4130-8369-39F91C1FC3F9}"/>
                </c:ext>
              </c:extLst>
            </c:dLbl>
            <c:dLbl>
              <c:idx val="2"/>
              <c:layout>
                <c:manualLayout>
                  <c:x val="-4.9589346657446909E-2"/>
                  <c:y val="5.027066983538704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7CA-4130-8369-39F91C1FC3F9}"/>
                </c:ext>
              </c:extLst>
            </c:dLbl>
            <c:dLbl>
              <c:idx val="3"/>
              <c:layout>
                <c:manualLayout>
                  <c:x val="-4.9589346657446853E-2"/>
                  <c:y val="4.835784470441444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0A7-4230-B7CF-F13BAE3C2D6C}"/>
                </c:ext>
              </c:extLst>
            </c:dLbl>
            <c:dLbl>
              <c:idx val="4"/>
              <c:layout>
                <c:manualLayout>
                  <c:x val="-4.9589346657446853E-2"/>
                  <c:y val="6.0369024064786267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860-48DC-8EDA-C99CD29B1107}"/>
                </c:ext>
              </c:extLst>
            </c:dLbl>
            <c:dLbl>
              <c:idx val="5"/>
              <c:layout>
                <c:manualLayout>
                  <c:x val="-4.9589346657446853E-2"/>
                  <c:y val="-7.491988065309741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67CA-4130-8369-39F91C1FC3F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0.82</c:v>
                </c:pt>
                <c:pt idx="1">
                  <c:v>0.77</c:v>
                </c:pt>
                <c:pt idx="2">
                  <c:v>0.71</c:v>
                </c:pt>
                <c:pt idx="3">
                  <c:v>0.7</c:v>
                </c:pt>
                <c:pt idx="4">
                  <c:v>0.71</c:v>
                </c:pt>
                <c:pt idx="5">
                  <c:v>0.75</c:v>
                </c:pt>
                <c:pt idx="6">
                  <c:v>0.68</c:v>
                </c:pt>
                <c:pt idx="7">
                  <c:v>0.72</c:v>
                </c:pt>
                <c:pt idx="8">
                  <c:v>0.78</c:v>
                </c:pt>
                <c:pt idx="9">
                  <c:v>0.74</c:v>
                </c:pt>
                <c:pt idx="10">
                  <c:v>0.71</c:v>
                </c:pt>
                <c:pt idx="11">
                  <c:v>0.7</c:v>
                </c:pt>
                <c:pt idx="12">
                  <c:v>0.71</c:v>
                </c:pt>
                <c:pt idx="13">
                  <c:v>0.7</c:v>
                </c:pt>
                <c:pt idx="14">
                  <c:v>0.77</c:v>
                </c:pt>
              </c:numCache>
            </c:numRef>
          </c:val>
          <c:smooth val="0"/>
          <c:extLst>
            <c:ext xmlns:c16="http://schemas.microsoft.com/office/drawing/2014/chart" uri="{C3380CC4-5D6E-409C-BE32-E72D297353CC}">
              <c16:uniqueId val="{00000014-67CA-4130-8369-39F91C1FC3F9}"/>
            </c:ext>
          </c:extLst>
        </c:ser>
        <c:ser>
          <c:idx val="2"/>
          <c:order val="2"/>
          <c:tx>
            <c:strRef>
              <c:f>Sheet1!$D$1</c:f>
              <c:strCache>
                <c:ptCount val="1"/>
                <c:pt idx="0">
                  <c:v>Discussed Product and gave patient a sample and/or prescription for ZENPEP - PERTZYE</c:v>
                </c:pt>
              </c:strCache>
            </c:strRef>
          </c:tx>
          <c:spPr>
            <a:ln w="28575" cap="rnd">
              <a:solidFill>
                <a:srgbClr val="00B3C8"/>
              </a:solidFill>
              <a:round/>
            </a:ln>
            <a:effectLst/>
          </c:spPr>
          <c:marker>
            <c:symbol val="circle"/>
            <c:size val="5"/>
            <c:spPr>
              <a:solidFill>
                <a:srgbClr val="00B3C8"/>
              </a:solidFill>
              <a:ln w="28575">
                <a:solidFill>
                  <a:srgbClr val="00B3C8"/>
                </a:solidFill>
                <a:prstDash val="solid"/>
              </a:ln>
              <a:effectLst/>
            </c:spPr>
          </c:marker>
          <c:dLbls>
            <c:dLbl>
              <c:idx val="0"/>
              <c:layout>
                <c:manualLayout>
                  <c:x val="-4.9589346657446853E-2"/>
                  <c:y val="-0.122925158401162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65D-4E78-921B-4C9E67BF1171}"/>
                </c:ext>
              </c:extLst>
            </c:dLbl>
            <c:dLbl>
              <c:idx val="1"/>
              <c:layout>
                <c:manualLayout>
                  <c:x val="-4.9589346657446853E-2"/>
                  <c:y val="-0.122925158401162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E6A-4A81-9DFB-393A7AF77117}"/>
                </c:ext>
              </c:extLst>
            </c:dLbl>
            <c:dLbl>
              <c:idx val="2"/>
              <c:layout>
                <c:manualLayout>
                  <c:x val="-4.9589346657446909E-2"/>
                  <c:y val="6.9516642654267394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0A7-4230-B7CF-F13BAE3C2D6C}"/>
                </c:ext>
              </c:extLst>
            </c:dLbl>
            <c:dLbl>
              <c:idx val="3"/>
              <c:layout>
                <c:manualLayout>
                  <c:x val="-5.8087930226852061E-2"/>
                  <c:y val="8.4695546481770204E-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0A7-4230-B7CF-F13BAE3C2D6C}"/>
                </c:ext>
              </c:extLst>
            </c:dLbl>
            <c:dLbl>
              <c:idx val="4"/>
              <c:layout>
                <c:manualLayout>
                  <c:x val="-4.9589346657446853E-2"/>
                  <c:y val="0.130230465250941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0A7-4230-B7CF-F13BAE3C2D6C}"/>
                </c:ext>
              </c:extLst>
            </c:dLbl>
            <c:dLbl>
              <c:idx val="5"/>
              <c:layout>
                <c:manualLayout>
                  <c:x val="-4.9589346657446853E-2"/>
                  <c:y val="-0.122925158401162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0A7-4230-B7CF-F13BAE3C2D6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Sheet1!$D$2:$D$16</c:f>
              <c:numCache>
                <c:formatCode>0%</c:formatCode>
                <c:ptCount val="15"/>
                <c:pt idx="0">
                  <c:v>0.49</c:v>
                </c:pt>
                <c:pt idx="1">
                  <c:v>0.49</c:v>
                </c:pt>
                <c:pt idx="2">
                  <c:v>0.62</c:v>
                </c:pt>
                <c:pt idx="3">
                  <c:v>0.58</c:v>
                </c:pt>
                <c:pt idx="4">
                  <c:v>0.58</c:v>
                </c:pt>
                <c:pt idx="5">
                  <c:v>0.45</c:v>
                </c:pt>
                <c:pt idx="6">
                  <c:v>0.34</c:v>
                </c:pt>
                <c:pt idx="7">
                  <c:v>0.44</c:v>
                </c:pt>
                <c:pt idx="8">
                  <c:v>0.52</c:v>
                </c:pt>
                <c:pt idx="9">
                  <c:v>0.43</c:v>
                </c:pt>
                <c:pt idx="10">
                  <c:v>0.44</c:v>
                </c:pt>
                <c:pt idx="11">
                  <c:v>0.37</c:v>
                </c:pt>
                <c:pt idx="12">
                  <c:v>0.41</c:v>
                </c:pt>
                <c:pt idx="13">
                  <c:v>0.44</c:v>
                </c:pt>
                <c:pt idx="14">
                  <c:v>0.48</c:v>
                </c:pt>
              </c:numCache>
            </c:numRef>
          </c:val>
          <c:smooth val="0"/>
          <c:extLst>
            <c:ext xmlns:c16="http://schemas.microsoft.com/office/drawing/2014/chart" uri="{C3380CC4-5D6E-409C-BE32-E72D297353CC}">
              <c16:uniqueId val="{00000018-67CA-4130-8369-39F91C1FC3F9}"/>
            </c:ext>
          </c:extLst>
        </c:ser>
        <c:ser>
          <c:idx val="3"/>
          <c:order val="3"/>
          <c:tx>
            <c:strRef>
              <c:f>Sheet1!$E$1</c:f>
              <c:strCache>
                <c:ptCount val="1"/>
                <c:pt idx="0">
                  <c:v>Discussed Product and gave patient a sample and/or prescription for ZENPEP - PANCREAZE</c:v>
                </c:pt>
              </c:strCache>
            </c:strRef>
          </c:tx>
          <c:spPr>
            <a:ln w="28575" cap="rnd">
              <a:solidFill>
                <a:srgbClr val="FF8813"/>
              </a:solidFill>
              <a:round/>
            </a:ln>
            <a:effectLst/>
          </c:spPr>
          <c:marker>
            <c:symbol val="circle"/>
            <c:size val="5"/>
            <c:spPr>
              <a:solidFill>
                <a:srgbClr val="FF8813"/>
              </a:solidFill>
              <a:ln w="28575">
                <a:solidFill>
                  <a:srgbClr val="FF8813"/>
                </a:solidFill>
                <a:prstDash val="solid"/>
              </a:ln>
              <a:effectLst/>
            </c:spPr>
          </c:marker>
          <c:dLbls>
            <c:dLbl>
              <c:idx val="0"/>
              <c:layout>
                <c:manualLayout>
                  <c:x val="-5.2422207847248554E-2"/>
                  <c:y val="9.6761702384487877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B3-4140-B55A-F641DE3A7119}"/>
                </c:ext>
              </c:extLst>
            </c:dLbl>
            <c:dLbl>
              <c:idx val="1"/>
              <c:layout>
                <c:manualLayout>
                  <c:x val="-5.2422207847248554E-2"/>
                  <c:y val="9.6761702384488016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80A7-4230-B7CF-F13BAE3C2D6C}"/>
                </c:ext>
              </c:extLst>
            </c:dLbl>
            <c:dLbl>
              <c:idx val="2"/>
              <c:layout>
                <c:manualLayout>
                  <c:x val="-5.242220784724861E-2"/>
                  <c:y val="9.6761702384488016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67CA-4130-8369-39F91C1FC3F9}"/>
                </c:ext>
              </c:extLst>
            </c:dLbl>
            <c:dLbl>
              <c:idx val="3"/>
              <c:layout>
                <c:manualLayout>
                  <c:x val="-5.2422207847248554E-2"/>
                  <c:y val="0.16764319745960568"/>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860-48DC-8EDA-C99CD29B1107}"/>
                </c:ext>
              </c:extLst>
            </c:dLbl>
            <c:dLbl>
              <c:idx val="4"/>
              <c:layout>
                <c:manualLayout>
                  <c:x val="-5.2422207847248554E-2"/>
                  <c:y val="0.21059899930741494"/>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0A7-4230-B7CF-F13BAE3C2D6C}"/>
                </c:ext>
              </c:extLst>
            </c:dLbl>
            <c:dLbl>
              <c:idx val="5"/>
              <c:layout>
                <c:manualLayout>
                  <c:x val="-5.2422207847248554E-2"/>
                  <c:y val="9.6761702384488016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7B3-4140-B55A-F641DE3A711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Sheet1!$E$2:$E$16</c:f>
              <c:numCache>
                <c:formatCode>0%</c:formatCode>
                <c:ptCount val="15"/>
                <c:pt idx="0">
                  <c:v>0.33</c:v>
                </c:pt>
                <c:pt idx="1">
                  <c:v>0.43</c:v>
                </c:pt>
                <c:pt idx="2">
                  <c:v>0.52</c:v>
                </c:pt>
                <c:pt idx="3">
                  <c:v>0.57</c:v>
                </c:pt>
                <c:pt idx="4">
                  <c:v>0.53</c:v>
                </c:pt>
                <c:pt idx="5">
                  <c:v>0.38</c:v>
                </c:pt>
                <c:pt idx="6">
                  <c:v>0.5</c:v>
                </c:pt>
                <c:pt idx="7">
                  <c:v>0.36</c:v>
                </c:pt>
                <c:pt idx="8">
                  <c:v>0.53</c:v>
                </c:pt>
                <c:pt idx="9">
                  <c:v>0.43</c:v>
                </c:pt>
                <c:pt idx="10">
                  <c:v>0.33</c:v>
                </c:pt>
                <c:pt idx="11">
                  <c:v>0.31</c:v>
                </c:pt>
                <c:pt idx="12">
                  <c:v>0.52</c:v>
                </c:pt>
                <c:pt idx="13">
                  <c:v>0.45</c:v>
                </c:pt>
                <c:pt idx="14">
                  <c:v>0.4</c:v>
                </c:pt>
              </c:numCache>
            </c:numRef>
          </c:val>
          <c:smooth val="0"/>
          <c:extLst>
            <c:ext xmlns:c16="http://schemas.microsoft.com/office/drawing/2014/chart" uri="{C3380CC4-5D6E-409C-BE32-E72D297353CC}">
              <c16:uniqueId val="{00000022-67CA-4130-8369-39F91C1FC3F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t"/>
        <c:numFmt formatCode="General" sourceLinked="1"/>
        <c:majorTickMark val="out"/>
        <c:minorTickMark val="none"/>
        <c:tickLblPos val="nextTo"/>
        <c:crossAx val="541635912"/>
        <c:crosses val="max"/>
        <c:auto val="1"/>
        <c:lblAlgn val="ctr"/>
        <c:lblOffset val="100"/>
        <c:noMultiLvlLbl val="0"/>
      </c:catAx>
      <c:valAx>
        <c:axId val="541635912"/>
        <c:scaling>
          <c:orientation val="minMax"/>
          <c:max val="0.9"/>
          <c:min val="0.2"/>
        </c:scaling>
        <c:delete val="0"/>
        <c:axPos val="l"/>
        <c:numFmt formatCode="0%" sourceLinked="0"/>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0.70000000000000007"/>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Discussed Product and decided to recommend another Rx PERT medication instead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Pt>
            <c:idx val="0"/>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0315-4E72-BAEA-0379387E5333}"/>
              </c:ext>
            </c:extLst>
          </c:dPt>
          <c:dPt>
            <c:idx val="1"/>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0315-4E72-BAEA-0379387E5333}"/>
              </c:ext>
            </c:extLst>
          </c:dPt>
          <c:dPt>
            <c:idx val="2"/>
            <c:marker>
              <c:symbol val="circle"/>
              <c:size val="3"/>
              <c:spPr>
                <a:solidFill>
                  <a:srgbClr val="36729C"/>
                </a:solidFill>
                <a:ln w="28575">
                  <a:solidFill>
                    <a:srgbClr val="36729C"/>
                  </a:solidFill>
                  <a:prstDash val="soli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0315-4E72-BAEA-0379387E5333}"/>
              </c:ext>
            </c:extLst>
          </c:dPt>
          <c:dLbls>
            <c:dLbl>
              <c:idx val="0"/>
              <c:layout>
                <c:manualLayout>
                  <c:x val="-4.3177931997818511E-2"/>
                  <c:y val="-8.381395679724380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15-4E72-BAEA-0379387E5333}"/>
                </c:ext>
              </c:extLst>
            </c:dLbl>
            <c:dLbl>
              <c:idx val="1"/>
              <c:layout>
                <c:manualLayout>
                  <c:x val="-4.3177931997818511E-2"/>
                  <c:y val="8.4253787256434703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15-4E72-BAEA-0379387E5333}"/>
                </c:ext>
              </c:extLst>
            </c:dLbl>
            <c:dLbl>
              <c:idx val="2"/>
              <c:layout>
                <c:manualLayout>
                  <c:x val="-4.3177931997818511E-2"/>
                  <c:y val="0.1360611855548159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315-4E72-BAEA-0379387E5333}"/>
                </c:ext>
              </c:extLst>
            </c:dLbl>
            <c:dLbl>
              <c:idx val="3"/>
              <c:layout>
                <c:manualLayout>
                  <c:x val="-4.3177931997818511E-2"/>
                  <c:y val="0.15896398754020721"/>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315-4E72-BAEA-0379387E5333}"/>
                </c:ext>
              </c:extLst>
            </c:dLbl>
            <c:dLbl>
              <c:idx val="4"/>
              <c:layout>
                <c:manualLayout>
                  <c:x val="-4.3177834887359726E-2"/>
                  <c:y val="0.16312967319862889"/>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D28-4FD6-AE8E-68154A505017}"/>
                </c:ext>
              </c:extLst>
            </c:dLbl>
            <c:dLbl>
              <c:idx val="5"/>
              <c:layout>
                <c:manualLayout>
                  <c:x val="-4.3177834887359635E-2"/>
                  <c:y val="-6.56414495321367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D28-4FD6-AE8E-68154A5050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0.12</c:v>
                </c:pt>
                <c:pt idx="1">
                  <c:v>0.1</c:v>
                </c:pt>
                <c:pt idx="2">
                  <c:v>0.11</c:v>
                </c:pt>
                <c:pt idx="3">
                  <c:v>0.14</c:v>
                </c:pt>
                <c:pt idx="4">
                  <c:v>0.14</c:v>
                </c:pt>
                <c:pt idx="5">
                  <c:v>0.15</c:v>
                </c:pt>
                <c:pt idx="6">
                  <c:v>0.11</c:v>
                </c:pt>
                <c:pt idx="7">
                  <c:v>0.11</c:v>
                </c:pt>
                <c:pt idx="8">
                  <c:v>0.13</c:v>
                </c:pt>
                <c:pt idx="9">
                  <c:v>0.13</c:v>
                </c:pt>
                <c:pt idx="10">
                  <c:v>0.11</c:v>
                </c:pt>
                <c:pt idx="11">
                  <c:v>0.12</c:v>
                </c:pt>
                <c:pt idx="12">
                  <c:v>0.13</c:v>
                </c:pt>
                <c:pt idx="13">
                  <c:v>0.1</c:v>
                </c:pt>
                <c:pt idx="14">
                  <c:v>0.12</c:v>
                </c:pt>
              </c:numCache>
            </c:numRef>
          </c:val>
          <c:smooth val="0"/>
          <c:extLst>
            <c:ext xmlns:c16="http://schemas.microsoft.com/office/drawing/2014/chart" uri="{C3380CC4-5D6E-409C-BE32-E72D297353CC}">
              <c16:uniqueId val="{00000007-0315-4E72-BAEA-0379387E5333}"/>
            </c:ext>
          </c:extLst>
        </c:ser>
        <c:ser>
          <c:idx val="1"/>
          <c:order val="1"/>
          <c:tx>
            <c:strRef>
              <c:f>Sheet1!$C$1</c:f>
              <c:strCache>
                <c:ptCount val="1"/>
                <c:pt idx="0">
                  <c:v>Discussed Product and decided to recommend another Rx PERT medication instead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Pt>
            <c:idx val="0"/>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9-0315-4E72-BAEA-0379387E5333}"/>
              </c:ext>
            </c:extLst>
          </c:dPt>
          <c:dPt>
            <c:idx val="1"/>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B-0315-4E72-BAEA-0379387E5333}"/>
              </c:ext>
            </c:extLst>
          </c:dPt>
          <c:dPt>
            <c:idx val="2"/>
            <c:marker>
              <c:symbol val="circle"/>
              <c:size val="3"/>
              <c:spPr>
                <a:solidFill>
                  <a:srgbClr val="9778D4"/>
                </a:solidFill>
                <a:ln w="28575">
                  <a:solidFill>
                    <a:srgbClr val="9778D4"/>
                  </a:solidFill>
                  <a:prstDash val="soli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D-0315-4E72-BAEA-0379387E5333}"/>
              </c:ext>
            </c:extLst>
          </c:dPt>
          <c:dLbls>
            <c:dLbl>
              <c:idx val="0"/>
              <c:layout>
                <c:manualLayout>
                  <c:x val="-4.3177931997818511E-2"/>
                  <c:y val="6.32345211014167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315-4E72-BAEA-0379387E5333}"/>
                </c:ext>
              </c:extLst>
            </c:dLbl>
            <c:dLbl>
              <c:idx val="1"/>
              <c:layout>
                <c:manualLayout>
                  <c:x val="-4.3177834887359635E-2"/>
                  <c:y val="-9.055425977775857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315-4E72-BAEA-0379387E5333}"/>
                </c:ext>
              </c:extLst>
            </c:dLbl>
            <c:dLbl>
              <c:idx val="2"/>
              <c:layout>
                <c:manualLayout>
                  <c:x val="-4.3177834887359684E-2"/>
                  <c:y val="0.1082519308218393"/>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315-4E72-BAEA-0379387E5333}"/>
                </c:ext>
              </c:extLst>
            </c:dLbl>
            <c:dLbl>
              <c:idx val="3"/>
              <c:layout>
                <c:manualLayout>
                  <c:x val="-4.3177834887359726E-2"/>
                  <c:y val="9.4403199752475381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A2D-4FF1-89FD-EF40088C8E8D}"/>
                </c:ext>
              </c:extLst>
            </c:dLbl>
            <c:dLbl>
              <c:idx val="4"/>
              <c:layout>
                <c:manualLayout>
                  <c:x val="-4.3177834887359726E-2"/>
                  <c:y val="8.6441647371151842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0DD-494F-907C-41DEAC997C5C}"/>
                </c:ext>
              </c:extLst>
            </c:dLbl>
            <c:dLbl>
              <c:idx val="5"/>
              <c:layout>
                <c:manualLayout>
                  <c:x val="-4.3177931997818511E-2"/>
                  <c:y val="7.3744154178925742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0DD-494F-907C-41DEAC997C5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0.1</c:v>
                </c:pt>
                <c:pt idx="1">
                  <c:v>0.12</c:v>
                </c:pt>
                <c:pt idx="2">
                  <c:v>0.15</c:v>
                </c:pt>
                <c:pt idx="3">
                  <c:v>0.16</c:v>
                </c:pt>
                <c:pt idx="4">
                  <c:v>0.15</c:v>
                </c:pt>
                <c:pt idx="5">
                  <c:v>0.14</c:v>
                </c:pt>
                <c:pt idx="6">
                  <c:v>0.17</c:v>
                </c:pt>
                <c:pt idx="7">
                  <c:v>0.15</c:v>
                </c:pt>
                <c:pt idx="8">
                  <c:v>0.12</c:v>
                </c:pt>
                <c:pt idx="9">
                  <c:v>0.14</c:v>
                </c:pt>
                <c:pt idx="10">
                  <c:v>0.16</c:v>
                </c:pt>
                <c:pt idx="11">
                  <c:v>0.18</c:v>
                </c:pt>
                <c:pt idx="12">
                  <c:v>0.15</c:v>
                </c:pt>
                <c:pt idx="13">
                  <c:v>0.17</c:v>
                </c:pt>
                <c:pt idx="14">
                  <c:v>0.11</c:v>
                </c:pt>
              </c:numCache>
            </c:numRef>
          </c:val>
          <c:smooth val="0"/>
          <c:extLst>
            <c:ext xmlns:c16="http://schemas.microsoft.com/office/drawing/2014/chart" uri="{C3380CC4-5D6E-409C-BE32-E72D297353CC}">
              <c16:uniqueId val="{00000012-0315-4E72-BAEA-0379387E5333}"/>
            </c:ext>
          </c:extLst>
        </c:ser>
        <c:ser>
          <c:idx val="2"/>
          <c:order val="2"/>
          <c:tx>
            <c:strRef>
              <c:f>Sheet1!$D$1</c:f>
              <c:strCache>
                <c:ptCount val="1"/>
                <c:pt idx="0">
                  <c:v>Discussed Product and decided to recommend another Rx PERT medication instead - PERTZYE</c:v>
                </c:pt>
              </c:strCache>
            </c:strRef>
          </c:tx>
          <c:spPr>
            <a:ln w="28575" cap="rnd">
              <a:solidFill>
                <a:srgbClr val="00B3C8"/>
              </a:solidFill>
              <a:round/>
            </a:ln>
            <a:effectLst/>
          </c:spPr>
          <c:marker>
            <c:symbol val="circle"/>
            <c:size val="5"/>
            <c:spPr>
              <a:solidFill>
                <a:srgbClr val="00B3C8"/>
              </a:solidFill>
              <a:ln w="28575">
                <a:solidFill>
                  <a:srgbClr val="00B3C8"/>
                </a:solidFill>
                <a:prstDash val="solid"/>
              </a:ln>
              <a:effectLst/>
            </c:spPr>
          </c:marker>
          <c:dLbls>
            <c:dLbl>
              <c:idx val="0"/>
              <c:layout>
                <c:manualLayout>
                  <c:x val="-4.564444054276201E-2"/>
                  <c:y val="-0.17240902313033951"/>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A2D-4FF1-89FD-EF40088C8E8D}"/>
                </c:ext>
              </c:extLst>
            </c:dLbl>
            <c:dLbl>
              <c:idx val="1"/>
              <c:layout>
                <c:manualLayout>
                  <c:x val="-4.564444054276201E-2"/>
                  <c:y val="-0.17341910874201155"/>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0DD-494F-907C-41DEAC997C5C}"/>
                </c:ext>
              </c:extLst>
            </c:dLbl>
            <c:dLbl>
              <c:idx val="2"/>
              <c:layout>
                <c:manualLayout>
                  <c:x val="-4.5644537653220879E-2"/>
                  <c:y val="-6.3866318641641065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F0DD-494F-907C-41DEAC997C5C}"/>
                </c:ext>
              </c:extLst>
            </c:dLbl>
            <c:dLbl>
              <c:idx val="3"/>
              <c:layout>
                <c:manualLayout>
                  <c:x val="-4.5644537653220879E-2"/>
                  <c:y val="-6.386688325070293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0315-4E72-BAEA-0379387E5333}"/>
                </c:ext>
              </c:extLst>
            </c:dLbl>
            <c:dLbl>
              <c:idx val="4"/>
              <c:layout>
                <c:manualLayout>
                  <c:x val="-4.5644440542762101E-2"/>
                  <c:y val="-9.7662687866607784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B26-44E2-A1F7-61EB130628B8}"/>
                </c:ext>
              </c:extLst>
            </c:dLbl>
            <c:dLbl>
              <c:idx val="5"/>
              <c:layout>
                <c:manualLayout>
                  <c:x val="-4.5644537653220879E-2"/>
                  <c:y val="-0.11200375803791576"/>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D28-4FD6-AE8E-68154A50501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Sheet1!$D$2:$D$16</c:f>
              <c:numCache>
                <c:formatCode>0%</c:formatCode>
                <c:ptCount val="15"/>
                <c:pt idx="0">
                  <c:v>0.29</c:v>
                </c:pt>
                <c:pt idx="1">
                  <c:v>0.33</c:v>
                </c:pt>
                <c:pt idx="2">
                  <c:v>0.17</c:v>
                </c:pt>
                <c:pt idx="3">
                  <c:v>0.2</c:v>
                </c:pt>
                <c:pt idx="4">
                  <c:v>0.22</c:v>
                </c:pt>
                <c:pt idx="5">
                  <c:v>0.29</c:v>
                </c:pt>
                <c:pt idx="6">
                  <c:v>0.33</c:v>
                </c:pt>
                <c:pt idx="7">
                  <c:v>0.21</c:v>
                </c:pt>
                <c:pt idx="8">
                  <c:v>0.2</c:v>
                </c:pt>
                <c:pt idx="9">
                  <c:v>0.26</c:v>
                </c:pt>
                <c:pt idx="10">
                  <c:v>0.24</c:v>
                </c:pt>
                <c:pt idx="11">
                  <c:v>0.26</c:v>
                </c:pt>
                <c:pt idx="12">
                  <c:v>0.3</c:v>
                </c:pt>
                <c:pt idx="13">
                  <c:v>0.29</c:v>
                </c:pt>
                <c:pt idx="14">
                  <c:v>0.3</c:v>
                </c:pt>
              </c:numCache>
            </c:numRef>
          </c:val>
          <c:smooth val="0"/>
          <c:extLst>
            <c:ext xmlns:c16="http://schemas.microsoft.com/office/drawing/2014/chart" uri="{C3380CC4-5D6E-409C-BE32-E72D297353CC}">
              <c16:uniqueId val="{00000017-0315-4E72-BAEA-0379387E5333}"/>
            </c:ext>
          </c:extLst>
        </c:ser>
        <c:ser>
          <c:idx val="3"/>
          <c:order val="3"/>
          <c:tx>
            <c:strRef>
              <c:f>Sheet1!$E$1</c:f>
              <c:strCache>
                <c:ptCount val="1"/>
                <c:pt idx="0">
                  <c:v>Discussed Product and decided to recommend another Rx PERT medication instead - PANCREAZE</c:v>
                </c:pt>
              </c:strCache>
            </c:strRef>
          </c:tx>
          <c:spPr>
            <a:ln w="28575" cap="rnd">
              <a:solidFill>
                <a:srgbClr val="FF8813"/>
              </a:solidFill>
              <a:round/>
            </a:ln>
            <a:effectLst/>
          </c:spPr>
          <c:marker>
            <c:symbol val="circle"/>
            <c:size val="5"/>
            <c:spPr>
              <a:solidFill>
                <a:srgbClr val="FF8813"/>
              </a:solidFill>
              <a:ln w="28575">
                <a:solidFill>
                  <a:srgbClr val="FF8813"/>
                </a:solidFill>
                <a:prstDash val="solid"/>
              </a:ln>
              <a:effectLst/>
            </c:spPr>
          </c:marker>
          <c:dLbls>
            <c:dLbl>
              <c:idx val="0"/>
              <c:layout>
                <c:manualLayout>
                  <c:x val="-4.564444054276201E-2"/>
                  <c:y val="-0.2164423192559356"/>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65-4DA0-A912-430EBC64D50B}"/>
                </c:ext>
              </c:extLst>
            </c:dLbl>
            <c:dLbl>
              <c:idx val="1"/>
              <c:layout>
                <c:manualLayout>
                  <c:x val="-4.564444054276201E-2"/>
                  <c:y val="-0.13321668510115253"/>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F0DD-494F-907C-41DEAC997C5C}"/>
                </c:ext>
              </c:extLst>
            </c:dLbl>
            <c:dLbl>
              <c:idx val="2"/>
              <c:layout>
                <c:manualLayout>
                  <c:x val="-4.5644537653220879E-2"/>
                  <c:y val="-0.10171404019000231"/>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F0DD-494F-907C-41DEAC997C5C}"/>
                </c:ext>
              </c:extLst>
            </c:dLbl>
            <c:dLbl>
              <c:idx val="3"/>
              <c:layout>
                <c:manualLayout>
                  <c:x val="-4.5644537653220879E-2"/>
                  <c:y val="-0.10171404019000231"/>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B26-44E2-A1F7-61EB130628B8}"/>
                </c:ext>
              </c:extLst>
            </c:dLbl>
            <c:dLbl>
              <c:idx val="4"/>
              <c:layout>
                <c:manualLayout>
                  <c:x val="-4.5644537653220879E-2"/>
                  <c:y val="-0.10171404019000224"/>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D28-4FD6-AE8E-68154A505017}"/>
                </c:ext>
              </c:extLst>
            </c:dLbl>
            <c:dLbl>
              <c:idx val="5"/>
              <c:layout>
                <c:manualLayout>
                  <c:x val="-4.5644537653220879E-2"/>
                  <c:y val="-0.10171404019000224"/>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B26-44E2-A1F7-61EB130628B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Sheet1!$E$2:$E$16</c:f>
              <c:numCache>
                <c:formatCode>0%</c:formatCode>
                <c:ptCount val="15"/>
                <c:pt idx="0">
                  <c:v>0.35</c:v>
                </c:pt>
                <c:pt idx="1">
                  <c:v>0.28</c:v>
                </c:pt>
                <c:pt idx="2">
                  <c:v>0.27</c:v>
                </c:pt>
                <c:pt idx="3">
                  <c:v>0.3</c:v>
                </c:pt>
                <c:pt idx="4">
                  <c:v>0.35</c:v>
                </c:pt>
                <c:pt idx="5">
                  <c:v>0.45</c:v>
                </c:pt>
                <c:pt idx="6">
                  <c:v>0.15</c:v>
                </c:pt>
                <c:pt idx="7">
                  <c:v>0.34</c:v>
                </c:pt>
                <c:pt idx="8">
                  <c:v>0.3</c:v>
                </c:pt>
                <c:pt idx="9">
                  <c:v>0.38</c:v>
                </c:pt>
                <c:pt idx="10">
                  <c:v>0.4</c:v>
                </c:pt>
                <c:pt idx="11">
                  <c:v>0.41</c:v>
                </c:pt>
                <c:pt idx="12">
                  <c:v>0.16</c:v>
                </c:pt>
                <c:pt idx="13">
                  <c:v>0.27</c:v>
                </c:pt>
                <c:pt idx="14">
                  <c:v>0.33</c:v>
                </c:pt>
              </c:numCache>
            </c:numRef>
          </c:val>
          <c:smooth val="0"/>
          <c:extLst>
            <c:ext xmlns:c16="http://schemas.microsoft.com/office/drawing/2014/chart" uri="{C3380CC4-5D6E-409C-BE32-E72D297353CC}">
              <c16:uniqueId val="{0000001A-0315-4E72-BAEA-0379387E5333}"/>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in val="0"/>
        </c:scaling>
        <c:delete val="0"/>
        <c:axPos val="l"/>
        <c:numFmt formatCode="0%" sourceLinked="0"/>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0.4"/>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119870819783185"/>
          <c:y val="8.678154202639321E-2"/>
          <c:w val="0.76040422034285426"/>
          <c:h val="0.84077798611852161"/>
        </c:manualLayout>
      </c:layout>
      <c:lineChart>
        <c:grouping val="standard"/>
        <c:varyColors val="0"/>
        <c:ser>
          <c:idx val="0"/>
          <c:order val="0"/>
          <c:tx>
            <c:strRef>
              <c:f>Sheet1!$B$1</c:f>
              <c:strCache>
                <c:ptCount val="1"/>
                <c:pt idx="0">
                  <c:v>Discussed Product and decided to recommend an OTC product or supplement instead - CREON</c:v>
                </c:pt>
              </c:strCache>
            </c:strRef>
          </c:tx>
          <c:spPr>
            <a:ln w="28575" cap="rnd">
              <a:solidFill>
                <a:srgbClr val="36729C"/>
              </a:solidFill>
              <a:round/>
            </a:ln>
            <a:effectLst/>
          </c:spPr>
          <c:marker>
            <c:symbol val="circle"/>
            <c:size val="3"/>
            <c:spPr>
              <a:solidFill>
                <a:srgbClr val="36729C"/>
              </a:solidFill>
              <a:ln w="28575">
                <a:solidFill>
                  <a:srgbClr val="36729C"/>
                </a:solidFill>
                <a:prstDash val="solid"/>
              </a:ln>
              <a:effectLst/>
            </c:spPr>
          </c:marker>
          <c:dPt>
            <c:idx val="0"/>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8748-41A4-8D7A-7AC046F8CFC5}"/>
              </c:ext>
            </c:extLst>
          </c:dPt>
          <c:dPt>
            <c:idx val="1"/>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8748-41A4-8D7A-7AC046F8CFC5}"/>
              </c:ext>
            </c:extLst>
          </c:dPt>
          <c:dPt>
            <c:idx val="2"/>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8748-41A4-8D7A-7AC046F8CFC5}"/>
              </c:ext>
            </c:extLst>
          </c:dPt>
          <c:dLbls>
            <c:dLbl>
              <c:idx val="0"/>
              <c:layout>
                <c:manualLayout>
                  <c:x val="-3.6320768275799921E-2"/>
                  <c:y val="8.4253787256434703E-2"/>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748-41A4-8D7A-7AC046F8CFC5}"/>
                </c:ext>
              </c:extLst>
            </c:dLbl>
            <c:dLbl>
              <c:idx val="1"/>
              <c:layout>
                <c:manualLayout>
                  <c:x val="-4.3177931997818511E-2"/>
                  <c:y val="8.4253787256434703E-2"/>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748-41A4-8D7A-7AC046F8CFC5}"/>
                </c:ext>
              </c:extLst>
            </c:dLbl>
            <c:dLbl>
              <c:idx val="2"/>
              <c:layout>
                <c:manualLayout>
                  <c:x val="-4.3177931997818511E-2"/>
                  <c:y val="0.12515406769775572"/>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748-41A4-8D7A-7AC046F8CFC5}"/>
                </c:ext>
              </c:extLst>
            </c:dLbl>
            <c:dLbl>
              <c:idx val="3"/>
              <c:layout>
                <c:manualLayout>
                  <c:x val="-4.3177834887359726E-2"/>
                  <c:y val="0.16646199588174151"/>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748-41A4-8D7A-7AC046F8CFC5}"/>
                </c:ext>
              </c:extLst>
            </c:dLbl>
            <c:dLbl>
              <c:idx val="4"/>
              <c:layout>
                <c:manualLayout>
                  <c:x val="-4.3177931997818511E-2"/>
                  <c:y val="0.16424025922331248"/>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E29-4F2A-AF5C-F420E7CBAED9}"/>
                </c:ext>
              </c:extLst>
            </c:dLbl>
            <c:dLbl>
              <c:idx val="5"/>
              <c:layout>
                <c:manualLayout>
                  <c:x val="-4.3177834887359635E-2"/>
                  <c:y val="6.521686351761595E-2"/>
                </c:manualLayout>
              </c:layout>
              <c:spPr>
                <a:noFill/>
                <a:ln>
                  <a:noFill/>
                </a:ln>
                <a:effectLst/>
              </c:spPr>
              <c:txPr>
                <a:bodyPr wrap="square" lIns="38100" tIns="19050" rIns="38100" bIns="19050" anchor="ctr">
                  <a:spAutoFit/>
                </a:bodyPr>
                <a:lstStyle/>
                <a:p>
                  <a:pPr>
                    <a:defRPr sz="1000" b="0" i="0" u="none" strike="noStrike">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2C8-4A4A-B0B7-5B1CE226AAD4}"/>
                </c:ext>
              </c:extLst>
            </c:dLbl>
            <c:spPr>
              <a:noFill/>
              <a:ln>
                <a:noFill/>
              </a:ln>
              <a:effectLst/>
            </c:sp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Sheet1!$B$2:$B$16</c:f>
              <c:numCache>
                <c:formatCode>0%</c:formatCode>
                <c:ptCount val="15"/>
                <c:pt idx="0">
                  <c:v>0.06</c:v>
                </c:pt>
                <c:pt idx="1">
                  <c:v>0.11</c:v>
                </c:pt>
                <c:pt idx="2">
                  <c:v>0.11</c:v>
                </c:pt>
                <c:pt idx="3">
                  <c:v>0.12</c:v>
                </c:pt>
                <c:pt idx="4">
                  <c:v>0.12</c:v>
                </c:pt>
                <c:pt idx="5">
                  <c:v>0.12</c:v>
                </c:pt>
                <c:pt idx="6">
                  <c:v>0.16</c:v>
                </c:pt>
                <c:pt idx="7">
                  <c:v>0.12</c:v>
                </c:pt>
                <c:pt idx="8">
                  <c:v>0.11</c:v>
                </c:pt>
                <c:pt idx="9">
                  <c:v>0.12</c:v>
                </c:pt>
                <c:pt idx="10">
                  <c:v>0.13</c:v>
                </c:pt>
                <c:pt idx="11">
                  <c:v>0.11</c:v>
                </c:pt>
                <c:pt idx="12">
                  <c:v>0.13</c:v>
                </c:pt>
                <c:pt idx="13">
                  <c:v>0.12</c:v>
                </c:pt>
                <c:pt idx="14">
                  <c:v>0.09</c:v>
                </c:pt>
              </c:numCache>
            </c:numRef>
          </c:val>
          <c:smooth val="0"/>
          <c:extLst>
            <c:ext xmlns:c16="http://schemas.microsoft.com/office/drawing/2014/chart" uri="{C3380CC4-5D6E-409C-BE32-E72D297353CC}">
              <c16:uniqueId val="{00000008-8748-41A4-8D7A-7AC046F8CFC5}"/>
            </c:ext>
          </c:extLst>
        </c:ser>
        <c:ser>
          <c:idx val="1"/>
          <c:order val="1"/>
          <c:tx>
            <c:strRef>
              <c:f>Sheet1!$C$1</c:f>
              <c:strCache>
                <c:ptCount val="1"/>
                <c:pt idx="0">
                  <c:v>Discussed Product and decided to recommend an OTC product or supplement instead - ZENPEP</c:v>
                </c:pt>
              </c:strCache>
            </c:strRef>
          </c:tx>
          <c:spPr>
            <a:ln w="28575" cap="rnd">
              <a:solidFill>
                <a:srgbClr val="9778D4"/>
              </a:solidFill>
              <a:round/>
            </a:ln>
            <a:effectLst/>
          </c:spPr>
          <c:marker>
            <c:symbol val="circle"/>
            <c:size val="3"/>
            <c:spPr>
              <a:solidFill>
                <a:srgbClr val="9778D4"/>
              </a:solidFill>
              <a:ln w="28575">
                <a:solidFill>
                  <a:srgbClr val="9778D4"/>
                </a:solidFill>
                <a:prstDash val="solid"/>
              </a:ln>
              <a:effectLst/>
            </c:spPr>
          </c:marker>
          <c:dPt>
            <c:idx val="0"/>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A-8748-41A4-8D7A-7AC046F8CFC5}"/>
              </c:ext>
            </c:extLst>
          </c:dPt>
          <c:dPt>
            <c:idx val="1"/>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C-8748-41A4-8D7A-7AC046F8CFC5}"/>
              </c:ext>
            </c:extLst>
          </c:dPt>
          <c:dPt>
            <c:idx val="2"/>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E-8748-41A4-8D7A-7AC046F8CFC5}"/>
              </c:ext>
            </c:extLst>
          </c:dPt>
          <c:dLbls>
            <c:dLbl>
              <c:idx val="0"/>
              <c:layout>
                <c:manualLayout>
                  <c:x val="-3.6320768275799921E-2"/>
                  <c:y val="-8.7839054799261851E-2"/>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748-41A4-8D7A-7AC046F8CFC5}"/>
                </c:ext>
              </c:extLst>
            </c:dLbl>
            <c:dLbl>
              <c:idx val="1"/>
              <c:layout>
                <c:manualLayout>
                  <c:x val="-4.3177834887359635E-2"/>
                  <c:y val="-5.9156914456645643E-2"/>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748-41A4-8D7A-7AC046F8CFC5}"/>
                </c:ext>
              </c:extLst>
            </c:dLbl>
            <c:dLbl>
              <c:idx val="2"/>
              <c:layout>
                <c:manualLayout>
                  <c:x val="-4.3177834887359684E-2"/>
                  <c:y val="0.10568804107192159"/>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748-41A4-8D7A-7AC046F8CFC5}"/>
                </c:ext>
              </c:extLst>
            </c:dLbl>
            <c:dLbl>
              <c:idx val="3"/>
              <c:layout>
                <c:manualLayout>
                  <c:x val="-4.3177834887359726E-2"/>
                  <c:y val="-6.632744954229973E-2"/>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842-4463-BD67-49A6C0FB5EBE}"/>
                </c:ext>
              </c:extLst>
            </c:dLbl>
            <c:dLbl>
              <c:idx val="4"/>
              <c:layout>
                <c:manualLayout>
                  <c:x val="-4.3177834887359726E-2"/>
                  <c:y val="-5.9156914456645643E-2"/>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F78-4871-A697-DCFA4565FEB7}"/>
                </c:ext>
              </c:extLst>
            </c:dLbl>
            <c:dLbl>
              <c:idx val="5"/>
              <c:layout>
                <c:manualLayout>
                  <c:x val="-4.3177834887359635E-2"/>
                  <c:y val="0.1319728513378694"/>
                </c:manualLayout>
              </c:layout>
              <c:spPr>
                <a:noFill/>
                <a:ln>
                  <a:noFill/>
                </a:ln>
                <a:effectLst/>
              </c:spPr>
              <c:txPr>
                <a:bodyPr wrap="square" lIns="38100" tIns="19050" rIns="38100" bIns="19050" anchor="ctr">
                  <a:spAutoFit/>
                </a:bodyPr>
                <a:lstStyle/>
                <a:p>
                  <a:pPr>
                    <a:defRPr sz="1000" b="0" i="0" u="none" strike="noStrike">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E29-4F2A-AF5C-F420E7CBAED9}"/>
                </c:ext>
              </c:extLst>
            </c:dLbl>
            <c:spPr>
              <a:noFill/>
              <a:ln>
                <a:noFill/>
              </a:ln>
              <a:effectLst/>
            </c:sp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Sheet1!$C$2:$C$16</c:f>
              <c:numCache>
                <c:formatCode>0%</c:formatCode>
                <c:ptCount val="15"/>
                <c:pt idx="0">
                  <c:v>0.08</c:v>
                </c:pt>
                <c:pt idx="1">
                  <c:v>0.11</c:v>
                </c:pt>
                <c:pt idx="2">
                  <c:v>0.14</c:v>
                </c:pt>
                <c:pt idx="3">
                  <c:v>0.15</c:v>
                </c:pt>
                <c:pt idx="4">
                  <c:v>0.13</c:v>
                </c:pt>
                <c:pt idx="5">
                  <c:v>0.11</c:v>
                </c:pt>
                <c:pt idx="6">
                  <c:v>0.16</c:v>
                </c:pt>
                <c:pt idx="7">
                  <c:v>0.13</c:v>
                </c:pt>
                <c:pt idx="8">
                  <c:v>0.1</c:v>
                </c:pt>
                <c:pt idx="9">
                  <c:v>0.13</c:v>
                </c:pt>
                <c:pt idx="10">
                  <c:v>0.13</c:v>
                </c:pt>
                <c:pt idx="11">
                  <c:v>0.12</c:v>
                </c:pt>
                <c:pt idx="12">
                  <c:v>0.14</c:v>
                </c:pt>
                <c:pt idx="13">
                  <c:v>0.13</c:v>
                </c:pt>
                <c:pt idx="14">
                  <c:v>0.12</c:v>
                </c:pt>
              </c:numCache>
            </c:numRef>
          </c:val>
          <c:smooth val="0"/>
          <c:extLst>
            <c:ext xmlns:c16="http://schemas.microsoft.com/office/drawing/2014/chart" uri="{C3380CC4-5D6E-409C-BE32-E72D297353CC}">
              <c16:uniqueId val="{00000012-8748-41A4-8D7A-7AC046F8CFC5}"/>
            </c:ext>
          </c:extLst>
        </c:ser>
        <c:ser>
          <c:idx val="2"/>
          <c:order val="2"/>
          <c:tx>
            <c:strRef>
              <c:f>Sheet1!$D$1</c:f>
              <c:strCache>
                <c:ptCount val="1"/>
                <c:pt idx="0">
                  <c:v>Discussed Product and decided to recommend an OTC product or supplement instead - PERTZYE</c:v>
                </c:pt>
              </c:strCache>
            </c:strRef>
          </c:tx>
          <c:spPr>
            <a:ln w="28575" cap="rnd">
              <a:solidFill>
                <a:srgbClr val="00B3C8"/>
              </a:solidFill>
              <a:round/>
            </a:ln>
            <a:effectLst/>
          </c:spPr>
          <c:marker>
            <c:symbol val="circle"/>
            <c:size val="5"/>
            <c:spPr>
              <a:solidFill>
                <a:srgbClr val="00B3C8"/>
              </a:solidFill>
              <a:ln w="28575">
                <a:solidFill>
                  <a:srgbClr val="00B3C8"/>
                </a:solidFill>
                <a:prstDash val="solid"/>
              </a:ln>
              <a:effectLst/>
            </c:spPr>
          </c:marker>
          <c:dLbls>
            <c:dLbl>
              <c:idx val="0"/>
              <c:layout>
                <c:manualLayout>
                  <c:x val="-4.5644537653220879E-2"/>
                  <c:y val="-9.5009589884915729E-2"/>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EF9-4F29-B698-020F416EAA62}"/>
                </c:ext>
              </c:extLst>
            </c:dLbl>
            <c:dLbl>
              <c:idx val="1"/>
              <c:layout>
                <c:manualLayout>
                  <c:x val="-4.5644537653220879E-2"/>
                  <c:y val="-9.5009589884915799E-2"/>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EF9-4F29-B698-020F416EAA62}"/>
                </c:ext>
              </c:extLst>
            </c:dLbl>
            <c:dLbl>
              <c:idx val="2"/>
              <c:layout>
                <c:manualLayout>
                  <c:x val="-4.5644440542762052E-2"/>
                  <c:y val="-0.10465480648871318"/>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E29-4F2A-AF5C-F420E7CBAED9}"/>
                </c:ext>
              </c:extLst>
            </c:dLbl>
            <c:dLbl>
              <c:idx val="3"/>
              <c:layout>
                <c:manualLayout>
                  <c:x val="-4.5644537653220879E-2"/>
                  <c:y val="-9.3216956113502225E-2"/>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D5B-4BA6-80E7-E7E3A6CF6DA0}"/>
                </c:ext>
              </c:extLst>
            </c:dLbl>
            <c:dLbl>
              <c:idx val="4"/>
              <c:layout>
                <c:manualLayout>
                  <c:x val="-4.5644537653220879E-2"/>
                  <c:y val="-9.3216956113502225E-2"/>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E29-4F2A-AF5C-F420E7CBAED9}"/>
                </c:ext>
              </c:extLst>
            </c:dLbl>
            <c:dLbl>
              <c:idx val="5"/>
              <c:layout>
                <c:manualLayout>
                  <c:x val="-4.5644537653220879E-2"/>
                  <c:y val="-9.3216956113502225E-2"/>
                </c:manualLayout>
              </c:layout>
              <c:spPr>
                <a:noFill/>
                <a:ln>
                  <a:noFill/>
                </a:ln>
                <a:effectLst/>
              </c:spPr>
              <c:txPr>
                <a:bodyPr wrap="square" lIns="38100" tIns="19050" rIns="38100" bIns="19050" anchor="ctr">
                  <a:spAutoFit/>
                </a:bodyPr>
                <a:lstStyle/>
                <a:p>
                  <a:pPr>
                    <a:defRPr sz="1000" b="0" i="0" u="none" strike="noStrike">
                      <a:solidFill>
                        <a:srgbClr val="00B3C8"/>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E29-4F2A-AF5C-F420E7CBAED9}"/>
                </c:ext>
              </c:extLst>
            </c:dLbl>
            <c:spPr>
              <a:noFill/>
              <a:ln>
                <a:noFill/>
              </a:ln>
              <a:effectLst/>
            </c:sp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Sheet1!$D$2:$D$16</c:f>
              <c:numCache>
                <c:formatCode>0%</c:formatCode>
                <c:ptCount val="15"/>
                <c:pt idx="0">
                  <c:v>0.22</c:v>
                </c:pt>
                <c:pt idx="1">
                  <c:v>0.18</c:v>
                </c:pt>
                <c:pt idx="2">
                  <c:v>0.21</c:v>
                </c:pt>
                <c:pt idx="3">
                  <c:v>0.22</c:v>
                </c:pt>
                <c:pt idx="4">
                  <c:v>0.2</c:v>
                </c:pt>
                <c:pt idx="5">
                  <c:v>0.25</c:v>
                </c:pt>
                <c:pt idx="6">
                  <c:v>0.33</c:v>
                </c:pt>
                <c:pt idx="7">
                  <c:v>0.35</c:v>
                </c:pt>
                <c:pt idx="8">
                  <c:v>0.28</c:v>
                </c:pt>
                <c:pt idx="9">
                  <c:v>0.32</c:v>
                </c:pt>
                <c:pt idx="10">
                  <c:v>0.32</c:v>
                </c:pt>
                <c:pt idx="11">
                  <c:v>0.36</c:v>
                </c:pt>
                <c:pt idx="12">
                  <c:v>0.29</c:v>
                </c:pt>
                <c:pt idx="13">
                  <c:v>0.27</c:v>
                </c:pt>
                <c:pt idx="14">
                  <c:v>0.23</c:v>
                </c:pt>
              </c:numCache>
            </c:numRef>
          </c:val>
          <c:smooth val="0"/>
          <c:extLst>
            <c:ext xmlns:c16="http://schemas.microsoft.com/office/drawing/2014/chart" uri="{C3380CC4-5D6E-409C-BE32-E72D297353CC}">
              <c16:uniqueId val="{0000001A-8748-41A4-8D7A-7AC046F8CFC5}"/>
            </c:ext>
          </c:extLst>
        </c:ser>
        <c:ser>
          <c:idx val="3"/>
          <c:order val="3"/>
          <c:tx>
            <c:strRef>
              <c:f>Sheet1!$E$1</c:f>
              <c:strCache>
                <c:ptCount val="1"/>
                <c:pt idx="0">
                  <c:v>Discussed Product and decided to recommend an OTC product or supplement instead - PANCREAZE</c:v>
                </c:pt>
              </c:strCache>
            </c:strRef>
          </c:tx>
          <c:spPr>
            <a:ln w="28575" cap="rnd">
              <a:solidFill>
                <a:srgbClr val="FF8813"/>
              </a:solidFill>
              <a:round/>
            </a:ln>
            <a:effectLst/>
          </c:spPr>
          <c:marker>
            <c:symbol val="circle"/>
            <c:size val="5"/>
            <c:spPr>
              <a:solidFill>
                <a:srgbClr val="FF8813"/>
              </a:solidFill>
              <a:ln w="28575">
                <a:solidFill>
                  <a:srgbClr val="FF8813"/>
                </a:solidFill>
                <a:prstDash val="solid"/>
              </a:ln>
              <a:effectLst/>
            </c:spPr>
          </c:marker>
          <c:dLbls>
            <c:dLbl>
              <c:idx val="0"/>
              <c:layout>
                <c:manualLayout>
                  <c:x val="-4.5644537653220879E-2"/>
                  <c:y val="-9.3216956113502225E-2"/>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D84-4B14-B2CA-4DCDB2AE0C76}"/>
                </c:ext>
              </c:extLst>
            </c:dLbl>
            <c:dLbl>
              <c:idx val="1"/>
              <c:layout>
                <c:manualLayout>
                  <c:x val="-4.5644537653220879E-2"/>
                  <c:y val="-9.3216956113502267E-2"/>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E29-4F2A-AF5C-F420E7CBAED9}"/>
                </c:ext>
              </c:extLst>
            </c:dLbl>
            <c:dLbl>
              <c:idx val="2"/>
              <c:layout>
                <c:manualLayout>
                  <c:x val="-4.5644440542762052E-2"/>
                  <c:y val="-0.18643391222700445"/>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F78-4871-A697-DCFA4565FEB7}"/>
                </c:ext>
              </c:extLst>
            </c:dLbl>
            <c:dLbl>
              <c:idx val="3"/>
              <c:layout>
                <c:manualLayout>
                  <c:x val="-4.5644440542762101E-2"/>
                  <c:y val="6.3171284886488044E-2"/>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D84-4B14-B2CA-4DCDB2AE0C76}"/>
                </c:ext>
              </c:extLst>
            </c:dLbl>
            <c:dLbl>
              <c:idx val="4"/>
              <c:layout>
                <c:manualLayout>
                  <c:x val="-4.5644440542762101E-2"/>
                  <c:y val="7.281593688122362E-2"/>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D84-4B14-B2CA-4DCDB2AE0C76}"/>
                </c:ext>
              </c:extLst>
            </c:dLbl>
            <c:dLbl>
              <c:idx val="5"/>
              <c:layout>
                <c:manualLayout>
                  <c:x val="-4.564444054276201E-2"/>
                  <c:y val="-7.3497984627953677E-2"/>
                </c:manualLayout>
              </c:layout>
              <c:spPr>
                <a:noFill/>
                <a:ln>
                  <a:noFill/>
                </a:ln>
                <a:effectLst/>
              </c:spPr>
              <c:txPr>
                <a:bodyPr wrap="square" lIns="38100" tIns="19050" rIns="38100" bIns="19050" anchor="ctr">
                  <a:spAutoFit/>
                </a:bodyPr>
                <a:lstStyle/>
                <a:p>
                  <a:pPr>
                    <a:defRPr sz="1000" b="0" i="0" u="none" strike="noStrike">
                      <a:solidFill>
                        <a:srgbClr val="FF8813"/>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F78-4871-A697-DCFA4565FEB7}"/>
                </c:ext>
              </c:extLst>
            </c:dLbl>
            <c:spPr>
              <a:noFill/>
              <a:ln>
                <a:noFill/>
              </a:ln>
              <a:effectLst/>
            </c:sp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Sheet1!$A$2:$A$16</c:f>
              <c:strCache>
                <c:ptCount val="15"/>
                <c:pt idx="0">
                  <c:v>Oct'25</c:v>
                </c:pt>
                <c:pt idx="1">
                  <c:v>Nov'25</c:v>
                </c:pt>
                <c:pt idx="2">
                  <c:v>Dec'25</c:v>
                </c:pt>
                <c:pt idx="3">
                  <c:v>Jan'26</c:v>
                </c:pt>
                <c:pt idx="4">
                  <c:v>Feb'26</c:v>
                </c:pt>
                <c:pt idx="5">
                  <c:v>Mar'26</c:v>
                </c:pt>
                <c:pt idx="6">
                  <c:v>Apr'25</c:v>
                </c:pt>
                <c:pt idx="7">
                  <c:v>Aug'25</c:v>
                </c:pt>
                <c:pt idx="8">
                  <c:v>Feb'25</c:v>
                </c:pt>
                <c:pt idx="9">
                  <c:v>Jan'25</c:v>
                </c:pt>
                <c:pt idx="10">
                  <c:v>Jul'25</c:v>
                </c:pt>
                <c:pt idx="11">
                  <c:v>Jun'25</c:v>
                </c:pt>
                <c:pt idx="12">
                  <c:v>Mar'25</c:v>
                </c:pt>
                <c:pt idx="13">
                  <c:v>May'25</c:v>
                </c:pt>
                <c:pt idx="14">
                  <c:v>Sep'25</c:v>
                </c:pt>
              </c:strCache>
            </c:strRef>
          </c:cat>
          <c:val>
            <c:numRef>
              <c:f>Sheet1!$E$2:$E$16</c:f>
              <c:numCache>
                <c:formatCode>0%</c:formatCode>
                <c:ptCount val="15"/>
                <c:pt idx="0">
                  <c:v>0.32</c:v>
                </c:pt>
                <c:pt idx="1">
                  <c:v>0.29</c:v>
                </c:pt>
                <c:pt idx="2">
                  <c:v>0.21</c:v>
                </c:pt>
                <c:pt idx="3">
                  <c:v>0.13</c:v>
                </c:pt>
                <c:pt idx="4">
                  <c:v>0.12</c:v>
                </c:pt>
                <c:pt idx="5">
                  <c:v>0.17</c:v>
                </c:pt>
                <c:pt idx="6">
                  <c:v>0.35</c:v>
                </c:pt>
                <c:pt idx="7">
                  <c:v>0.29</c:v>
                </c:pt>
                <c:pt idx="8">
                  <c:v>0.15</c:v>
                </c:pt>
                <c:pt idx="9">
                  <c:v>0.18</c:v>
                </c:pt>
                <c:pt idx="10">
                  <c:v>0.27</c:v>
                </c:pt>
                <c:pt idx="11">
                  <c:v>0.28</c:v>
                </c:pt>
                <c:pt idx="12">
                  <c:v>0.31</c:v>
                </c:pt>
                <c:pt idx="13">
                  <c:v>0.28</c:v>
                </c:pt>
                <c:pt idx="14">
                  <c:v>0.28</c:v>
                </c:pt>
              </c:numCache>
            </c:numRef>
          </c:val>
          <c:smooth val="0"/>
          <c:extLst>
            <c:ext xmlns:c16="http://schemas.microsoft.com/office/drawing/2014/chart" uri="{C3380CC4-5D6E-409C-BE32-E72D297353CC}">
              <c16:uniqueId val="{00000022-8748-41A4-8D7A-7AC046F8CFC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5"/>
          <c:min val="0"/>
        </c:scaling>
        <c:delete val="0"/>
        <c:axPos val="l"/>
        <c:numFmt formatCode="0%" sourceLinked="0"/>
        <c:majorTickMark val="out"/>
        <c:minorTickMark val="none"/>
        <c:tickLblPos val="nextTo"/>
        <c:spPr>
          <a:noFill/>
          <a:ln>
            <a:solidFill>
              <a:srgbClr val="071D49"/>
            </a:solidFill>
          </a:ln>
          <a:effectLst/>
        </c:spPr>
        <c:txPr>
          <a:bodyPr rot="-60000000" spcFirstLastPara="1" vertOverflow="ellipsis" vert="horz" wrap="square" anchor="ctr" anchorCtr="1"/>
          <a:lstStyle/>
          <a:p>
            <a:pPr>
              <a:defRPr sz="1000" b="0" i="0" u="none" strike="noStrike" kern="1200" baseline="0">
                <a:noFill/>
                <a:latin typeface="Calibri" panose="020F0502020204030204" pitchFamily="34" charset="0"/>
                <a:ea typeface="+mn-ea"/>
                <a:cs typeface="Calibri" panose="020F0502020204030204" pitchFamily="34" charset="0"/>
              </a:defRPr>
            </a:pPr>
            <a:endParaRPr lang="en-US"/>
          </a:p>
        </c:txPr>
        <c:crossAx val="541635272"/>
        <c:crosses val="autoZero"/>
        <c:crossBetween val="between"/>
        <c:majorUnit val="0.5"/>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0483462962962966"/>
          <c:y val="0"/>
          <c:w val="0.48105425439800636"/>
          <c:h val="1"/>
        </c:manualLayout>
      </c:layout>
      <c:barChart>
        <c:barDir val="bar"/>
        <c:grouping val="clustered"/>
        <c:varyColors val="0"/>
        <c:ser>
          <c:idx val="0"/>
          <c:order val="0"/>
          <c:tx>
            <c:strRef>
              <c:f>Sheet1!$B$1</c:f>
              <c:strCache>
                <c:ptCount val="1"/>
                <c:pt idx="0">
                  <c:v>Jan-Feb 2026</c:v>
                </c:pt>
              </c:strCache>
            </c:strRef>
          </c:tx>
          <c:spPr>
            <a:solidFill>
              <a:srgbClr val="36729C"/>
            </a:solidFill>
            <a:ln>
              <a:noFill/>
            </a:ln>
            <a:effectLst/>
          </c:spPr>
          <c:invertIfNegative val="0"/>
          <c:dPt>
            <c:idx val="0"/>
            <c:invertIfNegative val="0"/>
            <c:bubble3D val="0"/>
            <c:extLst>
              <c:ext xmlns:c16="http://schemas.microsoft.com/office/drawing/2014/chart" uri="{C3380CC4-5D6E-409C-BE32-E72D297353CC}">
                <c16:uniqueId val="{00000000-910B-43DC-A8E5-4DAA1D2EF528}"/>
              </c:ext>
            </c:extLst>
          </c:dPt>
          <c:dPt>
            <c:idx val="1"/>
            <c:invertIfNegative val="0"/>
            <c:bubble3D val="0"/>
            <c:extLst>
              <c:ext xmlns:c16="http://schemas.microsoft.com/office/drawing/2014/chart" uri="{C3380CC4-5D6E-409C-BE32-E72D297353CC}">
                <c16:uniqueId val="{00000001-910B-43DC-A8E5-4DAA1D2EF528}"/>
              </c:ext>
            </c:extLst>
          </c:dPt>
          <c:dPt>
            <c:idx val="2"/>
            <c:invertIfNegative val="0"/>
            <c:bubble3D val="0"/>
            <c:extLst>
              <c:ext xmlns:c16="http://schemas.microsoft.com/office/drawing/2014/chart" uri="{C3380CC4-5D6E-409C-BE32-E72D297353CC}">
                <c16:uniqueId val="{00000002-910B-43DC-A8E5-4DAA1D2EF528}"/>
              </c:ext>
            </c:extLst>
          </c:dPt>
          <c:dPt>
            <c:idx val="3"/>
            <c:invertIfNegative val="0"/>
            <c:bubble3D val="0"/>
            <c:spPr>
              <a:solidFill>
                <a:srgbClr val="7F7F7F"/>
              </a:solidFill>
              <a:ln>
                <a:noFill/>
              </a:ln>
              <a:effectLst/>
            </c:spPr>
            <c:extLst>
              <c:ext xmlns:c16="http://schemas.microsoft.com/office/drawing/2014/chart" uri="{C3380CC4-5D6E-409C-BE32-E72D297353CC}">
                <c16:uniqueId val="{00000003-910B-43DC-A8E5-4DAA1D2EF528}"/>
              </c:ext>
            </c:extLst>
          </c:dPt>
          <c:dPt>
            <c:idx val="4"/>
            <c:invertIfNegative val="0"/>
            <c:bubble3D val="0"/>
            <c:extLst>
              <c:ext xmlns:c16="http://schemas.microsoft.com/office/drawing/2014/chart" uri="{C3380CC4-5D6E-409C-BE32-E72D297353CC}">
                <c16:uniqueId val="{00000004-910B-43DC-A8E5-4DAA1D2EF528}"/>
              </c:ext>
            </c:extLst>
          </c:dPt>
          <c:dPt>
            <c:idx val="5"/>
            <c:invertIfNegative val="0"/>
            <c:bubble3D val="0"/>
            <c:spPr>
              <a:solidFill>
                <a:srgbClr val="7F7F7F"/>
              </a:solidFill>
              <a:ln>
                <a:noFill/>
              </a:ln>
              <a:effectLst/>
            </c:spPr>
            <c:extLst>
              <c:ext xmlns:c16="http://schemas.microsoft.com/office/drawing/2014/chart" uri="{C3380CC4-5D6E-409C-BE32-E72D297353CC}">
                <c16:uniqueId val="{00000005-910B-43DC-A8E5-4DAA1D2EF528}"/>
              </c:ext>
            </c:extLst>
          </c:dPt>
          <c:dPt>
            <c:idx val="6"/>
            <c:invertIfNegative val="0"/>
            <c:bubble3D val="0"/>
            <c:extLst>
              <c:ext xmlns:c16="http://schemas.microsoft.com/office/drawing/2014/chart" uri="{C3380CC4-5D6E-409C-BE32-E72D297353CC}">
                <c16:uniqueId val="{00000007-910B-43DC-A8E5-4DAA1D2EF528}"/>
              </c:ext>
            </c:extLst>
          </c:dPt>
          <c:dPt>
            <c:idx val="7"/>
            <c:invertIfNegative val="0"/>
            <c:bubble3D val="0"/>
            <c:spPr>
              <a:solidFill>
                <a:srgbClr val="7F7F7F"/>
              </a:solidFill>
              <a:ln>
                <a:noFill/>
              </a:ln>
              <a:effectLst/>
            </c:spPr>
            <c:extLst>
              <c:ext xmlns:c16="http://schemas.microsoft.com/office/drawing/2014/chart" uri="{C3380CC4-5D6E-409C-BE32-E72D297353CC}">
                <c16:uniqueId val="{00000012-910B-43DC-A8E5-4DAA1D2EF528}"/>
              </c:ext>
            </c:extLst>
          </c:dPt>
          <c:dPt>
            <c:idx val="8"/>
            <c:invertIfNegative val="0"/>
            <c:bubble3D val="0"/>
            <c:spPr>
              <a:solidFill>
                <a:srgbClr val="7F7F7F"/>
              </a:solidFill>
              <a:ln>
                <a:noFill/>
              </a:ln>
              <a:effectLst/>
            </c:spPr>
            <c:extLst>
              <c:ext xmlns:c16="http://schemas.microsoft.com/office/drawing/2014/chart" uri="{C3380CC4-5D6E-409C-BE32-E72D297353CC}">
                <c16:uniqueId val="{00000008-910B-43DC-A8E5-4DAA1D2EF528}"/>
              </c:ext>
            </c:extLst>
          </c:dPt>
          <c:dPt>
            <c:idx val="9"/>
            <c:invertIfNegative val="0"/>
            <c:bubble3D val="0"/>
            <c:spPr>
              <a:solidFill>
                <a:srgbClr val="7F7F7F"/>
              </a:solidFill>
              <a:ln>
                <a:noFill/>
              </a:ln>
              <a:effectLst/>
            </c:spPr>
            <c:extLst>
              <c:ext xmlns:c16="http://schemas.microsoft.com/office/drawing/2014/chart" uri="{C3380CC4-5D6E-409C-BE32-E72D297353CC}">
                <c16:uniqueId val="{0000000A-910B-43DC-A8E5-4DAA1D2EF528}"/>
              </c:ext>
            </c:extLst>
          </c:dPt>
          <c:dPt>
            <c:idx val="10"/>
            <c:invertIfNegative val="0"/>
            <c:bubble3D val="0"/>
            <c:spPr>
              <a:solidFill>
                <a:srgbClr val="7F7F7F"/>
              </a:solidFill>
              <a:ln>
                <a:noFill/>
              </a:ln>
              <a:effectLst/>
            </c:spPr>
            <c:extLst>
              <c:ext xmlns:c16="http://schemas.microsoft.com/office/drawing/2014/chart" uri="{C3380CC4-5D6E-409C-BE32-E72D297353CC}">
                <c16:uniqueId val="{0000000C-910B-43DC-A8E5-4DAA1D2EF528}"/>
              </c:ext>
            </c:extLst>
          </c:dPt>
          <c:dPt>
            <c:idx val="11"/>
            <c:invertIfNegative val="0"/>
            <c:bubble3D val="0"/>
            <c:extLst>
              <c:ext xmlns:c16="http://schemas.microsoft.com/office/drawing/2014/chart" uri="{C3380CC4-5D6E-409C-BE32-E72D297353CC}">
                <c16:uniqueId val="{0000000E-910B-43DC-A8E5-4DAA1D2EF528}"/>
              </c:ext>
            </c:extLst>
          </c:dPt>
          <c:dPt>
            <c:idx val="12"/>
            <c:invertIfNegative val="0"/>
            <c:bubble3D val="0"/>
            <c:extLst>
              <c:ext xmlns:c16="http://schemas.microsoft.com/office/drawing/2014/chart" uri="{C3380CC4-5D6E-409C-BE32-E72D297353CC}">
                <c16:uniqueId val="{00000010-910B-43DC-A8E5-4DAA1D2EF528}"/>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3K</c:v>
                </c:pt>
                <c:pt idx="1">
                  <c:v>6k</c:v>
                </c:pt>
                <c:pt idx="2">
                  <c:v>12k</c:v>
                </c:pt>
                <c:pt idx="3">
                  <c:v>15K</c:v>
                </c:pt>
                <c:pt idx="4">
                  <c:v>24K</c:v>
                </c:pt>
                <c:pt idx="5">
                  <c:v>30K</c:v>
                </c:pt>
                <c:pt idx="6">
                  <c:v>36K</c:v>
                </c:pt>
                <c:pt idx="7">
                  <c:v>50K</c:v>
                </c:pt>
                <c:pt idx="8">
                  <c:v>80K</c:v>
                </c:pt>
                <c:pt idx="9">
                  <c:v>I don’t remember</c:v>
                </c:pt>
                <c:pt idx="10">
                  <c:v>No specific dosing options were discussed</c:v>
                </c:pt>
              </c:strCache>
            </c:strRef>
          </c:cat>
          <c:val>
            <c:numRef>
              <c:f>Sheet1!$B$2:$B$12</c:f>
              <c:numCache>
                <c:formatCode>0%</c:formatCode>
                <c:ptCount val="11"/>
                <c:pt idx="0">
                  <c:v>0.06</c:v>
                </c:pt>
                <c:pt idx="1">
                  <c:v>0.07</c:v>
                </c:pt>
                <c:pt idx="2">
                  <c:v>0.09</c:v>
                </c:pt>
                <c:pt idx="3">
                  <c:v>0.07</c:v>
                </c:pt>
                <c:pt idx="4">
                  <c:v>0.21</c:v>
                </c:pt>
                <c:pt idx="5">
                  <c:v>0.09</c:v>
                </c:pt>
                <c:pt idx="6">
                  <c:v>0.48</c:v>
                </c:pt>
                <c:pt idx="7">
                  <c:v>0.07</c:v>
                </c:pt>
                <c:pt idx="8">
                  <c:v>0.04</c:v>
                </c:pt>
                <c:pt idx="9">
                  <c:v>0.03</c:v>
                </c:pt>
                <c:pt idx="10">
                  <c:v>0.04</c:v>
                </c:pt>
              </c:numCache>
            </c:numRef>
          </c:val>
          <c:extLst>
            <c:ext xmlns:c16="http://schemas.microsoft.com/office/drawing/2014/chart" uri="{C3380CC4-5D6E-409C-BE32-E72D297353CC}">
              <c16:uniqueId val="{00000011-910B-43DC-A8E5-4DAA1D2EF528}"/>
            </c:ext>
          </c:extLst>
        </c:ser>
        <c:ser>
          <c:idx val="1"/>
          <c:order val="1"/>
          <c:tx>
            <c:strRef>
              <c:f>Sheet1!$C$1</c:f>
              <c:strCache>
                <c:ptCount val="1"/>
                <c:pt idx="0">
                  <c:v>W32</c:v>
                </c:pt>
              </c:strCache>
            </c:strRef>
          </c:tx>
          <c:invertIfNegative val="0"/>
          <c:dPt>
            <c:idx val="0"/>
            <c:invertIfNegative val="0"/>
            <c:bubble3D val="0"/>
            <c:spPr>
              <a:solidFill>
                <a:srgbClr val="009AD9"/>
              </a:solidFill>
            </c:spPr>
            <c:extLst>
              <c:ext xmlns:c16="http://schemas.microsoft.com/office/drawing/2014/chart" uri="{C3380CC4-5D6E-409C-BE32-E72D297353CC}">
                <c16:uniqueId val="{0000001D-7F2C-412B-8F36-F2C22768596C}"/>
              </c:ext>
            </c:extLst>
          </c:dPt>
          <c:dPt>
            <c:idx val="1"/>
            <c:invertIfNegative val="0"/>
            <c:bubble3D val="0"/>
            <c:spPr>
              <a:solidFill>
                <a:srgbClr val="009AD9"/>
              </a:solidFill>
            </c:spPr>
            <c:extLst>
              <c:ext xmlns:c16="http://schemas.microsoft.com/office/drawing/2014/chart" uri="{C3380CC4-5D6E-409C-BE32-E72D297353CC}">
                <c16:uniqueId val="{0000001E-7F2C-412B-8F36-F2C22768596C}"/>
              </c:ext>
            </c:extLst>
          </c:dPt>
          <c:dPt>
            <c:idx val="2"/>
            <c:invertIfNegative val="0"/>
            <c:bubble3D val="0"/>
            <c:spPr>
              <a:solidFill>
                <a:srgbClr val="009AD9"/>
              </a:solidFill>
            </c:spPr>
            <c:extLst>
              <c:ext xmlns:c16="http://schemas.microsoft.com/office/drawing/2014/chart" uri="{C3380CC4-5D6E-409C-BE32-E72D297353CC}">
                <c16:uniqueId val="{00000021-7F2C-412B-8F36-F2C22768596C}"/>
              </c:ext>
            </c:extLst>
          </c:dPt>
          <c:dPt>
            <c:idx val="3"/>
            <c:invertIfNegative val="0"/>
            <c:bubble3D val="0"/>
            <c:spPr>
              <a:solidFill>
                <a:srgbClr val="BFBFBF"/>
              </a:solidFill>
            </c:spPr>
            <c:extLst>
              <c:ext xmlns:c16="http://schemas.microsoft.com/office/drawing/2014/chart" uri="{C3380CC4-5D6E-409C-BE32-E72D297353CC}">
                <c16:uniqueId val="{00000020-DE59-474C-8660-6E320BCE124F}"/>
              </c:ext>
            </c:extLst>
          </c:dPt>
          <c:dPt>
            <c:idx val="4"/>
            <c:invertIfNegative val="0"/>
            <c:bubble3D val="0"/>
            <c:spPr>
              <a:solidFill>
                <a:srgbClr val="009AD9"/>
              </a:solidFill>
            </c:spPr>
            <c:extLst>
              <c:ext xmlns:c16="http://schemas.microsoft.com/office/drawing/2014/chart" uri="{C3380CC4-5D6E-409C-BE32-E72D297353CC}">
                <c16:uniqueId val="{0000001F-7F2C-412B-8F36-F2C22768596C}"/>
              </c:ext>
            </c:extLst>
          </c:dPt>
          <c:dPt>
            <c:idx val="5"/>
            <c:invertIfNegative val="0"/>
            <c:bubble3D val="0"/>
            <c:spPr>
              <a:solidFill>
                <a:srgbClr val="BFBFBF"/>
              </a:solidFill>
            </c:spPr>
            <c:extLst>
              <c:ext xmlns:c16="http://schemas.microsoft.com/office/drawing/2014/chart" uri="{C3380CC4-5D6E-409C-BE32-E72D297353CC}">
                <c16:uniqueId val="{00000021-DE59-474C-8660-6E320BCE124F}"/>
              </c:ext>
            </c:extLst>
          </c:dPt>
          <c:dPt>
            <c:idx val="6"/>
            <c:invertIfNegative val="0"/>
            <c:bubble3D val="0"/>
            <c:spPr>
              <a:solidFill>
                <a:srgbClr val="009AD9"/>
              </a:solidFill>
            </c:spPr>
            <c:extLst>
              <c:ext xmlns:c16="http://schemas.microsoft.com/office/drawing/2014/chart" uri="{C3380CC4-5D6E-409C-BE32-E72D297353CC}">
                <c16:uniqueId val="{00000020-7F2C-412B-8F36-F2C22768596C}"/>
              </c:ext>
            </c:extLst>
          </c:dPt>
          <c:dPt>
            <c:idx val="7"/>
            <c:invertIfNegative val="0"/>
            <c:bubble3D val="0"/>
            <c:spPr>
              <a:solidFill>
                <a:srgbClr val="BFBFBF"/>
              </a:solidFill>
            </c:spPr>
            <c:extLst>
              <c:ext xmlns:c16="http://schemas.microsoft.com/office/drawing/2014/chart" uri="{C3380CC4-5D6E-409C-BE32-E72D297353CC}">
                <c16:uniqueId val="{00000022-DE59-474C-8660-6E320BCE124F}"/>
              </c:ext>
            </c:extLst>
          </c:dPt>
          <c:dPt>
            <c:idx val="8"/>
            <c:invertIfNegative val="0"/>
            <c:bubble3D val="0"/>
            <c:spPr>
              <a:solidFill>
                <a:srgbClr val="BFBFBF"/>
              </a:solidFill>
            </c:spPr>
            <c:extLst>
              <c:ext xmlns:c16="http://schemas.microsoft.com/office/drawing/2014/chart" uri="{C3380CC4-5D6E-409C-BE32-E72D297353CC}">
                <c16:uniqueId val="{00000023-DE59-474C-8660-6E320BCE124F}"/>
              </c:ext>
            </c:extLst>
          </c:dPt>
          <c:dPt>
            <c:idx val="9"/>
            <c:invertIfNegative val="0"/>
            <c:bubble3D val="0"/>
            <c:spPr>
              <a:solidFill>
                <a:srgbClr val="BFBFBF"/>
              </a:solidFill>
            </c:spPr>
            <c:extLst>
              <c:ext xmlns:c16="http://schemas.microsoft.com/office/drawing/2014/chart" uri="{C3380CC4-5D6E-409C-BE32-E72D297353CC}">
                <c16:uniqueId val="{00000025-DE59-474C-8660-6E320BCE124F}"/>
              </c:ext>
            </c:extLst>
          </c:dPt>
          <c:dPt>
            <c:idx val="10"/>
            <c:invertIfNegative val="0"/>
            <c:bubble3D val="0"/>
            <c:spPr>
              <a:solidFill>
                <a:srgbClr val="BFBFBF"/>
              </a:solidFill>
            </c:spPr>
            <c:extLst>
              <c:ext xmlns:c16="http://schemas.microsoft.com/office/drawing/2014/chart" uri="{C3380CC4-5D6E-409C-BE32-E72D297353CC}">
                <c16:uniqueId val="{00000024-DE59-474C-8660-6E320BCE124F}"/>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Sheet1!$A$2:$A$12</c:f>
              <c:strCache>
                <c:ptCount val="11"/>
                <c:pt idx="0">
                  <c:v>3K</c:v>
                </c:pt>
                <c:pt idx="1">
                  <c:v>6k</c:v>
                </c:pt>
                <c:pt idx="2">
                  <c:v>12k</c:v>
                </c:pt>
                <c:pt idx="3">
                  <c:v>15K</c:v>
                </c:pt>
                <c:pt idx="4">
                  <c:v>24K</c:v>
                </c:pt>
                <c:pt idx="5">
                  <c:v>30K</c:v>
                </c:pt>
                <c:pt idx="6">
                  <c:v>36K</c:v>
                </c:pt>
                <c:pt idx="7">
                  <c:v>50K</c:v>
                </c:pt>
                <c:pt idx="8">
                  <c:v>80K</c:v>
                </c:pt>
                <c:pt idx="9">
                  <c:v>I don’t remember</c:v>
                </c:pt>
                <c:pt idx="10">
                  <c:v>No specific dosing options were discussed</c:v>
                </c:pt>
              </c:strCache>
            </c:strRef>
          </c:cat>
          <c:val>
            <c:numRef>
              <c:f>Sheet1!$C$2:$C$12</c:f>
              <c:numCache>
                <c:formatCode>0%</c:formatCode>
                <c:ptCount val="11"/>
                <c:pt idx="0">
                  <c:v>0.02</c:v>
                </c:pt>
                <c:pt idx="1">
                  <c:v>0.06</c:v>
                </c:pt>
                <c:pt idx="2">
                  <c:v>0.06</c:v>
                </c:pt>
                <c:pt idx="3">
                  <c:v>0.05</c:v>
                </c:pt>
                <c:pt idx="4">
                  <c:v>0.16</c:v>
                </c:pt>
                <c:pt idx="5">
                  <c:v>0.07</c:v>
                </c:pt>
                <c:pt idx="6">
                  <c:v>0.45</c:v>
                </c:pt>
                <c:pt idx="7">
                  <c:v>0.07</c:v>
                </c:pt>
                <c:pt idx="8">
                  <c:v>0.04</c:v>
                </c:pt>
                <c:pt idx="9">
                  <c:v>0.0</c:v>
                </c:pt>
                <c:pt idx="10">
                  <c:v>0.03</c:v>
                </c:pt>
              </c:numCache>
            </c:numRef>
          </c:val>
          <c:extLst>
            <c:ext xmlns:c16="http://schemas.microsoft.com/office/drawing/2014/chart" uri="{C3380CC4-5D6E-409C-BE32-E72D297353CC}">
              <c16:uniqueId val="{0000001F-DE59-474C-8660-6E320BCE124F}"/>
            </c:ext>
          </c:extLst>
        </c:ser>
        <c:dLbls>
          <c:dLblPos val="outEnd"/>
          <c:showLegendKey val="0"/>
          <c:showVal val="1"/>
          <c:showCatName val="0"/>
          <c:showSerName val="0"/>
          <c:showPercent val="0"/>
          <c:showBubbleSize val="0"/>
        </c:dLbls>
        <c:gapWidth val="50"/>
        <c:axId val="422529552"/>
        <c:axId val="422528376"/>
        <c:extLst/>
      </c:barChart>
      <c:catAx>
        <c:axId val="422529552"/>
        <c:scaling>
          <c:orientation val="maxMin"/>
        </c:scaling>
        <c:delete val="0"/>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in val="0"/>
        </c:scaling>
        <c:delete val="1"/>
        <c:axPos val="b"/>
        <c:numFmt formatCode="0%" sourceLinked="1"/>
        <c:majorTickMark val="out"/>
        <c:minorTickMark val="none"/>
        <c:tickLblPos val="nextTo"/>
        <c:crossAx val="422529552"/>
        <c:crosses val="max"/>
        <c:crossBetween val="between"/>
        <c:majorUnit val="0.2"/>
      </c:valAx>
      <c:spPr>
        <a:noFill/>
        <a:ln>
          <a:noFill/>
        </a:ln>
        <a:effectLst/>
      </c:spPr>
    </c:plotArea>
    <c:plotVisOnly val="1"/>
    <c:dispBlanksAs val="gap"/>
    <c:showDLblsOverMax val="0"/>
  </c:chart>
  <c:spPr>
    <a:noFill/>
    <a:ln>
      <a:noFill/>
    </a:ln>
    <a:effectLst/>
  </c:spPr>
  <c:txPr>
    <a:bodyPr/>
    <a:lstStyle/>
    <a:p>
      <a:pPr algn="just">
        <a:defRPr sz="1000">
          <a:latin typeface="+mj-lt"/>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1862924791611853"/>
          <c:y val="0"/>
          <c:w val="0.48137075208388141"/>
          <c:h val="1"/>
        </c:manualLayout>
      </c:layout>
      <c:barChart>
        <c:barDir val="bar"/>
        <c:grouping val="clustered"/>
        <c:varyColors val="0"/>
        <c:ser>
          <c:idx val="0"/>
          <c:order val="0"/>
          <c:tx>
            <c:strRef>
              <c:f>Sheet1!$B$1</c:f>
              <c:strCache>
                <c:ptCount val="1"/>
                <c:pt idx="0">
                  <c:v>Jan-Feb 2026</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C3F4-42B1-A6DF-BBBAA5FAF551}"/>
              </c:ext>
            </c:extLst>
          </c:dPt>
          <c:dPt>
            <c:idx val="1"/>
            <c:invertIfNegative val="0"/>
            <c:bubble3D val="0"/>
            <c:extLst>
              <c:ext xmlns:c16="http://schemas.microsoft.com/office/drawing/2014/chart" uri="{C3380CC4-5D6E-409C-BE32-E72D297353CC}">
                <c16:uniqueId val="{00000001-C3F4-42B1-A6DF-BBBAA5FAF551}"/>
              </c:ext>
            </c:extLst>
          </c:dPt>
          <c:dPt>
            <c:idx val="2"/>
            <c:invertIfNegative val="0"/>
            <c:bubble3D val="0"/>
            <c:extLst>
              <c:ext xmlns:c16="http://schemas.microsoft.com/office/drawing/2014/chart" uri="{C3380CC4-5D6E-409C-BE32-E72D297353CC}">
                <c16:uniqueId val="{00000002-C3F4-42B1-A6DF-BBBAA5FAF551}"/>
              </c:ext>
            </c:extLst>
          </c:dPt>
          <c:dPt>
            <c:idx val="3"/>
            <c:invertIfNegative val="0"/>
            <c:bubble3D val="0"/>
            <c:extLst>
              <c:ext xmlns:c16="http://schemas.microsoft.com/office/drawing/2014/chart" uri="{C3380CC4-5D6E-409C-BE32-E72D297353CC}">
                <c16:uniqueId val="{00000003-C3F4-42B1-A6DF-BBBAA5FAF551}"/>
              </c:ext>
            </c:extLst>
          </c:dPt>
          <c:dPt>
            <c:idx val="4"/>
            <c:invertIfNegative val="0"/>
            <c:bubble3D val="0"/>
            <c:extLst>
              <c:ext xmlns:c16="http://schemas.microsoft.com/office/drawing/2014/chart" uri="{C3380CC4-5D6E-409C-BE32-E72D297353CC}">
                <c16:uniqueId val="{00000004-C3F4-42B1-A6DF-BBBAA5FAF551}"/>
              </c:ext>
            </c:extLst>
          </c:dPt>
          <c:dPt>
            <c:idx val="5"/>
            <c:invertIfNegative val="0"/>
            <c:bubble3D val="0"/>
            <c:extLst>
              <c:ext xmlns:c16="http://schemas.microsoft.com/office/drawing/2014/chart" uri="{C3380CC4-5D6E-409C-BE32-E72D297353CC}">
                <c16:uniqueId val="{00000005-C3F4-42B1-A6DF-BBBAA5FAF551}"/>
              </c:ext>
            </c:extLst>
          </c:dPt>
          <c:dPt>
            <c:idx val="6"/>
            <c:invertIfNegative val="0"/>
            <c:bubble3D val="0"/>
            <c:spPr>
              <a:solidFill>
                <a:srgbClr val="7F7F7F"/>
              </a:solidFill>
              <a:ln>
                <a:noFill/>
              </a:ln>
              <a:effectLst/>
            </c:spPr>
            <c:extLst>
              <c:ext xmlns:c16="http://schemas.microsoft.com/office/drawing/2014/chart" uri="{C3380CC4-5D6E-409C-BE32-E72D297353CC}">
                <c16:uniqueId val="{00000006-C3F4-42B1-A6DF-BBBAA5FAF551}"/>
              </c:ext>
            </c:extLst>
          </c:dPt>
          <c:dPt>
            <c:idx val="8"/>
            <c:invertIfNegative val="0"/>
            <c:bubble3D val="0"/>
            <c:extLst>
              <c:ext xmlns:c16="http://schemas.microsoft.com/office/drawing/2014/chart" uri="{C3380CC4-5D6E-409C-BE32-E72D297353CC}">
                <c16:uniqueId val="{00000007-A49F-476F-95A6-52CEFFDE16F6}"/>
              </c:ext>
            </c:extLst>
          </c:dPt>
          <c:dPt>
            <c:idx val="9"/>
            <c:invertIfNegative val="0"/>
            <c:bubble3D val="0"/>
            <c:extLst>
              <c:ext xmlns:c16="http://schemas.microsoft.com/office/drawing/2014/chart" uri="{C3380CC4-5D6E-409C-BE32-E72D297353CC}">
                <c16:uniqueId val="{00000008-A49F-476F-95A6-52CEFFDE16F6}"/>
              </c:ext>
            </c:extLst>
          </c:dPt>
          <c:dPt>
            <c:idx val="10"/>
            <c:invertIfNegative val="0"/>
            <c:bubble3D val="0"/>
            <c:spPr>
              <a:solidFill>
                <a:srgbClr val="7F7F7F"/>
              </a:solidFill>
              <a:ln>
                <a:noFill/>
              </a:ln>
              <a:effectLst/>
            </c:spPr>
            <c:extLst>
              <c:ext xmlns:c16="http://schemas.microsoft.com/office/drawing/2014/chart" uri="{C3380CC4-5D6E-409C-BE32-E72D297353CC}">
                <c16:uniqueId val="{00000009-A49F-476F-95A6-52CEFFDE16F6}"/>
              </c:ext>
            </c:extLst>
          </c:dPt>
          <c:dPt>
            <c:idx val="11"/>
            <c:invertIfNegative val="0"/>
            <c:bubble3D val="0"/>
            <c:spPr>
              <a:solidFill>
                <a:srgbClr val="7F7F7F"/>
              </a:solidFill>
              <a:ln>
                <a:noFill/>
              </a:ln>
              <a:effectLst/>
            </c:spPr>
            <c:extLst>
              <c:ext xmlns:c16="http://schemas.microsoft.com/office/drawing/2014/chart" uri="{C3380CC4-5D6E-409C-BE32-E72D297353CC}">
                <c16:uniqueId val="{0000000E-5B1E-421C-A26F-CA84E3A3E045}"/>
              </c:ext>
            </c:extLst>
          </c:dPt>
          <c:dPt>
            <c:idx val="12"/>
            <c:invertIfNegative val="0"/>
            <c:bubble3D val="0"/>
            <c:spPr>
              <a:solidFill>
                <a:srgbClr val="7F7F7F"/>
              </a:solidFill>
              <a:ln>
                <a:noFill/>
              </a:ln>
              <a:effectLst/>
            </c:spPr>
            <c:extLst>
              <c:ext xmlns:c16="http://schemas.microsoft.com/office/drawing/2014/chart" uri="{C3380CC4-5D6E-409C-BE32-E72D297353CC}">
                <c16:uniqueId val="{0000000F-5B1E-421C-A26F-CA84E3A3E045}"/>
              </c:ext>
            </c:extLst>
          </c:dPt>
          <c:dLbls>
            <c:dLbl>
              <c:idx val="9"/>
              <c:layout>
                <c:manualLayout>
                  <c:x val="-3.2925925925925928E-2"/>
                  <c:y val="3.1054936182106148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49F-476F-95A6-52CEFFDE16F6}"/>
                </c:ext>
              </c:extLst>
            </c:dLbl>
            <c:numFmt formatCode="0%" sourceLinked="0"/>
            <c:spPr>
              <a:noFill/>
              <a:ln>
                <a:noFill/>
              </a:ln>
              <a:effectLst/>
            </c:spPr>
            <c:txPr>
              <a:bodyPr rot="0" vert="horz"/>
              <a:lstStyle/>
              <a:p>
                <a:pPr>
                  <a:defRPr sz="900">
                    <a:solidFill>
                      <a:schemeClr val="tx1"/>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3K</c:v>
                </c:pt>
                <c:pt idx="1">
                  <c:v>15K</c:v>
                </c:pt>
                <c:pt idx="2">
                  <c:v>30K</c:v>
                </c:pt>
                <c:pt idx="3">
                  <c:v>50K</c:v>
                </c:pt>
                <c:pt idx="4">
                  <c:v>80K</c:v>
                </c:pt>
                <c:pt idx="5">
                  <c:v>I don’t remember</c:v>
                </c:pt>
                <c:pt idx="6">
                  <c:v>No specific dosing options were discussed</c:v>
                </c:pt>
                <c:pt idx="7">
                  <c:v>12k</c:v>
                </c:pt>
                <c:pt idx="8">
                  <c:v>24K</c:v>
                </c:pt>
                <c:pt idx="9">
                  <c:v>36K</c:v>
                </c:pt>
                <c:pt idx="10">
                  <c:v>6k</c:v>
                </c:pt>
              </c:strCache>
            </c:strRef>
          </c:cat>
          <c:val>
            <c:numRef>
              <c:f>Sheet1!$B$2:$B$12</c:f>
              <c:numCache>
                <c:formatCode>0%</c:formatCode>
                <c:ptCount val="11"/>
                <c:pt idx="0">
                  <c:v>0.06</c:v>
                </c:pt>
                <c:pt idx="1">
                  <c:v>0.07</c:v>
                </c:pt>
                <c:pt idx="2">
                  <c:v>0.09</c:v>
                </c:pt>
                <c:pt idx="3">
                  <c:v>0.07</c:v>
                </c:pt>
                <c:pt idx="4">
                  <c:v>0.04</c:v>
                </c:pt>
                <c:pt idx="5">
                  <c:v>0.03</c:v>
                </c:pt>
                <c:pt idx="6">
                  <c:v>0.04</c:v>
                </c:pt>
                <c:pt idx="7">
                  <c:v>0.09</c:v>
                </c:pt>
                <c:pt idx="8">
                  <c:v>0.21</c:v>
                </c:pt>
                <c:pt idx="9">
                  <c:v>0.48</c:v>
                </c:pt>
                <c:pt idx="10">
                  <c:v>0.07</c:v>
                </c:pt>
              </c:numCache>
            </c:numRef>
          </c:val>
          <c:extLst>
            <c:ext xmlns:c16="http://schemas.microsoft.com/office/drawing/2014/chart" uri="{C3380CC4-5D6E-409C-BE32-E72D297353CC}">
              <c16:uniqueId val="{00000007-C3F4-42B1-A6DF-BBBAA5FAF551}"/>
            </c:ext>
          </c:extLst>
        </c:ser>
        <c:ser>
          <c:idx val="1"/>
          <c:order val="1"/>
          <c:tx>
            <c:strRef>
              <c:f>Sheet1!$C$1</c:f>
              <c:strCache>
                <c:ptCount val="1"/>
                <c:pt idx="0">
                  <c:v>W32</c:v>
                </c:pt>
              </c:strCache>
            </c:strRef>
          </c:tx>
          <c:spPr>
            <a:solidFill>
              <a:srgbClr val="D3B0FF"/>
            </a:solidFill>
          </c:spPr>
          <c:invertIfNegative val="0"/>
          <c:dPt>
            <c:idx val="6"/>
            <c:invertIfNegative val="0"/>
            <c:bubble3D val="0"/>
            <c:spPr>
              <a:solidFill>
                <a:srgbClr val="BFBFBF"/>
              </a:solidFill>
            </c:spPr>
            <c:extLst>
              <c:ext xmlns:c16="http://schemas.microsoft.com/office/drawing/2014/chart" uri="{C3380CC4-5D6E-409C-BE32-E72D297353CC}">
                <c16:uniqueId val="{00000018-6099-435F-A256-4F12A3038813}"/>
              </c:ext>
            </c:extLst>
          </c:dPt>
          <c:dPt>
            <c:idx val="10"/>
            <c:invertIfNegative val="0"/>
            <c:bubble3D val="0"/>
            <c:spPr>
              <a:solidFill>
                <a:srgbClr val="BFBFBF"/>
              </a:solidFill>
            </c:spPr>
            <c:extLst>
              <c:ext xmlns:c16="http://schemas.microsoft.com/office/drawing/2014/chart" uri="{C3380CC4-5D6E-409C-BE32-E72D297353CC}">
                <c16:uniqueId val="{0000001B-6099-435F-A256-4F12A3038813}"/>
              </c:ext>
            </c:extLst>
          </c:dPt>
          <c:dPt>
            <c:idx val="11"/>
            <c:invertIfNegative val="0"/>
            <c:bubble3D val="0"/>
            <c:spPr>
              <a:solidFill>
                <a:srgbClr val="BFBFBF"/>
              </a:solidFill>
            </c:spPr>
            <c:extLst>
              <c:ext xmlns:c16="http://schemas.microsoft.com/office/drawing/2014/chart" uri="{C3380CC4-5D6E-409C-BE32-E72D297353CC}">
                <c16:uniqueId val="{0000001C-6099-435F-A256-4F12A3038813}"/>
              </c:ext>
            </c:extLst>
          </c:dPt>
          <c:dPt>
            <c:idx val="12"/>
            <c:invertIfNegative val="0"/>
            <c:bubble3D val="0"/>
            <c:spPr>
              <a:solidFill>
                <a:srgbClr val="BFBFBF"/>
              </a:solidFill>
            </c:spPr>
            <c:extLst>
              <c:ext xmlns:c16="http://schemas.microsoft.com/office/drawing/2014/chart" uri="{C3380CC4-5D6E-409C-BE32-E72D297353CC}">
                <c16:uniqueId val="{00000019-6099-435F-A256-4F12A3038813}"/>
              </c:ext>
            </c:extLst>
          </c:dPt>
          <c:dLbls>
            <c:dLbl>
              <c:idx val="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6099-435F-A256-4F12A3038813}"/>
                </c:ext>
              </c:extLst>
            </c:dLbl>
            <c:dLbl>
              <c:idx val="9"/>
              <c:layout>
                <c:manualLayout>
                  <c:x val="-5.6444444444444616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321-4FD6-8C2F-4EF4773FCB28}"/>
                </c:ext>
              </c:extLst>
            </c:dLbl>
            <c:dLbl>
              <c:idx val="1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6099-435F-A256-4F12A3038813}"/>
                </c:ext>
              </c:extLst>
            </c:dLbl>
            <c:dLbl>
              <c:idx val="12"/>
              <c:spPr>
                <a:noFill/>
                <a:ln>
                  <a:noFill/>
                </a:ln>
                <a:effectLst/>
              </c:spPr>
              <c:txPr>
                <a:bodyPr wrap="square" lIns="38100" tIns="19050" rIns="38100" bIns="19050" anchor="ctr">
                  <a:noAutofit/>
                </a:bodyPr>
                <a:lstStyle/>
                <a:p>
                  <a:pPr>
                    <a:defRPr sz="900"/>
                  </a:pPr>
                  <a:endParaRPr lang="en-US"/>
                </a:p>
              </c:txPr>
              <c:dLblPos val="outEnd"/>
              <c:showLegendKey val="0"/>
              <c:showVal val="1"/>
              <c:showCatName val="0"/>
              <c:showSerName val="0"/>
              <c:showPercent val="0"/>
              <c:showBubbleSize val="0"/>
              <c:extLst>
                <c:ext xmlns:c15="http://schemas.microsoft.com/office/drawing/2012/chart" uri="{CE6537A1-D6FC-4f65-9D91-7224C49458BB}">
                  <c15:layout>
                    <c:manualLayout>
                      <c:w val="4.4696851851851849E-2"/>
                      <c:h val="4.4316137487616231E-2"/>
                    </c:manualLayout>
                  </c15:layout>
                </c:ext>
                <c:ext xmlns:c16="http://schemas.microsoft.com/office/drawing/2014/chart" uri="{C3380CC4-5D6E-409C-BE32-E72D297353CC}">
                  <c16:uniqueId val="{00000019-6099-435F-A256-4F12A3038813}"/>
                </c:ext>
              </c:extLst>
            </c:dLbl>
            <c:spPr>
              <a:noFill/>
              <a:ln>
                <a:noFill/>
              </a:ln>
              <a:effectLst/>
            </c:spPr>
            <c:txPr>
              <a:bodyPr wrap="square" lIns="38100" tIns="19050" rIns="38100" bIns="19050" anchor="ctr">
                <a:spAutoFit/>
              </a:bodyPr>
              <a:lstStyle/>
              <a:p>
                <a:pPr>
                  <a:defRPr sz="900"/>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Sheet1!$A$2:$A$12</c:f>
              <c:strCache>
                <c:ptCount val="11"/>
                <c:pt idx="0">
                  <c:v>3K</c:v>
                </c:pt>
                <c:pt idx="1">
                  <c:v>15K</c:v>
                </c:pt>
                <c:pt idx="2">
                  <c:v>30K</c:v>
                </c:pt>
                <c:pt idx="3">
                  <c:v>50K</c:v>
                </c:pt>
                <c:pt idx="4">
                  <c:v>80K</c:v>
                </c:pt>
                <c:pt idx="5">
                  <c:v>I don’t remember</c:v>
                </c:pt>
                <c:pt idx="6">
                  <c:v>No specific dosing options were discussed</c:v>
                </c:pt>
                <c:pt idx="7">
                  <c:v>12k</c:v>
                </c:pt>
                <c:pt idx="8">
                  <c:v>24K</c:v>
                </c:pt>
                <c:pt idx="9">
                  <c:v>36K</c:v>
                </c:pt>
                <c:pt idx="10">
                  <c:v>6k</c:v>
                </c:pt>
              </c:strCache>
            </c:strRef>
          </c:cat>
          <c:val>
            <c:numRef>
              <c:f>Sheet1!$C$2:$C$12</c:f>
              <c:numCache>
                <c:formatCode>0%</c:formatCode>
                <c:ptCount val="11"/>
                <c:pt idx="0">
                  <c:v>0.02</c:v>
                </c:pt>
                <c:pt idx="1">
                  <c:v>0.05</c:v>
                </c:pt>
                <c:pt idx="2">
                  <c:v>0.07</c:v>
                </c:pt>
                <c:pt idx="3">
                  <c:v>0.07</c:v>
                </c:pt>
                <c:pt idx="4">
                  <c:v>0.04</c:v>
                </c:pt>
                <c:pt idx="5">
                  <c:v>0.0</c:v>
                </c:pt>
                <c:pt idx="6">
                  <c:v>0.03</c:v>
                </c:pt>
                <c:pt idx="7">
                  <c:v>0.06</c:v>
                </c:pt>
                <c:pt idx="8">
                  <c:v>0.16</c:v>
                </c:pt>
                <c:pt idx="9">
                  <c:v>0.45</c:v>
                </c:pt>
                <c:pt idx="10">
                  <c:v>0.06</c:v>
                </c:pt>
              </c:numCache>
            </c:numRef>
          </c:val>
          <c:extLst>
            <c:ext xmlns:c16="http://schemas.microsoft.com/office/drawing/2014/chart" uri="{C3380CC4-5D6E-409C-BE32-E72D297353CC}">
              <c16:uniqueId val="{00000017-6099-435F-A256-4F12A3038813}"/>
            </c:ext>
          </c:extLst>
        </c:ser>
        <c:dLbls>
          <c:dLblPos val="outEnd"/>
          <c:showLegendKey val="0"/>
          <c:showVal val="1"/>
          <c:showCatName val="0"/>
          <c:showSerName val="0"/>
          <c:showPercent val="0"/>
          <c:showBubbleSize val="0"/>
        </c:dLbls>
        <c:gapWidth val="50"/>
        <c:axId val="422529552"/>
        <c:axId val="422528376"/>
        <c:extLst/>
      </c:barChart>
      <c:catAx>
        <c:axId val="422529552"/>
        <c:scaling>
          <c:orientation val="maxMin"/>
        </c:scaling>
        <c:delete val="0"/>
        <c:axPos val="l"/>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0.60000000000000009"/>
        </c:scaling>
        <c:delete val="1"/>
        <c:axPos val="b"/>
        <c:numFmt formatCode="0%" sourceLinked="1"/>
        <c:majorTickMark val="out"/>
        <c:minorTickMark val="none"/>
        <c:tickLblPos val="nextTo"/>
        <c:crossAx val="422529552"/>
        <c:crosses val="max"/>
        <c:crossBetween val="between"/>
        <c:majorUnit val="0.2"/>
      </c:valAx>
      <c:spPr>
        <a:noFill/>
        <a:ln>
          <a:noFill/>
        </a:ln>
        <a:effectLst/>
      </c:spPr>
    </c:plotArea>
    <c:plotVisOnly val="1"/>
    <c:dispBlanksAs val="gap"/>
    <c:showDLblsOverMax val="0"/>
  </c:chart>
  <c:spPr>
    <a:noFill/>
    <a:ln>
      <a:noFill/>
    </a:ln>
    <a:effectLst/>
  </c:spPr>
  <c:txPr>
    <a:bodyPr/>
    <a:lstStyle/>
    <a:p>
      <a:pPr algn="just">
        <a:defRPr sz="1000">
          <a:latin typeface="+mj-lt"/>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1642647095785055E-2"/>
          <c:y val="6.7738175015357116E-2"/>
          <c:w val="0.85795373609530412"/>
          <c:h val="0.7691409568462142"/>
        </c:manualLayout>
      </c:layout>
      <c:scatterChart>
        <c:scatterStyle val="lineMarker"/>
        <c:varyColors val="0"/>
        <c:ser>
          <c:idx val="0"/>
          <c:order val="0"/>
          <c:tx>
            <c:strRef>
              <c:f>Sheet1!$B:$B</c:f>
              <c:strCache>
                <c:ptCount val="1048576"/>
                <c:pt idx="0">
                  <c:v>Recall</c:v>
                </c:pt>
              </c:strCache>
            </c:strRef>
          </c:tx>
          <c:spPr>
            <a:ln w="19050">
              <a:noFill/>
            </a:ln>
            <a:effectLst/>
          </c:spPr>
          <c:marker>
            <c:symbol val="circle"/>
            <c:size val="8"/>
            <c:spPr>
              <a:solidFill>
                <a:srgbClr val="36729C"/>
              </a:solidFill>
              <a:ln w="12700">
                <a:noFill/>
              </a:ln>
            </c:spPr>
          </c:marker>
          <c:dPt>
            <c:idx val="0"/>
            <c:bubble3D val="0"/>
            <c:extLst>
              <c:ext xmlns:c16="http://schemas.microsoft.com/office/drawing/2014/chart" uri="{C3380CC4-5D6E-409C-BE32-E72D297353CC}">
                <c16:uniqueId val="{00000000-42E7-4EC4-B11F-EF6F52A32E8D}"/>
              </c:ext>
            </c:extLst>
          </c:dPt>
          <c:dPt>
            <c:idx val="1"/>
            <c:bubble3D val="0"/>
            <c:extLst>
              <c:ext xmlns:c16="http://schemas.microsoft.com/office/drawing/2014/chart" uri="{C3380CC4-5D6E-409C-BE32-E72D297353CC}">
                <c16:uniqueId val="{00000001-42E7-4EC4-B11F-EF6F52A32E8D}"/>
              </c:ext>
            </c:extLst>
          </c:dPt>
          <c:dPt>
            <c:idx val="2"/>
            <c:bubble3D val="0"/>
            <c:extLst>
              <c:ext xmlns:c16="http://schemas.microsoft.com/office/drawing/2014/chart" uri="{C3380CC4-5D6E-409C-BE32-E72D297353CC}">
                <c16:uniqueId val="{00000002-42E7-4EC4-B11F-EF6F52A32E8D}"/>
              </c:ext>
            </c:extLst>
          </c:dPt>
          <c:dPt>
            <c:idx val="3"/>
            <c:bubble3D val="0"/>
            <c:extLst>
              <c:ext xmlns:c16="http://schemas.microsoft.com/office/drawing/2014/chart" uri="{C3380CC4-5D6E-409C-BE32-E72D297353CC}">
                <c16:uniqueId val="{00000003-42E7-4EC4-B11F-EF6F52A32E8D}"/>
              </c:ext>
            </c:extLst>
          </c:dPt>
          <c:dPt>
            <c:idx val="4"/>
            <c:bubble3D val="0"/>
            <c:extLst>
              <c:ext xmlns:c16="http://schemas.microsoft.com/office/drawing/2014/chart" uri="{C3380CC4-5D6E-409C-BE32-E72D297353CC}">
                <c16:uniqueId val="{00000004-42E7-4EC4-B11F-EF6F52A32E8D}"/>
              </c:ext>
            </c:extLst>
          </c:dPt>
          <c:dPt>
            <c:idx val="5"/>
            <c:bubble3D val="0"/>
            <c:extLst>
              <c:ext xmlns:c16="http://schemas.microsoft.com/office/drawing/2014/chart" uri="{C3380CC4-5D6E-409C-BE32-E72D297353CC}">
                <c16:uniqueId val="{00000005-42E7-4EC4-B11F-EF6F52A32E8D}"/>
              </c:ext>
            </c:extLst>
          </c:dPt>
          <c:dPt>
            <c:idx val="6"/>
            <c:bubble3D val="0"/>
            <c:extLst>
              <c:ext xmlns:c16="http://schemas.microsoft.com/office/drawing/2014/chart" uri="{C3380CC4-5D6E-409C-BE32-E72D297353CC}">
                <c16:uniqueId val="{00000006-42E7-4EC4-B11F-EF6F52A32E8D}"/>
              </c:ext>
            </c:extLst>
          </c:dPt>
          <c:dPt>
            <c:idx val="7"/>
            <c:bubble3D val="0"/>
            <c:extLst>
              <c:ext xmlns:c16="http://schemas.microsoft.com/office/drawing/2014/chart" uri="{C3380CC4-5D6E-409C-BE32-E72D297353CC}">
                <c16:uniqueId val="{00000007-42E7-4EC4-B11F-EF6F52A32E8D}"/>
              </c:ext>
            </c:extLst>
          </c:dPt>
          <c:dPt>
            <c:idx val="8"/>
            <c:bubble3D val="0"/>
            <c:extLst>
              <c:ext xmlns:c16="http://schemas.microsoft.com/office/drawing/2014/chart" uri="{C3380CC4-5D6E-409C-BE32-E72D297353CC}">
                <c16:uniqueId val="{00000008-42E7-4EC4-B11F-EF6F52A32E8D}"/>
              </c:ext>
            </c:extLst>
          </c:dPt>
          <c:dPt>
            <c:idx val="9"/>
            <c:bubble3D val="0"/>
            <c:extLst>
              <c:ext xmlns:c16="http://schemas.microsoft.com/office/drawing/2014/chart" uri="{C3380CC4-5D6E-409C-BE32-E72D297353CC}">
                <c16:uniqueId val="{00000009-42E7-4EC4-B11F-EF6F52A32E8D}"/>
              </c:ext>
            </c:extLst>
          </c:dPt>
          <c:dPt>
            <c:idx val="10"/>
            <c:bubble3D val="0"/>
            <c:extLst>
              <c:ext xmlns:c16="http://schemas.microsoft.com/office/drawing/2014/chart" uri="{C3380CC4-5D6E-409C-BE32-E72D297353CC}">
                <c16:uniqueId val="{0000000A-42E7-4EC4-B11F-EF6F52A32E8D}"/>
              </c:ext>
            </c:extLst>
          </c:dPt>
          <c:dPt>
            <c:idx val="11"/>
            <c:bubble3D val="0"/>
            <c:extLst>
              <c:ext xmlns:c16="http://schemas.microsoft.com/office/drawing/2014/chart" uri="{C3380CC4-5D6E-409C-BE32-E72D297353CC}">
                <c16:uniqueId val="{0000000B-42E7-4EC4-B11F-EF6F52A32E8D}"/>
              </c:ext>
            </c:extLst>
          </c:dPt>
          <c:dPt>
            <c:idx val="12"/>
            <c:bubble3D val="0"/>
            <c:extLst>
              <c:ext xmlns:c16="http://schemas.microsoft.com/office/drawing/2014/chart" uri="{C3380CC4-5D6E-409C-BE32-E72D297353CC}">
                <c16:uniqueId val="{0000000C-42E7-4EC4-B11F-EF6F52A32E8D}"/>
              </c:ext>
            </c:extLst>
          </c:dPt>
          <c:dPt>
            <c:idx val="13"/>
            <c:bubble3D val="0"/>
            <c:extLst>
              <c:ext xmlns:c16="http://schemas.microsoft.com/office/drawing/2014/chart" uri="{C3380CC4-5D6E-409C-BE32-E72D297353CC}">
                <c16:uniqueId val="{0000000D-42E7-4EC4-B11F-EF6F52A32E8D}"/>
              </c:ext>
            </c:extLst>
          </c:dPt>
          <c:dPt>
            <c:idx val="14"/>
            <c:bubble3D val="0"/>
            <c:extLst>
              <c:ext xmlns:c16="http://schemas.microsoft.com/office/drawing/2014/chart" uri="{C3380CC4-5D6E-409C-BE32-E72D297353CC}">
                <c16:uniqueId val="{0000000E-42E7-4EC4-B11F-EF6F52A32E8D}"/>
              </c:ext>
            </c:extLst>
          </c:dPt>
          <c:dPt>
            <c:idx val="15"/>
            <c:bubble3D val="0"/>
            <c:extLst>
              <c:ext xmlns:c16="http://schemas.microsoft.com/office/drawing/2014/chart" uri="{C3380CC4-5D6E-409C-BE32-E72D297353CC}">
                <c16:uniqueId val="{0000000F-42E7-4EC4-B11F-EF6F52A32E8D}"/>
              </c:ext>
            </c:extLst>
          </c:dPt>
          <c:dPt>
            <c:idx val="16"/>
            <c:bubble3D val="0"/>
            <c:extLst>
              <c:ext xmlns:c16="http://schemas.microsoft.com/office/drawing/2014/chart" uri="{C3380CC4-5D6E-409C-BE32-E72D297353CC}">
                <c16:uniqueId val="{00000010-42E7-4EC4-B11F-EF6F52A32E8D}"/>
              </c:ext>
            </c:extLst>
          </c:dPt>
          <c:dPt>
            <c:idx val="17"/>
            <c:bubble3D val="0"/>
            <c:extLst>
              <c:ext xmlns:c16="http://schemas.microsoft.com/office/drawing/2014/chart" uri="{C3380CC4-5D6E-409C-BE32-E72D297353CC}">
                <c16:uniqueId val="{00000011-42E7-4EC4-B11F-EF6F52A32E8D}"/>
              </c:ext>
            </c:extLst>
          </c:dPt>
          <c:dPt>
            <c:idx val="18"/>
            <c:bubble3D val="0"/>
            <c:extLst>
              <c:ext xmlns:c16="http://schemas.microsoft.com/office/drawing/2014/chart" uri="{C3380CC4-5D6E-409C-BE32-E72D297353CC}">
                <c16:uniqueId val="{00000012-42E7-4EC4-B11F-EF6F52A32E8D}"/>
              </c:ext>
            </c:extLst>
          </c:dPt>
          <c:dPt>
            <c:idx val="19"/>
            <c:bubble3D val="0"/>
            <c:extLst>
              <c:ext xmlns:c16="http://schemas.microsoft.com/office/drawing/2014/chart" uri="{C3380CC4-5D6E-409C-BE32-E72D297353CC}">
                <c16:uniqueId val="{00000013-42E7-4EC4-B11F-EF6F52A32E8D}"/>
              </c:ext>
            </c:extLst>
          </c:dPt>
          <c:dPt>
            <c:idx val="20"/>
            <c:bubble3D val="0"/>
            <c:extLst>
              <c:ext xmlns:c16="http://schemas.microsoft.com/office/drawing/2014/chart" uri="{C3380CC4-5D6E-409C-BE32-E72D297353CC}">
                <c16:uniqueId val="{00000014-42E7-4EC4-B11F-EF6F52A32E8D}"/>
              </c:ext>
            </c:extLst>
          </c:dPt>
          <c:dPt>
            <c:idx val="21"/>
            <c:bubble3D val="0"/>
            <c:extLst>
              <c:ext xmlns:c16="http://schemas.microsoft.com/office/drawing/2014/chart" uri="{C3380CC4-5D6E-409C-BE32-E72D297353CC}">
                <c16:uniqueId val="{00000015-42E7-4EC4-B11F-EF6F52A32E8D}"/>
              </c:ext>
            </c:extLst>
          </c:dPt>
          <c:dPt>
            <c:idx val="22"/>
            <c:bubble3D val="0"/>
            <c:extLst>
              <c:ext xmlns:c16="http://schemas.microsoft.com/office/drawing/2014/chart" uri="{C3380CC4-5D6E-409C-BE32-E72D297353CC}">
                <c16:uniqueId val="{00000016-42E7-4EC4-B11F-EF6F52A32E8D}"/>
              </c:ext>
            </c:extLst>
          </c:dPt>
          <c:dPt>
            <c:idx val="23"/>
            <c:bubble3D val="0"/>
            <c:extLst>
              <c:ext xmlns:c16="http://schemas.microsoft.com/office/drawing/2014/chart" uri="{C3380CC4-5D6E-409C-BE32-E72D297353CC}">
                <c16:uniqueId val="{00000017-42E7-4EC4-B11F-EF6F52A32E8D}"/>
              </c:ext>
            </c:extLst>
          </c:dPt>
          <c:dPt>
            <c:idx val="24"/>
            <c:bubble3D val="0"/>
            <c:extLst>
              <c:ext xmlns:c16="http://schemas.microsoft.com/office/drawing/2014/chart" uri="{C3380CC4-5D6E-409C-BE32-E72D297353CC}">
                <c16:uniqueId val="{00000018-42E7-4EC4-B11F-EF6F52A32E8D}"/>
              </c:ext>
            </c:extLst>
          </c:dPt>
          <c:dLbls>
            <c:dLbl>
              <c:idx val="0"/>
              <c:layout>
                <c:manualLayout>
                  <c:x val="-1.1799633045969883E-2"/>
                  <c:y val="2.4983246775004187E-3"/>
                </c:manualLayout>
              </c:layout>
              <c:tx>
                <c:rich>
                  <a:bodyPr/>
                  <a:lstStyle/>
                  <a:p>
                    <a:fld id="{E827383A-EB40-4B7E-A173-11E77BDB9B39}"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42E7-4EC4-B11F-EF6F52A32E8D}"/>
                </c:ext>
              </c:extLst>
            </c:dLbl>
            <c:dLbl>
              <c:idx val="1"/>
              <c:layout>
                <c:manualLayout>
                  <c:x val="-1.1799633045969883E-2"/>
                  <c:y val="-1.5232171776400344E-2"/>
                </c:manualLayout>
              </c:layout>
              <c:tx>
                <c:rich>
                  <a:bodyPr/>
                  <a:lstStyle/>
                  <a:p>
                    <a:fld id="{54357B0E-0A8C-48FE-A1DE-E0AA2BEE4D22}"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42E7-4EC4-B11F-EF6F52A32E8D}"/>
                </c:ext>
              </c:extLst>
            </c:dLbl>
            <c:dLbl>
              <c:idx val="2"/>
              <c:layout>
                <c:manualLayout>
                  <c:x val="-2.7121220499158109E-2"/>
                  <c:y val="2.6138986616034698E-2"/>
                </c:manualLayout>
              </c:layout>
              <c:tx>
                <c:rich>
                  <a:bodyPr/>
                  <a:lstStyle/>
                  <a:p>
                    <a:fld id="{215A6ADA-90DA-48C3-9645-198EF96B731A}"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2-42E7-4EC4-B11F-EF6F52A32E8D}"/>
                </c:ext>
              </c:extLst>
            </c:dLbl>
            <c:dLbl>
              <c:idx val="3"/>
              <c:layout>
                <c:manualLayout>
                  <c:x val="-1.6906828863699291E-2"/>
                  <c:y val="-3.0007585487984215E-2"/>
                </c:manualLayout>
              </c:layout>
              <c:tx>
                <c:rich>
                  <a:bodyPr/>
                  <a:lstStyle/>
                  <a:p>
                    <a:fld id="{0EC9FB40-EB3F-4028-BA03-F2D3133F0A4E}"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42E7-4EC4-B11F-EF6F52A32E8D}"/>
                </c:ext>
              </c:extLst>
            </c:dLbl>
            <c:dLbl>
              <c:idx val="4"/>
              <c:layout>
                <c:manualLayout>
                  <c:x val="-3.2228416316887519E-2"/>
                  <c:y val="-2.705250274566743E-2"/>
                </c:manualLayout>
              </c:layout>
              <c:tx>
                <c:rich>
                  <a:bodyPr/>
                  <a:lstStyle/>
                  <a:p>
                    <a:fld id="{18B38633-0D69-4198-A693-54C179D82620}"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42E7-4EC4-B11F-EF6F52A32E8D}"/>
                </c:ext>
              </c:extLst>
            </c:dLbl>
            <c:dLbl>
              <c:idx val="5"/>
              <c:layout>
                <c:manualLayout>
                  <c:x val="-9.2460351371051776E-3"/>
                  <c:y val="-4.5675806481636601E-4"/>
                </c:manualLayout>
              </c:layout>
              <c:tx>
                <c:rich>
                  <a:bodyPr/>
                  <a:lstStyle/>
                  <a:p>
                    <a:fld id="{8AE93EDF-CC09-4EED-B8D8-13D46A680A24}"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42E7-4EC4-B11F-EF6F52A32E8D}"/>
                </c:ext>
              </c:extLst>
            </c:dLbl>
            <c:dLbl>
              <c:idx val="6"/>
              <c:layout>
                <c:manualLayout>
                  <c:x val="-0.11394354940055806"/>
                  <c:y val="8.4084901621339879E-3"/>
                </c:manualLayout>
              </c:layout>
              <c:tx>
                <c:rich>
                  <a:bodyPr/>
                  <a:lstStyle/>
                  <a:p>
                    <a:fld id="{2A623356-9D45-413D-897B-996042B54990}"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42E7-4EC4-B11F-EF6F52A32E8D}"/>
                </c:ext>
              </c:extLst>
            </c:dLbl>
            <c:dLbl>
              <c:idx val="7"/>
              <c:layout>
                <c:manualLayout>
                  <c:x val="-2.9674818408022722E-2"/>
                  <c:y val="-3.0007585487984215E-2"/>
                </c:manualLayout>
              </c:layout>
              <c:tx>
                <c:rich>
                  <a:bodyPr/>
                  <a:lstStyle/>
                  <a:p>
                    <a:fld id="{40C883CF-D913-4D45-8569-C54E3F4D0BD1}" type="CELLRANGE">
                      <a:rPr lang="en-US" sz="1100" dirty="0">
                        <a:solidFill>
                          <a:schemeClr val="tx1"/>
                        </a:solidFill>
                        <a:latin typeface="Calibri" panose="020F0502020204030204" pitchFamily="34" charset="0"/>
                        <a:cs typeface="Calibri" panose="020F0502020204030204" pitchFamily="34" charset="0"/>
                      </a:rPr>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7-42E7-4EC4-B11F-EF6F52A32E8D}"/>
                </c:ext>
              </c:extLst>
            </c:dLbl>
            <c:dLbl>
              <c:idx val="8"/>
              <c:layout>
                <c:manualLayout>
                  <c:x val="-3.1474302938960062E-3"/>
                  <c:y val="-4.4133034034314813E-3"/>
                </c:manualLayout>
              </c:layout>
              <c:tx>
                <c:rich>
                  <a:bodyPr/>
                  <a:lstStyle/>
                  <a:p>
                    <a:fld id="{4284306E-4314-4BA0-B730-0293A097CB1A}" type="CELLRANGE">
                      <a:rPr lang="en-US" sz="1100" dirty="0">
                        <a:solidFill>
                          <a:schemeClr val="tx1"/>
                        </a:solidFill>
                        <a:latin typeface="Calibri" panose="020F0502020204030204" pitchFamily="34" charset="0"/>
                        <a:cs typeface="Calibri" panose="020F0502020204030204" pitchFamily="34" charset="0"/>
                      </a:rPr>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42E7-4EC4-B11F-EF6F52A32E8D}"/>
                </c:ext>
              </c:extLst>
            </c:dLbl>
            <c:dLbl>
              <c:idx val="9"/>
              <c:layout>
                <c:manualLayout>
                  <c:x val="-1.5406541070082894E-2"/>
                  <c:y val="-3.0007665644996961E-2"/>
                </c:manualLayout>
              </c:layout>
              <c:tx>
                <c:rich>
                  <a:bodyPr/>
                  <a:lstStyle/>
                  <a:p>
                    <a:fld id="{B641C2EC-7419-4059-ABC7-87A40E5A45F4}"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42E7-4EC4-B11F-EF6F52A32E8D}"/>
                </c:ext>
              </c:extLst>
            </c:dLbl>
            <c:dLbl>
              <c:idx val="10"/>
              <c:layout>
                <c:manualLayout>
                  <c:x val="-8.219201205727205E-3"/>
                  <c:y val="6.9730143818889957E-3"/>
                </c:manualLayout>
              </c:layout>
              <c:tx>
                <c:rich>
                  <a:bodyPr/>
                  <a:lstStyle/>
                  <a:p>
                    <a:fld id="{BD2760E1-00CD-40ED-BCF1-69BD4220DA52}" type="CELLRANGE">
                      <a:rPr lang="en-US" sz="1100" dirty="0">
                        <a:solidFill>
                          <a:schemeClr val="tx1"/>
                        </a:solidFill>
                        <a:latin typeface="Calibri" panose="020F0502020204030204" pitchFamily="34" charset="0"/>
                        <a:cs typeface="Calibri" panose="020F0502020204030204" pitchFamily="34" charset="0"/>
                      </a:rPr>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42E7-4EC4-B11F-EF6F52A32E8D}"/>
                </c:ext>
              </c:extLst>
            </c:dLbl>
            <c:dLbl>
              <c:idx val="11"/>
              <c:layout>
                <c:manualLayout>
                  <c:x val="-3.7011002260739631E-3"/>
                  <c:y val="3.3667392933868306E-3"/>
                </c:manualLayout>
              </c:layout>
              <c:tx>
                <c:rich>
                  <a:bodyPr/>
                  <a:lstStyle/>
                  <a:p>
                    <a:fld id="{0639F5C7-B601-46C7-91F0-D1132D7D4B53}"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42E7-4EC4-B11F-EF6F52A32E8D}"/>
                </c:ext>
              </c:extLst>
            </c:dLbl>
            <c:dLbl>
              <c:idx val="12"/>
              <c:layout>
                <c:manualLayout>
                  <c:x val="-8.7164431047475517E-3"/>
                  <c:y val="-9.4685327645753371E-3"/>
                </c:manualLayout>
              </c:layout>
              <c:tx>
                <c:rich>
                  <a:bodyPr/>
                  <a:lstStyle/>
                  <a:p>
                    <a:fld id="{71E35F65-20FB-4019-BC3E-C4DEA6430472}"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42E7-4EC4-B11F-EF6F52A32E8D}"/>
                </c:ext>
              </c:extLst>
            </c:dLbl>
            <c:dLbl>
              <c:idx val="13"/>
              <c:layout>
                <c:manualLayout>
                  <c:x val="-8.2705651846269775E-3"/>
                  <c:y val="-2.8439068363116313E-2"/>
                </c:manualLayout>
              </c:layout>
              <c:tx>
                <c:rich>
                  <a:bodyPr/>
                  <a:lstStyle/>
                  <a:p>
                    <a:fld id="{23277FD9-91BD-44A5-84B9-638BAA1350C7}"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D-42E7-4EC4-B11F-EF6F52A32E8D}"/>
                </c:ext>
              </c:extLst>
            </c:dLbl>
            <c:dLbl>
              <c:idx val="14"/>
              <c:layout>
                <c:manualLayout>
                  <c:x val="-6.3760060286360262E-2"/>
                  <c:y val="-3.5146819956254176E-2"/>
                </c:manualLayout>
              </c:layout>
              <c:tx>
                <c:rich>
                  <a:bodyPr/>
                  <a:lstStyle/>
                  <a:p>
                    <a:fld id="{5DAE6485-7E8D-4953-88AD-3637E72CAC34}"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42E7-4EC4-B11F-EF6F52A32E8D}"/>
                </c:ext>
              </c:extLst>
            </c:dLbl>
            <c:dLbl>
              <c:idx val="15"/>
              <c:layout>
                <c:manualLayout>
                  <c:x val="-7.0944988696307462E-3"/>
                  <c:y val="-5.9461826261865327E-3"/>
                </c:manualLayout>
              </c:layout>
              <c:tx>
                <c:rich>
                  <a:bodyPr/>
                  <a:lstStyle/>
                  <a:p>
                    <a:fld id="{842ECA51-AD33-4654-989A-0E4C5098DF45}"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F-42E7-4EC4-B11F-EF6F52A32E8D}"/>
                </c:ext>
              </c:extLst>
            </c:dLbl>
            <c:dLbl>
              <c:idx val="16"/>
              <c:layout>
                <c:manualLayout>
                  <c:x val="-9.2815433308214013E-2"/>
                  <c:y val="1.2001517642847884E-2"/>
                </c:manualLayout>
              </c:layout>
              <c:tx>
                <c:rich>
                  <a:bodyPr/>
                  <a:lstStyle/>
                  <a:p>
                    <a:fld id="{2DBD7148-62FA-4CE0-A19B-BD01051BA861}"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0-42E7-4EC4-B11F-EF6F52A32E8D}"/>
                </c:ext>
              </c:extLst>
            </c:dLbl>
            <c:dLbl>
              <c:idx val="17"/>
              <c:layout>
                <c:manualLayout>
                  <c:x val="-9.2836895252449134E-2"/>
                  <c:y val="3.6544819794897829E-3"/>
                </c:manualLayout>
              </c:layout>
              <c:tx>
                <c:rich>
                  <a:bodyPr/>
                  <a:lstStyle/>
                  <a:p>
                    <a:fld id="{BF757265-28D4-4320-9029-3BE4F5F6ADA6}"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1-42E7-4EC4-B11F-EF6F52A32E8D}"/>
                </c:ext>
              </c:extLst>
            </c:dLbl>
            <c:dLbl>
              <c:idx val="18"/>
              <c:layout>
                <c:manualLayout>
                  <c:x val="-9.2627581009796539E-2"/>
                  <c:y val="-6.5134253693635629E-3"/>
                </c:manualLayout>
              </c:layout>
              <c:tx>
                <c:rich>
                  <a:bodyPr/>
                  <a:lstStyle/>
                  <a:p>
                    <a:fld id="{DB32A40F-4695-4312-96CF-8CA0862D4212}"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2-42E7-4EC4-B11F-EF6F52A32E8D}"/>
                </c:ext>
              </c:extLst>
            </c:dLbl>
            <c:dLbl>
              <c:idx val="19"/>
              <c:layout>
                <c:manualLayout>
                  <c:x val="7.5189148455162016E-4"/>
                  <c:y val="-1.516144188059827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3-42E7-4EC4-B11F-EF6F52A32E8D}"/>
                </c:ext>
              </c:extLst>
            </c:dLbl>
            <c:dLbl>
              <c:idx val="20"/>
              <c:layout>
                <c:manualLayout>
                  <c:x val="-5.4916774679728768E-2"/>
                  <c:y val="3.515905901147898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42E7-4EC4-B11F-EF6F52A32E8D}"/>
                </c:ext>
              </c:extLst>
            </c:dLbl>
            <c:dLbl>
              <c:idx val="21"/>
              <c:layout>
                <c:manualLayout>
                  <c:x val="-3.1901475356272239E-2"/>
                  <c:y val="-3.123941289253742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42E7-4EC4-B11F-EF6F52A32E8D}"/>
                </c:ext>
              </c:extLst>
            </c:dLbl>
            <c:dLbl>
              <c:idx val="22"/>
              <c:layout>
                <c:manualLayout>
                  <c:x val="-3.7008671174001653E-2"/>
                  <c:y val="-3.419449563485415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42E7-4EC4-B11F-EF6F52A32E8D}"/>
                </c:ext>
              </c:extLst>
            </c:dLbl>
            <c:dLbl>
              <c:idx val="23"/>
              <c:layout>
                <c:manualLayout>
                  <c:x val="-1.2583004498956947E-3"/>
                  <c:y val="-1.6885854693695203E-3"/>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42E7-4EC4-B11F-EF6F52A32E8D}"/>
                </c:ext>
              </c:extLst>
            </c:dLbl>
            <c:dLbl>
              <c:idx val="24"/>
              <c:layout>
                <c:manualLayout>
                  <c:x val="-1.6579887903084015E-2"/>
                  <c:y val="3.3772407438431899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8-42E7-4EC4-B11F-EF6F52A32E8D}"/>
                </c:ext>
              </c:extLst>
            </c:dLbl>
            <c:spPr>
              <a:noFill/>
              <a:ln>
                <a:noFill/>
              </a:ln>
              <a:effectLst/>
            </c:spPr>
            <c:txPr>
              <a:bodyPr rot="0" spcFirstLastPara="1" vertOverflow="ellipsis" vert="horz" wrap="none" lIns="0" tIns="0" rIns="0" bIns="0" anchor="ctr" anchorCtr="1">
                <a:spAutoFit/>
              </a:bodyPr>
              <a:lstStyle/>
              <a:p>
                <a:pPr>
                  <a:defRPr sz="11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t"/>
            <c:showLegendKey val="0"/>
            <c:showVal val="0"/>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DataLabelsRange val="1"/>
                <c15:showLeaderLines val="0"/>
              </c:ext>
            </c:extLst>
          </c:dLbls>
          <c:xVal>
            <c:numRef>
              <c:f>Sheet1!$A$2:$A$26</c:f>
              <c:numCache>
                <c:formatCode>General</c:formatCode>
                <c:ptCount val="25"/>
              </c:numCache>
            </c:numRef>
          </c:xVal>
          <c:yVal>
            <c:numRef>
              <c:f>Sheet1!$B$2:$B$26</c:f>
              <c:numCache>
                <c:formatCode>General</c:formatCode>
                <c:ptCount val="25"/>
              </c:numCache>
            </c:numRef>
          </c:yVal>
          <c:smooth val="0"/>
          <c:extLst>
            <c:ext xmlns:c15="http://schemas.microsoft.com/office/drawing/2012/chart" uri="{02D57815-91ED-43cb-92C2-25804820EDAC}">
              <c15:datalabelsRange>
                <c15:f>Sheet1!$D$2:$D$26</c15:f>
                <c15:dlblRangeCache>
                  <c:ptCount val="25"/>
                </c15:dlblRangeCache>
              </c15:datalabelsRange>
            </c:ext>
            <c:ext xmlns:c16="http://schemas.microsoft.com/office/drawing/2014/chart" uri="{C3380CC4-5D6E-409C-BE32-E72D297353CC}">
              <c16:uniqueId val="{00000019-42E7-4EC4-B11F-EF6F52A32E8D}"/>
            </c:ext>
          </c:extLst>
        </c:ser>
        <c:dLbls>
          <c:dLblPos val="ctr"/>
          <c:showLegendKey val="0"/>
          <c:showVal val="1"/>
          <c:showCatName val="0"/>
          <c:showSerName val="0"/>
          <c:showPercent val="0"/>
          <c:showBubbleSize val="0"/>
        </c:dLbls>
        <c:axId val="681510616"/>
        <c:axId val="681511008"/>
      </c:scatterChart>
      <c:valAx>
        <c:axId val="681510616"/>
        <c:scaling>
          <c:orientation val="minMax"/>
          <c:max val="0.8"/>
          <c:min val="0.4"/>
        </c:scaling>
        <c:delete val="1"/>
        <c:axPos val="b"/>
        <c:numFmt formatCode="General" sourceLinked="1"/>
        <c:majorTickMark val="out"/>
        <c:minorTickMark val="none"/>
        <c:tickLblPos val="nextTo"/>
        <c:crossAx val="681511008"/>
        <c:crosses val="autoZero"/>
        <c:crossBetween val="midCat"/>
        <c:majorUnit val="5.000000000000001E-2"/>
      </c:valAx>
      <c:valAx>
        <c:axId val="681511008"/>
        <c:scaling>
          <c:orientation val="minMax"/>
          <c:max val="0.8"/>
          <c:min val="0"/>
        </c:scaling>
        <c:delete val="1"/>
        <c:axPos val="l"/>
        <c:numFmt formatCode="General" sourceLinked="1"/>
        <c:majorTickMark val="out"/>
        <c:minorTickMark val="none"/>
        <c:tickLblPos val="nextTo"/>
        <c:crossAx val="681510616"/>
        <c:crosses val="autoZero"/>
        <c:crossBetween val="midCat"/>
        <c:majorUnit val="0.1"/>
      </c:valAx>
      <c:spPr>
        <a:noFill/>
        <a:ln w="0">
          <a:solidFill>
            <a:schemeClr val="tx1">
              <a:lumMod val="75000"/>
              <a:lumOff val="25000"/>
            </a:schemeClr>
          </a:solidFill>
        </a:ln>
        <a:effectLst/>
      </c:spPr>
    </c:plotArea>
    <c:plotVisOnly val="1"/>
    <c:dispBlanksAs val="gap"/>
    <c:showDLblsOverMax val="0"/>
  </c:chart>
  <c:spPr>
    <a:noFill/>
    <a:ln>
      <a:noFill/>
    </a:ln>
    <a:effectLst/>
  </c:spPr>
  <c:txPr>
    <a:bodyPr/>
    <a:lstStyle/>
    <a:p>
      <a:pPr>
        <a:defRPr sz="1000">
          <a:solidFill>
            <a:schemeClr val="tx1">
              <a:lumMod val="75000"/>
              <a:lumOff val="25000"/>
            </a:schemeClr>
          </a:solidFill>
          <a:latin typeface="Arial(Body)"/>
          <a:cs typeface="Arial" panose="020B0604020202020204" pitchFamily="34" charset="0"/>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C74-4BD6-BA24-CCD59321316A}"/>
                </c:ext>
              </c:extLst>
            </c:dLbl>
            <c:dLbl>
              <c:idx val="1"/>
              <c:layout>
                <c:manualLayout>
                  <c:x val="-4.7223123366675675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C74-4BD6-BA24-CCD59321316A}"/>
                </c:ext>
              </c:extLst>
            </c:dLbl>
            <c:dLbl>
              <c:idx val="2"/>
              <c:layout>
                <c:manualLayout>
                  <c:x val="-4.7223123366675675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C74-4BD6-BA24-CCD59321316A}"/>
                </c:ext>
              </c:extLst>
            </c:dLbl>
            <c:dLbl>
              <c:idx val="3"/>
              <c:layout>
                <c:manualLayout>
                  <c:x val="-4.7223123366675675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C74-4BD6-BA24-CCD59321316A}"/>
                </c:ext>
              </c:extLst>
            </c:dLbl>
            <c:dLbl>
              <c:idx val="4"/>
              <c:layout>
                <c:manualLayout>
                  <c:x val="-4.7223123366675675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C74-4BD6-BA24-CCD59321316A}"/>
                </c:ext>
              </c:extLst>
            </c:dLbl>
            <c:dLbl>
              <c:idx val="5"/>
              <c:layout>
                <c:manualLayout>
                  <c:x val="-4.7223123366675675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C74-4BD6-BA24-CCD59321316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0.48</c:v>
                </c:pt>
                <c:pt idx="1">
                  <c:v>0.56000000000000005</c:v>
                </c:pt>
                <c:pt idx="2">
                  <c:v>0.62</c:v>
                </c:pt>
                <c:pt idx="3">
                  <c:v>0.61</c:v>
                </c:pt>
                <c:pt idx="4">
                  <c:v>0.59</c:v>
                </c:pt>
                <c:pt idx="5">
                  <c:v>0.7</c:v>
                </c:pt>
              </c:numCache>
            </c:numRef>
          </c:val>
          <c:smooth val="0"/>
          <c:extLst>
            <c:ext xmlns:c16="http://schemas.microsoft.com/office/drawing/2014/chart" uri="{C3380CC4-5D6E-409C-BE32-E72D297353CC}">
              <c16:uniqueId val="{00000006-5E62-4636-9B90-C046CAE54D21}"/>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5B0-49D4-9B5D-62E4396D3BA9}"/>
                </c:ext>
              </c:extLst>
            </c:dLbl>
            <c:dLbl>
              <c:idx val="1"/>
              <c:layout>
                <c:manualLayout>
                  <c:x val="-4.7223123366675675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0-49D4-9B5D-62E4396D3BA9}"/>
                </c:ext>
              </c:extLst>
            </c:dLbl>
            <c:dLbl>
              <c:idx val="2"/>
              <c:layout>
                <c:manualLayout>
                  <c:x val="-4.7223123366675675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5B0-49D4-9B5D-62E4396D3BA9}"/>
                </c:ext>
              </c:extLst>
            </c:dLbl>
            <c:dLbl>
              <c:idx val="3"/>
              <c:layout>
                <c:manualLayout>
                  <c:x val="-4.7223123366675675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0-49D4-9B5D-62E4396D3BA9}"/>
                </c:ext>
              </c:extLst>
            </c:dLbl>
            <c:dLbl>
              <c:idx val="4"/>
              <c:layout>
                <c:manualLayout>
                  <c:x val="-4.7223123366675675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5B0-49D4-9B5D-62E4396D3BA9}"/>
                </c:ext>
              </c:extLst>
            </c:dLbl>
            <c:dLbl>
              <c:idx val="5"/>
              <c:layout>
                <c:manualLayout>
                  <c:x val="-4.7223123366675675E-2"/>
                  <c:y val="-0.237487922705314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0-49D4-9B5D-62E4396D3BA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0.35</c:v>
                </c:pt>
                <c:pt idx="1">
                  <c:v>0.36</c:v>
                </c:pt>
                <c:pt idx="2">
                  <c:v>0.44</c:v>
                </c:pt>
                <c:pt idx="3">
                  <c:v>0.51</c:v>
                </c:pt>
                <c:pt idx="4">
                  <c:v>0.37</c:v>
                </c:pt>
                <c:pt idx="5">
                  <c:v>0.57999999999999996</c:v>
                </c:pt>
              </c:numCache>
            </c:numRef>
          </c:val>
          <c:smooth val="0"/>
          <c:extLst>
            <c:ext xmlns:c16="http://schemas.microsoft.com/office/drawing/2014/chart" uri="{C3380CC4-5D6E-409C-BE32-E72D297353CC}">
              <c16:uniqueId val="{00000006-B5B0-49D4-9B5D-62E4396D3BA9}"/>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950-45A6-A722-CD8DB46B409A}"/>
                </c:ext>
              </c:extLst>
            </c:dLbl>
            <c:dLbl>
              <c:idx val="1"/>
              <c:layout>
                <c:manualLayout>
                  <c:x val="-4.7223123366675675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950-45A6-A722-CD8DB46B409A}"/>
                </c:ext>
              </c:extLst>
            </c:dLbl>
            <c:dLbl>
              <c:idx val="2"/>
              <c:layout>
                <c:manualLayout>
                  <c:x val="-4.7223123366675675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950-45A6-A722-CD8DB46B409A}"/>
                </c:ext>
              </c:extLst>
            </c:dLbl>
            <c:dLbl>
              <c:idx val="3"/>
              <c:layout>
                <c:manualLayout>
                  <c:x val="-4.7223123366675675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950-45A6-A722-CD8DB46B409A}"/>
                </c:ext>
              </c:extLst>
            </c:dLbl>
            <c:dLbl>
              <c:idx val="4"/>
              <c:layout>
                <c:manualLayout>
                  <c:x val="-4.7223123366675675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950-45A6-A722-CD8DB46B409A}"/>
                </c:ext>
              </c:extLst>
            </c:dLbl>
            <c:dLbl>
              <c:idx val="5"/>
              <c:layout>
                <c:manualLayout>
                  <c:x val="-4.7223123366675675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950-45A6-A722-CD8DB46B409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0.37</c:v>
                </c:pt>
                <c:pt idx="1">
                  <c:v>0.45</c:v>
                </c:pt>
                <c:pt idx="2">
                  <c:v>0.46</c:v>
                </c:pt>
                <c:pt idx="3">
                  <c:v>0.51</c:v>
                </c:pt>
                <c:pt idx="4">
                  <c:v>0.51</c:v>
                </c:pt>
                <c:pt idx="5">
                  <c:v>0.56000000000000005</c:v>
                </c:pt>
              </c:numCache>
            </c:numRef>
          </c:val>
          <c:smooth val="0"/>
          <c:extLst>
            <c:ext xmlns:c16="http://schemas.microsoft.com/office/drawing/2014/chart" uri="{C3380CC4-5D6E-409C-BE32-E72D297353CC}">
              <c16:uniqueId val="{00000006-6950-45A6-A722-CD8DB46B409A}"/>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6564009661835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DE3-4939-A305-7BACCFB69F52}"/>
                </c:ext>
              </c:extLst>
            </c:dLbl>
            <c:dLbl>
              <c:idx val="1"/>
              <c:layout>
                <c:manualLayout>
                  <c:x val="-4.7223123366675675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DE3-4939-A305-7BACCFB69F52}"/>
                </c:ext>
              </c:extLst>
            </c:dLbl>
            <c:dLbl>
              <c:idx val="2"/>
              <c:layout>
                <c:manualLayout>
                  <c:x val="-4.7223123366675675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DE3-4939-A305-7BACCFB69F52}"/>
                </c:ext>
              </c:extLst>
            </c:dLbl>
            <c:dLbl>
              <c:idx val="3"/>
              <c:layout>
                <c:manualLayout>
                  <c:x val="-4.7223123366675675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DE3-4939-A305-7BACCFB69F52}"/>
                </c:ext>
              </c:extLst>
            </c:dLbl>
            <c:dLbl>
              <c:idx val="4"/>
              <c:layout>
                <c:manualLayout>
                  <c:x val="-4.7223123366675675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DE3-4939-A305-7BACCFB69F52}"/>
                </c:ext>
              </c:extLst>
            </c:dLbl>
            <c:dLbl>
              <c:idx val="5"/>
              <c:layout>
                <c:manualLayout>
                  <c:x val="-4.7223123366675675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DE3-4939-A305-7BACCFB69F5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c:v>
                </c:pt>
                <c:pt idx="1">
                  <c:v>0.42</c:v>
                </c:pt>
                <c:pt idx="2">
                  <c:v>0.48</c:v>
                </c:pt>
                <c:pt idx="3">
                  <c:v>0.49</c:v>
                </c:pt>
                <c:pt idx="4">
                  <c:v>0.41</c:v>
                </c:pt>
                <c:pt idx="5">
                  <c:v>0.46</c:v>
                </c:pt>
              </c:numCache>
            </c:numRef>
          </c:val>
          <c:smooth val="0"/>
          <c:extLst>
            <c:ext xmlns:c16="http://schemas.microsoft.com/office/drawing/2014/chart" uri="{C3380CC4-5D6E-409C-BE32-E72D297353CC}">
              <c16:uniqueId val="{00000006-8DE3-4939-A305-7BACCFB69F52}"/>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366-4BE3-A7B7-C1A21EF7A8BA}"/>
                </c:ext>
              </c:extLst>
            </c:dLbl>
            <c:dLbl>
              <c:idx val="1"/>
              <c:layout>
                <c:manualLayout>
                  <c:x val="-4.7223123366675675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366-4BE3-A7B7-C1A21EF7A8BA}"/>
                </c:ext>
              </c:extLst>
            </c:dLbl>
            <c:dLbl>
              <c:idx val="2"/>
              <c:layout>
                <c:manualLayout>
                  <c:x val="-4.7223123366675675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366-4BE3-A7B7-C1A21EF7A8BA}"/>
                </c:ext>
              </c:extLst>
            </c:dLbl>
            <c:dLbl>
              <c:idx val="3"/>
              <c:layout>
                <c:manualLayout>
                  <c:x val="-4.7223123366675675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366-4BE3-A7B7-C1A21EF7A8BA}"/>
                </c:ext>
              </c:extLst>
            </c:dLbl>
            <c:dLbl>
              <c:idx val="4"/>
              <c:layout>
                <c:manualLayout>
                  <c:x val="-4.7223123366675675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366-4BE3-A7B7-C1A21EF7A8BA}"/>
                </c:ext>
              </c:extLst>
            </c:dLbl>
            <c:dLbl>
              <c:idx val="5"/>
              <c:layout>
                <c:manualLayout>
                  <c:x val="-4.7223123366675675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366-4BE3-A7B7-C1A21EF7A8B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0.42</c:v>
                </c:pt>
                <c:pt idx="1">
                  <c:v>0.42</c:v>
                </c:pt>
                <c:pt idx="2">
                  <c:v>0.35</c:v>
                </c:pt>
                <c:pt idx="3">
                  <c:v>0.42</c:v>
                </c:pt>
                <c:pt idx="4">
                  <c:v>0.47</c:v>
                </c:pt>
                <c:pt idx="5">
                  <c:v>0.39</c:v>
                </c:pt>
              </c:numCache>
            </c:numRef>
          </c:val>
          <c:smooth val="0"/>
          <c:extLst>
            <c:ext xmlns:c16="http://schemas.microsoft.com/office/drawing/2014/chart" uri="{C3380CC4-5D6E-409C-BE32-E72D297353CC}">
              <c16:uniqueId val="{00000006-C366-4BE3-A7B7-C1A21EF7A8BA}"/>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C22</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68-4739-9579-FB982B82692A}"/>
                </c:ext>
              </c:extLst>
            </c:dLbl>
            <c:dLbl>
              <c:idx val="1"/>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68-4739-9579-FB982B82692A}"/>
                </c:ext>
              </c:extLst>
            </c:dLbl>
            <c:dLbl>
              <c:idx val="2"/>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68-4739-9579-FB982B82692A}"/>
                </c:ext>
              </c:extLst>
            </c:dLbl>
            <c:dLbl>
              <c:idx val="3"/>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68-4739-9579-FB982B82692A}"/>
                </c:ext>
              </c:extLst>
            </c:dLbl>
            <c:dLbl>
              <c:idx val="4"/>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E68-4739-9579-FB982B82692A}"/>
                </c:ext>
              </c:extLst>
            </c:dLbl>
            <c:dLbl>
              <c:idx val="5"/>
              <c:layout>
                <c:manualLayout>
                  <c:x val="-4.7223123366675675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E68-4739-9579-FB982B82692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0.39</c:v>
                </c:pt>
              </c:numCache>
            </c:numRef>
          </c:val>
          <c:smooth val="0"/>
          <c:extLst>
            <c:ext xmlns:c16="http://schemas.microsoft.com/office/drawing/2014/chart" uri="{C3380CC4-5D6E-409C-BE32-E72D297353CC}">
              <c16:uniqueId val="{00000006-FE68-4739-9579-FB982B82692A}"/>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C4</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FFE-4A3C-A90B-AC57143F5B1E}"/>
                </c:ext>
              </c:extLst>
            </c:dLbl>
            <c:dLbl>
              <c:idx val="1"/>
              <c:layout>
                <c:manualLayout>
                  <c:x val="-4.7223123366675675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FFE-4A3C-A90B-AC57143F5B1E}"/>
                </c:ext>
              </c:extLst>
            </c:dLbl>
            <c:dLbl>
              <c:idx val="2"/>
              <c:layout>
                <c:manualLayout>
                  <c:x val="-4.7223123366675675E-2"/>
                  <c:y val="-0.285972222222222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FFE-4A3C-A90B-AC57143F5B1E}"/>
                </c:ext>
              </c:extLst>
            </c:dLbl>
            <c:dLbl>
              <c:idx val="3"/>
              <c:layout>
                <c:manualLayout>
                  <c:x val="-4.7223123366675675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FFE-4A3C-A90B-AC57143F5B1E}"/>
                </c:ext>
              </c:extLst>
            </c:dLbl>
            <c:dLbl>
              <c:idx val="4"/>
              <c:layout>
                <c:manualLayout>
                  <c:x val="-4.7223123366675675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FFE-4A3C-A90B-AC57143F5B1E}"/>
                </c:ext>
              </c:extLst>
            </c:dLbl>
            <c:dLbl>
              <c:idx val="5"/>
              <c:layout>
                <c:manualLayout>
                  <c:x val="-4.7223123366675675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FFE-4A3C-A90B-AC57143F5B1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0.33</c:v>
                </c:pt>
                <c:pt idx="1">
                  <c:v>0.3</c:v>
                </c:pt>
                <c:pt idx="2">
                  <c:v>0.27</c:v>
                </c:pt>
                <c:pt idx="3">
                  <c:v>0.41</c:v>
                </c:pt>
                <c:pt idx="4">
                  <c:v>0.41</c:v>
                </c:pt>
                <c:pt idx="5">
                  <c:v>0.37</c:v>
                </c:pt>
              </c:numCache>
            </c:numRef>
          </c:val>
          <c:smooth val="0"/>
          <c:extLst>
            <c:ext xmlns:c16="http://schemas.microsoft.com/office/drawing/2014/chart" uri="{C3380CC4-5D6E-409C-BE32-E72D297353CC}">
              <c16:uniqueId val="{00000006-1FFE-4A3C-A90B-AC57143F5B1E}"/>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806-4A80-8F3F-6CED99E11559}"/>
                </c:ext>
              </c:extLst>
            </c:dLbl>
            <c:dLbl>
              <c:idx val="1"/>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806-4A80-8F3F-6CED99E11559}"/>
                </c:ext>
              </c:extLst>
            </c:dLbl>
            <c:dLbl>
              <c:idx val="2"/>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806-4A80-8F3F-6CED99E11559}"/>
                </c:ext>
              </c:extLst>
            </c:dLbl>
            <c:dLbl>
              <c:idx val="3"/>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806-4A80-8F3F-6CED99E11559}"/>
                </c:ext>
              </c:extLst>
            </c:dLbl>
            <c:dLbl>
              <c:idx val="4"/>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806-4A80-8F3F-6CED99E11559}"/>
                </c:ext>
              </c:extLst>
            </c:dLbl>
            <c:dLbl>
              <c:idx val="5"/>
              <c:layout>
                <c:manualLayout>
                  <c:x val="-4.7223123366675675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806-4A80-8F3F-6CED99E1155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0.35</c:v>
                </c:pt>
              </c:numCache>
            </c:numRef>
          </c:val>
          <c:smooth val="0"/>
          <c:extLst>
            <c:ext xmlns:c16="http://schemas.microsoft.com/office/drawing/2014/chart" uri="{C3380CC4-5D6E-409C-BE32-E72D297353CC}">
              <c16:uniqueId val="{00000006-D806-4A80-8F3F-6CED99E11559}"/>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C9</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84408212560386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8ED-4781-9165-A28ABF73568E}"/>
                </c:ext>
              </c:extLst>
            </c:dLbl>
            <c:dLbl>
              <c:idx val="1"/>
              <c:layout>
                <c:manualLayout>
                  <c:x val="-4.7223123366675675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8ED-4781-9165-A28ABF73568E}"/>
                </c:ext>
              </c:extLst>
            </c:dLbl>
            <c:dLbl>
              <c:idx val="2"/>
              <c:layout>
                <c:manualLayout>
                  <c:x val="-4.7223123366675675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8ED-4781-9165-A28ABF73568E}"/>
                </c:ext>
              </c:extLst>
            </c:dLbl>
            <c:dLbl>
              <c:idx val="3"/>
              <c:layout>
                <c:manualLayout>
                  <c:x val="-4.7223123366675675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8ED-4781-9165-A28ABF73568E}"/>
                </c:ext>
              </c:extLst>
            </c:dLbl>
            <c:dLbl>
              <c:idx val="4"/>
              <c:layout>
                <c:manualLayout>
                  <c:x val="-4.7223123366675675E-2"/>
                  <c:y val="-0.2937922705314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8ED-4781-9165-A28ABF73568E}"/>
                </c:ext>
              </c:extLst>
            </c:dLbl>
            <c:dLbl>
              <c:idx val="5"/>
              <c:layout>
                <c:manualLayout>
                  <c:x val="-4.7223123366675675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8ED-4781-9165-A28ABF73568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0.28000000000000003</c:v>
                </c:pt>
                <c:pt idx="1">
                  <c:v>0.25</c:v>
                </c:pt>
                <c:pt idx="2">
                  <c:v>0.28999999999999998</c:v>
                </c:pt>
                <c:pt idx="3">
                  <c:v>0.37</c:v>
                </c:pt>
                <c:pt idx="4">
                  <c:v>0.22</c:v>
                </c:pt>
                <c:pt idx="5">
                  <c:v>0.35</c:v>
                </c:pt>
              </c:numCache>
            </c:numRef>
          </c:val>
          <c:smooth val="0"/>
          <c:extLst>
            <c:ext xmlns:c16="http://schemas.microsoft.com/office/drawing/2014/chart" uri="{C3380CC4-5D6E-409C-BE32-E72D297353CC}">
              <c16:uniqueId val="{00000006-E8ED-4781-9165-A28ABF73568E}"/>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C3</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FC-41B8-8501-262D74C42474}"/>
                </c:ext>
              </c:extLst>
            </c:dLbl>
            <c:dLbl>
              <c:idx val="1"/>
              <c:layout>
                <c:manualLayout>
                  <c:x val="-4.7223123366675675E-2"/>
                  <c:y val="-0.285972222222222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FC-41B8-8501-262D74C42474}"/>
                </c:ext>
              </c:extLst>
            </c:dLbl>
            <c:dLbl>
              <c:idx val="2"/>
              <c:layout>
                <c:manualLayout>
                  <c:x val="-4.7223123366675675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FFC-41B8-8501-262D74C42474}"/>
                </c:ext>
              </c:extLst>
            </c:dLbl>
            <c:dLbl>
              <c:idx val="3"/>
              <c:layout>
                <c:manualLayout>
                  <c:x val="-4.7223123366675675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FFC-41B8-8501-262D74C42474}"/>
                </c:ext>
              </c:extLst>
            </c:dLbl>
            <c:dLbl>
              <c:idx val="4"/>
              <c:layout>
                <c:manualLayout>
                  <c:x val="-4.7223123366675675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FFC-41B8-8501-262D74C42474}"/>
                </c:ext>
              </c:extLst>
            </c:dLbl>
            <c:dLbl>
              <c:idx val="5"/>
              <c:layout>
                <c:manualLayout>
                  <c:x val="-4.7223123366675675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FFC-41B8-8501-262D74C4247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0.37</c:v>
                </c:pt>
                <c:pt idx="1">
                  <c:v>0.27</c:v>
                </c:pt>
                <c:pt idx="2">
                  <c:v>0.46</c:v>
                </c:pt>
                <c:pt idx="3">
                  <c:v>0.41</c:v>
                </c:pt>
                <c:pt idx="4">
                  <c:v>0.33</c:v>
                </c:pt>
                <c:pt idx="5">
                  <c:v>0.33</c:v>
                </c:pt>
              </c:numCache>
            </c:numRef>
          </c:val>
          <c:smooth val="0"/>
          <c:extLst>
            <c:ext xmlns:c16="http://schemas.microsoft.com/office/drawing/2014/chart" uri="{C3380CC4-5D6E-409C-BE32-E72D297353CC}">
              <c16:uniqueId val="{00000006-8FFC-41B8-8501-262D74C42474}"/>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6AD-4517-B4CC-F7FF9118AE13}"/>
                </c:ext>
              </c:extLst>
            </c:dLbl>
            <c:dLbl>
              <c:idx val="1"/>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6AD-4517-B4CC-F7FF9118AE13}"/>
                </c:ext>
              </c:extLst>
            </c:dLbl>
            <c:dLbl>
              <c:idx val="2"/>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6AD-4517-B4CC-F7FF9118AE13}"/>
                </c:ext>
              </c:extLst>
            </c:dLbl>
            <c:dLbl>
              <c:idx val="3"/>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6AD-4517-B4CC-F7FF9118AE13}"/>
                </c:ext>
              </c:extLst>
            </c:dLbl>
            <c:dLbl>
              <c:idx val="4"/>
              <c:layout>
                <c:manualLayout>
                  <c:x val="-4.0062967468685227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6AD-4517-B4CC-F7FF9118AE13}"/>
                </c:ext>
              </c:extLst>
            </c:dLbl>
            <c:dLbl>
              <c:idx val="5"/>
              <c:layout>
                <c:manualLayout>
                  <c:x val="-4.7223123366675675E-2"/>
                  <c:y val="-0.284408212560386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6AD-4517-B4CC-F7FF9118AE1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0.28000000000000003</c:v>
                </c:pt>
              </c:numCache>
            </c:numRef>
          </c:val>
          <c:smooth val="0"/>
          <c:extLst>
            <c:ext xmlns:c16="http://schemas.microsoft.com/office/drawing/2014/chart" uri="{C3380CC4-5D6E-409C-BE32-E72D297353CC}">
              <c16:uniqueId val="{00000006-36AD-4517-B4CC-F7FF9118AE13}"/>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C19</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E3A-44DB-87B8-74D31C768499}"/>
                </c:ext>
              </c:extLst>
            </c:dLbl>
            <c:dLbl>
              <c:idx val="1"/>
              <c:layout>
                <c:manualLayout>
                  <c:x val="-4.7223123366675675E-2"/>
                  <c:y val="-0.279716183574879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E3A-44DB-87B8-74D31C768499}"/>
                </c:ext>
              </c:extLst>
            </c:dLbl>
            <c:dLbl>
              <c:idx val="2"/>
              <c:layout>
                <c:manualLayout>
                  <c:x val="-4.7223123366675675E-2"/>
                  <c:y val="-0.279716183574879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E3A-44DB-87B8-74D31C768499}"/>
                </c:ext>
              </c:extLst>
            </c:dLbl>
            <c:dLbl>
              <c:idx val="3"/>
              <c:layout>
                <c:manualLayout>
                  <c:x val="-4.7223123366675675E-2"/>
                  <c:y val="-0.29692028985507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E3A-44DB-87B8-74D31C768499}"/>
                </c:ext>
              </c:extLst>
            </c:dLbl>
            <c:dLbl>
              <c:idx val="4"/>
              <c:layout>
                <c:manualLayout>
                  <c:x val="-4.7223123366675675E-2"/>
                  <c:y val="-0.29066425120772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E3A-44DB-87B8-74D31C768499}"/>
                </c:ext>
              </c:extLst>
            </c:dLbl>
            <c:dLbl>
              <c:idx val="5"/>
              <c:layout>
                <c:manualLayout>
                  <c:x val="-4.7223123366675675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E3A-44DB-87B8-74D31C76849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c:v>
                </c:pt>
                <c:pt idx="1">
                  <c:v>0.31</c:v>
                </c:pt>
                <c:pt idx="2">
                  <c:v>0.31</c:v>
                </c:pt>
                <c:pt idx="3">
                  <c:v>0.2</c:v>
                </c:pt>
                <c:pt idx="4">
                  <c:v>0.24</c:v>
                </c:pt>
                <c:pt idx="5">
                  <c:v>0.25</c:v>
                </c:pt>
              </c:numCache>
            </c:numRef>
          </c:val>
          <c:smooth val="0"/>
          <c:extLst>
            <c:ext xmlns:c16="http://schemas.microsoft.com/office/drawing/2014/chart" uri="{C3380CC4-5D6E-409C-BE32-E72D297353CC}">
              <c16:uniqueId val="{00000006-AE3A-44DB-87B8-74D31C768499}"/>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223123366675675E-2"/>
                  <c:y val="-0.292228260869565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3AC-42BD-8545-FB78130C3B80}"/>
                </c:ext>
              </c:extLst>
            </c:dLbl>
            <c:dLbl>
              <c:idx val="1"/>
              <c:layout>
                <c:manualLayout>
                  <c:x val="-4.7223123366675675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3AC-42BD-8545-FB78130C3B80}"/>
                </c:ext>
              </c:extLst>
            </c:dLbl>
            <c:dLbl>
              <c:idx val="2"/>
              <c:layout>
                <c:manualLayout>
                  <c:x val="-4.7223123366675675E-2"/>
                  <c:y val="-0.304740338164251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3AC-42BD-8545-FB78130C3B80}"/>
                </c:ext>
              </c:extLst>
            </c:dLbl>
            <c:dLbl>
              <c:idx val="3"/>
              <c:layout>
                <c:manualLayout>
                  <c:x val="-4.7223123366675675E-2"/>
                  <c:y val="-0.275024154589371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3AC-42BD-8545-FB78130C3B80}"/>
                </c:ext>
              </c:extLst>
            </c:dLbl>
            <c:dLbl>
              <c:idx val="4"/>
              <c:layout>
                <c:manualLayout>
                  <c:x val="-4.7223123366675675E-2"/>
                  <c:y val="-0.285972222222222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3AC-42BD-8545-FB78130C3B80}"/>
                </c:ext>
              </c:extLst>
            </c:dLbl>
            <c:dLbl>
              <c:idx val="5"/>
              <c:layout>
                <c:manualLayout>
                  <c:x val="-4.7223123366675675E-2"/>
                  <c:y val="-0.300048309178743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3AC-42BD-8545-FB78130C3B8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0.23</c:v>
                </c:pt>
                <c:pt idx="1">
                  <c:v>0.25</c:v>
                </c:pt>
                <c:pt idx="2">
                  <c:v>0.15</c:v>
                </c:pt>
                <c:pt idx="3">
                  <c:v>0.34</c:v>
                </c:pt>
                <c:pt idx="4">
                  <c:v>0.27</c:v>
                </c:pt>
                <c:pt idx="5">
                  <c:v>0.18</c:v>
                </c:pt>
              </c:numCache>
            </c:numRef>
          </c:val>
          <c:smooth val="0"/>
          <c:extLst>
            <c:ext xmlns:c16="http://schemas.microsoft.com/office/drawing/2014/chart" uri="{C3380CC4-5D6E-409C-BE32-E72D297353CC}">
              <c16:uniqueId val="{00000006-73AC-42BD-8545-FB78130C3B80}"/>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C6</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764-4B9C-9633-C142ED2982C5}"/>
                </c:ext>
              </c:extLst>
            </c:dLbl>
            <c:dLbl>
              <c:idx val="1"/>
              <c:layout>
                <c:manualLayout>
                  <c:x val="-4.7338188798554649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764-4B9C-9633-C142ED2982C5}"/>
                </c:ext>
              </c:extLst>
            </c:dLbl>
            <c:dLbl>
              <c:idx val="2"/>
              <c:layout>
                <c:manualLayout>
                  <c:x val="-4.7338188798554649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764-4B9C-9633-C142ED2982C5}"/>
                </c:ext>
              </c:extLst>
            </c:dLbl>
            <c:dLbl>
              <c:idx val="3"/>
              <c:layout>
                <c:manualLayout>
                  <c:x val="-4.7338188798554649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764-4B9C-9633-C142ED2982C5}"/>
                </c:ext>
              </c:extLst>
            </c:dLbl>
            <c:dLbl>
              <c:idx val="4"/>
              <c:layout>
                <c:manualLayout>
                  <c:x val="-4.7338188798554649E-2"/>
                  <c:y val="-0.221847826086956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764-4B9C-9633-C142ED2982C5}"/>
                </c:ext>
              </c:extLst>
            </c:dLbl>
            <c:dLbl>
              <c:idx val="5"/>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764-4B9C-9633-C142ED2982C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0.56999999999999995</c:v>
                </c:pt>
                <c:pt idx="1">
                  <c:v>0.65</c:v>
                </c:pt>
                <c:pt idx="2">
                  <c:v>0.62</c:v>
                </c:pt>
                <c:pt idx="3">
                  <c:v>0.62</c:v>
                </c:pt>
                <c:pt idx="4">
                  <c:v>0.68</c:v>
                </c:pt>
                <c:pt idx="5">
                  <c:v>0.56999999999999995</c:v>
                </c:pt>
              </c:numCache>
            </c:numRef>
          </c:val>
          <c:smooth val="0"/>
          <c:extLst>
            <c:ext xmlns:c16="http://schemas.microsoft.com/office/drawing/2014/chart" uri="{C3380CC4-5D6E-409C-BE32-E72D297353CC}">
              <c16:uniqueId val="{00000006-05F5-4E34-9974-B7540E25F0DE}"/>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ED-4D0A-9FDA-0CADEA555903}"/>
                </c:ext>
              </c:extLst>
            </c:dLbl>
            <c:dLbl>
              <c:idx val="1"/>
              <c:layout>
                <c:manualLayout>
                  <c:x val="-4.7338188798554649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ED-4D0A-9FDA-0CADEA555903}"/>
                </c:ext>
              </c:extLst>
            </c:dLbl>
            <c:dLbl>
              <c:idx val="2"/>
              <c:layout>
                <c:manualLayout>
                  <c:x val="-4.7338188798554649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ED-4D0A-9FDA-0CADEA555903}"/>
                </c:ext>
              </c:extLst>
            </c:dLbl>
            <c:dLbl>
              <c:idx val="3"/>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ED-4D0A-9FDA-0CADEA555903}"/>
                </c:ext>
              </c:extLst>
            </c:dLbl>
            <c:dLbl>
              <c:idx val="4"/>
              <c:layout>
                <c:manualLayout>
                  <c:x val="-4.7338188798554649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EED-4D0A-9FDA-0CADEA555903}"/>
                </c:ext>
              </c:extLst>
            </c:dLbl>
            <c:dLbl>
              <c:idx val="5"/>
              <c:layout>
                <c:manualLayout>
                  <c:x val="-4.7338188798554649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EED-4D0A-9FDA-0CADEA55590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0.43</c:v>
                </c:pt>
                <c:pt idx="1">
                  <c:v>0.65</c:v>
                </c:pt>
                <c:pt idx="2">
                  <c:v>0.54</c:v>
                </c:pt>
                <c:pt idx="3">
                  <c:v>0.56999999999999995</c:v>
                </c:pt>
                <c:pt idx="4">
                  <c:v>0.56000000000000005</c:v>
                </c:pt>
                <c:pt idx="5">
                  <c:v>0.52</c:v>
                </c:pt>
              </c:numCache>
            </c:numRef>
          </c:val>
          <c:smooth val="0"/>
          <c:extLst>
            <c:ext xmlns:c16="http://schemas.microsoft.com/office/drawing/2014/chart" uri="{C3380CC4-5D6E-409C-BE32-E72D297353CC}">
              <c16:uniqueId val="{00000006-FEED-4D0A-9FDA-0CADEA555903}"/>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349-4CF2-9527-8F14B59A9393}"/>
                </c:ext>
              </c:extLst>
            </c:dLbl>
            <c:dLbl>
              <c:idx val="1"/>
              <c:layout>
                <c:manualLayout>
                  <c:x val="-4.7338188798554649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349-4CF2-9527-8F14B59A9393}"/>
                </c:ext>
              </c:extLst>
            </c:dLbl>
            <c:dLbl>
              <c:idx val="2"/>
              <c:layout>
                <c:manualLayout>
                  <c:x val="-4.7338188798554649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349-4CF2-9527-8F14B59A9393}"/>
                </c:ext>
              </c:extLst>
            </c:dLbl>
            <c:dLbl>
              <c:idx val="3"/>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349-4CF2-9527-8F14B59A9393}"/>
                </c:ext>
              </c:extLst>
            </c:dLbl>
            <c:dLbl>
              <c:idx val="4"/>
              <c:layout>
                <c:manualLayout>
                  <c:x val="-4.7338188798554649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349-4CF2-9527-8F14B59A9393}"/>
                </c:ext>
              </c:extLst>
            </c:dLbl>
            <c:dLbl>
              <c:idx val="5"/>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349-4CF2-9527-8F14B59A939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0.43</c:v>
                </c:pt>
                <c:pt idx="1">
                  <c:v>0.55000000000000004</c:v>
                </c:pt>
                <c:pt idx="2">
                  <c:v>0.46</c:v>
                </c:pt>
                <c:pt idx="3">
                  <c:v>0.43</c:v>
                </c:pt>
                <c:pt idx="4">
                  <c:v>0.56000000000000005</c:v>
                </c:pt>
                <c:pt idx="5">
                  <c:v>0.48</c:v>
                </c:pt>
              </c:numCache>
            </c:numRef>
          </c:val>
          <c:smooth val="0"/>
          <c:extLst>
            <c:ext xmlns:c16="http://schemas.microsoft.com/office/drawing/2014/chart" uri="{C3380CC4-5D6E-409C-BE32-E72D297353CC}">
              <c16:uniqueId val="{00000006-7349-4CF2-9527-8F14B59A9393}"/>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8C5-41AB-ADA8-9003939EAFC5}"/>
                </c:ext>
              </c:extLst>
            </c:dLbl>
            <c:dLbl>
              <c:idx val="1"/>
              <c:layout>
                <c:manualLayout>
                  <c:x val="-4.7338188798554649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8C5-41AB-ADA8-9003939EAFC5}"/>
                </c:ext>
              </c:extLst>
            </c:dLbl>
            <c:dLbl>
              <c:idx val="2"/>
              <c:layout>
                <c:manualLayout>
                  <c:x val="-4.7338188798554649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8C5-41AB-ADA8-9003939EAFC5}"/>
                </c:ext>
              </c:extLst>
            </c:dLbl>
            <c:dLbl>
              <c:idx val="3"/>
              <c:layout>
                <c:manualLayout>
                  <c:x val="-4.7338188798554649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8C5-41AB-ADA8-9003939EAFC5}"/>
                </c:ext>
              </c:extLst>
            </c:dLbl>
            <c:dLbl>
              <c:idx val="4"/>
              <c:layout>
                <c:manualLayout>
                  <c:x val="-4.7338188798554649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8C5-41AB-ADA8-9003939EAFC5}"/>
                </c:ext>
              </c:extLst>
            </c:dLbl>
            <c:dLbl>
              <c:idx val="5"/>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8C5-41AB-ADA8-9003939EAFC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0.5</c:v>
                </c:pt>
                <c:pt idx="1">
                  <c:v>0.65</c:v>
                </c:pt>
                <c:pt idx="2">
                  <c:v>0.38</c:v>
                </c:pt>
                <c:pt idx="3">
                  <c:v>0.38</c:v>
                </c:pt>
                <c:pt idx="4">
                  <c:v>0.36</c:v>
                </c:pt>
                <c:pt idx="5">
                  <c:v>0.48</c:v>
                </c:pt>
              </c:numCache>
            </c:numRef>
          </c:val>
          <c:smooth val="0"/>
          <c:extLst>
            <c:ext xmlns:c16="http://schemas.microsoft.com/office/drawing/2014/chart" uri="{C3380CC4-5D6E-409C-BE32-E72D297353CC}">
              <c16:uniqueId val="{00000006-A8C5-41AB-ADA8-9003939EAFC5}"/>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C3</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DE7-487B-BD38-0AB79E2A94CA}"/>
                </c:ext>
              </c:extLst>
            </c:dLbl>
            <c:dLbl>
              <c:idx val="1"/>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DE7-487B-BD38-0AB79E2A94CA}"/>
                </c:ext>
              </c:extLst>
            </c:dLbl>
            <c:dLbl>
              <c:idx val="2"/>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DE7-487B-BD38-0AB79E2A94CA}"/>
                </c:ext>
              </c:extLst>
            </c:dLbl>
            <c:dLbl>
              <c:idx val="3"/>
              <c:layout>
                <c:manualLayout>
                  <c:x val="-4.7338188798554649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DE7-487B-BD38-0AB79E2A94CA}"/>
                </c:ext>
              </c:extLst>
            </c:dLbl>
            <c:dLbl>
              <c:idx val="4"/>
              <c:layout>
                <c:manualLayout>
                  <c:x val="-4.7338188798554649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DE7-487B-BD38-0AB79E2A94CA}"/>
                </c:ext>
              </c:extLst>
            </c:dLbl>
            <c:dLbl>
              <c:idx val="5"/>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DE7-487B-BD38-0AB79E2A94C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0.28999999999999998</c:v>
                </c:pt>
                <c:pt idx="1">
                  <c:v>0.35</c:v>
                </c:pt>
                <c:pt idx="2">
                  <c:v>0.5</c:v>
                </c:pt>
                <c:pt idx="3">
                  <c:v>0.33</c:v>
                </c:pt>
                <c:pt idx="4">
                  <c:v>0.44</c:v>
                </c:pt>
                <c:pt idx="5">
                  <c:v>0.48</c:v>
                </c:pt>
              </c:numCache>
            </c:numRef>
          </c:val>
          <c:smooth val="0"/>
          <c:extLst>
            <c:ext xmlns:c16="http://schemas.microsoft.com/office/drawing/2014/chart" uri="{C3380CC4-5D6E-409C-BE32-E72D297353CC}">
              <c16:uniqueId val="{00000006-DDE7-487B-BD38-0AB79E2A94CA}"/>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3F5-43DE-8EF1-73308D567F37}"/>
                </c:ext>
              </c:extLst>
            </c:dLbl>
            <c:dLbl>
              <c:idx val="1"/>
              <c:layout>
                <c:manualLayout>
                  <c:x val="-4.7338188798554649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3F5-43DE-8EF1-73308D567F37}"/>
                </c:ext>
              </c:extLst>
            </c:dLbl>
            <c:dLbl>
              <c:idx val="2"/>
              <c:layout>
                <c:manualLayout>
                  <c:x val="-4.7338188798554649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3F5-43DE-8EF1-73308D567F37}"/>
                </c:ext>
              </c:extLst>
            </c:dLbl>
            <c:dLbl>
              <c:idx val="3"/>
              <c:layout>
                <c:manualLayout>
                  <c:x val="-4.7338188798554649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F5-43DE-8EF1-73308D567F37}"/>
                </c:ext>
              </c:extLst>
            </c:dLbl>
            <c:dLbl>
              <c:idx val="4"/>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3F5-43DE-8EF1-73308D567F37}"/>
                </c:ext>
              </c:extLst>
            </c:dLbl>
            <c:dLbl>
              <c:idx val="5"/>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3F5-43DE-8EF1-73308D567F3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0.25</c:v>
                </c:pt>
                <c:pt idx="1">
                  <c:v>0.65</c:v>
                </c:pt>
                <c:pt idx="2">
                  <c:v>0.38</c:v>
                </c:pt>
                <c:pt idx="3">
                  <c:v>0.33</c:v>
                </c:pt>
                <c:pt idx="4">
                  <c:v>0.48</c:v>
                </c:pt>
                <c:pt idx="5">
                  <c:v>0.35</c:v>
                </c:pt>
              </c:numCache>
            </c:numRef>
          </c:val>
          <c:smooth val="0"/>
          <c:extLst>
            <c:ext xmlns:c16="http://schemas.microsoft.com/office/drawing/2014/chart" uri="{C3380CC4-5D6E-409C-BE32-E72D297353CC}">
              <c16:uniqueId val="{00000006-93F5-43DE-8EF1-73308D567F37}"/>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C9</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172-4C34-8DC0-CE5699CACDE0}"/>
                </c:ext>
              </c:extLst>
            </c:dLbl>
            <c:dLbl>
              <c:idx val="1"/>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172-4C34-8DC0-CE5699CACDE0}"/>
                </c:ext>
              </c:extLst>
            </c:dLbl>
            <c:dLbl>
              <c:idx val="2"/>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172-4C34-8DC0-CE5699CACDE0}"/>
                </c:ext>
              </c:extLst>
            </c:dLbl>
            <c:dLbl>
              <c:idx val="3"/>
              <c:layout>
                <c:manualLayout>
                  <c:x val="-4.7338188798554649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172-4C34-8DC0-CE5699CACDE0}"/>
                </c:ext>
              </c:extLst>
            </c:dLbl>
            <c:dLbl>
              <c:idx val="4"/>
              <c:layout>
                <c:manualLayout>
                  <c:x val="-4.7338188798554649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172-4C34-8DC0-CE5699CACDE0}"/>
                </c:ext>
              </c:extLst>
            </c:dLbl>
            <c:dLbl>
              <c:idx val="5"/>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172-4C34-8DC0-CE5699CACDE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0.39</c:v>
                </c:pt>
                <c:pt idx="1">
                  <c:v>0.35</c:v>
                </c:pt>
                <c:pt idx="2">
                  <c:v>0.35</c:v>
                </c:pt>
                <c:pt idx="3">
                  <c:v>0.33</c:v>
                </c:pt>
                <c:pt idx="4">
                  <c:v>0.44</c:v>
                </c:pt>
                <c:pt idx="5">
                  <c:v>0.35</c:v>
                </c:pt>
              </c:numCache>
            </c:numRef>
          </c:val>
          <c:smooth val="0"/>
          <c:extLst>
            <c:ext xmlns:c16="http://schemas.microsoft.com/office/drawing/2014/chart" uri="{C3380CC4-5D6E-409C-BE32-E72D297353CC}">
              <c16:uniqueId val="{00000006-B172-4C34-8DC0-CE5699CACDE0}"/>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C19</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3109963768115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6A0-4EE6-AA4B-4D357C6997E8}"/>
                </c:ext>
              </c:extLst>
            </c:dLbl>
            <c:dLbl>
              <c:idx val="1"/>
              <c:layout>
                <c:manualLayout>
                  <c:x val="-4.7338188798554649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6A0-4EE6-AA4B-4D357C6997E8}"/>
                </c:ext>
              </c:extLst>
            </c:dLbl>
            <c:dLbl>
              <c:idx val="2"/>
              <c:layout>
                <c:manualLayout>
                  <c:x val="-4.7338188798554649E-2"/>
                  <c:y val="-0.279716183574879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A0-4EE6-AA4B-4D357C6997E8}"/>
                </c:ext>
              </c:extLst>
            </c:dLbl>
            <c:dLbl>
              <c:idx val="3"/>
              <c:layout>
                <c:manualLayout>
                  <c:x val="-4.7338188798554649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6A0-4EE6-AA4B-4D357C6997E8}"/>
                </c:ext>
              </c:extLst>
            </c:dLbl>
            <c:dLbl>
              <c:idx val="4"/>
              <c:layout>
                <c:manualLayout>
                  <c:x val="-4.7338188798554649E-2"/>
                  <c:y val="-0.278152173913043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6A0-4EE6-AA4B-4D357C6997E8}"/>
                </c:ext>
              </c:extLst>
            </c:dLbl>
            <c:dLbl>
              <c:idx val="5"/>
              <c:layout>
                <c:manualLayout>
                  <c:x val="-4.7338188798554649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6A0-4EE6-AA4B-4D357C6997E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0.11</c:v>
                </c:pt>
                <c:pt idx="1">
                  <c:v>0.35</c:v>
                </c:pt>
                <c:pt idx="2">
                  <c:v>0.31</c:v>
                </c:pt>
                <c:pt idx="3">
                  <c:v>0.33</c:v>
                </c:pt>
                <c:pt idx="4">
                  <c:v>0.32</c:v>
                </c:pt>
                <c:pt idx="5">
                  <c:v>0.3</c:v>
                </c:pt>
              </c:numCache>
            </c:numRef>
          </c:val>
          <c:smooth val="0"/>
          <c:extLst>
            <c:ext xmlns:c16="http://schemas.microsoft.com/office/drawing/2014/chart" uri="{C3380CC4-5D6E-409C-BE32-E72D297353CC}">
              <c16:uniqueId val="{00000006-26A0-4EE6-AA4B-4D357C6997E8}"/>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C4</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21A-4D9A-9EBD-613C76A22245}"/>
                </c:ext>
              </c:extLst>
            </c:dLbl>
            <c:dLbl>
              <c:idx val="1"/>
              <c:layout>
                <c:manualLayout>
                  <c:x val="-4.7338188798554649E-2"/>
                  <c:y val="-0.26564009661835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21A-4D9A-9EBD-613C76A22245}"/>
                </c:ext>
              </c:extLst>
            </c:dLbl>
            <c:dLbl>
              <c:idx val="2"/>
              <c:layout>
                <c:manualLayout>
                  <c:x val="-4.7338188798554649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1A-4D9A-9EBD-613C76A22245}"/>
                </c:ext>
              </c:extLst>
            </c:dLbl>
            <c:dLbl>
              <c:idx val="3"/>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1A-4D9A-9EBD-613C76A22245}"/>
                </c:ext>
              </c:extLst>
            </c:dLbl>
            <c:dLbl>
              <c:idx val="4"/>
              <c:layout>
                <c:manualLayout>
                  <c:x val="-4.7338188798554649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21A-4D9A-9EBD-613C76A22245}"/>
                </c:ext>
              </c:extLst>
            </c:dLbl>
            <c:dLbl>
              <c:idx val="5"/>
              <c:layout>
                <c:manualLayout>
                  <c:x val="-4.7338188798554649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1A-4D9A-9EBD-613C76A2224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0.39</c:v>
                </c:pt>
                <c:pt idx="1">
                  <c:v>0.4</c:v>
                </c:pt>
                <c:pt idx="2">
                  <c:v>0.46</c:v>
                </c:pt>
                <c:pt idx="3">
                  <c:v>0.43</c:v>
                </c:pt>
                <c:pt idx="4">
                  <c:v>0.56000000000000005</c:v>
                </c:pt>
                <c:pt idx="5">
                  <c:v>0.3</c:v>
                </c:pt>
              </c:numCache>
            </c:numRef>
          </c:val>
          <c:smooth val="0"/>
          <c:extLst>
            <c:ext xmlns:c16="http://schemas.microsoft.com/office/drawing/2014/chart" uri="{C3380CC4-5D6E-409C-BE32-E72D297353CC}">
              <c16:uniqueId val="{00000006-321A-4D9A-9EBD-613C76A22245}"/>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C22</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AF8-46B7-95D2-2151D1104EE1}"/>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AF8-46B7-95D2-2151D1104EE1}"/>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AF8-46B7-95D2-2151D1104EE1}"/>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AF8-46B7-95D2-2151D1104EE1}"/>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AF8-46B7-95D2-2151D1104EE1}"/>
                </c:ext>
              </c:extLst>
            </c:dLbl>
            <c:dLbl>
              <c:idx val="5"/>
              <c:layout>
                <c:manualLayout>
                  <c:x val="-4.7338188798554649E-2"/>
                  <c:y val="-0.287536231884057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AF8-46B7-95D2-2151D1104EE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0.26</c:v>
                </c:pt>
              </c:numCache>
            </c:numRef>
          </c:val>
          <c:smooth val="0"/>
          <c:extLst>
            <c:ext xmlns:c16="http://schemas.microsoft.com/office/drawing/2014/chart" uri="{C3380CC4-5D6E-409C-BE32-E72D297353CC}">
              <c16:uniqueId val="{00000006-AAF8-46B7-95D2-2151D1104EE1}"/>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C20</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610-45B7-9245-2FFFAC92E69D}"/>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610-45B7-9245-2FFFAC92E69D}"/>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610-45B7-9245-2FFFAC92E69D}"/>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610-45B7-9245-2FFFAC92E69D}"/>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610-45B7-9245-2FFFAC92E69D}"/>
                </c:ext>
              </c:extLst>
            </c:dLbl>
            <c:dLbl>
              <c:idx val="5"/>
              <c:layout>
                <c:manualLayout>
                  <c:x val="-4.7338188798554649E-2"/>
                  <c:y val="-0.2937922705314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610-45B7-9245-2FFFAC92E69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0.22</c:v>
                </c:pt>
              </c:numCache>
            </c:numRef>
          </c:val>
          <c:smooth val="0"/>
          <c:extLst>
            <c:ext xmlns:c16="http://schemas.microsoft.com/office/drawing/2014/chart" uri="{C3380CC4-5D6E-409C-BE32-E72D297353CC}">
              <c16:uniqueId val="{00000006-C610-45B7-9245-2FFFAC92E69D}"/>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C17</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95356280193236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E2F-440B-BE81-A19E9AD7FA34}"/>
                </c:ext>
              </c:extLst>
            </c:dLbl>
            <c:dLbl>
              <c:idx val="1"/>
              <c:layout>
                <c:manualLayout>
                  <c:x val="-4.7338188798554649E-2"/>
                  <c:y val="-0.29692028985507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E2F-440B-BE81-A19E9AD7FA34}"/>
                </c:ext>
              </c:extLst>
            </c:dLbl>
            <c:dLbl>
              <c:idx val="2"/>
              <c:layout>
                <c:manualLayout>
                  <c:x val="-4.7338188798554649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E2F-440B-BE81-A19E9AD7FA34}"/>
                </c:ext>
              </c:extLst>
            </c:dLbl>
            <c:dLbl>
              <c:idx val="3"/>
              <c:layout>
                <c:manualLayout>
                  <c:x val="-4.7338188798554649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E2F-440B-BE81-A19E9AD7FA34}"/>
                </c:ext>
              </c:extLst>
            </c:dLbl>
            <c:dLbl>
              <c:idx val="4"/>
              <c:layout>
                <c:manualLayout>
                  <c:x val="-4.7338188798554649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E2F-440B-BE81-A19E9AD7FA34}"/>
                </c:ext>
              </c:extLst>
            </c:dLbl>
            <c:dLbl>
              <c:idx val="5"/>
              <c:layout>
                <c:manualLayout>
                  <c:x val="-4.7338188798554649E-2"/>
                  <c:y val="-0.301612318840579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E2F-440B-BE81-A19E9AD7FA3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0.21</c:v>
                </c:pt>
                <c:pt idx="1">
                  <c:v>0.2</c:v>
                </c:pt>
                <c:pt idx="2">
                  <c:v>0.38</c:v>
                </c:pt>
                <c:pt idx="3">
                  <c:v>0.38</c:v>
                </c:pt>
                <c:pt idx="4">
                  <c:v>0.52</c:v>
                </c:pt>
                <c:pt idx="5">
                  <c:v>0.17</c:v>
                </c:pt>
              </c:numCache>
            </c:numRef>
          </c:val>
          <c:smooth val="0"/>
          <c:extLst>
            <c:ext xmlns:c16="http://schemas.microsoft.com/office/drawing/2014/chart" uri="{C3380CC4-5D6E-409C-BE32-E72D297353CC}">
              <c16:uniqueId val="{00000006-AE2F-440B-BE81-A19E9AD7FA34}"/>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C21</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5C-4139-A749-E1C5E5F6873F}"/>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5C-4139-A749-E1C5E5F6873F}"/>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F5C-4139-A749-E1C5E5F6873F}"/>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F5C-4139-A749-E1C5E5F6873F}"/>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F5C-4139-A749-E1C5E5F6873F}"/>
                </c:ext>
              </c:extLst>
            </c:dLbl>
            <c:dLbl>
              <c:idx val="5"/>
              <c:layout>
                <c:manualLayout>
                  <c:x val="-4.0160794941282746E-2"/>
                  <c:y val="-0.321944444444444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F5C-4139-A749-E1C5E5F6873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0.04</c:v>
                </c:pt>
              </c:numCache>
            </c:numRef>
          </c:val>
          <c:smooth val="0"/>
          <c:extLst>
            <c:ext xmlns:c16="http://schemas.microsoft.com/office/drawing/2014/chart" uri="{C3380CC4-5D6E-409C-BE32-E72D297353CC}">
              <c16:uniqueId val="{00000006-8F5C-4139-A749-E1C5E5F6873F}"/>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C6</c:v>
                </c:pt>
                <c:pt idx="1">
                  <c:v>Take CREON every meal, every snack, every day.</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764-4B9C-9633-C142ED2982C5}"/>
                </c:ext>
              </c:extLst>
            </c:dLbl>
            <c:dLbl>
              <c:idx val="1"/>
              <c:layout>
                <c:manualLayout>
                  <c:x val="-4.7338188798554649E-2"/>
                  <c:y val="-0.223411835748792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764-4B9C-9633-C142ED2982C5}"/>
                </c:ext>
              </c:extLst>
            </c:dLbl>
            <c:dLbl>
              <c:idx val="2"/>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764-4B9C-9633-C142ED2982C5}"/>
                </c:ext>
              </c:extLst>
            </c:dLbl>
            <c:dLbl>
              <c:idx val="3"/>
              <c:layout>
                <c:manualLayout>
                  <c:x val="-4.7338188798554649E-2"/>
                  <c:y val="-0.221847826086956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764-4B9C-9633-C142ED2982C5}"/>
                </c:ext>
              </c:extLst>
            </c:dLbl>
            <c:dLbl>
              <c:idx val="4"/>
              <c:layout>
                <c:manualLayout>
                  <c:x val="-4.7338188798554649E-2"/>
                  <c:y val="-0.2140277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764-4B9C-9633-C142ED2982C5}"/>
                </c:ext>
              </c:extLst>
            </c:dLbl>
            <c:dLbl>
              <c:idx val="5"/>
              <c:layout>
                <c:manualLayout>
                  <c:x val="-4.7338188798554649E-2"/>
                  <c:y val="-0.210899758454106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764-4B9C-9633-C142ED2982C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0.71</c:v>
                </c:pt>
                <c:pt idx="1">
                  <c:v>0.67</c:v>
                </c:pt>
                <c:pt idx="2">
                  <c:v>0.56999999999999995</c:v>
                </c:pt>
                <c:pt idx="3">
                  <c:v>0.68</c:v>
                </c:pt>
                <c:pt idx="4">
                  <c:v>0.73</c:v>
                </c:pt>
                <c:pt idx="5">
                  <c:v>0.75</c:v>
                </c:pt>
              </c:numCache>
            </c:numRef>
          </c:val>
          <c:smooth val="0"/>
          <c:extLst>
            <c:ext xmlns:c16="http://schemas.microsoft.com/office/drawing/2014/chart" uri="{C3380CC4-5D6E-409C-BE32-E72D297353CC}">
              <c16:uniqueId val="{00000006-05F5-4E34-9974-B7540E25F0DE}"/>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C4</c:v>
                </c:pt>
                <c:pt idx="1">
                  <c:v>EPI is largely a clinical diagnosis based on signs and symptoms and should be considered as part of the differential diagnosis of GI symptoms.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B0C-409F-9259-C98558FD7206}"/>
                </c:ext>
              </c:extLst>
            </c:dLbl>
            <c:dLbl>
              <c:idx val="1"/>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B0C-409F-9259-C98558FD7206}"/>
                </c:ext>
              </c:extLst>
            </c:dLbl>
            <c:dLbl>
              <c:idx val="2"/>
              <c:layout>
                <c:manualLayout>
                  <c:x val="-4.7338188798554649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B0C-409F-9259-C98558FD7206}"/>
                </c:ext>
              </c:extLst>
            </c:dLbl>
            <c:dLbl>
              <c:idx val="3"/>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B0C-409F-9259-C98558FD7206}"/>
                </c:ext>
              </c:extLst>
            </c:dLbl>
            <c:dLbl>
              <c:idx val="4"/>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B0C-409F-9259-C98558FD7206}"/>
                </c:ext>
              </c:extLst>
            </c:dLbl>
            <c:dLbl>
              <c:idx val="5"/>
              <c:layout>
                <c:manualLayout>
                  <c:x val="-4.7338188798554649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B0C-409F-9259-C98558FD720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0.43</c:v>
                </c:pt>
                <c:pt idx="1">
                  <c:v>0.28999999999999998</c:v>
                </c:pt>
                <c:pt idx="2">
                  <c:v>0.46</c:v>
                </c:pt>
                <c:pt idx="3">
                  <c:v>0.5</c:v>
                </c:pt>
                <c:pt idx="4">
                  <c:v>0.43</c:v>
                </c:pt>
                <c:pt idx="5">
                  <c:v>0.64</c:v>
                </c:pt>
              </c:numCache>
            </c:numRef>
          </c:val>
          <c:smooth val="0"/>
          <c:extLst>
            <c:ext xmlns:c16="http://schemas.microsoft.com/office/drawing/2014/chart" uri="{C3380CC4-5D6E-409C-BE32-E72D297353CC}">
              <c16:uniqueId val="{00000006-FB0C-409F-9259-C98558FD7206}"/>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C3</c:v>
                </c:pt>
                <c:pt idx="1">
                  <c:v>Exocrine Pancreatic Insufficiency (EPI) is under-recognized and can have an impact on nutritional health and quality of life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23411835748792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5F-48E5-AA41-42AC1D0993D1}"/>
                </c:ext>
              </c:extLst>
            </c:dLbl>
            <c:dLbl>
              <c:idx val="1"/>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5F-48E5-AA41-42AC1D0993D1}"/>
                </c:ext>
              </c:extLst>
            </c:dLbl>
            <c:dLbl>
              <c:idx val="2"/>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E5F-48E5-AA41-42AC1D0993D1}"/>
                </c:ext>
              </c:extLst>
            </c:dLbl>
            <c:dLbl>
              <c:idx val="3"/>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5F-48E5-AA41-42AC1D0993D1}"/>
                </c:ext>
              </c:extLst>
            </c:dLbl>
            <c:dLbl>
              <c:idx val="4"/>
              <c:layout>
                <c:manualLayout>
                  <c:x val="-4.7338188798554649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5F-48E5-AA41-42AC1D0993D1}"/>
                </c:ext>
              </c:extLst>
            </c:dLbl>
            <c:dLbl>
              <c:idx val="5"/>
              <c:layout>
                <c:manualLayout>
                  <c:x val="-4.7338188798554649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5F-48E5-AA41-42AC1D0993D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0.67</c:v>
                </c:pt>
                <c:pt idx="1">
                  <c:v>0.48</c:v>
                </c:pt>
                <c:pt idx="2">
                  <c:v>0.5</c:v>
                </c:pt>
                <c:pt idx="3">
                  <c:v>0.56999999999999995</c:v>
                </c:pt>
                <c:pt idx="4">
                  <c:v>0.6</c:v>
                </c:pt>
                <c:pt idx="5">
                  <c:v>0.61</c:v>
                </c:pt>
              </c:numCache>
            </c:numRef>
          </c:val>
          <c:smooth val="0"/>
          <c:extLst>
            <c:ext xmlns:c16="http://schemas.microsoft.com/office/drawing/2014/chart" uri="{C3380CC4-5D6E-409C-BE32-E72D297353CC}">
              <c16:uniqueId val="{00000006-CE5F-48E5-AA41-42AC1D0993D1}"/>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C7</c:v>
                </c:pt>
                <c:pt idx="1">
                  <c:v>CREON 36K capsules can be an appropriate dose for many adults.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534-458A-8640-1DB019A2E709}"/>
                </c:ext>
              </c:extLst>
            </c:dLbl>
            <c:dLbl>
              <c:idx val="1"/>
              <c:layout>
                <c:manualLayout>
                  <c:x val="-4.7338188798554649E-2"/>
                  <c:y val="-0.223411835748792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534-458A-8640-1DB019A2E709}"/>
                </c:ext>
              </c:extLst>
            </c:dLbl>
            <c:dLbl>
              <c:idx val="2"/>
              <c:layout>
                <c:manualLayout>
                  <c:x val="-4.7338188798554649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534-458A-8640-1DB019A2E709}"/>
                </c:ext>
              </c:extLst>
            </c:dLbl>
            <c:dLbl>
              <c:idx val="3"/>
              <c:layout>
                <c:manualLayout>
                  <c:x val="-4.7338188798554649E-2"/>
                  <c:y val="-0.221847826086956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534-458A-8640-1DB019A2E709}"/>
                </c:ext>
              </c:extLst>
            </c:dLbl>
            <c:dLbl>
              <c:idx val="4"/>
              <c:layout>
                <c:manualLayout>
                  <c:x val="-4.7338188798554649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534-458A-8640-1DB019A2E709}"/>
                </c:ext>
              </c:extLst>
            </c:dLbl>
            <c:dLbl>
              <c:idx val="5"/>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534-458A-8640-1DB019A2E70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0.71</c:v>
                </c:pt>
                <c:pt idx="1">
                  <c:v>0.67</c:v>
                </c:pt>
                <c:pt idx="2">
                  <c:v>0.64</c:v>
                </c:pt>
                <c:pt idx="3">
                  <c:v>0.68</c:v>
                </c:pt>
                <c:pt idx="4">
                  <c:v>0.7</c:v>
                </c:pt>
                <c:pt idx="5">
                  <c:v>0.56999999999999995</c:v>
                </c:pt>
              </c:numCache>
            </c:numRef>
          </c:val>
          <c:smooth val="0"/>
          <c:extLst>
            <c:ext xmlns:c16="http://schemas.microsoft.com/office/drawing/2014/chart" uri="{C3380CC4-5D6E-409C-BE32-E72D297353CC}">
              <c16:uniqueId val="{00000006-3534-458A-8640-1DB019A2E709}"/>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C11</c:v>
                </c:pt>
                <c:pt idx="1">
                  <c:v>95% of commercially eligible patients pay $5 or less for their CREON prescription with the CREON Complete Savings card.</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CBB-4C5F-BCD2-61CE819CA691}"/>
                </c:ext>
              </c:extLst>
            </c:dLbl>
            <c:dLbl>
              <c:idx val="1"/>
              <c:layout>
                <c:manualLayout>
                  <c:x val="-4.7338188798554649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CBB-4C5F-BCD2-61CE819CA691}"/>
                </c:ext>
              </c:extLst>
            </c:dLbl>
            <c:dLbl>
              <c:idx val="2"/>
              <c:layout>
                <c:manualLayout>
                  <c:x val="-4.7338188798554649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CBB-4C5F-BCD2-61CE819CA691}"/>
                </c:ext>
              </c:extLst>
            </c:dLbl>
            <c:dLbl>
              <c:idx val="3"/>
              <c:layout>
                <c:manualLayout>
                  <c:x val="-4.7338188798554649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CBB-4C5F-BCD2-61CE819CA691}"/>
                </c:ext>
              </c:extLst>
            </c:dLbl>
            <c:dLbl>
              <c:idx val="4"/>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CBB-4C5F-BCD2-61CE819CA691}"/>
                </c:ext>
              </c:extLst>
            </c:dLbl>
            <c:dLbl>
              <c:idx val="5"/>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CBB-4C5F-BCD2-61CE819CA69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0.48</c:v>
                </c:pt>
                <c:pt idx="1">
                  <c:v>0.62</c:v>
                </c:pt>
                <c:pt idx="2">
                  <c:v>0.46</c:v>
                </c:pt>
                <c:pt idx="3">
                  <c:v>0.71</c:v>
                </c:pt>
                <c:pt idx="4">
                  <c:v>0.56999999999999995</c:v>
                </c:pt>
                <c:pt idx="5">
                  <c:v>0.5</c:v>
                </c:pt>
              </c:numCache>
            </c:numRef>
          </c:val>
          <c:smooth val="0"/>
          <c:extLst>
            <c:ext xmlns:c16="http://schemas.microsoft.com/office/drawing/2014/chart" uri="{C3380CC4-5D6E-409C-BE32-E72D297353CC}">
              <c16:uniqueId val="{00000006-DCBB-4C5F-BCD2-61CE819CA691}"/>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C21</c:v>
                </c:pt>
                <c:pt idx="1">
                  <c:v>CREON Complete may help patients start and stay on track with their treatment.</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0D1-4E5D-85FE-7DCF0DB97A47}"/>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0D1-4E5D-85FE-7DCF0DB97A47}"/>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0D1-4E5D-85FE-7DCF0DB97A47}"/>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0D1-4E5D-85FE-7DCF0DB97A47}"/>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0D1-4E5D-85FE-7DCF0DB97A47}"/>
                </c:ext>
              </c:extLst>
            </c:dLbl>
            <c:dLbl>
              <c:idx val="5"/>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0D1-4E5D-85FE-7DCF0DB97A4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General</c:formatCode>
                <c:ptCount val="6"/>
                <c:pt idx="5" formatCode="0%">
                  <c:v>0.5</c:v>
                </c:pt>
              </c:numCache>
            </c:numRef>
          </c:val>
          <c:smooth val="0"/>
          <c:extLst>
            <c:ext xmlns:c16="http://schemas.microsoft.com/office/drawing/2014/chart" uri="{C3380CC4-5D6E-409C-BE32-E72D297353CC}">
              <c16:uniqueId val="{00000006-50D1-4E5D-85FE-7DCF0DB97A47}"/>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C9</c:v>
                </c:pt>
                <c:pt idx="1">
                  <c:v>CREON significantly improves fat absorption compared with placebo in randomized clinical trials of patients with EPI due to CF, CP, or pancreatectomy.</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D2-430D-8F64-C9D734966E93}"/>
                </c:ext>
              </c:extLst>
            </c:dLbl>
            <c:dLbl>
              <c:idx val="1"/>
              <c:layout>
                <c:manualLayout>
                  <c:x val="-4.7338188798554649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4D2-430D-8F64-C9D734966E93}"/>
                </c:ext>
              </c:extLst>
            </c:dLbl>
            <c:dLbl>
              <c:idx val="2"/>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D2-430D-8F64-C9D734966E93}"/>
                </c:ext>
              </c:extLst>
            </c:dLbl>
            <c:dLbl>
              <c:idx val="3"/>
              <c:layout>
                <c:manualLayout>
                  <c:x val="-4.7338188798554649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D2-430D-8F64-C9D734966E93}"/>
                </c:ext>
              </c:extLst>
            </c:dLbl>
            <c:dLbl>
              <c:idx val="4"/>
              <c:layout>
                <c:manualLayout>
                  <c:x val="-4.7338188798554649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D2-430D-8F64-C9D734966E93}"/>
                </c:ext>
              </c:extLst>
            </c:dLbl>
            <c:dLbl>
              <c:idx val="5"/>
              <c:layout>
                <c:manualLayout>
                  <c:x val="-4.73381887985546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4D2-430D-8F64-C9D734966E9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0.43</c:v>
                </c:pt>
                <c:pt idx="1">
                  <c:v>0.56999999999999995</c:v>
                </c:pt>
                <c:pt idx="2">
                  <c:v>0.28999999999999998</c:v>
                </c:pt>
                <c:pt idx="3">
                  <c:v>0.54</c:v>
                </c:pt>
                <c:pt idx="4">
                  <c:v>0.37</c:v>
                </c:pt>
                <c:pt idx="5">
                  <c:v>0.5</c:v>
                </c:pt>
              </c:numCache>
            </c:numRef>
          </c:val>
          <c:smooth val="0"/>
          <c:extLst>
            <c:ext xmlns:c16="http://schemas.microsoft.com/office/drawing/2014/chart" uri="{C3380CC4-5D6E-409C-BE32-E72D297353CC}">
              <c16:uniqueId val="{00000006-34D2-430D-8F64-C9D734966E93}"/>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C1</c:v>
                </c:pt>
                <c:pt idx="1">
                  <c:v>CREON maintains category leading coverage: 89% of national commercial and Medicare Part D insured lives have preferred access to CREON with the lowest branded copay, without a prior authorization.</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DA-477B-BC82-BA11D29A1F25}"/>
                </c:ext>
              </c:extLst>
            </c:dLbl>
            <c:dLbl>
              <c:idx val="1"/>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DA-477B-BC82-BA11D29A1F25}"/>
                </c:ext>
              </c:extLst>
            </c:dLbl>
            <c:dLbl>
              <c:idx val="2"/>
              <c:layout>
                <c:manualLayout>
                  <c:x val="-4.7338188798554649E-2"/>
                  <c:y val="-0.278152173913043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DA-477B-BC82-BA11D29A1F25}"/>
                </c:ext>
              </c:extLst>
            </c:dLbl>
            <c:dLbl>
              <c:idx val="3"/>
              <c:layout>
                <c:manualLayout>
                  <c:x val="-4.7338188798554649E-2"/>
                  <c:y val="-0.295356280193236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DA-477B-BC82-BA11D29A1F25}"/>
                </c:ext>
              </c:extLst>
            </c:dLbl>
            <c:dLbl>
              <c:idx val="4"/>
              <c:layout>
                <c:manualLayout>
                  <c:x val="-4.7338188798554649E-2"/>
                  <c:y val="-0.292228260869565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EDA-477B-BC82-BA11D29A1F25}"/>
                </c:ext>
              </c:extLst>
            </c:dLbl>
            <c:dLbl>
              <c:idx val="5"/>
              <c:layout>
                <c:manualLayout>
                  <c:x val="-4.7338188798554649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EDA-477B-BC82-BA11D29A1F2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0.28999999999999998</c:v>
                </c:pt>
                <c:pt idx="1">
                  <c:v>0.43</c:v>
                </c:pt>
                <c:pt idx="2">
                  <c:v>0.32</c:v>
                </c:pt>
                <c:pt idx="3">
                  <c:v>0.21</c:v>
                </c:pt>
                <c:pt idx="4">
                  <c:v>0.23</c:v>
                </c:pt>
                <c:pt idx="5">
                  <c:v>0.46</c:v>
                </c:pt>
              </c:numCache>
            </c:numRef>
          </c:val>
          <c:smooth val="0"/>
          <c:extLst>
            <c:ext xmlns:c16="http://schemas.microsoft.com/office/drawing/2014/chart" uri="{C3380CC4-5D6E-409C-BE32-E72D297353CC}">
              <c16:uniqueId val="{00000006-FEDA-477B-BC82-BA11D29A1F25}"/>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C10</c:v>
                </c:pt>
                <c:pt idx="1">
                  <c:v>CREON is the #1 PERT prescribed by Gastroenterologists, Primary Care Physicians, Nurse Practitioners and Physician Assistants.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7DC-49EF-A083-ECBF8E1BDFDA}"/>
                </c:ext>
              </c:extLst>
            </c:dLbl>
            <c:dLbl>
              <c:idx val="1"/>
              <c:layout>
                <c:manualLayout>
                  <c:x val="-4.7338188798554649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7DC-49EF-A083-ECBF8E1BDFDA}"/>
                </c:ext>
              </c:extLst>
            </c:dLbl>
            <c:dLbl>
              <c:idx val="2"/>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7DC-49EF-A083-ECBF8E1BDFDA}"/>
                </c:ext>
              </c:extLst>
            </c:dLbl>
            <c:dLbl>
              <c:idx val="3"/>
              <c:layout>
                <c:manualLayout>
                  <c:x val="-4.7338188798554649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7DC-49EF-A083-ECBF8E1BDFDA}"/>
                </c:ext>
              </c:extLst>
            </c:dLbl>
            <c:dLbl>
              <c:idx val="4"/>
              <c:layout>
                <c:manualLayout>
                  <c:x val="-4.7338188798554649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7DC-49EF-A083-ECBF8E1BDFDA}"/>
                </c:ext>
              </c:extLst>
            </c:dLbl>
            <c:dLbl>
              <c:idx val="5"/>
              <c:layout>
                <c:manualLayout>
                  <c:x val="-4.7338188798554649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7DC-49EF-A083-ECBF8E1BDFD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0.62</c:v>
                </c:pt>
                <c:pt idx="1">
                  <c:v>0.71</c:v>
                </c:pt>
                <c:pt idx="2">
                  <c:v>0.43</c:v>
                </c:pt>
                <c:pt idx="3">
                  <c:v>0.54</c:v>
                </c:pt>
                <c:pt idx="4">
                  <c:v>0.47</c:v>
                </c:pt>
                <c:pt idx="5">
                  <c:v>0.39</c:v>
                </c:pt>
              </c:numCache>
            </c:numRef>
          </c:val>
          <c:smooth val="0"/>
          <c:extLst>
            <c:ext xmlns:c16="http://schemas.microsoft.com/office/drawing/2014/chart" uri="{C3380CC4-5D6E-409C-BE32-E72D297353CC}">
              <c16:uniqueId val="{00000006-27DC-49EF-A083-ECBF8E1BDFDA}"/>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C19</c:v>
                </c:pt>
                <c:pt idx="1">
                  <c:v>Based on the FDA-approved label, CREON is the only PERT specifically studied for patients with EPI due to chronic pancreatitis and pancreatectomy, in addition to cystic fibrosis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2E6-4B26-B861-F28677E55B2B}"/>
                </c:ext>
              </c:extLst>
            </c:dLbl>
            <c:dLbl>
              <c:idx val="1"/>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2E6-4B26-B861-F28677E55B2B}"/>
                </c:ext>
              </c:extLst>
            </c:dLbl>
            <c:dLbl>
              <c:idx val="2"/>
              <c:layout>
                <c:manualLayout>
                  <c:x val="-4.7338188798554649E-2"/>
                  <c:y val="-0.306304347826086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E6-4B26-B861-F28677E55B2B}"/>
                </c:ext>
              </c:extLst>
            </c:dLbl>
            <c:dLbl>
              <c:idx val="3"/>
              <c:layout>
                <c:manualLayout>
                  <c:x val="-4.7338188798554649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E6-4B26-B861-F28677E55B2B}"/>
                </c:ext>
              </c:extLst>
            </c:dLbl>
            <c:dLbl>
              <c:idx val="4"/>
              <c:layout>
                <c:manualLayout>
                  <c:x val="-4.7338188798554649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2E6-4B26-B861-F28677E55B2B}"/>
                </c:ext>
              </c:extLst>
            </c:dLbl>
            <c:dLbl>
              <c:idx val="5"/>
              <c:layout>
                <c:manualLayout>
                  <c:x val="-4.7338188798554649E-2"/>
                  <c:y val="-0.278152173913043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E6-4B26-B861-F28677E55B2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0.43</c:v>
                </c:pt>
                <c:pt idx="1">
                  <c:v>0.28999999999999998</c:v>
                </c:pt>
                <c:pt idx="2">
                  <c:v>0.14000000000000001</c:v>
                </c:pt>
                <c:pt idx="3">
                  <c:v>0.25</c:v>
                </c:pt>
                <c:pt idx="4">
                  <c:v>0.3</c:v>
                </c:pt>
                <c:pt idx="5">
                  <c:v>0.32</c:v>
                </c:pt>
              </c:numCache>
            </c:numRef>
          </c:val>
          <c:smooth val="0"/>
          <c:extLst>
            <c:ext xmlns:c16="http://schemas.microsoft.com/office/drawing/2014/chart" uri="{C3380CC4-5D6E-409C-BE32-E72D297353CC}">
              <c16:uniqueId val="{00000006-32E6-4B26-B861-F28677E55B2B}"/>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C20</c:v>
                </c:pt>
                <c:pt idx="1">
                  <c:v>Significant experience, exceptional patient support, and excellent coverage make CREON a proven partner for patients with EPl.</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01-413C-B8E1-B89C1FE9C936}"/>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001-413C-B8E1-B89C1FE9C936}"/>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001-413C-B8E1-B89C1FE9C936}"/>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001-413C-B8E1-B89C1FE9C936}"/>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001-413C-B8E1-B89C1FE9C936}"/>
                </c:ext>
              </c:extLst>
            </c:dLbl>
            <c:dLbl>
              <c:idx val="5"/>
              <c:layout>
                <c:manualLayout>
                  <c:x val="-4.7338188798554649E-2"/>
                  <c:y val="-0.289100241545893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001-413C-B8E1-B89C1FE9C93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General</c:formatCode>
                <c:ptCount val="6"/>
                <c:pt idx="5" formatCode="0%">
                  <c:v>0.25</c:v>
                </c:pt>
              </c:numCache>
            </c:numRef>
          </c:val>
          <c:smooth val="0"/>
          <c:extLst>
            <c:ext xmlns:c16="http://schemas.microsoft.com/office/drawing/2014/chart" uri="{C3380CC4-5D6E-409C-BE32-E72D297353CC}">
              <c16:uniqueId val="{00000006-B001-413C-B8E1-B89C1FE9C936}"/>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C17</c:v>
                </c:pt>
                <c:pt idx="1">
                  <c:v>More than 8 out of 10 GEs and PCPs prescribe CREON more than other PERTs</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7338188798554649E-2"/>
                  <c:y val="-0.298484299516908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546-433F-8E29-D16CC3C30414}"/>
                </c:ext>
              </c:extLst>
            </c:dLbl>
            <c:dLbl>
              <c:idx val="1"/>
              <c:layout>
                <c:manualLayout>
                  <c:x val="-4.7338188798554649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546-433F-8E29-D16CC3C30414}"/>
                </c:ext>
              </c:extLst>
            </c:dLbl>
            <c:dLbl>
              <c:idx val="2"/>
              <c:layout>
                <c:manualLayout>
                  <c:x val="-4.0160794941282746E-2"/>
                  <c:y val="-0.3172524154589371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546-433F-8E29-D16CC3C30414}"/>
                </c:ext>
              </c:extLst>
            </c:dLbl>
            <c:dLbl>
              <c:idx val="3"/>
              <c:layout>
                <c:manualLayout>
                  <c:x val="-4.7338188798554649E-2"/>
                  <c:y val="-0.306304347826086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546-433F-8E29-D16CC3C30414}"/>
                </c:ext>
              </c:extLst>
            </c:dLbl>
            <c:dLbl>
              <c:idx val="4"/>
              <c:layout>
                <c:manualLayout>
                  <c:x val="-4.7338188798554649E-2"/>
                  <c:y val="-0.312560386473429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546-433F-8E29-D16CC3C30414}"/>
                </c:ext>
              </c:extLst>
            </c:dLbl>
            <c:dLbl>
              <c:idx val="5"/>
              <c:layout>
                <c:manualLayout>
                  <c:x val="-4.7338188798554649E-2"/>
                  <c:y val="-0.300048309178743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546-433F-8E29-D16CC3C3041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0%</c:formatCode>
                <c:ptCount val="6"/>
                <c:pt idx="0">
                  <c:v>0.19</c:v>
                </c:pt>
                <c:pt idx="1">
                  <c:v>0.28999999999999998</c:v>
                </c:pt>
                <c:pt idx="2">
                  <c:v>7.0000000000000007E-2</c:v>
                </c:pt>
                <c:pt idx="3">
                  <c:v>0.14000000000000001</c:v>
                </c:pt>
                <c:pt idx="4">
                  <c:v>0.1</c:v>
                </c:pt>
                <c:pt idx="5">
                  <c:v>0.18</c:v>
                </c:pt>
              </c:numCache>
            </c:numRef>
          </c:val>
          <c:smooth val="0"/>
          <c:extLst>
            <c:ext xmlns:c16="http://schemas.microsoft.com/office/drawing/2014/chart" uri="{C3380CC4-5D6E-409C-BE32-E72D297353CC}">
              <c16:uniqueId val="{00000006-3546-433F-8E29-D16CC3C30414}"/>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C22</c:v>
                </c:pt>
                <c:pt idx="1">
                  <c:v>71% of CREON Medicare Part D patients paid less than $30 in 2024.</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Lbls>
            <c:dLbl>
              <c:idx val="0"/>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377-41BD-A3A1-06B361FE23CF}"/>
                </c:ext>
              </c:extLst>
            </c:dLbl>
            <c:dLbl>
              <c:idx val="1"/>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377-41BD-A3A1-06B361FE23CF}"/>
                </c:ext>
              </c:extLst>
            </c:dLbl>
            <c:dLbl>
              <c:idx val="2"/>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377-41BD-A3A1-06B361FE23CF}"/>
                </c:ext>
              </c:extLst>
            </c:dLbl>
            <c:dLbl>
              <c:idx val="3"/>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377-41BD-A3A1-06B361FE23CF}"/>
                </c:ext>
              </c:extLst>
            </c:dLbl>
            <c:dLbl>
              <c:idx val="4"/>
              <c:layout>
                <c:manualLayout>
                  <c:x val="-4.0160794941282746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377-41BD-A3A1-06B361FE23CF}"/>
                </c:ext>
              </c:extLst>
            </c:dLbl>
            <c:dLbl>
              <c:idx val="5"/>
              <c:layout>
                <c:manualLayout>
                  <c:x val="-4.7338188798554649E-2"/>
                  <c:y val="-0.300048309178743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377-41BD-A3A1-06B361FE23C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(blank)</c:v>
                </c:pt>
                <c:pt idx="1">
                  <c:v>W28 - (blank)</c:v>
                </c:pt>
                <c:pt idx="2">
                  <c:v>W29 - (blank)</c:v>
                </c:pt>
                <c:pt idx="3">
                  <c:v>W30 - (blank)</c:v>
                </c:pt>
                <c:pt idx="4">
                  <c:v>W31 - (blank)</c:v>
                </c:pt>
                <c:pt idx="5">
                  <c:v>W32 - (blank)</c:v>
                </c:pt>
              </c:strCache>
            </c:strRef>
          </c:cat>
          <c:val>
            <c:numRef>
              <c:f>Sheet1!$B$3:$B$8</c:f>
              <c:numCache>
                <c:formatCode>General</c:formatCode>
                <c:ptCount val="6"/>
                <c:pt idx="5" formatCode="0%">
                  <c:v>0.18</c:v>
                </c:pt>
              </c:numCache>
            </c:numRef>
          </c:val>
          <c:smooth val="0"/>
          <c:extLst>
            <c:ext xmlns:c16="http://schemas.microsoft.com/office/drawing/2014/chart" uri="{C3380CC4-5D6E-409C-BE32-E72D297353CC}">
              <c16:uniqueId val="{00000006-6377-41BD-A3A1-06B361FE23CF}"/>
            </c:ext>
          </c:extLst>
        </c:ser>
        <c:dLbls>
          <c:dLblPos val="t"/>
          <c:showLegendKey val="0"/>
          <c:showVal val="1"/>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Z17</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208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1B-49D0-B697-350D60339A8C}"/>
                </c:ext>
              </c:extLst>
            </c:dLbl>
            <c:dLbl>
              <c:idx val="1"/>
              <c:layout>
                <c:manualLayout>
                  <c:x val="-4.7223123366675675E-2"/>
                  <c:y val="-0.2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1B-49D0-B697-350D60339A8C}"/>
                </c:ext>
              </c:extLst>
            </c:dLbl>
            <c:dLbl>
              <c:idx val="2"/>
              <c:layout>
                <c:manualLayout>
                  <c:x val="-4.7223123366675675E-2"/>
                  <c:y val="-0.245522222222222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1B-49D0-B697-350D60339A8C}"/>
                </c:ext>
              </c:extLst>
            </c:dLbl>
            <c:dLbl>
              <c:idx val="3"/>
              <c:layout>
                <c:manualLayout>
                  <c:x val="-4.7223123366675675E-2"/>
                  <c:y val="-0.2477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1B-49D0-B697-350D60339A8C}"/>
                </c:ext>
              </c:extLst>
            </c:dLbl>
            <c:dLbl>
              <c:idx val="4"/>
              <c:layout>
                <c:manualLayout>
                  <c:x val="-4.7223123366675675E-2"/>
                  <c:y val="-0.223133333333333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11B-49D0-B697-350D60339A8C}"/>
                </c:ext>
              </c:extLst>
            </c:dLbl>
            <c:dLbl>
              <c:idx val="5"/>
              <c:layout>
                <c:manualLayout>
                  <c:x val="-4.7223123366675675E-2"/>
                  <c:y val="-0.2052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11B-49D0-B697-350D60339A8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0.63</c:v>
                </c:pt>
                <c:pt idx="1">
                  <c:v>0.6</c:v>
                </c:pt>
                <c:pt idx="2">
                  <c:v>0.52</c:v>
                </c:pt>
                <c:pt idx="3">
                  <c:v>0.51</c:v>
                </c:pt>
                <c:pt idx="4">
                  <c:v>0.62</c:v>
                </c:pt>
                <c:pt idx="5">
                  <c:v>0.7</c:v>
                </c:pt>
              </c:numCache>
            </c:numRef>
          </c:val>
          <c:smooth val="0"/>
          <c:extLst>
            <c:ext xmlns:c16="http://schemas.microsoft.com/office/drawing/2014/chart" uri="{C3380CC4-5D6E-409C-BE32-E72D297353CC}">
              <c16:uniqueId val="{00000006-BDED-41C2-A5D3-538D1898F8D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Z16</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A7-484C-8BE0-E9194170A1E4}"/>
                </c:ext>
              </c:extLst>
            </c:dLbl>
            <c:dLbl>
              <c:idx val="1"/>
              <c:layout>
                <c:manualLayout>
                  <c:x val="-4.7223123366675675E-2"/>
                  <c:y val="-0.2679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0A7-484C-8BE0-E9194170A1E4}"/>
                </c:ext>
              </c:extLst>
            </c:dLbl>
            <c:dLbl>
              <c:idx val="2"/>
              <c:layout>
                <c:manualLayout>
                  <c:x val="-4.7223123366675675E-2"/>
                  <c:y val="-0.245522222222222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0A7-484C-8BE0-E9194170A1E4}"/>
                </c:ext>
              </c:extLst>
            </c:dLbl>
            <c:dLbl>
              <c:idx val="3"/>
              <c:layout>
                <c:manualLayout>
                  <c:x val="-4.7223123366675675E-2"/>
                  <c:y val="-0.245522222222222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0A7-484C-8BE0-E9194170A1E4}"/>
                </c:ext>
              </c:extLst>
            </c:dLbl>
            <c:dLbl>
              <c:idx val="4"/>
              <c:layout>
                <c:manualLayout>
                  <c:x val="-4.7223123366675675E-2"/>
                  <c:y val="-0.2320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0A7-484C-8BE0-E9194170A1E4}"/>
                </c:ext>
              </c:extLst>
            </c:dLbl>
            <c:dLbl>
              <c:idx val="5"/>
              <c:layout>
                <c:manualLayout>
                  <c:x val="-4.7223123366675675E-2"/>
                  <c:y val="-0.236566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0A7-484C-8BE0-E9194170A1E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0.46</c:v>
                </c:pt>
                <c:pt idx="1">
                  <c:v>0.42</c:v>
                </c:pt>
                <c:pt idx="2">
                  <c:v>0.52</c:v>
                </c:pt>
                <c:pt idx="3">
                  <c:v>0.52</c:v>
                </c:pt>
                <c:pt idx="4">
                  <c:v>0.57999999999999996</c:v>
                </c:pt>
                <c:pt idx="5">
                  <c:v>0.56000000000000005</c:v>
                </c:pt>
              </c:numCache>
            </c:numRef>
          </c:val>
          <c:smooth val="0"/>
          <c:extLst>
            <c:ext xmlns:c16="http://schemas.microsoft.com/office/drawing/2014/chart" uri="{C3380CC4-5D6E-409C-BE32-E72D297353CC}">
              <c16:uniqueId val="{00000006-B0A7-484C-8BE0-E9194170A1E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7C2-42F8-845B-B1ED9B8EA8C5}"/>
                </c:ext>
              </c:extLst>
            </c:dLbl>
            <c:dLbl>
              <c:idx val="1"/>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C2-42F8-845B-B1ED9B8EA8C5}"/>
                </c:ext>
              </c:extLst>
            </c:dLbl>
            <c:dLbl>
              <c:idx val="2"/>
              <c:layout>
                <c:manualLayout>
                  <c:x val="-4.7223123366675675E-2"/>
                  <c:y val="-0.2791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7C2-42F8-845B-B1ED9B8EA8C5}"/>
                </c:ext>
              </c:extLst>
            </c:dLbl>
            <c:dLbl>
              <c:idx val="3"/>
              <c:layout>
                <c:manualLayout>
                  <c:x val="-4.7223123366675675E-2"/>
                  <c:y val="-0.2522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7C2-42F8-845B-B1ED9B8EA8C5}"/>
                </c:ext>
              </c:extLst>
            </c:dLbl>
            <c:dLbl>
              <c:idx val="4"/>
              <c:layout>
                <c:manualLayout>
                  <c:x val="-4.7223123366675675E-2"/>
                  <c:y val="-0.2544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7C2-42F8-845B-B1ED9B8EA8C5}"/>
                </c:ext>
              </c:extLst>
            </c:dLbl>
            <c:dLbl>
              <c:idx val="5"/>
              <c:layout>
                <c:manualLayout>
                  <c:x val="-4.7223123366675675E-2"/>
                  <c:y val="-0.2567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7C2-42F8-845B-B1ED9B8EA8C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0.39</c:v>
                </c:pt>
                <c:pt idx="1">
                  <c:v>0.39</c:v>
                </c:pt>
                <c:pt idx="2">
                  <c:v>0.37</c:v>
                </c:pt>
                <c:pt idx="3">
                  <c:v>0.49</c:v>
                </c:pt>
                <c:pt idx="4">
                  <c:v>0.48</c:v>
                </c:pt>
                <c:pt idx="5">
                  <c:v>0.47</c:v>
                </c:pt>
              </c:numCache>
            </c:numRef>
          </c:val>
          <c:smooth val="0"/>
          <c:extLst>
            <c:ext xmlns:c16="http://schemas.microsoft.com/office/drawing/2014/chart" uri="{C3380CC4-5D6E-409C-BE32-E72D297353CC}">
              <c16:uniqueId val="{00000006-67C2-42F8-845B-B1ED9B8EA8C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Z15</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082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2E-4075-A7ED-871B6920710E}"/>
                </c:ext>
              </c:extLst>
            </c:dLbl>
            <c:dLbl>
              <c:idx val="1"/>
              <c:layout>
                <c:manualLayout>
                  <c:x val="-4.7223123366675675E-2"/>
                  <c:y val="-0.2567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82E-4075-A7ED-871B6920710E}"/>
                </c:ext>
              </c:extLst>
            </c:dLbl>
            <c:dLbl>
              <c:idx val="2"/>
              <c:layout>
                <c:manualLayout>
                  <c:x val="-4.7223123366675675E-2"/>
                  <c:y val="-0.2925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2E-4075-A7ED-871B6920710E}"/>
                </c:ext>
              </c:extLst>
            </c:dLbl>
            <c:dLbl>
              <c:idx val="3"/>
              <c:layout>
                <c:manualLayout>
                  <c:x val="-4.7223123366675675E-2"/>
                  <c:y val="-0.2858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82E-4075-A7ED-871B6920710E}"/>
                </c:ext>
              </c:extLst>
            </c:dLbl>
            <c:dLbl>
              <c:idx val="4"/>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82E-4075-A7ED-871B6920710E}"/>
                </c:ext>
              </c:extLst>
            </c:dLbl>
            <c:dLbl>
              <c:idx val="5"/>
              <c:layout>
                <c:manualLayout>
                  <c:x val="-4.7223123366675675E-2"/>
                  <c:y val="-0.2880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82E-4075-A7ED-871B6920710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0.24</c:v>
                </c:pt>
                <c:pt idx="1">
                  <c:v>0.47</c:v>
                </c:pt>
                <c:pt idx="2">
                  <c:v>0.31</c:v>
                </c:pt>
                <c:pt idx="3">
                  <c:v>0.34</c:v>
                </c:pt>
                <c:pt idx="4">
                  <c:v>0.39</c:v>
                </c:pt>
                <c:pt idx="5">
                  <c:v>0.33</c:v>
                </c:pt>
              </c:numCache>
            </c:numRef>
          </c:val>
          <c:smooth val="0"/>
          <c:extLst>
            <c:ext xmlns:c16="http://schemas.microsoft.com/office/drawing/2014/chart" uri="{C3380CC4-5D6E-409C-BE32-E72D297353CC}">
              <c16:uniqueId val="{00000006-482E-4075-A7ED-871B6920710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Z23</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858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9DE-40B0-878C-E270B5A4E597}"/>
                </c:ext>
              </c:extLst>
            </c:dLbl>
            <c:dLbl>
              <c:idx val="1"/>
              <c:layout>
                <c:manualLayout>
                  <c:x val="-4.7223123366675675E-2"/>
                  <c:y val="-0.263433333333333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9DE-40B0-878C-E270B5A4E597}"/>
                </c:ext>
              </c:extLst>
            </c:dLbl>
            <c:dLbl>
              <c:idx val="2"/>
              <c:layout>
                <c:manualLayout>
                  <c:x val="-4.7223123366675675E-2"/>
                  <c:y val="-0.2544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9DE-40B0-878C-E270B5A4E597}"/>
                </c:ext>
              </c:extLst>
            </c:dLbl>
            <c:dLbl>
              <c:idx val="3"/>
              <c:layout>
                <c:manualLayout>
                  <c:x val="-4.7223123366675675E-2"/>
                  <c:y val="-0.2477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9DE-40B0-878C-E270B5A4E597}"/>
                </c:ext>
              </c:extLst>
            </c:dLbl>
            <c:dLbl>
              <c:idx val="4"/>
              <c:layout>
                <c:manualLayout>
                  <c:x val="-4.7223123366675675E-2"/>
                  <c:y val="-0.2410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9DE-40B0-878C-E270B5A4E597}"/>
                </c:ext>
              </c:extLst>
            </c:dLbl>
            <c:dLbl>
              <c:idx val="5"/>
              <c:layout>
                <c:manualLayout>
                  <c:x val="-4.7223123366675675E-2"/>
                  <c:y val="-0.29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9DE-40B0-878C-E270B5A4E59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0.34</c:v>
                </c:pt>
                <c:pt idx="1">
                  <c:v>0.44</c:v>
                </c:pt>
                <c:pt idx="2">
                  <c:v>0.48</c:v>
                </c:pt>
                <c:pt idx="3">
                  <c:v>0.51</c:v>
                </c:pt>
                <c:pt idx="4">
                  <c:v>0.54</c:v>
                </c:pt>
                <c:pt idx="5">
                  <c:v>0.32</c:v>
                </c:pt>
              </c:numCache>
            </c:numRef>
          </c:val>
          <c:smooth val="0"/>
          <c:extLst>
            <c:ext xmlns:c16="http://schemas.microsoft.com/office/drawing/2014/chart" uri="{C3380CC4-5D6E-409C-BE32-E72D297353CC}">
              <c16:uniqueId val="{00000006-C9DE-40B0-878C-E270B5A4E597}"/>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Z18</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1716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2E2-4680-BCF7-DCDC4321F6B4}"/>
                </c:ext>
              </c:extLst>
            </c:dLbl>
            <c:dLbl>
              <c:idx val="1"/>
              <c:layout>
                <c:manualLayout>
                  <c:x val="-4.7223123366675675E-2"/>
                  <c:y val="-0.3261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2E2-4680-BCF7-DCDC4321F6B4}"/>
                </c:ext>
              </c:extLst>
            </c:dLbl>
            <c:dLbl>
              <c:idx val="2"/>
              <c:layout>
                <c:manualLayout>
                  <c:x val="-4.7223123366675675E-2"/>
                  <c:y val="-0.3283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E2-4680-BCF7-DCDC4321F6B4}"/>
                </c:ext>
              </c:extLst>
            </c:dLbl>
            <c:dLbl>
              <c:idx val="3"/>
              <c:layout>
                <c:manualLayout>
                  <c:x val="-4.7223123366675675E-2"/>
                  <c:y val="-0.3126888888888889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E2-4680-BCF7-DCDC4321F6B4}"/>
                </c:ext>
              </c:extLst>
            </c:dLbl>
            <c:dLbl>
              <c:idx val="4"/>
              <c:layout>
                <c:manualLayout>
                  <c:x val="-4.7223123366675675E-2"/>
                  <c:y val="-0.310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2E2-4680-BCF7-DCDC4321F6B4}"/>
                </c:ext>
              </c:extLst>
            </c:dLbl>
            <c:dLbl>
              <c:idx val="5"/>
              <c:layout>
                <c:manualLayout>
                  <c:x val="-4.7223123366675675E-2"/>
                  <c:y val="-0.31492777777777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E2-4680-BCF7-DCDC4321F6B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c:v>
                </c:pt>
                <c:pt idx="1">
                  <c:v>0.16</c:v>
                </c:pt>
                <c:pt idx="2">
                  <c:v>0.15</c:v>
                </c:pt>
                <c:pt idx="3">
                  <c:v>0.22</c:v>
                </c:pt>
                <c:pt idx="4">
                  <c:v>0.23</c:v>
                </c:pt>
                <c:pt idx="5">
                  <c:v>0.21</c:v>
                </c:pt>
              </c:numCache>
            </c:numRef>
          </c:val>
          <c:smooth val="0"/>
          <c:extLst>
            <c:ext xmlns:c16="http://schemas.microsoft.com/office/drawing/2014/chart" uri="{C3380CC4-5D6E-409C-BE32-E72D297353CC}">
              <c16:uniqueId val="{00000006-32E2-4680-BCF7-DCDC4321F6B4}"/>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Z24</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0062967468685227E-2"/>
                  <c:y val="-0.36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F27-476F-A1DD-E3467E3B548A}"/>
                </c:ext>
              </c:extLst>
            </c:dLbl>
            <c:dLbl>
              <c:idx val="1"/>
              <c:layout>
                <c:manualLayout>
                  <c:x val="-4.0062967468685227E-2"/>
                  <c:y val="-0.36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F27-476F-A1DD-E3467E3B548A}"/>
                </c:ext>
              </c:extLst>
            </c:dLbl>
            <c:dLbl>
              <c:idx val="2"/>
              <c:layout>
                <c:manualLayout>
                  <c:x val="-4.0062967468685227E-2"/>
                  <c:y val="-0.36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F27-476F-A1DD-E3467E3B548A}"/>
                </c:ext>
              </c:extLst>
            </c:dLbl>
            <c:dLbl>
              <c:idx val="3"/>
              <c:layout>
                <c:manualLayout>
                  <c:x val="-4.0062967468685227E-2"/>
                  <c:y val="-0.36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F27-476F-A1DD-E3467E3B548A}"/>
                </c:ext>
              </c:extLst>
            </c:dLbl>
            <c:dLbl>
              <c:idx val="4"/>
              <c:layout>
                <c:manualLayout>
                  <c:x val="-4.0062967468685227E-2"/>
                  <c:y val="-0.3619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F27-476F-A1DD-E3467E3B548A}"/>
                </c:ext>
              </c:extLst>
            </c:dLbl>
            <c:dLbl>
              <c:idx val="5"/>
              <c:layout>
                <c:manualLayout>
                  <c:x val="-4.7223123366675675E-2"/>
                  <c:y val="-0.3216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F27-476F-A1DD-E3467E3B548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General</c:formatCode>
                <c:ptCount val="6"/>
                <c:pt idx="5" formatCode="0%">
                  <c:v>0.18</c:v>
                </c:pt>
              </c:numCache>
            </c:numRef>
          </c:val>
          <c:smooth val="0"/>
          <c:extLst>
            <c:ext xmlns:c16="http://schemas.microsoft.com/office/drawing/2014/chart" uri="{C3380CC4-5D6E-409C-BE32-E72D297353CC}">
              <c16:uniqueId val="{00000006-BF27-476F-A1DD-E3467E3B548A}"/>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Z22</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126888888888889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DD2-4309-B95D-A53B9FDD5C96}"/>
                </c:ext>
              </c:extLst>
            </c:dLbl>
            <c:dLbl>
              <c:idx val="1"/>
              <c:layout>
                <c:manualLayout>
                  <c:x val="-4.7223123366675675E-2"/>
                  <c:y val="-0.3283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DD2-4309-B95D-A53B9FDD5C96}"/>
                </c:ext>
              </c:extLst>
            </c:dLbl>
            <c:dLbl>
              <c:idx val="2"/>
              <c:layout>
                <c:manualLayout>
                  <c:x val="-4.7223123366675675E-2"/>
                  <c:y val="-0.3082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DD2-4309-B95D-A53B9FDD5C96}"/>
                </c:ext>
              </c:extLst>
            </c:dLbl>
            <c:dLbl>
              <c:idx val="3"/>
              <c:layout>
                <c:manualLayout>
                  <c:x val="-4.7223123366675675E-2"/>
                  <c:y val="-0.3194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DD2-4309-B95D-A53B9FDD5C96}"/>
                </c:ext>
              </c:extLst>
            </c:dLbl>
            <c:dLbl>
              <c:idx val="4"/>
              <c:layout>
                <c:manualLayout>
                  <c:x val="-4.7223123366675675E-2"/>
                  <c:y val="-0.31716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DD2-4309-B95D-A53B9FDD5C96}"/>
                </c:ext>
              </c:extLst>
            </c:dLbl>
            <c:dLbl>
              <c:idx val="5"/>
              <c:layout>
                <c:manualLayout>
                  <c:x val="-4.7223123366675675E-2"/>
                  <c:y val="-0.3261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DD2-4309-B95D-A53B9FDD5C9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0.22</c:v>
                </c:pt>
                <c:pt idx="1">
                  <c:v>0.15</c:v>
                </c:pt>
                <c:pt idx="2">
                  <c:v>0.24</c:v>
                </c:pt>
                <c:pt idx="3">
                  <c:v>0.19</c:v>
                </c:pt>
                <c:pt idx="4">
                  <c:v>0.2</c:v>
                </c:pt>
                <c:pt idx="5">
                  <c:v>0.16</c:v>
                </c:pt>
              </c:numCache>
            </c:numRef>
          </c:val>
          <c:smooth val="0"/>
          <c:extLst>
            <c:ext xmlns:c16="http://schemas.microsoft.com/office/drawing/2014/chart" uri="{C3380CC4-5D6E-409C-BE32-E72D297353CC}">
              <c16:uniqueId val="{00000006-ADD2-4309-B95D-A53B9FDD5C9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Z20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1716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88C-439F-8049-CF922C81AB89}"/>
                </c:ext>
              </c:extLst>
            </c:dLbl>
            <c:dLbl>
              <c:idx val="1"/>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88C-439F-8049-CF922C81AB89}"/>
                </c:ext>
              </c:extLst>
            </c:dLbl>
            <c:dLbl>
              <c:idx val="2"/>
              <c:layout>
                <c:manualLayout>
                  <c:x val="-4.7223123366675675E-2"/>
                  <c:y val="-0.29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88C-439F-8049-CF922C81AB89}"/>
                </c:ext>
              </c:extLst>
            </c:dLbl>
            <c:dLbl>
              <c:idx val="3"/>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88C-439F-8049-CF922C81AB89}"/>
                </c:ext>
              </c:extLst>
            </c:dLbl>
            <c:dLbl>
              <c:idx val="4"/>
              <c:layout>
                <c:manualLayout>
                  <c:x val="-4.7223123366675675E-2"/>
                  <c:y val="-0.310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88C-439F-8049-CF922C81AB89}"/>
                </c:ext>
              </c:extLst>
            </c:dLbl>
            <c:dLbl>
              <c:idx val="5"/>
              <c:layout>
                <c:manualLayout>
                  <c:x val="-4.7223123366675675E-2"/>
                  <c:y val="-0.31492777777777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88C-439F-8049-CF922C81AB8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c:v>
                </c:pt>
                <c:pt idx="1">
                  <c:v>0.27</c:v>
                </c:pt>
                <c:pt idx="2">
                  <c:v>0.32</c:v>
                </c:pt>
                <c:pt idx="3">
                  <c:v>0.27</c:v>
                </c:pt>
                <c:pt idx="4">
                  <c:v>0.23</c:v>
                </c:pt>
                <c:pt idx="5">
                  <c:v>0.21</c:v>
                </c:pt>
              </c:numCache>
            </c:numRef>
          </c:val>
          <c:smooth val="0"/>
          <c:extLst>
            <c:ext xmlns:c16="http://schemas.microsoft.com/office/drawing/2014/chart" uri="{C3380CC4-5D6E-409C-BE32-E72D297353CC}">
              <c16:uniqueId val="{00000006-088C-439F-8049-CF922C81AB89}"/>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Z7</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EC5-4C3E-8C8E-60FB0ADE3778}"/>
                </c:ext>
              </c:extLst>
            </c:dLbl>
            <c:dLbl>
              <c:idx val="1"/>
              <c:layout>
                <c:manualLayout>
                  <c:x val="-4.7223123366675675E-2"/>
                  <c:y val="-0.283583333333333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EC5-4C3E-8C8E-60FB0ADE3778}"/>
                </c:ext>
              </c:extLst>
            </c:dLbl>
            <c:dLbl>
              <c:idx val="2"/>
              <c:layout>
                <c:manualLayout>
                  <c:x val="-4.7223123366675675E-2"/>
                  <c:y val="-0.2858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EC5-4C3E-8C8E-60FB0ADE3778}"/>
                </c:ext>
              </c:extLst>
            </c:dLbl>
            <c:dLbl>
              <c:idx val="3"/>
              <c:layout>
                <c:manualLayout>
                  <c:x val="-4.7223123366675675E-2"/>
                  <c:y val="-0.2813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EC5-4C3E-8C8E-60FB0ADE3778}"/>
                </c:ext>
              </c:extLst>
            </c:dLbl>
            <c:dLbl>
              <c:idx val="4"/>
              <c:layout>
                <c:manualLayout>
                  <c:x val="-4.7223123366675675E-2"/>
                  <c:y val="-0.2970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EC5-4C3E-8C8E-60FB0ADE3778}"/>
                </c:ext>
              </c:extLst>
            </c:dLbl>
            <c:dLbl>
              <c:idx val="5"/>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EC5-4C3E-8C8E-60FB0ADE377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0.27</c:v>
                </c:pt>
                <c:pt idx="1">
                  <c:v>0.35</c:v>
                </c:pt>
                <c:pt idx="2">
                  <c:v>0.34</c:v>
                </c:pt>
                <c:pt idx="3">
                  <c:v>0.36</c:v>
                </c:pt>
                <c:pt idx="4">
                  <c:v>0.28999999999999998</c:v>
                </c:pt>
                <c:pt idx="5">
                  <c:v>0.39</c:v>
                </c:pt>
              </c:numCache>
            </c:numRef>
          </c:val>
          <c:smooth val="0"/>
          <c:extLst>
            <c:ext xmlns:c16="http://schemas.microsoft.com/office/drawing/2014/chart" uri="{C3380CC4-5D6E-409C-BE32-E72D297353CC}">
              <c16:uniqueId val="{00000006-8EC5-4C3E-8C8E-60FB0ADE377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Z19</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950-4CAB-8444-6BEBDEA197BC}"/>
                </c:ext>
              </c:extLst>
            </c:dLbl>
            <c:dLbl>
              <c:idx val="1"/>
              <c:layout>
                <c:manualLayout>
                  <c:x val="-4.7223123366675675E-2"/>
                  <c:y val="-0.2746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950-4CAB-8444-6BEBDEA197BC}"/>
                </c:ext>
              </c:extLst>
            </c:dLbl>
            <c:dLbl>
              <c:idx val="2"/>
              <c:layout>
                <c:manualLayout>
                  <c:x val="-4.7223123366675675E-2"/>
                  <c:y val="-0.25447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950-4CAB-8444-6BEBDEA197BC}"/>
                </c:ext>
              </c:extLst>
            </c:dLbl>
            <c:dLbl>
              <c:idx val="3"/>
              <c:layout>
                <c:manualLayout>
                  <c:x val="-4.7223123366675675E-2"/>
                  <c:y val="-0.2880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950-4CAB-8444-6BEBDEA197BC}"/>
                </c:ext>
              </c:extLst>
            </c:dLbl>
            <c:dLbl>
              <c:idx val="4"/>
              <c:layout>
                <c:manualLayout>
                  <c:x val="-4.7223123366675675E-2"/>
                  <c:y val="-0.2813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950-4CAB-8444-6BEBDEA197BC}"/>
                </c:ext>
              </c:extLst>
            </c:dLbl>
            <c:dLbl>
              <c:idx val="5"/>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950-4CAB-8444-6BEBDEA197B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0.39</c:v>
                </c:pt>
                <c:pt idx="1">
                  <c:v>0.39</c:v>
                </c:pt>
                <c:pt idx="2">
                  <c:v>0.48</c:v>
                </c:pt>
                <c:pt idx="3">
                  <c:v>0.33</c:v>
                </c:pt>
                <c:pt idx="4">
                  <c:v>0.36</c:v>
                </c:pt>
                <c:pt idx="5">
                  <c:v>0.46</c:v>
                </c:pt>
              </c:numCache>
            </c:numRef>
          </c:val>
          <c:smooth val="0"/>
          <c:extLst>
            <c:ext xmlns:c16="http://schemas.microsoft.com/office/drawing/2014/chart" uri="{C3380CC4-5D6E-409C-BE32-E72D297353CC}">
              <c16:uniqueId val="{00000006-1950-4CAB-8444-6BEBDEA197B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Z21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858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2F5-495A-9628-A41951155C45}"/>
                </c:ext>
              </c:extLst>
            </c:dLbl>
            <c:dLbl>
              <c:idx val="1"/>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2F5-495A-9628-A41951155C45}"/>
                </c:ext>
              </c:extLst>
            </c:dLbl>
            <c:dLbl>
              <c:idx val="2"/>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2F5-495A-9628-A41951155C45}"/>
                </c:ext>
              </c:extLst>
            </c:dLbl>
            <c:dLbl>
              <c:idx val="3"/>
              <c:layout>
                <c:manualLayout>
                  <c:x val="-4.7223123366675675E-2"/>
                  <c:y val="-0.2992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2F5-495A-9628-A41951155C45}"/>
                </c:ext>
              </c:extLst>
            </c:dLbl>
            <c:dLbl>
              <c:idx val="4"/>
              <c:layout>
                <c:manualLayout>
                  <c:x val="-4.7223123366675675E-2"/>
                  <c:y val="-0.310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2F5-495A-9628-A41951155C45}"/>
                </c:ext>
              </c:extLst>
            </c:dLbl>
            <c:dLbl>
              <c:idx val="5"/>
              <c:layout>
                <c:manualLayout>
                  <c:x val="-4.7223123366675675E-2"/>
                  <c:y val="-0.294777777777777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2F5-495A-9628-A41951155C4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0.34</c:v>
                </c:pt>
                <c:pt idx="1">
                  <c:v>0.27</c:v>
                </c:pt>
                <c:pt idx="2">
                  <c:v>0.27</c:v>
                </c:pt>
                <c:pt idx="3">
                  <c:v>0.28000000000000003</c:v>
                </c:pt>
                <c:pt idx="4">
                  <c:v>0.23</c:v>
                </c:pt>
                <c:pt idx="5">
                  <c:v>0.3</c:v>
                </c:pt>
              </c:numCache>
            </c:numRef>
          </c:val>
          <c:smooth val="0"/>
          <c:extLst>
            <c:ext xmlns:c16="http://schemas.microsoft.com/office/drawing/2014/chart" uri="{C3380CC4-5D6E-409C-BE32-E72D297353CC}">
              <c16:uniqueId val="{00000006-22F5-495A-9628-A41951155C4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Z8</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1716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3A2-47F9-8BB2-7C9AE8FFFB95}"/>
                </c:ext>
              </c:extLst>
            </c:dLbl>
            <c:dLbl>
              <c:idx val="1"/>
              <c:layout>
                <c:manualLayout>
                  <c:x val="-4.7223123366675675E-2"/>
                  <c:y val="-0.3194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3A2-47F9-8BB2-7C9AE8FFFB95}"/>
                </c:ext>
              </c:extLst>
            </c:dLbl>
            <c:dLbl>
              <c:idx val="2"/>
              <c:layout>
                <c:manualLayout>
                  <c:x val="-4.7223123366675675E-2"/>
                  <c:y val="-0.3216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3A2-47F9-8BB2-7C9AE8FFFB95}"/>
                </c:ext>
              </c:extLst>
            </c:dLbl>
            <c:dLbl>
              <c:idx val="3"/>
              <c:layout>
                <c:manualLayout>
                  <c:x val="-4.7223123366675675E-2"/>
                  <c:y val="-0.321644444444444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3A2-47F9-8BB2-7C9AE8FFFB95}"/>
                </c:ext>
              </c:extLst>
            </c:dLbl>
            <c:dLbl>
              <c:idx val="4"/>
              <c:layout>
                <c:manualLayout>
                  <c:x val="-4.7223123366675675E-2"/>
                  <c:y val="-0.31716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3A2-47F9-8BB2-7C9AE8FFFB95}"/>
                </c:ext>
              </c:extLst>
            </c:dLbl>
            <c:dLbl>
              <c:idx val="5"/>
              <c:layout>
                <c:manualLayout>
                  <c:x val="-4.7223123366675675E-2"/>
                  <c:y val="-0.3261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3A2-47F9-8BB2-7C9AE8FFFB9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(blank)</c:v>
                </c:pt>
                <c:pt idx="1">
                  <c:v>W28 - (blank)</c:v>
                </c:pt>
                <c:pt idx="2">
                  <c:v>W29 - (blank)</c:v>
                </c:pt>
                <c:pt idx="3">
                  <c:v>W30 - (blank)</c:v>
                </c:pt>
                <c:pt idx="4">
                  <c:v>W31 - (blank)</c:v>
                </c:pt>
                <c:pt idx="5">
                  <c:v>W32 - (blank)</c:v>
                </c:pt>
              </c:strCache>
            </c:strRef>
          </c:cat>
          <c:val>
            <c:numRef>
              <c:f>Sheet1!$B$2:$B$7</c:f>
              <c:numCache>
                <c:formatCode>0%</c:formatCode>
                <c:ptCount val="6"/>
                <c:pt idx="0">
                  <c:v>0.2</c:v>
                </c:pt>
                <c:pt idx="1">
                  <c:v>0.19</c:v>
                </c:pt>
                <c:pt idx="2">
                  <c:v>0.18</c:v>
                </c:pt>
                <c:pt idx="3">
                  <c:v>0.18</c:v>
                </c:pt>
                <c:pt idx="4">
                  <c:v>0.2</c:v>
                </c:pt>
                <c:pt idx="5">
                  <c:v>0.16</c:v>
                </c:pt>
              </c:numCache>
            </c:numRef>
          </c:val>
          <c:smooth val="0"/>
          <c:extLst>
            <c:ext xmlns:c16="http://schemas.microsoft.com/office/drawing/2014/chart" uri="{C3380CC4-5D6E-409C-BE32-E72D297353CC}">
              <c16:uniqueId val="{00000006-E3A2-47F9-8BB2-7C9AE8FFFB95}"/>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lgn="just">
        <a:defRPr/>
      </a:pPr>
      <a:endParaRPr lang="en-US"/>
    </a:p>
  </c:txPr>
  <c:externalData r:id="rId3">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ZP11</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92-4960-A56C-3D4760A872F7}"/>
                </c:ext>
              </c:extLst>
            </c:dLbl>
            <c:dLbl>
              <c:idx val="1"/>
              <c:layout>
                <c:manualLayout>
                  <c:x val="-5.0842030973493831E-2"/>
                  <c:y val="-0.28284420289855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892-4960-A56C-3D4760A872F7}"/>
                </c:ext>
              </c:extLst>
            </c:dLbl>
            <c:dLbl>
              <c:idx val="2"/>
              <c:layout>
                <c:manualLayout>
                  <c:x val="-5.0842030973493831E-2"/>
                  <c:y val="-0.300048309178743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892-4960-A56C-3D4760A872F7}"/>
                </c:ext>
              </c:extLst>
            </c:dLbl>
            <c:dLbl>
              <c:idx val="3"/>
              <c:layout>
                <c:manualLayout>
                  <c:x val="-5.0842030973493831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892-4960-A56C-3D4760A872F7}"/>
                </c:ext>
              </c:extLst>
            </c:dLbl>
            <c:dLbl>
              <c:idx val="4"/>
              <c:layout>
                <c:manualLayout>
                  <c:x val="-5.0842030973493831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92-4960-A56C-3D4760A872F7}"/>
                </c:ext>
              </c:extLst>
            </c:dLbl>
            <c:dLbl>
              <c:idx val="5"/>
              <c:layout>
                <c:manualLayout>
                  <c:x val="-5.0842030973493831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892-4960-A56C-3D4760A872F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0.53</c:v>
                </c:pt>
                <c:pt idx="1">
                  <c:v>0.28999999999999998</c:v>
                </c:pt>
                <c:pt idx="2">
                  <c:v>0.18</c:v>
                </c:pt>
                <c:pt idx="3">
                  <c:v>0.56000000000000005</c:v>
                </c:pt>
                <c:pt idx="4">
                  <c:v>0.56000000000000005</c:v>
                </c:pt>
                <c:pt idx="5">
                  <c:v>0.55000000000000004</c:v>
                </c:pt>
              </c:numCache>
            </c:numRef>
          </c:val>
          <c:smooth val="0"/>
          <c:extLst>
            <c:ext xmlns:c16="http://schemas.microsoft.com/office/drawing/2014/chart" uri="{C3380CC4-5D6E-409C-BE32-E72D297353CC}">
              <c16:uniqueId val="{00000000-8892-4960-A56C-3D4760A872F7}"/>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ZP16</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ABB-43B1-80FE-8750BCCF0C16}"/>
                </c:ext>
              </c:extLst>
            </c:dLbl>
            <c:dLbl>
              <c:idx val="1"/>
              <c:layout>
                <c:manualLayout>
                  <c:x val="-5.0842030973493831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ABB-43B1-80FE-8750BCCF0C16}"/>
                </c:ext>
              </c:extLst>
            </c:dLbl>
            <c:dLbl>
              <c:idx val="2"/>
              <c:layout>
                <c:manualLayout>
                  <c:x val="-5.0842030973493831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ABB-43B1-80FE-8750BCCF0C16}"/>
                </c:ext>
              </c:extLst>
            </c:dLbl>
            <c:dLbl>
              <c:idx val="3"/>
              <c:layout>
                <c:manualLayout>
                  <c:x val="-5.0842030973493831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ABB-43B1-80FE-8750BCCF0C16}"/>
                </c:ext>
              </c:extLst>
            </c:dLbl>
            <c:dLbl>
              <c:idx val="4"/>
              <c:layout>
                <c:manualLayout>
                  <c:x val="-5.0842030973493831E-2"/>
                  <c:y val="-0.215591787439613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ABB-43B1-80FE-8750BCCF0C16}"/>
                </c:ext>
              </c:extLst>
            </c:dLbl>
            <c:dLbl>
              <c:idx val="5"/>
              <c:layout>
                <c:manualLayout>
                  <c:x val="-5.0842030973493831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ABB-43B1-80FE-8750BCCF0C1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0.63</c:v>
                </c:pt>
                <c:pt idx="1">
                  <c:v>0.62</c:v>
                </c:pt>
                <c:pt idx="2">
                  <c:v>0.53</c:v>
                </c:pt>
                <c:pt idx="3">
                  <c:v>0.63</c:v>
                </c:pt>
                <c:pt idx="4">
                  <c:v>0.72</c:v>
                </c:pt>
                <c:pt idx="5">
                  <c:v>0.55000000000000004</c:v>
                </c:pt>
              </c:numCache>
            </c:numRef>
          </c:val>
          <c:smooth val="0"/>
          <c:extLst>
            <c:ext xmlns:c16="http://schemas.microsoft.com/office/drawing/2014/chart" uri="{C3380CC4-5D6E-409C-BE32-E72D297353CC}">
              <c16:uniqueId val="{00000000-AABB-43B1-80FE-8750BCCF0C16}"/>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ZP15</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AD-4CE6-B28F-714168EB2153}"/>
                </c:ext>
              </c:extLst>
            </c:dLbl>
            <c:dLbl>
              <c:idx val="1"/>
              <c:layout>
                <c:manualLayout>
                  <c:x val="-5.0842030973493831E-2"/>
                  <c:y val="-0.29066425120772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AD-4CE6-B28F-714168EB2153}"/>
                </c:ext>
              </c:extLst>
            </c:dLbl>
            <c:dLbl>
              <c:idx val="2"/>
              <c:layout>
                <c:manualLayout>
                  <c:x val="-5.0842030973493831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AD-4CE6-B28F-714168EB2153}"/>
                </c:ext>
              </c:extLst>
            </c:dLbl>
            <c:dLbl>
              <c:idx val="3"/>
              <c:layout>
                <c:manualLayout>
                  <c:x val="-5.0842030973493831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1AD-4CE6-B28F-714168EB2153}"/>
                </c:ext>
              </c:extLst>
            </c:dLbl>
            <c:dLbl>
              <c:idx val="4"/>
              <c:layout>
                <c:manualLayout>
                  <c:x val="-5.0842030973493831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1AD-4CE6-B28F-714168EB2153}"/>
                </c:ext>
              </c:extLst>
            </c:dLbl>
            <c:dLbl>
              <c:idx val="5"/>
              <c:layout>
                <c:manualLayout>
                  <c:x val="-5.0842030973493831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1AD-4CE6-B28F-714168EB215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0.42</c:v>
                </c:pt>
                <c:pt idx="1">
                  <c:v>0.24</c:v>
                </c:pt>
                <c:pt idx="2">
                  <c:v>0.41</c:v>
                </c:pt>
                <c:pt idx="3">
                  <c:v>0.44</c:v>
                </c:pt>
                <c:pt idx="4">
                  <c:v>0.39</c:v>
                </c:pt>
                <c:pt idx="5">
                  <c:v>0.5</c:v>
                </c:pt>
              </c:numCache>
            </c:numRef>
          </c:val>
          <c:smooth val="0"/>
          <c:extLst>
            <c:ext xmlns:c16="http://schemas.microsoft.com/office/drawing/2014/chart" uri="{C3380CC4-5D6E-409C-BE32-E72D297353CC}">
              <c16:uniqueId val="{00000000-C1AD-4CE6-B28F-714168EB2153}"/>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ZP7</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3031763285024154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7A5-45B9-B48C-0CF63421AD81}"/>
                </c:ext>
              </c:extLst>
            </c:dLbl>
            <c:dLbl>
              <c:idx val="1"/>
              <c:layout>
                <c:manualLayout>
                  <c:x val="-5.0842030973493831E-2"/>
                  <c:y val="-0.298484299516908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7A5-45B9-B48C-0CF63421AD81}"/>
                </c:ext>
              </c:extLst>
            </c:dLbl>
            <c:dLbl>
              <c:idx val="2"/>
              <c:layout>
                <c:manualLayout>
                  <c:x val="-5.0842030973493831E-2"/>
                  <c:y val="-0.29066425120772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7A5-45B9-B48C-0CF63421AD81}"/>
                </c:ext>
              </c:extLst>
            </c:dLbl>
            <c:dLbl>
              <c:idx val="3"/>
              <c:layout>
                <c:manualLayout>
                  <c:x val="-5.0842030973493831E-2"/>
                  <c:y val="-0.279716183574879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7A5-45B9-B48C-0CF63421AD81}"/>
                </c:ext>
              </c:extLst>
            </c:dLbl>
            <c:dLbl>
              <c:idx val="4"/>
              <c:layout>
                <c:manualLayout>
                  <c:x val="-5.0842030973493831E-2"/>
                  <c:y val="-0.2937922705314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7A5-45B9-B48C-0CF63421AD81}"/>
                </c:ext>
              </c:extLst>
            </c:dLbl>
            <c:dLbl>
              <c:idx val="5"/>
              <c:layout>
                <c:manualLayout>
                  <c:x val="-5.0842030973493831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7A5-45B9-B48C-0CF63421AD8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0.16</c:v>
                </c:pt>
                <c:pt idx="1">
                  <c:v>0.19</c:v>
                </c:pt>
                <c:pt idx="2">
                  <c:v>0.24</c:v>
                </c:pt>
                <c:pt idx="3">
                  <c:v>0.31</c:v>
                </c:pt>
                <c:pt idx="4">
                  <c:v>0.22</c:v>
                </c:pt>
                <c:pt idx="5">
                  <c:v>0.5</c:v>
                </c:pt>
              </c:numCache>
            </c:numRef>
          </c:val>
          <c:smooth val="0"/>
          <c:extLst>
            <c:ext xmlns:c16="http://schemas.microsoft.com/office/drawing/2014/chart" uri="{C3380CC4-5D6E-409C-BE32-E72D297353CC}">
              <c16:uniqueId val="{00000000-17A5-45B9-B48C-0CF63421AD81}"/>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ZP17</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A0D-4C60-AC45-C73FE94F4351}"/>
                </c:ext>
              </c:extLst>
            </c:dLbl>
            <c:dLbl>
              <c:idx val="1"/>
              <c:layout>
                <c:manualLayout>
                  <c:x val="-5.0842030973493831E-2"/>
                  <c:y val="-0.276588164251207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A0D-4C60-AC45-C73FE94F4351}"/>
                </c:ext>
              </c:extLst>
            </c:dLbl>
            <c:dLbl>
              <c:idx val="2"/>
              <c:layout>
                <c:manualLayout>
                  <c:x val="-5.0842030973493831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A0D-4C60-AC45-C73FE94F4351}"/>
                </c:ext>
              </c:extLst>
            </c:dLbl>
            <c:dLbl>
              <c:idx val="3"/>
              <c:layout>
                <c:manualLayout>
                  <c:x val="-5.0842030973493831E-2"/>
                  <c:y val="-0.279716183574879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A0D-4C60-AC45-C73FE94F4351}"/>
                </c:ext>
              </c:extLst>
            </c:dLbl>
            <c:dLbl>
              <c:idx val="4"/>
              <c:layout>
                <c:manualLayout>
                  <c:x val="-5.0842030973493831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A0D-4C60-AC45-C73FE94F4351}"/>
                </c:ext>
              </c:extLst>
            </c:dLbl>
            <c:dLbl>
              <c:idx val="5"/>
              <c:layout>
                <c:manualLayout>
                  <c:x val="-5.0842030973493831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A0D-4C60-AC45-C73FE94F435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0.74</c:v>
                </c:pt>
                <c:pt idx="1">
                  <c:v>0.33</c:v>
                </c:pt>
                <c:pt idx="2">
                  <c:v>0.47</c:v>
                </c:pt>
                <c:pt idx="3">
                  <c:v>0.31</c:v>
                </c:pt>
                <c:pt idx="4">
                  <c:v>0.56000000000000005</c:v>
                </c:pt>
                <c:pt idx="5">
                  <c:v>0.45</c:v>
                </c:pt>
              </c:numCache>
            </c:numRef>
          </c:val>
          <c:smooth val="0"/>
          <c:extLst>
            <c:ext xmlns:c16="http://schemas.microsoft.com/office/drawing/2014/chart" uri="{C3380CC4-5D6E-409C-BE32-E72D297353CC}">
              <c16:uniqueId val="{00000000-4A0D-4C60-AC45-C73FE94F4351}"/>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rgbClr val="9778D4"/>
          </a:solidFill>
        </a:defRPr>
      </a:pPr>
      <a:endParaRPr lang="en-US"/>
    </a:p>
  </c:txPr>
  <c:externalData r:id="rId3">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ZP21</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A77-437C-9DBF-83217BA930B1}"/>
                </c:ext>
              </c:extLst>
            </c:dLbl>
            <c:dLbl>
              <c:idx val="1"/>
              <c:layout>
                <c:manualLayout>
                  <c:x val="-5.0842030973493831E-2"/>
                  <c:y val="-0.209335748792270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77-437C-9DBF-83217BA930B1}"/>
                </c:ext>
              </c:extLst>
            </c:dLbl>
            <c:dLbl>
              <c:idx val="2"/>
              <c:layout>
                <c:manualLayout>
                  <c:x val="-5.0842030973493831E-2"/>
                  <c:y val="-0.19995169082125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A77-437C-9DBF-83217BA930B1}"/>
                </c:ext>
              </c:extLst>
            </c:dLbl>
            <c:dLbl>
              <c:idx val="3"/>
              <c:layout>
                <c:manualLayout>
                  <c:x val="-5.0842030973493831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77-437C-9DBF-83217BA930B1}"/>
                </c:ext>
              </c:extLst>
            </c:dLbl>
            <c:dLbl>
              <c:idx val="4"/>
              <c:layout>
                <c:manualLayout>
                  <c:x val="-5.0842030973493831E-2"/>
                  <c:y val="-0.190567632850241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A77-437C-9DBF-83217BA930B1}"/>
                </c:ext>
              </c:extLst>
            </c:dLbl>
            <c:dLbl>
              <c:idx val="5"/>
              <c:layout>
                <c:manualLayout>
                  <c:x val="-5.0842030973493831E-2"/>
                  <c:y val="-0.18743961352657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A77-437C-9DBF-83217BA930B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0.37</c:v>
                </c:pt>
                <c:pt idx="1">
                  <c:v>0.38</c:v>
                </c:pt>
                <c:pt idx="2">
                  <c:v>0.41</c:v>
                </c:pt>
                <c:pt idx="3">
                  <c:v>0.31</c:v>
                </c:pt>
                <c:pt idx="4">
                  <c:v>0.44</c:v>
                </c:pt>
                <c:pt idx="5">
                  <c:v>0.45</c:v>
                </c:pt>
              </c:numCache>
            </c:numRef>
          </c:val>
          <c:smooth val="0"/>
          <c:extLst>
            <c:ext xmlns:c16="http://schemas.microsoft.com/office/drawing/2014/chart" uri="{C3380CC4-5D6E-409C-BE32-E72D297353CC}">
              <c16:uniqueId val="{00000000-2A77-437C-9DBF-83217BA930B1}"/>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ZP23</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554-4BF6-BA16-1BCB36860026}"/>
                </c:ext>
              </c:extLst>
            </c:dLbl>
            <c:dLbl>
              <c:idx val="1"/>
              <c:layout>
                <c:manualLayout>
                  <c:x val="-5.0842030973493831E-2"/>
                  <c:y val="-0.290664251207729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554-4BF6-BA16-1BCB36860026}"/>
                </c:ext>
              </c:extLst>
            </c:dLbl>
            <c:dLbl>
              <c:idx val="2"/>
              <c:layout>
                <c:manualLayout>
                  <c:x val="-5.0842030973493831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554-4BF6-BA16-1BCB36860026}"/>
                </c:ext>
              </c:extLst>
            </c:dLbl>
            <c:dLbl>
              <c:idx val="3"/>
              <c:layout>
                <c:manualLayout>
                  <c:x val="-5.0842030973493831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554-4BF6-BA16-1BCB36860026}"/>
                </c:ext>
              </c:extLst>
            </c:dLbl>
            <c:dLbl>
              <c:idx val="4"/>
              <c:layout>
                <c:manualLayout>
                  <c:x val="-5.0842030973493831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554-4BF6-BA16-1BCB36860026}"/>
                </c:ext>
              </c:extLst>
            </c:dLbl>
            <c:dLbl>
              <c:idx val="5"/>
              <c:layout>
                <c:manualLayout>
                  <c:x val="-5.0842030973493831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554-4BF6-BA16-1BCB3686002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0.47</c:v>
                </c:pt>
                <c:pt idx="1">
                  <c:v>0.24</c:v>
                </c:pt>
                <c:pt idx="2">
                  <c:v>0.65</c:v>
                </c:pt>
                <c:pt idx="3">
                  <c:v>0.69</c:v>
                </c:pt>
                <c:pt idx="4">
                  <c:v>0.44</c:v>
                </c:pt>
                <c:pt idx="5">
                  <c:v>0.45</c:v>
                </c:pt>
              </c:numCache>
            </c:numRef>
          </c:val>
          <c:smooth val="0"/>
          <c:extLst>
            <c:ext xmlns:c16="http://schemas.microsoft.com/office/drawing/2014/chart" uri="{C3380CC4-5D6E-409C-BE32-E72D297353CC}">
              <c16:uniqueId val="{00000000-5554-4BF6-BA16-1BCB36860026}"/>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ZP20</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37F-4B80-8C2B-3D2772ADFB6F}"/>
                </c:ext>
              </c:extLst>
            </c:dLbl>
            <c:dLbl>
              <c:idx val="1"/>
              <c:layout>
                <c:manualLayout>
                  <c:x val="-5.0842030973493831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37F-4B80-8C2B-3D2772ADFB6F}"/>
                </c:ext>
              </c:extLst>
            </c:dLbl>
            <c:dLbl>
              <c:idx val="2"/>
              <c:layout>
                <c:manualLayout>
                  <c:x val="-5.0842030973493831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37F-4B80-8C2B-3D2772ADFB6F}"/>
                </c:ext>
              </c:extLst>
            </c:dLbl>
            <c:dLbl>
              <c:idx val="3"/>
              <c:layout>
                <c:manualLayout>
                  <c:x val="-5.0842030973493831E-2"/>
                  <c:y val="-0.209335748792270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37F-4B80-8C2B-3D2772ADFB6F}"/>
                </c:ext>
              </c:extLst>
            </c:dLbl>
            <c:dLbl>
              <c:idx val="4"/>
              <c:layout>
                <c:manualLayout>
                  <c:x val="-5.0842030973493831E-2"/>
                  <c:y val="-0.275024154589371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37F-4B80-8C2B-3D2772ADFB6F}"/>
                </c:ext>
              </c:extLst>
            </c:dLbl>
            <c:dLbl>
              <c:idx val="5"/>
              <c:layout>
                <c:manualLayout>
                  <c:x val="-5.0842030973493831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37F-4B80-8C2B-3D2772ADFB6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0.26</c:v>
                </c:pt>
                <c:pt idx="1">
                  <c:v>0.19</c:v>
                </c:pt>
                <c:pt idx="2">
                  <c:v>0.18</c:v>
                </c:pt>
                <c:pt idx="3">
                  <c:v>0.38</c:v>
                </c:pt>
                <c:pt idx="4">
                  <c:v>0.17</c:v>
                </c:pt>
                <c:pt idx="5">
                  <c:v>0.35</c:v>
                </c:pt>
              </c:numCache>
            </c:numRef>
          </c:val>
          <c:smooth val="0"/>
          <c:extLst>
            <c:ext xmlns:c16="http://schemas.microsoft.com/office/drawing/2014/chart" uri="{C3380CC4-5D6E-409C-BE32-E72D297353CC}">
              <c16:uniqueId val="{00000000-237F-4B80-8C2B-3D2772ADFB6F}"/>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ZP22</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937922705314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23B-4FC2-9D6E-7DB1819014F3}"/>
                </c:ext>
              </c:extLst>
            </c:dLbl>
            <c:dLbl>
              <c:idx val="1"/>
              <c:layout>
                <c:manualLayout>
                  <c:x val="-5.0842030973493831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23B-4FC2-9D6E-7DB1819014F3}"/>
                </c:ext>
              </c:extLst>
            </c:dLbl>
            <c:dLbl>
              <c:idx val="2"/>
              <c:layout>
                <c:manualLayout>
                  <c:x val="-5.0842030973493831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23B-4FC2-9D6E-7DB1819014F3}"/>
                </c:ext>
              </c:extLst>
            </c:dLbl>
            <c:dLbl>
              <c:idx val="3"/>
              <c:layout>
                <c:manualLayout>
                  <c:x val="-5.0842030973493831E-2"/>
                  <c:y val="-0.287536231884057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23B-4FC2-9D6E-7DB1819014F3}"/>
                </c:ext>
              </c:extLst>
            </c:dLbl>
            <c:dLbl>
              <c:idx val="4"/>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23B-4FC2-9D6E-7DB1819014F3}"/>
                </c:ext>
              </c:extLst>
            </c:dLbl>
            <c:dLbl>
              <c:idx val="5"/>
              <c:layout>
                <c:manualLayout>
                  <c:x val="-5.0842030973493831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23B-4FC2-9D6E-7DB1819014F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0.11</c:v>
                </c:pt>
                <c:pt idx="1">
                  <c:v>0.24</c:v>
                </c:pt>
                <c:pt idx="2">
                  <c:v>0.18</c:v>
                </c:pt>
                <c:pt idx="3">
                  <c:v>0.13</c:v>
                </c:pt>
                <c:pt idx="4">
                  <c:v>0</c:v>
                </c:pt>
                <c:pt idx="5">
                  <c:v>0.3</c:v>
                </c:pt>
              </c:numCache>
            </c:numRef>
          </c:val>
          <c:smooth val="0"/>
          <c:extLst>
            <c:ext xmlns:c16="http://schemas.microsoft.com/office/drawing/2014/chart" uri="{C3380CC4-5D6E-409C-BE32-E72D297353CC}">
              <c16:uniqueId val="{00000000-023B-4FC2-9D6E-7DB1819014F3}"/>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ZP24</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475-4FB8-A5E9-D509166A1F39}"/>
                </c:ext>
              </c:extLst>
            </c:dLbl>
            <c:dLbl>
              <c:idx val="1"/>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475-4FB8-A5E9-D509166A1F39}"/>
                </c:ext>
              </c:extLst>
            </c:dLbl>
            <c:dLbl>
              <c:idx val="2"/>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475-4FB8-A5E9-D509166A1F39}"/>
                </c:ext>
              </c:extLst>
            </c:dLbl>
            <c:dLbl>
              <c:idx val="3"/>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475-4FB8-A5E9-D509166A1F39}"/>
                </c:ext>
              </c:extLst>
            </c:dLbl>
            <c:dLbl>
              <c:idx val="4"/>
              <c:layout>
                <c:manualLayout>
                  <c:x val="-4.3573542037056774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475-4FB8-A5E9-D509166A1F39}"/>
                </c:ext>
              </c:extLst>
            </c:dLbl>
            <c:dLbl>
              <c:idx val="5"/>
              <c:layout>
                <c:manualLayout>
                  <c:x val="-5.0842030973493831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475-4FB8-A5E9-D509166A1F3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General</c:formatCode>
                <c:ptCount val="6"/>
                <c:pt idx="5" formatCode="0%">
                  <c:v>0.3</c:v>
                </c:pt>
              </c:numCache>
            </c:numRef>
          </c:val>
          <c:smooth val="0"/>
          <c:extLst>
            <c:ext xmlns:c16="http://schemas.microsoft.com/office/drawing/2014/chart" uri="{C3380CC4-5D6E-409C-BE32-E72D297353CC}">
              <c16:uniqueId val="{00000000-5475-4FB8-A5E9-D509166A1F39}"/>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General"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ZP18</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B9B-485E-B25E-878768966EDB}"/>
                </c:ext>
              </c:extLst>
            </c:dLbl>
            <c:dLbl>
              <c:idx val="1"/>
              <c:layout>
                <c:manualLayout>
                  <c:x val="-5.0842030973493831E-2"/>
                  <c:y val="-0.237487922705314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B9B-485E-B25E-878768966EDB}"/>
                </c:ext>
              </c:extLst>
            </c:dLbl>
            <c:dLbl>
              <c:idx val="2"/>
              <c:layout>
                <c:manualLayout>
                  <c:x val="-5.0842030973493831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B9B-485E-B25E-878768966EDB}"/>
                </c:ext>
              </c:extLst>
            </c:dLbl>
            <c:dLbl>
              <c:idx val="3"/>
              <c:layout>
                <c:manualLayout>
                  <c:x val="-5.0842030973493831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B9B-485E-B25E-878768966EDB}"/>
                </c:ext>
              </c:extLst>
            </c:dLbl>
            <c:dLbl>
              <c:idx val="4"/>
              <c:layout>
                <c:manualLayout>
                  <c:x val="-5.0842030973493831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B9B-485E-B25E-878768966EDB}"/>
                </c:ext>
              </c:extLst>
            </c:dLbl>
            <c:dLbl>
              <c:idx val="5"/>
              <c:layout>
                <c:manualLayout>
                  <c:x val="-5.0842030973493831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B9B-485E-B25E-878768966ED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0.37</c:v>
                </c:pt>
                <c:pt idx="1">
                  <c:v>0.28999999999999998</c:v>
                </c:pt>
                <c:pt idx="2">
                  <c:v>0.18</c:v>
                </c:pt>
                <c:pt idx="3">
                  <c:v>0.19</c:v>
                </c:pt>
                <c:pt idx="4">
                  <c:v>0.33</c:v>
                </c:pt>
                <c:pt idx="5">
                  <c:v>0.15</c:v>
                </c:pt>
              </c:numCache>
            </c:numRef>
          </c:val>
          <c:smooth val="0"/>
          <c:extLst>
            <c:ext xmlns:c16="http://schemas.microsoft.com/office/drawing/2014/chart" uri="{C3380CC4-5D6E-409C-BE32-E72D297353CC}">
              <c16:uniqueId val="{00000000-AB9B-485E-B25E-878768966EDB}"/>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ZP19</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62512077294686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D4B-4416-9858-27007A8A43F8}"/>
                </c:ext>
              </c:extLst>
            </c:dLbl>
            <c:dLbl>
              <c:idx val="1"/>
              <c:layout>
                <c:manualLayout>
                  <c:x val="-5.0842030973493831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D4B-4416-9858-27007A8A43F8}"/>
                </c:ext>
              </c:extLst>
            </c:dLbl>
            <c:dLbl>
              <c:idx val="2"/>
              <c:layout>
                <c:manualLayout>
                  <c:x val="-4.3573542037056774E-2"/>
                  <c:y val="-0.309432367149758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D4B-4416-9858-27007A8A43F8}"/>
                </c:ext>
              </c:extLst>
            </c:dLbl>
            <c:dLbl>
              <c:idx val="3"/>
              <c:layout>
                <c:manualLayout>
                  <c:x val="-5.0842030973493831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D4B-4416-9858-27007A8A43F8}"/>
                </c:ext>
              </c:extLst>
            </c:dLbl>
            <c:dLbl>
              <c:idx val="4"/>
              <c:layout>
                <c:manualLayout>
                  <c:x val="-5.0842030973493831E-2"/>
                  <c:y val="-0.293792270531400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D4B-4416-9858-27007A8A43F8}"/>
                </c:ext>
              </c:extLst>
            </c:dLbl>
            <c:dLbl>
              <c:idx val="5"/>
              <c:layout>
                <c:manualLayout>
                  <c:x val="-5.0842030973493831E-2"/>
                  <c:y val="-0.296920289855072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D4B-4416-9858-27007A8A43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0.21</c:v>
                </c:pt>
                <c:pt idx="1">
                  <c:v>0.24</c:v>
                </c:pt>
                <c:pt idx="2">
                  <c:v>0.06</c:v>
                </c:pt>
                <c:pt idx="3">
                  <c:v>0.31</c:v>
                </c:pt>
                <c:pt idx="4">
                  <c:v>0.11</c:v>
                </c:pt>
                <c:pt idx="5">
                  <c:v>0.1</c:v>
                </c:pt>
              </c:numCache>
            </c:numRef>
          </c:val>
          <c:smooth val="0"/>
          <c:extLst>
            <c:ext xmlns:c16="http://schemas.microsoft.com/office/drawing/2014/chart" uri="{C3380CC4-5D6E-409C-BE32-E72D297353CC}">
              <c16:uniqueId val="{00000006-ED4B-4416-9858-27007A8A43F8}"/>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ZP8</c:v>
                </c:pt>
              </c:strCache>
            </c:strRef>
          </c:tx>
          <c:spPr>
            <a:ln w="28575" cap="rnd">
              <a:solidFill>
                <a:srgbClr val="9778D4"/>
              </a:solidFill>
              <a:round/>
            </a:ln>
            <a:effectLst/>
          </c:spPr>
          <c:marker>
            <c:symbol val="circle"/>
            <c:size val="5"/>
            <c:spPr>
              <a:solidFill>
                <a:srgbClr val="9778D4"/>
              </a:solidFill>
              <a:ln w="9525">
                <a:noFill/>
              </a:ln>
              <a:effectLst/>
            </c:spPr>
          </c:marker>
          <c:dLbls>
            <c:dLbl>
              <c:idx val="0"/>
              <c:layout>
                <c:manualLayout>
                  <c:x val="-5.0842030973493831E-2"/>
                  <c:y val="-0.278152173913043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CAD-4913-A057-4A4069E17B5F}"/>
                </c:ext>
              </c:extLst>
            </c:dLbl>
            <c:dLbl>
              <c:idx val="1"/>
              <c:layout>
                <c:manualLayout>
                  <c:x val="-5.0842030973493831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CAD-4913-A057-4A4069E17B5F}"/>
                </c:ext>
              </c:extLst>
            </c:dLbl>
            <c:dLbl>
              <c:idx val="2"/>
              <c:layout>
                <c:manualLayout>
                  <c:x val="-5.0842030973493831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CAD-4913-A057-4A4069E17B5F}"/>
                </c:ext>
              </c:extLst>
            </c:dLbl>
            <c:dLbl>
              <c:idx val="3"/>
              <c:layout>
                <c:manualLayout>
                  <c:x val="-5.0842030973493831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CAD-4913-A057-4A4069E17B5F}"/>
                </c:ext>
              </c:extLst>
            </c:dLbl>
            <c:dLbl>
              <c:idx val="4"/>
              <c:layout>
                <c:manualLayout>
                  <c:x val="-4.3573542037056774E-2"/>
                  <c:y val="-0.309432367149758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CAD-4913-A057-4A4069E17B5F}"/>
                </c:ext>
              </c:extLst>
            </c:dLbl>
            <c:dLbl>
              <c:idx val="5"/>
              <c:layout>
                <c:manualLayout>
                  <c:x val="-5.0842030973493831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CAD-4913-A057-4A4069E17B5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Sheet1!$B$2:$B$7</c:f>
              <c:numCache>
                <c:formatCode>0%</c:formatCode>
                <c:ptCount val="6"/>
                <c:pt idx="0">
                  <c:v>0.16</c:v>
                </c:pt>
                <c:pt idx="1">
                  <c:v>0.24</c:v>
                </c:pt>
                <c:pt idx="2">
                  <c:v>0.18</c:v>
                </c:pt>
                <c:pt idx="3">
                  <c:v>0.25</c:v>
                </c:pt>
                <c:pt idx="4">
                  <c:v>0.06</c:v>
                </c:pt>
                <c:pt idx="5">
                  <c:v>0.15</c:v>
                </c:pt>
              </c:numCache>
            </c:numRef>
          </c:val>
          <c:smooth val="0"/>
          <c:extLst>
            <c:ext xmlns:c16="http://schemas.microsoft.com/office/drawing/2014/chart" uri="{C3380CC4-5D6E-409C-BE32-E72D297353CC}">
              <c16:uniqueId val="{00000006-2CAD-4913-A057-4A4069E17B5F}"/>
            </c:ext>
          </c:extLst>
        </c:ser>
        <c:dLbls>
          <c:dLblPos val="t"/>
          <c:showLegendKey val="0"/>
          <c:showVal val="1"/>
          <c:showCatName val="0"/>
          <c:showSerName val="0"/>
          <c:showPercent val="0"/>
          <c:showBubbleSize val="0"/>
        </c:dLbls>
        <c:marker val="1"/>
        <c:smooth val="0"/>
        <c:axId val="1111398351"/>
        <c:axId val="1111398831"/>
      </c:lineChart>
      <c:catAx>
        <c:axId val="1111398351"/>
        <c:scaling>
          <c:orientation val="minMax"/>
        </c:scaling>
        <c:delete val="1"/>
        <c:axPos val="b"/>
        <c:numFmt formatCode="General" sourceLinked="1"/>
        <c:majorTickMark val="none"/>
        <c:minorTickMark val="none"/>
        <c:tickLblPos val="nextTo"/>
        <c:crossAx val="1111398831"/>
        <c:crosses val="autoZero"/>
        <c:auto val="1"/>
        <c:lblAlgn val="ctr"/>
        <c:lblOffset val="100"/>
        <c:noMultiLvlLbl val="0"/>
      </c:catAx>
      <c:valAx>
        <c:axId val="1111398831"/>
        <c:scaling>
          <c:orientation val="minMax"/>
        </c:scaling>
        <c:delete val="1"/>
        <c:axPos val="l"/>
        <c:numFmt formatCode="0%" sourceLinked="1"/>
        <c:majorTickMark val="none"/>
        <c:minorTickMark val="none"/>
        <c:tickLblPos val="nextTo"/>
        <c:crossAx val="1111398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ZP17</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208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9D6-482A-82A4-F0AE7EC539EF}"/>
                </c:ext>
              </c:extLst>
            </c:dLbl>
            <c:dLbl>
              <c:idx val="1"/>
              <c:layout>
                <c:manualLayout>
                  <c:x val="-4.7223123366675675E-2"/>
                  <c:y val="-0.2388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9D6-482A-82A4-F0AE7EC539EF}"/>
                </c:ext>
              </c:extLst>
            </c:dLbl>
            <c:dLbl>
              <c:idx val="2"/>
              <c:layout>
                <c:manualLayout>
                  <c:x val="-4.7223123366675675E-2"/>
                  <c:y val="-0.236566666666666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9D6-482A-82A4-F0AE7EC539EF}"/>
                </c:ext>
              </c:extLst>
            </c:dLbl>
            <c:dLbl>
              <c:idx val="3"/>
              <c:layout>
                <c:manualLayout>
                  <c:x val="-4.7223123366675675E-2"/>
                  <c:y val="-0.2208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9D6-482A-82A4-F0AE7EC539EF}"/>
                </c:ext>
              </c:extLst>
            </c:dLbl>
            <c:dLbl>
              <c:idx val="4"/>
              <c:layout>
                <c:manualLayout>
                  <c:x val="-4.7223123366675675E-2"/>
                  <c:y val="-0.149249999999999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9D6-482A-82A4-F0AE7EC539EF}"/>
                </c:ext>
              </c:extLst>
            </c:dLbl>
            <c:dLbl>
              <c:idx val="5"/>
              <c:layout>
                <c:manualLayout>
                  <c:x val="-4.7223123366675675E-2"/>
                  <c:y val="-0.2007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9D6-482A-82A4-F0AE7EC539E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0.63</c:v>
                </c:pt>
                <c:pt idx="1">
                  <c:v>0.55000000000000004</c:v>
                </c:pt>
                <c:pt idx="2">
                  <c:v>0.56000000000000005</c:v>
                </c:pt>
                <c:pt idx="3">
                  <c:v>0.63</c:v>
                </c:pt>
                <c:pt idx="4">
                  <c:v>0.95</c:v>
                </c:pt>
                <c:pt idx="5">
                  <c:v>0.72</c:v>
                </c:pt>
              </c:numCache>
            </c:numRef>
          </c:val>
          <c:smooth val="0"/>
          <c:extLst>
            <c:ext xmlns:c16="http://schemas.microsoft.com/office/drawing/2014/chart" uri="{C3380CC4-5D6E-409C-BE32-E72D297353CC}">
              <c16:uniqueId val="{00000006-99D6-482A-82A4-F0AE7EC539EF}"/>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639271875281609E-2"/>
          <c:y val="0.3175"/>
          <c:w val="0.93705505992610616"/>
          <c:h val="0.47083333333333333"/>
        </c:manualLayout>
      </c:layout>
      <c:lineChart>
        <c:grouping val="standard"/>
        <c:varyColors val="0"/>
        <c:ser>
          <c:idx val="0"/>
          <c:order val="0"/>
          <c:tx>
            <c:strRef>
              <c:f>Sheet1!$B$1</c:f>
              <c:strCache>
                <c:ptCount val="1"/>
                <c:pt idx="0">
                  <c:v>ZP16</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0291666666666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C2E-452E-9F12-54E5AB562BEE}"/>
                </c:ext>
              </c:extLst>
            </c:dLbl>
            <c:dLbl>
              <c:idx val="1"/>
              <c:layout>
                <c:manualLayout>
                  <c:x val="-4.7223123366675675E-2"/>
                  <c:y val="-0.23229166666666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C2E-452E-9F12-54E5AB562BEE}"/>
                </c:ext>
              </c:extLst>
            </c:dLbl>
            <c:dLbl>
              <c:idx val="2"/>
              <c:layout>
                <c:manualLayout>
                  <c:x val="-4.7223123366675675E-2"/>
                  <c:y val="-0.208749999999999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C2E-452E-9F12-54E5AB562BEE}"/>
                </c:ext>
              </c:extLst>
            </c:dLbl>
            <c:dLbl>
              <c:idx val="3"/>
              <c:layout>
                <c:manualLayout>
                  <c:x val="-4.7223123366675675E-2"/>
                  <c:y val="-0.2417083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C2E-452E-9F12-54E5AB562BEE}"/>
                </c:ext>
              </c:extLst>
            </c:dLbl>
            <c:dLbl>
              <c:idx val="4"/>
              <c:layout>
                <c:manualLayout>
                  <c:x val="-4.7223123366675675E-2"/>
                  <c:y val="-0.171083333333333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C2E-452E-9F12-54E5AB562BEE}"/>
                </c:ext>
              </c:extLst>
            </c:dLbl>
            <c:dLbl>
              <c:idx val="5"/>
              <c:layout>
                <c:manualLayout>
                  <c:x val="-4.7223123366675675E-2"/>
                  <c:y val="-0.1710833333333333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C2E-452E-9F12-54E5AB562BE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0.4</c:v>
                </c:pt>
                <c:pt idx="1">
                  <c:v>0.55000000000000004</c:v>
                </c:pt>
                <c:pt idx="2">
                  <c:v>0.6</c:v>
                </c:pt>
                <c:pt idx="3">
                  <c:v>0.53</c:v>
                </c:pt>
                <c:pt idx="4">
                  <c:v>0.68</c:v>
                </c:pt>
                <c:pt idx="5">
                  <c:v>0.68</c:v>
                </c:pt>
              </c:numCache>
            </c:numRef>
          </c:val>
          <c:smooth val="0"/>
          <c:extLst>
            <c:ext xmlns:c16="http://schemas.microsoft.com/office/drawing/2014/chart" uri="{C3380CC4-5D6E-409C-BE32-E72D297353CC}">
              <c16:uniqueId val="{00000006-BC2E-452E-9F12-54E5AB562BEE}"/>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119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642-40CA-9EE3-C965B9136B11}"/>
                </c:ext>
              </c:extLst>
            </c:dLbl>
            <c:dLbl>
              <c:idx val="1"/>
              <c:layout>
                <c:manualLayout>
                  <c:x val="-4.7223123366675675E-2"/>
                  <c:y val="-0.2388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642-40CA-9EE3-C965B9136B11}"/>
                </c:ext>
              </c:extLst>
            </c:dLbl>
            <c:dLbl>
              <c:idx val="2"/>
              <c:layout>
                <c:manualLayout>
                  <c:x val="-4.7223123366675675E-2"/>
                  <c:y val="-0.21417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642-40CA-9EE3-C965B9136B11}"/>
                </c:ext>
              </c:extLst>
            </c:dLbl>
            <c:dLbl>
              <c:idx val="3"/>
              <c:layout>
                <c:manualLayout>
                  <c:x val="-4.7223123366675675E-2"/>
                  <c:y val="-0.20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642-40CA-9EE3-C965B9136B11}"/>
                </c:ext>
              </c:extLst>
            </c:dLbl>
            <c:dLbl>
              <c:idx val="4"/>
              <c:layout>
                <c:manualLayout>
                  <c:x val="-4.7223123366675675E-2"/>
                  <c:y val="-0.23432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642-40CA-9EE3-C965B9136B11}"/>
                </c:ext>
              </c:extLst>
            </c:dLbl>
            <c:dLbl>
              <c:idx val="5"/>
              <c:layout>
                <c:manualLayout>
                  <c:x val="-4.7223123366675675E-2"/>
                  <c:y val="-0.2320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642-40CA-9EE3-C965B9136B1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0.56999999999999995</c:v>
                </c:pt>
                <c:pt idx="1">
                  <c:v>0.45</c:v>
                </c:pt>
                <c:pt idx="2">
                  <c:v>0.56000000000000005</c:v>
                </c:pt>
                <c:pt idx="3">
                  <c:v>0.57999999999999996</c:v>
                </c:pt>
                <c:pt idx="4">
                  <c:v>0.47</c:v>
                </c:pt>
                <c:pt idx="5">
                  <c:v>0.48</c:v>
                </c:pt>
              </c:numCache>
            </c:numRef>
          </c:val>
          <c:smooth val="0"/>
          <c:extLst>
            <c:ext xmlns:c16="http://schemas.microsoft.com/office/drawing/2014/chart" uri="{C3380CC4-5D6E-409C-BE32-E72D297353CC}">
              <c16:uniqueId val="{00000006-3642-40CA-9EE3-C965B9136B1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ZP15</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6567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A2F-40B7-A5ED-57E80156F376}"/>
                </c:ext>
              </c:extLst>
            </c:dLbl>
            <c:dLbl>
              <c:idx val="1"/>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A2F-40B7-A5ED-57E80156F376}"/>
                </c:ext>
              </c:extLst>
            </c:dLbl>
            <c:dLbl>
              <c:idx val="2"/>
              <c:layout>
                <c:manualLayout>
                  <c:x val="-4.7223123366675675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A2F-40B7-A5ED-57E80156F376}"/>
                </c:ext>
              </c:extLst>
            </c:dLbl>
            <c:dLbl>
              <c:idx val="3"/>
              <c:layout>
                <c:manualLayout>
                  <c:x val="-4.7223123366675675E-2"/>
                  <c:y val="-0.2567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A2F-40B7-A5ED-57E80156F376}"/>
                </c:ext>
              </c:extLst>
            </c:dLbl>
            <c:dLbl>
              <c:idx val="4"/>
              <c:layout>
                <c:manualLayout>
                  <c:x val="-4.7223123366675675E-2"/>
                  <c:y val="-0.1985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A2F-40B7-A5ED-57E80156F376}"/>
                </c:ext>
              </c:extLst>
            </c:dLbl>
            <c:dLbl>
              <c:idx val="5"/>
              <c:layout>
                <c:manualLayout>
                  <c:x val="-4.7223123366675675E-2"/>
                  <c:y val="-0.2320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A2F-40B7-A5ED-57E80156F37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0.33</c:v>
                </c:pt>
                <c:pt idx="1">
                  <c:v>0.36</c:v>
                </c:pt>
                <c:pt idx="2">
                  <c:v>0.4</c:v>
                </c:pt>
                <c:pt idx="3">
                  <c:v>0.37</c:v>
                </c:pt>
                <c:pt idx="4">
                  <c:v>0.63</c:v>
                </c:pt>
                <c:pt idx="5">
                  <c:v>0.48</c:v>
                </c:pt>
              </c:numCache>
            </c:numRef>
          </c:val>
          <c:smooth val="0"/>
          <c:extLst>
            <c:ext xmlns:c16="http://schemas.microsoft.com/office/drawing/2014/chart" uri="{C3380CC4-5D6E-409C-BE32-E72D297353CC}">
              <c16:uniqueId val="{00000006-9A2F-40B7-A5ED-57E80156F37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ZP21</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0522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015-4073-AD57-3F93714D8CF6}"/>
                </c:ext>
              </c:extLst>
            </c:dLbl>
            <c:dLbl>
              <c:idx val="1"/>
              <c:layout>
                <c:manualLayout>
                  <c:x val="-4.7223123366675675E-2"/>
                  <c:y val="-0.19626666666666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015-4073-AD57-3F93714D8CF6}"/>
                </c:ext>
              </c:extLst>
            </c:dLbl>
            <c:dLbl>
              <c:idx val="2"/>
              <c:layout>
                <c:manualLayout>
                  <c:x val="-4.7223123366675675E-2"/>
                  <c:y val="-0.19626666666666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015-4073-AD57-3F93714D8CF6}"/>
                </c:ext>
              </c:extLst>
            </c:dLbl>
            <c:dLbl>
              <c:idx val="3"/>
              <c:layout>
                <c:manualLayout>
                  <c:x val="-4.7223123366675675E-2"/>
                  <c:y val="-0.245522222222222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015-4073-AD57-3F93714D8CF6}"/>
                </c:ext>
              </c:extLst>
            </c:dLbl>
            <c:dLbl>
              <c:idx val="4"/>
              <c:layout>
                <c:manualLayout>
                  <c:x val="-4.7223123366675675E-2"/>
                  <c:y val="-0.1985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015-4073-AD57-3F93714D8CF6}"/>
                </c:ext>
              </c:extLst>
            </c:dLbl>
            <c:dLbl>
              <c:idx val="5"/>
              <c:layout>
                <c:manualLayout>
                  <c:x val="-4.7223123366675675E-2"/>
                  <c:y val="-0.2320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015-4073-AD57-3F93714D8CF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0.6</c:v>
                </c:pt>
                <c:pt idx="1">
                  <c:v>0.64</c:v>
                </c:pt>
                <c:pt idx="2">
                  <c:v>0.64</c:v>
                </c:pt>
                <c:pt idx="3">
                  <c:v>0.42</c:v>
                </c:pt>
                <c:pt idx="4">
                  <c:v>0.63</c:v>
                </c:pt>
                <c:pt idx="5">
                  <c:v>0.48</c:v>
                </c:pt>
              </c:numCache>
            </c:numRef>
          </c:val>
          <c:smooth val="0"/>
          <c:extLst>
            <c:ext xmlns:c16="http://schemas.microsoft.com/office/drawing/2014/chart" uri="{C3380CC4-5D6E-409C-BE32-E72D297353CC}">
              <c16:uniqueId val="{00000006-E015-4073-AD57-3F93714D8CF6}"/>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ZP23</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119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B67-4C1F-BAF3-05F36F31B470}"/>
                </c:ext>
              </c:extLst>
            </c:dLbl>
            <c:dLbl>
              <c:idx val="1"/>
              <c:layout>
                <c:manualLayout>
                  <c:x val="-4.7223123366675675E-2"/>
                  <c:y val="-0.24776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B67-4C1F-BAF3-05F36F31B470}"/>
                </c:ext>
              </c:extLst>
            </c:dLbl>
            <c:dLbl>
              <c:idx val="2"/>
              <c:layout>
                <c:manualLayout>
                  <c:x val="-4.7223123366675675E-2"/>
                  <c:y val="-0.2410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B67-4C1F-BAF3-05F36F31B470}"/>
                </c:ext>
              </c:extLst>
            </c:dLbl>
            <c:dLbl>
              <c:idx val="3"/>
              <c:layout>
                <c:manualLayout>
                  <c:x val="-4.7223123366675675E-2"/>
                  <c:y val="-0.2567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B67-4C1F-BAF3-05F36F31B470}"/>
                </c:ext>
              </c:extLst>
            </c:dLbl>
            <c:dLbl>
              <c:idx val="4"/>
              <c:layout>
                <c:manualLayout>
                  <c:x val="-4.7223123366675675E-2"/>
                  <c:y val="-0.1985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B67-4C1F-BAF3-05F36F31B470}"/>
                </c:ext>
              </c:extLst>
            </c:dLbl>
            <c:dLbl>
              <c:idx val="5"/>
              <c:layout>
                <c:manualLayout>
                  <c:x val="-4.7223123366675675E-2"/>
                  <c:y val="-0.2410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B67-4C1F-BAF3-05F36F31B47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0.56999999999999995</c:v>
                </c:pt>
                <c:pt idx="1">
                  <c:v>0.41</c:v>
                </c:pt>
                <c:pt idx="2">
                  <c:v>0.44</c:v>
                </c:pt>
                <c:pt idx="3">
                  <c:v>0.37</c:v>
                </c:pt>
                <c:pt idx="4">
                  <c:v>0.63</c:v>
                </c:pt>
                <c:pt idx="5">
                  <c:v>0.44</c:v>
                </c:pt>
              </c:numCache>
            </c:numRef>
          </c:val>
          <c:smooth val="0"/>
          <c:extLst>
            <c:ext xmlns:c16="http://schemas.microsoft.com/office/drawing/2014/chart" uri="{C3380CC4-5D6E-409C-BE32-E72D297353CC}">
              <c16:uniqueId val="{00000006-8B67-4C1F-BAF3-05F36F31B47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ZP19</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5D5-4235-B6C0-C77C9A80B27B}"/>
                </c:ext>
              </c:extLst>
            </c:dLbl>
            <c:dLbl>
              <c:idx val="1"/>
              <c:layout>
                <c:manualLayout>
                  <c:x val="-4.7223123366675675E-2"/>
                  <c:y val="-0.2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5D5-4235-B6C0-C77C9A80B27B}"/>
                </c:ext>
              </c:extLst>
            </c:dLbl>
            <c:dLbl>
              <c:idx val="2"/>
              <c:layout>
                <c:manualLayout>
                  <c:x val="-4.7223123366675675E-2"/>
                  <c:y val="-0.223133333333333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5D5-4235-B6C0-C77C9A80B27B}"/>
                </c:ext>
              </c:extLst>
            </c:dLbl>
            <c:dLbl>
              <c:idx val="3"/>
              <c:layout>
                <c:manualLayout>
                  <c:x val="-4.7223123366675675E-2"/>
                  <c:y val="-0.2679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5D5-4235-B6C0-C77C9A80B27B}"/>
                </c:ext>
              </c:extLst>
            </c:dLbl>
            <c:dLbl>
              <c:idx val="4"/>
              <c:layout>
                <c:manualLayout>
                  <c:x val="-4.7223123366675675E-2"/>
                  <c:y val="-0.256716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5D5-4235-B6C0-C77C9A80B27B}"/>
                </c:ext>
              </c:extLst>
            </c:dLbl>
            <c:dLbl>
              <c:idx val="5"/>
              <c:layout>
                <c:manualLayout>
                  <c:x val="-4.7223123366675675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5D5-4235-B6C0-C77C9A80B27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0.4</c:v>
                </c:pt>
                <c:pt idx="1">
                  <c:v>0.5</c:v>
                </c:pt>
                <c:pt idx="2">
                  <c:v>0.52</c:v>
                </c:pt>
                <c:pt idx="3">
                  <c:v>0.32</c:v>
                </c:pt>
                <c:pt idx="4">
                  <c:v>0.37</c:v>
                </c:pt>
                <c:pt idx="5">
                  <c:v>0.4</c:v>
                </c:pt>
              </c:numCache>
            </c:numRef>
          </c:val>
          <c:smooth val="0"/>
          <c:extLst>
            <c:ext xmlns:c16="http://schemas.microsoft.com/office/drawing/2014/chart" uri="{C3380CC4-5D6E-409C-BE32-E72D297353CC}">
              <c16:uniqueId val="{00000006-85D5-4235-B6C0-C77C9A80B27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ZP24</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0062967468685227E-2"/>
                  <c:y val="-0.3395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46B-49EB-AFD4-C43519FBA3E8}"/>
                </c:ext>
              </c:extLst>
            </c:dLbl>
            <c:dLbl>
              <c:idx val="1"/>
              <c:layout>
                <c:manualLayout>
                  <c:x val="-4.0062967468685227E-2"/>
                  <c:y val="-0.3395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46B-49EB-AFD4-C43519FBA3E8}"/>
                </c:ext>
              </c:extLst>
            </c:dLbl>
            <c:dLbl>
              <c:idx val="2"/>
              <c:layout>
                <c:manualLayout>
                  <c:x val="-4.0062967468685227E-2"/>
                  <c:y val="-0.3395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46B-49EB-AFD4-C43519FBA3E8}"/>
                </c:ext>
              </c:extLst>
            </c:dLbl>
            <c:dLbl>
              <c:idx val="3"/>
              <c:layout>
                <c:manualLayout>
                  <c:x val="-4.0062967468685227E-2"/>
                  <c:y val="-0.3395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46B-49EB-AFD4-C43519FBA3E8}"/>
                </c:ext>
              </c:extLst>
            </c:dLbl>
            <c:dLbl>
              <c:idx val="4"/>
              <c:layout>
                <c:manualLayout>
                  <c:x val="-4.0062967468685227E-2"/>
                  <c:y val="-0.3395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46B-49EB-AFD4-C43519FBA3E8}"/>
                </c:ext>
              </c:extLst>
            </c:dLbl>
            <c:dLbl>
              <c:idx val="5"/>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46B-49EB-AFD4-C43519FBA3E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General</c:formatCode>
                <c:ptCount val="6"/>
                <c:pt idx="5" formatCode="0%">
                  <c:v>0.36</c:v>
                </c:pt>
              </c:numCache>
            </c:numRef>
          </c:val>
          <c:smooth val="0"/>
          <c:extLst>
            <c:ext xmlns:c16="http://schemas.microsoft.com/office/drawing/2014/chart" uri="{C3380CC4-5D6E-409C-BE32-E72D297353CC}">
              <c16:uniqueId val="{00000006-446B-49EB-AFD4-C43519FBA3E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ZP7</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34327777777777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CF3-4807-B17C-209B7095AB41}"/>
                </c:ext>
              </c:extLst>
            </c:dLbl>
            <c:dLbl>
              <c:idx val="1"/>
              <c:layout>
                <c:manualLayout>
                  <c:x val="-4.7223123366675675E-2"/>
                  <c:y val="-0.2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CF3-4807-B17C-209B7095AB41}"/>
                </c:ext>
              </c:extLst>
            </c:dLbl>
            <c:dLbl>
              <c:idx val="2"/>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CF3-4807-B17C-209B7095AB41}"/>
                </c:ext>
              </c:extLst>
            </c:dLbl>
            <c:dLbl>
              <c:idx val="3"/>
              <c:layout>
                <c:manualLayout>
                  <c:x val="-4.7223123366675675E-2"/>
                  <c:y val="-0.2679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CF3-4807-B17C-209B7095AB41}"/>
                </c:ext>
              </c:extLst>
            </c:dLbl>
            <c:dLbl>
              <c:idx val="4"/>
              <c:layout>
                <c:manualLayout>
                  <c:x val="-4.7223123366675675E-2"/>
                  <c:y val="-0.20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CF3-4807-B17C-209B7095AB41}"/>
                </c:ext>
              </c:extLst>
            </c:dLbl>
            <c:dLbl>
              <c:idx val="5"/>
              <c:layout>
                <c:manualLayout>
                  <c:x val="-4.7223123366675675E-2"/>
                  <c:y val="-0.25895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CF3-4807-B17C-209B7095AB4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0.47</c:v>
                </c:pt>
                <c:pt idx="1">
                  <c:v>0.5</c:v>
                </c:pt>
                <c:pt idx="2">
                  <c:v>0.36</c:v>
                </c:pt>
                <c:pt idx="3">
                  <c:v>0.32</c:v>
                </c:pt>
                <c:pt idx="4">
                  <c:v>0.57999999999999996</c:v>
                </c:pt>
                <c:pt idx="5">
                  <c:v>0.36</c:v>
                </c:pt>
              </c:numCache>
            </c:numRef>
          </c:val>
          <c:smooth val="0"/>
          <c:extLst>
            <c:ext xmlns:c16="http://schemas.microsoft.com/office/drawing/2014/chart" uri="{C3380CC4-5D6E-409C-BE32-E72D297353CC}">
              <c16:uniqueId val="{00000006-5CF3-4807-B17C-209B7095AB4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ZP18</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7238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2AF-4882-AECC-D6E778ADAAF0}"/>
                </c:ext>
              </c:extLst>
            </c:dLbl>
            <c:dLbl>
              <c:idx val="1"/>
              <c:layout>
                <c:manualLayout>
                  <c:x val="-4.7223123366675675E-2"/>
                  <c:y val="-0.2388055555555555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2AF-4882-AECC-D6E778ADAAF0}"/>
                </c:ext>
              </c:extLst>
            </c:dLbl>
            <c:dLbl>
              <c:idx val="2"/>
              <c:layout>
                <c:manualLayout>
                  <c:x val="-4.7223123366675675E-2"/>
                  <c:y val="-0.28582222222222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2AF-4882-AECC-D6E778ADAAF0}"/>
                </c:ext>
              </c:extLst>
            </c:dLbl>
            <c:dLbl>
              <c:idx val="3"/>
              <c:layout>
                <c:manualLayout>
                  <c:x val="-4.7223123366675675E-2"/>
                  <c:y val="-0.303733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2AF-4882-AECC-D6E778ADAAF0}"/>
                </c:ext>
              </c:extLst>
            </c:dLbl>
            <c:dLbl>
              <c:idx val="4"/>
              <c:layout>
                <c:manualLayout>
                  <c:x val="-4.7223123366675675E-2"/>
                  <c:y val="-0.2813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2AF-4882-AECC-D6E778ADAAF0}"/>
                </c:ext>
              </c:extLst>
            </c:dLbl>
            <c:dLbl>
              <c:idx val="5"/>
              <c:layout>
                <c:manualLayout>
                  <c:x val="-4.7223123366675675E-2"/>
                  <c:y val="-0.2679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2AF-4882-AECC-D6E778ADAAF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0.3</c:v>
                </c:pt>
                <c:pt idx="1">
                  <c:v>0.45</c:v>
                </c:pt>
                <c:pt idx="2">
                  <c:v>0.24</c:v>
                </c:pt>
                <c:pt idx="3">
                  <c:v>0.16</c:v>
                </c:pt>
                <c:pt idx="4">
                  <c:v>0.26</c:v>
                </c:pt>
                <c:pt idx="5">
                  <c:v>0.32</c:v>
                </c:pt>
              </c:numCache>
            </c:numRef>
          </c:val>
          <c:smooth val="0"/>
          <c:extLst>
            <c:ext xmlns:c16="http://schemas.microsoft.com/office/drawing/2014/chart" uri="{C3380CC4-5D6E-409C-BE32-E72D297353CC}">
              <c16:uniqueId val="{00000006-F2AF-4882-AECC-D6E778ADAAF0}"/>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ZP20</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294777777777777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897-4188-9F0A-77367DEE155B}"/>
                </c:ext>
              </c:extLst>
            </c:dLbl>
            <c:dLbl>
              <c:idx val="1"/>
              <c:layout>
                <c:manualLayout>
                  <c:x val="-4.7223123366675675E-2"/>
                  <c:y val="-0.3082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897-4188-9F0A-77367DEE155B}"/>
                </c:ext>
              </c:extLst>
            </c:dLbl>
            <c:dLbl>
              <c:idx val="2"/>
              <c:layout>
                <c:manualLayout>
                  <c:x val="-4.7223123366675675E-2"/>
                  <c:y val="-0.294777777777777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897-4188-9F0A-77367DEE155B}"/>
                </c:ext>
              </c:extLst>
            </c:dLbl>
            <c:dLbl>
              <c:idx val="3"/>
              <c:layout>
                <c:manualLayout>
                  <c:x val="-4.7223123366675675E-2"/>
                  <c:y val="-0.2813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897-4188-9F0A-77367DEE155B}"/>
                </c:ext>
              </c:extLst>
            </c:dLbl>
            <c:dLbl>
              <c:idx val="4"/>
              <c:layout>
                <c:manualLayout>
                  <c:x val="-4.7223123366675675E-2"/>
                  <c:y val="-0.28134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897-4188-9F0A-77367DEE155B}"/>
                </c:ext>
              </c:extLst>
            </c:dLbl>
            <c:dLbl>
              <c:idx val="5"/>
              <c:layout>
                <c:manualLayout>
                  <c:x val="-4.7223123366675675E-2"/>
                  <c:y val="-0.303733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897-4188-9F0A-77367DEE155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0.2</c:v>
                </c:pt>
                <c:pt idx="1">
                  <c:v>0.14000000000000001</c:v>
                </c:pt>
                <c:pt idx="2">
                  <c:v>0.2</c:v>
                </c:pt>
                <c:pt idx="3">
                  <c:v>0.26</c:v>
                </c:pt>
                <c:pt idx="4">
                  <c:v>0.26</c:v>
                </c:pt>
                <c:pt idx="5">
                  <c:v>0.16</c:v>
                </c:pt>
              </c:numCache>
            </c:numRef>
          </c:val>
          <c:smooth val="0"/>
          <c:extLst>
            <c:ext xmlns:c16="http://schemas.microsoft.com/office/drawing/2014/chart" uri="{C3380CC4-5D6E-409C-BE32-E72D297353CC}">
              <c16:uniqueId val="{00000006-5897-4188-9F0A-77367DEE155B}"/>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ZP22</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301494444444444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3D8-4EF8-BDBC-5E6A0BF7860C}"/>
                </c:ext>
              </c:extLst>
            </c:dLbl>
            <c:dLbl>
              <c:idx val="1"/>
              <c:layout>
                <c:manualLayout>
                  <c:x val="-4.7223123366675675E-2"/>
                  <c:y val="-0.2276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3D8-4EF8-BDBC-5E6A0BF7860C}"/>
                </c:ext>
              </c:extLst>
            </c:dLbl>
            <c:dLbl>
              <c:idx val="2"/>
              <c:layout>
                <c:manualLayout>
                  <c:x val="-4.7223123366675675E-2"/>
                  <c:y val="-0.294777777777777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3D8-4EF8-BDBC-5E6A0BF7860C}"/>
                </c:ext>
              </c:extLst>
            </c:dLbl>
            <c:dLbl>
              <c:idx val="3"/>
              <c:layout>
                <c:manualLayout>
                  <c:x val="-4.7223123366675675E-2"/>
                  <c:y val="-0.2925388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3D8-4EF8-BDBC-5E6A0BF7860C}"/>
                </c:ext>
              </c:extLst>
            </c:dLbl>
            <c:dLbl>
              <c:idx val="4"/>
              <c:layout>
                <c:manualLayout>
                  <c:x val="-4.7223123366675675E-2"/>
                  <c:y val="-0.2679111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3D8-4EF8-BDBC-5E6A0BF7860C}"/>
                </c:ext>
              </c:extLst>
            </c:dLbl>
            <c:dLbl>
              <c:idx val="5"/>
              <c:layout>
                <c:manualLayout>
                  <c:x val="-4.7223123366675675E-2"/>
                  <c:y val="-0.30373333333333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3D8-4EF8-BDBC-5E6A0BF7860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0.17</c:v>
                </c:pt>
                <c:pt idx="1">
                  <c:v>0.5</c:v>
                </c:pt>
                <c:pt idx="2">
                  <c:v>0.2</c:v>
                </c:pt>
                <c:pt idx="3">
                  <c:v>0.21</c:v>
                </c:pt>
                <c:pt idx="4">
                  <c:v>0.32</c:v>
                </c:pt>
                <c:pt idx="5">
                  <c:v>0.16</c:v>
                </c:pt>
              </c:numCache>
            </c:numRef>
          </c:val>
          <c:smooth val="0"/>
          <c:extLst>
            <c:ext xmlns:c16="http://schemas.microsoft.com/office/drawing/2014/chart" uri="{C3380CC4-5D6E-409C-BE32-E72D297353CC}">
              <c16:uniqueId val="{00000006-E3D8-4EF8-BDBC-5E6A0BF7860C}"/>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639271875281609E-2"/>
          <c:y val="0.3175"/>
          <c:w val="0.95136068341735214"/>
          <c:h val="0.47083333333333333"/>
        </c:manualLayout>
      </c:layout>
      <c:lineChart>
        <c:grouping val="standard"/>
        <c:varyColors val="0"/>
        <c:ser>
          <c:idx val="0"/>
          <c:order val="0"/>
          <c:tx>
            <c:strRef>
              <c:f>Sheet1!$B$1</c:f>
              <c:strCache>
                <c:ptCount val="1"/>
                <c:pt idx="0">
                  <c:v>ZP8</c:v>
                </c:pt>
              </c:strCache>
            </c:strRef>
          </c:tx>
          <c:spPr>
            <a:ln w="28575" cap="rnd">
              <a:solidFill>
                <a:srgbClr val="9778D4"/>
              </a:solidFill>
              <a:round/>
            </a:ln>
            <a:effectLst/>
          </c:spPr>
          <c:marker>
            <c:symbol val="circle"/>
            <c:size val="3"/>
            <c:spPr>
              <a:solidFill>
                <a:srgbClr val="9778D4"/>
              </a:solidFill>
              <a:ln w="28575">
                <a:solidFill>
                  <a:srgbClr val="9778D4"/>
                </a:solidFill>
              </a:ln>
              <a:effectLst/>
            </c:spPr>
          </c:marker>
          <c:dLbls>
            <c:dLbl>
              <c:idx val="0"/>
              <c:layout>
                <c:manualLayout>
                  <c:x val="-4.7223123366675675E-2"/>
                  <c:y val="-0.40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6EB-4EA7-9F52-BEE57A8C6528}"/>
                </c:ext>
              </c:extLst>
            </c:dLbl>
            <c:dLbl>
              <c:idx val="1"/>
              <c:layout>
                <c:manualLayout>
                  <c:x val="-4.7223123366675675E-2"/>
                  <c:y val="-0.382958333333333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6EB-4EA7-9F52-BEE57A8C6528}"/>
                </c:ext>
              </c:extLst>
            </c:dLbl>
            <c:dLbl>
              <c:idx val="2"/>
              <c:layout>
                <c:manualLayout>
                  <c:x val="-4.7223123366675675E-2"/>
                  <c:y val="-0.40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6EB-4EA7-9F52-BEE57A8C6528}"/>
                </c:ext>
              </c:extLst>
            </c:dLbl>
            <c:dLbl>
              <c:idx val="3"/>
              <c:layout>
                <c:manualLayout>
                  <c:x val="-4.7223123366675675E-2"/>
                  <c:y val="-0.317041666666666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6EB-4EA7-9F52-BEE57A8C6528}"/>
                </c:ext>
              </c:extLst>
            </c:dLbl>
            <c:dLbl>
              <c:idx val="4"/>
              <c:layout>
                <c:manualLayout>
                  <c:x val="-4.7223123366675675E-2"/>
                  <c:y val="-0.40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6EB-4EA7-9F52-BEE57A8C6528}"/>
                </c:ext>
              </c:extLst>
            </c:dLbl>
            <c:dLbl>
              <c:idx val="5"/>
              <c:layout>
                <c:manualLayout>
                  <c:x val="-4.7223123366675675E-2"/>
                  <c:y val="-0.408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6EB-4EA7-9F52-BEE57A8C652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Sheet1!$B$2:$B$7</c:f>
              <c:numCache>
                <c:formatCode>0%</c:formatCode>
                <c:ptCount val="6"/>
                <c:pt idx="0">
                  <c:v>0.17</c:v>
                </c:pt>
                <c:pt idx="1">
                  <c:v>0.23</c:v>
                </c:pt>
                <c:pt idx="2">
                  <c:v>0.16</c:v>
                </c:pt>
                <c:pt idx="3">
                  <c:v>0.37</c:v>
                </c:pt>
                <c:pt idx="4">
                  <c:v>0.16</c:v>
                </c:pt>
                <c:pt idx="5">
                  <c:v>0.12</c:v>
                </c:pt>
              </c:numCache>
            </c:numRef>
          </c:val>
          <c:smooth val="0"/>
          <c:extLst>
            <c:ext xmlns:c16="http://schemas.microsoft.com/office/drawing/2014/chart" uri="{C3380CC4-5D6E-409C-BE32-E72D297353CC}">
              <c16:uniqueId val="{00000006-06EB-4EA7-9F52-BEE57A8C6528}"/>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0.9"/>
        </c:scaling>
        <c:delete val="1"/>
        <c:axPos val="l"/>
        <c:numFmt formatCode="0%" sourceLinked="0"/>
        <c:majorTickMark val="out"/>
        <c:minorTickMark val="none"/>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C1</c:v>
                </c:pt>
                <c:pt idx="1">
                  <c:v>CREON maintains category leading coverage: 89% of national commercial and Medicare Part D insured lives have preferred access to CREON with the lowest branded copay, without a prior authorization.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43871496107689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F68-464D-B249-11F4CFE25BE4}"/>
                </c:ext>
              </c:extLst>
            </c:dLbl>
            <c:dLbl>
              <c:idx val="1"/>
              <c:layout>
                <c:manualLayout>
                  <c:x val="-5.0917884221442888E-2"/>
                  <c:y val="-0.28961863341917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F68-464D-B249-11F4CFE25BE4}"/>
                </c:ext>
              </c:extLst>
            </c:dLbl>
            <c:dLbl>
              <c:idx val="2"/>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CF68-464D-B249-11F4CFE25BE4}"/>
                </c:ext>
              </c:extLst>
            </c:dLbl>
            <c:dLbl>
              <c:idx val="3"/>
              <c:layout>
                <c:manualLayout>
                  <c:x val="-5.0917884221442888E-2"/>
                  <c:y val="-0.380039085713609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CF68-464D-B249-11F4CFE25BE4}"/>
                </c:ext>
              </c:extLst>
            </c:dLbl>
            <c:dLbl>
              <c:idx val="4"/>
              <c:layout>
                <c:manualLayout>
                  <c:x val="-5.0917884221442888E-2"/>
                  <c:y val="-0.343871496107689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CF68-464D-B249-11F4CFE25BE4}"/>
                </c:ext>
              </c:extLst>
            </c:dLbl>
            <c:dLbl>
              <c:idx val="5"/>
              <c:layout>
                <c:manualLayout>
                  <c:x val="-5.0917884221442888E-2"/>
                  <c:y val="-0.27153336033657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CF68-464D-B249-11F4CFE25BE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c:v>
                </c:pt>
                <c:pt idx="1">
                  <c:v>0.63</c:v>
                </c:pt>
                <c:pt idx="2">
                  <c:v>0.62</c:v>
                </c:pt>
                <c:pt idx="3">
                  <c:v>0.57999999999999996</c:v>
                </c:pt>
                <c:pt idx="4">
                  <c:v>0.6</c:v>
                </c:pt>
                <c:pt idx="5">
                  <c:v>0.64</c:v>
                </c:pt>
              </c:numCache>
            </c:numRef>
          </c:val>
          <c:smooth val="0"/>
          <c:extLst>
            <c:ext xmlns:c16="http://schemas.microsoft.com/office/drawing/2014/chart" uri="{C3380CC4-5D6E-409C-BE32-E72D297353CC}">
              <c16:uniqueId val="{00000000-CF68-464D-B249-11F4CFE25BE4}"/>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C19</c:v>
                </c:pt>
                <c:pt idx="1">
                  <c:v>Based on the FDA-approved label, CREON is the only PERT specifically studied for patients with EPI due to chronic pancreatitis and pancreatectomy, in addition to cystic fibrosis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61953812631012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29D-4DC4-87A5-A88E00A5B3DA}"/>
                </c:ext>
              </c:extLst>
            </c:dLbl>
            <c:dLbl>
              <c:idx val="1"/>
              <c:layout>
                <c:manualLayout>
                  <c:x val="-5.0917884221442888E-2"/>
                  <c:y val="-0.316745064763430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29D-4DC4-87A5-A88E00A5B3DA}"/>
                </c:ext>
              </c:extLst>
            </c:dLbl>
            <c:dLbl>
              <c:idx val="2"/>
              <c:layout>
                <c:manualLayout>
                  <c:x val="-5.0917884221442888E-2"/>
                  <c:y val="-0.32578622302509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29D-4DC4-87A5-A88E00A5B3DA}"/>
                </c:ext>
              </c:extLst>
            </c:dLbl>
            <c:dLbl>
              <c:idx val="3"/>
              <c:layout>
                <c:manualLayout>
                  <c:x val="-5.0917884221442888E-2"/>
                  <c:y val="-0.398121402236932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29D-4DC4-87A5-A88E00A5B3DA}"/>
                </c:ext>
              </c:extLst>
            </c:dLbl>
            <c:dLbl>
              <c:idx val="4"/>
              <c:layout>
                <c:manualLayout>
                  <c:x val="-5.0917884221442888E-2"/>
                  <c:y val="-0.316745064763430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629D-4DC4-87A5-A88E00A5B3DA}"/>
                </c:ext>
              </c:extLst>
            </c:dLbl>
            <c:dLbl>
              <c:idx val="5"/>
              <c:layout>
                <c:manualLayout>
                  <c:x val="-5.0917884221442888E-2"/>
                  <c:y val="-0.316745064763430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629D-4DC4-87A5-A88E00A5B3D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0.57999999999999996</c:v>
                </c:pt>
                <c:pt idx="1">
                  <c:v>0.63</c:v>
                </c:pt>
                <c:pt idx="2">
                  <c:v>0.62</c:v>
                </c:pt>
                <c:pt idx="3">
                  <c:v>0.54</c:v>
                </c:pt>
                <c:pt idx="4">
                  <c:v>0.63</c:v>
                </c:pt>
                <c:pt idx="5">
                  <c:v>0.63</c:v>
                </c:pt>
              </c:numCache>
            </c:numRef>
          </c:val>
          <c:smooth val="0"/>
          <c:extLst>
            <c:ext xmlns:c16="http://schemas.microsoft.com/office/drawing/2014/chart" uri="{C3380CC4-5D6E-409C-BE32-E72D297353CC}">
              <c16:uniqueId val="{00000000-629D-4DC4-87A5-A88E00A5B3DA}"/>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C10</c:v>
                </c:pt>
                <c:pt idx="1">
                  <c:v>CREON is the #1 PERT prescribed by Gastroenterologists, Primary Care Physicians, Nurse Practitioners and Physician Assistants.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16745064763430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7E1-4EE2-BDDE-A1B1B622A1F9}"/>
                </c:ext>
              </c:extLst>
            </c:dLbl>
            <c:dLbl>
              <c:idx val="1"/>
              <c:layout>
                <c:manualLayout>
                  <c:x val="-5.0917884221442888E-2"/>
                  <c:y val="-0.27153336033657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7E1-4EE2-BDDE-A1B1B622A1F9}"/>
                </c:ext>
              </c:extLst>
            </c:dLbl>
            <c:dLbl>
              <c:idx val="2"/>
              <c:layout>
                <c:manualLayout>
                  <c:x val="-5.0917884221442888E-2"/>
                  <c:y val="-0.27153336033657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7E1-4EE2-BDDE-A1B1B622A1F9}"/>
                </c:ext>
              </c:extLst>
            </c:dLbl>
            <c:dLbl>
              <c:idx val="3"/>
              <c:layout>
                <c:manualLayout>
                  <c:x val="-5.0917884221442888E-2"/>
                  <c:y val="-0.343871496107689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7E1-4EE2-BDDE-A1B1B622A1F9}"/>
                </c:ext>
              </c:extLst>
            </c:dLbl>
            <c:dLbl>
              <c:idx val="4"/>
              <c:layout>
                <c:manualLayout>
                  <c:x val="-5.0917884221442888E-2"/>
                  <c:y val="-0.35291265436935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E7E1-4EE2-BDDE-A1B1B622A1F9}"/>
                </c:ext>
              </c:extLst>
            </c:dLbl>
            <c:dLbl>
              <c:idx val="5"/>
              <c:layout>
                <c:manualLayout>
                  <c:x val="-5.0917884221442888E-2"/>
                  <c:y val="-0.316745064763430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E7E1-4EE2-BDDE-A1B1B622A1F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0.63</c:v>
                </c:pt>
                <c:pt idx="1">
                  <c:v>0.68</c:v>
                </c:pt>
                <c:pt idx="2">
                  <c:v>0.68</c:v>
                </c:pt>
                <c:pt idx="3">
                  <c:v>0.6</c:v>
                </c:pt>
                <c:pt idx="4">
                  <c:v>0.59</c:v>
                </c:pt>
                <c:pt idx="5">
                  <c:v>0.63</c:v>
                </c:pt>
              </c:numCache>
            </c:numRef>
          </c:val>
          <c:smooth val="0"/>
          <c:extLst>
            <c:ext xmlns:c16="http://schemas.microsoft.com/office/drawing/2014/chart" uri="{C3380CC4-5D6E-409C-BE32-E72D297353CC}">
              <c16:uniqueId val="{00000000-E7E1-4EE2-BDDE-A1B1B622A1F9}"/>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C11</c:v>
                </c:pt>
                <c:pt idx="1">
                  <c:v>95% of commercially eligible patients pay $5 or less for their CREON prescription with the CREON Complete Savings card.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199198181124734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371-4A1A-B664-B53C875E098E}"/>
                </c:ext>
              </c:extLst>
            </c:dLbl>
            <c:dLbl>
              <c:idx val="1"/>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371-4A1A-B664-B53C875E098E}"/>
                </c:ext>
              </c:extLst>
            </c:dLbl>
            <c:dLbl>
              <c:idx val="2"/>
              <c:layout>
                <c:manualLayout>
                  <c:x val="-5.0917884221442888E-2"/>
                  <c:y val="-0.235365770730654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371-4A1A-B664-B53C875E098E}"/>
                </c:ext>
              </c:extLst>
            </c:dLbl>
            <c:dLbl>
              <c:idx val="3"/>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371-4A1A-B664-B53C875E098E}"/>
                </c:ext>
              </c:extLst>
            </c:dLbl>
            <c:dLbl>
              <c:idx val="4"/>
              <c:layout>
                <c:manualLayout>
                  <c:x val="-5.0917884221442888E-2"/>
                  <c:y val="-0.235365770730654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7371-4A1A-B664-B53C875E098E}"/>
                </c:ext>
              </c:extLst>
            </c:dLbl>
            <c:dLbl>
              <c:idx val="5"/>
              <c:layout>
                <c:manualLayout>
                  <c:x val="-5.0917884221442888E-2"/>
                  <c:y val="-0.27153336033657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7371-4A1A-B664-B53C875E098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0.64</c:v>
                </c:pt>
                <c:pt idx="1">
                  <c:v>0.61</c:v>
                </c:pt>
                <c:pt idx="2">
                  <c:v>0.63</c:v>
                </c:pt>
                <c:pt idx="3">
                  <c:v>0.61</c:v>
                </c:pt>
                <c:pt idx="4">
                  <c:v>0.63</c:v>
                </c:pt>
                <c:pt idx="5">
                  <c:v>0.62</c:v>
                </c:pt>
              </c:numCache>
            </c:numRef>
          </c:val>
          <c:smooth val="0"/>
          <c:extLst>
            <c:ext xmlns:c16="http://schemas.microsoft.com/office/drawing/2014/chart" uri="{C3380CC4-5D6E-409C-BE32-E72D297353CC}">
              <c16:uniqueId val="{00000000-7371-4A1A-B664-B53C875E098E}"/>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C9</c:v>
                </c:pt>
                <c:pt idx="1">
                  <c:v>CREON significantly improves fat absorption compared with placebo in randomized clinical trials of patients with EPI due to CF, CP, or pancreatectomy.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61953812631012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0A0-4E02-9322-4DCF0BE0DA21}"/>
                </c:ext>
              </c:extLst>
            </c:dLbl>
            <c:dLbl>
              <c:idx val="1"/>
              <c:layout>
                <c:manualLayout>
                  <c:x val="-5.0917884221442888E-2"/>
                  <c:y val="-0.35291265436935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0A0-4E02-9322-4DCF0BE0DA21}"/>
                </c:ext>
              </c:extLst>
            </c:dLbl>
            <c:dLbl>
              <c:idx val="2"/>
              <c:layout>
                <c:manualLayout>
                  <c:x val="-5.0917884221442888E-2"/>
                  <c:y val="-0.334827381286753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0A0-4E02-9322-4DCF0BE0DA21}"/>
                </c:ext>
              </c:extLst>
            </c:dLbl>
            <c:dLbl>
              <c:idx val="3"/>
              <c:layout>
                <c:manualLayout>
                  <c:x val="-5.0917884221442888E-2"/>
                  <c:y val="-0.398121402236932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0A0-4E02-9322-4DCF0BE0DA21}"/>
                </c:ext>
              </c:extLst>
            </c:dLbl>
            <c:dLbl>
              <c:idx val="4"/>
              <c:layout>
                <c:manualLayout>
                  <c:x val="-5.0917884221442888E-2"/>
                  <c:y val="-0.380039085713609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00A0-4E02-9322-4DCF0BE0DA21}"/>
                </c:ext>
              </c:extLst>
            </c:dLbl>
            <c:dLbl>
              <c:idx val="5"/>
              <c:layout>
                <c:manualLayout>
                  <c:x val="-5.0917884221442888E-2"/>
                  <c:y val="-0.334827381286753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00A0-4E02-9322-4DCF0BE0DA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0.57999999999999996</c:v>
                </c:pt>
                <c:pt idx="1">
                  <c:v>0.59</c:v>
                </c:pt>
                <c:pt idx="2">
                  <c:v>0.61</c:v>
                </c:pt>
                <c:pt idx="3">
                  <c:v>0.54</c:v>
                </c:pt>
                <c:pt idx="4">
                  <c:v>0.56000000000000005</c:v>
                </c:pt>
                <c:pt idx="5">
                  <c:v>0.61</c:v>
                </c:pt>
              </c:numCache>
            </c:numRef>
          </c:val>
          <c:smooth val="0"/>
          <c:extLst>
            <c:ext xmlns:c16="http://schemas.microsoft.com/office/drawing/2014/chart" uri="{C3380CC4-5D6E-409C-BE32-E72D297353CC}">
              <c16:uniqueId val="{00000000-00A0-4E02-9322-4DCF0BE0DA21}"/>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C22</c:v>
                </c:pt>
                <c:pt idx="1">
                  <c:v>71% of CREON Medicare Part D patients paid less than $30 in 2024.</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0A1-45F8-8E62-3C5EFF8DFC43}"/>
                </c:ext>
              </c:extLst>
            </c:dLbl>
            <c:dLbl>
              <c:idx val="1"/>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0A1-45F8-8E62-3C5EFF8DFC43}"/>
                </c:ext>
              </c:extLst>
            </c:dLbl>
            <c:dLbl>
              <c:idx val="2"/>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0A1-45F8-8E62-3C5EFF8DFC43}"/>
                </c:ext>
              </c:extLst>
            </c:dLbl>
            <c:dLbl>
              <c:idx val="3"/>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0A1-45F8-8E62-3C5EFF8DFC43}"/>
                </c:ext>
              </c:extLst>
            </c:dLbl>
            <c:dLbl>
              <c:idx val="4"/>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0A1-45F8-8E62-3C5EFF8DFC43}"/>
                </c:ext>
              </c:extLst>
            </c:dLbl>
            <c:dLbl>
              <c:idx val="5"/>
              <c:layout>
                <c:manualLayout>
                  <c:x val="-5.0917884221442888E-2"/>
                  <c:y val="-0.311319778494579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50A1-45F8-8E62-3C5EFF8DFC4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General</c:formatCode>
                <c:ptCount val="6"/>
                <c:pt idx="5" formatCode="0%">
                  <c:v>0.59</c:v>
                </c:pt>
              </c:numCache>
            </c:numRef>
          </c:val>
          <c:smooth val="0"/>
          <c:extLst>
            <c:ext xmlns:c16="http://schemas.microsoft.com/office/drawing/2014/chart" uri="{C3380CC4-5D6E-409C-BE32-E72D297353CC}">
              <c16:uniqueId val="{00000000-50A1-45F8-8E62-3C5EFF8DFC43}"/>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General"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C17</c:v>
                </c:pt>
                <c:pt idx="1">
                  <c:v>More than 8 out of 10 GEs and PCPs prescribe CREON more than other PERTs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2578622302509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06D-4F90-9F15-CBA028577931}"/>
                </c:ext>
              </c:extLst>
            </c:dLbl>
            <c:dLbl>
              <c:idx val="1"/>
              <c:layout>
                <c:manualLayout>
                  <c:x val="-5.0917884221442888E-2"/>
                  <c:y val="-0.343871496107689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06D-4F90-9F15-CBA028577931}"/>
                </c:ext>
              </c:extLst>
            </c:dLbl>
            <c:dLbl>
              <c:idx val="2"/>
              <c:layout>
                <c:manualLayout>
                  <c:x val="-5.0917884221442888E-2"/>
                  <c:y val="-0.361953812631012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06D-4F90-9F15-CBA028577931}"/>
                </c:ext>
              </c:extLst>
            </c:dLbl>
            <c:dLbl>
              <c:idx val="3"/>
              <c:layout>
                <c:manualLayout>
                  <c:x val="-5.0917884221442888E-2"/>
                  <c:y val="-0.389080243975271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06D-4F90-9F15-CBA028577931}"/>
                </c:ext>
              </c:extLst>
            </c:dLbl>
            <c:dLbl>
              <c:idx val="4"/>
              <c:layout>
                <c:manualLayout>
                  <c:x val="-5.0917884221442888E-2"/>
                  <c:y val="-0.389080243975271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06D-4F90-9F15-CBA028577931}"/>
                </c:ext>
              </c:extLst>
            </c:dLbl>
            <c:dLbl>
              <c:idx val="5"/>
              <c:layout>
                <c:manualLayout>
                  <c:x val="-5.0917884221442888E-2"/>
                  <c:y val="-0.3709949708926739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906D-4F90-9F15-CBA02857793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0.62</c:v>
                </c:pt>
                <c:pt idx="1">
                  <c:v>0.6</c:v>
                </c:pt>
                <c:pt idx="2">
                  <c:v>0.57999999999999996</c:v>
                </c:pt>
                <c:pt idx="3">
                  <c:v>0.55000000000000004</c:v>
                </c:pt>
                <c:pt idx="4">
                  <c:v>0.55000000000000004</c:v>
                </c:pt>
                <c:pt idx="5">
                  <c:v>0.56999999999999995</c:v>
                </c:pt>
              </c:numCache>
            </c:numRef>
          </c:val>
          <c:smooth val="0"/>
          <c:extLst>
            <c:ext xmlns:c16="http://schemas.microsoft.com/office/drawing/2014/chart" uri="{C3380CC4-5D6E-409C-BE32-E72D297353CC}">
              <c16:uniqueId val="{00000000-906D-4F90-9F15-CBA028577931}"/>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C3</c:v>
                </c:pt>
                <c:pt idx="1">
                  <c:v>Exocrine Pancreatic Insufficiency (EPI) is under-recognized and can have an impact on nutritional health and quality of life</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235365770730654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FEC-4A48-967C-EBA5AB53C8CC}"/>
                </c:ext>
              </c:extLst>
            </c:dLbl>
            <c:dLbl>
              <c:idx val="1"/>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FEC-4A48-967C-EBA5AB53C8CC}"/>
                </c:ext>
              </c:extLst>
            </c:dLbl>
            <c:dLbl>
              <c:idx val="2"/>
              <c:layout>
                <c:manualLayout>
                  <c:x val="-5.0917884221442888E-2"/>
                  <c:y val="-0.235365770730654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FEC-4A48-967C-EBA5AB53C8CC}"/>
                </c:ext>
              </c:extLst>
            </c:dLbl>
            <c:dLbl>
              <c:idx val="3"/>
              <c:layout>
                <c:manualLayout>
                  <c:x val="-5.0917884221442888E-2"/>
                  <c:y val="-0.416206675319530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FEC-4A48-967C-EBA5AB53C8CC}"/>
                </c:ext>
              </c:extLst>
            </c:dLbl>
            <c:dLbl>
              <c:idx val="4"/>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FEC-4A48-967C-EBA5AB53C8CC}"/>
                </c:ext>
              </c:extLst>
            </c:dLbl>
            <c:dLbl>
              <c:idx val="5"/>
              <c:layout>
                <c:manualLayout>
                  <c:x val="-5.0917884221442888E-2"/>
                  <c:y val="-0.343868539548415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FEC-4A48-967C-EBA5AB53C8C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0.57999999999999996</c:v>
                </c:pt>
                <c:pt idx="1">
                  <c:v>0.56000000000000005</c:v>
                </c:pt>
                <c:pt idx="2">
                  <c:v>0.57999999999999996</c:v>
                </c:pt>
                <c:pt idx="3">
                  <c:v>0.53</c:v>
                </c:pt>
                <c:pt idx="4">
                  <c:v>0.56000000000000005</c:v>
                </c:pt>
                <c:pt idx="5">
                  <c:v>0.55000000000000004</c:v>
                </c:pt>
              </c:numCache>
            </c:numRef>
          </c:val>
          <c:smooth val="0"/>
          <c:extLst>
            <c:ext xmlns:c16="http://schemas.microsoft.com/office/drawing/2014/chart" uri="{C3380CC4-5D6E-409C-BE32-E72D297353CC}">
              <c16:uniqueId val="{00000000-2FEC-4A48-967C-EBA5AB53C8CC}"/>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C7</c:v>
                </c:pt>
                <c:pt idx="1">
                  <c:v>CREON 36K capsules can be an appropriate dose for many adults.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28961863341917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CE1-45EC-A56A-766ACAADCA4D}"/>
                </c:ext>
              </c:extLst>
            </c:dLbl>
            <c:dLbl>
              <c:idx val="1"/>
              <c:layout>
                <c:manualLayout>
                  <c:x val="-5.0917884221442888E-2"/>
                  <c:y val="-0.311319778494579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CE1-45EC-A56A-766ACAADCA4D}"/>
                </c:ext>
              </c:extLst>
            </c:dLbl>
            <c:dLbl>
              <c:idx val="2"/>
              <c:layout>
                <c:manualLayout>
                  <c:x val="-5.0917884221442888E-2"/>
                  <c:y val="-0.311319778494579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CE1-45EC-A56A-766ACAADCA4D}"/>
                </c:ext>
              </c:extLst>
            </c:dLbl>
            <c:dLbl>
              <c:idx val="3"/>
              <c:layout>
                <c:manualLayout>
                  <c:x val="-5.0917884221442888E-2"/>
                  <c:y val="-0.311319778494579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CE1-45EC-A56A-766ACAADCA4D}"/>
                </c:ext>
              </c:extLst>
            </c:dLbl>
            <c:dLbl>
              <c:idx val="4"/>
              <c:layout>
                <c:manualLayout>
                  <c:x val="-5.0917884221442888E-2"/>
                  <c:y val="-0.329402095017901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1CE1-45EC-A56A-766ACAADCA4D}"/>
                </c:ext>
              </c:extLst>
            </c:dLbl>
            <c:dLbl>
              <c:idx val="5"/>
              <c:layout>
                <c:manualLayout>
                  <c:x val="-5.0917884221442888E-2"/>
                  <c:y val="-0.32578622302509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CE1-45EC-A56A-766ACAADCA4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0.65</c:v>
                </c:pt>
                <c:pt idx="1">
                  <c:v>0.59</c:v>
                </c:pt>
                <c:pt idx="2">
                  <c:v>0.59</c:v>
                </c:pt>
                <c:pt idx="3">
                  <c:v>0.59</c:v>
                </c:pt>
                <c:pt idx="4">
                  <c:v>0.54</c:v>
                </c:pt>
                <c:pt idx="5">
                  <c:v>0.55000000000000004</c:v>
                </c:pt>
              </c:numCache>
            </c:numRef>
          </c:val>
          <c:smooth val="0"/>
          <c:extLst>
            <c:ext xmlns:c16="http://schemas.microsoft.com/office/drawing/2014/chart" uri="{C3380CC4-5D6E-409C-BE32-E72D297353CC}">
              <c16:uniqueId val="{00000000-1CE1-45EC-A56A-766ACAADCA4D}"/>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C4</c:v>
                </c:pt>
                <c:pt idx="1">
                  <c:v>EPI is largely a clinical diagnosis based on signs and symptoms and should be considered as part of the differential diagnosis of GI symptoms.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235365770730654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815-419D-B1F0-13AAAA8489BD}"/>
                </c:ext>
              </c:extLst>
            </c:dLbl>
            <c:dLbl>
              <c:idx val="1"/>
              <c:layout>
                <c:manualLayout>
                  <c:x val="-5.0917884221442888E-2"/>
                  <c:y val="-0.27153336033657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815-419D-B1F0-13AAAA8489BD}"/>
                </c:ext>
              </c:extLst>
            </c:dLbl>
            <c:dLbl>
              <c:idx val="2"/>
              <c:layout>
                <c:manualLayout>
                  <c:x val="-5.0917884221442888E-2"/>
                  <c:y val="-0.307700949942494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815-419D-B1F0-13AAAA8489BD}"/>
                </c:ext>
              </c:extLst>
            </c:dLbl>
            <c:dLbl>
              <c:idx val="3"/>
              <c:layout>
                <c:manualLayout>
                  <c:x val="-5.0917884221442888E-2"/>
                  <c:y val="-0.398121402236932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815-419D-B1F0-13AAAA8489BD}"/>
                </c:ext>
              </c:extLst>
            </c:dLbl>
            <c:dLbl>
              <c:idx val="4"/>
              <c:layout>
                <c:manualLayout>
                  <c:x val="-5.0917884221442888E-2"/>
                  <c:y val="-0.361953812631012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1815-419D-B1F0-13AAAA8489BD}"/>
                </c:ext>
              </c:extLst>
            </c:dLbl>
            <c:dLbl>
              <c:idx val="5"/>
              <c:layout>
                <c:manualLayout>
                  <c:x val="-5.0917884221442888E-2"/>
                  <c:y val="-0.28961863341917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815-419D-B1F0-13AAAA8489B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0.56000000000000005</c:v>
                </c:pt>
                <c:pt idx="1">
                  <c:v>0.54</c:v>
                </c:pt>
                <c:pt idx="2">
                  <c:v>0.52</c:v>
                </c:pt>
                <c:pt idx="3">
                  <c:v>0.47</c:v>
                </c:pt>
                <c:pt idx="4">
                  <c:v>0.49</c:v>
                </c:pt>
                <c:pt idx="5">
                  <c:v>0.53</c:v>
                </c:pt>
              </c:numCache>
            </c:numRef>
          </c:val>
          <c:smooth val="0"/>
          <c:extLst>
            <c:ext xmlns:c16="http://schemas.microsoft.com/office/drawing/2014/chart" uri="{C3380CC4-5D6E-409C-BE32-E72D297353CC}">
              <c16:uniqueId val="{00000000-1815-419D-B1F0-13AAAA8489BD}"/>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C20</c:v>
                </c:pt>
                <c:pt idx="1">
                  <c:v>Significant experience, exceptional patient support, and excellent coverage make CREON a proven partner for patients with EPl.</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FB9-4366-863A-36CEDF08832C}"/>
                </c:ext>
              </c:extLst>
            </c:dLbl>
            <c:dLbl>
              <c:idx val="1"/>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FB9-4366-863A-36CEDF08832C}"/>
                </c:ext>
              </c:extLst>
            </c:dLbl>
            <c:dLbl>
              <c:idx val="2"/>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FB9-4366-863A-36CEDF08832C}"/>
                </c:ext>
              </c:extLst>
            </c:dLbl>
            <c:dLbl>
              <c:idx val="3"/>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FB9-4366-863A-36CEDF08832C}"/>
                </c:ext>
              </c:extLst>
            </c:dLbl>
            <c:dLbl>
              <c:idx val="4"/>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FB9-4366-863A-36CEDF08832C}"/>
                </c:ext>
              </c:extLst>
            </c:dLbl>
            <c:dLbl>
              <c:idx val="5"/>
              <c:layout>
                <c:manualLayout>
                  <c:x val="-5.0917884221442888E-2"/>
                  <c:y val="-0.333020923569986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FB9-4366-863A-36CEDF0883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General</c:formatCode>
                <c:ptCount val="6"/>
                <c:pt idx="5" formatCode="0%">
                  <c:v>0.53</c:v>
                </c:pt>
              </c:numCache>
            </c:numRef>
          </c:val>
          <c:smooth val="0"/>
          <c:extLst>
            <c:ext xmlns:c16="http://schemas.microsoft.com/office/drawing/2014/chart" uri="{C3380CC4-5D6E-409C-BE32-E72D297353CC}">
              <c16:uniqueId val="{00000000-BFB9-4366-863A-36CEDF08832C}"/>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General"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C21</c:v>
                </c:pt>
                <c:pt idx="1">
                  <c:v>CREON Complete may help patients start and stay on track with their treatment.</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4B9-45F4-B12E-52FB154433AF}"/>
                </c:ext>
              </c:extLst>
            </c:dLbl>
            <c:dLbl>
              <c:idx val="1"/>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4B9-45F4-B12E-52FB154433AF}"/>
                </c:ext>
              </c:extLst>
            </c:dLbl>
            <c:dLbl>
              <c:idx val="2"/>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4B9-45F4-B12E-52FB154433AF}"/>
                </c:ext>
              </c:extLst>
            </c:dLbl>
            <c:dLbl>
              <c:idx val="3"/>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4B9-45F4-B12E-52FB154433AF}"/>
                </c:ext>
              </c:extLst>
            </c:dLbl>
            <c:dLbl>
              <c:idx val="4"/>
              <c:layout>
                <c:manualLayout>
                  <c:x val="-4.3638551137300599E-2"/>
                  <c:y val="-0.431805482052206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C4B9-45F4-B12E-52FB154433AF}"/>
                </c:ext>
              </c:extLst>
            </c:dLbl>
            <c:dLbl>
              <c:idx val="5"/>
              <c:layout>
                <c:manualLayout>
                  <c:x val="-5.0917884221442888E-2"/>
                  <c:y val="-0.34025266755560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C4B9-45F4-B12E-52FB154433A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General</c:formatCode>
                <c:ptCount val="6"/>
                <c:pt idx="5" formatCode="0%">
                  <c:v>0.51</c:v>
                </c:pt>
              </c:numCache>
            </c:numRef>
          </c:val>
          <c:smooth val="0"/>
          <c:extLst>
            <c:ext xmlns:c16="http://schemas.microsoft.com/office/drawing/2014/chart" uri="{C3380CC4-5D6E-409C-BE32-E72D297353CC}">
              <c16:uniqueId val="{00000000-C4B9-45F4-B12E-52FB154433AF}"/>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General"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996313438360027E-2"/>
          <c:y val="0.41303133065863273"/>
          <c:w val="0.93600737312327997"/>
          <c:h val="0.36167885261847671"/>
        </c:manualLayout>
      </c:layout>
      <c:lineChart>
        <c:grouping val="standard"/>
        <c:varyColors val="0"/>
        <c:ser>
          <c:idx val="0"/>
          <c:order val="0"/>
          <c:tx>
            <c:strRef>
              <c:f>Sheet1!$B$1:$B$2</c:f>
              <c:strCache>
                <c:ptCount val="2"/>
                <c:pt idx="0">
                  <c:v>C6</c:v>
                </c:pt>
                <c:pt idx="1">
                  <c:v>Take CREON every meal, every snack, every day.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0917884221442888E-2"/>
                  <c:y val="-0.343868539548415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9DD-462C-B38F-A345E724D4CC}"/>
                </c:ext>
              </c:extLst>
            </c:dLbl>
            <c:dLbl>
              <c:idx val="1"/>
              <c:layout>
                <c:manualLayout>
                  <c:x val="-5.0917884221442888E-2"/>
                  <c:y val="-0.347487368100499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9DD-462C-B38F-A345E724D4CC}"/>
                </c:ext>
              </c:extLst>
            </c:dLbl>
            <c:dLbl>
              <c:idx val="2"/>
              <c:layout>
                <c:manualLayout>
                  <c:x val="-5.0917884221442888E-2"/>
                  <c:y val="-0.336636795562795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9DD-462C-B38F-A345E724D4CC}"/>
                </c:ext>
              </c:extLst>
            </c:dLbl>
            <c:dLbl>
              <c:idx val="3"/>
              <c:layout>
                <c:manualLayout>
                  <c:x val="-5.0917884221442888E-2"/>
                  <c:y val="-0.372804385168716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9DD-462C-B38F-A345E724D4CC}"/>
                </c:ext>
              </c:extLst>
            </c:dLbl>
            <c:dLbl>
              <c:idx val="4"/>
              <c:layout>
                <c:manualLayout>
                  <c:x val="-5.0917884221442888E-2"/>
                  <c:y val="-0.365569684623822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9DD-462C-B38F-A345E724D4CC}"/>
                </c:ext>
              </c:extLst>
            </c:dLbl>
            <c:dLbl>
              <c:idx val="5"/>
              <c:layout>
                <c:manualLayout>
                  <c:x val="-5.0917884221442888E-2"/>
                  <c:y val="-0.3547191120861186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9DD-462C-B38F-A345E724D4C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c:v>
                </c:pt>
                <c:pt idx="1">
                  <c:v>0.49</c:v>
                </c:pt>
                <c:pt idx="2">
                  <c:v>0.52</c:v>
                </c:pt>
                <c:pt idx="3">
                  <c:v>0.42</c:v>
                </c:pt>
                <c:pt idx="4">
                  <c:v>0.44</c:v>
                </c:pt>
                <c:pt idx="5">
                  <c:v>0.47</c:v>
                </c:pt>
              </c:numCache>
            </c:numRef>
          </c:val>
          <c:smooth val="0"/>
          <c:extLst>
            <c:ext xmlns:c16="http://schemas.microsoft.com/office/drawing/2014/chart" uri="{C3380CC4-5D6E-409C-BE32-E72D297353CC}">
              <c16:uniqueId val="{00000006-69DD-462C-B38F-A345E724D4CC}"/>
            </c:ext>
          </c:extLst>
        </c:ser>
        <c:dLbls>
          <c:dLblPos val="t"/>
          <c:showLegendKey val="0"/>
          <c:showVal val="1"/>
          <c:showCatName val="0"/>
          <c:showSerName val="0"/>
          <c:showPercent val="0"/>
          <c:showBubbleSize val="0"/>
        </c:dLbls>
        <c:marker val="1"/>
        <c:smooth val="0"/>
        <c:axId val="1337435343"/>
        <c:axId val="1337435823"/>
      </c:lineChart>
      <c:catAx>
        <c:axId val="1337435343"/>
        <c:scaling>
          <c:orientation val="minMax"/>
        </c:scaling>
        <c:delete val="1"/>
        <c:axPos val="b"/>
        <c:numFmt formatCode="General" sourceLinked="1"/>
        <c:majorTickMark val="none"/>
        <c:minorTickMark val="none"/>
        <c:tickLblPos val="nextTo"/>
        <c:crossAx val="1337435823"/>
        <c:crosses val="autoZero"/>
        <c:auto val="1"/>
        <c:lblAlgn val="ctr"/>
        <c:lblOffset val="100"/>
        <c:noMultiLvlLbl val="0"/>
      </c:catAx>
      <c:valAx>
        <c:axId val="1337435823"/>
        <c:scaling>
          <c:orientation val="minMax"/>
        </c:scaling>
        <c:delete val="1"/>
        <c:axPos val="l"/>
        <c:numFmt formatCode="0%" sourceLinked="1"/>
        <c:majorTickMark val="none"/>
        <c:minorTickMark val="none"/>
        <c:tickLblPos val="nextTo"/>
        <c:crossAx val="13374353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C3</c:v>
                </c:pt>
                <c:pt idx="1">
                  <c:v>Exocrine Pancreatic Insufficiency (EPI) is under-recognized and can have an impact on nutritional health and quality of life</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9079106280193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8B7-4CEE-8978-84EE7C6B29F9}"/>
                </c:ext>
              </c:extLst>
            </c:dLbl>
            <c:dLbl>
              <c:idx val="1"/>
              <c:layout>
                <c:manualLayout>
                  <c:x val="-5.5166159663454749E-2"/>
                  <c:y val="-0.23256642512077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8B7-4CEE-8978-84EE7C6B29F9}"/>
                </c:ext>
              </c:extLst>
            </c:dLbl>
            <c:dLbl>
              <c:idx val="2"/>
              <c:layout>
                <c:manualLayout>
                  <c:x val="-5.5166159663454749E-2"/>
                  <c:y val="-0.22384963768115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8B7-4CEE-8978-84EE7C6B29F9}"/>
                </c:ext>
              </c:extLst>
            </c:dLbl>
            <c:dLbl>
              <c:idx val="3"/>
              <c:layout>
                <c:manualLayout>
                  <c:x val="-5.5166159663454749E-2"/>
                  <c:y val="-0.23430857487922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8B7-4CEE-8978-84EE7C6B29F9}"/>
                </c:ext>
              </c:extLst>
            </c:dLbl>
            <c:dLbl>
              <c:idx val="4"/>
              <c:layout>
                <c:manualLayout>
                  <c:x val="-5.5166159663454749E-2"/>
                  <c:y val="-0.213387681159420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8B7-4CEE-8978-84EE7C6B29F9}"/>
                </c:ext>
              </c:extLst>
            </c:dLbl>
            <c:dLbl>
              <c:idx val="5"/>
              <c:layout>
                <c:manualLayout>
                  <c:x val="-4.5500136604258827E-2"/>
                  <c:y val="-0.23082427536231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8B7-4CEE-8978-84EE7C6B29F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0.62</c:v>
                </c:pt>
                <c:pt idx="1">
                  <c:v>0.6</c:v>
                </c:pt>
                <c:pt idx="2">
                  <c:v>0.65</c:v>
                </c:pt>
                <c:pt idx="3">
                  <c:v>0.59</c:v>
                </c:pt>
                <c:pt idx="4">
                  <c:v>0.71</c:v>
                </c:pt>
                <c:pt idx="5">
                  <c:v>0.61</c:v>
                </c:pt>
              </c:numCache>
            </c:numRef>
          </c:val>
          <c:smooth val="0"/>
          <c:extLst>
            <c:ext xmlns:c16="http://schemas.microsoft.com/office/drawing/2014/chart" uri="{C3380CC4-5D6E-409C-BE32-E72D297353CC}">
              <c16:uniqueId val="{00000000-B8B7-4CEE-8978-84EE7C6B29F9}"/>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C10</c:v>
                </c:pt>
                <c:pt idx="1">
                  <c:v>CREON is the #1 PERT prescribed by Gastroenterologists, Primary Care Physicians, Nurse Practitioners and Physician Assistants.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1948973429951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A2A-43FE-9A58-04C183343B9E}"/>
                </c:ext>
              </c:extLst>
            </c:dLbl>
            <c:dLbl>
              <c:idx val="1"/>
              <c:layout>
                <c:manualLayout>
                  <c:x val="-5.5166159663454749E-2"/>
                  <c:y val="-0.21948973429951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A2A-43FE-9A58-04C183343B9E}"/>
                </c:ext>
              </c:extLst>
            </c:dLbl>
            <c:dLbl>
              <c:idx val="2"/>
              <c:layout>
                <c:manualLayout>
                  <c:x val="-5.5166159663454749E-2"/>
                  <c:y val="-0.21948973429951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A2A-43FE-9A58-04C183343B9E}"/>
                </c:ext>
              </c:extLst>
            </c:dLbl>
            <c:dLbl>
              <c:idx val="3"/>
              <c:layout>
                <c:manualLayout>
                  <c:x val="-5.5166159663454749E-2"/>
                  <c:y val="-0.197696256038647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A2A-43FE-9A58-04C183343B9E}"/>
                </c:ext>
              </c:extLst>
            </c:dLbl>
            <c:dLbl>
              <c:idx val="4"/>
              <c:layout>
                <c:manualLayout>
                  <c:x val="-5.5166159663454749E-2"/>
                  <c:y val="-0.215129830917874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A2A-43FE-9A58-04C183343B9E}"/>
                </c:ext>
              </c:extLst>
            </c:dLbl>
            <c:dLbl>
              <c:idx val="5"/>
              <c:layout>
                <c:manualLayout>
                  <c:x val="-4.5500136604258827E-2"/>
                  <c:y val="-0.245643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A2A-43FE-9A58-04C183343B9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0.67</c:v>
                </c:pt>
                <c:pt idx="1">
                  <c:v>0.67</c:v>
                </c:pt>
                <c:pt idx="2">
                  <c:v>0.67</c:v>
                </c:pt>
                <c:pt idx="3">
                  <c:v>0.72</c:v>
                </c:pt>
                <c:pt idx="4">
                  <c:v>0.68</c:v>
                </c:pt>
                <c:pt idx="5">
                  <c:v>0.61</c:v>
                </c:pt>
              </c:numCache>
            </c:numRef>
          </c:val>
          <c:smooth val="0"/>
          <c:extLst>
            <c:ext xmlns:c16="http://schemas.microsoft.com/office/drawing/2014/chart" uri="{C3380CC4-5D6E-409C-BE32-E72D297353CC}">
              <c16:uniqueId val="{00000000-9A2A-43FE-9A58-04C183343B9E}"/>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C9</c:v>
                </c:pt>
                <c:pt idx="1">
                  <c:v>CREON significantly improves fat absorption compared with placebo in randomized clinical trials of patients with EPI due to CF, CP, or pancreatectomy.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9079106280193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C66-4BAA-B48E-2EFB1B504674}"/>
                </c:ext>
              </c:extLst>
            </c:dLbl>
            <c:dLbl>
              <c:idx val="1"/>
              <c:layout>
                <c:manualLayout>
                  <c:x val="-5.5166159663454749E-2"/>
                  <c:y val="-0.2168750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C66-4BAA-B48E-2EFB1B504674}"/>
                </c:ext>
              </c:extLst>
            </c:dLbl>
            <c:dLbl>
              <c:idx val="2"/>
              <c:layout>
                <c:manualLayout>
                  <c:x val="-5.5166159663454749E-2"/>
                  <c:y val="-0.222104468599033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C66-4BAA-B48E-2EFB1B504674}"/>
                </c:ext>
              </c:extLst>
            </c:dLbl>
            <c:dLbl>
              <c:idx val="3"/>
              <c:layout>
                <c:manualLayout>
                  <c:x val="-5.5166159663454749E-2"/>
                  <c:y val="-0.23082427536231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C66-4BAA-B48E-2EFB1B504674}"/>
                </c:ext>
              </c:extLst>
            </c:dLbl>
            <c:dLbl>
              <c:idx val="4"/>
              <c:layout>
                <c:manualLayout>
                  <c:x val="-5.5166159663454749E-2"/>
                  <c:y val="-0.208158212560386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C66-4BAA-B48E-2EFB1B504674}"/>
                </c:ext>
              </c:extLst>
            </c:dLbl>
            <c:dLbl>
              <c:idx val="5"/>
              <c:layout>
                <c:manualLayout>
                  <c:x val="-4.5500136604258827E-2"/>
                  <c:y val="-0.23256642512077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C66-4BAA-B48E-2EFB1B50467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0.62</c:v>
                </c:pt>
                <c:pt idx="1">
                  <c:v>0.69</c:v>
                </c:pt>
                <c:pt idx="2">
                  <c:v>0.66</c:v>
                </c:pt>
                <c:pt idx="3">
                  <c:v>0.61</c:v>
                </c:pt>
                <c:pt idx="4">
                  <c:v>0.74</c:v>
                </c:pt>
                <c:pt idx="5">
                  <c:v>0.6</c:v>
                </c:pt>
              </c:numCache>
            </c:numRef>
          </c:val>
          <c:smooth val="0"/>
          <c:extLst>
            <c:ext xmlns:c16="http://schemas.microsoft.com/office/drawing/2014/chart" uri="{C3380CC4-5D6E-409C-BE32-E72D297353CC}">
              <c16:uniqueId val="{00000000-7C66-4BAA-B48E-2EFB1B504674}"/>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C19</c:v>
                </c:pt>
                <c:pt idx="1">
                  <c:v>Based on the FDA-approved label, CREON is the only PERT specifically studied for patients with EPI due to chronic pancreatitis and pancreatectomy, in addition to cystic fibrosis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384963768115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62C-4D92-93E6-E72093DC1508}"/>
                </c:ext>
              </c:extLst>
            </c:dLbl>
            <c:dLbl>
              <c:idx val="1"/>
              <c:layout>
                <c:manualLayout>
                  <c:x val="-5.5166159663454749E-2"/>
                  <c:y val="-0.206413043478260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62C-4D92-93E6-E72093DC1508}"/>
                </c:ext>
              </c:extLst>
            </c:dLbl>
            <c:dLbl>
              <c:idx val="2"/>
              <c:layout>
                <c:manualLayout>
                  <c:x val="-5.5166159663454749E-2"/>
                  <c:y val="-0.213387681159420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62C-4D92-93E6-E72093DC1508}"/>
                </c:ext>
              </c:extLst>
            </c:dLbl>
            <c:dLbl>
              <c:idx val="3"/>
              <c:layout>
                <c:manualLayout>
                  <c:x val="-5.5166159663454749E-2"/>
                  <c:y val="-0.2064130434782608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62C-4D92-93E6-E72093DC1508}"/>
                </c:ext>
              </c:extLst>
            </c:dLbl>
            <c:dLbl>
              <c:idx val="4"/>
              <c:layout>
                <c:manualLayout>
                  <c:x val="-5.5166159663454749E-2"/>
                  <c:y val="-0.204670893719806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62C-4D92-93E6-E72093DC1508}"/>
                </c:ext>
              </c:extLst>
            </c:dLbl>
            <c:dLbl>
              <c:idx val="5"/>
              <c:layout>
                <c:manualLayout>
                  <c:x val="-4.5500136604258827E-2"/>
                  <c:y val="-0.23256642512077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62C-4D92-93E6-E72093DC150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0.65</c:v>
                </c:pt>
                <c:pt idx="1">
                  <c:v>0.75</c:v>
                </c:pt>
                <c:pt idx="2">
                  <c:v>0.71</c:v>
                </c:pt>
                <c:pt idx="3">
                  <c:v>0.75</c:v>
                </c:pt>
                <c:pt idx="4">
                  <c:v>0.76</c:v>
                </c:pt>
                <c:pt idx="5">
                  <c:v>0.6</c:v>
                </c:pt>
              </c:numCache>
            </c:numRef>
          </c:val>
          <c:smooth val="0"/>
          <c:extLst>
            <c:ext xmlns:c16="http://schemas.microsoft.com/office/drawing/2014/chart" uri="{C3380CC4-5D6E-409C-BE32-E72D297353CC}">
              <c16:uniqueId val="{00000000-562C-4D92-93E6-E72093DC1508}"/>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C11</c:v>
                </c:pt>
                <c:pt idx="1">
                  <c:v>95% of commercially eligible patients pay $5 or less for their CREON prescription with the CREON Complete Savings card.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7336956521739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BC-4B46-AE45-8382ACFA0E65}"/>
                </c:ext>
              </c:extLst>
            </c:dLbl>
            <c:dLbl>
              <c:idx val="1"/>
              <c:layout>
                <c:manualLayout>
                  <c:x val="-5.5166159663454749E-2"/>
                  <c:y val="-0.2116455314009661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3BC-4B46-AE45-8382ACFA0E65}"/>
                </c:ext>
              </c:extLst>
            </c:dLbl>
            <c:dLbl>
              <c:idx val="2"/>
              <c:layout>
                <c:manualLayout>
                  <c:x val="-5.5166159663454749E-2"/>
                  <c:y val="-0.22384963768115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BC-4B46-AE45-8382ACFA0E65}"/>
                </c:ext>
              </c:extLst>
            </c:dLbl>
            <c:dLbl>
              <c:idx val="3"/>
              <c:layout>
                <c:manualLayout>
                  <c:x val="-5.5166159663454749E-2"/>
                  <c:y val="-0.21861714975845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3BC-4B46-AE45-8382ACFA0E65}"/>
                </c:ext>
              </c:extLst>
            </c:dLbl>
            <c:dLbl>
              <c:idx val="4"/>
              <c:layout>
                <c:manualLayout>
                  <c:x val="-5.5166159663454749E-2"/>
                  <c:y val="-0.21861714975845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3BC-4B46-AE45-8382ACFA0E65}"/>
                </c:ext>
              </c:extLst>
            </c:dLbl>
            <c:dLbl>
              <c:idx val="5"/>
              <c:layout>
                <c:manualLayout>
                  <c:x val="-4.5500136604258827E-2"/>
                  <c:y val="-0.23430857487922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3BC-4B46-AE45-8382ACFA0E6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0.63</c:v>
                </c:pt>
                <c:pt idx="1">
                  <c:v>0.72</c:v>
                </c:pt>
                <c:pt idx="2">
                  <c:v>0.65</c:v>
                </c:pt>
                <c:pt idx="3">
                  <c:v>0.68</c:v>
                </c:pt>
                <c:pt idx="4">
                  <c:v>0.68</c:v>
                </c:pt>
                <c:pt idx="5">
                  <c:v>0.59</c:v>
                </c:pt>
              </c:numCache>
            </c:numRef>
          </c:val>
          <c:smooth val="0"/>
          <c:extLst>
            <c:ext xmlns:c16="http://schemas.microsoft.com/office/drawing/2014/chart" uri="{C3380CC4-5D6E-409C-BE32-E72D297353CC}">
              <c16:uniqueId val="{00000000-03BC-4B46-AE45-8382ACFA0E65}"/>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C7</c:v>
                </c:pt>
                <c:pt idx="1">
                  <c:v>CREON 36K capsules can be an appropriate dose for many adults.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5591787439613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98-450C-8AA6-EC4290204427}"/>
                </c:ext>
              </c:extLst>
            </c:dLbl>
            <c:dLbl>
              <c:idx val="1"/>
              <c:layout>
                <c:manualLayout>
                  <c:x val="-5.5166159663454749E-2"/>
                  <c:y val="-0.223849637681159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698-450C-8AA6-EC4290204427}"/>
                </c:ext>
              </c:extLst>
            </c:dLbl>
            <c:dLbl>
              <c:idx val="2"/>
              <c:layout>
                <c:manualLayout>
                  <c:x val="-5.5166159663454749E-2"/>
                  <c:y val="-0.232566425120772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698-450C-8AA6-EC4290204427}"/>
                </c:ext>
              </c:extLst>
            </c:dLbl>
            <c:dLbl>
              <c:idx val="3"/>
              <c:layout>
                <c:manualLayout>
                  <c:x val="-5.5166159663454749E-2"/>
                  <c:y val="-0.251745169082125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698-450C-8AA6-EC4290204427}"/>
                </c:ext>
              </c:extLst>
            </c:dLbl>
            <c:dLbl>
              <c:idx val="4"/>
              <c:layout>
                <c:manualLayout>
                  <c:x val="-5.5166159663454749E-2"/>
                  <c:y val="-0.213387681159420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98-450C-8AA6-EC4290204427}"/>
                </c:ext>
              </c:extLst>
            </c:dLbl>
            <c:dLbl>
              <c:idx val="5"/>
              <c:layout>
                <c:manualLayout>
                  <c:x val="-4.5500136604258827E-2"/>
                  <c:y val="-0.236053743961352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698-450C-8AA6-EC429020442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0.64</c:v>
                </c:pt>
                <c:pt idx="1">
                  <c:v>0.65</c:v>
                </c:pt>
                <c:pt idx="2">
                  <c:v>0.6</c:v>
                </c:pt>
                <c:pt idx="3">
                  <c:v>0.49</c:v>
                </c:pt>
                <c:pt idx="4">
                  <c:v>0.71</c:v>
                </c:pt>
                <c:pt idx="5">
                  <c:v>0.57999999999999996</c:v>
                </c:pt>
              </c:numCache>
            </c:numRef>
          </c:val>
          <c:smooth val="0"/>
          <c:extLst>
            <c:ext xmlns:c16="http://schemas.microsoft.com/office/drawing/2014/chart" uri="{C3380CC4-5D6E-409C-BE32-E72D297353CC}">
              <c16:uniqueId val="{00000000-6698-450C-8AA6-EC4290204427}"/>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c:v>
                </c:pt>
                <c:pt idx="1">
                  <c:v>CREON maintains category leading coverage: 89% of national commercial and Medicare Part D insured lives have preferred access to CREON with the lowest branded copay, without a prior authorization.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5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EE0-4476-833F-A9549052FBDD}"/>
                </c:ext>
              </c:extLst>
            </c:dLbl>
            <c:dLbl>
              <c:idx val="1"/>
              <c:layout>
                <c:manualLayout>
                  <c:x val="-5.5166159663454749E-2"/>
                  <c:y val="-0.245643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EE0-4476-833F-A9549052FBDD}"/>
                </c:ext>
              </c:extLst>
            </c:dLbl>
            <c:dLbl>
              <c:idx val="2"/>
              <c:layout>
                <c:manualLayout>
                  <c:x val="-5.5166159663454749E-2"/>
                  <c:y val="-0.245643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EE0-4476-833F-A9549052FBDD}"/>
                </c:ext>
              </c:extLst>
            </c:dLbl>
            <c:dLbl>
              <c:idx val="3"/>
              <c:layout>
                <c:manualLayout>
                  <c:x val="-5.5166159663454749E-2"/>
                  <c:y val="-0.228206521739130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EE0-4476-833F-A9549052FBDD}"/>
                </c:ext>
              </c:extLst>
            </c:dLbl>
            <c:dLbl>
              <c:idx val="4"/>
              <c:layout>
                <c:manualLayout>
                  <c:x val="-5.5166159663454749E-2"/>
                  <c:y val="-0.236926328502415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EE0-4476-833F-A9549052FBDD}"/>
                </c:ext>
              </c:extLst>
            </c:dLbl>
            <c:dLbl>
              <c:idx val="5"/>
              <c:layout>
                <c:manualLayout>
                  <c:x val="-4.5500136604258827E-2"/>
                  <c:y val="-0.25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EE0-4476-833F-A9549052FBD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0.57999999999999996</c:v>
                </c:pt>
                <c:pt idx="1">
                  <c:v>0.61</c:v>
                </c:pt>
                <c:pt idx="2">
                  <c:v>0.61</c:v>
                </c:pt>
                <c:pt idx="3">
                  <c:v>0.65</c:v>
                </c:pt>
                <c:pt idx="4">
                  <c:v>0.63</c:v>
                </c:pt>
                <c:pt idx="5">
                  <c:v>0.57999999999999996</c:v>
                </c:pt>
              </c:numCache>
            </c:numRef>
          </c:val>
          <c:smooth val="0"/>
          <c:extLst>
            <c:ext xmlns:c16="http://schemas.microsoft.com/office/drawing/2014/chart" uri="{C3380CC4-5D6E-409C-BE32-E72D297353CC}">
              <c16:uniqueId val="{00000000-9EE0-4476-833F-A9549052FBDD}"/>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C17</c:v>
                </c:pt>
                <c:pt idx="1">
                  <c:v>More than 8 out of 10 GEs and PCPs prescribe CREON more than other PERTs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7336956521739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4CF-4E07-892F-5607F739907A}"/>
                </c:ext>
              </c:extLst>
            </c:dLbl>
            <c:dLbl>
              <c:idx val="1"/>
              <c:layout>
                <c:manualLayout>
                  <c:x val="-5.5166159663454749E-2"/>
                  <c:y val="-0.227336956521739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4CF-4E07-892F-5607F739907A}"/>
                </c:ext>
              </c:extLst>
            </c:dLbl>
            <c:dLbl>
              <c:idx val="2"/>
              <c:layout>
                <c:manualLayout>
                  <c:x val="-5.5166159663454749E-2"/>
                  <c:y val="-0.220362318840579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4CF-4E07-892F-5607F739907A}"/>
                </c:ext>
              </c:extLst>
            </c:dLbl>
            <c:dLbl>
              <c:idx val="3"/>
              <c:layout>
                <c:manualLayout>
                  <c:x val="-5.5166159663454749E-2"/>
                  <c:y val="-0.239541062801932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4CF-4E07-892F-5607F739907A}"/>
                </c:ext>
              </c:extLst>
            </c:dLbl>
            <c:dLbl>
              <c:idx val="4"/>
              <c:layout>
                <c:manualLayout>
                  <c:x val="-5.5166159663454749E-2"/>
                  <c:y val="-0.213387681159420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4CF-4E07-892F-5607F739907A}"/>
                </c:ext>
              </c:extLst>
            </c:dLbl>
            <c:dLbl>
              <c:idx val="5"/>
              <c:layout>
                <c:manualLayout>
                  <c:x val="-4.5500136604258827E-2"/>
                  <c:y val="-0.241283212560386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4CF-4E07-892F-5607F739907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0.63</c:v>
                </c:pt>
                <c:pt idx="1">
                  <c:v>0.63</c:v>
                </c:pt>
                <c:pt idx="2">
                  <c:v>0.67</c:v>
                </c:pt>
                <c:pt idx="3">
                  <c:v>0.56000000000000005</c:v>
                </c:pt>
                <c:pt idx="4">
                  <c:v>0.71</c:v>
                </c:pt>
                <c:pt idx="5">
                  <c:v>0.55000000000000004</c:v>
                </c:pt>
              </c:numCache>
            </c:numRef>
          </c:val>
          <c:smooth val="0"/>
          <c:extLst>
            <c:ext xmlns:c16="http://schemas.microsoft.com/office/drawing/2014/chart" uri="{C3380CC4-5D6E-409C-BE32-E72D297353CC}">
              <c16:uniqueId val="{00000000-04CF-4E07-892F-5607F739907A}"/>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C4</c:v>
                </c:pt>
                <c:pt idx="1">
                  <c:v>EPI is largely a clinical diagnosis based on signs and symptoms and should be considered as part of the differential diagnosis of GI symptoms.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3430857487922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529-4BAA-99B8-B6ADD3A7CC9A}"/>
                </c:ext>
              </c:extLst>
            </c:dLbl>
            <c:dLbl>
              <c:idx val="1"/>
              <c:layout>
                <c:manualLayout>
                  <c:x val="-5.5166159663454749E-2"/>
                  <c:y val="-0.218617149758454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529-4BAA-99B8-B6ADD3A7CC9A}"/>
                </c:ext>
              </c:extLst>
            </c:dLbl>
            <c:dLbl>
              <c:idx val="2"/>
              <c:layout>
                <c:manualLayout>
                  <c:x val="-5.5166159663454749E-2"/>
                  <c:y val="-0.216875000000000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529-4BAA-99B8-B6ADD3A7CC9A}"/>
                </c:ext>
              </c:extLst>
            </c:dLbl>
            <c:dLbl>
              <c:idx val="3"/>
              <c:layout>
                <c:manualLayout>
                  <c:x val="-5.5166159663454749E-2"/>
                  <c:y val="-0.2430283816425120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529-4BAA-99B8-B6ADD3A7CC9A}"/>
                </c:ext>
              </c:extLst>
            </c:dLbl>
            <c:dLbl>
              <c:idx val="4"/>
              <c:layout>
                <c:manualLayout>
                  <c:x val="-5.5166159663454749E-2"/>
                  <c:y val="-0.2273369565217391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529-4BAA-99B8-B6ADD3A7CC9A}"/>
                </c:ext>
              </c:extLst>
            </c:dLbl>
            <c:dLbl>
              <c:idx val="5"/>
              <c:layout>
                <c:manualLayout>
                  <c:x val="-4.5500136604258827E-2"/>
                  <c:y val="-0.241283212560386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529-4BAA-99B8-B6ADD3A7CC9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0.59</c:v>
                </c:pt>
                <c:pt idx="1">
                  <c:v>0.68</c:v>
                </c:pt>
                <c:pt idx="2">
                  <c:v>0.69</c:v>
                </c:pt>
                <c:pt idx="3">
                  <c:v>0.54</c:v>
                </c:pt>
                <c:pt idx="4">
                  <c:v>0.63</c:v>
                </c:pt>
                <c:pt idx="5">
                  <c:v>0.55000000000000004</c:v>
                </c:pt>
              </c:numCache>
            </c:numRef>
          </c:val>
          <c:smooth val="0"/>
          <c:extLst>
            <c:ext xmlns:c16="http://schemas.microsoft.com/office/drawing/2014/chart" uri="{C3380CC4-5D6E-409C-BE32-E72D297353CC}">
              <c16:uniqueId val="{00000000-7529-4BAA-99B8-B6ADD3A7CC9A}"/>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C20</c:v>
                </c:pt>
                <c:pt idx="1">
                  <c:v>Significant experience, exceptional patient support, and excellent coverage make CREON a proven partner for patients with EPl.</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F33-4461-8FCC-1E0798F4DC58}"/>
                </c:ext>
              </c:extLst>
            </c:dLbl>
            <c:dLbl>
              <c:idx val="1"/>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F33-4461-8FCC-1E0798F4DC58}"/>
                </c:ext>
              </c:extLst>
            </c:dLbl>
            <c:dLbl>
              <c:idx val="2"/>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F33-4461-8FCC-1E0798F4DC58}"/>
                </c:ext>
              </c:extLst>
            </c:dLbl>
            <c:dLbl>
              <c:idx val="3"/>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F33-4461-8FCC-1E0798F4DC58}"/>
                </c:ext>
              </c:extLst>
            </c:dLbl>
            <c:dLbl>
              <c:idx val="4"/>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F33-4461-8FCC-1E0798F4DC58}"/>
                </c:ext>
              </c:extLst>
            </c:dLbl>
            <c:dLbl>
              <c:idx val="5"/>
              <c:layout>
                <c:manualLayout>
                  <c:x val="-4.5500136604258827E-2"/>
                  <c:y val="-0.24825785024154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F33-4461-8FCC-1E0798F4DC5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General</c:formatCode>
                <c:ptCount val="6"/>
                <c:pt idx="5" formatCode="0%">
                  <c:v>0.51</c:v>
                </c:pt>
              </c:numCache>
            </c:numRef>
          </c:val>
          <c:smooth val="0"/>
          <c:extLst>
            <c:ext xmlns:c16="http://schemas.microsoft.com/office/drawing/2014/chart" uri="{C3380CC4-5D6E-409C-BE32-E72D297353CC}">
              <c16:uniqueId val="{00000000-5F33-4461-8FCC-1E0798F4DC58}"/>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C22</c:v>
                </c:pt>
                <c:pt idx="1">
                  <c:v>71% of CREON Medicare Part D patients paid less than $30 in 2024.</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BAF-400B-A924-BB87E80C0A1B}"/>
                </c:ext>
              </c:extLst>
            </c:dLbl>
            <c:dLbl>
              <c:idx val="1"/>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BAF-400B-A924-BB87E80C0A1B}"/>
                </c:ext>
              </c:extLst>
            </c:dLbl>
            <c:dLbl>
              <c:idx val="2"/>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BAF-400B-A924-BB87E80C0A1B}"/>
                </c:ext>
              </c:extLst>
            </c:dLbl>
            <c:dLbl>
              <c:idx val="3"/>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BAF-400B-A924-BB87E80C0A1B}"/>
                </c:ext>
              </c:extLst>
            </c:dLbl>
            <c:dLbl>
              <c:idx val="4"/>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BAF-400B-A924-BB87E80C0A1B}"/>
                </c:ext>
              </c:extLst>
            </c:dLbl>
            <c:dLbl>
              <c:idx val="5"/>
              <c:layout>
                <c:manualLayout>
                  <c:x val="-4.5500136604258827E-2"/>
                  <c:y val="-0.251745169082125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BAF-400B-A924-BB87E80C0A1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General</c:formatCode>
                <c:ptCount val="6"/>
                <c:pt idx="5" formatCode="0%">
                  <c:v>0.49</c:v>
                </c:pt>
              </c:numCache>
            </c:numRef>
          </c:val>
          <c:smooth val="0"/>
          <c:extLst>
            <c:ext xmlns:c16="http://schemas.microsoft.com/office/drawing/2014/chart" uri="{C3380CC4-5D6E-409C-BE32-E72D297353CC}">
              <c16:uniqueId val="{00000000-9BAF-400B-A924-BB87E80C0A1B}"/>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C21</c:v>
                </c:pt>
                <c:pt idx="1">
                  <c:v>CREON Complete may help patients start and stay on track with their treatment.</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22B-495E-A56F-405C3E281F94}"/>
                </c:ext>
              </c:extLst>
            </c:dLbl>
            <c:dLbl>
              <c:idx val="1"/>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22B-495E-A56F-405C3E281F94}"/>
                </c:ext>
              </c:extLst>
            </c:dLbl>
            <c:dLbl>
              <c:idx val="2"/>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22B-495E-A56F-405C3E281F94}"/>
                </c:ext>
              </c:extLst>
            </c:dLbl>
            <c:dLbl>
              <c:idx val="3"/>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22B-495E-A56F-405C3E281F94}"/>
                </c:ext>
              </c:extLst>
            </c:dLbl>
            <c:dLbl>
              <c:idx val="4"/>
              <c:layout>
                <c:manualLayout>
                  <c:x val="-4.7279714155898586E-2"/>
                  <c:y val="-0.337176932367149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22B-495E-A56F-405C3E281F94}"/>
                </c:ext>
              </c:extLst>
            </c:dLbl>
            <c:dLbl>
              <c:idx val="5"/>
              <c:layout>
                <c:manualLayout>
                  <c:x val="-4.5500136604258827E-2"/>
                  <c:y val="-0.176775362318840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22B-495E-A56F-405C3E281F9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General</c:formatCode>
                <c:ptCount val="6"/>
                <c:pt idx="5" formatCode="0%">
                  <c:v>0.46</c:v>
                </c:pt>
              </c:numCache>
            </c:numRef>
          </c:val>
          <c:smooth val="0"/>
          <c:extLst>
            <c:ext xmlns:c16="http://schemas.microsoft.com/office/drawing/2014/chart" uri="{C3380CC4-5D6E-409C-BE32-E72D297353CC}">
              <c16:uniqueId val="{00000000-C22B-495E-A56F-405C3E281F94}"/>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C6</c:v>
                </c:pt>
                <c:pt idx="1">
                  <c:v>Take CREON every meal, every snack, every day.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3430857487922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9CD-45EA-9BC2-E118530FD174}"/>
                </c:ext>
              </c:extLst>
            </c:dLbl>
            <c:dLbl>
              <c:idx val="1"/>
              <c:layout>
                <c:manualLayout>
                  <c:x val="-5.5166159663454749E-2"/>
                  <c:y val="-0.256974637681159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9CD-45EA-9BC2-E118530FD174}"/>
                </c:ext>
              </c:extLst>
            </c:dLbl>
            <c:dLbl>
              <c:idx val="2"/>
              <c:layout>
                <c:manualLayout>
                  <c:x val="-5.5166159663454749E-2"/>
                  <c:y val="-0.2639492753623188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9CD-45EA-9BC2-E118530FD174}"/>
                </c:ext>
              </c:extLst>
            </c:dLbl>
            <c:dLbl>
              <c:idx val="3"/>
              <c:layout>
                <c:manualLayout>
                  <c:x val="-5.5166159663454749E-2"/>
                  <c:y val="-0.25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9CD-45EA-9BC2-E118530FD174}"/>
                </c:ext>
              </c:extLst>
            </c:dLbl>
            <c:dLbl>
              <c:idx val="4"/>
              <c:layout>
                <c:manualLayout>
                  <c:x val="-5.5166159663454749E-2"/>
                  <c:y val="-0.255232487922705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9CD-45EA-9BC2-E118530FD174}"/>
                </c:ext>
              </c:extLst>
            </c:dLbl>
            <c:dLbl>
              <c:idx val="5"/>
              <c:layout>
                <c:manualLayout>
                  <c:x val="-4.5500136604258827E-2"/>
                  <c:y val="-0.267436594202898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9CD-45EA-9BC2-E118530FD17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0.59</c:v>
                </c:pt>
                <c:pt idx="1">
                  <c:v>0.46</c:v>
                </c:pt>
                <c:pt idx="2">
                  <c:v>0.42</c:v>
                </c:pt>
                <c:pt idx="3">
                  <c:v>0.45</c:v>
                </c:pt>
                <c:pt idx="4">
                  <c:v>0.47</c:v>
                </c:pt>
                <c:pt idx="5">
                  <c:v>0.4</c:v>
                </c:pt>
              </c:numCache>
            </c:numRef>
          </c:val>
          <c:smooth val="0"/>
          <c:extLst>
            <c:ext xmlns:c16="http://schemas.microsoft.com/office/drawing/2014/chart" uri="{C3380CC4-5D6E-409C-BE32-E72D297353CC}">
              <c16:uniqueId val="{00000006-F9CD-45EA-9BC2-E118530FD174}"/>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C9</c:v>
                </c:pt>
                <c:pt idx="1">
                  <c:v>CREON significantly improves fat absorption compared with placebo in randomized clinical trials of patients with EPI due to CF, CP, or pancreatectomy.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18617021276595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A22-47F2-8F1F-A67643A89E20}"/>
                </c:ext>
              </c:extLst>
            </c:dLbl>
            <c:dLbl>
              <c:idx val="1"/>
              <c:layout>
                <c:manualLayout>
                  <c:x val="-5.5166159663454749E-2"/>
                  <c:y val="-0.22559101654846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A22-47F2-8F1F-A67643A89E20}"/>
                </c:ext>
              </c:extLst>
            </c:dLbl>
            <c:dLbl>
              <c:idx val="2"/>
              <c:layout>
                <c:manualLayout>
                  <c:x val="-5.5166159663454749E-2"/>
                  <c:y val="-0.209899527186761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A22-47F2-8F1F-A67643A89E20}"/>
                </c:ext>
              </c:extLst>
            </c:dLbl>
            <c:dLbl>
              <c:idx val="3"/>
              <c:layout>
                <c:manualLayout>
                  <c:x val="-5.5166159663454749E-2"/>
                  <c:y val="-0.25348699763593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A22-47F2-8F1F-A67643A89E20}"/>
                </c:ext>
              </c:extLst>
            </c:dLbl>
            <c:dLbl>
              <c:idx val="4"/>
              <c:layout>
                <c:manualLayout>
                  <c:x val="-5.5166159663454749E-2"/>
                  <c:y val="-0.23953900709219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A22-47F2-8F1F-A67643A89E20}"/>
                </c:ext>
              </c:extLst>
            </c:dLbl>
            <c:dLbl>
              <c:idx val="5"/>
              <c:layout>
                <c:manualLayout>
                  <c:x val="-4.5500136604258827E-2"/>
                  <c:y val="-0.215130023640661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5A22-47F2-8F1F-A67643A89E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0.68</c:v>
                </c:pt>
                <c:pt idx="1">
                  <c:v>0.64</c:v>
                </c:pt>
                <c:pt idx="2">
                  <c:v>0.73</c:v>
                </c:pt>
                <c:pt idx="3">
                  <c:v>0.48</c:v>
                </c:pt>
                <c:pt idx="4">
                  <c:v>0.56000000000000005</c:v>
                </c:pt>
                <c:pt idx="5">
                  <c:v>0.7</c:v>
                </c:pt>
              </c:numCache>
            </c:numRef>
          </c:val>
          <c:smooth val="0"/>
          <c:extLst>
            <c:ext xmlns:c16="http://schemas.microsoft.com/office/drawing/2014/chart" uri="{C3380CC4-5D6E-409C-BE32-E72D297353CC}">
              <c16:uniqueId val="{00000000-5A22-47F2-8F1F-A67643A89E20}"/>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C3</c:v>
                </c:pt>
                <c:pt idx="1">
                  <c:v>Exocrine Pancreatic Insufficiency (EPI) is under-recognized and can have an impact on nutritional health and quality of life</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2104018912529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D52-4E47-B5BB-C3218CA19CB2}"/>
                </c:ext>
              </c:extLst>
            </c:dLbl>
            <c:dLbl>
              <c:idx val="1"/>
              <c:layout>
                <c:manualLayout>
                  <c:x val="-5.5166159663454749E-2"/>
                  <c:y val="-0.218617021276595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D52-4E47-B5BB-C3218CA19CB2}"/>
                </c:ext>
              </c:extLst>
            </c:dLbl>
            <c:dLbl>
              <c:idx val="2"/>
              <c:layout>
                <c:manualLayout>
                  <c:x val="-5.5166159663454749E-2"/>
                  <c:y val="-0.204669030732860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D52-4E47-B5BB-C3218CA19CB2}"/>
                </c:ext>
              </c:extLst>
            </c:dLbl>
            <c:dLbl>
              <c:idx val="3"/>
              <c:layout>
                <c:manualLayout>
                  <c:x val="-5.5166159663454749E-2"/>
                  <c:y val="-0.24825650118203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D52-4E47-B5BB-C3218CA19CB2}"/>
                </c:ext>
              </c:extLst>
            </c:dLbl>
            <c:dLbl>
              <c:idx val="4"/>
              <c:layout>
                <c:manualLayout>
                  <c:x val="-5.5166159663454749E-2"/>
                  <c:y val="-0.2151300236406619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D52-4E47-B5BB-C3218CA19CB2}"/>
                </c:ext>
              </c:extLst>
            </c:dLbl>
            <c:dLbl>
              <c:idx val="5"/>
              <c:layout>
                <c:manualLayout>
                  <c:x val="-4.5500136604258827E-2"/>
                  <c:y val="-0.227334515366430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3D52-4E47-B5BB-C3218CA19CB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0.66</c:v>
                </c:pt>
                <c:pt idx="1">
                  <c:v>0.68</c:v>
                </c:pt>
                <c:pt idx="2">
                  <c:v>0.76</c:v>
                </c:pt>
                <c:pt idx="3">
                  <c:v>0.51</c:v>
                </c:pt>
                <c:pt idx="4">
                  <c:v>0.7</c:v>
                </c:pt>
                <c:pt idx="5">
                  <c:v>0.63</c:v>
                </c:pt>
              </c:numCache>
            </c:numRef>
          </c:val>
          <c:smooth val="0"/>
          <c:extLst>
            <c:ext xmlns:c16="http://schemas.microsoft.com/office/drawing/2014/chart" uri="{C3380CC4-5D6E-409C-BE32-E72D297353CC}">
              <c16:uniqueId val="{00000000-3D52-4E47-B5BB-C3218CA19CB2}"/>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C10</c:v>
                </c:pt>
                <c:pt idx="1">
                  <c:v>CREON is the #1 PERT prescribed by Gastroenterologists, Primary Care Physicians, Nurse Practitioners and Physician Assistants.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10771276595744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583-4DBC-B9CB-4548D1C71FB6}"/>
                </c:ext>
              </c:extLst>
            </c:dLbl>
            <c:dLbl>
              <c:idx val="1"/>
              <c:layout>
                <c:manualLayout>
                  <c:x val="-5.5166159663454749E-2"/>
                  <c:y val="-0.228206264775413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583-4DBC-B9CB-4548D1C71FB6}"/>
                </c:ext>
              </c:extLst>
            </c:dLbl>
            <c:dLbl>
              <c:idx val="2"/>
              <c:layout>
                <c:manualLayout>
                  <c:x val="-5.5166159663454749E-2"/>
                  <c:y val="-0.236923758865248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583-4DBC-B9CB-4548D1C71FB6}"/>
                </c:ext>
              </c:extLst>
            </c:dLbl>
            <c:dLbl>
              <c:idx val="3"/>
              <c:layout>
                <c:manualLayout>
                  <c:x val="-5.5166159663454749E-2"/>
                  <c:y val="-0.245641252955082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583-4DBC-B9CB-4548D1C71FB6}"/>
                </c:ext>
              </c:extLst>
            </c:dLbl>
            <c:dLbl>
              <c:idx val="4"/>
              <c:layout>
                <c:manualLayout>
                  <c:x val="-5.5166159663454749E-2"/>
                  <c:y val="-0.210771276595744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583-4DBC-B9CB-4548D1C71FB6}"/>
                </c:ext>
              </c:extLst>
            </c:dLbl>
            <c:dLbl>
              <c:idx val="5"/>
              <c:layout>
                <c:manualLayout>
                  <c:x val="-4.5500136604258827E-2"/>
                  <c:y val="-0.241282505910165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9583-4DBC-B9CB-4548D1C71FB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0.69</c:v>
                </c:pt>
                <c:pt idx="1">
                  <c:v>0.65</c:v>
                </c:pt>
                <c:pt idx="2">
                  <c:v>0.63</c:v>
                </c:pt>
                <c:pt idx="3">
                  <c:v>0.61</c:v>
                </c:pt>
                <c:pt idx="4">
                  <c:v>0.69</c:v>
                </c:pt>
                <c:pt idx="5">
                  <c:v>0.62</c:v>
                </c:pt>
              </c:numCache>
            </c:numRef>
          </c:val>
          <c:smooth val="0"/>
          <c:extLst>
            <c:ext xmlns:c16="http://schemas.microsoft.com/office/drawing/2014/chart" uri="{C3380CC4-5D6E-409C-BE32-E72D297353CC}">
              <c16:uniqueId val="{00000000-9583-4DBC-B9CB-4548D1C71FB6}"/>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C19</c:v>
                </c:pt>
                <c:pt idx="1">
                  <c:v>Based on the FDA-approved label, CREON is the only PERT specifically studied for patients with EPI due to chronic pancreatitis and pancreatectomy, in addition to cystic fibrosis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08156028368794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858-4BE7-BBA1-09CC85DB6F9B}"/>
                </c:ext>
              </c:extLst>
            </c:dLbl>
            <c:dLbl>
              <c:idx val="1"/>
              <c:layout>
                <c:manualLayout>
                  <c:x val="-5.5166159663454749E-2"/>
                  <c:y val="-0.21687352245862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858-4BE7-BBA1-09CC85DB6F9B}"/>
                </c:ext>
              </c:extLst>
            </c:dLbl>
            <c:dLbl>
              <c:idx val="2"/>
              <c:layout>
                <c:manualLayout>
                  <c:x val="-5.5166159663454749E-2"/>
                  <c:y val="-0.2064125295508274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858-4BE7-BBA1-09CC85DB6F9B}"/>
                </c:ext>
              </c:extLst>
            </c:dLbl>
            <c:dLbl>
              <c:idx val="3"/>
              <c:layout>
                <c:manualLayout>
                  <c:x val="-5.5166159663454749E-2"/>
                  <c:y val="-0.241282505910165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858-4BE7-BBA1-09CC85DB6F9B}"/>
                </c:ext>
              </c:extLst>
            </c:dLbl>
            <c:dLbl>
              <c:idx val="4"/>
              <c:layout>
                <c:manualLayout>
                  <c:x val="-5.5166159663454749E-2"/>
                  <c:y val="-0.229078014184397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0858-4BE7-BBA1-09CC85DB6F9B}"/>
                </c:ext>
              </c:extLst>
            </c:dLbl>
            <c:dLbl>
              <c:idx val="5"/>
              <c:layout>
                <c:manualLayout>
                  <c:x val="-4.5500136604258827E-2"/>
                  <c:y val="-0.230821513002364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0858-4BE7-BBA1-09CC85DB6F9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0.74</c:v>
                </c:pt>
                <c:pt idx="1">
                  <c:v>0.69</c:v>
                </c:pt>
                <c:pt idx="2">
                  <c:v>0.75</c:v>
                </c:pt>
                <c:pt idx="3">
                  <c:v>0.55000000000000004</c:v>
                </c:pt>
                <c:pt idx="4">
                  <c:v>0.62</c:v>
                </c:pt>
                <c:pt idx="5">
                  <c:v>0.61</c:v>
                </c:pt>
              </c:numCache>
            </c:numRef>
          </c:val>
          <c:smooth val="0"/>
          <c:extLst>
            <c:ext xmlns:c16="http://schemas.microsoft.com/office/drawing/2014/chart" uri="{C3380CC4-5D6E-409C-BE32-E72D297353CC}">
              <c16:uniqueId val="{00000000-0858-4BE7-BBA1-09CC85DB6F9B}"/>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C4</c:v>
                </c:pt>
                <c:pt idx="1">
                  <c:v>EPI is largely a clinical diagnosis based on signs and symptoms and should be considered as part of the differential diagnosis of GI symptoms.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29078014184397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BDE-47BB-B117-335198E81AAD}"/>
                </c:ext>
              </c:extLst>
            </c:dLbl>
            <c:dLbl>
              <c:idx val="1"/>
              <c:layout>
                <c:manualLayout>
                  <c:x val="-5.5166159663454749E-2"/>
                  <c:y val="-0.232565011820330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BDE-47BB-B117-335198E81AAD}"/>
                </c:ext>
              </c:extLst>
            </c:dLbl>
            <c:dLbl>
              <c:idx val="2"/>
              <c:layout>
                <c:manualLayout>
                  <c:x val="-5.5166159663454749E-2"/>
                  <c:y val="-0.230821513002364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BDE-47BB-B117-335198E81AAD}"/>
                </c:ext>
              </c:extLst>
            </c:dLbl>
            <c:dLbl>
              <c:idx val="3"/>
              <c:layout>
                <c:manualLayout>
                  <c:x val="-5.5166159663454749E-2"/>
                  <c:y val="-0.258717494089834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BDE-47BB-B117-335198E81AAD}"/>
                </c:ext>
              </c:extLst>
            </c:dLbl>
            <c:dLbl>
              <c:idx val="4"/>
              <c:layout>
                <c:manualLayout>
                  <c:x val="-5.5166159663454749E-2"/>
                  <c:y val="-0.260460992907801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BDE-47BB-B117-335198E81AAD}"/>
                </c:ext>
              </c:extLst>
            </c:dLbl>
            <c:dLbl>
              <c:idx val="5"/>
              <c:layout>
                <c:manualLayout>
                  <c:x val="-4.5500136604258827E-2"/>
                  <c:y val="-0.23605200945626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3BDE-47BB-B117-335198E81AA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0.62</c:v>
                </c:pt>
                <c:pt idx="1">
                  <c:v>0.6</c:v>
                </c:pt>
                <c:pt idx="2">
                  <c:v>0.61</c:v>
                </c:pt>
                <c:pt idx="3">
                  <c:v>0.45</c:v>
                </c:pt>
                <c:pt idx="4">
                  <c:v>0.44</c:v>
                </c:pt>
                <c:pt idx="5">
                  <c:v>0.57999999999999996</c:v>
                </c:pt>
              </c:numCache>
            </c:numRef>
          </c:val>
          <c:smooth val="0"/>
          <c:extLst>
            <c:ext xmlns:c16="http://schemas.microsoft.com/office/drawing/2014/chart" uri="{C3380CC4-5D6E-409C-BE32-E72D297353CC}">
              <c16:uniqueId val="{00000000-3BDE-47BB-B117-335198E81AAD}"/>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C20</c:v>
                </c:pt>
                <c:pt idx="1">
                  <c:v>Significant experience, exceptional patient support, and excellent coverage make CREON a proven partner for patients with EPl.</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56C-4DAE-8B2B-A83D78AD4AB1}"/>
                </c:ext>
              </c:extLst>
            </c:dLbl>
            <c:dLbl>
              <c:idx val="1"/>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56C-4DAE-8B2B-A83D78AD4AB1}"/>
                </c:ext>
              </c:extLst>
            </c:dLbl>
            <c:dLbl>
              <c:idx val="2"/>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56C-4DAE-8B2B-A83D78AD4AB1}"/>
                </c:ext>
              </c:extLst>
            </c:dLbl>
            <c:dLbl>
              <c:idx val="3"/>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56C-4DAE-8B2B-A83D78AD4AB1}"/>
                </c:ext>
              </c:extLst>
            </c:dLbl>
            <c:dLbl>
              <c:idx val="4"/>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F56C-4DAE-8B2B-A83D78AD4AB1}"/>
                </c:ext>
              </c:extLst>
            </c:dLbl>
            <c:dLbl>
              <c:idx val="5"/>
              <c:layout>
                <c:manualLayout>
                  <c:x val="-4.5500136604258827E-2"/>
                  <c:y val="-0.241282505910165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F56C-4DAE-8B2B-A83D78AD4AB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General</c:formatCode>
                <c:ptCount val="6"/>
                <c:pt idx="5" formatCode="0%">
                  <c:v>0.55000000000000004</c:v>
                </c:pt>
              </c:numCache>
            </c:numRef>
          </c:val>
          <c:smooth val="0"/>
          <c:extLst>
            <c:ext xmlns:c16="http://schemas.microsoft.com/office/drawing/2014/chart" uri="{C3380CC4-5D6E-409C-BE32-E72D297353CC}">
              <c16:uniqueId val="{00000000-F56C-4DAE-8B2B-A83D78AD4AB1}"/>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C11</c:v>
                </c:pt>
                <c:pt idx="1">
                  <c:v>95% of commercially eligible patients pay $5 or less for their CREON prescription with the CREON Complete Savings card.</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32565011820330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C62-495A-BFCF-576501FD4E81}"/>
                </c:ext>
              </c:extLst>
            </c:dLbl>
            <c:dLbl>
              <c:idx val="1"/>
              <c:layout>
                <c:manualLayout>
                  <c:x val="-5.5166159663454749E-2"/>
                  <c:y val="-0.23605200945626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C62-495A-BFCF-576501FD4E81}"/>
                </c:ext>
              </c:extLst>
            </c:dLbl>
            <c:dLbl>
              <c:idx val="2"/>
              <c:layout>
                <c:manualLayout>
                  <c:x val="-5.5166159663454749E-2"/>
                  <c:y val="-0.218617021276595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C62-495A-BFCF-576501FD4E81}"/>
                </c:ext>
              </c:extLst>
            </c:dLbl>
            <c:dLbl>
              <c:idx val="3"/>
              <c:layout>
                <c:manualLayout>
                  <c:x val="-5.5166159663454749E-2"/>
                  <c:y val="-0.2412825059101654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C62-495A-BFCF-576501FD4E81}"/>
                </c:ext>
              </c:extLst>
            </c:dLbl>
            <c:dLbl>
              <c:idx val="4"/>
              <c:layout>
                <c:manualLayout>
                  <c:x val="-5.5166159663454749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1C62-495A-BFCF-576501FD4E81}"/>
                </c:ext>
              </c:extLst>
            </c:dLbl>
            <c:dLbl>
              <c:idx val="5"/>
              <c:layout>
                <c:manualLayout>
                  <c:x val="-4.5500136604258827E-2"/>
                  <c:y val="-0.243026004728132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C62-495A-BFCF-576501FD4E8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c:v>
                </c:pt>
                <c:pt idx="1">
                  <c:v>0.57999999999999996</c:v>
                </c:pt>
                <c:pt idx="2">
                  <c:v>0.68</c:v>
                </c:pt>
                <c:pt idx="3">
                  <c:v>0.55000000000000004</c:v>
                </c:pt>
                <c:pt idx="4">
                  <c:v>0.5</c:v>
                </c:pt>
                <c:pt idx="5">
                  <c:v>0.54</c:v>
                </c:pt>
              </c:numCache>
            </c:numRef>
          </c:val>
          <c:smooth val="0"/>
          <c:extLst>
            <c:ext xmlns:c16="http://schemas.microsoft.com/office/drawing/2014/chart" uri="{C3380CC4-5D6E-409C-BE32-E72D297353CC}">
              <c16:uniqueId val="{00000000-1C62-495A-BFCF-576501FD4E81}"/>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C21</c:v>
                </c:pt>
                <c:pt idx="1">
                  <c:v>CREON Complete may help patients start and stay on track with their treatment.</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4FD-4A6C-BB75-D744E1EE23A6}"/>
                </c:ext>
              </c:extLst>
            </c:dLbl>
            <c:dLbl>
              <c:idx val="1"/>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4FD-4A6C-BB75-D744E1EE23A6}"/>
                </c:ext>
              </c:extLst>
            </c:dLbl>
            <c:dLbl>
              <c:idx val="2"/>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4FD-4A6C-BB75-D744E1EE23A6}"/>
                </c:ext>
              </c:extLst>
            </c:dLbl>
            <c:dLbl>
              <c:idx val="3"/>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4FD-4A6C-BB75-D744E1EE23A6}"/>
                </c:ext>
              </c:extLst>
            </c:dLbl>
            <c:dLbl>
              <c:idx val="4"/>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4FD-4A6C-BB75-D744E1EE23A6}"/>
                </c:ext>
              </c:extLst>
            </c:dLbl>
            <c:dLbl>
              <c:idx val="5"/>
              <c:layout>
                <c:manualLayout>
                  <c:x val="-4.5500136604258827E-2"/>
                  <c:y val="-0.251743498817966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34FD-4A6C-BB75-D744E1EE23A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General</c:formatCode>
                <c:ptCount val="6"/>
                <c:pt idx="5" formatCode="0%">
                  <c:v>0.49</c:v>
                </c:pt>
              </c:numCache>
            </c:numRef>
          </c:val>
          <c:smooth val="0"/>
          <c:extLst>
            <c:ext xmlns:c16="http://schemas.microsoft.com/office/drawing/2014/chart" uri="{C3380CC4-5D6E-409C-BE32-E72D297353CC}">
              <c16:uniqueId val="{00000000-34FD-4A6C-BB75-D744E1EE23A6}"/>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C17</c:v>
                </c:pt>
                <c:pt idx="1">
                  <c:v>More than 8 out of 10 GEs and PCPs prescribe CREON more than other PERTs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32565011820330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580-46B5-9AAA-7CD1D1272768}"/>
                </c:ext>
              </c:extLst>
            </c:dLbl>
            <c:dLbl>
              <c:idx val="1"/>
              <c:layout>
                <c:manualLayout>
                  <c:x val="-5.5166159663454749E-2"/>
                  <c:y val="-0.2395390070921985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580-46B5-9AAA-7CD1D1272768}"/>
                </c:ext>
              </c:extLst>
            </c:dLbl>
            <c:dLbl>
              <c:idx val="2"/>
              <c:layout>
                <c:manualLayout>
                  <c:x val="-5.5166159663454749E-2"/>
                  <c:y val="-0.232565011820330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580-46B5-9AAA-7CD1D1272768}"/>
                </c:ext>
              </c:extLst>
            </c:dLbl>
            <c:dLbl>
              <c:idx val="3"/>
              <c:layout>
                <c:manualLayout>
                  <c:x val="-5.5166159663454749E-2"/>
                  <c:y val="-0.258717494089834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580-46B5-9AAA-7CD1D1272768}"/>
                </c:ext>
              </c:extLst>
            </c:dLbl>
            <c:dLbl>
              <c:idx val="4"/>
              <c:layout>
                <c:manualLayout>
                  <c:x val="-5.5166159663454749E-2"/>
                  <c:y val="-0.237795508274231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580-46B5-9AAA-7CD1D1272768}"/>
                </c:ext>
              </c:extLst>
            </c:dLbl>
            <c:dLbl>
              <c:idx val="5"/>
              <c:layout>
                <c:manualLayout>
                  <c:x val="-4.5500136604258827E-2"/>
                  <c:y val="-0.25523049645390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3580-46B5-9AAA-7CD1D127276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c:v>
                </c:pt>
                <c:pt idx="1">
                  <c:v>0.56000000000000005</c:v>
                </c:pt>
                <c:pt idx="2">
                  <c:v>0.6</c:v>
                </c:pt>
                <c:pt idx="3">
                  <c:v>0.45</c:v>
                </c:pt>
                <c:pt idx="4">
                  <c:v>0.56999999999999995</c:v>
                </c:pt>
                <c:pt idx="5">
                  <c:v>0.47</c:v>
                </c:pt>
              </c:numCache>
            </c:numRef>
          </c:val>
          <c:smooth val="0"/>
          <c:extLst>
            <c:ext xmlns:c16="http://schemas.microsoft.com/office/drawing/2014/chart" uri="{C3380CC4-5D6E-409C-BE32-E72D297353CC}">
              <c16:uniqueId val="{00000000-3580-46B5-9AAA-7CD1D1272768}"/>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C6</c:v>
                </c:pt>
                <c:pt idx="1">
                  <c:v>Take CREON every meal, every snack, every day.</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622044917257683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FE5-43FD-993E-C2509D1C89BB}"/>
                </c:ext>
              </c:extLst>
            </c:dLbl>
            <c:dLbl>
              <c:idx val="1"/>
              <c:layout>
                <c:manualLayout>
                  <c:x val="-5.5166159663454749E-2"/>
                  <c:y val="-0.25523049645390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FE5-43FD-993E-C2509D1C89BB}"/>
                </c:ext>
              </c:extLst>
            </c:dLbl>
            <c:dLbl>
              <c:idx val="2"/>
              <c:layout>
                <c:manualLayout>
                  <c:x val="-5.5166159663454749E-2"/>
                  <c:y val="-0.229078014184397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FE5-43FD-993E-C2509D1C89BB}"/>
                </c:ext>
              </c:extLst>
            </c:dLbl>
            <c:dLbl>
              <c:idx val="3"/>
              <c:layout>
                <c:manualLayout>
                  <c:x val="-5.5166159663454749E-2"/>
                  <c:y val="-0.281382978723404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FE5-43FD-993E-C2509D1C89BB}"/>
                </c:ext>
              </c:extLst>
            </c:dLbl>
            <c:dLbl>
              <c:idx val="4"/>
              <c:layout>
                <c:manualLayout>
                  <c:x val="-5.5166159663454749E-2"/>
                  <c:y val="-0.265691489361702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FE5-43FD-993E-C2509D1C89BB}"/>
                </c:ext>
              </c:extLst>
            </c:dLbl>
            <c:dLbl>
              <c:idx val="5"/>
              <c:layout>
                <c:manualLayout>
                  <c:x val="-4.5500136604258827E-2"/>
                  <c:y val="-0.2552304964539007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FE5-43FD-993E-C2509D1C89B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0.43</c:v>
                </c:pt>
                <c:pt idx="1">
                  <c:v>0.47</c:v>
                </c:pt>
                <c:pt idx="2">
                  <c:v>0.62</c:v>
                </c:pt>
                <c:pt idx="3">
                  <c:v>0.32</c:v>
                </c:pt>
                <c:pt idx="4">
                  <c:v>0.41</c:v>
                </c:pt>
                <c:pt idx="5">
                  <c:v>0.47</c:v>
                </c:pt>
              </c:numCache>
            </c:numRef>
          </c:val>
          <c:smooth val="0"/>
          <c:extLst>
            <c:ext xmlns:c16="http://schemas.microsoft.com/office/drawing/2014/chart" uri="{C3380CC4-5D6E-409C-BE32-E72D297353CC}">
              <c16:uniqueId val="{00000000-8FE5-43FD-993E-C2509D1C89BB}"/>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C1</c:v>
                </c:pt>
                <c:pt idx="1">
                  <c:v>CREON maintains category leading coverage: 89% of national commercial and Medicare Part D insured lives have preferred access to CREON with the lowest branded copay, without a prior authorization.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3605200945626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04B-4EDA-AAB0-B5AD257BED92}"/>
                </c:ext>
              </c:extLst>
            </c:dLbl>
            <c:dLbl>
              <c:idx val="1"/>
              <c:layout>
                <c:manualLayout>
                  <c:x val="-5.5166159663454749E-2"/>
                  <c:y val="-0.2290780141843971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04B-4EDA-AAB0-B5AD257BED92}"/>
                </c:ext>
              </c:extLst>
            </c:dLbl>
            <c:dLbl>
              <c:idx val="2"/>
              <c:layout>
                <c:manualLayout>
                  <c:x val="-5.5166159663454749E-2"/>
                  <c:y val="-0.24476950354609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04B-4EDA-AAB0-B5AD257BED92}"/>
                </c:ext>
              </c:extLst>
            </c:dLbl>
            <c:dLbl>
              <c:idx val="3"/>
              <c:layout>
                <c:manualLayout>
                  <c:x val="-5.5166159663454749E-2"/>
                  <c:y val="-0.248256501182033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04B-4EDA-AAB0-B5AD257BED92}"/>
                </c:ext>
              </c:extLst>
            </c:dLbl>
            <c:dLbl>
              <c:idx val="4"/>
              <c:layout>
                <c:manualLayout>
                  <c:x val="-5.5166159663454749E-2"/>
                  <c:y val="-0.251743498817966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D04B-4EDA-AAB0-B5AD257BED92}"/>
                </c:ext>
              </c:extLst>
            </c:dLbl>
            <c:dLbl>
              <c:idx val="5"/>
              <c:layout>
                <c:manualLayout>
                  <c:x val="-4.5500136604258827E-2"/>
                  <c:y val="-0.2569739952718675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D04B-4EDA-AAB0-B5AD257BED9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0.57999999999999996</c:v>
                </c:pt>
                <c:pt idx="1">
                  <c:v>0.62</c:v>
                </c:pt>
                <c:pt idx="2">
                  <c:v>0.53</c:v>
                </c:pt>
                <c:pt idx="3">
                  <c:v>0.51</c:v>
                </c:pt>
                <c:pt idx="4">
                  <c:v>0.49</c:v>
                </c:pt>
                <c:pt idx="5">
                  <c:v>0.46</c:v>
                </c:pt>
              </c:numCache>
            </c:numRef>
          </c:val>
          <c:smooth val="0"/>
          <c:extLst>
            <c:ext xmlns:c16="http://schemas.microsoft.com/office/drawing/2014/chart" uri="{C3380CC4-5D6E-409C-BE32-E72D297353CC}">
              <c16:uniqueId val="{00000000-D04B-4EDA-AAB0-B5AD257BED92}"/>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C22</c:v>
                </c:pt>
                <c:pt idx="1">
                  <c:v>71% of CREON Medicare Part D patients paid less than $30 in 2024.</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E78-40C9-9F88-8098A68383E2}"/>
                </c:ext>
              </c:extLst>
            </c:dLbl>
            <c:dLbl>
              <c:idx val="1"/>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E78-40C9-9F88-8098A68383E2}"/>
                </c:ext>
              </c:extLst>
            </c:dLbl>
            <c:dLbl>
              <c:idx val="2"/>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E78-40C9-9F88-8098A68383E2}"/>
                </c:ext>
              </c:extLst>
            </c:dLbl>
            <c:dLbl>
              <c:idx val="3"/>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E78-40C9-9F88-8098A68383E2}"/>
                </c:ext>
              </c:extLst>
            </c:dLbl>
            <c:dLbl>
              <c:idx val="4"/>
              <c:layout>
                <c:manualLayout>
                  <c:x val="-4.7279714155898586E-2"/>
                  <c:y val="-0.337174940898345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EE78-40C9-9F88-8098A68383E2}"/>
                </c:ext>
              </c:extLst>
            </c:dLbl>
            <c:dLbl>
              <c:idx val="5"/>
              <c:layout>
                <c:manualLayout>
                  <c:x val="-4.5500136604258827E-2"/>
                  <c:y val="-0.183747044917257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EE78-40C9-9F88-8098A68383E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General</c:formatCode>
                <c:ptCount val="6"/>
                <c:pt idx="5" formatCode="0%">
                  <c:v>0.44</c:v>
                </c:pt>
              </c:numCache>
            </c:numRef>
          </c:val>
          <c:smooth val="0"/>
          <c:extLst>
            <c:ext xmlns:c16="http://schemas.microsoft.com/office/drawing/2014/chart" uri="{C3380CC4-5D6E-409C-BE32-E72D297353CC}">
              <c16:uniqueId val="{00000000-EE78-40C9-9F88-8098A68383E2}"/>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General"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41282505910165485"/>
          <c:w val="1"/>
          <c:h val="0.17434988179669031"/>
        </c:manualLayout>
      </c:layout>
      <c:lineChart>
        <c:grouping val="standard"/>
        <c:varyColors val="0"/>
        <c:ser>
          <c:idx val="0"/>
          <c:order val="0"/>
          <c:tx>
            <c:strRef>
              <c:f>Sheet1!$B$1:$B$2</c:f>
              <c:strCache>
                <c:ptCount val="2"/>
                <c:pt idx="0">
                  <c:v>C7</c:v>
                </c:pt>
                <c:pt idx="1">
                  <c:v>CREON 36K capsules can be an appropriate dose for many adults.</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5.5166159663454749E-2"/>
                  <c:y val="-0.218617021276595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62F-4F73-8A8E-9F9764912A4E}"/>
                </c:ext>
              </c:extLst>
            </c:dLbl>
            <c:dLbl>
              <c:idx val="1"/>
              <c:layout>
                <c:manualLayout>
                  <c:x val="-5.5166159663454749E-2"/>
                  <c:y val="-0.216873522458628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2F-4F73-8A8E-9F9764912A4E}"/>
                </c:ext>
              </c:extLst>
            </c:dLbl>
            <c:dLbl>
              <c:idx val="2"/>
              <c:layout>
                <c:manualLayout>
                  <c:x val="-5.5166159663454749E-2"/>
                  <c:y val="-0.2255910165484633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62F-4F73-8A8E-9F9764912A4E}"/>
                </c:ext>
              </c:extLst>
            </c:dLbl>
            <c:dLbl>
              <c:idx val="3"/>
              <c:layout>
                <c:manualLayout>
                  <c:x val="-5.5166159663454749E-2"/>
                  <c:y val="-0.2377955082742316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62F-4F73-8A8E-9F9764912A4E}"/>
                </c:ext>
              </c:extLst>
            </c:dLbl>
            <c:dLbl>
              <c:idx val="4"/>
              <c:layout>
                <c:manualLayout>
                  <c:x val="-5.5166159663454749E-2"/>
                  <c:y val="-0.220360520094562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62F-4F73-8A8E-9F9764912A4E}"/>
                </c:ext>
              </c:extLst>
            </c:dLbl>
            <c:dLbl>
              <c:idx val="5"/>
              <c:layout>
                <c:manualLayout>
                  <c:x val="-4.5500136604258827E-2"/>
                  <c:y val="-0.260460992907801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62F-4F73-8A8E-9F9764912A4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0.68</c:v>
                </c:pt>
                <c:pt idx="1">
                  <c:v>0.69</c:v>
                </c:pt>
                <c:pt idx="2">
                  <c:v>0.64</c:v>
                </c:pt>
                <c:pt idx="3">
                  <c:v>0.56999999999999995</c:v>
                </c:pt>
                <c:pt idx="4">
                  <c:v>0.67</c:v>
                </c:pt>
                <c:pt idx="5">
                  <c:v>0.44</c:v>
                </c:pt>
              </c:numCache>
            </c:numRef>
          </c:val>
          <c:smooth val="0"/>
          <c:extLst>
            <c:ext xmlns:c16="http://schemas.microsoft.com/office/drawing/2014/chart" uri="{C3380CC4-5D6E-409C-BE32-E72D297353CC}">
              <c16:uniqueId val="{00000006-862F-4F73-8A8E-9F9764912A4E}"/>
            </c:ext>
          </c:extLst>
        </c:ser>
        <c:dLbls>
          <c:dLblPos val="t"/>
          <c:showLegendKey val="0"/>
          <c:showVal val="1"/>
          <c:showCatName val="0"/>
          <c:showSerName val="0"/>
          <c:showPercent val="0"/>
          <c:showBubbleSize val="0"/>
        </c:dLbls>
        <c:marker val="1"/>
        <c:smooth val="0"/>
        <c:axId val="1309865760"/>
        <c:axId val="1309868640"/>
      </c:lineChart>
      <c:catAx>
        <c:axId val="1309865760"/>
        <c:scaling>
          <c:orientation val="minMax"/>
        </c:scaling>
        <c:delete val="1"/>
        <c:axPos val="b"/>
        <c:numFmt formatCode="General" sourceLinked="1"/>
        <c:majorTickMark val="none"/>
        <c:minorTickMark val="none"/>
        <c:tickLblPos val="nextTo"/>
        <c:crossAx val="1309868640"/>
        <c:crosses val="autoZero"/>
        <c:auto val="1"/>
        <c:lblAlgn val="ctr"/>
        <c:lblOffset val="100"/>
        <c:noMultiLvlLbl val="0"/>
      </c:catAx>
      <c:valAx>
        <c:axId val="1309868640"/>
        <c:scaling>
          <c:orientation val="minMax"/>
        </c:scaling>
        <c:delete val="1"/>
        <c:axPos val="l"/>
        <c:numFmt formatCode="0%" sourceLinked="1"/>
        <c:majorTickMark val="none"/>
        <c:minorTickMark val="none"/>
        <c:tickLblPos val="nextTo"/>
        <c:crossAx val="13098657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Z17</c:v>
                </c:pt>
                <c:pt idx="1">
                  <c:v>Only ZENPEP offers 40k and 60k lipase-unit capsules, which may help reduce the number of pills your adult patients need to take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3-CCE9-4509-8593-7581840B7622}"/>
              </c:ext>
            </c:extLst>
          </c:dPt>
          <c:dLbls>
            <c:dLbl>
              <c:idx val="0"/>
              <c:layout>
                <c:manualLayout>
                  <c:x val="-5.3171551431562464E-2"/>
                  <c:y val="-0.223411835748792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CE9-4509-8593-7581840B7622}"/>
                </c:ext>
              </c:extLst>
            </c:dLbl>
            <c:dLbl>
              <c:idx val="1"/>
              <c:layout>
                <c:manualLayout>
                  <c:x val="-5.3171551431562464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CE9-4509-8593-7581840B7622}"/>
                </c:ext>
              </c:extLst>
            </c:dLbl>
            <c:dLbl>
              <c:idx val="2"/>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CE9-4509-8593-7581840B7622}"/>
                </c:ext>
              </c:extLst>
            </c:dLbl>
            <c:dLbl>
              <c:idx val="3"/>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CE9-4509-8593-7581840B7622}"/>
                </c:ext>
              </c:extLst>
            </c:dLbl>
            <c:dLbl>
              <c:idx val="4"/>
              <c:layout>
                <c:manualLayout>
                  <c:x val="-5.3171551431562464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CE9-4509-8593-7581840B7622}"/>
                </c:ext>
              </c:extLst>
            </c:dLbl>
            <c:dLbl>
              <c:idx val="5"/>
              <c:layout>
                <c:manualLayout>
                  <c:x val="-5.3171551431562464E-2"/>
                  <c:y val="-0.20464371980676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CE9-4509-8593-7581840B762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0.67</c:v>
                </c:pt>
                <c:pt idx="1">
                  <c:v>0.71</c:v>
                </c:pt>
                <c:pt idx="2">
                  <c:v>0.65</c:v>
                </c:pt>
                <c:pt idx="3">
                  <c:v>0.65</c:v>
                </c:pt>
                <c:pt idx="4">
                  <c:v>0.63</c:v>
                </c:pt>
                <c:pt idx="5">
                  <c:v>0.79</c:v>
                </c:pt>
              </c:numCache>
            </c:numRef>
          </c:val>
          <c:smooth val="0"/>
          <c:extLst>
            <c:ext xmlns:c16="http://schemas.microsoft.com/office/drawing/2014/chart" uri="{C3380CC4-5D6E-409C-BE32-E72D297353CC}">
              <c16:uniqueId val="{00000000-CCE9-4509-8593-7581840B7622}"/>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Z16</c:v>
                </c:pt>
                <c:pt idx="1">
                  <c:v>ZENPEP offers a single-capsule starting dose for almost all adult patients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3B89-4390-B59D-983CE366A34D}"/>
              </c:ext>
            </c:extLst>
          </c:dPt>
          <c:dLbls>
            <c:dLbl>
              <c:idx val="0"/>
              <c:layout>
                <c:manualLayout>
                  <c:x val="-5.3171551431562464E-2"/>
                  <c:y val="-0.214809782608695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B89-4390-B59D-983CE366A34D}"/>
                </c:ext>
              </c:extLst>
            </c:dLbl>
            <c:dLbl>
              <c:idx val="1"/>
              <c:layout>
                <c:manualLayout>
                  <c:x val="-5.3171551431562464E-2"/>
                  <c:y val="-0.210899758454106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B89-4390-B59D-983CE366A34D}"/>
                </c:ext>
              </c:extLst>
            </c:dLbl>
            <c:dLbl>
              <c:idx val="2"/>
              <c:layout>
                <c:manualLayout>
                  <c:x val="-5.3171551431562464E-2"/>
                  <c:y val="-0.246089975845410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B89-4390-B59D-983CE366A34D}"/>
                </c:ext>
              </c:extLst>
            </c:dLbl>
            <c:dLbl>
              <c:idx val="3"/>
              <c:layout>
                <c:manualLayout>
                  <c:x val="-5.3171551431562464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B89-4390-B59D-983CE366A34D}"/>
                </c:ext>
              </c:extLst>
            </c:dLbl>
            <c:dLbl>
              <c:idx val="4"/>
              <c:layout>
                <c:manualLayout>
                  <c:x val="-5.3171551431562464E-2"/>
                  <c:y val="-0.230449879227053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B89-4390-B59D-983CE366A34D}"/>
                </c:ext>
              </c:extLst>
            </c:dLbl>
            <c:dLbl>
              <c:idx val="5"/>
              <c:layout>
                <c:manualLayout>
                  <c:x val="-5.3171551431562464E-2"/>
                  <c:y val="-0.214809782608695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B89-4390-B59D-983CE366A34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0.69</c:v>
                </c:pt>
                <c:pt idx="1">
                  <c:v>0.7</c:v>
                </c:pt>
                <c:pt idx="2">
                  <c:v>0.61</c:v>
                </c:pt>
                <c:pt idx="3">
                  <c:v>0.68</c:v>
                </c:pt>
                <c:pt idx="4">
                  <c:v>0.65</c:v>
                </c:pt>
                <c:pt idx="5">
                  <c:v>0.69</c:v>
                </c:pt>
              </c:numCache>
            </c:numRef>
          </c:val>
          <c:smooth val="0"/>
          <c:extLst>
            <c:ext xmlns:c16="http://schemas.microsoft.com/office/drawing/2014/chart" uri="{C3380CC4-5D6E-409C-BE32-E72D297353CC}">
              <c16:uniqueId val="{00000002-3B89-4390-B59D-983CE366A34D}"/>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Z19</c:v>
                </c:pt>
                <c:pt idx="1">
                  <c:v>Meets the ACG guideline for EPI and CP in a single capsule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41A1-45C3-8BD5-6DE2CCB556FD}"/>
              </c:ext>
            </c:extLst>
          </c:dPt>
          <c:dLbls>
            <c:dLbl>
              <c:idx val="0"/>
              <c:layout>
                <c:manualLayout>
                  <c:x val="-5.3171551431562464E-2"/>
                  <c:y val="-0.2226298309178743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1A1-45C3-8BD5-6DE2CCB556FD}"/>
                </c:ext>
              </c:extLst>
            </c:dLbl>
            <c:dLbl>
              <c:idx val="1"/>
              <c:layout>
                <c:manualLayout>
                  <c:x val="-5.3171551431562464E-2"/>
                  <c:y val="-0.238269927536231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1A1-45C3-8BD5-6DE2CCB556FD}"/>
                </c:ext>
              </c:extLst>
            </c:dLbl>
            <c:dLbl>
              <c:idx val="2"/>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1A1-45C3-8BD5-6DE2CCB556FD}"/>
                </c:ext>
              </c:extLst>
            </c:dLbl>
            <c:dLbl>
              <c:idx val="3"/>
              <c:layout>
                <c:manualLayout>
                  <c:x val="-5.3171551431562464E-2"/>
                  <c:y val="-0.210899758454106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1A1-45C3-8BD5-6DE2CCB556FD}"/>
                </c:ext>
              </c:extLst>
            </c:dLbl>
            <c:dLbl>
              <c:idx val="4"/>
              <c:layout>
                <c:manualLayout>
                  <c:x val="-5.3171551431562464E-2"/>
                  <c:y val="-0.238269927536231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1A1-45C3-8BD5-6DE2CCB556FD}"/>
                </c:ext>
              </c:extLst>
            </c:dLbl>
            <c:dLbl>
              <c:idx val="5"/>
              <c:layout>
                <c:manualLayout>
                  <c:x val="-5.3171551431562464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1A1-45C3-8BD5-6DE2CCB556F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0.67</c:v>
                </c:pt>
                <c:pt idx="1">
                  <c:v>0.63</c:v>
                </c:pt>
                <c:pt idx="2">
                  <c:v>0.6</c:v>
                </c:pt>
                <c:pt idx="3">
                  <c:v>0.7</c:v>
                </c:pt>
                <c:pt idx="4">
                  <c:v>0.63</c:v>
                </c:pt>
                <c:pt idx="5">
                  <c:v>0.68</c:v>
                </c:pt>
              </c:numCache>
            </c:numRef>
          </c:val>
          <c:smooth val="0"/>
          <c:extLst>
            <c:ext xmlns:c16="http://schemas.microsoft.com/office/drawing/2014/chart" uri="{C3380CC4-5D6E-409C-BE32-E72D297353CC}">
              <c16:uniqueId val="{00000002-41A1-45C3-8BD5-6DE2CCB556FD}"/>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Z15</c:v>
                </c:pt>
                <c:pt idx="1">
                  <c:v>When prescribing PERT to your adult patients with EPI -Start simply with one capsule of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0AEC-4268-B727-64120A4FB37A}"/>
              </c:ext>
            </c:extLst>
          </c:dPt>
          <c:dLbls>
            <c:dLbl>
              <c:idx val="0"/>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AEC-4268-B727-64120A4FB37A}"/>
                </c:ext>
              </c:extLst>
            </c:dLbl>
            <c:dLbl>
              <c:idx val="1"/>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AEC-4268-B727-64120A4FB37A}"/>
                </c:ext>
              </c:extLst>
            </c:dLbl>
            <c:dLbl>
              <c:idx val="2"/>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AEC-4268-B727-64120A4FB37A}"/>
                </c:ext>
              </c:extLst>
            </c:dLbl>
            <c:dLbl>
              <c:idx val="3"/>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AEC-4268-B727-64120A4FB37A}"/>
                </c:ext>
              </c:extLst>
            </c:dLbl>
            <c:dLbl>
              <c:idx val="4"/>
              <c:layout>
                <c:manualLayout>
                  <c:x val="-5.3171551431562464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AEC-4268-B727-64120A4FB37A}"/>
                </c:ext>
              </c:extLst>
            </c:dLbl>
            <c:dLbl>
              <c:idx val="5"/>
              <c:layout>
                <c:manualLayout>
                  <c:x val="-5.3171551431562464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AEC-4268-B727-64120A4FB37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0.65</c:v>
                </c:pt>
                <c:pt idx="1">
                  <c:v>0.59</c:v>
                </c:pt>
                <c:pt idx="2">
                  <c:v>0.62</c:v>
                </c:pt>
                <c:pt idx="3">
                  <c:v>0.53</c:v>
                </c:pt>
                <c:pt idx="4">
                  <c:v>0.64</c:v>
                </c:pt>
                <c:pt idx="5">
                  <c:v>0.66</c:v>
                </c:pt>
              </c:numCache>
            </c:numRef>
          </c:val>
          <c:smooth val="0"/>
          <c:extLst>
            <c:ext xmlns:c16="http://schemas.microsoft.com/office/drawing/2014/chart" uri="{C3380CC4-5D6E-409C-BE32-E72D297353CC}">
              <c16:uniqueId val="{00000002-0AEC-4268-B727-64120A4FB37A}"/>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Z7</c:v>
                </c:pt>
                <c:pt idx="1">
                  <c:v>ZENPEP has an enteric coating that minimizes degradation and targets enzyme release in the small intestine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42A6-4A3A-ABCF-0256CECB10A2}"/>
              </c:ext>
            </c:extLst>
          </c:dPt>
          <c:dLbls>
            <c:dLbl>
              <c:idx val="0"/>
              <c:layout>
                <c:manualLayout>
                  <c:x val="-5.3171551431562464E-2"/>
                  <c:y val="-0.2695501207729468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2A6-4A3A-ABCF-0256CECB10A2}"/>
                </c:ext>
              </c:extLst>
            </c:dLbl>
            <c:dLbl>
              <c:idx val="1"/>
              <c:layout>
                <c:manualLayout>
                  <c:x val="-5.3171551431562464E-2"/>
                  <c:y val="-0.246089975845410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2A6-4A3A-ABCF-0256CECB10A2}"/>
                </c:ext>
              </c:extLst>
            </c:dLbl>
            <c:dLbl>
              <c:idx val="2"/>
              <c:layout>
                <c:manualLayout>
                  <c:x val="-5.3171551431562464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2A6-4A3A-ABCF-0256CECB10A2}"/>
                </c:ext>
              </c:extLst>
            </c:dLbl>
            <c:dLbl>
              <c:idx val="3"/>
              <c:layout>
                <c:manualLayout>
                  <c:x val="-5.3171551431562464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2A6-4A3A-ABCF-0256CECB10A2}"/>
                </c:ext>
              </c:extLst>
            </c:dLbl>
            <c:dLbl>
              <c:idx val="4"/>
              <c:layout>
                <c:manualLayout>
                  <c:x val="-5.3171551431562464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2A6-4A3A-ABCF-0256CECB10A2}"/>
                </c:ext>
              </c:extLst>
            </c:dLbl>
            <c:dLbl>
              <c:idx val="5"/>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2A6-4A3A-ABCF-0256CECB10A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0.55000000000000004</c:v>
                </c:pt>
                <c:pt idx="1">
                  <c:v>0.61</c:v>
                </c:pt>
                <c:pt idx="2">
                  <c:v>0.54</c:v>
                </c:pt>
                <c:pt idx="3">
                  <c:v>0.54</c:v>
                </c:pt>
                <c:pt idx="4">
                  <c:v>0.52</c:v>
                </c:pt>
                <c:pt idx="5">
                  <c:v>0.62</c:v>
                </c:pt>
              </c:numCache>
            </c:numRef>
          </c:val>
          <c:smooth val="0"/>
          <c:extLst>
            <c:ext xmlns:c16="http://schemas.microsoft.com/office/drawing/2014/chart" uri="{C3380CC4-5D6E-409C-BE32-E72D297353CC}">
              <c16:uniqueId val="{00000002-42A6-4A3A-ABCF-0256CECB10A2}"/>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Z18</c:v>
                </c:pt>
                <c:pt idx="1">
                  <c:v>In a clinical trial, the right dose helped patients absorb nutrients from their food and provided symptom relief</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F855-44D3-9BE4-B98504C9963E}"/>
              </c:ext>
            </c:extLst>
          </c:dPt>
          <c:dLbls>
            <c:dLbl>
              <c:idx val="0"/>
              <c:layout>
                <c:manualLayout>
                  <c:x val="-5.3171551431562464E-2"/>
                  <c:y val="-0.237487922705314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855-44D3-9BE4-B98504C9963E}"/>
                </c:ext>
              </c:extLst>
            </c:dLbl>
            <c:dLbl>
              <c:idx val="1"/>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855-44D3-9BE4-B98504C9963E}"/>
                </c:ext>
              </c:extLst>
            </c:dLbl>
            <c:dLbl>
              <c:idx val="2"/>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855-44D3-9BE4-B98504C9963E}"/>
                </c:ext>
              </c:extLst>
            </c:dLbl>
            <c:dLbl>
              <c:idx val="3"/>
              <c:layout>
                <c:manualLayout>
                  <c:x val="-5.3171551431562464E-2"/>
                  <c:y val="-0.267204106280193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855-44D3-9BE4-B98504C9963E}"/>
                </c:ext>
              </c:extLst>
            </c:dLbl>
            <c:dLbl>
              <c:idx val="4"/>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855-44D3-9BE4-B98504C9963E}"/>
                </c:ext>
              </c:extLst>
            </c:dLbl>
            <c:dLbl>
              <c:idx val="5"/>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55-44D3-9BE4-B98504C9963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0.57999999999999996</c:v>
                </c:pt>
                <c:pt idx="1">
                  <c:v>0.53</c:v>
                </c:pt>
                <c:pt idx="2">
                  <c:v>0.44</c:v>
                </c:pt>
                <c:pt idx="3">
                  <c:v>0.39</c:v>
                </c:pt>
                <c:pt idx="4">
                  <c:v>0.49</c:v>
                </c:pt>
                <c:pt idx="5">
                  <c:v>0.56999999999999995</c:v>
                </c:pt>
              </c:numCache>
            </c:numRef>
          </c:val>
          <c:smooth val="0"/>
          <c:extLst>
            <c:ext xmlns:c16="http://schemas.microsoft.com/office/drawing/2014/chart" uri="{C3380CC4-5D6E-409C-BE32-E72D297353CC}">
              <c16:uniqueId val="{00000002-F855-44D3-9BE4-B98504C9963E}"/>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Z11</c:v>
                </c:pt>
                <c:pt idx="1">
                  <c:v>Eligible patients pay as little as $5 for their first prescription fill and for refills.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2F11-4ADA-B354-0814A1246459}"/>
              </c:ext>
            </c:extLst>
          </c:dPt>
          <c:dLbls>
            <c:dLbl>
              <c:idx val="0"/>
              <c:layout>
                <c:manualLayout>
                  <c:x val="-5.3171551431562464E-2"/>
                  <c:y val="-0.187439613526570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F11-4ADA-B354-0814A1246459}"/>
                </c:ext>
              </c:extLst>
            </c:dLbl>
            <c:dLbl>
              <c:idx val="1"/>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F11-4ADA-B354-0814A1246459}"/>
                </c:ext>
              </c:extLst>
            </c:dLbl>
            <c:dLbl>
              <c:idx val="2"/>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F11-4ADA-B354-0814A1246459}"/>
                </c:ext>
              </c:extLst>
            </c:dLbl>
            <c:dLbl>
              <c:idx val="3"/>
              <c:layout>
                <c:manualLayout>
                  <c:x val="-5.3171551431562464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F11-4ADA-B354-0814A1246459}"/>
                </c:ext>
              </c:extLst>
            </c:dLbl>
            <c:dLbl>
              <c:idx val="4"/>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F11-4ADA-B354-0814A1246459}"/>
                </c:ext>
              </c:extLst>
            </c:dLbl>
            <c:dLbl>
              <c:idx val="5"/>
              <c:layout>
                <c:manualLayout>
                  <c:x val="-5.3171551431562464E-2"/>
                  <c:y val="-0.203079710144927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F11-4ADA-B354-0814A124645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0.57999999999999996</c:v>
                </c:pt>
                <c:pt idx="1">
                  <c:v>0.53</c:v>
                </c:pt>
                <c:pt idx="2">
                  <c:v>0.53</c:v>
                </c:pt>
                <c:pt idx="3">
                  <c:v>0.49</c:v>
                </c:pt>
                <c:pt idx="4">
                  <c:v>0.52</c:v>
                </c:pt>
                <c:pt idx="5">
                  <c:v>0.56000000000000005</c:v>
                </c:pt>
              </c:numCache>
            </c:numRef>
          </c:val>
          <c:smooth val="0"/>
          <c:extLst>
            <c:ext xmlns:c16="http://schemas.microsoft.com/office/drawing/2014/chart" uri="{C3380CC4-5D6E-409C-BE32-E72D297353CC}">
              <c16:uniqueId val="{00000002-2F11-4ADA-B354-0814A1246459}"/>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Z20</c:v>
                </c:pt>
                <c:pt idx="1">
                  <c:v>91% of patients achieved a CFA of 80% or higher with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2BCB-46C9-86DE-9BAEFCDE3E91}"/>
              </c:ext>
            </c:extLst>
          </c:dPt>
          <c:dLbls>
            <c:dLbl>
              <c:idx val="0"/>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BCB-46C9-86DE-9BAEFCDE3E91}"/>
                </c:ext>
              </c:extLst>
            </c:dLbl>
            <c:dLbl>
              <c:idx val="1"/>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BCB-46C9-86DE-9BAEFCDE3E91}"/>
                </c:ext>
              </c:extLst>
            </c:dLbl>
            <c:dLbl>
              <c:idx val="2"/>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BCB-46C9-86DE-9BAEFCDE3E91}"/>
                </c:ext>
              </c:extLst>
            </c:dLbl>
            <c:dLbl>
              <c:idx val="3"/>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BCB-46C9-86DE-9BAEFCDE3E91}"/>
                </c:ext>
              </c:extLst>
            </c:dLbl>
            <c:dLbl>
              <c:idx val="4"/>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BCB-46C9-86DE-9BAEFCDE3E91}"/>
                </c:ext>
              </c:extLst>
            </c:dLbl>
            <c:dLbl>
              <c:idx val="5"/>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BCB-46C9-86DE-9BAEFCDE3E9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0.62</c:v>
                </c:pt>
                <c:pt idx="1">
                  <c:v>0.62</c:v>
                </c:pt>
                <c:pt idx="2">
                  <c:v>0.54</c:v>
                </c:pt>
                <c:pt idx="3">
                  <c:v>0.5</c:v>
                </c:pt>
                <c:pt idx="4">
                  <c:v>0.5</c:v>
                </c:pt>
                <c:pt idx="5">
                  <c:v>0.56000000000000005</c:v>
                </c:pt>
              </c:numCache>
            </c:numRef>
          </c:val>
          <c:smooth val="0"/>
          <c:extLst>
            <c:ext xmlns:c16="http://schemas.microsoft.com/office/drawing/2014/chart" uri="{C3380CC4-5D6E-409C-BE32-E72D297353CC}">
              <c16:uniqueId val="{00000002-2BCB-46C9-86DE-9BAEFCDE3E91}"/>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Z22</c:v>
                </c:pt>
                <c:pt idx="1">
                  <c:v>Through My SampleCloset, practices are able to easily request samples of Zenpep at any strength</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B5E2-4EDF-82F3-7ADF04174789}"/>
              </c:ext>
            </c:extLst>
          </c:dPt>
          <c:dLbls>
            <c:dLbl>
              <c:idx val="0"/>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E2-4EDF-82F3-7ADF04174789}"/>
                </c:ext>
              </c:extLst>
            </c:dLbl>
            <c:dLbl>
              <c:idx val="1"/>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5E2-4EDF-82F3-7ADF04174789}"/>
                </c:ext>
              </c:extLst>
            </c:dLbl>
            <c:dLbl>
              <c:idx val="2"/>
              <c:layout>
                <c:manualLayout>
                  <c:x val="-5.3171551431562464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E2-4EDF-82F3-7ADF04174789}"/>
                </c:ext>
              </c:extLst>
            </c:dLbl>
            <c:dLbl>
              <c:idx val="3"/>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5E2-4EDF-82F3-7ADF04174789}"/>
                </c:ext>
              </c:extLst>
            </c:dLbl>
            <c:dLbl>
              <c:idx val="4"/>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E2-4EDF-82F3-7ADF04174789}"/>
                </c:ext>
              </c:extLst>
            </c:dLbl>
            <c:dLbl>
              <c:idx val="5"/>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5E2-4EDF-82F3-7ADF0417478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0.59</c:v>
                </c:pt>
                <c:pt idx="1">
                  <c:v>0.56000000000000005</c:v>
                </c:pt>
                <c:pt idx="2">
                  <c:v>0.48</c:v>
                </c:pt>
                <c:pt idx="3">
                  <c:v>0.49</c:v>
                </c:pt>
                <c:pt idx="4">
                  <c:v>0.56000000000000005</c:v>
                </c:pt>
                <c:pt idx="5">
                  <c:v>0.56000000000000005</c:v>
                </c:pt>
              </c:numCache>
            </c:numRef>
          </c:val>
          <c:smooth val="0"/>
          <c:extLst>
            <c:ext xmlns:c16="http://schemas.microsoft.com/office/drawing/2014/chart" uri="{C3380CC4-5D6E-409C-BE32-E72D297353CC}">
              <c16:uniqueId val="{00000002-B5E2-4EDF-82F3-7ADF04174789}"/>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Z23</c:v>
                </c:pt>
                <c:pt idx="1">
                  <c:v>Zenpep is the most widely covered treatment in its class.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F0F6-4CDC-BD55-B61F2D3CCFB6}"/>
              </c:ext>
            </c:extLst>
          </c:dPt>
          <c:dLbls>
            <c:dLbl>
              <c:idx val="0"/>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0F6-4CDC-BD55-B61F2D3CCFB6}"/>
                </c:ext>
              </c:extLst>
            </c:dLbl>
            <c:dLbl>
              <c:idx val="1"/>
              <c:layout>
                <c:manualLayout>
                  <c:x val="-5.3171551431562464E-2"/>
                  <c:y val="-0.210899758454106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0F6-4CDC-BD55-B61F2D3CCFB6}"/>
                </c:ext>
              </c:extLst>
            </c:dLbl>
            <c:dLbl>
              <c:idx val="2"/>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0F6-4CDC-BD55-B61F2D3CCFB6}"/>
                </c:ext>
              </c:extLst>
            </c:dLbl>
            <c:dLbl>
              <c:idx val="3"/>
              <c:layout>
                <c:manualLayout>
                  <c:x val="-5.3171551431562464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0F6-4CDC-BD55-B61F2D3CCFB6}"/>
                </c:ext>
              </c:extLst>
            </c:dLbl>
            <c:dLbl>
              <c:idx val="4"/>
              <c:layout>
                <c:manualLayout>
                  <c:x val="-5.3171551431562464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0F6-4CDC-BD55-B61F2D3CCFB6}"/>
                </c:ext>
              </c:extLst>
            </c:dLbl>
            <c:dLbl>
              <c:idx val="5"/>
              <c:layout>
                <c:manualLayout>
                  <c:x val="-5.3171551431562464E-2"/>
                  <c:y val="-0.203079710144927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0F6-4CDC-BD55-B61F2D3CCFB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0.52</c:v>
                </c:pt>
                <c:pt idx="1">
                  <c:v>0.55000000000000004</c:v>
                </c:pt>
                <c:pt idx="2">
                  <c:v>0.5</c:v>
                </c:pt>
                <c:pt idx="3">
                  <c:v>0.49</c:v>
                </c:pt>
                <c:pt idx="4">
                  <c:v>0.47</c:v>
                </c:pt>
                <c:pt idx="5">
                  <c:v>0.56000000000000005</c:v>
                </c:pt>
              </c:numCache>
            </c:numRef>
          </c:val>
          <c:smooth val="0"/>
          <c:extLst>
            <c:ext xmlns:c16="http://schemas.microsoft.com/office/drawing/2014/chart" uri="{C3380CC4-5D6E-409C-BE32-E72D297353CC}">
              <c16:uniqueId val="{00000002-F0F6-4CDC-BD55-B61F2D3CCFB6}"/>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Z24</c:v>
                </c:pt>
                <c:pt idx="1">
                  <c:v>Zenpep is designed to mimic typical exocrine pancreatic function.</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C681-42EA-8971-7E9189891AF4}"/>
              </c:ext>
            </c:extLst>
          </c:dPt>
          <c:dLbls>
            <c:dLbl>
              <c:idx val="0"/>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681-42EA-8971-7E9189891AF4}"/>
                </c:ext>
              </c:extLst>
            </c:dLbl>
            <c:dLbl>
              <c:idx val="1"/>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681-42EA-8971-7E9189891AF4}"/>
                </c:ext>
              </c:extLst>
            </c:dLbl>
            <c:dLbl>
              <c:idx val="2"/>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681-42EA-8971-7E9189891AF4}"/>
                </c:ext>
              </c:extLst>
            </c:dLbl>
            <c:dLbl>
              <c:idx val="3"/>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681-42EA-8971-7E9189891AF4}"/>
                </c:ext>
              </c:extLst>
            </c:dLbl>
            <c:dLbl>
              <c:idx val="4"/>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681-42EA-8971-7E9189891AF4}"/>
                </c:ext>
              </c:extLst>
            </c:dLbl>
            <c:dLbl>
              <c:idx val="5"/>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681-42EA-8971-7E9189891AF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General</c:formatCode>
                <c:ptCount val="6"/>
                <c:pt idx="5" formatCode="0%">
                  <c:v>0.54</c:v>
                </c:pt>
              </c:numCache>
            </c:numRef>
          </c:val>
          <c:smooth val="0"/>
          <c:extLst>
            <c:ext xmlns:c16="http://schemas.microsoft.com/office/drawing/2014/chart" uri="{C3380CC4-5D6E-409C-BE32-E72D297353CC}">
              <c16:uniqueId val="{00000002-C681-42EA-8971-7E9189891AF4}"/>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General"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Z21</c:v>
                </c:pt>
                <c:pt idx="1">
                  <c:v>ZENPEP can help your patients absorb the fat and nutrients they need and treat uncomfortable GI symptoms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3F93-48F9-8CED-A754B6354B7F}"/>
              </c:ext>
            </c:extLst>
          </c:dPt>
          <c:dLbls>
            <c:dLbl>
              <c:idx val="0"/>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F93-48F9-8CED-A754B6354B7F}"/>
                </c:ext>
              </c:extLst>
            </c:dLbl>
            <c:dLbl>
              <c:idx val="1"/>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F93-48F9-8CED-A754B6354B7F}"/>
                </c:ext>
              </c:extLst>
            </c:dLbl>
            <c:dLbl>
              <c:idx val="2"/>
              <c:layout>
                <c:manualLayout>
                  <c:x val="-5.3171551431562464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F93-48F9-8CED-A754B6354B7F}"/>
                </c:ext>
              </c:extLst>
            </c:dLbl>
            <c:dLbl>
              <c:idx val="3"/>
              <c:layout>
                <c:manualLayout>
                  <c:x val="-5.3171551431562464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F93-48F9-8CED-A754B6354B7F}"/>
                </c:ext>
              </c:extLst>
            </c:dLbl>
            <c:dLbl>
              <c:idx val="4"/>
              <c:layout>
                <c:manualLayout>
                  <c:x val="-5.3171551431562464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F93-48F9-8CED-A754B6354B7F}"/>
                </c:ext>
              </c:extLst>
            </c:dLbl>
            <c:dLbl>
              <c:idx val="5"/>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F93-48F9-8CED-A754B6354B7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0.56000000000000005</c:v>
                </c:pt>
                <c:pt idx="1">
                  <c:v>0.49</c:v>
                </c:pt>
                <c:pt idx="2">
                  <c:v>0.46</c:v>
                </c:pt>
                <c:pt idx="3">
                  <c:v>0.43</c:v>
                </c:pt>
                <c:pt idx="4">
                  <c:v>0.47</c:v>
                </c:pt>
                <c:pt idx="5">
                  <c:v>0.53</c:v>
                </c:pt>
              </c:numCache>
            </c:numRef>
          </c:val>
          <c:smooth val="0"/>
          <c:extLst>
            <c:ext xmlns:c16="http://schemas.microsoft.com/office/drawing/2014/chart" uri="{C3380CC4-5D6E-409C-BE32-E72D297353CC}">
              <c16:uniqueId val="{00000002-3F93-48F9-8CED-A754B6354B7F}"/>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Z8</c:v>
                </c:pt>
                <c:pt idx="1">
                  <c:v>ZENPEP helps fuel nutritional health, increasing coefficient of fat absorption (CFA) by 26 percentage points vs placebo</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EFFB-48FF-9CA6-365DF9B736A1}"/>
              </c:ext>
            </c:extLst>
          </c:dPt>
          <c:dLbls>
            <c:dLbl>
              <c:idx val="0"/>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FFB-48FF-9CA6-365DF9B736A1}"/>
                </c:ext>
              </c:extLst>
            </c:dLbl>
            <c:dLbl>
              <c:idx val="1"/>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FFB-48FF-9CA6-365DF9B736A1}"/>
                </c:ext>
              </c:extLst>
            </c:dLbl>
            <c:dLbl>
              <c:idx val="2"/>
              <c:layout>
                <c:manualLayout>
                  <c:x val="-5.3171551431562464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FFB-48FF-9CA6-365DF9B736A1}"/>
                </c:ext>
              </c:extLst>
            </c:dLbl>
            <c:dLbl>
              <c:idx val="3"/>
              <c:layout>
                <c:manualLayout>
                  <c:x val="-5.3171551431562464E-2"/>
                  <c:y val="-0.256256038647342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FFB-48FF-9CA6-365DF9B736A1}"/>
                </c:ext>
              </c:extLst>
            </c:dLbl>
            <c:dLbl>
              <c:idx val="4"/>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FFB-48FF-9CA6-365DF9B736A1}"/>
                </c:ext>
              </c:extLst>
            </c:dLbl>
            <c:dLbl>
              <c:idx val="5"/>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FFB-48FF-9CA6-365DF9B736A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Gastro</c:v>
                </c:pt>
                <c:pt idx="1">
                  <c:v>W28 - Speciality  - Gastro</c:v>
                </c:pt>
                <c:pt idx="2">
                  <c:v>W29 - Speciality  - Gastro</c:v>
                </c:pt>
                <c:pt idx="3">
                  <c:v>W30 - Speciality  - Gastro</c:v>
                </c:pt>
                <c:pt idx="4">
                  <c:v>W31 - Speciality  - Gastro</c:v>
                </c:pt>
                <c:pt idx="5">
                  <c:v>W32 - Speciality  - Gastro</c:v>
                </c:pt>
              </c:strCache>
            </c:strRef>
          </c:cat>
          <c:val>
            <c:numRef>
              <c:f>Sheet1!$B$3:$B$8</c:f>
              <c:numCache>
                <c:formatCode>0%</c:formatCode>
                <c:ptCount val="6"/>
                <c:pt idx="0">
                  <c:v>0.53</c:v>
                </c:pt>
                <c:pt idx="1">
                  <c:v>0.51</c:v>
                </c:pt>
                <c:pt idx="2">
                  <c:v>0.41</c:v>
                </c:pt>
                <c:pt idx="3">
                  <c:v>0.46</c:v>
                </c:pt>
                <c:pt idx="4">
                  <c:v>0.44</c:v>
                </c:pt>
                <c:pt idx="5">
                  <c:v>0.51</c:v>
                </c:pt>
              </c:numCache>
            </c:numRef>
          </c:val>
          <c:smooth val="0"/>
          <c:extLst>
            <c:ext xmlns:c16="http://schemas.microsoft.com/office/drawing/2014/chart" uri="{C3380CC4-5D6E-409C-BE32-E72D297353CC}">
              <c16:uniqueId val="{00000007-EFFB-48FF-9CA6-365DF9B736A1}"/>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Z16</c:v>
                </c:pt>
                <c:pt idx="1">
                  <c:v>ZENPEP offers a single-capsule starting dose for almost all adult patients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E5D1-479F-A06C-C6A5B277EEB1}"/>
              </c:ext>
            </c:extLst>
          </c:dPt>
          <c:dLbls>
            <c:dLbl>
              <c:idx val="0"/>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D86-4871-AFB7-F7F7A63D27FC}"/>
                </c:ext>
              </c:extLst>
            </c:dLbl>
            <c:dLbl>
              <c:idx val="1"/>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D86-4871-AFB7-F7F7A63D27FC}"/>
                </c:ext>
              </c:extLst>
            </c:dLbl>
            <c:dLbl>
              <c:idx val="2"/>
              <c:layout>
                <c:manualLayout>
                  <c:x val="-5.3171551431562464E-2"/>
                  <c:y val="-0.27189613526570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D86-4871-AFB7-F7F7A63D27FC}"/>
                </c:ext>
              </c:extLst>
            </c:dLbl>
            <c:dLbl>
              <c:idx val="3"/>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D86-4871-AFB7-F7F7A63D27FC}"/>
                </c:ext>
              </c:extLst>
            </c:dLbl>
            <c:dLbl>
              <c:idx val="4"/>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5D1-479F-A06C-C6A5B277EEB1}"/>
                </c:ext>
              </c:extLst>
            </c:dLbl>
            <c:dLbl>
              <c:idx val="5"/>
              <c:layout>
                <c:manualLayout>
                  <c:x val="-5.3171551431562464E-2"/>
                  <c:y val="-0.2687681159420289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D86-4871-AFB7-F7F7A63D27F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0.72</c:v>
                </c:pt>
                <c:pt idx="1">
                  <c:v>0.72</c:v>
                </c:pt>
                <c:pt idx="2">
                  <c:v>0.68</c:v>
                </c:pt>
                <c:pt idx="3">
                  <c:v>0.72</c:v>
                </c:pt>
                <c:pt idx="4">
                  <c:v>0.81</c:v>
                </c:pt>
                <c:pt idx="5">
                  <c:v>0.69</c:v>
                </c:pt>
              </c:numCache>
            </c:numRef>
          </c:val>
          <c:smooth val="0"/>
          <c:extLst>
            <c:ext xmlns:c16="http://schemas.microsoft.com/office/drawing/2014/chart" uri="{C3380CC4-5D6E-409C-BE32-E72D297353CC}">
              <c16:uniqueId val="{00000002-E5D1-479F-A06C-C6A5B277EEB1}"/>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Z17</c:v>
                </c:pt>
                <c:pt idx="1">
                  <c:v>Only ZENPEP offers 40k and 60k lipase-unit capsules, which may help reduce the number of pills your adult patients need to take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079A-41A0-B589-3B98A479AB37}"/>
              </c:ext>
            </c:extLst>
          </c:dPt>
          <c:dLbls>
            <c:dLbl>
              <c:idx val="0"/>
              <c:layout>
                <c:manualLayout>
                  <c:x val="-5.3171551431562464E-2"/>
                  <c:y val="-0.201515700483091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79A-41A0-B589-3B98A479AB37}"/>
                </c:ext>
              </c:extLst>
            </c:dLbl>
            <c:dLbl>
              <c:idx val="1"/>
              <c:layout>
                <c:manualLayout>
                  <c:x val="-5.3171551431562464E-2"/>
                  <c:y val="-0.19995169082125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79A-41A0-B589-3B98A479AB37}"/>
                </c:ext>
              </c:extLst>
            </c:dLbl>
            <c:dLbl>
              <c:idx val="2"/>
              <c:layout>
                <c:manualLayout>
                  <c:x val="-5.3171551431562464E-2"/>
                  <c:y val="-0.215591787439613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79A-41A0-B589-3B98A479AB37}"/>
                </c:ext>
              </c:extLst>
            </c:dLbl>
            <c:dLbl>
              <c:idx val="3"/>
              <c:layout>
                <c:manualLayout>
                  <c:x val="-5.3171551431562464E-2"/>
                  <c:y val="-0.203079710144927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79A-41A0-B589-3B98A479AB37}"/>
                </c:ext>
              </c:extLst>
            </c:dLbl>
            <c:dLbl>
              <c:idx val="4"/>
              <c:layout>
                <c:manualLayout>
                  <c:x val="-5.3171551431562464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79A-41A0-B589-3B98A479AB37}"/>
                </c:ext>
              </c:extLst>
            </c:dLbl>
            <c:dLbl>
              <c:idx val="5"/>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79A-41A0-B589-3B98A479AB3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0.81</c:v>
                </c:pt>
                <c:pt idx="1">
                  <c:v>0.82</c:v>
                </c:pt>
                <c:pt idx="2">
                  <c:v>0.72</c:v>
                </c:pt>
                <c:pt idx="3">
                  <c:v>0.8</c:v>
                </c:pt>
                <c:pt idx="4">
                  <c:v>0.71</c:v>
                </c:pt>
                <c:pt idx="5">
                  <c:v>0.62</c:v>
                </c:pt>
              </c:numCache>
            </c:numRef>
          </c:val>
          <c:smooth val="0"/>
          <c:extLst>
            <c:ext xmlns:c16="http://schemas.microsoft.com/office/drawing/2014/chart" uri="{C3380CC4-5D6E-409C-BE32-E72D297353CC}">
              <c16:uniqueId val="{00000002-079A-41A0-B589-3B98A479AB37}"/>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Z15</c:v>
                </c:pt>
                <c:pt idx="1">
                  <c:v>When prescribing PERT to your adult patients with EPI -Start simply with one capsule of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3ECB-4CE4-A67E-294D7A75B409}"/>
              </c:ext>
            </c:extLst>
          </c:dPt>
          <c:dLbls>
            <c:dLbl>
              <c:idx val="0"/>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ECB-4CE4-A67E-294D7A75B409}"/>
                </c:ext>
              </c:extLst>
            </c:dLbl>
            <c:dLbl>
              <c:idx val="1"/>
              <c:layout>
                <c:manualLayout>
                  <c:x val="-5.3171551431562464E-2"/>
                  <c:y val="-0.2812801932367149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ECB-4CE4-A67E-294D7A75B409}"/>
                </c:ext>
              </c:extLst>
            </c:dLbl>
            <c:dLbl>
              <c:idx val="2"/>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ECB-4CE4-A67E-294D7A75B409}"/>
                </c:ext>
              </c:extLst>
            </c:dLbl>
            <c:dLbl>
              <c:idx val="3"/>
              <c:layout>
                <c:manualLayout>
                  <c:x val="-5.3171551431562464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ECB-4CE4-A67E-294D7A75B409}"/>
                </c:ext>
              </c:extLst>
            </c:dLbl>
            <c:dLbl>
              <c:idx val="4"/>
              <c:layout>
                <c:manualLayout>
                  <c:x val="-5.3171551431562464E-2"/>
                  <c:y val="-0.26564009661835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ECB-4CE4-A67E-294D7A75B409}"/>
                </c:ext>
              </c:extLst>
            </c:dLbl>
            <c:dLbl>
              <c:idx val="5"/>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ECB-4CE4-A67E-294D7A75B40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0.61</c:v>
                </c:pt>
                <c:pt idx="1">
                  <c:v>0.56000000000000005</c:v>
                </c:pt>
                <c:pt idx="2">
                  <c:v>0.62</c:v>
                </c:pt>
                <c:pt idx="3">
                  <c:v>0.59</c:v>
                </c:pt>
                <c:pt idx="4">
                  <c:v>0.57999999999999996</c:v>
                </c:pt>
                <c:pt idx="5">
                  <c:v>0.6</c:v>
                </c:pt>
              </c:numCache>
            </c:numRef>
          </c:val>
          <c:smooth val="0"/>
          <c:extLst>
            <c:ext xmlns:c16="http://schemas.microsoft.com/office/drawing/2014/chart" uri="{C3380CC4-5D6E-409C-BE32-E72D297353CC}">
              <c16:uniqueId val="{00000002-3ECB-4CE4-A67E-294D7A75B409}"/>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Z11</c:v>
                </c:pt>
                <c:pt idx="1">
                  <c:v>Eligible patients pay as little as $5 for their first prescription fill and for refills.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B6FE-46B5-BA5D-225C13D3F846}"/>
              </c:ext>
            </c:extLst>
          </c:dPt>
          <c:dLbls>
            <c:dLbl>
              <c:idx val="0"/>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6FE-46B5-BA5D-225C13D3F846}"/>
                </c:ext>
              </c:extLst>
            </c:dLbl>
            <c:dLbl>
              <c:idx val="1"/>
              <c:layout>
                <c:manualLayout>
                  <c:x val="-5.3171551431562464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6FE-46B5-BA5D-225C13D3F846}"/>
                </c:ext>
              </c:extLst>
            </c:dLbl>
            <c:dLbl>
              <c:idx val="2"/>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6FE-46B5-BA5D-225C13D3F846}"/>
                </c:ext>
              </c:extLst>
            </c:dLbl>
            <c:dLbl>
              <c:idx val="3"/>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6FE-46B5-BA5D-225C13D3F846}"/>
                </c:ext>
              </c:extLst>
            </c:dLbl>
            <c:dLbl>
              <c:idx val="4"/>
              <c:layout>
                <c:manualLayout>
                  <c:x val="-5.3171551431562464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6FE-46B5-BA5D-225C13D3F846}"/>
                </c:ext>
              </c:extLst>
            </c:dLbl>
            <c:dLbl>
              <c:idx val="5"/>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6FE-46B5-BA5D-225C13D3F84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0.59</c:v>
                </c:pt>
                <c:pt idx="1">
                  <c:v>0.52</c:v>
                </c:pt>
                <c:pt idx="2">
                  <c:v>0.56999999999999995</c:v>
                </c:pt>
                <c:pt idx="3">
                  <c:v>0.65</c:v>
                </c:pt>
                <c:pt idx="4">
                  <c:v>0.52</c:v>
                </c:pt>
                <c:pt idx="5">
                  <c:v>0.56000000000000005</c:v>
                </c:pt>
              </c:numCache>
            </c:numRef>
          </c:val>
          <c:smooth val="0"/>
          <c:extLst>
            <c:ext xmlns:c16="http://schemas.microsoft.com/office/drawing/2014/chart" uri="{C3380CC4-5D6E-409C-BE32-E72D297353CC}">
              <c16:uniqueId val="{00000002-B6FE-46B5-BA5D-225C13D3F846}"/>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Z7</c:v>
                </c:pt>
                <c:pt idx="1">
                  <c:v>ZENPEP has an enteric coating that minimizes degradation and targets enzyme release in the small intestine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5F64-43FB-8407-EAF6C015CDC1}"/>
              </c:ext>
            </c:extLst>
          </c:dPt>
          <c:dLbls>
            <c:dLbl>
              <c:idx val="0"/>
              <c:layout>
                <c:manualLayout>
                  <c:x val="-5.3171551431562464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F64-43FB-8407-EAF6C015CDC1}"/>
                </c:ext>
              </c:extLst>
            </c:dLbl>
            <c:dLbl>
              <c:idx val="1"/>
              <c:layout>
                <c:manualLayout>
                  <c:x val="-5.3171551431562464E-2"/>
                  <c:y val="-0.218719806763285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F64-43FB-8407-EAF6C015CDC1}"/>
                </c:ext>
              </c:extLst>
            </c:dLbl>
            <c:dLbl>
              <c:idx val="2"/>
              <c:layout>
                <c:manualLayout>
                  <c:x val="-5.3171551431562464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F64-43FB-8407-EAF6C015CDC1}"/>
                </c:ext>
              </c:extLst>
            </c:dLbl>
            <c:dLbl>
              <c:idx val="3"/>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F64-43FB-8407-EAF6C015CDC1}"/>
                </c:ext>
              </c:extLst>
            </c:dLbl>
            <c:dLbl>
              <c:idx val="4"/>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F64-43FB-8407-EAF6C015CDC1}"/>
                </c:ext>
              </c:extLst>
            </c:dLbl>
            <c:dLbl>
              <c:idx val="5"/>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F64-43FB-8407-EAF6C015CDC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0.69</c:v>
                </c:pt>
                <c:pt idx="1">
                  <c:v>0.7</c:v>
                </c:pt>
                <c:pt idx="2">
                  <c:v>0.66</c:v>
                </c:pt>
                <c:pt idx="3">
                  <c:v>0.65</c:v>
                </c:pt>
                <c:pt idx="4">
                  <c:v>0.65</c:v>
                </c:pt>
                <c:pt idx="5">
                  <c:v>0.55000000000000004</c:v>
                </c:pt>
              </c:numCache>
            </c:numRef>
          </c:val>
          <c:smooth val="0"/>
          <c:extLst>
            <c:ext xmlns:c16="http://schemas.microsoft.com/office/drawing/2014/chart" uri="{C3380CC4-5D6E-409C-BE32-E72D297353CC}">
              <c16:uniqueId val="{00000002-5F64-43FB-8407-EAF6C015CDC1}"/>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Z23</c:v>
                </c:pt>
                <c:pt idx="1">
                  <c:v>Zenpep is the most widely covered treatment in its class.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505F-435B-8C4C-621437C8368D}"/>
              </c:ext>
            </c:extLst>
          </c:dPt>
          <c:dLbls>
            <c:dLbl>
              <c:idx val="0"/>
              <c:layout>
                <c:manualLayout>
                  <c:x val="-5.3171551431562464E-2"/>
                  <c:y val="-0.237487922705314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05F-435B-8C4C-621437C8368D}"/>
                </c:ext>
              </c:extLst>
            </c:dLbl>
            <c:dLbl>
              <c:idx val="1"/>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05F-435B-8C4C-621437C8368D}"/>
                </c:ext>
              </c:extLst>
            </c:dLbl>
            <c:dLbl>
              <c:idx val="2"/>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05F-435B-8C4C-621437C8368D}"/>
                </c:ext>
              </c:extLst>
            </c:dLbl>
            <c:dLbl>
              <c:idx val="3"/>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05F-435B-8C4C-621437C8368D}"/>
                </c:ext>
              </c:extLst>
            </c:dLbl>
            <c:dLbl>
              <c:idx val="4"/>
              <c:layout>
                <c:manualLayout>
                  <c:x val="-5.3171551431562464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05F-435B-8C4C-621437C8368D}"/>
                </c:ext>
              </c:extLst>
            </c:dLbl>
            <c:dLbl>
              <c:idx val="5"/>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05F-435B-8C4C-621437C8368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0.57999999999999996</c:v>
                </c:pt>
                <c:pt idx="1">
                  <c:v>0.49</c:v>
                </c:pt>
                <c:pt idx="2">
                  <c:v>0.62</c:v>
                </c:pt>
                <c:pt idx="3">
                  <c:v>0.59</c:v>
                </c:pt>
                <c:pt idx="4">
                  <c:v>0.47</c:v>
                </c:pt>
                <c:pt idx="5">
                  <c:v>0.54</c:v>
                </c:pt>
              </c:numCache>
            </c:numRef>
          </c:val>
          <c:smooth val="0"/>
          <c:extLst>
            <c:ext xmlns:c16="http://schemas.microsoft.com/office/drawing/2014/chart" uri="{C3380CC4-5D6E-409C-BE32-E72D297353CC}">
              <c16:uniqueId val="{00000002-505F-435B-8C4C-621437C8368D}"/>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Z21</c:v>
                </c:pt>
                <c:pt idx="1">
                  <c:v>ZENPEP can help your patients absorb the fat and nutrients they need and treat uncomfortable GI symptoms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8B09-4323-AD7A-9D43431F0F4B}"/>
              </c:ext>
            </c:extLst>
          </c:dPt>
          <c:dLbls>
            <c:dLbl>
              <c:idx val="0"/>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B09-4323-AD7A-9D43431F0F4B}"/>
                </c:ext>
              </c:extLst>
            </c:dLbl>
            <c:dLbl>
              <c:idx val="1"/>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B09-4323-AD7A-9D43431F0F4B}"/>
                </c:ext>
              </c:extLst>
            </c:dLbl>
            <c:dLbl>
              <c:idx val="2"/>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B09-4323-AD7A-9D43431F0F4B}"/>
                </c:ext>
              </c:extLst>
            </c:dLbl>
            <c:dLbl>
              <c:idx val="3"/>
              <c:layout>
                <c:manualLayout>
                  <c:x val="-5.3171551431562464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B09-4323-AD7A-9D43431F0F4B}"/>
                </c:ext>
              </c:extLst>
            </c:dLbl>
            <c:dLbl>
              <c:idx val="4"/>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B09-4323-AD7A-9D43431F0F4B}"/>
                </c:ext>
              </c:extLst>
            </c:dLbl>
            <c:dLbl>
              <c:idx val="5"/>
              <c:layout>
                <c:manualLayout>
                  <c:x val="-5.3171551431562464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B09-4323-AD7A-9D43431F0F4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0.61</c:v>
                </c:pt>
                <c:pt idx="1">
                  <c:v>0.55000000000000004</c:v>
                </c:pt>
                <c:pt idx="2">
                  <c:v>0.53</c:v>
                </c:pt>
                <c:pt idx="3">
                  <c:v>0.66</c:v>
                </c:pt>
                <c:pt idx="4">
                  <c:v>0.61</c:v>
                </c:pt>
                <c:pt idx="5">
                  <c:v>0.52</c:v>
                </c:pt>
              </c:numCache>
            </c:numRef>
          </c:val>
          <c:smooth val="0"/>
          <c:extLst>
            <c:ext xmlns:c16="http://schemas.microsoft.com/office/drawing/2014/chart" uri="{C3380CC4-5D6E-409C-BE32-E72D297353CC}">
              <c16:uniqueId val="{00000002-8B09-4323-AD7A-9D43431F0F4B}"/>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Z18</c:v>
                </c:pt>
                <c:pt idx="1">
                  <c:v>In a clinical trial, the right dose helped patients absorb nutrients from their food and provided symptom relief</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249D-4258-BC8D-92406FDDD5A5}"/>
              </c:ext>
            </c:extLst>
          </c:dPt>
          <c:dLbls>
            <c:dLbl>
              <c:idx val="0"/>
              <c:layout>
                <c:manualLayout>
                  <c:x val="-5.3171551431562464E-2"/>
                  <c:y val="-0.26564009661835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49D-4258-BC8D-92406FDDD5A5}"/>
                </c:ext>
              </c:extLst>
            </c:dLbl>
            <c:dLbl>
              <c:idx val="1"/>
              <c:layout>
                <c:manualLayout>
                  <c:x val="-5.3171551431562464E-2"/>
                  <c:y val="-0.2460899758454106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49D-4258-BC8D-92406FDDD5A5}"/>
                </c:ext>
              </c:extLst>
            </c:dLbl>
            <c:dLbl>
              <c:idx val="2"/>
              <c:layout>
                <c:manualLayout>
                  <c:x val="-5.3171551431562464E-2"/>
                  <c:y val="-0.2617300724637681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49D-4258-BC8D-92406FDDD5A5}"/>
                </c:ext>
              </c:extLst>
            </c:dLbl>
            <c:dLbl>
              <c:idx val="3"/>
              <c:layout>
                <c:manualLayout>
                  <c:x val="-5.3171551431562464E-2"/>
                  <c:y val="-0.2734601449275362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49D-4258-BC8D-92406FDDD5A5}"/>
                </c:ext>
              </c:extLst>
            </c:dLbl>
            <c:dLbl>
              <c:idx val="4"/>
              <c:layout>
                <c:manualLayout>
                  <c:x val="-5.3171551431562464E-2"/>
                  <c:y val="-0.2578200483091787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49D-4258-BC8D-92406FDDD5A5}"/>
                </c:ext>
              </c:extLst>
            </c:dLbl>
            <c:dLbl>
              <c:idx val="5"/>
              <c:layout>
                <c:manualLayout>
                  <c:x val="-5.3171551431562464E-2"/>
                  <c:y val="-0.2851902173913043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49D-4258-BC8D-92406FDDD5A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0.56000000000000005</c:v>
                </c:pt>
                <c:pt idx="1">
                  <c:v>0.61</c:v>
                </c:pt>
                <c:pt idx="2">
                  <c:v>0.56999999999999995</c:v>
                </c:pt>
                <c:pt idx="3">
                  <c:v>0.54</c:v>
                </c:pt>
                <c:pt idx="4">
                  <c:v>0.57999999999999996</c:v>
                </c:pt>
                <c:pt idx="5">
                  <c:v>0.51</c:v>
                </c:pt>
              </c:numCache>
            </c:numRef>
          </c:val>
          <c:smooth val="0"/>
          <c:extLst>
            <c:ext xmlns:c16="http://schemas.microsoft.com/office/drawing/2014/chart" uri="{C3380CC4-5D6E-409C-BE32-E72D297353CC}">
              <c16:uniqueId val="{00000002-249D-4258-BC8D-92406FDDD5A5}"/>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Z20</c:v>
                </c:pt>
                <c:pt idx="1">
                  <c:v>91% of patients achieved a CFA of 80% or higher with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781B-430E-AACD-7122A78F69BF}"/>
              </c:ext>
            </c:extLst>
          </c:dPt>
          <c:dLbls>
            <c:dLbl>
              <c:idx val="0"/>
              <c:layout>
                <c:manualLayout>
                  <c:x val="-5.3171551431562464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81B-430E-AACD-7122A78F69BF}"/>
                </c:ext>
              </c:extLst>
            </c:dLbl>
            <c:dLbl>
              <c:idx val="1"/>
              <c:layout>
                <c:manualLayout>
                  <c:x val="-5.3171551431562464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81B-430E-AACD-7122A78F69BF}"/>
                </c:ext>
              </c:extLst>
            </c:dLbl>
            <c:dLbl>
              <c:idx val="2"/>
              <c:layout>
                <c:manualLayout>
                  <c:x val="-5.3171551431562464E-2"/>
                  <c:y val="-0.221847826086956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81B-430E-AACD-7122A78F69BF}"/>
                </c:ext>
              </c:extLst>
            </c:dLbl>
            <c:dLbl>
              <c:idx val="3"/>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81B-430E-AACD-7122A78F69BF}"/>
                </c:ext>
              </c:extLst>
            </c:dLbl>
            <c:dLbl>
              <c:idx val="4"/>
              <c:layout>
                <c:manualLayout>
                  <c:x val="-5.3171551431562464E-2"/>
                  <c:y val="-0.24687198067632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81B-430E-AACD-7122A78F69BF}"/>
                </c:ext>
              </c:extLst>
            </c:dLbl>
            <c:dLbl>
              <c:idx val="5"/>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81B-430E-AACD-7122A78F69B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0.69</c:v>
                </c:pt>
                <c:pt idx="1">
                  <c:v>0.69</c:v>
                </c:pt>
                <c:pt idx="2">
                  <c:v>0.68</c:v>
                </c:pt>
                <c:pt idx="3">
                  <c:v>0.61</c:v>
                </c:pt>
                <c:pt idx="4">
                  <c:v>0.52</c:v>
                </c:pt>
                <c:pt idx="5">
                  <c:v>0.51</c:v>
                </c:pt>
              </c:numCache>
            </c:numRef>
          </c:val>
          <c:smooth val="0"/>
          <c:extLst>
            <c:ext xmlns:c16="http://schemas.microsoft.com/office/drawing/2014/chart" uri="{C3380CC4-5D6E-409C-BE32-E72D297353CC}">
              <c16:uniqueId val="{00000002-781B-430E-AACD-7122A78F69BF}"/>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Z24</c:v>
                </c:pt>
                <c:pt idx="1">
                  <c:v>Zenpep is designed to mimic typical exocrine pancreatic function.</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CBE3-4C92-A727-3260E3666497}"/>
              </c:ext>
            </c:extLst>
          </c:dPt>
          <c:dLbls>
            <c:dLbl>
              <c:idx val="0"/>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BE3-4C92-A727-3260E3666497}"/>
                </c:ext>
              </c:extLst>
            </c:dLbl>
            <c:dLbl>
              <c:idx val="1"/>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BE3-4C92-A727-3260E3666497}"/>
                </c:ext>
              </c:extLst>
            </c:dLbl>
            <c:dLbl>
              <c:idx val="2"/>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BE3-4C92-A727-3260E3666497}"/>
                </c:ext>
              </c:extLst>
            </c:dLbl>
            <c:dLbl>
              <c:idx val="3"/>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BE3-4C92-A727-3260E3666497}"/>
                </c:ext>
              </c:extLst>
            </c:dLbl>
            <c:dLbl>
              <c:idx val="4"/>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BE3-4C92-A727-3260E3666497}"/>
                </c:ext>
              </c:extLst>
            </c:dLbl>
            <c:dLbl>
              <c:idx val="5"/>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BE3-4C92-A727-3260E366649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General</c:formatCode>
                <c:ptCount val="6"/>
                <c:pt idx="5" formatCode="0%">
                  <c:v>0.49</c:v>
                </c:pt>
              </c:numCache>
            </c:numRef>
          </c:val>
          <c:smooth val="0"/>
          <c:extLst>
            <c:ext xmlns:c16="http://schemas.microsoft.com/office/drawing/2014/chart" uri="{C3380CC4-5D6E-409C-BE32-E72D297353CC}">
              <c16:uniqueId val="{00000002-CBE3-4C92-A727-3260E3666497}"/>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General"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Z19</c:v>
                </c:pt>
                <c:pt idx="1">
                  <c:v>Meets the ACG guideline for EPI and CP in a single capsule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E726-4DA6-B70F-D3641518E12C}"/>
              </c:ext>
            </c:extLst>
          </c:dPt>
          <c:dLbls>
            <c:dLbl>
              <c:idx val="0"/>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726-4DA6-B70F-D3641518E12C}"/>
                </c:ext>
              </c:extLst>
            </c:dLbl>
            <c:dLbl>
              <c:idx val="1"/>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726-4DA6-B70F-D3641518E12C}"/>
                </c:ext>
              </c:extLst>
            </c:dLbl>
            <c:dLbl>
              <c:idx val="2"/>
              <c:layout>
                <c:manualLayout>
                  <c:x val="-5.3171551431562464E-2"/>
                  <c:y val="-0.217155797101449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726-4DA6-B70F-D3641518E12C}"/>
                </c:ext>
              </c:extLst>
            </c:dLbl>
            <c:dLbl>
              <c:idx val="3"/>
              <c:layout>
                <c:manualLayout>
                  <c:x val="-5.3171551431562464E-2"/>
                  <c:y val="-0.231231884057971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726-4DA6-B70F-D3641518E12C}"/>
                </c:ext>
              </c:extLst>
            </c:dLbl>
            <c:dLbl>
              <c:idx val="4"/>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726-4DA6-B70F-D3641518E12C}"/>
                </c:ext>
              </c:extLst>
            </c:dLbl>
            <c:dLbl>
              <c:idx val="5"/>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726-4DA6-B70F-D3641518E1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0.62</c:v>
                </c:pt>
                <c:pt idx="1">
                  <c:v>0.6</c:v>
                </c:pt>
                <c:pt idx="2">
                  <c:v>0.71</c:v>
                </c:pt>
                <c:pt idx="3">
                  <c:v>0.62</c:v>
                </c:pt>
                <c:pt idx="4">
                  <c:v>0.56999999999999995</c:v>
                </c:pt>
                <c:pt idx="5">
                  <c:v>0.49</c:v>
                </c:pt>
              </c:numCache>
            </c:numRef>
          </c:val>
          <c:smooth val="0"/>
          <c:extLst>
            <c:ext xmlns:c16="http://schemas.microsoft.com/office/drawing/2014/chart" uri="{C3380CC4-5D6E-409C-BE32-E72D297353CC}">
              <c16:uniqueId val="{00000002-E726-4DA6-B70F-D3641518E12C}"/>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Z22</c:v>
                </c:pt>
                <c:pt idx="1">
                  <c:v>Through My SampleCloset, practices are able to easily request samples of Zenpep at any strength</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6EED-46D1-9F5D-237D859AE6BF}"/>
              </c:ext>
            </c:extLst>
          </c:dPt>
          <c:dLbls>
            <c:dLbl>
              <c:idx val="0"/>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EED-46D1-9F5D-237D859AE6BF}"/>
                </c:ext>
              </c:extLst>
            </c:dLbl>
            <c:dLbl>
              <c:idx val="1"/>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EED-46D1-9F5D-237D859AE6BF}"/>
                </c:ext>
              </c:extLst>
            </c:dLbl>
            <c:dLbl>
              <c:idx val="2"/>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EED-46D1-9F5D-237D859AE6BF}"/>
                </c:ext>
              </c:extLst>
            </c:dLbl>
            <c:dLbl>
              <c:idx val="3"/>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EED-46D1-9F5D-237D859AE6BF}"/>
                </c:ext>
              </c:extLst>
            </c:dLbl>
            <c:dLbl>
              <c:idx val="4"/>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EED-46D1-9F5D-237D859AE6BF}"/>
                </c:ext>
              </c:extLst>
            </c:dLbl>
            <c:dLbl>
              <c:idx val="5"/>
              <c:layout>
                <c:manualLayout>
                  <c:x val="-5.3171551431562464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EED-46D1-9F5D-237D859AE6B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c:v>
                </c:pt>
                <c:pt idx="1">
                  <c:v>0.59</c:v>
                </c:pt>
                <c:pt idx="2">
                  <c:v>0.55000000000000004</c:v>
                </c:pt>
                <c:pt idx="3">
                  <c:v>0.53</c:v>
                </c:pt>
                <c:pt idx="4">
                  <c:v>0.51</c:v>
                </c:pt>
                <c:pt idx="5">
                  <c:v>0.48</c:v>
                </c:pt>
              </c:numCache>
            </c:numRef>
          </c:val>
          <c:smooth val="0"/>
          <c:extLst>
            <c:ext xmlns:c16="http://schemas.microsoft.com/office/drawing/2014/chart" uri="{C3380CC4-5D6E-409C-BE32-E72D297353CC}">
              <c16:uniqueId val="{00000002-6EED-46D1-9F5D-237D859AE6BF}"/>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Z8</c:v>
                </c:pt>
                <c:pt idx="1">
                  <c:v>ZENPEP helps fuel nutritional health, increasing coefficient of fat absorption (CFA) by 26 percentage points vs placebo</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CFD4-4D9B-9ABA-E805B5F33180}"/>
              </c:ext>
            </c:extLst>
          </c:dPt>
          <c:dLbls>
            <c:dLbl>
              <c:idx val="0"/>
              <c:layout>
                <c:manualLayout>
                  <c:x val="-5.3171551431562464E-2"/>
                  <c:y val="-0.2234118357487922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FD4-4D9B-9ABA-E805B5F33180}"/>
                </c:ext>
              </c:extLst>
            </c:dLbl>
            <c:dLbl>
              <c:idx val="1"/>
              <c:layout>
                <c:manualLayout>
                  <c:x val="-5.3171551431562464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FD4-4D9B-9ABA-E805B5F33180}"/>
                </c:ext>
              </c:extLst>
            </c:dLbl>
            <c:dLbl>
              <c:idx val="2"/>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D4-4D9B-9ABA-E805B5F33180}"/>
                </c:ext>
              </c:extLst>
            </c:dLbl>
            <c:dLbl>
              <c:idx val="3"/>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FD4-4D9B-9ABA-E805B5F33180}"/>
                </c:ext>
              </c:extLst>
            </c:dLbl>
            <c:dLbl>
              <c:idx val="4"/>
              <c:layout>
                <c:manualLayout>
                  <c:x val="-5.3171551431562464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FD4-4D9B-9ABA-E805B5F33180}"/>
                </c:ext>
              </c:extLst>
            </c:dLbl>
            <c:dLbl>
              <c:idx val="5"/>
              <c:layout>
                <c:manualLayout>
                  <c:x val="-5.3171551431562464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FD4-4D9B-9ABA-E805B5F3318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PCPs</c:v>
                </c:pt>
                <c:pt idx="1">
                  <c:v>W28 - Speciality  - PCPs</c:v>
                </c:pt>
                <c:pt idx="2">
                  <c:v>W29 - Speciality  - PCPs</c:v>
                </c:pt>
                <c:pt idx="3">
                  <c:v>W30 - Speciality  - PCPs</c:v>
                </c:pt>
                <c:pt idx="4">
                  <c:v>W31 - Speciality  - PCPs</c:v>
                </c:pt>
                <c:pt idx="5">
                  <c:v>W32 - Speciality  - PCPs</c:v>
                </c:pt>
              </c:strCache>
            </c:strRef>
          </c:cat>
          <c:val>
            <c:numRef>
              <c:f>Sheet1!$B$3:$B$8</c:f>
              <c:numCache>
                <c:formatCode>0%</c:formatCode>
                <c:ptCount val="6"/>
                <c:pt idx="0">
                  <c:v>0.67</c:v>
                </c:pt>
                <c:pt idx="1">
                  <c:v>0.66</c:v>
                </c:pt>
                <c:pt idx="2">
                  <c:v>0.61</c:v>
                </c:pt>
                <c:pt idx="3">
                  <c:v>0.61</c:v>
                </c:pt>
                <c:pt idx="4">
                  <c:v>0.48</c:v>
                </c:pt>
                <c:pt idx="5">
                  <c:v>0.47</c:v>
                </c:pt>
              </c:numCache>
            </c:numRef>
          </c:val>
          <c:smooth val="0"/>
          <c:extLst>
            <c:ext xmlns:c16="http://schemas.microsoft.com/office/drawing/2014/chart" uri="{C3380CC4-5D6E-409C-BE32-E72D297353CC}">
              <c16:uniqueId val="{00000007-CFD4-4D9B-9ABA-E805B5F33180}"/>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Z17</c:v>
                </c:pt>
                <c:pt idx="1">
                  <c:v>Only ZENPEP offers 40k and 60k lipase-unit capsules, which may help reduce the number of pills your adult patients need to take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8886-43D9-A5C4-267B85FEDA1D}"/>
              </c:ext>
            </c:extLst>
          </c:dPt>
          <c:dLbls>
            <c:dLbl>
              <c:idx val="0"/>
              <c:layout>
                <c:manualLayout>
                  <c:x val="-5.3171551431562464E-2"/>
                  <c:y val="-0.207771739130434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3DD-41CF-B62C-30D5221289CD}"/>
                </c:ext>
              </c:extLst>
            </c:dLbl>
            <c:dLbl>
              <c:idx val="1"/>
              <c:layout>
                <c:manualLayout>
                  <c:x val="-5.3171551431562464E-2"/>
                  <c:y val="-0.192131642512077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3DD-41CF-B62C-30D5221289CD}"/>
                </c:ext>
              </c:extLst>
            </c:dLbl>
            <c:dLbl>
              <c:idx val="2"/>
              <c:layout>
                <c:manualLayout>
                  <c:x val="-5.3171551431562464E-2"/>
                  <c:y val="-0.199951690821256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3DD-41CF-B62C-30D5221289CD}"/>
                </c:ext>
              </c:extLst>
            </c:dLbl>
            <c:dLbl>
              <c:idx val="3"/>
              <c:layout>
                <c:manualLayout>
                  <c:x val="-5.3171551431562464E-2"/>
                  <c:y val="-0.232795893719806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3DD-41CF-B62C-30D5221289CD}"/>
                </c:ext>
              </c:extLst>
            </c:dLbl>
            <c:dLbl>
              <c:idx val="4"/>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86-43D9-A5C4-267B85FEDA1D}"/>
                </c:ext>
              </c:extLst>
            </c:dLbl>
            <c:dLbl>
              <c:idx val="5"/>
              <c:layout>
                <c:manualLayout>
                  <c:x val="-5.3171551431562464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3DD-41CF-B62C-30D5221289C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0.77</c:v>
                </c:pt>
                <c:pt idx="1">
                  <c:v>0.87</c:v>
                </c:pt>
                <c:pt idx="2">
                  <c:v>0.82</c:v>
                </c:pt>
                <c:pt idx="3">
                  <c:v>0.61</c:v>
                </c:pt>
                <c:pt idx="4">
                  <c:v>0.65</c:v>
                </c:pt>
                <c:pt idx="5">
                  <c:v>0.69</c:v>
                </c:pt>
              </c:numCache>
            </c:numRef>
          </c:val>
          <c:smooth val="0"/>
          <c:extLst>
            <c:ext xmlns:c16="http://schemas.microsoft.com/office/drawing/2014/chart" uri="{C3380CC4-5D6E-409C-BE32-E72D297353CC}">
              <c16:uniqueId val="{00000002-8886-43D9-A5C4-267B85FEDA1D}"/>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Z19</c:v>
                </c:pt>
                <c:pt idx="1">
                  <c:v>Meets the ACG guideline for EPI and CP in a single capsule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C2BB-4E89-96D3-23180254EFD8}"/>
              </c:ext>
            </c:extLst>
          </c:dPt>
          <c:dLbls>
            <c:dLbl>
              <c:idx val="0"/>
              <c:layout>
                <c:manualLayout>
                  <c:x val="-5.3171551431562464E-2"/>
                  <c:y val="-0.20464371980676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2BB-4E89-96D3-23180254EFD8}"/>
                </c:ext>
              </c:extLst>
            </c:dLbl>
            <c:dLbl>
              <c:idx val="1"/>
              <c:layout>
                <c:manualLayout>
                  <c:x val="-5.3171551431562464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2BB-4E89-96D3-23180254EFD8}"/>
                </c:ext>
              </c:extLst>
            </c:dLbl>
            <c:dLbl>
              <c:idx val="2"/>
              <c:layout>
                <c:manualLayout>
                  <c:x val="-5.3171551431562464E-2"/>
                  <c:y val="-0.220283816425120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2BB-4E89-96D3-23180254EFD8}"/>
                </c:ext>
              </c:extLst>
            </c:dLbl>
            <c:dLbl>
              <c:idx val="3"/>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2BB-4E89-96D3-23180254EFD8}"/>
                </c:ext>
              </c:extLst>
            </c:dLbl>
            <c:dLbl>
              <c:idx val="4"/>
              <c:layout>
                <c:manualLayout>
                  <c:x val="-5.3171551431562464E-2"/>
                  <c:y val="-0.2374879227053140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2BB-4E89-96D3-23180254EFD8}"/>
                </c:ext>
              </c:extLst>
            </c:dLbl>
            <c:dLbl>
              <c:idx val="5"/>
              <c:layout>
                <c:manualLayout>
                  <c:x val="-5.3171551431562464E-2"/>
                  <c:y val="-0.2249758454106280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2BB-4E89-96D3-23180254EFD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0.79</c:v>
                </c:pt>
                <c:pt idx="1">
                  <c:v>0.74</c:v>
                </c:pt>
                <c:pt idx="2">
                  <c:v>0.69</c:v>
                </c:pt>
                <c:pt idx="3">
                  <c:v>0.54</c:v>
                </c:pt>
                <c:pt idx="4">
                  <c:v>0.57999999999999996</c:v>
                </c:pt>
                <c:pt idx="5">
                  <c:v>0.66</c:v>
                </c:pt>
              </c:numCache>
            </c:numRef>
          </c:val>
          <c:smooth val="0"/>
          <c:extLst>
            <c:ext xmlns:c16="http://schemas.microsoft.com/office/drawing/2014/chart" uri="{C3380CC4-5D6E-409C-BE32-E72D297353CC}">
              <c16:uniqueId val="{00000002-C2BB-4E89-96D3-23180254EFD8}"/>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Z16</c:v>
                </c:pt>
                <c:pt idx="1">
                  <c:v>ZENPEP offers a single-capsule starting dose for almost all adult patients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A127-427A-B95D-D7DCFC90C9FD}"/>
              </c:ext>
            </c:extLst>
          </c:dPt>
          <c:dLbls>
            <c:dLbl>
              <c:idx val="0"/>
              <c:layout>
                <c:manualLayout>
                  <c:x val="-5.3171551431562464E-2"/>
                  <c:y val="-0.215591787439613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127-427A-B95D-D7DCFC90C9FD}"/>
                </c:ext>
              </c:extLst>
            </c:dLbl>
            <c:dLbl>
              <c:idx val="1"/>
              <c:layout>
                <c:manualLayout>
                  <c:x val="-5.3171551431562464E-2"/>
                  <c:y val="-0.210899758454106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127-427A-B95D-D7DCFC90C9FD}"/>
                </c:ext>
              </c:extLst>
            </c:dLbl>
            <c:dLbl>
              <c:idx val="2"/>
              <c:layout>
                <c:manualLayout>
                  <c:x val="-5.3171551431562464E-2"/>
                  <c:y val="-0.2093357487922705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127-427A-B95D-D7DCFC90C9FD}"/>
                </c:ext>
              </c:extLst>
            </c:dLbl>
            <c:dLbl>
              <c:idx val="3"/>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127-427A-B95D-D7DCFC90C9FD}"/>
                </c:ext>
              </c:extLst>
            </c:dLbl>
            <c:dLbl>
              <c:idx val="4"/>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127-427A-B95D-D7DCFC90C9FD}"/>
                </c:ext>
              </c:extLst>
            </c:dLbl>
            <c:dLbl>
              <c:idx val="5"/>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127-427A-B95D-D7DCFC90C9F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0.72</c:v>
                </c:pt>
                <c:pt idx="1">
                  <c:v>0.75</c:v>
                </c:pt>
                <c:pt idx="2">
                  <c:v>0.76</c:v>
                </c:pt>
                <c:pt idx="3">
                  <c:v>0.56999999999999995</c:v>
                </c:pt>
                <c:pt idx="4">
                  <c:v>0.59</c:v>
                </c:pt>
                <c:pt idx="5">
                  <c:v>0.65</c:v>
                </c:pt>
              </c:numCache>
            </c:numRef>
          </c:val>
          <c:smooth val="0"/>
          <c:extLst>
            <c:ext xmlns:c16="http://schemas.microsoft.com/office/drawing/2014/chart" uri="{C3380CC4-5D6E-409C-BE32-E72D297353CC}">
              <c16:uniqueId val="{00000002-A127-427A-B95D-D7DCFC90C9FD}"/>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Z15</c:v>
                </c:pt>
                <c:pt idx="1">
                  <c:v>When prescribing PERT to your adult patients with EPI -Start simply with one capsule of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A79A-41D5-A09F-A6C5D7583738}"/>
              </c:ext>
            </c:extLst>
          </c:dPt>
          <c:dLbls>
            <c:dLbl>
              <c:idx val="0"/>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79A-41D5-A09F-A6C5D7583738}"/>
                </c:ext>
              </c:extLst>
            </c:dLbl>
            <c:dLbl>
              <c:idx val="1"/>
              <c:layout>
                <c:manualLayout>
                  <c:x val="-5.3171551431562464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79A-41D5-A09F-A6C5D7583738}"/>
                </c:ext>
              </c:extLst>
            </c:dLbl>
            <c:dLbl>
              <c:idx val="2"/>
              <c:layout>
                <c:manualLayout>
                  <c:x val="-5.3171551431562464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79A-41D5-A09F-A6C5D7583738}"/>
                </c:ext>
              </c:extLst>
            </c:dLbl>
            <c:dLbl>
              <c:idx val="3"/>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79A-41D5-A09F-A6C5D7583738}"/>
                </c:ext>
              </c:extLst>
            </c:dLbl>
            <c:dLbl>
              <c:idx val="4"/>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79A-41D5-A09F-A6C5D7583738}"/>
                </c:ext>
              </c:extLst>
            </c:dLbl>
            <c:dLbl>
              <c:idx val="5"/>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79A-41D5-A09F-A6C5D758373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c:v>
                </c:pt>
                <c:pt idx="1">
                  <c:v>0.74</c:v>
                </c:pt>
                <c:pt idx="2">
                  <c:v>0.63</c:v>
                </c:pt>
                <c:pt idx="3">
                  <c:v>0.56999999999999995</c:v>
                </c:pt>
                <c:pt idx="4">
                  <c:v>0.56999999999999995</c:v>
                </c:pt>
                <c:pt idx="5">
                  <c:v>0.6</c:v>
                </c:pt>
              </c:numCache>
            </c:numRef>
          </c:val>
          <c:smooth val="0"/>
          <c:extLst>
            <c:ext xmlns:c16="http://schemas.microsoft.com/office/drawing/2014/chart" uri="{C3380CC4-5D6E-409C-BE32-E72D297353CC}">
              <c16:uniqueId val="{00000002-A79A-41D5-A09F-A6C5D7583738}"/>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Z21</c:v>
                </c:pt>
                <c:pt idx="1">
                  <c:v>ZENPEP can help your patients absorb the fat and nutrients they need and treat uncomfortable GI symptoms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DCD8-4E4F-A586-75E58C29435E}"/>
              </c:ext>
            </c:extLst>
          </c:dPt>
          <c:dLbls>
            <c:dLbl>
              <c:idx val="0"/>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CD8-4E4F-A586-75E58C29435E}"/>
                </c:ext>
              </c:extLst>
            </c:dLbl>
            <c:dLbl>
              <c:idx val="1"/>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CD8-4E4F-A586-75E58C29435E}"/>
                </c:ext>
              </c:extLst>
            </c:dLbl>
            <c:dLbl>
              <c:idx val="2"/>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CD8-4E4F-A586-75E58C29435E}"/>
                </c:ext>
              </c:extLst>
            </c:dLbl>
            <c:dLbl>
              <c:idx val="3"/>
              <c:layout>
                <c:manualLayout>
                  <c:x val="-5.3171551431562464E-2"/>
                  <c:y val="-0.2593840579710144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CD8-4E4F-A586-75E58C29435E}"/>
                </c:ext>
              </c:extLst>
            </c:dLbl>
            <c:dLbl>
              <c:idx val="4"/>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CD8-4E4F-A586-75E58C29435E}"/>
                </c:ext>
              </c:extLst>
            </c:dLbl>
            <c:dLbl>
              <c:idx val="5"/>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CD8-4E4F-A586-75E58C29435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0.56999999999999995</c:v>
                </c:pt>
                <c:pt idx="1">
                  <c:v>0.54</c:v>
                </c:pt>
                <c:pt idx="2">
                  <c:v>0.6</c:v>
                </c:pt>
                <c:pt idx="3">
                  <c:v>0.44</c:v>
                </c:pt>
                <c:pt idx="4">
                  <c:v>0.54</c:v>
                </c:pt>
                <c:pt idx="5">
                  <c:v>0.56999999999999995</c:v>
                </c:pt>
              </c:numCache>
            </c:numRef>
          </c:val>
          <c:smooth val="0"/>
          <c:extLst>
            <c:ext xmlns:c16="http://schemas.microsoft.com/office/drawing/2014/chart" uri="{C3380CC4-5D6E-409C-BE32-E72D297353CC}">
              <c16:uniqueId val="{00000002-DCD8-4E4F-A586-75E58C29435E}"/>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Z24</c:v>
                </c:pt>
                <c:pt idx="1">
                  <c:v>Zenpep is designed to mimic typical exocrine pancreatic function.</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6638-43A0-A455-B97ACC79F849}"/>
              </c:ext>
            </c:extLst>
          </c:dPt>
          <c:dLbls>
            <c:dLbl>
              <c:idx val="0"/>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638-43A0-A455-B97ACC79F849}"/>
                </c:ext>
              </c:extLst>
            </c:dLbl>
            <c:dLbl>
              <c:idx val="1"/>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638-43A0-A455-B97ACC79F849}"/>
                </c:ext>
              </c:extLst>
            </c:dLbl>
            <c:dLbl>
              <c:idx val="2"/>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38-43A0-A455-B97ACC79F849}"/>
                </c:ext>
              </c:extLst>
            </c:dLbl>
            <c:dLbl>
              <c:idx val="3"/>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638-43A0-A455-B97ACC79F849}"/>
                </c:ext>
              </c:extLst>
            </c:dLbl>
            <c:dLbl>
              <c:idx val="4"/>
              <c:layout>
                <c:manualLayout>
                  <c:x val="-4.5570251187437828E-2"/>
                  <c:y val="-0.3282004830917874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38-43A0-A455-B97ACC79F849}"/>
                </c:ext>
              </c:extLst>
            </c:dLbl>
            <c:dLbl>
              <c:idx val="5"/>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38-43A0-A455-B97ACC79F84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General</c:formatCode>
                <c:ptCount val="6"/>
                <c:pt idx="5" formatCode="0%">
                  <c:v>0.56000000000000005</c:v>
                </c:pt>
              </c:numCache>
            </c:numRef>
          </c:val>
          <c:smooth val="0"/>
          <c:extLst>
            <c:ext xmlns:c16="http://schemas.microsoft.com/office/drawing/2014/chart" uri="{C3380CC4-5D6E-409C-BE32-E72D297353CC}">
              <c16:uniqueId val="{00000002-6638-43A0-A455-B97ACC79F849}"/>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General"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Z7</c:v>
                </c:pt>
                <c:pt idx="1">
                  <c:v>ZENPEP has an enteric coating that minimizes degradation and targets enzyme release in the small intestine</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9CFF-4915-A41E-80E1041A6C7F}"/>
              </c:ext>
            </c:extLst>
          </c:dPt>
          <c:dLbls>
            <c:dLbl>
              <c:idx val="0"/>
              <c:layout>
                <c:manualLayout>
                  <c:x val="-5.3171551431562464E-2"/>
                  <c:y val="-0.221847826086956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CFF-4915-A41E-80E1041A6C7F}"/>
                </c:ext>
              </c:extLst>
            </c:dLbl>
            <c:dLbl>
              <c:idx val="1"/>
              <c:layout>
                <c:manualLayout>
                  <c:x val="-5.3171551431562464E-2"/>
                  <c:y val="-0.212463768115942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CFF-4915-A41E-80E1041A6C7F}"/>
                </c:ext>
              </c:extLst>
            </c:dLbl>
            <c:dLbl>
              <c:idx val="2"/>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CFF-4915-A41E-80E1041A6C7F}"/>
                </c:ext>
              </c:extLst>
            </c:dLbl>
            <c:dLbl>
              <c:idx val="3"/>
              <c:layout>
                <c:manualLayout>
                  <c:x val="-5.3171551431562464E-2"/>
                  <c:y val="-0.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CFF-4915-A41E-80E1041A6C7F}"/>
                </c:ext>
              </c:extLst>
            </c:dLbl>
            <c:dLbl>
              <c:idx val="4"/>
              <c:layout>
                <c:manualLayout>
                  <c:x val="-5.3171551431562464E-2"/>
                  <c:y val="-0.23435990338164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CFF-4915-A41E-80E1041A6C7F}"/>
                </c:ext>
              </c:extLst>
            </c:dLbl>
            <c:dLbl>
              <c:idx val="5"/>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CFF-4915-A41E-80E1041A6C7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0.68</c:v>
                </c:pt>
                <c:pt idx="1">
                  <c:v>0.74</c:v>
                </c:pt>
                <c:pt idx="2">
                  <c:v>0.65</c:v>
                </c:pt>
                <c:pt idx="3">
                  <c:v>0.5</c:v>
                </c:pt>
                <c:pt idx="4">
                  <c:v>0.6</c:v>
                </c:pt>
                <c:pt idx="5">
                  <c:v>0.56000000000000005</c:v>
                </c:pt>
              </c:numCache>
            </c:numRef>
          </c:val>
          <c:smooth val="0"/>
          <c:extLst>
            <c:ext xmlns:c16="http://schemas.microsoft.com/office/drawing/2014/chart" uri="{C3380CC4-5D6E-409C-BE32-E72D297353CC}">
              <c16:uniqueId val="{00000002-9CFF-4915-A41E-80E1041A6C7F}"/>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Z8</c:v>
                </c:pt>
                <c:pt idx="1">
                  <c:v>ZENPEP helps fuel nutritional health, increasing coefficient of fat absorption (CFA) by 26 percentage points vs placebo</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86F4-4D07-8086-EFB6FCA56592}"/>
              </c:ext>
            </c:extLst>
          </c:dPt>
          <c:dLbls>
            <c:dLbl>
              <c:idx val="0"/>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6F4-4D07-8086-EFB6FCA56592}"/>
                </c:ext>
              </c:extLst>
            </c:dLbl>
            <c:dLbl>
              <c:idx val="1"/>
              <c:layout>
                <c:manualLayout>
                  <c:x val="-5.3171551431562464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6F4-4D07-8086-EFB6FCA56592}"/>
                </c:ext>
              </c:extLst>
            </c:dLbl>
            <c:dLbl>
              <c:idx val="2"/>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6F4-4D07-8086-EFB6FCA56592}"/>
                </c:ext>
              </c:extLst>
            </c:dLbl>
            <c:dLbl>
              <c:idx val="3"/>
              <c:layout>
                <c:manualLayout>
                  <c:x val="-5.3171551431562464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6F4-4D07-8086-EFB6FCA56592}"/>
                </c:ext>
              </c:extLst>
            </c:dLbl>
            <c:dLbl>
              <c:idx val="4"/>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F4-4D07-8086-EFB6FCA56592}"/>
                </c:ext>
              </c:extLst>
            </c:dLbl>
            <c:dLbl>
              <c:idx val="5"/>
              <c:layout>
                <c:manualLayout>
                  <c:x val="-5.3171551431562464E-2"/>
                  <c:y val="-0.2421799516908212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6F4-4D07-8086-EFB6FCA5659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0.54</c:v>
                </c:pt>
                <c:pt idx="1">
                  <c:v>0.64</c:v>
                </c:pt>
                <c:pt idx="2">
                  <c:v>0.53</c:v>
                </c:pt>
                <c:pt idx="3">
                  <c:v>0.41</c:v>
                </c:pt>
                <c:pt idx="4">
                  <c:v>0.53</c:v>
                </c:pt>
                <c:pt idx="5">
                  <c:v>0.55000000000000004</c:v>
                </c:pt>
              </c:numCache>
            </c:numRef>
          </c:val>
          <c:smooth val="0"/>
          <c:extLst>
            <c:ext xmlns:c16="http://schemas.microsoft.com/office/drawing/2014/chart" uri="{C3380CC4-5D6E-409C-BE32-E72D297353CC}">
              <c16:uniqueId val="{00000002-86F4-4D07-8086-EFB6FCA56592}"/>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Z18</c:v>
                </c:pt>
                <c:pt idx="1">
                  <c:v>In a clinical trial, the right dose helped patients absorb nutrients from their food and provided symptom relief</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DA26-4A4F-B08A-2E56008337F8}"/>
              </c:ext>
            </c:extLst>
          </c:dPt>
          <c:dLbls>
            <c:dLbl>
              <c:idx val="0"/>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A26-4A4F-B08A-2E56008337F8}"/>
                </c:ext>
              </c:extLst>
            </c:dLbl>
            <c:dLbl>
              <c:idx val="1"/>
              <c:layout>
                <c:manualLayout>
                  <c:x val="-5.3171551431562464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A26-4A4F-B08A-2E56008337F8}"/>
                </c:ext>
              </c:extLst>
            </c:dLbl>
            <c:dLbl>
              <c:idx val="2"/>
              <c:layout>
                <c:manualLayout>
                  <c:x val="-5.3171551431562464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A26-4A4F-B08A-2E56008337F8}"/>
                </c:ext>
              </c:extLst>
            </c:dLbl>
            <c:dLbl>
              <c:idx val="3"/>
              <c:layout>
                <c:manualLayout>
                  <c:x val="-5.3171551431562464E-2"/>
                  <c:y val="-0.265640096618357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A26-4A4F-B08A-2E56008337F8}"/>
                </c:ext>
              </c:extLst>
            </c:dLbl>
            <c:dLbl>
              <c:idx val="4"/>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A26-4A4F-B08A-2E56008337F8}"/>
                </c:ext>
              </c:extLst>
            </c:dLbl>
            <c:dLbl>
              <c:idx val="5"/>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A26-4A4F-B08A-2E56008337F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0.56000000000000005</c:v>
                </c:pt>
                <c:pt idx="1">
                  <c:v>0.48</c:v>
                </c:pt>
                <c:pt idx="2">
                  <c:v>0.64</c:v>
                </c:pt>
                <c:pt idx="3">
                  <c:v>0.4</c:v>
                </c:pt>
                <c:pt idx="4">
                  <c:v>0.54</c:v>
                </c:pt>
                <c:pt idx="5">
                  <c:v>0.51</c:v>
                </c:pt>
              </c:numCache>
            </c:numRef>
          </c:val>
          <c:smooth val="0"/>
          <c:extLst>
            <c:ext xmlns:c16="http://schemas.microsoft.com/office/drawing/2014/chart" uri="{C3380CC4-5D6E-409C-BE32-E72D297353CC}">
              <c16:uniqueId val="{00000002-DA26-4A4F-B08A-2E56008337F8}"/>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Z20</c:v>
                </c:pt>
                <c:pt idx="1">
                  <c:v>91% of patients achieved a CFA of 80% or higher with Zenpep</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4EC4-4D91-957A-202BB88EBD68}"/>
              </c:ext>
            </c:extLst>
          </c:dPt>
          <c:dLbls>
            <c:dLbl>
              <c:idx val="0"/>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EC4-4D91-957A-202BB88EBD68}"/>
                </c:ext>
              </c:extLst>
            </c:dLbl>
            <c:dLbl>
              <c:idx val="1"/>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EC4-4D91-957A-202BB88EBD68}"/>
                </c:ext>
              </c:extLst>
            </c:dLbl>
            <c:dLbl>
              <c:idx val="2"/>
              <c:layout>
                <c:manualLayout>
                  <c:x val="-5.3171551431562464E-2"/>
                  <c:y val="-0.2265398550724637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EC4-4D91-957A-202BB88EBD68}"/>
                </c:ext>
              </c:extLst>
            </c:dLbl>
            <c:dLbl>
              <c:idx val="3"/>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EC4-4D91-957A-202BB88EBD68}"/>
                </c:ext>
              </c:extLst>
            </c:dLbl>
            <c:dLbl>
              <c:idx val="4"/>
              <c:layout>
                <c:manualLayout>
                  <c:x val="-5.3171551431562464E-2"/>
                  <c:y val="-0.2515640096618357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EC4-4D91-957A-202BB88EBD68}"/>
                </c:ext>
              </c:extLst>
            </c:dLbl>
            <c:dLbl>
              <c:idx val="5"/>
              <c:layout>
                <c:manualLayout>
                  <c:x val="-5.3171551431562464E-2"/>
                  <c:y val="-0.253128019323671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EC4-4D91-957A-202BB88EBD6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0.56999999999999995</c:v>
                </c:pt>
                <c:pt idx="1">
                  <c:v>0.59</c:v>
                </c:pt>
                <c:pt idx="2">
                  <c:v>0.65</c:v>
                </c:pt>
                <c:pt idx="3">
                  <c:v>0.54</c:v>
                </c:pt>
                <c:pt idx="4">
                  <c:v>0.49</c:v>
                </c:pt>
                <c:pt idx="5">
                  <c:v>0.48</c:v>
                </c:pt>
              </c:numCache>
            </c:numRef>
          </c:val>
          <c:smooth val="0"/>
          <c:extLst>
            <c:ext xmlns:c16="http://schemas.microsoft.com/office/drawing/2014/chart" uri="{C3380CC4-5D6E-409C-BE32-E72D297353CC}">
              <c16:uniqueId val="{00000002-4EC4-4D91-957A-202BB88EBD68}"/>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Z22</c:v>
                </c:pt>
                <c:pt idx="1">
                  <c:v>Through My SampleCloset, practices are able to easily request samples of Zenpep at any strength</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5B53-46A5-B1E0-B0A99C3EE785}"/>
              </c:ext>
            </c:extLst>
          </c:dPt>
          <c:dLbls>
            <c:dLbl>
              <c:idx val="0"/>
              <c:layout>
                <c:manualLayout>
                  <c:x val="-5.3171551431562464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B53-46A5-B1E0-B0A99C3EE785}"/>
                </c:ext>
              </c:extLst>
            </c:dLbl>
            <c:dLbl>
              <c:idx val="1"/>
              <c:layout>
                <c:manualLayout>
                  <c:x val="-5.3171551431562464E-2"/>
                  <c:y val="-0.240615942028985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B53-46A5-B1E0-B0A99C3EE785}"/>
                </c:ext>
              </c:extLst>
            </c:dLbl>
            <c:dLbl>
              <c:idx val="2"/>
              <c:layout>
                <c:manualLayout>
                  <c:x val="-5.3171551431562464E-2"/>
                  <c:y val="-0.235923913043478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B53-46A5-B1E0-B0A99C3EE785}"/>
                </c:ext>
              </c:extLst>
            </c:dLbl>
            <c:dLbl>
              <c:idx val="3"/>
              <c:layout>
                <c:manualLayout>
                  <c:x val="-5.3171551431562464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B53-46A5-B1E0-B0A99C3EE785}"/>
                </c:ext>
              </c:extLst>
            </c:dLbl>
            <c:dLbl>
              <c:idx val="4"/>
              <c:layout>
                <c:manualLayout>
                  <c:x val="-5.3171551431562464E-2"/>
                  <c:y val="-0.239051932367149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B53-46A5-B1E0-B0A99C3EE785}"/>
                </c:ext>
              </c:extLst>
            </c:dLbl>
            <c:dLbl>
              <c:idx val="5"/>
              <c:layout>
                <c:manualLayout>
                  <c:x val="-5.3171551431562464E-2"/>
                  <c:y val="-0.2546920289855072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B53-46A5-B1E0-B0A99C3EE78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0.63</c:v>
                </c:pt>
                <c:pt idx="1">
                  <c:v>0.56000000000000005</c:v>
                </c:pt>
                <c:pt idx="2">
                  <c:v>0.59</c:v>
                </c:pt>
                <c:pt idx="3">
                  <c:v>0.43</c:v>
                </c:pt>
                <c:pt idx="4">
                  <c:v>0.56999999999999995</c:v>
                </c:pt>
                <c:pt idx="5">
                  <c:v>0.47</c:v>
                </c:pt>
              </c:numCache>
            </c:numRef>
          </c:val>
          <c:smooth val="0"/>
          <c:extLst>
            <c:ext xmlns:c16="http://schemas.microsoft.com/office/drawing/2014/chart" uri="{C3380CC4-5D6E-409C-BE32-E72D297353CC}">
              <c16:uniqueId val="{00000002-5B53-46A5-B1E0-B0A99C3EE785}"/>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Z11</c:v>
                </c:pt>
                <c:pt idx="1">
                  <c:v>Eligible patients pay as little as $5 for their first prescription fill and for refills.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D2FE-4D27-AB18-76B583383867}"/>
              </c:ext>
            </c:extLst>
          </c:dPt>
          <c:dLbls>
            <c:dLbl>
              <c:idx val="0"/>
              <c:layout>
                <c:manualLayout>
                  <c:x val="-5.3171551431562464E-2"/>
                  <c:y val="-0.2453079710144927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2FE-4D27-AB18-76B583383867}"/>
                </c:ext>
              </c:extLst>
            </c:dLbl>
            <c:dLbl>
              <c:idx val="1"/>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2FE-4D27-AB18-76B583383867}"/>
                </c:ext>
              </c:extLst>
            </c:dLbl>
            <c:dLbl>
              <c:idx val="2"/>
              <c:layout>
                <c:manualLayout>
                  <c:x val="-5.3171551431562464E-2"/>
                  <c:y val="-0.229667874396135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2FE-4D27-AB18-76B583383867}"/>
                </c:ext>
              </c:extLst>
            </c:dLbl>
            <c:dLbl>
              <c:idx val="3"/>
              <c:layout>
                <c:manualLayout>
                  <c:x val="-5.3171551431562464E-2"/>
                  <c:y val="-0.2609480676328502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2FE-4D27-AB18-76B583383867}"/>
                </c:ext>
              </c:extLst>
            </c:dLbl>
            <c:dLbl>
              <c:idx val="4"/>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2FE-4D27-AB18-76B583383867}"/>
                </c:ext>
              </c:extLst>
            </c:dLbl>
            <c:dLbl>
              <c:idx val="5"/>
              <c:layout>
                <c:manualLayout>
                  <c:x val="-5.3171551431562464E-2"/>
                  <c:y val="-0.264076086956521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2FE-4D27-AB18-76B58338386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0.53</c:v>
                </c:pt>
                <c:pt idx="1">
                  <c:v>0.51</c:v>
                </c:pt>
                <c:pt idx="2">
                  <c:v>0.63</c:v>
                </c:pt>
                <c:pt idx="3">
                  <c:v>0.43</c:v>
                </c:pt>
                <c:pt idx="4">
                  <c:v>0.54</c:v>
                </c:pt>
                <c:pt idx="5">
                  <c:v>0.41</c:v>
                </c:pt>
              </c:numCache>
            </c:numRef>
          </c:val>
          <c:smooth val="0"/>
          <c:extLst>
            <c:ext xmlns:c16="http://schemas.microsoft.com/office/drawing/2014/chart" uri="{C3380CC4-5D6E-409C-BE32-E72D297353CC}">
              <c16:uniqueId val="{00000002-D2FE-4D27-AB18-76B583383867}"/>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Sheet1!$B$1:$B$2</c:f>
              <c:strCache>
                <c:ptCount val="2"/>
                <c:pt idx="0">
                  <c:v>Z23</c:v>
                </c:pt>
                <c:pt idx="1">
                  <c:v>Zenpep is the most widely covered treatment in its class.</c:v>
                </c:pt>
              </c:strCache>
            </c:strRef>
          </c:tx>
          <c:spPr>
            <a:ln w="28575" cap="rnd">
              <a:solidFill>
                <a:srgbClr val="9778D4"/>
              </a:solidFill>
              <a:round/>
            </a:ln>
            <a:effectLst/>
          </c:spPr>
          <c:marker>
            <c:symbol val="circle"/>
            <c:size val="5"/>
            <c:spPr>
              <a:solidFill>
                <a:srgbClr val="9778D4"/>
              </a:solidFill>
              <a:ln w="9525">
                <a:noFill/>
              </a:ln>
              <a:effectLst/>
            </c:spPr>
          </c:marker>
          <c:dPt>
            <c:idx val="4"/>
            <c:marker>
              <c:symbol val="circle"/>
              <c:size val="5"/>
              <c:spPr>
                <a:solidFill>
                  <a:srgbClr val="9778D4"/>
                </a:solidFill>
                <a:ln w="9525">
                  <a:noFill/>
                </a:ln>
                <a:effectLst/>
              </c:spPr>
            </c:marker>
            <c:bubble3D val="0"/>
            <c:spPr>
              <a:ln w="28575" cap="rnd">
                <a:solidFill>
                  <a:srgbClr val="9778D4"/>
                </a:solidFill>
                <a:round/>
              </a:ln>
              <a:effectLst/>
            </c:spPr>
            <c:extLst>
              <c:ext xmlns:c16="http://schemas.microsoft.com/office/drawing/2014/chart" uri="{C3380CC4-5D6E-409C-BE32-E72D297353CC}">
                <c16:uniqueId val="{00000001-8360-40DA-AC57-549690512E2C}"/>
              </c:ext>
            </c:extLst>
          </c:dPt>
          <c:dLbls>
            <c:dLbl>
              <c:idx val="0"/>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360-40DA-AC57-549690512E2C}"/>
                </c:ext>
              </c:extLst>
            </c:dLbl>
            <c:dLbl>
              <c:idx val="1"/>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360-40DA-AC57-549690512E2C}"/>
                </c:ext>
              </c:extLst>
            </c:dLbl>
            <c:dLbl>
              <c:idx val="2"/>
              <c:layout>
                <c:manualLayout>
                  <c:x val="-5.3171551431562464E-2"/>
                  <c:y val="-0.2281038647342995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360-40DA-AC57-549690512E2C}"/>
                </c:ext>
              </c:extLst>
            </c:dLbl>
            <c:dLbl>
              <c:idx val="3"/>
              <c:layout>
                <c:manualLayout>
                  <c:x val="-5.3171551431562464E-2"/>
                  <c:y val="-0.24374396135265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360-40DA-AC57-549690512E2C}"/>
                </c:ext>
              </c:extLst>
            </c:dLbl>
            <c:dLbl>
              <c:idx val="4"/>
              <c:layout>
                <c:manualLayout>
                  <c:x val="-5.3171551431562464E-2"/>
                  <c:y val="-0.248435990338164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360-40DA-AC57-549690512E2C}"/>
                </c:ext>
              </c:extLst>
            </c:dLbl>
            <c:dLbl>
              <c:idx val="5"/>
              <c:layout>
                <c:manualLayout>
                  <c:x val="-5.3171551431562464E-2"/>
                  <c:y val="-0.2703321256038647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360-40DA-AC57-549690512E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Sheet1!$A$3:$A$8</c:f>
              <c:strCache>
                <c:ptCount val="6"/>
                <c:pt idx="0">
                  <c:v>W27 - Speciality  - NP/PA</c:v>
                </c:pt>
                <c:pt idx="1">
                  <c:v>W28 - Speciality  - NP/PA</c:v>
                </c:pt>
                <c:pt idx="2">
                  <c:v>W29 - Speciality  - NP/PA</c:v>
                </c:pt>
                <c:pt idx="3">
                  <c:v>W30 - Speciality  - NP/PA</c:v>
                </c:pt>
                <c:pt idx="4">
                  <c:v>W31 - Speciality  - NP/PA</c:v>
                </c:pt>
                <c:pt idx="5">
                  <c:v>W32 - Speciality  - NP/PA</c:v>
                </c:pt>
              </c:strCache>
            </c:strRef>
          </c:cat>
          <c:val>
            <c:numRef>
              <c:f>Sheet1!$B$3:$B$8</c:f>
              <c:numCache>
                <c:formatCode>0%</c:formatCode>
                <c:ptCount val="6"/>
                <c:pt idx="0">
                  <c:v>0.54</c:v>
                </c:pt>
                <c:pt idx="1">
                  <c:v>0.51</c:v>
                </c:pt>
                <c:pt idx="2">
                  <c:v>0.64</c:v>
                </c:pt>
                <c:pt idx="3">
                  <c:v>0.54</c:v>
                </c:pt>
                <c:pt idx="4">
                  <c:v>0.51</c:v>
                </c:pt>
                <c:pt idx="5">
                  <c:v>0.37</c:v>
                </c:pt>
              </c:numCache>
            </c:numRef>
          </c:val>
          <c:smooth val="0"/>
          <c:extLst>
            <c:ext xmlns:c16="http://schemas.microsoft.com/office/drawing/2014/chart" uri="{C3380CC4-5D6E-409C-BE32-E72D297353CC}">
              <c16:uniqueId val="{00000007-8360-40DA-AC57-549690512E2C}"/>
            </c:ext>
          </c:extLst>
        </c:ser>
        <c:dLbls>
          <c:dLblPos val="t"/>
          <c:showLegendKey val="0"/>
          <c:showVal val="1"/>
          <c:showCatName val="0"/>
          <c:showSerName val="0"/>
          <c:showPercent val="0"/>
          <c:showBubbleSize val="0"/>
        </c:dLbls>
        <c:marker val="1"/>
        <c:smooth val="0"/>
        <c:axId val="1309872000"/>
        <c:axId val="1309864800"/>
      </c:lineChart>
      <c:catAx>
        <c:axId val="1309872000"/>
        <c:scaling>
          <c:orientation val="minMax"/>
        </c:scaling>
        <c:delete val="1"/>
        <c:axPos val="b"/>
        <c:numFmt formatCode="General" sourceLinked="1"/>
        <c:majorTickMark val="none"/>
        <c:minorTickMark val="none"/>
        <c:tickLblPos val="nextTo"/>
        <c:crossAx val="1309864800"/>
        <c:crosses val="autoZero"/>
        <c:auto val="1"/>
        <c:lblAlgn val="ctr"/>
        <c:lblOffset val="100"/>
        <c:noMultiLvlLbl val="0"/>
      </c:catAx>
      <c:valAx>
        <c:axId val="1309864800"/>
        <c:scaling>
          <c:orientation val="minMax"/>
        </c:scaling>
        <c:delete val="1"/>
        <c:axPos val="l"/>
        <c:numFmt formatCode="0%" sourceLinked="1"/>
        <c:majorTickMark val="none"/>
        <c:minorTickMark val="none"/>
        <c:tickLblPos val="nextTo"/>
        <c:crossAx val="13098720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useful the information provided to me by the rep was about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679699074074074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BB4-44AB-8A21-4FBC00D1A1F2}"/>
                </c:ext>
              </c:extLst>
            </c:dLbl>
            <c:dLbl>
              <c:idx val="1"/>
              <c:layout>
                <c:manualLayout>
                  <c:x val="-4.6084888059701491E-2"/>
                  <c:y val="-0.2597106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BB4-44AB-8A21-4FBC00D1A1F2}"/>
                </c:ext>
              </c:extLst>
            </c:dLbl>
            <c:dLbl>
              <c:idx val="2"/>
              <c:layout>
                <c:manualLayout>
                  <c:x val="-4.6084888059701491E-2"/>
                  <c:y val="-0.3003078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BB4-44AB-8A21-4FBC00D1A1F2}"/>
                </c:ext>
              </c:extLst>
            </c:dLbl>
            <c:dLbl>
              <c:idx val="3"/>
              <c:layout>
                <c:manualLayout>
                  <c:x val="-4.6084888059701491E-2"/>
                  <c:y val="-0.3138402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BB4-44AB-8A21-4FBC00D1A1F2}"/>
                </c:ext>
              </c:extLst>
            </c:dLbl>
            <c:dLbl>
              <c:idx val="4"/>
              <c:layout>
                <c:manualLayout>
                  <c:x val="-4.6084888059701491E-2"/>
                  <c:y val="-0.38826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BB4-44AB-8A21-4FBC00D1A1F2}"/>
                </c:ext>
              </c:extLst>
            </c:dLbl>
            <c:dLbl>
              <c:idx val="5"/>
              <c:layout>
                <c:manualLayout>
                  <c:x val="-4.6084888059701491E-2"/>
                  <c:y val="-0.266476851851851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BB4-44AB-8A21-4FBC00D1A1F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0.77</c:v>
                </c:pt>
                <c:pt idx="3">
                  <c:v>0.77</c:v>
                </c:pt>
                <c:pt idx="4">
                  <c:v>0.77</c:v>
                </c:pt>
                <c:pt idx="5">
                  <c:v>0.77</c:v>
                </c:pt>
                <c:pt idx="6">
                  <c:v>0.74</c:v>
                </c:pt>
                <c:pt idx="7">
                  <c:v>0.74</c:v>
                </c:pt>
                <c:pt idx="8">
                  <c:v>0.74</c:v>
                </c:pt>
                <c:pt idx="9">
                  <c:v>0.74</c:v>
                </c:pt>
                <c:pt idx="10">
                  <c:v>0.79</c:v>
                </c:pt>
                <c:pt idx="11">
                  <c:v>1.0</c:v>
                </c:pt>
                <c:pt idx="12">
                  <c:v>0.77</c:v>
                </c:pt>
                <c:pt idx="13">
                  <c:v>0.0</c:v>
                </c:pt>
                <c:pt idx="14">
                  <c:v>1.0</c:v>
                </c:pt>
                <c:pt idx="15">
                  <c:v>0.77</c:v>
                </c:pt>
                <c:pt idx="16">
                  <c:v>0.76</c:v>
                </c:pt>
                <c:pt idx="17">
                  <c:v>1.0</c:v>
                </c:pt>
                <c:pt idx="18">
                  <c:v>0.8</c:v>
                </c:pt>
                <c:pt idx="19">
                  <c:v>0.79</c:v>
                </c:pt>
                <c:pt idx="20">
                  <c:v>1.0</c:v>
                </c:pt>
                <c:pt idx="21">
                  <c:v>0.78</c:v>
                </c:pt>
                <c:pt idx="22">
                  <c:v>0.78</c:v>
                </c:pt>
                <c:pt idx="23">
                  <c:v>1.0</c:v>
                </c:pt>
                <c:pt idx="24">
                  <c:v>0.79</c:v>
                </c:pt>
                <c:pt idx="25">
                  <c:v>0.78</c:v>
                </c:pt>
                <c:pt idx="26">
                  <c:v>1.0</c:v>
                </c:pt>
                <c:pt idx="27">
                  <c:v>1.0</c:v>
                </c:pt>
                <c:pt idx="28">
                  <c:v>0.77</c:v>
                </c:pt>
                <c:pt idx="29">
                  <c:v>0.76</c:v>
                </c:pt>
                <c:pt idx="30">
                  <c:v>0.83</c:v>
                </c:pt>
                <c:pt idx="31">
                  <c:v>0.81</c:v>
                </c:pt>
                <c:pt idx="32">
                  <c:v>0.81</c:v>
                </c:pt>
                <c:pt idx="33">
                  <c:v>0.67</c:v>
                </c:pt>
                <c:pt idx="34">
                  <c:v>0.67</c:v>
                </c:pt>
                <c:pt idx="35">
                  <c:v>0.67</c:v>
                </c:pt>
                <c:pt idx="36">
                  <c:v>0.76</c:v>
                </c:pt>
                <c:pt idx="37">
                  <c:v>0.76</c:v>
                </c:pt>
                <c:pt idx="38">
                  <c:v>0.75</c:v>
                </c:pt>
                <c:pt idx="39">
                  <c:v>0.83</c:v>
                </c:pt>
                <c:pt idx="40">
                  <c:v>0.84</c:v>
                </c:pt>
                <c:pt idx="41">
                  <c:v>1.0</c:v>
                </c:pt>
                <c:pt idx="42">
                  <c:v>0.77</c:v>
                </c:pt>
                <c:pt idx="43">
                  <c:v>0.76</c:v>
                </c:pt>
                <c:pt idx="44">
                  <c:v>0.78</c:v>
                </c:pt>
                <c:pt idx="45">
                  <c:v>0.87</c:v>
                </c:pt>
                <c:pt idx="46">
                  <c:v>0.88</c:v>
                </c:pt>
                <c:pt idx="47">
                  <c:v>1.0</c:v>
                </c:pt>
                <c:pt idx="48">
                  <c:v>0.85</c:v>
                </c:pt>
                <c:pt idx="49">
                  <c:v>0.83</c:v>
                </c:pt>
                <c:pt idx="50">
                  <c:v>0.86</c:v>
                </c:pt>
                <c:pt idx="51">
                  <c:v>0.83</c:v>
                </c:pt>
                <c:pt idx="52">
                  <c:v>0.83</c:v>
                </c:pt>
                <c:pt idx="53">
                  <c:v>0.86</c:v>
                </c:pt>
                <c:pt idx="54">
                  <c:v>0.81</c:v>
                </c:pt>
                <c:pt idx="55">
                  <c:v>0.8</c:v>
                </c:pt>
                <c:pt idx="56">
                  <c:v>0.67</c:v>
                </c:pt>
                <c:pt idx="57">
                  <c:v>0.74</c:v>
                </c:pt>
                <c:pt idx="58">
                  <c:v>0.75</c:v>
                </c:pt>
                <c:pt idx="59">
                  <c:v>0.66</c:v>
                </c:pt>
                <c:pt idx="60">
                  <c:v>0.5</c:v>
                </c:pt>
                <c:pt idx="61">
                  <c:v>0.68</c:v>
                </c:pt>
                <c:pt idx="62">
                  <c:v>0.73</c:v>
                </c:pt>
                <c:pt idx="63">
                  <c:v>0.83</c:v>
                </c:pt>
                <c:pt idx="64">
                  <c:v>0.83</c:v>
                </c:pt>
                <c:pt idx="65">
                  <c:v>0.73</c:v>
                </c:pt>
                <c:pt idx="66">
                  <c:v>0.73</c:v>
                </c:pt>
                <c:pt idx="67">
                  <c:v>0.85</c:v>
                </c:pt>
                <c:pt idx="68">
                  <c:v>0.85</c:v>
                </c:pt>
                <c:pt idx="69">
                  <c:v>0.76</c:v>
                </c:pt>
                <c:pt idx="70">
                  <c:v>0.76</c:v>
                </c:pt>
                <c:pt idx="71">
                  <c:v>0.74</c:v>
                </c:pt>
                <c:pt idx="72">
                  <c:v>0.74</c:v>
                </c:pt>
                <c:pt idx="73">
                  <c:v>0.0</c:v>
                </c:pt>
                <c:pt idx="74">
                  <c:v>0.0</c:v>
                </c:pt>
                <c:pt idx="75">
                  <c:v>0.74</c:v>
                </c:pt>
                <c:pt idx="76">
                  <c:v>0.74</c:v>
                </c:pt>
                <c:pt idx="77">
                  <c:v>0.82</c:v>
                </c:pt>
                <c:pt idx="78">
                  <c:v>0.82</c:v>
                </c:pt>
                <c:pt idx="79">
                  <c:v>0.78</c:v>
                </c:pt>
                <c:pt idx="80">
                  <c:v>0.78</c:v>
                </c:pt>
                <c:pt idx="81">
                  <c:v>0.78</c:v>
                </c:pt>
                <c:pt idx="82">
                  <c:v>0.78</c:v>
                </c:pt>
                <c:pt idx="83">
                  <c:v>0.77</c:v>
                </c:pt>
                <c:pt idx="84">
                  <c:v>0.77</c:v>
                </c:pt>
                <c:pt idx="85">
                  <c:v>0.71</c:v>
                </c:pt>
                <c:pt idx="86">
                  <c:v>0.71</c:v>
                </c:pt>
              </c:numCache>
            </c:numRef>
          </c:val>
          <c:smooth val="0"/>
          <c:extLst>
            <c:ext xmlns:c16="http://schemas.microsoft.com/office/drawing/2014/chart" uri="{C3380CC4-5D6E-409C-BE32-E72D297353CC}">
              <c16:uniqueId val="{00000006-9BB4-44AB-8A21-4FBC00D1A1F2}"/>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useful the information provided to me was about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138402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A9C-4532-BEA7-BBE3BA456331}"/>
                </c:ext>
              </c:extLst>
            </c:dLbl>
            <c:dLbl>
              <c:idx val="1"/>
              <c:layout>
                <c:manualLayout>
                  <c:x val="-4.6084888059701491E-2"/>
                  <c:y val="-0.2597106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A9C-4532-BEA7-BBE3BA456331}"/>
                </c:ext>
              </c:extLst>
            </c:dLbl>
            <c:dLbl>
              <c:idx val="2"/>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A9C-4532-BEA7-BBE3BA456331}"/>
                </c:ext>
              </c:extLst>
            </c:dLbl>
            <c:dLbl>
              <c:idx val="3"/>
              <c:layout>
                <c:manualLayout>
                  <c:x val="-4.6084888059701491E-2"/>
                  <c:y val="-0.212347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A9C-4532-BEA7-BBE3BA456331}"/>
                </c:ext>
              </c:extLst>
            </c:dLbl>
            <c:dLbl>
              <c:idx val="4"/>
              <c:layout>
                <c:manualLayout>
                  <c:x val="-4.6084888059701491E-2"/>
                  <c:y val="-0.2732430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A9C-4532-BEA7-BBE3BA456331}"/>
                </c:ext>
              </c:extLst>
            </c:dLbl>
            <c:dLbl>
              <c:idx val="5"/>
              <c:layout>
                <c:manualLayout>
                  <c:x val="-4.6084888059701491E-2"/>
                  <c:y val="-0.280009259259259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A9C-4532-BEA7-BBE3BA45633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0.76</c:v>
                </c:pt>
                <c:pt idx="3">
                  <c:v>0.76</c:v>
                </c:pt>
                <c:pt idx="4">
                  <c:v>0.76</c:v>
                </c:pt>
                <c:pt idx="5">
                  <c:v>0.76</c:v>
                </c:pt>
                <c:pt idx="6">
                  <c:v>0.65</c:v>
                </c:pt>
                <c:pt idx="7">
                  <c:v>0.65</c:v>
                </c:pt>
                <c:pt idx="8">
                  <c:v>0.64</c:v>
                </c:pt>
                <c:pt idx="9">
                  <c:v>0.64</c:v>
                </c:pt>
                <c:pt idx="10">
                  <c:v>0.73</c:v>
                </c:pt>
                <c:pt idx="11">
                  <c:v>1.0</c:v>
                </c:pt>
                <c:pt idx="12">
                  <c:v>0.71</c:v>
                </c:pt>
                <c:pt idx="13">
                  <c:v>0.0</c:v>
                </c:pt>
                <c:pt idx="14">
                  <c:v>1.0</c:v>
                </c:pt>
                <c:pt idx="15">
                  <c:v>0.77</c:v>
                </c:pt>
                <c:pt idx="16">
                  <c:v>0.76</c:v>
                </c:pt>
                <c:pt idx="17">
                  <c:v>0.5</c:v>
                </c:pt>
                <c:pt idx="18">
                  <c:v>0.74</c:v>
                </c:pt>
                <c:pt idx="19">
                  <c:v>0.75</c:v>
                </c:pt>
                <c:pt idx="20">
                  <c:v>1.0</c:v>
                </c:pt>
                <c:pt idx="21">
                  <c:v>0.84</c:v>
                </c:pt>
                <c:pt idx="22">
                  <c:v>0.84</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0.79</c:v>
                </c:pt>
                <c:pt idx="37">
                  <c:v>0.79</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0.8</c:v>
                </c:pt>
                <c:pt idx="68">
                  <c:v>0.8</c:v>
                </c:pt>
                <c:pt idx="69">
                  <c:v>0.0</c:v>
                </c:pt>
                <c:pt idx="70">
                  <c:v>0.0</c:v>
                </c:pt>
                <c:pt idx="71">
                  <c:v>0.0</c:v>
                </c:pt>
                <c:pt idx="72">
                  <c:v>0.0</c:v>
                </c:pt>
                <c:pt idx="73">
                  <c:v>0.0</c:v>
                </c:pt>
                <c:pt idx="74">
                  <c:v>0.0</c:v>
                </c:pt>
                <c:pt idx="75">
                  <c:v>0.76</c:v>
                </c:pt>
                <c:pt idx="76">
                  <c:v>0.76</c:v>
                </c:pt>
                <c:pt idx="77">
                  <c:v>0.76</c:v>
                </c:pt>
                <c:pt idx="78">
                  <c:v>0.76</c:v>
                </c:pt>
                <c:pt idx="79">
                  <c:v>0.75</c:v>
                </c:pt>
                <c:pt idx="80">
                  <c:v>0.75</c:v>
                </c:pt>
                <c:pt idx="81">
                  <c:v>0.67</c:v>
                </c:pt>
                <c:pt idx="82">
                  <c:v>0.67</c:v>
                </c:pt>
                <c:pt idx="83">
                  <c:v>0.83</c:v>
                </c:pt>
                <c:pt idx="84">
                  <c:v>0.83</c:v>
                </c:pt>
                <c:pt idx="85">
                  <c:v>0.66</c:v>
                </c:pt>
                <c:pt idx="86">
                  <c:v>0.66</c:v>
                </c:pt>
              </c:numCache>
            </c:numRef>
          </c:val>
          <c:smooth val="0"/>
          <c:extLst>
            <c:ext xmlns:c16="http://schemas.microsoft.com/office/drawing/2014/chart" uri="{C3380CC4-5D6E-409C-BE32-E72D297353CC}">
              <c16:uniqueId val="{00000006-8A9C-4532-BEA7-BBE3BA456331}"/>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articulated CREON’s differentiation as a treatment for exocrine pancreatic insufficiency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178516203703703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79C-4075-89CD-B9527A5BD11A}"/>
                </c:ext>
              </c:extLst>
            </c:dLbl>
            <c:dLbl>
              <c:idx val="1"/>
              <c:layout>
                <c:manualLayout>
                  <c:x val="-4.6084888059701491E-2"/>
                  <c:y val="-0.178516203703703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79C-4075-89CD-B9527A5BD11A}"/>
                </c:ext>
              </c:extLst>
            </c:dLbl>
            <c:dLbl>
              <c:idx val="2"/>
              <c:layout>
                <c:manualLayout>
                  <c:x val="-4.6084888059701491E-2"/>
                  <c:y val="-0.36458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79C-4075-89CD-B9527A5BD11A}"/>
                </c:ext>
              </c:extLst>
            </c:dLbl>
            <c:dLbl>
              <c:idx val="3"/>
              <c:layout>
                <c:manualLayout>
                  <c:x val="-4.6084888059701491E-2"/>
                  <c:y val="-0.29692592592592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79C-4075-89CD-B9527A5BD11A}"/>
                </c:ext>
              </c:extLst>
            </c:dLbl>
            <c:dLbl>
              <c:idx val="4"/>
              <c:layout>
                <c:manualLayout>
                  <c:x val="-4.6084888059701491E-2"/>
                  <c:y val="-0.36458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79C-4075-89CD-B9527A5BD11A}"/>
                </c:ext>
              </c:extLst>
            </c:dLbl>
            <c:dLbl>
              <c:idx val="5"/>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79C-4075-89CD-B9527A5BD11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0.77</c:v>
                </c:pt>
                <c:pt idx="1">
                  <c:v>0.77</c:v>
                </c:pt>
                <c:pt idx="2">
                  <c:v>0.0</c:v>
                </c:pt>
                <c:pt idx="3">
                  <c:v>0.0</c:v>
                </c:pt>
                <c:pt idx="4">
                  <c:v>0.0</c:v>
                </c:pt>
                <c:pt idx="5">
                  <c:v>0.0</c:v>
                </c:pt>
                <c:pt idx="6">
                  <c:v>0.62</c:v>
                </c:pt>
                <c:pt idx="7">
                  <c:v>0.62</c:v>
                </c:pt>
                <c:pt idx="8">
                  <c:v>0.67</c:v>
                </c:pt>
                <c:pt idx="9">
                  <c:v>0.67</c:v>
                </c:pt>
                <c:pt idx="10">
                  <c:v>0.73</c:v>
                </c:pt>
                <c:pt idx="11">
                  <c:v>1.0</c:v>
                </c:pt>
                <c:pt idx="12">
                  <c:v>0.71</c:v>
                </c:pt>
                <c:pt idx="13">
                  <c:v>0.0</c:v>
                </c:pt>
                <c:pt idx="14">
                  <c:v>1.0</c:v>
                </c:pt>
                <c:pt idx="15">
                  <c:v>0.8</c:v>
                </c:pt>
                <c:pt idx="16">
                  <c:v>0.79</c:v>
                </c:pt>
                <c:pt idx="17">
                  <c:v>1.0</c:v>
                </c:pt>
                <c:pt idx="18">
                  <c:v>0.84</c:v>
                </c:pt>
                <c:pt idx="19">
                  <c:v>0.84</c:v>
                </c:pt>
                <c:pt idx="20">
                  <c:v>1.0</c:v>
                </c:pt>
                <c:pt idx="21">
                  <c:v>0.74</c:v>
                </c:pt>
                <c:pt idx="22">
                  <c:v>0.73</c:v>
                </c:pt>
                <c:pt idx="23">
                  <c:v>1.0</c:v>
                </c:pt>
                <c:pt idx="24">
                  <c:v>0.76</c:v>
                </c:pt>
                <c:pt idx="25">
                  <c:v>0.75</c:v>
                </c:pt>
                <c:pt idx="26">
                  <c:v>1.0</c:v>
                </c:pt>
                <c:pt idx="27">
                  <c:v>0.5</c:v>
                </c:pt>
                <c:pt idx="28">
                  <c:v>0.77</c:v>
                </c:pt>
                <c:pt idx="29">
                  <c:v>0.78</c:v>
                </c:pt>
                <c:pt idx="30">
                  <c:v>0.67</c:v>
                </c:pt>
                <c:pt idx="31">
                  <c:v>0.7</c:v>
                </c:pt>
                <c:pt idx="32">
                  <c:v>0.7</c:v>
                </c:pt>
                <c:pt idx="33">
                  <c:v>0.5</c:v>
                </c:pt>
                <c:pt idx="34">
                  <c:v>0.67</c:v>
                </c:pt>
                <c:pt idx="35">
                  <c:v>0.68</c:v>
                </c:pt>
                <c:pt idx="36">
                  <c:v>0.0</c:v>
                </c:pt>
                <c:pt idx="37">
                  <c:v>0.0</c:v>
                </c:pt>
                <c:pt idx="38">
                  <c:v>0.75</c:v>
                </c:pt>
                <c:pt idx="39">
                  <c:v>0.74</c:v>
                </c:pt>
                <c:pt idx="40">
                  <c:v>0.73</c:v>
                </c:pt>
                <c:pt idx="41">
                  <c:v>1.0</c:v>
                </c:pt>
                <c:pt idx="42">
                  <c:v>0.67</c:v>
                </c:pt>
                <c:pt idx="43">
                  <c:v>0.65</c:v>
                </c:pt>
                <c:pt idx="44">
                  <c:v>0.67</c:v>
                </c:pt>
                <c:pt idx="45">
                  <c:v>0.76</c:v>
                </c:pt>
                <c:pt idx="46">
                  <c:v>0.78</c:v>
                </c:pt>
                <c:pt idx="47">
                  <c:v>1.0</c:v>
                </c:pt>
                <c:pt idx="48">
                  <c:v>0.77</c:v>
                </c:pt>
                <c:pt idx="49">
                  <c:v>0.76</c:v>
                </c:pt>
                <c:pt idx="50">
                  <c:v>0.86</c:v>
                </c:pt>
                <c:pt idx="51">
                  <c:v>0.68</c:v>
                </c:pt>
                <c:pt idx="52">
                  <c:v>0.66</c:v>
                </c:pt>
                <c:pt idx="53">
                  <c:v>0.86</c:v>
                </c:pt>
                <c:pt idx="54">
                  <c:v>0.82</c:v>
                </c:pt>
                <c:pt idx="55">
                  <c:v>0.81</c:v>
                </c:pt>
                <c:pt idx="56">
                  <c:v>1.0</c:v>
                </c:pt>
                <c:pt idx="57">
                  <c:v>0.78</c:v>
                </c:pt>
                <c:pt idx="58">
                  <c:v>0.77</c:v>
                </c:pt>
                <c:pt idx="59">
                  <c:v>0.62</c:v>
                </c:pt>
                <c:pt idx="60">
                  <c:v>0.5</c:v>
                </c:pt>
                <c:pt idx="61">
                  <c:v>0.68</c:v>
                </c:pt>
                <c:pt idx="62">
                  <c:v>0.81</c:v>
                </c:pt>
                <c:pt idx="63">
                  <c:v>0.68</c:v>
                </c:pt>
                <c:pt idx="64">
                  <c:v>0.68</c:v>
                </c:pt>
                <c:pt idx="65">
                  <c:v>0.69</c:v>
                </c:pt>
                <c:pt idx="66">
                  <c:v>0.69</c:v>
                </c:pt>
                <c:pt idx="67">
                  <c:v>0.0</c:v>
                </c:pt>
                <c:pt idx="68">
                  <c:v>0.0</c:v>
                </c:pt>
                <c:pt idx="69">
                  <c:v>0.68</c:v>
                </c:pt>
                <c:pt idx="70">
                  <c:v>0.68</c:v>
                </c:pt>
                <c:pt idx="71">
                  <c:v>0.71</c:v>
                </c:pt>
                <c:pt idx="72">
                  <c:v>0.71</c:v>
                </c:pt>
                <c:pt idx="73">
                  <c:v>0.7</c:v>
                </c:pt>
                <c:pt idx="74">
                  <c:v>0.7</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6-F79C-4075-89CD-B9527A5BD11A}"/>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explained dosing guidelines and considerations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2664768518518518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98B-47ED-8463-2CA30C7B734F}"/>
                </c:ext>
              </c:extLst>
            </c:dLbl>
            <c:dLbl>
              <c:idx val="1"/>
              <c:layout>
                <c:manualLayout>
                  <c:x val="-4.6084888059701491E-2"/>
                  <c:y val="-0.2597106481481481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98B-47ED-8463-2CA30C7B734F}"/>
                </c:ext>
              </c:extLst>
            </c:dLbl>
            <c:dLbl>
              <c:idx val="2"/>
              <c:layout>
                <c:manualLayout>
                  <c:x val="-4.6084888059701491E-2"/>
                  <c:y val="-0.2867754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98B-47ED-8463-2CA30C7B734F}"/>
                </c:ext>
              </c:extLst>
            </c:dLbl>
            <c:dLbl>
              <c:idx val="3"/>
              <c:layout>
                <c:manualLayout>
                  <c:x val="-4.6084888059701491E-2"/>
                  <c:y val="-0.3138402777777777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98B-47ED-8463-2CA30C7B734F}"/>
                </c:ext>
              </c:extLst>
            </c:dLbl>
            <c:dLbl>
              <c:idx val="4"/>
              <c:layout>
                <c:manualLayout>
                  <c:x val="-4.6084888059701491E-2"/>
                  <c:y val="-0.3882685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98B-47ED-8463-2CA30C7B734F}"/>
                </c:ext>
              </c:extLst>
            </c:dLbl>
            <c:dLbl>
              <c:idx val="5"/>
              <c:layout>
                <c:manualLayout>
                  <c:x val="-4.6084888059701491E-2"/>
                  <c:y val="-0.2935416666666666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98B-47ED-8463-2CA30C7B734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0.85</c:v>
                </c:pt>
                <c:pt idx="1">
                  <c:v>0.85</c:v>
                </c:pt>
                <c:pt idx="2">
                  <c:v>0.0</c:v>
                </c:pt>
                <c:pt idx="3">
                  <c:v>0.0</c:v>
                </c:pt>
                <c:pt idx="4">
                  <c:v>0.0</c:v>
                </c:pt>
                <c:pt idx="5">
                  <c:v>0.0</c:v>
                </c:pt>
                <c:pt idx="6">
                  <c:v>0.77</c:v>
                </c:pt>
                <c:pt idx="7">
                  <c:v>0.77</c:v>
                </c:pt>
                <c:pt idx="8">
                  <c:v>0.76</c:v>
                </c:pt>
                <c:pt idx="9">
                  <c:v>0.76</c:v>
                </c:pt>
                <c:pt idx="10">
                  <c:v>0.75</c:v>
                </c:pt>
                <c:pt idx="11">
                  <c:v>1.0</c:v>
                </c:pt>
                <c:pt idx="12">
                  <c:v>0.73</c:v>
                </c:pt>
                <c:pt idx="13">
                  <c:v>0.0</c:v>
                </c:pt>
                <c:pt idx="14">
                  <c:v>1.0</c:v>
                </c:pt>
                <c:pt idx="15">
                  <c:v>0.77</c:v>
                </c:pt>
                <c:pt idx="16">
                  <c:v>0.76</c:v>
                </c:pt>
                <c:pt idx="17">
                  <c:v>1.0</c:v>
                </c:pt>
                <c:pt idx="18">
                  <c:v>0.74</c:v>
                </c:pt>
                <c:pt idx="19">
                  <c:v>0.73</c:v>
                </c:pt>
                <c:pt idx="20">
                  <c:v>1.0</c:v>
                </c:pt>
                <c:pt idx="21">
                  <c:v>0.83</c:v>
                </c:pt>
                <c:pt idx="22">
                  <c:v>0.82</c:v>
                </c:pt>
                <c:pt idx="23">
                  <c:v>1.0</c:v>
                </c:pt>
                <c:pt idx="24">
                  <c:v>0.79</c:v>
                </c:pt>
                <c:pt idx="25">
                  <c:v>0.78</c:v>
                </c:pt>
                <c:pt idx="26">
                  <c:v>1.0</c:v>
                </c:pt>
                <c:pt idx="27">
                  <c:v>1.0</c:v>
                </c:pt>
                <c:pt idx="28">
                  <c:v>0.76</c:v>
                </c:pt>
                <c:pt idx="29">
                  <c:v>0.75</c:v>
                </c:pt>
                <c:pt idx="30">
                  <c:v>0.83</c:v>
                </c:pt>
                <c:pt idx="31">
                  <c:v>0.81</c:v>
                </c:pt>
                <c:pt idx="32">
                  <c:v>0.81</c:v>
                </c:pt>
                <c:pt idx="33">
                  <c:v>0.67</c:v>
                </c:pt>
                <c:pt idx="34">
                  <c:v>0.68</c:v>
                </c:pt>
                <c:pt idx="35">
                  <c:v>0.68</c:v>
                </c:pt>
                <c:pt idx="36">
                  <c:v>0.0</c:v>
                </c:pt>
                <c:pt idx="37">
                  <c:v>0.0</c:v>
                </c:pt>
                <c:pt idx="38">
                  <c:v>0.88</c:v>
                </c:pt>
                <c:pt idx="39">
                  <c:v>0.85</c:v>
                </c:pt>
                <c:pt idx="40">
                  <c:v>0.85</c:v>
                </c:pt>
                <c:pt idx="41">
                  <c:v>1.0</c:v>
                </c:pt>
                <c:pt idx="42">
                  <c:v>0.72</c:v>
                </c:pt>
                <c:pt idx="43">
                  <c:v>0.7</c:v>
                </c:pt>
                <c:pt idx="44">
                  <c:v>0.78</c:v>
                </c:pt>
                <c:pt idx="45">
                  <c:v>0.85</c:v>
                </c:pt>
                <c:pt idx="46">
                  <c:v>0.86</c:v>
                </c:pt>
                <c:pt idx="47">
                  <c:v>1.0</c:v>
                </c:pt>
                <c:pt idx="48">
                  <c:v>0.83</c:v>
                </c:pt>
                <c:pt idx="49">
                  <c:v>0.82</c:v>
                </c:pt>
                <c:pt idx="50">
                  <c:v>1.0</c:v>
                </c:pt>
                <c:pt idx="51">
                  <c:v>0.75</c:v>
                </c:pt>
                <c:pt idx="52">
                  <c:v>0.73</c:v>
                </c:pt>
                <c:pt idx="53">
                  <c:v>0.86</c:v>
                </c:pt>
                <c:pt idx="54">
                  <c:v>0.85</c:v>
                </c:pt>
                <c:pt idx="55">
                  <c:v>0.85</c:v>
                </c:pt>
                <c:pt idx="56">
                  <c:v>1.0</c:v>
                </c:pt>
                <c:pt idx="57">
                  <c:v>0.77</c:v>
                </c:pt>
                <c:pt idx="58">
                  <c:v>0.76</c:v>
                </c:pt>
                <c:pt idx="59">
                  <c:v>0.75</c:v>
                </c:pt>
                <c:pt idx="60">
                  <c:v>1.0</c:v>
                </c:pt>
                <c:pt idx="61">
                  <c:v>0.78</c:v>
                </c:pt>
                <c:pt idx="62">
                  <c:v>0.81</c:v>
                </c:pt>
                <c:pt idx="63">
                  <c:v>0.79</c:v>
                </c:pt>
                <c:pt idx="64">
                  <c:v>0.79</c:v>
                </c:pt>
                <c:pt idx="65">
                  <c:v>0.74</c:v>
                </c:pt>
                <c:pt idx="66">
                  <c:v>0.74</c:v>
                </c:pt>
                <c:pt idx="67">
                  <c:v>0.0</c:v>
                </c:pt>
                <c:pt idx="68">
                  <c:v>0.0</c:v>
                </c:pt>
                <c:pt idx="69">
                  <c:v>0.75</c:v>
                </c:pt>
                <c:pt idx="70">
                  <c:v>0.75</c:v>
                </c:pt>
                <c:pt idx="71">
                  <c:v>0.7</c:v>
                </c:pt>
                <c:pt idx="72">
                  <c:v>0.7</c:v>
                </c:pt>
                <c:pt idx="73">
                  <c:v>0.75</c:v>
                </c:pt>
                <c:pt idx="74">
                  <c:v>0.75</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6-498B-47ED-8463-2CA30C7B734F}"/>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performed in discussing efficacy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35E-497D-9F53-5CF27B00C3AC}"/>
                </c:ext>
              </c:extLst>
            </c:dLbl>
            <c:dLbl>
              <c:idx val="1"/>
              <c:layout>
                <c:manualLayout>
                  <c:x val="-4.6084888059701491E-2"/>
                  <c:y val="-0.3984189814814814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35E-497D-9F53-5CF27B00C3AC}"/>
                </c:ext>
              </c:extLst>
            </c:dLbl>
            <c:dLbl>
              <c:idx val="2"/>
              <c:layout>
                <c:manualLayout>
                  <c:x val="-4.6084888059701491E-2"/>
                  <c:y val="-0.2969259259259259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35E-497D-9F53-5CF27B00C3AC}"/>
                </c:ext>
              </c:extLst>
            </c:dLbl>
            <c:dLbl>
              <c:idx val="3"/>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5E-497D-9F53-5CF27B00C3AC}"/>
                </c:ext>
              </c:extLst>
            </c:dLbl>
            <c:dLbl>
              <c:idx val="4"/>
              <c:layout>
                <c:manualLayout>
                  <c:x val="-4.6084888059701491E-2"/>
                  <c:y val="-0.36458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35E-497D-9F53-5CF27B00C3AC}"/>
                </c:ext>
              </c:extLst>
            </c:dLbl>
            <c:dLbl>
              <c:idx val="5"/>
              <c:layout>
                <c:manualLayout>
                  <c:x val="-4.6084888059701491E-2"/>
                  <c:y val="-0.3815023148148148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35E-497D-9F53-5CF27B00C3A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0.79</c:v>
                </c:pt>
                <c:pt idx="1">
                  <c:v>0.79</c:v>
                </c:pt>
                <c:pt idx="2">
                  <c:v>0.0</c:v>
                </c:pt>
                <c:pt idx="3">
                  <c:v>0.0</c:v>
                </c:pt>
                <c:pt idx="4">
                  <c:v>0.0</c:v>
                </c:pt>
                <c:pt idx="5">
                  <c:v>0.0</c:v>
                </c:pt>
                <c:pt idx="6">
                  <c:v>0.75</c:v>
                </c:pt>
                <c:pt idx="7">
                  <c:v>0.75</c:v>
                </c:pt>
                <c:pt idx="8">
                  <c:v>0.76</c:v>
                </c:pt>
                <c:pt idx="9">
                  <c:v>0.76</c:v>
                </c:pt>
                <c:pt idx="10">
                  <c:v>0.78</c:v>
                </c:pt>
                <c:pt idx="11">
                  <c:v>1.0</c:v>
                </c:pt>
                <c:pt idx="12">
                  <c:v>0.76</c:v>
                </c:pt>
                <c:pt idx="13">
                  <c:v>0.0</c:v>
                </c:pt>
                <c:pt idx="14">
                  <c:v>1.0</c:v>
                </c:pt>
                <c:pt idx="15">
                  <c:v>0.76</c:v>
                </c:pt>
                <c:pt idx="16">
                  <c:v>0.75</c:v>
                </c:pt>
                <c:pt idx="17">
                  <c:v>1.0</c:v>
                </c:pt>
                <c:pt idx="18">
                  <c:v>0.83</c:v>
                </c:pt>
                <c:pt idx="19">
                  <c:v>0.82</c:v>
                </c:pt>
                <c:pt idx="20">
                  <c:v>0.5</c:v>
                </c:pt>
                <c:pt idx="21">
                  <c:v>0.8</c:v>
                </c:pt>
                <c:pt idx="22">
                  <c:v>0.81</c:v>
                </c:pt>
                <c:pt idx="23">
                  <c:v>0.0</c:v>
                </c:pt>
                <c:pt idx="24">
                  <c:v>0.79</c:v>
                </c:pt>
                <c:pt idx="25">
                  <c:v>0.8</c:v>
                </c:pt>
                <c:pt idx="26">
                  <c:v>1.0</c:v>
                </c:pt>
                <c:pt idx="27">
                  <c:v>0.5</c:v>
                </c:pt>
                <c:pt idx="28">
                  <c:v>0.77</c:v>
                </c:pt>
                <c:pt idx="29">
                  <c:v>0.78</c:v>
                </c:pt>
                <c:pt idx="30">
                  <c:v>0.83</c:v>
                </c:pt>
                <c:pt idx="31">
                  <c:v>0.74</c:v>
                </c:pt>
                <c:pt idx="32">
                  <c:v>0.73</c:v>
                </c:pt>
                <c:pt idx="33">
                  <c:v>0.83</c:v>
                </c:pt>
                <c:pt idx="34">
                  <c:v>0.75</c:v>
                </c:pt>
                <c:pt idx="35">
                  <c:v>0.74</c:v>
                </c:pt>
                <c:pt idx="36">
                  <c:v>0.0</c:v>
                </c:pt>
                <c:pt idx="37">
                  <c:v>0.0</c:v>
                </c:pt>
                <c:pt idx="38">
                  <c:v>0.75</c:v>
                </c:pt>
                <c:pt idx="39">
                  <c:v>0.84</c:v>
                </c:pt>
                <c:pt idx="40">
                  <c:v>0.85</c:v>
                </c:pt>
                <c:pt idx="41">
                  <c:v>1.0</c:v>
                </c:pt>
                <c:pt idx="42">
                  <c:v>0.76</c:v>
                </c:pt>
                <c:pt idx="43">
                  <c:v>0.75</c:v>
                </c:pt>
                <c:pt idx="44">
                  <c:v>0.78</c:v>
                </c:pt>
                <c:pt idx="45">
                  <c:v>0.85</c:v>
                </c:pt>
                <c:pt idx="46">
                  <c:v>0.86</c:v>
                </c:pt>
                <c:pt idx="47">
                  <c:v>1.0</c:v>
                </c:pt>
                <c:pt idx="48">
                  <c:v>0.87</c:v>
                </c:pt>
                <c:pt idx="49">
                  <c:v>0.86</c:v>
                </c:pt>
                <c:pt idx="50">
                  <c:v>0.86</c:v>
                </c:pt>
                <c:pt idx="51">
                  <c:v>0.8</c:v>
                </c:pt>
                <c:pt idx="52">
                  <c:v>0.79</c:v>
                </c:pt>
                <c:pt idx="53">
                  <c:v>0.71</c:v>
                </c:pt>
                <c:pt idx="54">
                  <c:v>0.85</c:v>
                </c:pt>
                <c:pt idx="55">
                  <c:v>0.86</c:v>
                </c:pt>
                <c:pt idx="56">
                  <c:v>1.0</c:v>
                </c:pt>
                <c:pt idx="57">
                  <c:v>0.81</c:v>
                </c:pt>
                <c:pt idx="58">
                  <c:v>0.81</c:v>
                </c:pt>
                <c:pt idx="59">
                  <c:v>0.72</c:v>
                </c:pt>
                <c:pt idx="60">
                  <c:v>1.0</c:v>
                </c:pt>
                <c:pt idx="61">
                  <c:v>0.74</c:v>
                </c:pt>
                <c:pt idx="62">
                  <c:v>0.77</c:v>
                </c:pt>
                <c:pt idx="63">
                  <c:v>0.76</c:v>
                </c:pt>
                <c:pt idx="64">
                  <c:v>0.76</c:v>
                </c:pt>
                <c:pt idx="65">
                  <c:v>0.77</c:v>
                </c:pt>
                <c:pt idx="66">
                  <c:v>0.77</c:v>
                </c:pt>
                <c:pt idx="67">
                  <c:v>0.0</c:v>
                </c:pt>
                <c:pt idx="68">
                  <c:v>0.0</c:v>
                </c:pt>
                <c:pt idx="69">
                  <c:v>0.82</c:v>
                </c:pt>
                <c:pt idx="70">
                  <c:v>0.82</c:v>
                </c:pt>
                <c:pt idx="71">
                  <c:v>0.79</c:v>
                </c:pt>
                <c:pt idx="72">
                  <c:v>0.79</c:v>
                </c:pt>
                <c:pt idx="73">
                  <c:v>0.76</c:v>
                </c:pt>
                <c:pt idx="74">
                  <c:v>0.76</c:v>
                </c:pt>
                <c:pt idx="75">
                  <c:v>0.0</c:v>
                </c:pt>
                <c:pt idx="76">
                  <c:v>0.0</c:v>
                </c:pt>
                <c:pt idx="77">
                  <c:v>0.0</c:v>
                </c:pt>
                <c:pt idx="78">
                  <c:v>0.0</c:v>
                </c:pt>
                <c:pt idx="79">
                  <c:v>0.0</c:v>
                </c:pt>
                <c:pt idx="80">
                  <c:v>0.0</c:v>
                </c:pt>
                <c:pt idx="81">
                  <c:v>0.0</c:v>
                </c:pt>
                <c:pt idx="82">
                  <c:v>0.0</c:v>
                </c:pt>
                <c:pt idx="83">
                  <c:v>0.0</c:v>
                </c:pt>
                <c:pt idx="84">
                  <c:v>0.0</c:v>
                </c:pt>
                <c:pt idx="85">
                  <c:v>0.72</c:v>
                </c:pt>
                <c:pt idx="86">
                  <c:v>0.72</c:v>
                </c:pt>
              </c:numCache>
            </c:numRef>
          </c:val>
          <c:smooth val="0"/>
          <c:extLst>
            <c:ext xmlns:c16="http://schemas.microsoft.com/office/drawing/2014/chart" uri="{C3380CC4-5D6E-409C-BE32-E72D297353CC}">
              <c16:uniqueId val="{00000006-035E-497D-9F53-5CF27B00C3AC}"/>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helped me understand insurance coverage / access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27372685185185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76-4DFB-AC82-D739B65638A4}"/>
                </c:ext>
              </c:extLst>
            </c:dLbl>
            <c:dLbl>
              <c:idx val="1"/>
              <c:layout>
                <c:manualLayout>
                  <c:x val="-4.6084888059701491E-2"/>
                  <c:y val="-0.2326458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76-4DFB-AC82-D739B65638A4}"/>
                </c:ext>
              </c:extLst>
            </c:dLbl>
            <c:dLbl>
              <c:idx val="2"/>
              <c:layout>
                <c:manualLayout>
                  <c:x val="-4.6084888059701491E-2"/>
                  <c:y val="-0.2732430555555555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76-4DFB-AC82-D739B65638A4}"/>
                </c:ext>
              </c:extLst>
            </c:dLbl>
            <c:dLbl>
              <c:idx val="3"/>
              <c:layout>
                <c:manualLayout>
                  <c:x val="-4.6084888059701491E-2"/>
                  <c:y val="-0.2867754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76-4DFB-AC82-D739B65638A4}"/>
                </c:ext>
              </c:extLst>
            </c:dLbl>
            <c:dLbl>
              <c:idx val="4"/>
              <c:layout>
                <c:manualLayout>
                  <c:x val="-4.6084888059701491E-2"/>
                  <c:y val="-0.3003078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E76-4DFB-AC82-D739B65638A4}"/>
                </c:ext>
              </c:extLst>
            </c:dLbl>
            <c:dLbl>
              <c:idx val="5"/>
              <c:layout>
                <c:manualLayout>
                  <c:x val="-4.6084888059701491E-2"/>
                  <c:y val="-0.320606481481481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E76-4DFB-AC82-D739B65638A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0.73</c:v>
                </c:pt>
                <c:pt idx="1">
                  <c:v>0.73</c:v>
                </c:pt>
                <c:pt idx="2">
                  <c:v>0.59</c:v>
                </c:pt>
                <c:pt idx="3">
                  <c:v>0.59</c:v>
                </c:pt>
                <c:pt idx="4">
                  <c:v>0.59</c:v>
                </c:pt>
                <c:pt idx="5">
                  <c:v>0.59</c:v>
                </c:pt>
                <c:pt idx="6">
                  <c:v>0.71</c:v>
                </c:pt>
                <c:pt idx="7">
                  <c:v>0.71</c:v>
                </c:pt>
                <c:pt idx="8">
                  <c:v>0.7</c:v>
                </c:pt>
                <c:pt idx="9">
                  <c:v>0.7</c:v>
                </c:pt>
                <c:pt idx="10">
                  <c:v>0.75</c:v>
                </c:pt>
                <c:pt idx="11">
                  <c:v>1.0</c:v>
                </c:pt>
                <c:pt idx="12">
                  <c:v>0.74</c:v>
                </c:pt>
                <c:pt idx="13">
                  <c:v>0.5</c:v>
                </c:pt>
                <c:pt idx="14">
                  <c:v>1.0</c:v>
                </c:pt>
                <c:pt idx="15">
                  <c:v>0.73</c:v>
                </c:pt>
                <c:pt idx="16">
                  <c:v>0.72</c:v>
                </c:pt>
                <c:pt idx="17">
                  <c:v>0.0</c:v>
                </c:pt>
                <c:pt idx="18">
                  <c:v>0.75</c:v>
                </c:pt>
                <c:pt idx="19">
                  <c:v>0.78</c:v>
                </c:pt>
                <c:pt idx="20">
                  <c:v>0.5</c:v>
                </c:pt>
                <c:pt idx="21">
                  <c:v>0.78</c:v>
                </c:pt>
                <c:pt idx="22">
                  <c:v>0.79</c:v>
                </c:pt>
                <c:pt idx="23">
                  <c:v>1.0</c:v>
                </c:pt>
                <c:pt idx="24">
                  <c:v>0.8</c:v>
                </c:pt>
                <c:pt idx="25">
                  <c:v>0.8</c:v>
                </c:pt>
                <c:pt idx="26">
                  <c:v>1.0</c:v>
                </c:pt>
                <c:pt idx="27">
                  <c:v>1.0</c:v>
                </c:pt>
                <c:pt idx="28">
                  <c:v>0.77</c:v>
                </c:pt>
                <c:pt idx="29">
                  <c:v>0.76</c:v>
                </c:pt>
                <c:pt idx="30">
                  <c:v>0.67</c:v>
                </c:pt>
                <c:pt idx="31">
                  <c:v>0.8</c:v>
                </c:pt>
                <c:pt idx="32">
                  <c:v>0.81</c:v>
                </c:pt>
                <c:pt idx="33">
                  <c:v>0.83</c:v>
                </c:pt>
                <c:pt idx="34">
                  <c:v>0.76</c:v>
                </c:pt>
                <c:pt idx="35">
                  <c:v>0.76</c:v>
                </c:pt>
                <c:pt idx="36">
                  <c:v>0.73</c:v>
                </c:pt>
                <c:pt idx="37">
                  <c:v>0.73</c:v>
                </c:pt>
                <c:pt idx="38">
                  <c:v>0.88</c:v>
                </c:pt>
                <c:pt idx="39">
                  <c:v>0.77</c:v>
                </c:pt>
                <c:pt idx="40">
                  <c:v>0.76</c:v>
                </c:pt>
                <c:pt idx="41">
                  <c:v>1.0</c:v>
                </c:pt>
                <c:pt idx="42">
                  <c:v>0.75</c:v>
                </c:pt>
                <c:pt idx="43">
                  <c:v>0.74</c:v>
                </c:pt>
                <c:pt idx="44">
                  <c:v>0.78</c:v>
                </c:pt>
                <c:pt idx="45">
                  <c:v>0.79</c:v>
                </c:pt>
                <c:pt idx="46">
                  <c:v>0.79</c:v>
                </c:pt>
                <c:pt idx="47">
                  <c:v>1.0</c:v>
                </c:pt>
                <c:pt idx="48">
                  <c:v>0.83</c:v>
                </c:pt>
                <c:pt idx="49">
                  <c:v>0.82</c:v>
                </c:pt>
                <c:pt idx="50">
                  <c:v>0.57</c:v>
                </c:pt>
                <c:pt idx="51">
                  <c:v>0.82</c:v>
                </c:pt>
                <c:pt idx="52">
                  <c:v>0.84</c:v>
                </c:pt>
                <c:pt idx="53">
                  <c:v>0.71</c:v>
                </c:pt>
                <c:pt idx="54">
                  <c:v>0.82</c:v>
                </c:pt>
                <c:pt idx="55">
                  <c:v>0.83</c:v>
                </c:pt>
                <c:pt idx="56">
                  <c:v>1.0</c:v>
                </c:pt>
                <c:pt idx="57">
                  <c:v>0.74</c:v>
                </c:pt>
                <c:pt idx="58">
                  <c:v>0.73</c:v>
                </c:pt>
                <c:pt idx="59">
                  <c:v>0.7</c:v>
                </c:pt>
                <c:pt idx="60">
                  <c:v>0.5</c:v>
                </c:pt>
                <c:pt idx="61">
                  <c:v>0.72</c:v>
                </c:pt>
                <c:pt idx="62">
                  <c:v>0.77</c:v>
                </c:pt>
                <c:pt idx="63">
                  <c:v>0.78</c:v>
                </c:pt>
                <c:pt idx="64">
                  <c:v>0.78</c:v>
                </c:pt>
                <c:pt idx="65">
                  <c:v>0.72</c:v>
                </c:pt>
                <c:pt idx="66">
                  <c:v>0.72</c:v>
                </c:pt>
                <c:pt idx="67">
                  <c:v>0.82</c:v>
                </c:pt>
                <c:pt idx="68">
                  <c:v>0.82</c:v>
                </c:pt>
                <c:pt idx="69">
                  <c:v>0.71</c:v>
                </c:pt>
                <c:pt idx="70">
                  <c:v>0.71</c:v>
                </c:pt>
                <c:pt idx="71">
                  <c:v>0.67</c:v>
                </c:pt>
                <c:pt idx="72">
                  <c:v>0.67</c:v>
                </c:pt>
                <c:pt idx="73">
                  <c:v>0.71</c:v>
                </c:pt>
                <c:pt idx="74">
                  <c:v>0.71</c:v>
                </c:pt>
                <c:pt idx="75">
                  <c:v>0.76</c:v>
                </c:pt>
                <c:pt idx="76">
                  <c:v>0.76</c:v>
                </c:pt>
                <c:pt idx="77">
                  <c:v>0.79</c:v>
                </c:pt>
                <c:pt idx="78">
                  <c:v>0.79</c:v>
                </c:pt>
                <c:pt idx="79">
                  <c:v>0.68</c:v>
                </c:pt>
                <c:pt idx="80">
                  <c:v>0.68</c:v>
                </c:pt>
                <c:pt idx="81">
                  <c:v>0.71</c:v>
                </c:pt>
                <c:pt idx="82">
                  <c:v>0.71</c:v>
                </c:pt>
                <c:pt idx="83">
                  <c:v>0.85</c:v>
                </c:pt>
                <c:pt idx="84">
                  <c:v>0.85</c:v>
                </c:pt>
                <c:pt idx="85">
                  <c:v>0.59</c:v>
                </c:pt>
                <c:pt idx="86">
                  <c:v>0.59</c:v>
                </c:pt>
              </c:numCache>
            </c:numRef>
          </c:val>
          <c:smooth val="0"/>
          <c:extLst>
            <c:ext xmlns:c16="http://schemas.microsoft.com/office/drawing/2014/chart" uri="{C3380CC4-5D6E-409C-BE32-E72D297353CC}">
              <c16:uniqueId val="{00000006-FE76-4DFB-AC82-D739B65638A4}"/>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helped me understand insurance coverage / access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219113425925925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F48-4FDC-8E31-8679AED35AC8}"/>
                </c:ext>
              </c:extLst>
            </c:dLbl>
            <c:dLbl>
              <c:idx val="1"/>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F48-4FDC-8E31-8679AED35AC8}"/>
                </c:ext>
              </c:extLst>
            </c:dLbl>
            <c:dLbl>
              <c:idx val="2"/>
              <c:layout>
                <c:manualLayout>
                  <c:x val="-4.6084888059701491E-2"/>
                  <c:y val="-0.3003078703703703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F48-4FDC-8E31-8679AED35AC8}"/>
                </c:ext>
              </c:extLst>
            </c:dLbl>
            <c:dLbl>
              <c:idx val="3"/>
              <c:layout>
                <c:manualLayout>
                  <c:x val="-4.6084888059701491E-2"/>
                  <c:y val="-0.2055810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F48-4FDC-8E31-8679AED35AC8}"/>
                </c:ext>
              </c:extLst>
            </c:dLbl>
            <c:dLbl>
              <c:idx val="4"/>
              <c:layout>
                <c:manualLayout>
                  <c:x val="-4.6084888059701491E-2"/>
                  <c:y val="-0.1920486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F48-4FDC-8E31-8679AED35AC8}"/>
                </c:ext>
              </c:extLst>
            </c:dLbl>
            <c:dLbl>
              <c:idx val="5"/>
              <c:layout>
                <c:manualLayout>
                  <c:x val="-4.6084888059701491E-2"/>
                  <c:y val="-0.2326458333333333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F48-4FDC-8E31-8679AED35AC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0.73</c:v>
                </c:pt>
                <c:pt idx="1">
                  <c:v>0.73</c:v>
                </c:pt>
                <c:pt idx="2">
                  <c:v>0.59</c:v>
                </c:pt>
                <c:pt idx="3">
                  <c:v>0.59</c:v>
                </c:pt>
                <c:pt idx="4">
                  <c:v>0.59</c:v>
                </c:pt>
                <c:pt idx="5">
                  <c:v>0.59</c:v>
                </c:pt>
                <c:pt idx="6">
                  <c:v>0.71</c:v>
                </c:pt>
                <c:pt idx="7">
                  <c:v>0.71</c:v>
                </c:pt>
                <c:pt idx="8">
                  <c:v>0.7</c:v>
                </c:pt>
                <c:pt idx="9">
                  <c:v>0.7</c:v>
                </c:pt>
                <c:pt idx="10">
                  <c:v>0.75</c:v>
                </c:pt>
                <c:pt idx="11">
                  <c:v>1.0</c:v>
                </c:pt>
                <c:pt idx="12">
                  <c:v>0.74</c:v>
                </c:pt>
                <c:pt idx="13">
                  <c:v>0.5</c:v>
                </c:pt>
                <c:pt idx="14">
                  <c:v>1.0</c:v>
                </c:pt>
                <c:pt idx="15">
                  <c:v>0.73</c:v>
                </c:pt>
                <c:pt idx="16">
                  <c:v>0.72</c:v>
                </c:pt>
                <c:pt idx="17">
                  <c:v>0.0</c:v>
                </c:pt>
                <c:pt idx="18">
                  <c:v>0.75</c:v>
                </c:pt>
                <c:pt idx="19">
                  <c:v>0.78</c:v>
                </c:pt>
                <c:pt idx="20">
                  <c:v>0.5</c:v>
                </c:pt>
                <c:pt idx="21">
                  <c:v>0.78</c:v>
                </c:pt>
                <c:pt idx="22">
                  <c:v>0.79</c:v>
                </c:pt>
                <c:pt idx="23">
                  <c:v>1.0</c:v>
                </c:pt>
                <c:pt idx="24">
                  <c:v>0.8</c:v>
                </c:pt>
                <c:pt idx="25">
                  <c:v>0.8</c:v>
                </c:pt>
                <c:pt idx="26">
                  <c:v>1.0</c:v>
                </c:pt>
                <c:pt idx="27">
                  <c:v>1.0</c:v>
                </c:pt>
                <c:pt idx="28">
                  <c:v>0.77</c:v>
                </c:pt>
                <c:pt idx="29">
                  <c:v>0.76</c:v>
                </c:pt>
                <c:pt idx="30">
                  <c:v>0.67</c:v>
                </c:pt>
                <c:pt idx="31">
                  <c:v>0.8</c:v>
                </c:pt>
                <c:pt idx="32">
                  <c:v>0.81</c:v>
                </c:pt>
                <c:pt idx="33">
                  <c:v>0.83</c:v>
                </c:pt>
                <c:pt idx="34">
                  <c:v>0.76</c:v>
                </c:pt>
                <c:pt idx="35">
                  <c:v>0.76</c:v>
                </c:pt>
                <c:pt idx="36">
                  <c:v>0.73</c:v>
                </c:pt>
                <c:pt idx="37">
                  <c:v>0.73</c:v>
                </c:pt>
                <c:pt idx="38">
                  <c:v>0.88</c:v>
                </c:pt>
                <c:pt idx="39">
                  <c:v>0.77</c:v>
                </c:pt>
                <c:pt idx="40">
                  <c:v>0.76</c:v>
                </c:pt>
                <c:pt idx="41">
                  <c:v>1.0</c:v>
                </c:pt>
                <c:pt idx="42">
                  <c:v>0.75</c:v>
                </c:pt>
                <c:pt idx="43">
                  <c:v>0.74</c:v>
                </c:pt>
                <c:pt idx="44">
                  <c:v>0.78</c:v>
                </c:pt>
                <c:pt idx="45">
                  <c:v>0.79</c:v>
                </c:pt>
                <c:pt idx="46">
                  <c:v>0.79</c:v>
                </c:pt>
                <c:pt idx="47">
                  <c:v>1.0</c:v>
                </c:pt>
                <c:pt idx="48">
                  <c:v>0.83</c:v>
                </c:pt>
                <c:pt idx="49">
                  <c:v>0.82</c:v>
                </c:pt>
                <c:pt idx="50">
                  <c:v>0.57</c:v>
                </c:pt>
                <c:pt idx="51">
                  <c:v>0.82</c:v>
                </c:pt>
                <c:pt idx="52">
                  <c:v>0.84</c:v>
                </c:pt>
                <c:pt idx="53">
                  <c:v>0.71</c:v>
                </c:pt>
                <c:pt idx="54">
                  <c:v>0.82</c:v>
                </c:pt>
                <c:pt idx="55">
                  <c:v>0.83</c:v>
                </c:pt>
                <c:pt idx="56">
                  <c:v>1.0</c:v>
                </c:pt>
                <c:pt idx="57">
                  <c:v>0.74</c:v>
                </c:pt>
                <c:pt idx="58">
                  <c:v>0.73</c:v>
                </c:pt>
                <c:pt idx="59">
                  <c:v>0.7</c:v>
                </c:pt>
                <c:pt idx="60">
                  <c:v>0.5</c:v>
                </c:pt>
                <c:pt idx="61">
                  <c:v>0.72</c:v>
                </c:pt>
                <c:pt idx="62">
                  <c:v>0.77</c:v>
                </c:pt>
                <c:pt idx="63">
                  <c:v>0.78</c:v>
                </c:pt>
                <c:pt idx="64">
                  <c:v>0.78</c:v>
                </c:pt>
                <c:pt idx="65">
                  <c:v>0.72</c:v>
                </c:pt>
                <c:pt idx="66">
                  <c:v>0.72</c:v>
                </c:pt>
                <c:pt idx="67">
                  <c:v>0.82</c:v>
                </c:pt>
                <c:pt idx="68">
                  <c:v>0.82</c:v>
                </c:pt>
                <c:pt idx="69">
                  <c:v>0.71</c:v>
                </c:pt>
                <c:pt idx="70">
                  <c:v>0.71</c:v>
                </c:pt>
                <c:pt idx="71">
                  <c:v>0.67</c:v>
                </c:pt>
                <c:pt idx="72">
                  <c:v>0.67</c:v>
                </c:pt>
                <c:pt idx="73">
                  <c:v>0.71</c:v>
                </c:pt>
                <c:pt idx="74">
                  <c:v>0.71</c:v>
                </c:pt>
                <c:pt idx="75">
                  <c:v>0.76</c:v>
                </c:pt>
                <c:pt idx="76">
                  <c:v>0.76</c:v>
                </c:pt>
                <c:pt idx="77">
                  <c:v>0.79</c:v>
                </c:pt>
                <c:pt idx="78">
                  <c:v>0.79</c:v>
                </c:pt>
                <c:pt idx="79">
                  <c:v>0.68</c:v>
                </c:pt>
                <c:pt idx="80">
                  <c:v>0.68</c:v>
                </c:pt>
                <c:pt idx="81">
                  <c:v>0.71</c:v>
                </c:pt>
                <c:pt idx="82">
                  <c:v>0.71</c:v>
                </c:pt>
                <c:pt idx="83">
                  <c:v>0.85</c:v>
                </c:pt>
                <c:pt idx="84">
                  <c:v>0.85</c:v>
                </c:pt>
                <c:pt idx="85">
                  <c:v>0.59</c:v>
                </c:pt>
                <c:pt idx="86">
                  <c:v>0.59</c:v>
                </c:pt>
              </c:numCache>
            </c:numRef>
          </c:val>
          <c:smooth val="0"/>
          <c:extLst>
            <c:ext xmlns:c16="http://schemas.microsoft.com/office/drawing/2014/chart" uri="{C3380CC4-5D6E-409C-BE32-E72D297353CC}">
              <c16:uniqueId val="{00000000-4F48-4FDC-8E31-8679AED35AC8}"/>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useful the information provided to me by the rep was about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1852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9E5-4C11-BE60-9FA1917A1184}"/>
                </c:ext>
              </c:extLst>
            </c:dLbl>
            <c:dLbl>
              <c:idx val="1"/>
              <c:layout>
                <c:manualLayout>
                  <c:x val="-4.6084888059701491E-2"/>
                  <c:y val="-0.144685185185185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9E5-4C11-BE60-9FA1917A1184}"/>
                </c:ext>
              </c:extLst>
            </c:dLbl>
            <c:dLbl>
              <c:idx val="2"/>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9E5-4C11-BE60-9FA1917A1184}"/>
                </c:ext>
              </c:extLst>
            </c:dLbl>
            <c:dLbl>
              <c:idx val="3"/>
              <c:layout>
                <c:manualLayout>
                  <c:x val="-4.6084888059701491E-2"/>
                  <c:y val="-0.2055810185185185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9E5-4C11-BE60-9FA1917A1184}"/>
                </c:ext>
              </c:extLst>
            </c:dLbl>
            <c:dLbl>
              <c:idx val="4"/>
              <c:layout>
                <c:manualLayout>
                  <c:x val="-4.6084888059701491E-2"/>
                  <c:y val="-0.1920486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9E5-4C11-BE60-9FA1917A1184}"/>
                </c:ext>
              </c:extLst>
            </c:dLbl>
            <c:dLbl>
              <c:idx val="5"/>
              <c:layout>
                <c:manualLayout>
                  <c:x val="-4.6084888059701491E-2"/>
                  <c:y val="-0.198814814814814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9E5-4C11-BE60-9FA1917A118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0.77</c:v>
                </c:pt>
                <c:pt idx="3">
                  <c:v>0.77</c:v>
                </c:pt>
                <c:pt idx="4">
                  <c:v>0.77</c:v>
                </c:pt>
                <c:pt idx="5">
                  <c:v>0.77</c:v>
                </c:pt>
                <c:pt idx="6">
                  <c:v>0.74</c:v>
                </c:pt>
                <c:pt idx="7">
                  <c:v>0.74</c:v>
                </c:pt>
                <c:pt idx="8">
                  <c:v>0.74</c:v>
                </c:pt>
                <c:pt idx="9">
                  <c:v>0.74</c:v>
                </c:pt>
                <c:pt idx="10">
                  <c:v>0.79</c:v>
                </c:pt>
                <c:pt idx="11">
                  <c:v>1.0</c:v>
                </c:pt>
                <c:pt idx="12">
                  <c:v>0.77</c:v>
                </c:pt>
                <c:pt idx="13">
                  <c:v>0.0</c:v>
                </c:pt>
                <c:pt idx="14">
                  <c:v>1.0</c:v>
                </c:pt>
                <c:pt idx="15">
                  <c:v>0.77</c:v>
                </c:pt>
                <c:pt idx="16">
                  <c:v>0.76</c:v>
                </c:pt>
                <c:pt idx="17">
                  <c:v>1.0</c:v>
                </c:pt>
                <c:pt idx="18">
                  <c:v>0.8</c:v>
                </c:pt>
                <c:pt idx="19">
                  <c:v>0.79</c:v>
                </c:pt>
                <c:pt idx="20">
                  <c:v>1.0</c:v>
                </c:pt>
                <c:pt idx="21">
                  <c:v>0.78</c:v>
                </c:pt>
                <c:pt idx="22">
                  <c:v>0.78</c:v>
                </c:pt>
                <c:pt idx="23">
                  <c:v>1.0</c:v>
                </c:pt>
                <c:pt idx="24">
                  <c:v>0.79</c:v>
                </c:pt>
                <c:pt idx="25">
                  <c:v>0.78</c:v>
                </c:pt>
                <c:pt idx="26">
                  <c:v>1.0</c:v>
                </c:pt>
                <c:pt idx="27">
                  <c:v>1.0</c:v>
                </c:pt>
                <c:pt idx="28">
                  <c:v>0.77</c:v>
                </c:pt>
                <c:pt idx="29">
                  <c:v>0.76</c:v>
                </c:pt>
                <c:pt idx="30">
                  <c:v>0.83</c:v>
                </c:pt>
                <c:pt idx="31">
                  <c:v>0.81</c:v>
                </c:pt>
                <c:pt idx="32">
                  <c:v>0.81</c:v>
                </c:pt>
                <c:pt idx="33">
                  <c:v>0.67</c:v>
                </c:pt>
                <c:pt idx="34">
                  <c:v>0.67</c:v>
                </c:pt>
                <c:pt idx="35">
                  <c:v>0.67</c:v>
                </c:pt>
                <c:pt idx="36">
                  <c:v>0.76</c:v>
                </c:pt>
                <c:pt idx="37">
                  <c:v>0.76</c:v>
                </c:pt>
                <c:pt idx="38">
                  <c:v>0.75</c:v>
                </c:pt>
                <c:pt idx="39">
                  <c:v>0.83</c:v>
                </c:pt>
                <c:pt idx="40">
                  <c:v>0.84</c:v>
                </c:pt>
                <c:pt idx="41">
                  <c:v>1.0</c:v>
                </c:pt>
                <c:pt idx="42">
                  <c:v>0.77</c:v>
                </c:pt>
                <c:pt idx="43">
                  <c:v>0.76</c:v>
                </c:pt>
                <c:pt idx="44">
                  <c:v>0.78</c:v>
                </c:pt>
                <c:pt idx="45">
                  <c:v>0.87</c:v>
                </c:pt>
                <c:pt idx="46">
                  <c:v>0.88</c:v>
                </c:pt>
                <c:pt idx="47">
                  <c:v>1.0</c:v>
                </c:pt>
                <c:pt idx="48">
                  <c:v>0.85</c:v>
                </c:pt>
                <c:pt idx="49">
                  <c:v>0.83</c:v>
                </c:pt>
                <c:pt idx="50">
                  <c:v>0.86</c:v>
                </c:pt>
                <c:pt idx="51">
                  <c:v>0.83</c:v>
                </c:pt>
                <c:pt idx="52">
                  <c:v>0.83</c:v>
                </c:pt>
                <c:pt idx="53">
                  <c:v>0.86</c:v>
                </c:pt>
                <c:pt idx="54">
                  <c:v>0.81</c:v>
                </c:pt>
                <c:pt idx="55">
                  <c:v>0.8</c:v>
                </c:pt>
                <c:pt idx="56">
                  <c:v>0.67</c:v>
                </c:pt>
                <c:pt idx="57">
                  <c:v>0.74</c:v>
                </c:pt>
                <c:pt idx="58">
                  <c:v>0.75</c:v>
                </c:pt>
                <c:pt idx="59">
                  <c:v>0.66</c:v>
                </c:pt>
                <c:pt idx="60">
                  <c:v>0.5</c:v>
                </c:pt>
                <c:pt idx="61">
                  <c:v>0.68</c:v>
                </c:pt>
                <c:pt idx="62">
                  <c:v>0.73</c:v>
                </c:pt>
                <c:pt idx="63">
                  <c:v>0.83</c:v>
                </c:pt>
                <c:pt idx="64">
                  <c:v>0.83</c:v>
                </c:pt>
                <c:pt idx="65">
                  <c:v>0.73</c:v>
                </c:pt>
                <c:pt idx="66">
                  <c:v>0.73</c:v>
                </c:pt>
                <c:pt idx="67">
                  <c:v>0.85</c:v>
                </c:pt>
                <c:pt idx="68">
                  <c:v>0.85</c:v>
                </c:pt>
                <c:pt idx="69">
                  <c:v>0.76</c:v>
                </c:pt>
                <c:pt idx="70">
                  <c:v>0.76</c:v>
                </c:pt>
                <c:pt idx="71">
                  <c:v>0.74</c:v>
                </c:pt>
                <c:pt idx="72">
                  <c:v>0.74</c:v>
                </c:pt>
                <c:pt idx="73">
                  <c:v>0.0</c:v>
                </c:pt>
                <c:pt idx="74">
                  <c:v>0.0</c:v>
                </c:pt>
                <c:pt idx="75">
                  <c:v>0.74</c:v>
                </c:pt>
                <c:pt idx="76">
                  <c:v>0.74</c:v>
                </c:pt>
                <c:pt idx="77">
                  <c:v>0.82</c:v>
                </c:pt>
                <c:pt idx="78">
                  <c:v>0.82</c:v>
                </c:pt>
                <c:pt idx="79">
                  <c:v>0.78</c:v>
                </c:pt>
                <c:pt idx="80">
                  <c:v>0.78</c:v>
                </c:pt>
                <c:pt idx="81">
                  <c:v>0.78</c:v>
                </c:pt>
                <c:pt idx="82">
                  <c:v>0.78</c:v>
                </c:pt>
                <c:pt idx="83">
                  <c:v>0.77</c:v>
                </c:pt>
                <c:pt idx="84">
                  <c:v>0.77</c:v>
                </c:pt>
                <c:pt idx="85">
                  <c:v>0.71</c:v>
                </c:pt>
                <c:pt idx="86">
                  <c:v>0.71</c:v>
                </c:pt>
              </c:numCache>
            </c:numRef>
          </c:val>
          <c:smooth val="0"/>
          <c:extLst>
            <c:ext xmlns:c16="http://schemas.microsoft.com/office/drawing/2014/chart" uri="{C3380CC4-5D6E-409C-BE32-E72D297353CC}">
              <c16:uniqueId val="{00000006-09E5-4C11-BE60-9FA1917A1184}"/>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useful the information provided to me was about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144685185185185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50F-4513-8039-7A2D052C971A}"/>
                </c:ext>
              </c:extLst>
            </c:dLbl>
            <c:dLbl>
              <c:idx val="1"/>
              <c:layout>
                <c:manualLayout>
                  <c:x val="-4.6084888059701491E-2"/>
                  <c:y val="-0.2800092592592592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50F-4513-8039-7A2D052C971A}"/>
                </c:ext>
              </c:extLst>
            </c:dLbl>
            <c:dLbl>
              <c:idx val="2"/>
              <c:layout>
                <c:manualLayout>
                  <c:x val="-4.6084888059701491E-2"/>
                  <c:y val="-0.3070740740740740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50F-4513-8039-7A2D052C971A}"/>
                </c:ext>
              </c:extLst>
            </c:dLbl>
            <c:dLbl>
              <c:idx val="3"/>
              <c:layout>
                <c:manualLayout>
                  <c:x val="-4.6084888059701491E-2"/>
                  <c:y val="-0.212347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50F-4513-8039-7A2D052C971A}"/>
                </c:ext>
              </c:extLst>
            </c:dLbl>
            <c:dLbl>
              <c:idx val="4"/>
              <c:layout>
                <c:manualLayout>
                  <c:x val="-4.6084888059701491E-2"/>
                  <c:y val="-0.131152777777777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50F-4513-8039-7A2D052C971A}"/>
                </c:ext>
              </c:extLst>
            </c:dLbl>
            <c:dLbl>
              <c:idx val="5"/>
              <c:layout>
                <c:manualLayout>
                  <c:x val="-4.6084888059701491E-2"/>
                  <c:y val="-0.3206064814814814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50F-4513-8039-7A2D052C971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0.76</c:v>
                </c:pt>
                <c:pt idx="3">
                  <c:v>0.76</c:v>
                </c:pt>
                <c:pt idx="4">
                  <c:v>0.76</c:v>
                </c:pt>
                <c:pt idx="5">
                  <c:v>0.76</c:v>
                </c:pt>
                <c:pt idx="6">
                  <c:v>0.65</c:v>
                </c:pt>
                <c:pt idx="7">
                  <c:v>0.65</c:v>
                </c:pt>
                <c:pt idx="8">
                  <c:v>0.64</c:v>
                </c:pt>
                <c:pt idx="9">
                  <c:v>0.64</c:v>
                </c:pt>
                <c:pt idx="10">
                  <c:v>0.73</c:v>
                </c:pt>
                <c:pt idx="11">
                  <c:v>1.0</c:v>
                </c:pt>
                <c:pt idx="12">
                  <c:v>0.71</c:v>
                </c:pt>
                <c:pt idx="13">
                  <c:v>0.0</c:v>
                </c:pt>
                <c:pt idx="14">
                  <c:v>1.0</c:v>
                </c:pt>
                <c:pt idx="15">
                  <c:v>0.77</c:v>
                </c:pt>
                <c:pt idx="16">
                  <c:v>0.76</c:v>
                </c:pt>
                <c:pt idx="17">
                  <c:v>0.5</c:v>
                </c:pt>
                <c:pt idx="18">
                  <c:v>0.74</c:v>
                </c:pt>
                <c:pt idx="19">
                  <c:v>0.75</c:v>
                </c:pt>
                <c:pt idx="20">
                  <c:v>1.0</c:v>
                </c:pt>
                <c:pt idx="21">
                  <c:v>0.84</c:v>
                </c:pt>
                <c:pt idx="22">
                  <c:v>0.84</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0.79</c:v>
                </c:pt>
                <c:pt idx="37">
                  <c:v>0.79</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0.8</c:v>
                </c:pt>
                <c:pt idx="68">
                  <c:v>0.8</c:v>
                </c:pt>
                <c:pt idx="69">
                  <c:v>0.0</c:v>
                </c:pt>
                <c:pt idx="70">
                  <c:v>0.0</c:v>
                </c:pt>
                <c:pt idx="71">
                  <c:v>0.0</c:v>
                </c:pt>
                <c:pt idx="72">
                  <c:v>0.0</c:v>
                </c:pt>
                <c:pt idx="73">
                  <c:v>0.0</c:v>
                </c:pt>
                <c:pt idx="74">
                  <c:v>0.0</c:v>
                </c:pt>
                <c:pt idx="75">
                  <c:v>0.76</c:v>
                </c:pt>
                <c:pt idx="76">
                  <c:v>0.76</c:v>
                </c:pt>
                <c:pt idx="77">
                  <c:v>0.76</c:v>
                </c:pt>
                <c:pt idx="78">
                  <c:v>0.76</c:v>
                </c:pt>
                <c:pt idx="79">
                  <c:v>0.75</c:v>
                </c:pt>
                <c:pt idx="80">
                  <c:v>0.75</c:v>
                </c:pt>
                <c:pt idx="81">
                  <c:v>0.67</c:v>
                </c:pt>
                <c:pt idx="82">
                  <c:v>0.67</c:v>
                </c:pt>
                <c:pt idx="83">
                  <c:v>0.83</c:v>
                </c:pt>
                <c:pt idx="84">
                  <c:v>0.83</c:v>
                </c:pt>
                <c:pt idx="85">
                  <c:v>0.66</c:v>
                </c:pt>
                <c:pt idx="86">
                  <c:v>0.66</c:v>
                </c:pt>
              </c:numCache>
            </c:numRef>
          </c:val>
          <c:smooth val="0"/>
          <c:extLst>
            <c:ext xmlns:c16="http://schemas.microsoft.com/office/drawing/2014/chart" uri="{C3380CC4-5D6E-409C-BE32-E72D297353CC}">
              <c16:uniqueId val="{00000006-750F-4513-8039-7A2D052C971A}"/>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articulated CREON’s differentiation as a treatment for exocrine pancreatic insufficiency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1514513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ECA-4D2E-8085-E454CE83308F}"/>
                </c:ext>
              </c:extLst>
            </c:dLbl>
            <c:dLbl>
              <c:idx val="1"/>
              <c:layout>
                <c:manualLayout>
                  <c:x val="-4.6084888059701491E-2"/>
                  <c:y val="-0.2123472222222222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ECA-4D2E-8085-E454CE83308F}"/>
                </c:ext>
              </c:extLst>
            </c:dLbl>
            <c:dLbl>
              <c:idx val="2"/>
              <c:layout>
                <c:manualLayout>
                  <c:x val="-4.6084888059701491E-2"/>
                  <c:y val="-0.21911342592592592"/>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ECA-4D2E-8085-E454CE83308F}"/>
                </c:ext>
              </c:extLst>
            </c:dLbl>
            <c:dLbl>
              <c:idx val="3"/>
              <c:layout>
                <c:manualLayout>
                  <c:x val="-4.6084888059701491E-2"/>
                  <c:y val="-0.144685185185185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ECA-4D2E-8085-E454CE83308F}"/>
                </c:ext>
              </c:extLst>
            </c:dLbl>
            <c:dLbl>
              <c:idx val="4"/>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ECA-4D2E-8085-E454CE83308F}"/>
                </c:ext>
              </c:extLst>
            </c:dLbl>
            <c:dLbl>
              <c:idx val="5"/>
              <c:layout>
                <c:manualLayout>
                  <c:x val="-4.6084888059701491E-2"/>
                  <c:y val="-0.198814814814814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ECA-4D2E-8085-E454CE83308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0.77</c:v>
                </c:pt>
                <c:pt idx="1">
                  <c:v>0.77</c:v>
                </c:pt>
                <c:pt idx="2">
                  <c:v>0.0</c:v>
                </c:pt>
                <c:pt idx="3">
                  <c:v>0.0</c:v>
                </c:pt>
                <c:pt idx="4">
                  <c:v>0.0</c:v>
                </c:pt>
                <c:pt idx="5">
                  <c:v>0.0</c:v>
                </c:pt>
                <c:pt idx="6">
                  <c:v>0.62</c:v>
                </c:pt>
                <c:pt idx="7">
                  <c:v>0.62</c:v>
                </c:pt>
                <c:pt idx="8">
                  <c:v>0.67</c:v>
                </c:pt>
                <c:pt idx="9">
                  <c:v>0.67</c:v>
                </c:pt>
                <c:pt idx="10">
                  <c:v>0.73</c:v>
                </c:pt>
                <c:pt idx="11">
                  <c:v>1.0</c:v>
                </c:pt>
                <c:pt idx="12">
                  <c:v>0.71</c:v>
                </c:pt>
                <c:pt idx="13">
                  <c:v>0.0</c:v>
                </c:pt>
                <c:pt idx="14">
                  <c:v>1.0</c:v>
                </c:pt>
                <c:pt idx="15">
                  <c:v>0.8</c:v>
                </c:pt>
                <c:pt idx="16">
                  <c:v>0.79</c:v>
                </c:pt>
                <c:pt idx="17">
                  <c:v>1.0</c:v>
                </c:pt>
                <c:pt idx="18">
                  <c:v>0.84</c:v>
                </c:pt>
                <c:pt idx="19">
                  <c:v>0.84</c:v>
                </c:pt>
                <c:pt idx="20">
                  <c:v>1.0</c:v>
                </c:pt>
                <c:pt idx="21">
                  <c:v>0.74</c:v>
                </c:pt>
                <c:pt idx="22">
                  <c:v>0.73</c:v>
                </c:pt>
                <c:pt idx="23">
                  <c:v>1.0</c:v>
                </c:pt>
                <c:pt idx="24">
                  <c:v>0.76</c:v>
                </c:pt>
                <c:pt idx="25">
                  <c:v>0.75</c:v>
                </c:pt>
                <c:pt idx="26">
                  <c:v>1.0</c:v>
                </c:pt>
                <c:pt idx="27">
                  <c:v>0.5</c:v>
                </c:pt>
                <c:pt idx="28">
                  <c:v>0.77</c:v>
                </c:pt>
                <c:pt idx="29">
                  <c:v>0.78</c:v>
                </c:pt>
                <c:pt idx="30">
                  <c:v>0.67</c:v>
                </c:pt>
                <c:pt idx="31">
                  <c:v>0.7</c:v>
                </c:pt>
                <c:pt idx="32">
                  <c:v>0.7</c:v>
                </c:pt>
                <c:pt idx="33">
                  <c:v>0.5</c:v>
                </c:pt>
                <c:pt idx="34">
                  <c:v>0.67</c:v>
                </c:pt>
                <c:pt idx="35">
                  <c:v>0.68</c:v>
                </c:pt>
                <c:pt idx="36">
                  <c:v>0.0</c:v>
                </c:pt>
                <c:pt idx="37">
                  <c:v>0.0</c:v>
                </c:pt>
                <c:pt idx="38">
                  <c:v>0.75</c:v>
                </c:pt>
                <c:pt idx="39">
                  <c:v>0.74</c:v>
                </c:pt>
                <c:pt idx="40">
                  <c:v>0.73</c:v>
                </c:pt>
                <c:pt idx="41">
                  <c:v>1.0</c:v>
                </c:pt>
                <c:pt idx="42">
                  <c:v>0.67</c:v>
                </c:pt>
                <c:pt idx="43">
                  <c:v>0.65</c:v>
                </c:pt>
                <c:pt idx="44">
                  <c:v>0.67</c:v>
                </c:pt>
                <c:pt idx="45">
                  <c:v>0.76</c:v>
                </c:pt>
                <c:pt idx="46">
                  <c:v>0.78</c:v>
                </c:pt>
                <c:pt idx="47">
                  <c:v>1.0</c:v>
                </c:pt>
                <c:pt idx="48">
                  <c:v>0.77</c:v>
                </c:pt>
                <c:pt idx="49">
                  <c:v>0.76</c:v>
                </c:pt>
                <c:pt idx="50">
                  <c:v>0.86</c:v>
                </c:pt>
                <c:pt idx="51">
                  <c:v>0.68</c:v>
                </c:pt>
                <c:pt idx="52">
                  <c:v>0.66</c:v>
                </c:pt>
                <c:pt idx="53">
                  <c:v>0.86</c:v>
                </c:pt>
                <c:pt idx="54">
                  <c:v>0.82</c:v>
                </c:pt>
                <c:pt idx="55">
                  <c:v>0.81</c:v>
                </c:pt>
                <c:pt idx="56">
                  <c:v>1.0</c:v>
                </c:pt>
                <c:pt idx="57">
                  <c:v>0.78</c:v>
                </c:pt>
                <c:pt idx="58">
                  <c:v>0.77</c:v>
                </c:pt>
                <c:pt idx="59">
                  <c:v>0.62</c:v>
                </c:pt>
                <c:pt idx="60">
                  <c:v>0.5</c:v>
                </c:pt>
                <c:pt idx="61">
                  <c:v>0.68</c:v>
                </c:pt>
                <c:pt idx="62">
                  <c:v>0.81</c:v>
                </c:pt>
                <c:pt idx="63">
                  <c:v>0.68</c:v>
                </c:pt>
                <c:pt idx="64">
                  <c:v>0.68</c:v>
                </c:pt>
                <c:pt idx="65">
                  <c:v>0.69</c:v>
                </c:pt>
                <c:pt idx="66">
                  <c:v>0.69</c:v>
                </c:pt>
                <c:pt idx="67">
                  <c:v>0.0</c:v>
                </c:pt>
                <c:pt idx="68">
                  <c:v>0.0</c:v>
                </c:pt>
                <c:pt idx="69">
                  <c:v>0.68</c:v>
                </c:pt>
                <c:pt idx="70">
                  <c:v>0.68</c:v>
                </c:pt>
                <c:pt idx="71">
                  <c:v>0.71</c:v>
                </c:pt>
                <c:pt idx="72">
                  <c:v>0.71</c:v>
                </c:pt>
                <c:pt idx="73">
                  <c:v>0.7</c:v>
                </c:pt>
                <c:pt idx="74">
                  <c:v>0.7</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6-6ECA-4D2E-8085-E454CE83308F}"/>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explained dosing guidelines and considerations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151451388888888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4AA-40D0-B945-66C39F8BA3A3}"/>
                </c:ext>
              </c:extLst>
            </c:dLbl>
            <c:dLbl>
              <c:idx val="1"/>
              <c:layout>
                <c:manualLayout>
                  <c:x val="-4.6084888059701491E-2"/>
                  <c:y val="-0.24617824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4AA-40D0-B945-66C39F8BA3A3}"/>
                </c:ext>
              </c:extLst>
            </c:dLbl>
            <c:dLbl>
              <c:idx val="2"/>
              <c:layout>
                <c:manualLayout>
                  <c:x val="-4.6084888059701491E-2"/>
                  <c:y val="-0.192048611111111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4AA-40D0-B945-66C39F8BA3A3}"/>
                </c:ext>
              </c:extLst>
            </c:dLbl>
            <c:dLbl>
              <c:idx val="3"/>
              <c:layout>
                <c:manualLayout>
                  <c:x val="-4.6084888059701491E-2"/>
                  <c:y val="-0.1446851851851851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4AA-40D0-B945-66C39F8BA3A3}"/>
                </c:ext>
              </c:extLst>
            </c:dLbl>
            <c:dLbl>
              <c:idx val="4"/>
              <c:layout>
                <c:manualLayout>
                  <c:x val="-4.6084888059701491E-2"/>
                  <c:y val="-0.158217592592592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4AA-40D0-B945-66C39F8BA3A3}"/>
                </c:ext>
              </c:extLst>
            </c:dLbl>
            <c:dLbl>
              <c:idx val="5"/>
              <c:layout>
                <c:manualLayout>
                  <c:x val="-4.6084888059701491E-2"/>
                  <c:y val="-0.1988148148148148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4AA-40D0-B945-66C39F8BA3A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0.85</c:v>
                </c:pt>
                <c:pt idx="1">
                  <c:v>0.85</c:v>
                </c:pt>
                <c:pt idx="2">
                  <c:v>0.0</c:v>
                </c:pt>
                <c:pt idx="3">
                  <c:v>0.0</c:v>
                </c:pt>
                <c:pt idx="4">
                  <c:v>0.0</c:v>
                </c:pt>
                <c:pt idx="5">
                  <c:v>0.0</c:v>
                </c:pt>
                <c:pt idx="6">
                  <c:v>0.77</c:v>
                </c:pt>
                <c:pt idx="7">
                  <c:v>0.77</c:v>
                </c:pt>
                <c:pt idx="8">
                  <c:v>0.76</c:v>
                </c:pt>
                <c:pt idx="9">
                  <c:v>0.76</c:v>
                </c:pt>
                <c:pt idx="10">
                  <c:v>0.75</c:v>
                </c:pt>
                <c:pt idx="11">
                  <c:v>1.0</c:v>
                </c:pt>
                <c:pt idx="12">
                  <c:v>0.73</c:v>
                </c:pt>
                <c:pt idx="13">
                  <c:v>0.0</c:v>
                </c:pt>
                <c:pt idx="14">
                  <c:v>1.0</c:v>
                </c:pt>
                <c:pt idx="15">
                  <c:v>0.77</c:v>
                </c:pt>
                <c:pt idx="16">
                  <c:v>0.76</c:v>
                </c:pt>
                <c:pt idx="17">
                  <c:v>1.0</c:v>
                </c:pt>
                <c:pt idx="18">
                  <c:v>0.74</c:v>
                </c:pt>
                <c:pt idx="19">
                  <c:v>0.73</c:v>
                </c:pt>
                <c:pt idx="20">
                  <c:v>1.0</c:v>
                </c:pt>
                <c:pt idx="21">
                  <c:v>0.83</c:v>
                </c:pt>
                <c:pt idx="22">
                  <c:v>0.82</c:v>
                </c:pt>
                <c:pt idx="23">
                  <c:v>1.0</c:v>
                </c:pt>
                <c:pt idx="24">
                  <c:v>0.79</c:v>
                </c:pt>
                <c:pt idx="25">
                  <c:v>0.78</c:v>
                </c:pt>
                <c:pt idx="26">
                  <c:v>1.0</c:v>
                </c:pt>
                <c:pt idx="27">
                  <c:v>1.0</c:v>
                </c:pt>
                <c:pt idx="28">
                  <c:v>0.76</c:v>
                </c:pt>
                <c:pt idx="29">
                  <c:v>0.75</c:v>
                </c:pt>
                <c:pt idx="30">
                  <c:v>0.83</c:v>
                </c:pt>
                <c:pt idx="31">
                  <c:v>0.81</c:v>
                </c:pt>
                <c:pt idx="32">
                  <c:v>0.81</c:v>
                </c:pt>
                <c:pt idx="33">
                  <c:v>0.67</c:v>
                </c:pt>
                <c:pt idx="34">
                  <c:v>0.68</c:v>
                </c:pt>
                <c:pt idx="35">
                  <c:v>0.68</c:v>
                </c:pt>
                <c:pt idx="36">
                  <c:v>0.0</c:v>
                </c:pt>
                <c:pt idx="37">
                  <c:v>0.0</c:v>
                </c:pt>
                <c:pt idx="38">
                  <c:v>0.88</c:v>
                </c:pt>
                <c:pt idx="39">
                  <c:v>0.85</c:v>
                </c:pt>
                <c:pt idx="40">
                  <c:v>0.85</c:v>
                </c:pt>
                <c:pt idx="41">
                  <c:v>1.0</c:v>
                </c:pt>
                <c:pt idx="42">
                  <c:v>0.72</c:v>
                </c:pt>
                <c:pt idx="43">
                  <c:v>0.7</c:v>
                </c:pt>
                <c:pt idx="44">
                  <c:v>0.78</c:v>
                </c:pt>
                <c:pt idx="45">
                  <c:v>0.85</c:v>
                </c:pt>
                <c:pt idx="46">
                  <c:v>0.86</c:v>
                </c:pt>
                <c:pt idx="47">
                  <c:v>1.0</c:v>
                </c:pt>
                <c:pt idx="48">
                  <c:v>0.83</c:v>
                </c:pt>
                <c:pt idx="49">
                  <c:v>0.82</c:v>
                </c:pt>
                <c:pt idx="50">
                  <c:v>1.0</c:v>
                </c:pt>
                <c:pt idx="51">
                  <c:v>0.75</c:v>
                </c:pt>
                <c:pt idx="52">
                  <c:v>0.73</c:v>
                </c:pt>
                <c:pt idx="53">
                  <c:v>0.86</c:v>
                </c:pt>
                <c:pt idx="54">
                  <c:v>0.85</c:v>
                </c:pt>
                <c:pt idx="55">
                  <c:v>0.85</c:v>
                </c:pt>
                <c:pt idx="56">
                  <c:v>1.0</c:v>
                </c:pt>
                <c:pt idx="57">
                  <c:v>0.77</c:v>
                </c:pt>
                <c:pt idx="58">
                  <c:v>0.76</c:v>
                </c:pt>
                <c:pt idx="59">
                  <c:v>0.75</c:v>
                </c:pt>
                <c:pt idx="60">
                  <c:v>1.0</c:v>
                </c:pt>
                <c:pt idx="61">
                  <c:v>0.78</c:v>
                </c:pt>
                <c:pt idx="62">
                  <c:v>0.81</c:v>
                </c:pt>
                <c:pt idx="63">
                  <c:v>0.79</c:v>
                </c:pt>
                <c:pt idx="64">
                  <c:v>0.79</c:v>
                </c:pt>
                <c:pt idx="65">
                  <c:v>0.74</c:v>
                </c:pt>
                <c:pt idx="66">
                  <c:v>0.74</c:v>
                </c:pt>
                <c:pt idx="67">
                  <c:v>0.0</c:v>
                </c:pt>
                <c:pt idx="68">
                  <c:v>0.0</c:v>
                </c:pt>
                <c:pt idx="69">
                  <c:v>0.75</c:v>
                </c:pt>
                <c:pt idx="70">
                  <c:v>0.75</c:v>
                </c:pt>
                <c:pt idx="71">
                  <c:v>0.7</c:v>
                </c:pt>
                <c:pt idx="72">
                  <c:v>0.7</c:v>
                </c:pt>
                <c:pt idx="73">
                  <c:v>0.75</c:v>
                </c:pt>
                <c:pt idx="74">
                  <c:v>0.75</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6-64AA-40D0-B945-66C39F8BA3A3}"/>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32337962962962963"/>
          <c:w val="0.94208126036484241"/>
          <c:h val="0.67662037037037037"/>
        </c:manualLayout>
      </c:layout>
      <c:lineChart>
        <c:grouping val="standard"/>
        <c:varyColors val="0"/>
        <c:ser>
          <c:idx val="0"/>
          <c:order val="0"/>
          <c:tx>
            <c:strRef>
              <c:f>Sheet1!$B$1</c:f>
              <c:strCache>
                <c:ptCount val="1"/>
                <c:pt idx="0">
                  <c:v>How well the rep performed in discussing efficacy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BA2-4CBF-8FCE-2F586338CB59}"/>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BA2-4CBF-8FCE-2F586338CB59}"/>
                </c:ext>
              </c:extLst>
            </c:dLbl>
            <c:dLbl>
              <c:idx val="2"/>
              <c:layout>
                <c:manualLayout>
                  <c:x val="-4.6084888059701491E-2"/>
                  <c:y val="-0.36458796296296297"/>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BA2-4CBF-8FCE-2F586338CB59}"/>
                </c:ext>
              </c:extLst>
            </c:dLbl>
            <c:dLbl>
              <c:idx val="3"/>
              <c:layout>
                <c:manualLayout>
                  <c:x val="-4.6084888059701491E-2"/>
                  <c:y val="-0.3984166666666666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BA2-4CBF-8FCE-2F586338CB59}"/>
                </c:ext>
              </c:extLst>
            </c:dLbl>
            <c:dLbl>
              <c:idx val="4"/>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BA2-4CBF-8FCE-2F586338CB59}"/>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BA2-4CBF-8FCE-2F586338CB5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0.79</c:v>
                </c:pt>
                <c:pt idx="1">
                  <c:v>0.79</c:v>
                </c:pt>
                <c:pt idx="2">
                  <c:v>0.0</c:v>
                </c:pt>
                <c:pt idx="3">
                  <c:v>0.0</c:v>
                </c:pt>
                <c:pt idx="4">
                  <c:v>0.0</c:v>
                </c:pt>
                <c:pt idx="5">
                  <c:v>0.0</c:v>
                </c:pt>
                <c:pt idx="6">
                  <c:v>0.75</c:v>
                </c:pt>
                <c:pt idx="7">
                  <c:v>0.75</c:v>
                </c:pt>
                <c:pt idx="8">
                  <c:v>0.76</c:v>
                </c:pt>
                <c:pt idx="9">
                  <c:v>0.76</c:v>
                </c:pt>
                <c:pt idx="10">
                  <c:v>0.78</c:v>
                </c:pt>
                <c:pt idx="11">
                  <c:v>1.0</c:v>
                </c:pt>
                <c:pt idx="12">
                  <c:v>0.76</c:v>
                </c:pt>
                <c:pt idx="13">
                  <c:v>0.0</c:v>
                </c:pt>
                <c:pt idx="14">
                  <c:v>1.0</c:v>
                </c:pt>
                <c:pt idx="15">
                  <c:v>0.76</c:v>
                </c:pt>
                <c:pt idx="16">
                  <c:v>0.75</c:v>
                </c:pt>
                <c:pt idx="17">
                  <c:v>1.0</c:v>
                </c:pt>
                <c:pt idx="18">
                  <c:v>0.83</c:v>
                </c:pt>
                <c:pt idx="19">
                  <c:v>0.82</c:v>
                </c:pt>
                <c:pt idx="20">
                  <c:v>0.5</c:v>
                </c:pt>
                <c:pt idx="21">
                  <c:v>0.8</c:v>
                </c:pt>
                <c:pt idx="22">
                  <c:v>0.81</c:v>
                </c:pt>
                <c:pt idx="23">
                  <c:v>0.0</c:v>
                </c:pt>
                <c:pt idx="24">
                  <c:v>0.79</c:v>
                </c:pt>
                <c:pt idx="25">
                  <c:v>0.8</c:v>
                </c:pt>
                <c:pt idx="26">
                  <c:v>1.0</c:v>
                </c:pt>
                <c:pt idx="27">
                  <c:v>0.5</c:v>
                </c:pt>
                <c:pt idx="28">
                  <c:v>0.77</c:v>
                </c:pt>
                <c:pt idx="29">
                  <c:v>0.78</c:v>
                </c:pt>
                <c:pt idx="30">
                  <c:v>0.83</c:v>
                </c:pt>
                <c:pt idx="31">
                  <c:v>0.74</c:v>
                </c:pt>
                <c:pt idx="32">
                  <c:v>0.73</c:v>
                </c:pt>
                <c:pt idx="33">
                  <c:v>0.83</c:v>
                </c:pt>
                <c:pt idx="34">
                  <c:v>0.75</c:v>
                </c:pt>
                <c:pt idx="35">
                  <c:v>0.74</c:v>
                </c:pt>
                <c:pt idx="36">
                  <c:v>0.0</c:v>
                </c:pt>
                <c:pt idx="37">
                  <c:v>0.0</c:v>
                </c:pt>
                <c:pt idx="38">
                  <c:v>0.75</c:v>
                </c:pt>
                <c:pt idx="39">
                  <c:v>0.84</c:v>
                </c:pt>
                <c:pt idx="40">
                  <c:v>0.85</c:v>
                </c:pt>
                <c:pt idx="41">
                  <c:v>1.0</c:v>
                </c:pt>
                <c:pt idx="42">
                  <c:v>0.76</c:v>
                </c:pt>
                <c:pt idx="43">
                  <c:v>0.75</c:v>
                </c:pt>
                <c:pt idx="44">
                  <c:v>0.78</c:v>
                </c:pt>
                <c:pt idx="45">
                  <c:v>0.85</c:v>
                </c:pt>
                <c:pt idx="46">
                  <c:v>0.86</c:v>
                </c:pt>
                <c:pt idx="47">
                  <c:v>1.0</c:v>
                </c:pt>
                <c:pt idx="48">
                  <c:v>0.87</c:v>
                </c:pt>
                <c:pt idx="49">
                  <c:v>0.86</c:v>
                </c:pt>
                <c:pt idx="50">
                  <c:v>0.86</c:v>
                </c:pt>
                <c:pt idx="51">
                  <c:v>0.8</c:v>
                </c:pt>
                <c:pt idx="52">
                  <c:v>0.79</c:v>
                </c:pt>
                <c:pt idx="53">
                  <c:v>0.71</c:v>
                </c:pt>
                <c:pt idx="54">
                  <c:v>0.85</c:v>
                </c:pt>
                <c:pt idx="55">
                  <c:v>0.86</c:v>
                </c:pt>
                <c:pt idx="56">
                  <c:v>1.0</c:v>
                </c:pt>
                <c:pt idx="57">
                  <c:v>0.81</c:v>
                </c:pt>
                <c:pt idx="58">
                  <c:v>0.81</c:v>
                </c:pt>
                <c:pt idx="59">
                  <c:v>0.72</c:v>
                </c:pt>
                <c:pt idx="60">
                  <c:v>1.0</c:v>
                </c:pt>
                <c:pt idx="61">
                  <c:v>0.74</c:v>
                </c:pt>
                <c:pt idx="62">
                  <c:v>0.77</c:v>
                </c:pt>
                <c:pt idx="63">
                  <c:v>0.76</c:v>
                </c:pt>
                <c:pt idx="64">
                  <c:v>0.76</c:v>
                </c:pt>
                <c:pt idx="65">
                  <c:v>0.77</c:v>
                </c:pt>
                <c:pt idx="66">
                  <c:v>0.77</c:v>
                </c:pt>
                <c:pt idx="67">
                  <c:v>0.0</c:v>
                </c:pt>
                <c:pt idx="68">
                  <c:v>0.0</c:v>
                </c:pt>
                <c:pt idx="69">
                  <c:v>0.82</c:v>
                </c:pt>
                <c:pt idx="70">
                  <c:v>0.82</c:v>
                </c:pt>
                <c:pt idx="71">
                  <c:v>0.79</c:v>
                </c:pt>
                <c:pt idx="72">
                  <c:v>0.79</c:v>
                </c:pt>
                <c:pt idx="73">
                  <c:v>0.76</c:v>
                </c:pt>
                <c:pt idx="74">
                  <c:v>0.76</c:v>
                </c:pt>
                <c:pt idx="75">
                  <c:v>0.0</c:v>
                </c:pt>
                <c:pt idx="76">
                  <c:v>0.0</c:v>
                </c:pt>
                <c:pt idx="77">
                  <c:v>0.0</c:v>
                </c:pt>
                <c:pt idx="78">
                  <c:v>0.0</c:v>
                </c:pt>
                <c:pt idx="79">
                  <c:v>0.0</c:v>
                </c:pt>
                <c:pt idx="80">
                  <c:v>0.0</c:v>
                </c:pt>
                <c:pt idx="81">
                  <c:v>0.0</c:v>
                </c:pt>
                <c:pt idx="82">
                  <c:v>0.0</c:v>
                </c:pt>
                <c:pt idx="83">
                  <c:v>0.0</c:v>
                </c:pt>
                <c:pt idx="84">
                  <c:v>0.0</c:v>
                </c:pt>
                <c:pt idx="85">
                  <c:v>0.72</c:v>
                </c:pt>
                <c:pt idx="86">
                  <c:v>0.72</c:v>
                </c:pt>
              </c:numCache>
            </c:numRef>
          </c:val>
          <c:smooth val="0"/>
          <c:extLst>
            <c:ext xmlns:c16="http://schemas.microsoft.com/office/drawing/2014/chart" uri="{C3380CC4-5D6E-409C-BE32-E72D297353CC}">
              <c16:uniqueId val="{00000006-EBA2-4CBF-8FCE-2F586338CB59}"/>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well the rep explained dosing guidelines and considerations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F75-4CD0-8117-097668C2E70A}"/>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F75-4CD0-8117-097668C2E70A}"/>
                </c:ext>
              </c:extLst>
            </c:dLbl>
            <c:dLbl>
              <c:idx val="2"/>
              <c:layout>
                <c:manualLayout>
                  <c:x val="-4.6084888059701491E-2"/>
                  <c:y val="-0.383421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F75-4CD0-8117-097668C2E70A}"/>
                </c:ext>
              </c:extLst>
            </c:dLbl>
            <c:dLbl>
              <c:idx val="3"/>
              <c:layout>
                <c:manualLayout>
                  <c:x val="-4.6084888059701491E-2"/>
                  <c:y val="-0.4048634259259259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F75-4CD0-8117-097668C2E70A}"/>
                </c:ext>
              </c:extLst>
            </c:dLbl>
            <c:dLbl>
              <c:idx val="4"/>
              <c:layout>
                <c:manualLayout>
                  <c:x val="-4.6084888059701491E-2"/>
                  <c:y val="-0.340537037037037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F75-4CD0-8117-097668C2E70A}"/>
                </c:ext>
              </c:extLst>
            </c:dLbl>
            <c:dLbl>
              <c:idx val="5"/>
              <c:layout>
                <c:manualLayout>
                  <c:x val="-4.6084888059701491E-2"/>
                  <c:y val="-0.383421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F75-4CD0-8117-097668C2E70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0.85</c:v>
                </c:pt>
                <c:pt idx="1">
                  <c:v>0.85</c:v>
                </c:pt>
                <c:pt idx="2">
                  <c:v>0.0</c:v>
                </c:pt>
                <c:pt idx="3">
                  <c:v>0.0</c:v>
                </c:pt>
                <c:pt idx="4">
                  <c:v>0.0</c:v>
                </c:pt>
                <c:pt idx="5">
                  <c:v>0.0</c:v>
                </c:pt>
                <c:pt idx="6">
                  <c:v>0.77</c:v>
                </c:pt>
                <c:pt idx="7">
                  <c:v>0.77</c:v>
                </c:pt>
                <c:pt idx="8">
                  <c:v>0.76</c:v>
                </c:pt>
                <c:pt idx="9">
                  <c:v>0.76</c:v>
                </c:pt>
                <c:pt idx="10">
                  <c:v>0.75</c:v>
                </c:pt>
                <c:pt idx="11">
                  <c:v>1.0</c:v>
                </c:pt>
                <c:pt idx="12">
                  <c:v>0.73</c:v>
                </c:pt>
                <c:pt idx="13">
                  <c:v>0.0</c:v>
                </c:pt>
                <c:pt idx="14">
                  <c:v>1.0</c:v>
                </c:pt>
                <c:pt idx="15">
                  <c:v>0.77</c:v>
                </c:pt>
                <c:pt idx="16">
                  <c:v>0.76</c:v>
                </c:pt>
                <c:pt idx="17">
                  <c:v>1.0</c:v>
                </c:pt>
                <c:pt idx="18">
                  <c:v>0.74</c:v>
                </c:pt>
                <c:pt idx="19">
                  <c:v>0.73</c:v>
                </c:pt>
                <c:pt idx="20">
                  <c:v>1.0</c:v>
                </c:pt>
                <c:pt idx="21">
                  <c:v>0.83</c:v>
                </c:pt>
                <c:pt idx="22">
                  <c:v>0.82</c:v>
                </c:pt>
                <c:pt idx="23">
                  <c:v>1.0</c:v>
                </c:pt>
                <c:pt idx="24">
                  <c:v>0.79</c:v>
                </c:pt>
                <c:pt idx="25">
                  <c:v>0.78</c:v>
                </c:pt>
                <c:pt idx="26">
                  <c:v>1.0</c:v>
                </c:pt>
                <c:pt idx="27">
                  <c:v>1.0</c:v>
                </c:pt>
                <c:pt idx="28">
                  <c:v>0.76</c:v>
                </c:pt>
                <c:pt idx="29">
                  <c:v>0.75</c:v>
                </c:pt>
                <c:pt idx="30">
                  <c:v>0.83</c:v>
                </c:pt>
                <c:pt idx="31">
                  <c:v>0.81</c:v>
                </c:pt>
                <c:pt idx="32">
                  <c:v>0.81</c:v>
                </c:pt>
                <c:pt idx="33">
                  <c:v>0.67</c:v>
                </c:pt>
                <c:pt idx="34">
                  <c:v>0.68</c:v>
                </c:pt>
                <c:pt idx="35">
                  <c:v>0.68</c:v>
                </c:pt>
                <c:pt idx="36">
                  <c:v>0.0</c:v>
                </c:pt>
                <c:pt idx="37">
                  <c:v>0.0</c:v>
                </c:pt>
                <c:pt idx="38">
                  <c:v>0.88</c:v>
                </c:pt>
                <c:pt idx="39">
                  <c:v>0.85</c:v>
                </c:pt>
                <c:pt idx="40">
                  <c:v>0.85</c:v>
                </c:pt>
                <c:pt idx="41">
                  <c:v>1.0</c:v>
                </c:pt>
                <c:pt idx="42">
                  <c:v>0.72</c:v>
                </c:pt>
                <c:pt idx="43">
                  <c:v>0.7</c:v>
                </c:pt>
                <c:pt idx="44">
                  <c:v>0.78</c:v>
                </c:pt>
                <c:pt idx="45">
                  <c:v>0.85</c:v>
                </c:pt>
                <c:pt idx="46">
                  <c:v>0.86</c:v>
                </c:pt>
                <c:pt idx="47">
                  <c:v>1.0</c:v>
                </c:pt>
                <c:pt idx="48">
                  <c:v>0.83</c:v>
                </c:pt>
                <c:pt idx="49">
                  <c:v>0.82</c:v>
                </c:pt>
                <c:pt idx="50">
                  <c:v>1.0</c:v>
                </c:pt>
                <c:pt idx="51">
                  <c:v>0.75</c:v>
                </c:pt>
                <c:pt idx="52">
                  <c:v>0.73</c:v>
                </c:pt>
                <c:pt idx="53">
                  <c:v>0.86</c:v>
                </c:pt>
                <c:pt idx="54">
                  <c:v>0.85</c:v>
                </c:pt>
                <c:pt idx="55">
                  <c:v>0.85</c:v>
                </c:pt>
                <c:pt idx="56">
                  <c:v>1.0</c:v>
                </c:pt>
                <c:pt idx="57">
                  <c:v>0.77</c:v>
                </c:pt>
                <c:pt idx="58">
                  <c:v>0.76</c:v>
                </c:pt>
                <c:pt idx="59">
                  <c:v>0.75</c:v>
                </c:pt>
                <c:pt idx="60">
                  <c:v>1.0</c:v>
                </c:pt>
                <c:pt idx="61">
                  <c:v>0.78</c:v>
                </c:pt>
                <c:pt idx="62">
                  <c:v>0.81</c:v>
                </c:pt>
                <c:pt idx="63">
                  <c:v>0.79</c:v>
                </c:pt>
                <c:pt idx="64">
                  <c:v>0.79</c:v>
                </c:pt>
                <c:pt idx="65">
                  <c:v>0.74</c:v>
                </c:pt>
                <c:pt idx="66">
                  <c:v>0.74</c:v>
                </c:pt>
                <c:pt idx="67">
                  <c:v>0.0</c:v>
                </c:pt>
                <c:pt idx="68">
                  <c:v>0.0</c:v>
                </c:pt>
                <c:pt idx="69">
                  <c:v>0.75</c:v>
                </c:pt>
                <c:pt idx="70">
                  <c:v>0.75</c:v>
                </c:pt>
                <c:pt idx="71">
                  <c:v>0.7</c:v>
                </c:pt>
                <c:pt idx="72">
                  <c:v>0.7</c:v>
                </c:pt>
                <c:pt idx="73">
                  <c:v>0.75</c:v>
                </c:pt>
                <c:pt idx="74">
                  <c:v>0.75</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0-6F75-4CD0-8117-097668C2E70A}"/>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useful the information provided to me by the rep was about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831-4AFB-A9C4-D1ACD25E8E4B}"/>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831-4AFB-A9C4-D1ACD25E8E4B}"/>
                </c:ext>
              </c:extLst>
            </c:dLbl>
            <c:dLbl>
              <c:idx val="2"/>
              <c:layout>
                <c:manualLayout>
                  <c:x val="-4.6084888059701491E-2"/>
                  <c:y val="-0.3405370370370370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831-4AFB-A9C4-D1ACD25E8E4B}"/>
                </c:ext>
              </c:extLst>
            </c:dLbl>
            <c:dLbl>
              <c:idx val="3"/>
              <c:layout>
                <c:manualLayout>
                  <c:x val="-4.6084888059701491E-2"/>
                  <c:y val="-0.367692129629629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831-4AFB-A9C4-D1ACD25E8E4B}"/>
                </c:ext>
              </c:extLst>
            </c:dLbl>
            <c:dLbl>
              <c:idx val="4"/>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831-4AFB-A9C4-D1ACD25E8E4B}"/>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831-4AFB-A9C4-D1ACD25E8E4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0.77</c:v>
                </c:pt>
                <c:pt idx="3">
                  <c:v>0.77</c:v>
                </c:pt>
                <c:pt idx="4">
                  <c:v>0.77</c:v>
                </c:pt>
                <c:pt idx="5">
                  <c:v>0.77</c:v>
                </c:pt>
                <c:pt idx="6">
                  <c:v>0.74</c:v>
                </c:pt>
                <c:pt idx="7">
                  <c:v>0.74</c:v>
                </c:pt>
                <c:pt idx="8">
                  <c:v>0.74</c:v>
                </c:pt>
                <c:pt idx="9">
                  <c:v>0.74</c:v>
                </c:pt>
                <c:pt idx="10">
                  <c:v>0.79</c:v>
                </c:pt>
                <c:pt idx="11">
                  <c:v>1.0</c:v>
                </c:pt>
                <c:pt idx="12">
                  <c:v>0.77</c:v>
                </c:pt>
                <c:pt idx="13">
                  <c:v>0.0</c:v>
                </c:pt>
                <c:pt idx="14">
                  <c:v>1.0</c:v>
                </c:pt>
                <c:pt idx="15">
                  <c:v>0.77</c:v>
                </c:pt>
                <c:pt idx="16">
                  <c:v>0.76</c:v>
                </c:pt>
                <c:pt idx="17">
                  <c:v>1.0</c:v>
                </c:pt>
                <c:pt idx="18">
                  <c:v>0.8</c:v>
                </c:pt>
                <c:pt idx="19">
                  <c:v>0.79</c:v>
                </c:pt>
                <c:pt idx="20">
                  <c:v>1.0</c:v>
                </c:pt>
                <c:pt idx="21">
                  <c:v>0.78</c:v>
                </c:pt>
                <c:pt idx="22">
                  <c:v>0.78</c:v>
                </c:pt>
                <c:pt idx="23">
                  <c:v>1.0</c:v>
                </c:pt>
                <c:pt idx="24">
                  <c:v>0.79</c:v>
                </c:pt>
                <c:pt idx="25">
                  <c:v>0.78</c:v>
                </c:pt>
                <c:pt idx="26">
                  <c:v>1.0</c:v>
                </c:pt>
                <c:pt idx="27">
                  <c:v>1.0</c:v>
                </c:pt>
                <c:pt idx="28">
                  <c:v>0.77</c:v>
                </c:pt>
                <c:pt idx="29">
                  <c:v>0.76</c:v>
                </c:pt>
                <c:pt idx="30">
                  <c:v>0.83</c:v>
                </c:pt>
                <c:pt idx="31">
                  <c:v>0.81</c:v>
                </c:pt>
                <c:pt idx="32">
                  <c:v>0.81</c:v>
                </c:pt>
                <c:pt idx="33">
                  <c:v>0.67</c:v>
                </c:pt>
                <c:pt idx="34">
                  <c:v>0.67</c:v>
                </c:pt>
                <c:pt idx="35">
                  <c:v>0.67</c:v>
                </c:pt>
                <c:pt idx="36">
                  <c:v>0.76</c:v>
                </c:pt>
                <c:pt idx="37">
                  <c:v>0.76</c:v>
                </c:pt>
                <c:pt idx="38">
                  <c:v>0.75</c:v>
                </c:pt>
                <c:pt idx="39">
                  <c:v>0.83</c:v>
                </c:pt>
                <c:pt idx="40">
                  <c:v>0.84</c:v>
                </c:pt>
                <c:pt idx="41">
                  <c:v>1.0</c:v>
                </c:pt>
                <c:pt idx="42">
                  <c:v>0.77</c:v>
                </c:pt>
                <c:pt idx="43">
                  <c:v>0.76</c:v>
                </c:pt>
                <c:pt idx="44">
                  <c:v>0.78</c:v>
                </c:pt>
                <c:pt idx="45">
                  <c:v>0.87</c:v>
                </c:pt>
                <c:pt idx="46">
                  <c:v>0.88</c:v>
                </c:pt>
                <c:pt idx="47">
                  <c:v>1.0</c:v>
                </c:pt>
                <c:pt idx="48">
                  <c:v>0.85</c:v>
                </c:pt>
                <c:pt idx="49">
                  <c:v>0.83</c:v>
                </c:pt>
                <c:pt idx="50">
                  <c:v>0.86</c:v>
                </c:pt>
                <c:pt idx="51">
                  <c:v>0.83</c:v>
                </c:pt>
                <c:pt idx="52">
                  <c:v>0.83</c:v>
                </c:pt>
                <c:pt idx="53">
                  <c:v>0.86</c:v>
                </c:pt>
                <c:pt idx="54">
                  <c:v>0.81</c:v>
                </c:pt>
                <c:pt idx="55">
                  <c:v>0.8</c:v>
                </c:pt>
                <c:pt idx="56">
                  <c:v>0.67</c:v>
                </c:pt>
                <c:pt idx="57">
                  <c:v>0.74</c:v>
                </c:pt>
                <c:pt idx="58">
                  <c:v>0.75</c:v>
                </c:pt>
                <c:pt idx="59">
                  <c:v>0.66</c:v>
                </c:pt>
                <c:pt idx="60">
                  <c:v>0.5</c:v>
                </c:pt>
                <c:pt idx="61">
                  <c:v>0.68</c:v>
                </c:pt>
                <c:pt idx="62">
                  <c:v>0.73</c:v>
                </c:pt>
                <c:pt idx="63">
                  <c:v>0.83</c:v>
                </c:pt>
                <c:pt idx="64">
                  <c:v>0.83</c:v>
                </c:pt>
                <c:pt idx="65">
                  <c:v>0.73</c:v>
                </c:pt>
                <c:pt idx="66">
                  <c:v>0.73</c:v>
                </c:pt>
                <c:pt idx="67">
                  <c:v>0.85</c:v>
                </c:pt>
                <c:pt idx="68">
                  <c:v>0.85</c:v>
                </c:pt>
                <c:pt idx="69">
                  <c:v>0.76</c:v>
                </c:pt>
                <c:pt idx="70">
                  <c:v>0.76</c:v>
                </c:pt>
                <c:pt idx="71">
                  <c:v>0.74</c:v>
                </c:pt>
                <c:pt idx="72">
                  <c:v>0.74</c:v>
                </c:pt>
                <c:pt idx="73">
                  <c:v>0.0</c:v>
                </c:pt>
                <c:pt idx="74">
                  <c:v>0.0</c:v>
                </c:pt>
                <c:pt idx="75">
                  <c:v>0.74</c:v>
                </c:pt>
                <c:pt idx="76">
                  <c:v>0.74</c:v>
                </c:pt>
                <c:pt idx="77">
                  <c:v>0.82</c:v>
                </c:pt>
                <c:pt idx="78">
                  <c:v>0.82</c:v>
                </c:pt>
                <c:pt idx="79">
                  <c:v>0.78</c:v>
                </c:pt>
                <c:pt idx="80">
                  <c:v>0.78</c:v>
                </c:pt>
                <c:pt idx="81">
                  <c:v>0.78</c:v>
                </c:pt>
                <c:pt idx="82">
                  <c:v>0.78</c:v>
                </c:pt>
                <c:pt idx="83">
                  <c:v>0.77</c:v>
                </c:pt>
                <c:pt idx="84">
                  <c:v>0.77</c:v>
                </c:pt>
                <c:pt idx="85">
                  <c:v>0.71</c:v>
                </c:pt>
                <c:pt idx="86">
                  <c:v>0.71</c:v>
                </c:pt>
              </c:numCache>
            </c:numRef>
          </c:val>
          <c:smooth val="0"/>
          <c:extLst>
            <c:ext xmlns:c16="http://schemas.microsoft.com/office/drawing/2014/chart" uri="{C3380CC4-5D6E-409C-BE32-E72D297353CC}">
              <c16:uniqueId val="{00000006-7831-4AFB-A9C4-D1ACD25E8E4B}"/>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useful the information provided to me was about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726990740740741"/>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08-47E3-9C3E-CA496CCFEB14}"/>
                </c:ext>
              </c:extLst>
            </c:dLbl>
            <c:dLbl>
              <c:idx val="1"/>
              <c:layout>
                <c:manualLayout>
                  <c:x val="-4.6084888059701491E-2"/>
                  <c:y val="-0.3834212962962962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08-47E3-9C3E-CA496CCFEB14}"/>
                </c:ext>
              </c:extLst>
            </c:dLbl>
            <c:dLbl>
              <c:idx val="2"/>
              <c:layout>
                <c:manualLayout>
                  <c:x val="-4.6084888059701491E-2"/>
                  <c:y val="-0.36197916666666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E08-47E3-9C3E-CA496CCFEB14}"/>
                </c:ext>
              </c:extLst>
            </c:dLbl>
            <c:dLbl>
              <c:idx val="3"/>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08-47E3-9C3E-CA496CCFEB14}"/>
                </c:ext>
              </c:extLst>
            </c:dLbl>
            <c:dLbl>
              <c:idx val="4"/>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08-47E3-9C3E-CA496CCFEB14}"/>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08-47E3-9C3E-CA496CCFEB1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0.0</c:v>
                </c:pt>
                <c:pt idx="1">
                  <c:v>0.0</c:v>
                </c:pt>
                <c:pt idx="2">
                  <c:v>0.76</c:v>
                </c:pt>
                <c:pt idx="3">
                  <c:v>0.76</c:v>
                </c:pt>
                <c:pt idx="4">
                  <c:v>0.76</c:v>
                </c:pt>
                <c:pt idx="5">
                  <c:v>0.76</c:v>
                </c:pt>
                <c:pt idx="6">
                  <c:v>0.65</c:v>
                </c:pt>
                <c:pt idx="7">
                  <c:v>0.65</c:v>
                </c:pt>
                <c:pt idx="8">
                  <c:v>0.64</c:v>
                </c:pt>
                <c:pt idx="9">
                  <c:v>0.64</c:v>
                </c:pt>
                <c:pt idx="10">
                  <c:v>0.73</c:v>
                </c:pt>
                <c:pt idx="11">
                  <c:v>1.0</c:v>
                </c:pt>
                <c:pt idx="12">
                  <c:v>0.71</c:v>
                </c:pt>
                <c:pt idx="13">
                  <c:v>0.0</c:v>
                </c:pt>
                <c:pt idx="14">
                  <c:v>1.0</c:v>
                </c:pt>
                <c:pt idx="15">
                  <c:v>0.77</c:v>
                </c:pt>
                <c:pt idx="16">
                  <c:v>0.76</c:v>
                </c:pt>
                <c:pt idx="17">
                  <c:v>0.5</c:v>
                </c:pt>
                <c:pt idx="18">
                  <c:v>0.74</c:v>
                </c:pt>
                <c:pt idx="19">
                  <c:v>0.75</c:v>
                </c:pt>
                <c:pt idx="20">
                  <c:v>1.0</c:v>
                </c:pt>
                <c:pt idx="21">
                  <c:v>0.84</c:v>
                </c:pt>
                <c:pt idx="22">
                  <c:v>0.84</c:v>
                </c:pt>
                <c:pt idx="23">
                  <c:v>0.0</c:v>
                </c:pt>
                <c:pt idx="24">
                  <c:v>0.0</c:v>
                </c:pt>
                <c:pt idx="25">
                  <c:v>0.0</c:v>
                </c:pt>
                <c:pt idx="26">
                  <c:v>0.0</c:v>
                </c:pt>
                <c:pt idx="27">
                  <c:v>0.0</c:v>
                </c:pt>
                <c:pt idx="28">
                  <c:v>0.0</c:v>
                </c:pt>
                <c:pt idx="29">
                  <c:v>0.0</c:v>
                </c:pt>
                <c:pt idx="30">
                  <c:v>0.0</c:v>
                </c:pt>
                <c:pt idx="31">
                  <c:v>0.0</c:v>
                </c:pt>
                <c:pt idx="32">
                  <c:v>0.0</c:v>
                </c:pt>
                <c:pt idx="33">
                  <c:v>0.0</c:v>
                </c:pt>
                <c:pt idx="34">
                  <c:v>0.0</c:v>
                </c:pt>
                <c:pt idx="35">
                  <c:v>0.0</c:v>
                </c:pt>
                <c:pt idx="36">
                  <c:v>0.79</c:v>
                </c:pt>
                <c:pt idx="37">
                  <c:v>0.79</c:v>
                </c:pt>
                <c:pt idx="38">
                  <c:v>0.0</c:v>
                </c:pt>
                <c:pt idx="39">
                  <c:v>0.0</c:v>
                </c:pt>
                <c:pt idx="40">
                  <c:v>0.0</c:v>
                </c:pt>
                <c:pt idx="41">
                  <c:v>0.0</c:v>
                </c:pt>
                <c:pt idx="42">
                  <c:v>0.0</c:v>
                </c:pt>
                <c:pt idx="43">
                  <c:v>0.0</c:v>
                </c:pt>
                <c:pt idx="44">
                  <c:v>0.0</c:v>
                </c:pt>
                <c:pt idx="45">
                  <c:v>0.0</c:v>
                </c:pt>
                <c:pt idx="46">
                  <c:v>0.0</c:v>
                </c:pt>
                <c:pt idx="47">
                  <c:v>0.0</c:v>
                </c:pt>
                <c:pt idx="48">
                  <c:v>0.0</c:v>
                </c:pt>
                <c:pt idx="49">
                  <c:v>0.0</c:v>
                </c:pt>
                <c:pt idx="50">
                  <c:v>0.0</c:v>
                </c:pt>
                <c:pt idx="51">
                  <c:v>0.0</c:v>
                </c:pt>
                <c:pt idx="52">
                  <c:v>0.0</c:v>
                </c:pt>
                <c:pt idx="53">
                  <c:v>0.0</c:v>
                </c:pt>
                <c:pt idx="54">
                  <c:v>0.0</c:v>
                </c:pt>
                <c:pt idx="55">
                  <c:v>0.0</c:v>
                </c:pt>
                <c:pt idx="56">
                  <c:v>0.0</c:v>
                </c:pt>
                <c:pt idx="57">
                  <c:v>0.0</c:v>
                </c:pt>
                <c:pt idx="58">
                  <c:v>0.0</c:v>
                </c:pt>
                <c:pt idx="59">
                  <c:v>0.0</c:v>
                </c:pt>
                <c:pt idx="60">
                  <c:v>0.0</c:v>
                </c:pt>
                <c:pt idx="61">
                  <c:v>0.0</c:v>
                </c:pt>
                <c:pt idx="62">
                  <c:v>0.0</c:v>
                </c:pt>
                <c:pt idx="63">
                  <c:v>0.0</c:v>
                </c:pt>
                <c:pt idx="64">
                  <c:v>0.0</c:v>
                </c:pt>
                <c:pt idx="65">
                  <c:v>0.0</c:v>
                </c:pt>
                <c:pt idx="66">
                  <c:v>0.0</c:v>
                </c:pt>
                <c:pt idx="67">
                  <c:v>0.8</c:v>
                </c:pt>
                <c:pt idx="68">
                  <c:v>0.8</c:v>
                </c:pt>
                <c:pt idx="69">
                  <c:v>0.0</c:v>
                </c:pt>
                <c:pt idx="70">
                  <c:v>0.0</c:v>
                </c:pt>
                <c:pt idx="71">
                  <c:v>0.0</c:v>
                </c:pt>
                <c:pt idx="72">
                  <c:v>0.0</c:v>
                </c:pt>
                <c:pt idx="73">
                  <c:v>0.0</c:v>
                </c:pt>
                <c:pt idx="74">
                  <c:v>0.0</c:v>
                </c:pt>
                <c:pt idx="75">
                  <c:v>0.76</c:v>
                </c:pt>
                <c:pt idx="76">
                  <c:v>0.76</c:v>
                </c:pt>
                <c:pt idx="77">
                  <c:v>0.76</c:v>
                </c:pt>
                <c:pt idx="78">
                  <c:v>0.76</c:v>
                </c:pt>
                <c:pt idx="79">
                  <c:v>0.75</c:v>
                </c:pt>
                <c:pt idx="80">
                  <c:v>0.75</c:v>
                </c:pt>
                <c:pt idx="81">
                  <c:v>0.67</c:v>
                </c:pt>
                <c:pt idx="82">
                  <c:v>0.67</c:v>
                </c:pt>
                <c:pt idx="83">
                  <c:v>0.83</c:v>
                </c:pt>
                <c:pt idx="84">
                  <c:v>0.83</c:v>
                </c:pt>
                <c:pt idx="85">
                  <c:v>0.66</c:v>
                </c:pt>
                <c:pt idx="86">
                  <c:v>0.66</c:v>
                </c:pt>
              </c:numCache>
            </c:numRef>
          </c:val>
          <c:smooth val="0"/>
          <c:extLst>
            <c:ext xmlns:c16="http://schemas.microsoft.com/office/drawing/2014/chart" uri="{C3380CC4-5D6E-409C-BE32-E72D297353CC}">
              <c16:uniqueId val="{00000006-CE08-47E3-9C3E-CA496CCFEB14}"/>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well the rep articulated CREON’s differentiation as a treatment for exocrine pancreatic insufficiency (EPI)</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762685185185185"/>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CBD-4969-A0C4-7842565DECB6}"/>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CBD-4969-A0C4-7842565DECB6}"/>
                </c:ext>
              </c:extLst>
            </c:dLbl>
            <c:dLbl>
              <c:idx val="2"/>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CBD-4969-A0C4-7842565DECB6}"/>
                </c:ext>
              </c:extLst>
            </c:dLbl>
            <c:dLbl>
              <c:idx val="3"/>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CBD-4969-A0C4-7842565DECB6}"/>
                </c:ext>
              </c:extLst>
            </c:dLbl>
            <c:dLbl>
              <c:idx val="4"/>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CBD-4969-A0C4-7842565DECB6}"/>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CBD-4969-A0C4-7842565DECB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0.77</c:v>
                </c:pt>
                <c:pt idx="1">
                  <c:v>0.77</c:v>
                </c:pt>
                <c:pt idx="2">
                  <c:v>0.0</c:v>
                </c:pt>
                <c:pt idx="3">
                  <c:v>0.0</c:v>
                </c:pt>
                <c:pt idx="4">
                  <c:v>0.0</c:v>
                </c:pt>
                <c:pt idx="5">
                  <c:v>0.0</c:v>
                </c:pt>
                <c:pt idx="6">
                  <c:v>0.62</c:v>
                </c:pt>
                <c:pt idx="7">
                  <c:v>0.62</c:v>
                </c:pt>
                <c:pt idx="8">
                  <c:v>0.67</c:v>
                </c:pt>
                <c:pt idx="9">
                  <c:v>0.67</c:v>
                </c:pt>
                <c:pt idx="10">
                  <c:v>0.73</c:v>
                </c:pt>
                <c:pt idx="11">
                  <c:v>1.0</c:v>
                </c:pt>
                <c:pt idx="12">
                  <c:v>0.71</c:v>
                </c:pt>
                <c:pt idx="13">
                  <c:v>0.0</c:v>
                </c:pt>
                <c:pt idx="14">
                  <c:v>1.0</c:v>
                </c:pt>
                <c:pt idx="15">
                  <c:v>0.8</c:v>
                </c:pt>
                <c:pt idx="16">
                  <c:v>0.79</c:v>
                </c:pt>
                <c:pt idx="17">
                  <c:v>1.0</c:v>
                </c:pt>
                <c:pt idx="18">
                  <c:v>0.84</c:v>
                </c:pt>
                <c:pt idx="19">
                  <c:v>0.84</c:v>
                </c:pt>
                <c:pt idx="20">
                  <c:v>1.0</c:v>
                </c:pt>
                <c:pt idx="21">
                  <c:v>0.74</c:v>
                </c:pt>
                <c:pt idx="22">
                  <c:v>0.73</c:v>
                </c:pt>
                <c:pt idx="23">
                  <c:v>1.0</c:v>
                </c:pt>
                <c:pt idx="24">
                  <c:v>0.76</c:v>
                </c:pt>
                <c:pt idx="25">
                  <c:v>0.75</c:v>
                </c:pt>
                <c:pt idx="26">
                  <c:v>1.0</c:v>
                </c:pt>
                <c:pt idx="27">
                  <c:v>0.5</c:v>
                </c:pt>
                <c:pt idx="28">
                  <c:v>0.77</c:v>
                </c:pt>
                <c:pt idx="29">
                  <c:v>0.78</c:v>
                </c:pt>
                <c:pt idx="30">
                  <c:v>0.67</c:v>
                </c:pt>
                <c:pt idx="31">
                  <c:v>0.7</c:v>
                </c:pt>
                <c:pt idx="32">
                  <c:v>0.7</c:v>
                </c:pt>
                <c:pt idx="33">
                  <c:v>0.5</c:v>
                </c:pt>
                <c:pt idx="34">
                  <c:v>0.67</c:v>
                </c:pt>
                <c:pt idx="35">
                  <c:v>0.68</c:v>
                </c:pt>
                <c:pt idx="36">
                  <c:v>0.0</c:v>
                </c:pt>
                <c:pt idx="37">
                  <c:v>0.0</c:v>
                </c:pt>
                <c:pt idx="38">
                  <c:v>0.75</c:v>
                </c:pt>
                <c:pt idx="39">
                  <c:v>0.74</c:v>
                </c:pt>
                <c:pt idx="40">
                  <c:v>0.73</c:v>
                </c:pt>
                <c:pt idx="41">
                  <c:v>1.0</c:v>
                </c:pt>
                <c:pt idx="42">
                  <c:v>0.67</c:v>
                </c:pt>
                <c:pt idx="43">
                  <c:v>0.65</c:v>
                </c:pt>
                <c:pt idx="44">
                  <c:v>0.67</c:v>
                </c:pt>
                <c:pt idx="45">
                  <c:v>0.76</c:v>
                </c:pt>
                <c:pt idx="46">
                  <c:v>0.78</c:v>
                </c:pt>
                <c:pt idx="47">
                  <c:v>1.0</c:v>
                </c:pt>
                <c:pt idx="48">
                  <c:v>0.77</c:v>
                </c:pt>
                <c:pt idx="49">
                  <c:v>0.76</c:v>
                </c:pt>
                <c:pt idx="50">
                  <c:v>0.86</c:v>
                </c:pt>
                <c:pt idx="51">
                  <c:v>0.68</c:v>
                </c:pt>
                <c:pt idx="52">
                  <c:v>0.66</c:v>
                </c:pt>
                <c:pt idx="53">
                  <c:v>0.86</c:v>
                </c:pt>
                <c:pt idx="54">
                  <c:v>0.82</c:v>
                </c:pt>
                <c:pt idx="55">
                  <c:v>0.81</c:v>
                </c:pt>
                <c:pt idx="56">
                  <c:v>1.0</c:v>
                </c:pt>
                <c:pt idx="57">
                  <c:v>0.78</c:v>
                </c:pt>
                <c:pt idx="58">
                  <c:v>0.77</c:v>
                </c:pt>
                <c:pt idx="59">
                  <c:v>0.62</c:v>
                </c:pt>
                <c:pt idx="60">
                  <c:v>0.5</c:v>
                </c:pt>
                <c:pt idx="61">
                  <c:v>0.68</c:v>
                </c:pt>
                <c:pt idx="62">
                  <c:v>0.81</c:v>
                </c:pt>
                <c:pt idx="63">
                  <c:v>0.68</c:v>
                </c:pt>
                <c:pt idx="64">
                  <c:v>0.68</c:v>
                </c:pt>
                <c:pt idx="65">
                  <c:v>0.69</c:v>
                </c:pt>
                <c:pt idx="66">
                  <c:v>0.69</c:v>
                </c:pt>
                <c:pt idx="67">
                  <c:v>0.0</c:v>
                </c:pt>
                <c:pt idx="68">
                  <c:v>0.0</c:v>
                </c:pt>
                <c:pt idx="69">
                  <c:v>0.68</c:v>
                </c:pt>
                <c:pt idx="70">
                  <c:v>0.68</c:v>
                </c:pt>
                <c:pt idx="71">
                  <c:v>0.71</c:v>
                </c:pt>
                <c:pt idx="72">
                  <c:v>0.71</c:v>
                </c:pt>
                <c:pt idx="73">
                  <c:v>0.7</c:v>
                </c:pt>
                <c:pt idx="74">
                  <c:v>0.7</c:v>
                </c:pt>
                <c:pt idx="75">
                  <c:v>0.0</c:v>
                </c:pt>
                <c:pt idx="76">
                  <c:v>0.0</c:v>
                </c:pt>
                <c:pt idx="77">
                  <c:v>0.0</c:v>
                </c:pt>
                <c:pt idx="78">
                  <c:v>0.0</c:v>
                </c:pt>
                <c:pt idx="79">
                  <c:v>0.0</c:v>
                </c:pt>
                <c:pt idx="80">
                  <c:v>0.0</c:v>
                </c:pt>
                <c:pt idx="81">
                  <c:v>0.0</c:v>
                </c:pt>
                <c:pt idx="82">
                  <c:v>0.0</c:v>
                </c:pt>
                <c:pt idx="83">
                  <c:v>0.0</c:v>
                </c:pt>
                <c:pt idx="84">
                  <c:v>0.0</c:v>
                </c:pt>
                <c:pt idx="85">
                  <c:v>0.62</c:v>
                </c:pt>
                <c:pt idx="86">
                  <c:v>0.62</c:v>
                </c:pt>
              </c:numCache>
            </c:numRef>
          </c:val>
          <c:smooth val="0"/>
          <c:extLst>
            <c:ext xmlns:c16="http://schemas.microsoft.com/office/drawing/2014/chart" uri="{C3380CC4-5D6E-409C-BE32-E72D297353CC}">
              <c16:uniqueId val="{00000006-9CBD-4969-A0C4-7842565DECB6}"/>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well the rep helped me understand insurance coverage / access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40628703703703706"/>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0C5-45D1-8F40-C76D164BA980}"/>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0C5-45D1-8F40-C76D164BA980}"/>
                </c:ext>
              </c:extLst>
            </c:dLbl>
            <c:dLbl>
              <c:idx val="2"/>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0C5-45D1-8F40-C76D164BA980}"/>
                </c:ext>
              </c:extLst>
            </c:dLbl>
            <c:dLbl>
              <c:idx val="3"/>
              <c:layout>
                <c:manualLayout>
                  <c:x val="-4.6084888059701491E-2"/>
                  <c:y val="-0.37197916666666669"/>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0C5-45D1-8F40-C76D164BA980}"/>
                </c:ext>
              </c:extLst>
            </c:dLbl>
            <c:dLbl>
              <c:idx val="4"/>
              <c:layout>
                <c:manualLayout>
                  <c:x val="-4.6084888059701491E-2"/>
                  <c:y val="-0.384844907407407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0C5-45D1-8F40-C76D164BA980}"/>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0C5-45D1-8F40-C76D164BA98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0.73</c:v>
                </c:pt>
                <c:pt idx="1">
                  <c:v>0.73</c:v>
                </c:pt>
                <c:pt idx="2">
                  <c:v>0.59</c:v>
                </c:pt>
                <c:pt idx="3">
                  <c:v>0.59</c:v>
                </c:pt>
                <c:pt idx="4">
                  <c:v>0.59</c:v>
                </c:pt>
                <c:pt idx="5">
                  <c:v>0.59</c:v>
                </c:pt>
                <c:pt idx="6">
                  <c:v>0.71</c:v>
                </c:pt>
                <c:pt idx="7">
                  <c:v>0.71</c:v>
                </c:pt>
                <c:pt idx="8">
                  <c:v>0.7</c:v>
                </c:pt>
                <c:pt idx="9">
                  <c:v>0.7</c:v>
                </c:pt>
                <c:pt idx="10">
                  <c:v>0.75</c:v>
                </c:pt>
                <c:pt idx="11">
                  <c:v>1.0</c:v>
                </c:pt>
                <c:pt idx="12">
                  <c:v>0.74</c:v>
                </c:pt>
                <c:pt idx="13">
                  <c:v>0.5</c:v>
                </c:pt>
                <c:pt idx="14">
                  <c:v>1.0</c:v>
                </c:pt>
                <c:pt idx="15">
                  <c:v>0.73</c:v>
                </c:pt>
                <c:pt idx="16">
                  <c:v>0.72</c:v>
                </c:pt>
                <c:pt idx="17">
                  <c:v>0.0</c:v>
                </c:pt>
                <c:pt idx="18">
                  <c:v>0.75</c:v>
                </c:pt>
                <c:pt idx="19">
                  <c:v>0.78</c:v>
                </c:pt>
                <c:pt idx="20">
                  <c:v>0.5</c:v>
                </c:pt>
                <c:pt idx="21">
                  <c:v>0.78</c:v>
                </c:pt>
                <c:pt idx="22">
                  <c:v>0.79</c:v>
                </c:pt>
                <c:pt idx="23">
                  <c:v>1.0</c:v>
                </c:pt>
                <c:pt idx="24">
                  <c:v>0.8</c:v>
                </c:pt>
                <c:pt idx="25">
                  <c:v>0.8</c:v>
                </c:pt>
                <c:pt idx="26">
                  <c:v>1.0</c:v>
                </c:pt>
                <c:pt idx="27">
                  <c:v>1.0</c:v>
                </c:pt>
                <c:pt idx="28">
                  <c:v>0.77</c:v>
                </c:pt>
                <c:pt idx="29">
                  <c:v>0.76</c:v>
                </c:pt>
                <c:pt idx="30">
                  <c:v>0.67</c:v>
                </c:pt>
                <c:pt idx="31">
                  <c:v>0.8</c:v>
                </c:pt>
                <c:pt idx="32">
                  <c:v>0.81</c:v>
                </c:pt>
                <c:pt idx="33">
                  <c:v>0.83</c:v>
                </c:pt>
                <c:pt idx="34">
                  <c:v>0.76</c:v>
                </c:pt>
                <c:pt idx="35">
                  <c:v>0.76</c:v>
                </c:pt>
                <c:pt idx="36">
                  <c:v>0.73</c:v>
                </c:pt>
                <c:pt idx="37">
                  <c:v>0.73</c:v>
                </c:pt>
                <c:pt idx="38">
                  <c:v>0.88</c:v>
                </c:pt>
                <c:pt idx="39">
                  <c:v>0.77</c:v>
                </c:pt>
                <c:pt idx="40">
                  <c:v>0.76</c:v>
                </c:pt>
                <c:pt idx="41">
                  <c:v>1.0</c:v>
                </c:pt>
                <c:pt idx="42">
                  <c:v>0.75</c:v>
                </c:pt>
                <c:pt idx="43">
                  <c:v>0.74</c:v>
                </c:pt>
                <c:pt idx="44">
                  <c:v>0.78</c:v>
                </c:pt>
                <c:pt idx="45">
                  <c:v>0.79</c:v>
                </c:pt>
                <c:pt idx="46">
                  <c:v>0.79</c:v>
                </c:pt>
                <c:pt idx="47">
                  <c:v>1.0</c:v>
                </c:pt>
                <c:pt idx="48">
                  <c:v>0.83</c:v>
                </c:pt>
                <c:pt idx="49">
                  <c:v>0.82</c:v>
                </c:pt>
                <c:pt idx="50">
                  <c:v>0.57</c:v>
                </c:pt>
                <c:pt idx="51">
                  <c:v>0.82</c:v>
                </c:pt>
                <c:pt idx="52">
                  <c:v>0.84</c:v>
                </c:pt>
                <c:pt idx="53">
                  <c:v>0.71</c:v>
                </c:pt>
                <c:pt idx="54">
                  <c:v>0.82</c:v>
                </c:pt>
                <c:pt idx="55">
                  <c:v>0.83</c:v>
                </c:pt>
                <c:pt idx="56">
                  <c:v>1.0</c:v>
                </c:pt>
                <c:pt idx="57">
                  <c:v>0.74</c:v>
                </c:pt>
                <c:pt idx="58">
                  <c:v>0.73</c:v>
                </c:pt>
                <c:pt idx="59">
                  <c:v>0.7</c:v>
                </c:pt>
                <c:pt idx="60">
                  <c:v>0.5</c:v>
                </c:pt>
                <c:pt idx="61">
                  <c:v>0.72</c:v>
                </c:pt>
                <c:pt idx="62">
                  <c:v>0.77</c:v>
                </c:pt>
                <c:pt idx="63">
                  <c:v>0.78</c:v>
                </c:pt>
                <c:pt idx="64">
                  <c:v>0.78</c:v>
                </c:pt>
                <c:pt idx="65">
                  <c:v>0.72</c:v>
                </c:pt>
                <c:pt idx="66">
                  <c:v>0.72</c:v>
                </c:pt>
                <c:pt idx="67">
                  <c:v>0.82</c:v>
                </c:pt>
                <c:pt idx="68">
                  <c:v>0.82</c:v>
                </c:pt>
                <c:pt idx="69">
                  <c:v>0.71</c:v>
                </c:pt>
                <c:pt idx="70">
                  <c:v>0.71</c:v>
                </c:pt>
                <c:pt idx="71">
                  <c:v>0.67</c:v>
                </c:pt>
                <c:pt idx="72">
                  <c:v>0.67</c:v>
                </c:pt>
                <c:pt idx="73">
                  <c:v>0.71</c:v>
                </c:pt>
                <c:pt idx="74">
                  <c:v>0.71</c:v>
                </c:pt>
                <c:pt idx="75">
                  <c:v>0.76</c:v>
                </c:pt>
                <c:pt idx="76">
                  <c:v>0.76</c:v>
                </c:pt>
                <c:pt idx="77">
                  <c:v>0.79</c:v>
                </c:pt>
                <c:pt idx="78">
                  <c:v>0.79</c:v>
                </c:pt>
                <c:pt idx="79">
                  <c:v>0.68</c:v>
                </c:pt>
                <c:pt idx="80">
                  <c:v>0.68</c:v>
                </c:pt>
                <c:pt idx="81">
                  <c:v>0.71</c:v>
                </c:pt>
                <c:pt idx="82">
                  <c:v>0.71</c:v>
                </c:pt>
                <c:pt idx="83">
                  <c:v>0.85</c:v>
                </c:pt>
                <c:pt idx="84">
                  <c:v>0.85</c:v>
                </c:pt>
                <c:pt idx="85">
                  <c:v>0.59</c:v>
                </c:pt>
                <c:pt idx="86">
                  <c:v>0.59</c:v>
                </c:pt>
              </c:numCache>
            </c:numRef>
          </c:val>
          <c:smooth val="0"/>
          <c:extLst>
            <c:ext xmlns:c16="http://schemas.microsoft.com/office/drawing/2014/chart" uri="{C3380CC4-5D6E-409C-BE32-E72D297353CC}">
              <c16:uniqueId val="{00000006-80C5-45D1-8F40-C76D164BA980}"/>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59369817578774E-2"/>
          <c:y val="0.57116402116402121"/>
          <c:w val="0.94208126036484241"/>
          <c:h val="0.42883597883597885"/>
        </c:manualLayout>
      </c:layout>
      <c:lineChart>
        <c:grouping val="standard"/>
        <c:varyColors val="0"/>
        <c:ser>
          <c:idx val="0"/>
          <c:order val="0"/>
          <c:tx>
            <c:strRef>
              <c:f>Sheet1!$B$1</c:f>
              <c:strCache>
                <c:ptCount val="1"/>
                <c:pt idx="0">
                  <c:v>How well the rep performed in discussing efficacy for CREON</c:v>
                </c:pt>
              </c:strCache>
            </c:strRef>
          </c:tx>
          <c:spPr>
            <a:ln w="28575" cap="rnd">
              <a:solidFill>
                <a:srgbClr val="36729C"/>
              </a:solidFill>
              <a:round/>
            </a:ln>
            <a:effectLst/>
          </c:spPr>
          <c:marker>
            <c:symbol val="circle"/>
            <c:size val="5"/>
            <c:spPr>
              <a:solidFill>
                <a:srgbClr val="36729C"/>
              </a:solidFill>
              <a:ln w="9525">
                <a:noFill/>
              </a:ln>
              <a:effectLst/>
            </c:spPr>
          </c:marker>
          <c:dLbls>
            <c:dLbl>
              <c:idx val="0"/>
              <c:layout>
                <c:manualLayout>
                  <c:x val="-4.6084888059701491E-2"/>
                  <c:y val="-0.35053703703703704"/>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789-480E-8B3A-1F94638874B5}"/>
                </c:ext>
              </c:extLst>
            </c:dLbl>
            <c:dLbl>
              <c:idx val="1"/>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89-480E-8B3A-1F94638874B5}"/>
                </c:ext>
              </c:extLst>
            </c:dLbl>
            <c:dLbl>
              <c:idx val="2"/>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789-480E-8B3A-1F94638874B5}"/>
                </c:ext>
              </c:extLst>
            </c:dLbl>
            <c:dLbl>
              <c:idx val="3"/>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789-480E-8B3A-1F94638874B5}"/>
                </c:ext>
              </c:extLst>
            </c:dLbl>
            <c:dLbl>
              <c:idx val="4"/>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789-480E-8B3A-1F94638874B5}"/>
                </c:ext>
              </c:extLst>
            </c:dLbl>
            <c:dLbl>
              <c:idx val="5"/>
              <c:layout>
                <c:manualLayout>
                  <c:x val="-4.6084888059701491E-2"/>
                  <c:y val="-0.4080462962962963"/>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789-480E-8B3A-1F94638874B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Sheet1!$A$2:$A$88</c:f>
              <c:strCache>
                <c:ptCount val="87"/>
                <c:pt idx="0">
                  <c:v>Jan-Feb 2026 - NA</c:v>
                </c:pt>
                <c:pt idx="1">
                  <c:v>Jan-Feb 2026 - Overall</c:v>
                </c:pt>
                <c:pt idx="2">
                  <c:v>Jul-Aug 2020 - NA</c:v>
                </c:pt>
                <c:pt idx="3">
                  <c:v>Jul-Aug 2020 - Overall</c:v>
                </c:pt>
                <c:pt idx="4">
                  <c:v>W1 - NA</c:v>
                </c:pt>
                <c:pt idx="5">
                  <c:v>W1 - Overall</c:v>
                </c:pt>
                <c:pt idx="6">
                  <c:v>W10 - NA</c:v>
                </c:pt>
                <c:pt idx="7">
                  <c:v>W10 - Overall</c:v>
                </c:pt>
                <c:pt idx="8">
                  <c:v>W11 - NA</c:v>
                </c:pt>
                <c:pt idx="9">
                  <c:v>W11 - Overall</c:v>
                </c:pt>
                <c:pt idx="10">
                  <c:v>W12 - NA</c:v>
                </c:pt>
                <c:pt idx="11">
                  <c:v>W12 - NO</c:v>
                </c:pt>
                <c:pt idx="12">
                  <c:v>W12 - Overall</c:v>
                </c:pt>
                <c:pt idx="13">
                  <c:v>W12 - YES</c:v>
                </c:pt>
                <c:pt idx="14">
                  <c:v>W13 - NO</c:v>
                </c:pt>
                <c:pt idx="15">
                  <c:v>W13 - Overall</c:v>
                </c:pt>
                <c:pt idx="16">
                  <c:v>W13 - YES</c:v>
                </c:pt>
                <c:pt idx="17">
                  <c:v>W14 - NO</c:v>
                </c:pt>
                <c:pt idx="18">
                  <c:v>W14 - Overall</c:v>
                </c:pt>
                <c:pt idx="19">
                  <c:v>W14 - YES</c:v>
                </c:pt>
                <c:pt idx="20">
                  <c:v>W15 - NO</c:v>
                </c:pt>
                <c:pt idx="21">
                  <c:v>W15 - Overall</c:v>
                </c:pt>
                <c:pt idx="22">
                  <c:v>W15 - YES</c:v>
                </c:pt>
                <c:pt idx="23">
                  <c:v>W16 - NO</c:v>
                </c:pt>
                <c:pt idx="24">
                  <c:v>W16 - Overall</c:v>
                </c:pt>
                <c:pt idx="25">
                  <c:v>W16 - YES</c:v>
                </c:pt>
                <c:pt idx="26">
                  <c:v>W17 - NA</c:v>
                </c:pt>
                <c:pt idx="27">
                  <c:v>W17 - NO</c:v>
                </c:pt>
                <c:pt idx="28">
                  <c:v>W17 - Overall</c:v>
                </c:pt>
                <c:pt idx="29">
                  <c:v>W17 - YES</c:v>
                </c:pt>
                <c:pt idx="30">
                  <c:v>W18 - NO</c:v>
                </c:pt>
                <c:pt idx="31">
                  <c:v>W18 - Overall</c:v>
                </c:pt>
                <c:pt idx="32">
                  <c:v>W18 - YES</c:v>
                </c:pt>
                <c:pt idx="33">
                  <c:v>W19 - NO</c:v>
                </c:pt>
                <c:pt idx="34">
                  <c:v>W19 - Overall</c:v>
                </c:pt>
                <c:pt idx="35">
                  <c:v>W19 - YES</c:v>
                </c:pt>
                <c:pt idx="36">
                  <c:v>W2 - NA</c:v>
                </c:pt>
                <c:pt idx="37">
                  <c:v>W2 - Overall</c:v>
                </c:pt>
                <c:pt idx="38">
                  <c:v>W20 - NO</c:v>
                </c:pt>
                <c:pt idx="39">
                  <c:v>W20 - Overall</c:v>
                </c:pt>
                <c:pt idx="40">
                  <c:v>W20 - YES</c:v>
                </c:pt>
                <c:pt idx="41">
                  <c:v>W21 - NO</c:v>
                </c:pt>
                <c:pt idx="42">
                  <c:v>W21 - Overall</c:v>
                </c:pt>
                <c:pt idx="43">
                  <c:v>W21 - YES</c:v>
                </c:pt>
                <c:pt idx="44">
                  <c:v>W22 - NO</c:v>
                </c:pt>
                <c:pt idx="45">
                  <c:v>W22 - Overall</c:v>
                </c:pt>
                <c:pt idx="46">
                  <c:v>W22 - YES</c:v>
                </c:pt>
                <c:pt idx="47">
                  <c:v>W23 - NO</c:v>
                </c:pt>
                <c:pt idx="48">
                  <c:v>W23 - Overall</c:v>
                </c:pt>
                <c:pt idx="49">
                  <c:v>W23 - YES</c:v>
                </c:pt>
                <c:pt idx="50">
                  <c:v>W24 - NO</c:v>
                </c:pt>
                <c:pt idx="51">
                  <c:v>W24 - Overall</c:v>
                </c:pt>
                <c:pt idx="52">
                  <c:v>W24 - YES</c:v>
                </c:pt>
                <c:pt idx="53">
                  <c:v>W25 - NO</c:v>
                </c:pt>
                <c:pt idx="54">
                  <c:v>W25 - Overall</c:v>
                </c:pt>
                <c:pt idx="55">
                  <c:v>W25 - YES</c:v>
                </c:pt>
                <c:pt idx="56">
                  <c:v>W26 - NO</c:v>
                </c:pt>
                <c:pt idx="57">
                  <c:v>W26 - Overall</c:v>
                </c:pt>
                <c:pt idx="58">
                  <c:v>W26 - YES</c:v>
                </c:pt>
                <c:pt idx="59">
                  <c:v>W27 - NA</c:v>
                </c:pt>
                <c:pt idx="60">
                  <c:v>W27 - NO</c:v>
                </c:pt>
                <c:pt idx="61">
                  <c:v>W27 - Overall</c:v>
                </c:pt>
                <c:pt idx="62">
                  <c:v>W27 - YES</c:v>
                </c:pt>
                <c:pt idx="63">
                  <c:v>W28 - NA</c:v>
                </c:pt>
                <c:pt idx="64">
                  <c:v>W28 - Overall</c:v>
                </c:pt>
                <c:pt idx="65">
                  <c:v>W29 - NA</c:v>
                </c:pt>
                <c:pt idx="66">
                  <c:v>W29 - Overall</c:v>
                </c:pt>
                <c:pt idx="67">
                  <c:v>W3 - NA</c:v>
                </c:pt>
                <c:pt idx="68">
                  <c:v>W3 - Overall</c:v>
                </c:pt>
                <c:pt idx="69">
                  <c:v>W30 - NA</c:v>
                </c:pt>
                <c:pt idx="70">
                  <c:v>W30 - Overall</c:v>
                </c:pt>
                <c:pt idx="71">
                  <c:v>W31 - NA</c:v>
                </c:pt>
                <c:pt idx="72">
                  <c:v>W31 - Overall</c:v>
                </c:pt>
                <c:pt idx="73">
                  <c:v>W32 - NA</c:v>
                </c:pt>
                <c:pt idx="74">
                  <c:v>W32 - Overall</c:v>
                </c:pt>
                <c:pt idx="75">
                  <c:v>W4 - NA</c:v>
                </c:pt>
                <c:pt idx="76">
                  <c:v>W4 - Overall</c:v>
                </c:pt>
                <c:pt idx="77">
                  <c:v>W5 - NA</c:v>
                </c:pt>
                <c:pt idx="78">
                  <c:v>W5 - Overall</c:v>
                </c:pt>
                <c:pt idx="79">
                  <c:v>W6 - NA</c:v>
                </c:pt>
                <c:pt idx="80">
                  <c:v>W6 - Overall</c:v>
                </c:pt>
                <c:pt idx="81">
                  <c:v>W7 - NA</c:v>
                </c:pt>
                <c:pt idx="82">
                  <c:v>W7 - Overall</c:v>
                </c:pt>
                <c:pt idx="83">
                  <c:v>W8 - NA</c:v>
                </c:pt>
                <c:pt idx="84">
                  <c:v>W8 - Overall</c:v>
                </c:pt>
                <c:pt idx="85">
                  <c:v>W9 - NA</c:v>
                </c:pt>
                <c:pt idx="86">
                  <c:v>W9 - Overall</c:v>
                </c:pt>
              </c:strCache>
            </c:strRef>
          </c:cat>
          <c:val>
            <c:numRef>
              <c:f>Sheet1!$B$2:$B$88</c:f>
              <c:numCache>
                <c:formatCode>0%</c:formatCode>
                <c:ptCount val="87"/>
                <c:pt idx="0">
                  <c:v>0.79</c:v>
                </c:pt>
                <c:pt idx="1">
                  <c:v>0.79</c:v>
                </c:pt>
                <c:pt idx="2">
                  <c:v>0.0</c:v>
                </c:pt>
                <c:pt idx="3">
                  <c:v>0.0</c:v>
                </c:pt>
                <c:pt idx="4">
                  <c:v>0.0</c:v>
                </c:pt>
                <c:pt idx="5">
                  <c:v>0.0</c:v>
                </c:pt>
                <c:pt idx="6">
                  <c:v>0.75</c:v>
                </c:pt>
                <c:pt idx="7">
                  <c:v>0.75</c:v>
                </c:pt>
                <c:pt idx="8">
                  <c:v>0.76</c:v>
                </c:pt>
                <c:pt idx="9">
                  <c:v>0.76</c:v>
                </c:pt>
                <c:pt idx="10">
                  <c:v>0.78</c:v>
                </c:pt>
                <c:pt idx="11">
                  <c:v>1.0</c:v>
                </c:pt>
                <c:pt idx="12">
                  <c:v>0.76</c:v>
                </c:pt>
                <c:pt idx="13">
                  <c:v>0.0</c:v>
                </c:pt>
                <c:pt idx="14">
                  <c:v>1.0</c:v>
                </c:pt>
                <c:pt idx="15">
                  <c:v>0.76</c:v>
                </c:pt>
                <c:pt idx="16">
                  <c:v>0.75</c:v>
                </c:pt>
                <c:pt idx="17">
                  <c:v>1.0</c:v>
                </c:pt>
                <c:pt idx="18">
                  <c:v>0.83</c:v>
                </c:pt>
                <c:pt idx="19">
                  <c:v>0.82</c:v>
                </c:pt>
                <c:pt idx="20">
                  <c:v>0.5</c:v>
                </c:pt>
                <c:pt idx="21">
                  <c:v>0.8</c:v>
                </c:pt>
                <c:pt idx="22">
                  <c:v>0.81</c:v>
                </c:pt>
                <c:pt idx="23">
                  <c:v>0.0</c:v>
                </c:pt>
                <c:pt idx="24">
                  <c:v>0.79</c:v>
                </c:pt>
                <c:pt idx="25">
                  <c:v>0.8</c:v>
                </c:pt>
                <c:pt idx="26">
                  <c:v>1.0</c:v>
                </c:pt>
                <c:pt idx="27">
                  <c:v>0.5</c:v>
                </c:pt>
                <c:pt idx="28">
                  <c:v>0.77</c:v>
                </c:pt>
                <c:pt idx="29">
                  <c:v>0.78</c:v>
                </c:pt>
                <c:pt idx="30">
                  <c:v>0.83</c:v>
                </c:pt>
                <c:pt idx="31">
                  <c:v>0.74</c:v>
                </c:pt>
                <c:pt idx="32">
                  <c:v>0.73</c:v>
                </c:pt>
                <c:pt idx="33">
                  <c:v>0.83</c:v>
                </c:pt>
                <c:pt idx="34">
                  <c:v>0.75</c:v>
                </c:pt>
                <c:pt idx="35">
                  <c:v>0.74</c:v>
                </c:pt>
                <c:pt idx="36">
                  <c:v>0.0</c:v>
                </c:pt>
                <c:pt idx="37">
                  <c:v>0.0</c:v>
                </c:pt>
                <c:pt idx="38">
                  <c:v>0.75</c:v>
                </c:pt>
                <c:pt idx="39">
                  <c:v>0.84</c:v>
                </c:pt>
                <c:pt idx="40">
                  <c:v>0.85</c:v>
                </c:pt>
                <c:pt idx="41">
                  <c:v>1.0</c:v>
                </c:pt>
                <c:pt idx="42">
                  <c:v>0.76</c:v>
                </c:pt>
                <c:pt idx="43">
                  <c:v>0.75</c:v>
                </c:pt>
                <c:pt idx="44">
                  <c:v>0.78</c:v>
                </c:pt>
                <c:pt idx="45">
                  <c:v>0.85</c:v>
                </c:pt>
                <c:pt idx="46">
                  <c:v>0.86</c:v>
                </c:pt>
                <c:pt idx="47">
                  <c:v>1.0</c:v>
                </c:pt>
                <c:pt idx="48">
                  <c:v>0.87</c:v>
                </c:pt>
                <c:pt idx="49">
                  <c:v>0.86</c:v>
                </c:pt>
                <c:pt idx="50">
                  <c:v>0.86</c:v>
                </c:pt>
                <c:pt idx="51">
                  <c:v>0.8</c:v>
                </c:pt>
                <c:pt idx="52">
                  <c:v>0.79</c:v>
                </c:pt>
                <c:pt idx="53">
                  <c:v>0.71</c:v>
                </c:pt>
                <c:pt idx="54">
                  <c:v>0.85</c:v>
                </c:pt>
                <c:pt idx="55">
                  <c:v>0.86</c:v>
                </c:pt>
                <c:pt idx="56">
                  <c:v>1.0</c:v>
                </c:pt>
                <c:pt idx="57">
                  <c:v>0.81</c:v>
                </c:pt>
                <c:pt idx="58">
                  <c:v>0.81</c:v>
                </c:pt>
                <c:pt idx="59">
                  <c:v>0.72</c:v>
                </c:pt>
                <c:pt idx="60">
                  <c:v>1.0</c:v>
                </c:pt>
                <c:pt idx="61">
                  <c:v>0.74</c:v>
                </c:pt>
                <c:pt idx="62">
                  <c:v>0.77</c:v>
                </c:pt>
                <c:pt idx="63">
                  <c:v>0.76</c:v>
                </c:pt>
                <c:pt idx="64">
                  <c:v>0.76</c:v>
                </c:pt>
                <c:pt idx="65">
                  <c:v>0.77</c:v>
                </c:pt>
                <c:pt idx="66">
                  <c:v>0.77</c:v>
                </c:pt>
                <c:pt idx="67">
                  <c:v>0.0</c:v>
                </c:pt>
                <c:pt idx="68">
                  <c:v>0.0</c:v>
                </c:pt>
                <c:pt idx="69">
                  <c:v>0.82</c:v>
                </c:pt>
                <c:pt idx="70">
                  <c:v>0.82</c:v>
                </c:pt>
                <c:pt idx="71">
                  <c:v>0.79</c:v>
                </c:pt>
                <c:pt idx="72">
                  <c:v>0.79</c:v>
                </c:pt>
                <c:pt idx="73">
                  <c:v>0.76</c:v>
                </c:pt>
                <c:pt idx="74">
                  <c:v>0.76</c:v>
                </c:pt>
                <c:pt idx="75">
                  <c:v>0.0</c:v>
                </c:pt>
                <c:pt idx="76">
                  <c:v>0.0</c:v>
                </c:pt>
                <c:pt idx="77">
                  <c:v>0.0</c:v>
                </c:pt>
                <c:pt idx="78">
                  <c:v>0.0</c:v>
                </c:pt>
                <c:pt idx="79">
                  <c:v>0.0</c:v>
                </c:pt>
                <c:pt idx="80">
                  <c:v>0.0</c:v>
                </c:pt>
                <c:pt idx="81">
                  <c:v>0.0</c:v>
                </c:pt>
                <c:pt idx="82">
                  <c:v>0.0</c:v>
                </c:pt>
                <c:pt idx="83">
                  <c:v>0.0</c:v>
                </c:pt>
                <c:pt idx="84">
                  <c:v>0.0</c:v>
                </c:pt>
                <c:pt idx="85">
                  <c:v>0.72</c:v>
                </c:pt>
                <c:pt idx="86">
                  <c:v>0.72</c:v>
                </c:pt>
              </c:numCache>
            </c:numRef>
          </c:val>
          <c:smooth val="0"/>
          <c:extLst>
            <c:ext xmlns:c16="http://schemas.microsoft.com/office/drawing/2014/chart" uri="{C3380CC4-5D6E-409C-BE32-E72D297353CC}">
              <c16:uniqueId val="{00000006-6789-480E-8B3A-1F94638874B5}"/>
            </c:ext>
          </c:extLst>
        </c:ser>
        <c:dLbls>
          <c:dLblPos val="t"/>
          <c:showLegendKey val="0"/>
          <c:showVal val="1"/>
          <c:showCatName val="0"/>
          <c:showSerName val="0"/>
          <c:showPercent val="0"/>
          <c:showBubbleSize val="0"/>
        </c:dLbls>
        <c:marker val="1"/>
        <c:smooth val="0"/>
        <c:axId val="878353152"/>
        <c:axId val="878363712"/>
      </c:lineChart>
      <c:catAx>
        <c:axId val="878353152"/>
        <c:scaling>
          <c:orientation val="minMax"/>
        </c:scaling>
        <c:delete val="1"/>
        <c:axPos val="b"/>
        <c:numFmt formatCode="General" sourceLinked="1"/>
        <c:majorTickMark val="none"/>
        <c:minorTickMark val="none"/>
        <c:tickLblPos val="nextTo"/>
        <c:crossAx val="878363712"/>
        <c:crosses val="autoZero"/>
        <c:auto val="1"/>
        <c:lblAlgn val="ctr"/>
        <c:lblOffset val="100"/>
        <c:noMultiLvlLbl val="0"/>
      </c:catAx>
      <c:valAx>
        <c:axId val="878363712"/>
        <c:scaling>
          <c:orientation val="minMax"/>
        </c:scaling>
        <c:delete val="1"/>
        <c:axPos val="l"/>
        <c:numFmt formatCode="0%" sourceLinked="1"/>
        <c:majorTickMark val="none"/>
        <c:minorTickMark val="none"/>
        <c:tickLblPos val="nextTo"/>
        <c:crossAx val="8783531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84077798611852161"/>
        </c:manualLayout>
      </c:layout>
      <c:lineChart>
        <c:grouping val="standard"/>
        <c:varyColors val="0"/>
        <c:ser>
          <c:idx val="0"/>
          <c:order val="0"/>
          <c:tx>
            <c:strRef>
              <c:f>Sheet1!$B$1</c:f>
              <c:strCache>
                <c:ptCount val="1"/>
                <c:pt idx="0">
                  <c:v>Overall</c:v>
                </c:pt>
              </c:strCache>
            </c:strRef>
          </c:tx>
          <c:spPr>
            <a:ln w="28575" cap="rnd">
              <a:solidFill>
                <a:srgbClr val="071D49"/>
              </a:solidFill>
              <a:round/>
            </a:ln>
            <a:effectLst/>
          </c:spPr>
          <c:marker>
            <c:symbol val="circle"/>
            <c:size val="4"/>
            <c:spPr>
              <a:solidFill>
                <a:schemeClr val="tx1"/>
              </a:solidFill>
              <a:ln w="28575">
                <a:solidFill>
                  <a:schemeClr val="tx1"/>
                </a:solidFill>
              </a:ln>
              <a:effectLst/>
            </c:spPr>
          </c:marker>
          <c:dPt>
            <c:idx val="0"/>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71D49"/>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71D49"/>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71D49"/>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Pt>
            <c:idx val="3"/>
            <c:marker>
              <c:symbol val="circle"/>
              <c:size val="4"/>
              <c:spPr>
                <a:solidFill>
                  <a:schemeClr val="tx1"/>
                </a:solidFill>
                <a:ln w="28575">
                  <a:solidFill>
                    <a:schemeClr val="tx1"/>
                  </a:solidFill>
                </a:ln>
                <a:effectLst/>
              </c:spPr>
            </c:marker>
            <c:bubble3D val="0"/>
            <c:spPr>
              <a:ln w="28575" cap="rnd">
                <a:solidFill>
                  <a:srgbClr val="071D49"/>
                </a:solidFill>
                <a:round/>
              </a:ln>
              <a:effectLst/>
            </c:spPr>
            <c:extLst>
              <c:ext xmlns:c16="http://schemas.microsoft.com/office/drawing/2014/chart" uri="{C3380CC4-5D6E-409C-BE32-E72D297353CC}">
                <c16:uniqueId val="{00000006-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0.37</c:v>
                </c:pt>
                <c:pt idx="1">
                  <c:v>0.35</c:v>
                </c:pt>
                <c:pt idx="2">
                  <c:v>0.4</c:v>
                </c:pt>
                <c:pt idx="3">
                  <c:v>0.37</c:v>
                </c:pt>
                <c:pt idx="4">
                  <c:v>0.35</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61797076023391817"/>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0.23</c:v>
                </c:pt>
                <c:pt idx="1">
                  <c:v>0.2</c:v>
                </c:pt>
                <c:pt idx="2">
                  <c:v>0.26</c:v>
                </c:pt>
                <c:pt idx="3">
                  <c:v>0.23</c:v>
                </c:pt>
                <c:pt idx="4">
                  <c:v>0.22</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50656725146198833"/>
        </c:manualLayout>
      </c:layout>
      <c:lineChart>
        <c:grouping val="standard"/>
        <c:varyColors val="0"/>
        <c:ser>
          <c:idx val="0"/>
          <c:order val="0"/>
          <c:tx>
            <c:strRef>
              <c:f>Sheet1!$B$1</c:f>
              <c:strCache>
                <c:ptCount val="1"/>
                <c:pt idx="0">
                  <c:v>ZENPEP</c:v>
                </c:pt>
              </c:strCache>
            </c:strRef>
          </c:tx>
          <c:spPr>
            <a:ln w="28575" cap="rnd">
              <a:solidFill>
                <a:srgbClr val="9778D4"/>
              </a:solidFill>
              <a:round/>
            </a:ln>
            <a:effectLst/>
          </c:spPr>
          <c:marker>
            <c:symbol val="circle"/>
            <c:size val="4"/>
            <c:spPr>
              <a:solidFill>
                <a:srgbClr val="9778D4"/>
              </a:solidFill>
              <a:ln w="28575">
                <a:solidFill>
                  <a:srgbClr val="9778D4"/>
                </a:solidFill>
              </a:ln>
              <a:effectLst/>
            </c:spPr>
          </c:marker>
          <c:dPt>
            <c:idx val="0"/>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0.12</c:v>
                </c:pt>
                <c:pt idx="1">
                  <c:v>0.11</c:v>
                </c:pt>
                <c:pt idx="2">
                  <c:v>0.11</c:v>
                </c:pt>
                <c:pt idx="3">
                  <c:v>0.12</c:v>
                </c:pt>
                <c:pt idx="4">
                  <c:v>0.11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39516374269005838"/>
        </c:manualLayout>
      </c:layout>
      <c:lineChart>
        <c:grouping val="standard"/>
        <c:varyColors val="0"/>
        <c:ser>
          <c:idx val="0"/>
          <c:order val="0"/>
          <c:tx>
            <c:strRef>
              <c:f>Sheet1!$B$1</c:f>
              <c:strCache>
                <c:ptCount val="1"/>
                <c:pt idx="0">
                  <c:v>PANCREAZE</c:v>
                </c:pt>
              </c:strCache>
            </c:strRef>
          </c:tx>
          <c:spPr>
            <a:ln w="28575" cap="rnd">
              <a:solidFill>
                <a:srgbClr val="FF8813"/>
              </a:solidFill>
              <a:round/>
            </a:ln>
            <a:effectLst/>
          </c:spPr>
          <c:marker>
            <c:symbol val="circle"/>
            <c:size val="3"/>
            <c:spPr>
              <a:solidFill>
                <a:srgbClr val="FF8813"/>
              </a:solidFill>
              <a:ln w="28575">
                <a:solidFill>
                  <a:srgbClr val="FF8813"/>
                </a:solidFill>
              </a:ln>
              <a:effectLst/>
            </c:spPr>
          </c:marker>
          <c:dPt>
            <c:idx val="0"/>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8813"/>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0.01</c:v>
                </c:pt>
                <c:pt idx="1">
                  <c:v>0.03</c:v>
                </c:pt>
                <c:pt idx="2">
                  <c:v>0.01</c:v>
                </c:pt>
                <c:pt idx="3">
                  <c:v>0.01</c:v>
                </c:pt>
                <c:pt idx="4">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50656725146198833"/>
        </c:manualLayout>
      </c:layout>
      <c:lineChart>
        <c:grouping val="standard"/>
        <c:varyColors val="0"/>
        <c:ser>
          <c:idx val="0"/>
          <c:order val="0"/>
          <c:tx>
            <c:strRef>
              <c:f>Sheet1!$B$1</c:f>
              <c:strCache>
                <c:ptCount val="1"/>
                <c:pt idx="0">
                  <c:v>PERTZYE</c:v>
                </c:pt>
              </c:strCache>
            </c:strRef>
          </c:tx>
          <c:spPr>
            <a:ln w="28575" cap="rnd">
              <a:solidFill>
                <a:srgbClr val="00B3C8"/>
              </a:solidFill>
              <a:round/>
            </a:ln>
            <a:effectLst/>
          </c:spPr>
          <c:marker>
            <c:symbol val="circle"/>
            <c:size val="4"/>
            <c:spPr>
              <a:solidFill>
                <a:srgbClr val="00B3C8"/>
              </a:solidFill>
              <a:ln w="28575">
                <a:solidFill>
                  <a:srgbClr val="00B3C8"/>
                </a:solidFill>
              </a:ln>
              <a:effectLst/>
            </c:spPr>
          </c:marker>
          <c:dPt>
            <c:idx val="0"/>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00B3C8"/>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0.01</c:v>
                </c:pt>
                <c:pt idx="1">
                  <c:v>0.01</c:v>
                </c:pt>
                <c:pt idx="2">
                  <c:v>0.01</c:v>
                </c:pt>
                <c:pt idx="3">
                  <c:v>0.01</c:v>
                </c:pt>
                <c:pt idx="4">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84077798611852161"/>
        </c:manualLayout>
      </c:layout>
      <c:lineChart>
        <c:grouping val="standard"/>
        <c:varyColors val="0"/>
        <c:ser>
          <c:idx val="0"/>
          <c:order val="0"/>
          <c:tx>
            <c:strRef>
              <c:f>Sheet1!$B$1</c:f>
              <c:strCache>
                <c:ptCount val="1"/>
                <c:pt idx="0">
                  <c:v>AbbVie</c:v>
                </c:pt>
              </c:strCache>
            </c:strRef>
          </c:tx>
          <c:spPr>
            <a:ln w="28575" cap="rnd">
              <a:solidFill>
                <a:srgbClr val="002060"/>
              </a:solidFill>
              <a:round/>
            </a:ln>
            <a:effectLst/>
          </c:spPr>
          <c:marker>
            <c:symbol val="circle"/>
            <c:size val="4"/>
            <c:spPr>
              <a:solidFill>
                <a:schemeClr val="tx1"/>
              </a:solidFill>
              <a:ln w="28575">
                <a:solidFill>
                  <a:schemeClr val="tx1"/>
                </a:solidFill>
              </a:ln>
              <a:effectLst/>
            </c:spPr>
          </c:marker>
          <c:dPt>
            <c:idx val="0"/>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0.48</c:v>
                </c:pt>
                <c:pt idx="1">
                  <c:v>0.47</c:v>
                </c:pt>
                <c:pt idx="2">
                  <c:v>0.43</c:v>
                </c:pt>
                <c:pt idx="3">
                  <c:v>0.44</c:v>
                </c:pt>
                <c:pt idx="4">
                  <c:v>0.48</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65510526315789475"/>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0.33</c:v>
                </c:pt>
                <c:pt idx="1">
                  <c:v>0.3</c:v>
                </c:pt>
                <c:pt idx="2">
                  <c:v>0.28000000000000003</c:v>
                </c:pt>
                <c:pt idx="3">
                  <c:v>0.3</c:v>
                </c:pt>
                <c:pt idx="4">
                  <c:v>0.3</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52513450292397656"/>
        </c:manualLayout>
      </c:layout>
      <c:lineChart>
        <c:grouping val="standard"/>
        <c:varyColors val="0"/>
        <c:ser>
          <c:idx val="0"/>
          <c:order val="0"/>
          <c:tx>
            <c:strRef>
              <c:f>Sheet1!$B$1</c:f>
              <c:strCache>
                <c:ptCount val="1"/>
                <c:pt idx="0">
                  <c:v>Zenpep</c:v>
                </c:pt>
              </c:strCache>
            </c:strRef>
          </c:tx>
          <c:spPr>
            <a:ln w="28575" cap="rnd">
              <a:solidFill>
                <a:srgbClr val="9778D4"/>
              </a:solidFill>
              <a:round/>
            </a:ln>
            <a:effectLst/>
          </c:spPr>
          <c:marker>
            <c:symbol val="circle"/>
            <c:size val="4"/>
            <c:spPr>
              <a:solidFill>
                <a:srgbClr val="9778D4"/>
              </a:solidFill>
              <a:ln w="28575">
                <a:solidFill>
                  <a:srgbClr val="9778D4"/>
                </a:solidFill>
              </a:ln>
              <a:effectLst/>
            </c:spPr>
          </c:marker>
          <c:dPt>
            <c:idx val="0"/>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0.13</c:v>
                </c:pt>
                <c:pt idx="1">
                  <c:v>0.13</c:v>
                </c:pt>
                <c:pt idx="2">
                  <c:v>0.13</c:v>
                </c:pt>
                <c:pt idx="3">
                  <c:v>0.12</c:v>
                </c:pt>
                <c:pt idx="4">
                  <c:v>0.16</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39481731405127973"/>
        </c:manualLayout>
      </c:layout>
      <c:lineChart>
        <c:grouping val="standard"/>
        <c:varyColors val="0"/>
        <c:ser>
          <c:idx val="0"/>
          <c:order val="0"/>
          <c:tx>
            <c:strRef>
              <c:f>Sheet1!$B$1</c:f>
              <c:strCache>
                <c:ptCount val="1"/>
                <c:pt idx="0">
                  <c:v>PANCREAZE</c:v>
                </c:pt>
              </c:strCache>
            </c:strRef>
          </c:tx>
          <c:spPr>
            <a:ln w="28575" cap="rnd">
              <a:solidFill>
                <a:srgbClr val="FF8813"/>
              </a:solidFill>
              <a:round/>
            </a:ln>
            <a:effectLst/>
          </c:spPr>
          <c:marker>
            <c:symbol val="circle"/>
            <c:size val="3"/>
            <c:spPr>
              <a:solidFill>
                <a:srgbClr val="FF8813"/>
              </a:solidFill>
              <a:ln w="28575">
                <a:solidFill>
                  <a:srgbClr val="FF8813"/>
                </a:solidFill>
              </a:ln>
              <a:effectLst/>
            </c:spPr>
          </c:marker>
          <c:dPt>
            <c:idx val="0"/>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8813"/>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0.01</c:v>
                </c:pt>
                <c:pt idx="1">
                  <c:v>0.02</c:v>
                </c:pt>
                <c:pt idx="2">
                  <c:v>0.01</c:v>
                </c:pt>
                <c:pt idx="3">
                  <c:v>0.01</c:v>
                </c:pt>
                <c:pt idx="4">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52513450292397656"/>
        </c:manualLayout>
      </c:layout>
      <c:lineChart>
        <c:grouping val="standard"/>
        <c:varyColors val="0"/>
        <c:ser>
          <c:idx val="0"/>
          <c:order val="0"/>
          <c:tx>
            <c:strRef>
              <c:f>Sheet1!$B$1</c:f>
              <c:strCache>
                <c:ptCount val="1"/>
                <c:pt idx="0">
                  <c:v>Pertzye</c:v>
                </c:pt>
              </c:strCache>
            </c:strRef>
          </c:tx>
          <c:spPr>
            <a:ln w="28575" cap="rnd">
              <a:solidFill>
                <a:srgbClr val="00B3C8"/>
              </a:solidFill>
              <a:round/>
            </a:ln>
            <a:effectLst/>
          </c:spPr>
          <c:marker>
            <c:symbol val="circle"/>
            <c:size val="4"/>
            <c:spPr>
              <a:solidFill>
                <a:srgbClr val="00B3C8"/>
              </a:solidFill>
              <a:ln w="28575">
                <a:solidFill>
                  <a:srgbClr val="00B3C8"/>
                </a:solidFill>
              </a:ln>
              <a:effectLst/>
            </c:spPr>
          </c:marker>
          <c:dPt>
            <c:idx val="0"/>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00B3C8"/>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0.01</c:v>
                </c:pt>
                <c:pt idx="1">
                  <c:v>0.02</c:v>
                </c:pt>
                <c:pt idx="2">
                  <c:v>0.01</c:v>
                </c:pt>
                <c:pt idx="3">
                  <c:v>0.01</c:v>
                </c:pt>
                <c:pt idx="4">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61797076023391817"/>
        </c:manualLayout>
      </c:layout>
      <c:lineChart>
        <c:grouping val="standard"/>
        <c:varyColors val="0"/>
        <c:ser>
          <c:idx val="0"/>
          <c:order val="0"/>
          <c:tx>
            <c:strRef>
              <c:f>Sheet1!$B$1</c:f>
              <c:strCache>
                <c:ptCount val="1"/>
                <c:pt idx="0">
                  <c:v>AbbVie</c:v>
                </c:pt>
              </c:strCache>
            </c:strRef>
          </c:tx>
          <c:spPr>
            <a:ln w="28575" cap="rnd">
              <a:solidFill>
                <a:srgbClr val="002060"/>
              </a:solidFill>
              <a:round/>
            </a:ln>
            <a:effectLst/>
          </c:spPr>
          <c:marker>
            <c:symbol val="circle"/>
            <c:size val="4"/>
            <c:spPr>
              <a:solidFill>
                <a:schemeClr val="tx1"/>
              </a:solidFill>
              <a:ln w="28575">
                <a:solidFill>
                  <a:schemeClr val="tx1"/>
                </a:solidFill>
              </a:ln>
              <a:effectLst/>
            </c:spPr>
          </c:marker>
          <c:dPt>
            <c:idx val="0"/>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chemeClr val="tx1"/>
                </a:solidFill>
                <a:ln w="28575" cap="rnd" cmpd="sng" algn="ctr">
                  <a:solidFill>
                    <a:schemeClr val="tx1"/>
                  </a:solidFill>
                  <a:prstDash val="solid"/>
                  <a:round/>
                  <a:headEnd type="none" w="med" len="med"/>
                  <a:tailEnd type="none" w="med" len="med"/>
                </a:ln>
                <a:effectLst/>
              </c:spPr>
            </c:marker>
            <c:bubble3D val="0"/>
            <c:spPr>
              <a:ln w="28575" cap="rnd" cmpd="sng" algn="ctr">
                <a:solidFill>
                  <a:srgbClr val="002060"/>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Arial"/>
                      <a:ea typeface="Arial"/>
                      <a:cs typeface="Arial"/>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0.15</c:v>
                </c:pt>
                <c:pt idx="1">
                  <c:v>0.16</c:v>
                </c:pt>
                <c:pt idx="2">
                  <c:v>0.14000000000000001</c:v>
                </c:pt>
                <c:pt idx="3">
                  <c:v>0.15</c:v>
                </c:pt>
                <c:pt idx="4">
                  <c:v>0.11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45086549707602341"/>
        </c:manualLayout>
      </c:layout>
      <c:lineChart>
        <c:grouping val="standard"/>
        <c:varyColors val="0"/>
        <c:ser>
          <c:idx val="0"/>
          <c:order val="0"/>
          <c:tx>
            <c:strRef>
              <c:f>Sheet1!$B$1</c:f>
              <c:strCache>
                <c:ptCount val="1"/>
                <c:pt idx="0">
                  <c:v>AbbVie</c:v>
                </c:pt>
              </c:strCache>
            </c:strRef>
          </c:tx>
          <c:spPr>
            <a:ln w="28575" cap="rnd">
              <a:solidFill>
                <a:srgbClr val="36729C"/>
              </a:solidFill>
              <a:round/>
            </a:ln>
            <a:effectLst/>
          </c:spPr>
          <c:marker>
            <c:symbol val="circle"/>
            <c:size val="3"/>
            <c:spPr>
              <a:solidFill>
                <a:srgbClr val="36729C"/>
              </a:solidFill>
              <a:ln w="28575">
                <a:solidFill>
                  <a:srgbClr val="36729C"/>
                </a:solidFill>
              </a:ln>
              <a:effectLst/>
            </c:spPr>
          </c:marker>
          <c:dPt>
            <c:idx val="0"/>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36729C"/>
                </a:solidFill>
                <a:ln w="28575" cap="rnd" cmpd="sng" algn="ctr">
                  <a:solidFill>
                    <a:srgbClr val="36729C"/>
                  </a:solidFill>
                  <a:prstDash val="solid"/>
                  <a:round/>
                  <a:headEnd type="none" w="med" len="med"/>
                  <a:tailEnd type="none" w="med" len="med"/>
                </a:ln>
                <a:effectLst/>
              </c:spPr>
            </c:marker>
            <c:bubble3D val="0"/>
            <c:spPr>
              <a:ln w="28575" cap="rnd" cmpd="sng" algn="ctr">
                <a:solidFill>
                  <a:srgbClr val="36729C"/>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36729C"/>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0.09</c:v>
                </c:pt>
                <c:pt idx="1">
                  <c:v>0.08</c:v>
                </c:pt>
                <c:pt idx="2">
                  <c:v>0.05</c:v>
                </c:pt>
                <c:pt idx="3">
                  <c:v>0.08</c:v>
                </c:pt>
                <c:pt idx="4">
                  <c:v>0.05</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41373099415204678"/>
        </c:manualLayout>
      </c:layout>
      <c:lineChart>
        <c:grouping val="standard"/>
        <c:varyColors val="0"/>
        <c:ser>
          <c:idx val="0"/>
          <c:order val="0"/>
          <c:tx>
            <c:strRef>
              <c:f>Sheet1!$B$1</c:f>
              <c:strCache>
                <c:ptCount val="1"/>
                <c:pt idx="0">
                  <c:v>Zenpep</c:v>
                </c:pt>
              </c:strCache>
            </c:strRef>
          </c:tx>
          <c:spPr>
            <a:ln w="28575" cap="rnd">
              <a:solidFill>
                <a:srgbClr val="9778D4"/>
              </a:solidFill>
              <a:round/>
            </a:ln>
            <a:effectLst/>
          </c:spPr>
          <c:marker>
            <c:symbol val="circle"/>
            <c:size val="4"/>
            <c:spPr>
              <a:solidFill>
                <a:srgbClr val="9778D4"/>
              </a:solidFill>
              <a:ln w="28575">
                <a:solidFill>
                  <a:srgbClr val="9778D4"/>
                </a:solidFill>
              </a:ln>
              <a:effectLst/>
            </c:spPr>
          </c:marker>
          <c:dPt>
            <c:idx val="0"/>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9778D4"/>
                </a:solidFill>
                <a:ln w="28575" cap="rnd" cmpd="sng" algn="ctr">
                  <a:solidFill>
                    <a:srgbClr val="9778D4"/>
                  </a:solidFill>
                  <a:prstDash val="solid"/>
                  <a:round/>
                  <a:headEnd type="none" w="med" len="med"/>
                  <a:tailEnd type="none" w="med" len="med"/>
                </a:ln>
                <a:effectLst/>
              </c:spPr>
            </c:marker>
            <c:bubble3D val="0"/>
            <c:spPr>
              <a:ln w="28575" cap="rnd" cmpd="sng" algn="ctr">
                <a:solidFill>
                  <a:srgbClr val="9778D4"/>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9778D4"/>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9778D4"/>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0">
                  <c:v>0.05</c:v>
                </c:pt>
                <c:pt idx="1">
                  <c:v>0.05</c:v>
                </c:pt>
                <c:pt idx="2">
                  <c:v>7.0000000000000007E-2</c:v>
                </c:pt>
                <c:pt idx="3">
                  <c:v>0.06</c:v>
                </c:pt>
                <c:pt idx="4">
                  <c:v>0.05</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41373099415204678"/>
        </c:manualLayout>
      </c:layout>
      <c:lineChart>
        <c:grouping val="standard"/>
        <c:varyColors val="0"/>
        <c:ser>
          <c:idx val="0"/>
          <c:order val="0"/>
          <c:tx>
            <c:strRef>
              <c:f>Sheet1!$B$1</c:f>
              <c:strCache>
                <c:ptCount val="1"/>
                <c:pt idx="0">
                  <c:v>Pancreaze</c:v>
                </c:pt>
              </c:strCache>
            </c:strRef>
          </c:tx>
          <c:spPr>
            <a:ln w="28575" cap="rnd">
              <a:solidFill>
                <a:srgbClr val="FF8813"/>
              </a:solidFill>
              <a:round/>
            </a:ln>
            <a:effectLst/>
          </c:spPr>
          <c:marker>
            <c:symbol val="circle"/>
            <c:size val="3"/>
            <c:spPr>
              <a:solidFill>
                <a:srgbClr val="FF8813"/>
              </a:solidFill>
              <a:ln w="28575">
                <a:solidFill>
                  <a:srgbClr val="FF8813"/>
                </a:solidFill>
              </a:ln>
              <a:effectLst/>
            </c:spPr>
          </c:marker>
          <c:dPt>
            <c:idx val="0"/>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3"/>
              <c:spPr>
                <a:solidFill>
                  <a:srgbClr val="FF8813"/>
                </a:solidFill>
                <a:ln w="28575" cap="rnd" cmpd="sng" algn="ctr">
                  <a:solidFill>
                    <a:srgbClr val="FF8813"/>
                  </a:solidFill>
                  <a:prstDash val="solid"/>
                  <a:round/>
                  <a:headEnd type="none" w="med" len="med"/>
                  <a:tailEnd type="none" w="med" len="med"/>
                </a:ln>
                <a:effectLst/>
              </c:spPr>
            </c:marker>
            <c:bubble3D val="0"/>
            <c:spPr>
              <a:ln w="28575" cap="rnd" cmpd="sng" algn="ctr">
                <a:solidFill>
                  <a:srgbClr val="FF8813"/>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FF8813"/>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8813"/>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1">
                  <c:v>0.01</c:v>
                </c:pt>
                <c:pt idx="2">
                  <c:v>0.01</c:v>
                </c:pt>
                <c:pt idx="3">
                  <c:v>0.01</c:v>
                </c:pt>
                <c:pt idx="4">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8.678154202639321E-2"/>
          <c:w val="1"/>
          <c:h val="0.41373099415204678"/>
        </c:manualLayout>
      </c:layout>
      <c:lineChart>
        <c:grouping val="standard"/>
        <c:varyColors val="0"/>
        <c:ser>
          <c:idx val="0"/>
          <c:order val="0"/>
          <c:tx>
            <c:strRef>
              <c:f>Sheet1!$B$1</c:f>
              <c:strCache>
                <c:ptCount val="1"/>
                <c:pt idx="0">
                  <c:v>PERTZYE</c:v>
                </c:pt>
              </c:strCache>
            </c:strRef>
          </c:tx>
          <c:spPr>
            <a:ln w="28575" cap="rnd">
              <a:solidFill>
                <a:srgbClr val="00B3C8"/>
              </a:solidFill>
              <a:round/>
            </a:ln>
            <a:effectLst/>
          </c:spPr>
          <c:marker>
            <c:symbol val="circle"/>
            <c:size val="4"/>
            <c:spPr>
              <a:solidFill>
                <a:srgbClr val="00B3C8"/>
              </a:solidFill>
              <a:ln w="28575">
                <a:solidFill>
                  <a:srgbClr val="00B3C8"/>
                </a:solidFill>
              </a:ln>
              <a:effectLst/>
            </c:spPr>
          </c:marker>
          <c:dPt>
            <c:idx val="0"/>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1-739B-4F0D-8D0C-5A29A49AA821}"/>
              </c:ext>
            </c:extLst>
          </c:dPt>
          <c:dPt>
            <c:idx val="1"/>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3-739B-4F0D-8D0C-5A29A49AA821}"/>
              </c:ext>
            </c:extLst>
          </c:dPt>
          <c:dPt>
            <c:idx val="2"/>
            <c:marker>
              <c:symbol val="circle"/>
              <c:size val="4"/>
              <c:spPr>
                <a:solidFill>
                  <a:srgbClr val="00B3C8"/>
                </a:solidFill>
                <a:ln w="28575" cap="rnd" cmpd="sng" algn="ctr">
                  <a:solidFill>
                    <a:srgbClr val="00B3C8"/>
                  </a:solidFill>
                  <a:prstDash val="solid"/>
                  <a:round/>
                  <a:headEnd type="none" w="med" len="med"/>
                  <a:tailEnd type="none" w="med" len="med"/>
                </a:ln>
                <a:effectLst/>
              </c:spPr>
            </c:marker>
            <c:bubble3D val="0"/>
            <c:spPr>
              <a:ln w="28575" cap="rnd" cmpd="sng" algn="ctr">
                <a:solidFill>
                  <a:srgbClr val="00B3C8"/>
                </a:solidFill>
                <a:prstDash val="solid"/>
                <a:round/>
                <a:headEnd type="none" w="med" len="med"/>
                <a:tailEnd type="none" w="med" len="med"/>
              </a:ln>
              <a:effectLst/>
            </c:spPr>
            <c:extLst>
              <c:ext xmlns:c16="http://schemas.microsoft.com/office/drawing/2014/chart" uri="{C3380CC4-5D6E-409C-BE32-E72D297353CC}">
                <c16:uniqueId val="{00000005-739B-4F0D-8D0C-5A29A49AA821}"/>
              </c:ext>
            </c:extLst>
          </c:dPt>
          <c:dLbls>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1-739B-4F0D-8D0C-5A29A49AA821}"/>
                </c:ext>
              </c:extLst>
            </c:dLbl>
            <c:dLbl>
              <c:idx val="1"/>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3-739B-4F0D-8D0C-5A29A49AA821}"/>
                </c:ext>
              </c:extLst>
            </c:dLbl>
            <c:dLbl>
              <c:idx val="2"/>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5-739B-4F0D-8D0C-5A29A49AA821}"/>
                </c:ext>
              </c:extLst>
            </c:dLbl>
            <c:dLbl>
              <c:idx val="3"/>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6-739B-4F0D-8D0C-5A29A49AA821}"/>
                </c:ext>
              </c:extLst>
            </c:dLbl>
            <c:dLbl>
              <c:idx val="4"/>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7-739B-4F0D-8D0C-5A29A49AA821}"/>
                </c:ext>
              </c:extLst>
            </c:dLbl>
            <c:dLbl>
              <c:idx val="5"/>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B3C8"/>
                      </a:solidFill>
                      <a:latin typeface="Arial"/>
                      <a:ea typeface="Arial"/>
                      <a:cs typeface="Arial"/>
                    </a:defRPr>
                  </a:pPr>
                  <a:endParaRPr lang="en-US"/>
                </a:p>
              </c:txPr>
              <c:dLblPos val="b"/>
              <c:showLegendKey val="0"/>
              <c:showVal val="1"/>
              <c:showCatName val="0"/>
              <c:showSerName val="0"/>
              <c:showPercent val="0"/>
              <c:showBubbleSize val="0"/>
              <c:extLst>
                <c:ext xmlns:c16="http://schemas.microsoft.com/office/drawing/2014/chart" uri="{C3380CC4-5D6E-409C-BE32-E72D297353CC}">
                  <c16:uniqueId val="{00000008-739B-4F0D-8D0C-5A29A49AA82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00B3C8"/>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W28</c:v>
                </c:pt>
                <c:pt idx="1">
                  <c:v>W29</c:v>
                </c:pt>
                <c:pt idx="2">
                  <c:v>W30</c:v>
                </c:pt>
                <c:pt idx="3">
                  <c:v>W31</c:v>
                </c:pt>
                <c:pt idx="4">
                  <c:v>W32</c:v>
                </c:pt>
              </c:strCache>
            </c:strRef>
          </c:cat>
          <c:val>
            <c:numRef>
              <c:f>Sheet1!$B$2:$B$6</c:f>
              <c:numCache>
                <c:formatCode>0%</c:formatCode>
                <c:ptCount val="5"/>
                <c:pt idx="1">
                  <c:v>0.02</c:v>
                </c:pt>
                <c:pt idx="2">
                  <c:v>0.01</c:v>
                </c:pt>
                <c:pt idx="3">
                  <c:v>0.01</c:v>
                </c:pt>
              </c:numCache>
            </c:numRef>
          </c:val>
          <c:smooth val="0"/>
          <c:extLst>
            <c:ext xmlns:c16="http://schemas.microsoft.com/office/drawing/2014/chart" uri="{C3380CC4-5D6E-409C-BE32-E72D297353CC}">
              <c16:uniqueId val="{00000009-739B-4F0D-8D0C-5A29A49AA821}"/>
            </c:ext>
          </c:extLst>
        </c:ser>
        <c:dLbls>
          <c:showLegendKey val="0"/>
          <c:showVal val="0"/>
          <c:showCatName val="0"/>
          <c:showSerName val="0"/>
          <c:showPercent val="0"/>
          <c:showBubbleSize val="0"/>
        </c:dLbls>
        <c:marker val="1"/>
        <c:smooth val="0"/>
        <c:axId val="541635272"/>
        <c:axId val="541635912"/>
      </c:lineChart>
      <c:catAx>
        <c:axId val="541635272"/>
        <c:scaling>
          <c:orientation val="minMax"/>
        </c:scaling>
        <c:delete val="1"/>
        <c:axPos val="b"/>
        <c:numFmt formatCode="General" sourceLinked="1"/>
        <c:majorTickMark val="out"/>
        <c:minorTickMark val="none"/>
        <c:tickLblPos val="nextTo"/>
        <c:crossAx val="541635912"/>
        <c:crosses val="autoZero"/>
        <c:auto val="1"/>
        <c:lblAlgn val="ctr"/>
        <c:lblOffset val="100"/>
        <c:noMultiLvlLbl val="0"/>
      </c:catAx>
      <c:valAx>
        <c:axId val="541635912"/>
        <c:scaling>
          <c:orientation val="minMax"/>
          <c:max val="1"/>
          <c:min val="0"/>
        </c:scaling>
        <c:delete val="1"/>
        <c:axPos val="l"/>
        <c:numFmt formatCode="0%" sourceLinked="1"/>
        <c:majorTickMark val="out"/>
        <c:minorTickMark val="out"/>
        <c:tickLblPos val="nextTo"/>
        <c:crossAx val="541635272"/>
        <c:crosses val="autoZero"/>
        <c:crossBetween val="between"/>
        <c:min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1748645833333331"/>
        </c:manualLayout>
      </c:layout>
      <c:barChart>
        <c:barDir val="col"/>
        <c:grouping val="clustered"/>
        <c:varyColors val="0"/>
        <c:ser>
          <c:idx val="0"/>
          <c:order val="0"/>
          <c:tx>
            <c:strRef>
              <c:f>Sheet1!$B$1</c:f>
              <c:strCache>
                <c:ptCount val="1"/>
                <c:pt idx="0">
                  <c:v>Jan-Feb 2026</c:v>
                </c:pt>
              </c:strCache>
            </c:strRef>
          </c:tx>
          <c:spPr>
            <a:solidFill>
              <a:srgbClr val="36729C"/>
            </a:solidFill>
            <a:ln>
              <a:noFill/>
            </a:ln>
            <a:effectLst/>
          </c:spPr>
          <c:invertIfNegative val="0"/>
          <c:dPt>
            <c:idx val="0"/>
            <c:invertIfNegative val="0"/>
            <c:bubble3D val="0"/>
            <c:extLst>
              <c:ext xmlns:c16="http://schemas.microsoft.com/office/drawing/2014/chart" uri="{C3380CC4-5D6E-409C-BE32-E72D297353CC}">
                <c16:uniqueId val="{00000000-910B-43DC-A8E5-4DAA1D2EF528}"/>
              </c:ext>
            </c:extLst>
          </c:dPt>
          <c:dPt>
            <c:idx val="1"/>
            <c:invertIfNegative val="0"/>
            <c:bubble3D val="0"/>
            <c:extLst>
              <c:ext xmlns:c16="http://schemas.microsoft.com/office/drawing/2014/chart" uri="{C3380CC4-5D6E-409C-BE32-E72D297353CC}">
                <c16:uniqueId val="{00000001-910B-43DC-A8E5-4DAA1D2EF528}"/>
              </c:ext>
            </c:extLst>
          </c:dPt>
          <c:dPt>
            <c:idx val="2"/>
            <c:invertIfNegative val="0"/>
            <c:bubble3D val="0"/>
            <c:extLst>
              <c:ext xmlns:c16="http://schemas.microsoft.com/office/drawing/2014/chart" uri="{C3380CC4-5D6E-409C-BE32-E72D297353CC}">
                <c16:uniqueId val="{00000002-910B-43DC-A8E5-4DAA1D2EF528}"/>
              </c:ext>
            </c:extLst>
          </c:dPt>
          <c:dPt>
            <c:idx val="3"/>
            <c:invertIfNegative val="0"/>
            <c:bubble3D val="0"/>
            <c:extLst>
              <c:ext xmlns:c16="http://schemas.microsoft.com/office/drawing/2014/chart" uri="{C3380CC4-5D6E-409C-BE32-E72D297353CC}">
                <c16:uniqueId val="{00000003-910B-43DC-A8E5-4DAA1D2EF528}"/>
              </c:ext>
            </c:extLst>
          </c:dPt>
          <c:dPt>
            <c:idx val="4"/>
            <c:invertIfNegative val="0"/>
            <c:bubble3D val="0"/>
            <c:extLst>
              <c:ext xmlns:c16="http://schemas.microsoft.com/office/drawing/2014/chart" uri="{C3380CC4-5D6E-409C-BE32-E72D297353CC}">
                <c16:uniqueId val="{00000004-910B-43DC-A8E5-4DAA1D2EF528}"/>
              </c:ext>
            </c:extLst>
          </c:dPt>
          <c:dPt>
            <c:idx val="5"/>
            <c:invertIfNegative val="0"/>
            <c:bubble3D val="0"/>
            <c:extLst>
              <c:ext xmlns:c16="http://schemas.microsoft.com/office/drawing/2014/chart" uri="{C3380CC4-5D6E-409C-BE32-E72D297353CC}">
                <c16:uniqueId val="{00000005-910B-43DC-A8E5-4DAA1D2EF528}"/>
              </c:ext>
            </c:extLst>
          </c:dPt>
          <c:dPt>
            <c:idx val="6"/>
            <c:invertIfNegative val="0"/>
            <c:bubble3D val="0"/>
            <c:extLst>
              <c:ext xmlns:c16="http://schemas.microsoft.com/office/drawing/2014/chart" uri="{C3380CC4-5D6E-409C-BE32-E72D297353CC}">
                <c16:uniqueId val="{00000007-910B-43DC-A8E5-4DAA1D2EF528}"/>
              </c:ext>
            </c:extLst>
          </c:dPt>
          <c:dPt>
            <c:idx val="7"/>
            <c:invertIfNegative val="0"/>
            <c:bubble3D val="0"/>
            <c:extLst>
              <c:ext xmlns:c16="http://schemas.microsoft.com/office/drawing/2014/chart" uri="{C3380CC4-5D6E-409C-BE32-E72D297353CC}">
                <c16:uniqueId val="{00000012-910B-43DC-A8E5-4DAA1D2EF528}"/>
              </c:ext>
            </c:extLst>
          </c:dPt>
          <c:dPt>
            <c:idx val="8"/>
            <c:invertIfNegative val="0"/>
            <c:bubble3D val="0"/>
            <c:extLst>
              <c:ext xmlns:c16="http://schemas.microsoft.com/office/drawing/2014/chart" uri="{C3380CC4-5D6E-409C-BE32-E72D297353CC}">
                <c16:uniqueId val="{00000008-910B-43DC-A8E5-4DAA1D2EF528}"/>
              </c:ext>
            </c:extLst>
          </c:dPt>
          <c:dPt>
            <c:idx val="9"/>
            <c:invertIfNegative val="0"/>
            <c:bubble3D val="0"/>
            <c:extLst>
              <c:ext xmlns:c16="http://schemas.microsoft.com/office/drawing/2014/chart" uri="{C3380CC4-5D6E-409C-BE32-E72D297353CC}">
                <c16:uniqueId val="{0000000A-910B-43DC-A8E5-4DAA1D2EF528}"/>
              </c:ext>
            </c:extLst>
          </c:dPt>
          <c:dPt>
            <c:idx val="10"/>
            <c:invertIfNegative val="0"/>
            <c:bubble3D val="0"/>
            <c:extLst>
              <c:ext xmlns:c16="http://schemas.microsoft.com/office/drawing/2014/chart" uri="{C3380CC4-5D6E-409C-BE32-E72D297353CC}">
                <c16:uniqueId val="{0000000C-910B-43DC-A8E5-4DAA1D2EF528}"/>
              </c:ext>
            </c:extLst>
          </c:dPt>
          <c:dPt>
            <c:idx val="11"/>
            <c:invertIfNegative val="0"/>
            <c:bubble3D val="0"/>
            <c:extLst>
              <c:ext xmlns:c16="http://schemas.microsoft.com/office/drawing/2014/chart" uri="{C3380CC4-5D6E-409C-BE32-E72D297353CC}">
                <c16:uniqueId val="{0000000E-910B-43DC-A8E5-4DAA1D2EF528}"/>
              </c:ext>
            </c:extLst>
          </c:dPt>
          <c:dPt>
            <c:idx val="12"/>
            <c:invertIfNegative val="0"/>
            <c:bubble3D val="0"/>
            <c:extLst>
              <c:ext xmlns:c16="http://schemas.microsoft.com/office/drawing/2014/chart" uri="{C3380CC4-5D6E-409C-BE32-E72D297353CC}">
                <c16:uniqueId val="{00000010-910B-43DC-A8E5-4DAA1D2EF528}"/>
              </c:ext>
            </c:extLst>
          </c:dPt>
          <c:dLbls>
            <c:dLbl>
              <c:idx val="0"/>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10B-43DC-A8E5-4DAA1D2EF528}"/>
                </c:ext>
              </c:extLst>
            </c:dLbl>
            <c:dLbl>
              <c:idx val="1"/>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10B-43DC-A8E5-4DAA1D2EF528}"/>
                </c:ext>
              </c:extLst>
            </c:dLbl>
            <c:dLbl>
              <c:idx val="2"/>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10B-43DC-A8E5-4DAA1D2EF528}"/>
                </c:ext>
              </c:extLst>
            </c:dLbl>
            <c:dLbl>
              <c:idx val="3"/>
              <c:layout>
                <c:manualLayout>
                  <c:x val="-1.4111111111111047E-2"/>
                  <c:y val="-8.0843973490926958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10B-43DC-A8E5-4DAA1D2EF528}"/>
                </c:ext>
              </c:extLst>
            </c:dLbl>
            <c:dLbl>
              <c:idx val="4"/>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10B-43DC-A8E5-4DAA1D2EF528}"/>
                </c:ext>
              </c:extLst>
            </c:dLbl>
            <c:dLbl>
              <c:idx val="5"/>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10B-43DC-A8E5-4DAA1D2EF528}"/>
                </c:ext>
              </c:extLst>
            </c:dLbl>
            <c:dLbl>
              <c:idx val="6"/>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10B-43DC-A8E5-4DAA1D2EF528}"/>
                </c:ext>
              </c:extLst>
            </c:dLbl>
            <c:dLbl>
              <c:idx val="7"/>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910B-43DC-A8E5-4DAA1D2EF528}"/>
                </c:ext>
              </c:extLst>
            </c:dLbl>
            <c:dLbl>
              <c:idx val="8"/>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10B-43DC-A8E5-4DAA1D2EF528}"/>
                </c:ext>
              </c:extLst>
            </c:dLbl>
            <c:dLbl>
              <c:idx val="10"/>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10B-43DC-A8E5-4DAA1D2EF528}"/>
                </c:ext>
              </c:extLst>
            </c:dLbl>
            <c:dLbl>
              <c:idx val="11"/>
              <c:numFmt formatCode="0%" sourceLinked="0"/>
              <c:spPr>
                <a:noFill/>
                <a:ln>
                  <a:noFill/>
                </a:ln>
                <a:effectLst/>
              </c:spPr>
              <c:txPr>
                <a:bodyPr rot="0" vert="horz"/>
                <a:lstStyle/>
                <a:p>
                  <a:pPr>
                    <a:defRPr sz="900" b="0" i="0" u="none" strike="noStrike">
                      <a:solidFill>
                        <a:schemeClr val="tx1"/>
                      </a:solidFill>
                      <a:latin typeface="Arial"/>
                      <a:ea typeface="Arial"/>
                      <a:cs typeface="Arial"/>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910B-43DC-A8E5-4DAA1D2EF528}"/>
                </c:ext>
              </c:extLst>
            </c:dLbl>
            <c:numFmt formatCode="0%" sourceLinked="0"/>
            <c:spPr>
              <a:noFill/>
              <a:ln>
                <a:noFill/>
              </a:ln>
              <a:effectLst/>
            </c:spPr>
            <c:txPr>
              <a:bodyPr rot="0" vert="horz"/>
              <a:lstStyle/>
              <a:p>
                <a:pPr>
                  <a:defRPr sz="900">
                    <a:solidFill>
                      <a:schemeClr val="tx1"/>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3K</c:v>
                </c:pt>
                <c:pt idx="1">
                  <c:v>6k</c:v>
                </c:pt>
                <c:pt idx="2">
                  <c:v>12k</c:v>
                </c:pt>
                <c:pt idx="3">
                  <c:v>15K</c:v>
                </c:pt>
                <c:pt idx="4">
                  <c:v>24K</c:v>
                </c:pt>
                <c:pt idx="5">
                  <c:v>30K</c:v>
                </c:pt>
                <c:pt idx="6">
                  <c:v>36K</c:v>
                </c:pt>
                <c:pt idx="7">
                  <c:v>50K</c:v>
                </c:pt>
                <c:pt idx="8">
                  <c:v>80K</c:v>
                </c:pt>
                <c:pt idx="9">
                  <c:v>I don’t remember</c:v>
                </c:pt>
                <c:pt idx="10">
                  <c:v>No specific dosing options were discussed</c:v>
                </c:pt>
              </c:strCache>
            </c:strRef>
          </c:cat>
          <c:val>
            <c:numRef>
              <c:f>Sheet1!$B$2:$B$12</c:f>
              <c:numCache>
                <c:formatCode>0%</c:formatCode>
                <c:ptCount val="11"/>
                <c:pt idx="0">
                  <c:v>0.06</c:v>
                </c:pt>
                <c:pt idx="1">
                  <c:v>0.07</c:v>
                </c:pt>
                <c:pt idx="2">
                  <c:v>0.09</c:v>
                </c:pt>
                <c:pt idx="3">
                  <c:v>0.07</c:v>
                </c:pt>
                <c:pt idx="4">
                  <c:v>0.21</c:v>
                </c:pt>
                <c:pt idx="5">
                  <c:v>0.09</c:v>
                </c:pt>
                <c:pt idx="6">
                  <c:v>0.48</c:v>
                </c:pt>
                <c:pt idx="7">
                  <c:v>0.07</c:v>
                </c:pt>
                <c:pt idx="8">
                  <c:v>0.04</c:v>
                </c:pt>
                <c:pt idx="9">
                  <c:v>0.03</c:v>
                </c:pt>
                <c:pt idx="10">
                  <c:v>0.04</c:v>
                </c:pt>
              </c:numCache>
            </c:numRef>
          </c:val>
          <c:extLst>
            <c:ext xmlns:c16="http://schemas.microsoft.com/office/drawing/2014/chart" uri="{C3380CC4-5D6E-409C-BE32-E72D297353CC}">
              <c16:uniqueId val="{00000011-910B-43DC-A8E5-4DAA1D2EF528}"/>
            </c:ext>
          </c:extLst>
        </c:ser>
        <c:ser>
          <c:idx val="1"/>
          <c:order val="1"/>
          <c:tx>
            <c:strRef>
              <c:f>Sheet1!$C$1</c:f>
              <c:strCache>
                <c:ptCount val="1"/>
                <c:pt idx="0">
                  <c:v>W32</c:v>
                </c:pt>
              </c:strCache>
            </c:strRef>
          </c:tx>
          <c:invertIfNegative val="0"/>
          <c:dPt>
            <c:idx val="0"/>
            <c:invertIfNegative val="0"/>
            <c:bubble3D val="0"/>
            <c:spPr>
              <a:solidFill>
                <a:srgbClr val="009AD9"/>
              </a:solidFill>
            </c:spPr>
            <c:extLst>
              <c:ext xmlns:c16="http://schemas.microsoft.com/office/drawing/2014/chart" uri="{C3380CC4-5D6E-409C-BE32-E72D297353CC}">
                <c16:uniqueId val="{0000001D-7F2C-412B-8F36-F2C22768596C}"/>
              </c:ext>
            </c:extLst>
          </c:dPt>
          <c:dPt>
            <c:idx val="1"/>
            <c:invertIfNegative val="0"/>
            <c:bubble3D val="0"/>
            <c:spPr>
              <a:solidFill>
                <a:srgbClr val="009AD9"/>
              </a:solidFill>
            </c:spPr>
            <c:extLst>
              <c:ext xmlns:c16="http://schemas.microsoft.com/office/drawing/2014/chart" uri="{C3380CC4-5D6E-409C-BE32-E72D297353CC}">
                <c16:uniqueId val="{0000001E-7F2C-412B-8F36-F2C22768596C}"/>
              </c:ext>
            </c:extLst>
          </c:dPt>
          <c:dPt>
            <c:idx val="2"/>
            <c:invertIfNegative val="0"/>
            <c:bubble3D val="0"/>
            <c:spPr>
              <a:solidFill>
                <a:srgbClr val="009AD9"/>
              </a:solidFill>
            </c:spPr>
            <c:extLst>
              <c:ext xmlns:c16="http://schemas.microsoft.com/office/drawing/2014/chart" uri="{C3380CC4-5D6E-409C-BE32-E72D297353CC}">
                <c16:uniqueId val="{00000021-7F2C-412B-8F36-F2C22768596C}"/>
              </c:ext>
            </c:extLst>
          </c:dPt>
          <c:dPt>
            <c:idx val="3"/>
            <c:invertIfNegative val="0"/>
            <c:bubble3D val="0"/>
            <c:spPr>
              <a:solidFill>
                <a:srgbClr val="009AD9"/>
              </a:solidFill>
            </c:spPr>
            <c:extLst>
              <c:ext xmlns:c16="http://schemas.microsoft.com/office/drawing/2014/chart" uri="{C3380CC4-5D6E-409C-BE32-E72D297353CC}">
                <c16:uniqueId val="{00000020-DE59-474C-8660-6E320BCE124F}"/>
              </c:ext>
            </c:extLst>
          </c:dPt>
          <c:dPt>
            <c:idx val="4"/>
            <c:invertIfNegative val="0"/>
            <c:bubble3D val="0"/>
            <c:spPr>
              <a:solidFill>
                <a:srgbClr val="009AD9"/>
              </a:solidFill>
            </c:spPr>
            <c:extLst>
              <c:ext xmlns:c16="http://schemas.microsoft.com/office/drawing/2014/chart" uri="{C3380CC4-5D6E-409C-BE32-E72D297353CC}">
                <c16:uniqueId val="{0000001F-7F2C-412B-8F36-F2C22768596C}"/>
              </c:ext>
            </c:extLst>
          </c:dPt>
          <c:dPt>
            <c:idx val="5"/>
            <c:invertIfNegative val="0"/>
            <c:bubble3D val="0"/>
            <c:spPr>
              <a:solidFill>
                <a:srgbClr val="BFBFBF"/>
              </a:solidFill>
            </c:spPr>
            <c:extLst>
              <c:ext xmlns:c16="http://schemas.microsoft.com/office/drawing/2014/chart" uri="{C3380CC4-5D6E-409C-BE32-E72D297353CC}">
                <c16:uniqueId val="{00000021-DE59-474C-8660-6E320BCE124F}"/>
              </c:ext>
            </c:extLst>
          </c:dPt>
          <c:dPt>
            <c:idx val="6"/>
            <c:invertIfNegative val="0"/>
            <c:bubble3D val="0"/>
            <c:spPr>
              <a:solidFill>
                <a:srgbClr val="009AD9"/>
              </a:solidFill>
            </c:spPr>
            <c:extLst>
              <c:ext xmlns:c16="http://schemas.microsoft.com/office/drawing/2014/chart" uri="{C3380CC4-5D6E-409C-BE32-E72D297353CC}">
                <c16:uniqueId val="{00000020-7F2C-412B-8F36-F2C22768596C}"/>
              </c:ext>
            </c:extLst>
          </c:dPt>
          <c:dPt>
            <c:idx val="7"/>
            <c:invertIfNegative val="0"/>
            <c:bubble3D val="0"/>
            <c:spPr>
              <a:solidFill>
                <a:srgbClr val="BFBFBF"/>
              </a:solidFill>
            </c:spPr>
            <c:extLst>
              <c:ext xmlns:c16="http://schemas.microsoft.com/office/drawing/2014/chart" uri="{C3380CC4-5D6E-409C-BE32-E72D297353CC}">
                <c16:uniqueId val="{00000022-DE59-474C-8660-6E320BCE124F}"/>
              </c:ext>
            </c:extLst>
          </c:dPt>
          <c:dPt>
            <c:idx val="8"/>
            <c:invertIfNegative val="0"/>
            <c:bubble3D val="0"/>
            <c:spPr>
              <a:solidFill>
                <a:srgbClr val="BFBFBF"/>
              </a:solidFill>
            </c:spPr>
            <c:extLst>
              <c:ext xmlns:c16="http://schemas.microsoft.com/office/drawing/2014/chart" uri="{C3380CC4-5D6E-409C-BE32-E72D297353CC}">
                <c16:uniqueId val="{00000023-DE59-474C-8660-6E320BCE124F}"/>
              </c:ext>
            </c:extLst>
          </c:dPt>
          <c:dPt>
            <c:idx val="9"/>
            <c:invertIfNegative val="0"/>
            <c:bubble3D val="0"/>
            <c:spPr>
              <a:solidFill>
                <a:srgbClr val="BFBFBF"/>
              </a:solidFill>
            </c:spPr>
            <c:extLst>
              <c:ext xmlns:c16="http://schemas.microsoft.com/office/drawing/2014/chart" uri="{C3380CC4-5D6E-409C-BE32-E72D297353CC}">
                <c16:uniqueId val="{00000025-DE59-474C-8660-6E320BCE124F}"/>
              </c:ext>
            </c:extLst>
          </c:dPt>
          <c:dPt>
            <c:idx val="10"/>
            <c:invertIfNegative val="0"/>
            <c:bubble3D val="0"/>
            <c:spPr>
              <a:solidFill>
                <a:srgbClr val="BFBFBF"/>
              </a:solidFill>
            </c:spPr>
            <c:extLst>
              <c:ext xmlns:c16="http://schemas.microsoft.com/office/drawing/2014/chart" uri="{C3380CC4-5D6E-409C-BE32-E72D297353CC}">
                <c16:uniqueId val="{00000024-DE59-474C-8660-6E320BCE124F}"/>
              </c:ext>
            </c:extLst>
          </c:dPt>
          <c:dLbls>
            <c:dLbl>
              <c:idx val="9"/>
              <c:delete val="1"/>
              <c:extLst>
                <c:ext xmlns:c15="http://schemas.microsoft.com/office/drawing/2012/chart" uri="{CE6537A1-D6FC-4f65-9D91-7224C49458BB}"/>
                <c:ext xmlns:c16="http://schemas.microsoft.com/office/drawing/2014/chart" uri="{C3380CC4-5D6E-409C-BE32-E72D297353CC}">
                  <c16:uniqueId val="{00000025-DE59-474C-8660-6E320BCE124F}"/>
                </c:ext>
              </c:extLst>
            </c:dLbl>
            <c:spPr>
              <a:noFill/>
              <a:ln>
                <a:noFill/>
              </a:ln>
              <a:effectLst/>
            </c:spPr>
            <c:txPr>
              <a:bodyPr wrap="square" lIns="38100" tIns="19050" rIns="38100" bIns="19050" anchor="ctr">
                <a:spAutoFit/>
              </a:bodyPr>
              <a:lstStyle/>
              <a:p>
                <a:pPr>
                  <a:defRPr sz="900"/>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Sheet1!$A$2:$A$12</c:f>
              <c:strCache>
                <c:ptCount val="11"/>
                <c:pt idx="0">
                  <c:v>3K</c:v>
                </c:pt>
                <c:pt idx="1">
                  <c:v>6k</c:v>
                </c:pt>
                <c:pt idx="2">
                  <c:v>12k</c:v>
                </c:pt>
                <c:pt idx="3">
                  <c:v>15K</c:v>
                </c:pt>
                <c:pt idx="4">
                  <c:v>24K</c:v>
                </c:pt>
                <c:pt idx="5">
                  <c:v>30K</c:v>
                </c:pt>
                <c:pt idx="6">
                  <c:v>36K</c:v>
                </c:pt>
                <c:pt idx="7">
                  <c:v>50K</c:v>
                </c:pt>
                <c:pt idx="8">
                  <c:v>80K</c:v>
                </c:pt>
                <c:pt idx="9">
                  <c:v>I don’t remember</c:v>
                </c:pt>
                <c:pt idx="10">
                  <c:v>No specific dosing options were discussed</c:v>
                </c:pt>
              </c:strCache>
            </c:strRef>
          </c:cat>
          <c:val>
            <c:numRef>
              <c:f>Sheet1!$C$2:$C$12</c:f>
              <c:numCache>
                <c:formatCode>0%</c:formatCode>
                <c:ptCount val="11"/>
                <c:pt idx="0">
                  <c:v>0.02</c:v>
                </c:pt>
                <c:pt idx="1">
                  <c:v>0.06</c:v>
                </c:pt>
                <c:pt idx="2">
                  <c:v>0.06</c:v>
                </c:pt>
                <c:pt idx="3">
                  <c:v>0.05</c:v>
                </c:pt>
                <c:pt idx="4">
                  <c:v>0.16</c:v>
                </c:pt>
                <c:pt idx="5">
                  <c:v>0.07</c:v>
                </c:pt>
                <c:pt idx="6">
                  <c:v>0.45</c:v>
                </c:pt>
                <c:pt idx="7">
                  <c:v>0.07</c:v>
                </c:pt>
                <c:pt idx="8">
                  <c:v>0.04</c:v>
                </c:pt>
                <c:pt idx="9">
                  <c:v>0.0</c:v>
                </c:pt>
                <c:pt idx="10">
                  <c:v>0.03</c:v>
                </c:pt>
              </c:numCache>
            </c:numRef>
          </c:val>
          <c:extLst>
            <c:ext xmlns:c16="http://schemas.microsoft.com/office/drawing/2014/chart" uri="{C3380CC4-5D6E-409C-BE32-E72D297353CC}">
              <c16:uniqueId val="{0000001F-DE59-474C-8660-6E320BCE124F}"/>
            </c:ext>
          </c:extLst>
        </c:ser>
        <c:dLbls>
          <c:dLblPos val="outEnd"/>
          <c:showLegendKey val="0"/>
          <c:showVal val="1"/>
          <c:showCatName val="0"/>
          <c:showSerName val="0"/>
          <c:showPercent val="0"/>
          <c:showBubbleSize val="0"/>
        </c:dLbls>
        <c:gapWidth val="50"/>
        <c:axId val="422529552"/>
        <c:axId val="422528376"/>
        <c:extLst/>
      </c:barChart>
      <c:catAx>
        <c:axId val="422529552"/>
        <c:scaling>
          <c:orientation val="maxMin"/>
        </c:scaling>
        <c:delete val="0"/>
        <c:axPos val="b"/>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0.5"/>
          <c:min val="0"/>
        </c:scaling>
        <c:delete val="1"/>
        <c:axPos val="l"/>
        <c:numFmt formatCode="0%" sourceLinked="1"/>
        <c:majorTickMark val="out"/>
        <c:minorTickMark val="none"/>
        <c:tickLblPos val="nextTo"/>
        <c:crossAx val="422529552"/>
        <c:crosses val="max"/>
        <c:crossBetween val="between"/>
        <c:majorUnit val="0.2"/>
      </c:valAx>
      <c:spPr>
        <a:noFill/>
        <a:ln>
          <a:noFill/>
        </a:ln>
        <a:effectLst/>
      </c:spPr>
    </c:plotArea>
    <c:plotVisOnly val="1"/>
    <c:dispBlanksAs val="gap"/>
    <c:showDLblsOverMax val="0"/>
  </c:chart>
  <c:spPr>
    <a:noFill/>
    <a:ln>
      <a:noFill/>
    </a:ln>
    <a:effectLst/>
  </c:spPr>
  <c:txPr>
    <a:bodyPr/>
    <a:lstStyle/>
    <a:p>
      <a:pPr algn="just">
        <a:defRPr sz="1000">
          <a:latin typeface="+mj-lt"/>
        </a:defRPr>
      </a:pPr>
      <a:endParaRPr lang="en-US"/>
    </a:p>
  </c:txPr>
  <c:externalData r:id="rId1">
    <c:autoUpdate val="0"/>
  </c:externalData>
</c:chartSpace>
</file>

<file path=ppt/charts/chart4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219444444444443E-3"/>
          <c:y val="0"/>
          <c:w val="0.99877814814814814"/>
          <c:h val="1"/>
        </c:manualLayout>
      </c:layout>
      <c:barChart>
        <c:barDir val="col"/>
        <c:grouping val="clustered"/>
        <c:varyColors val="0"/>
        <c:ser>
          <c:idx val="1"/>
          <c:order val="0"/>
          <c:tx>
            <c:strRef>
              <c:f>Sheet1!$B$1</c:f>
              <c:strCache>
                <c:ptCount val="1"/>
                <c:pt idx="0">
                  <c:v>Jan-Feb 2026</c:v>
                </c:pt>
              </c:strCache>
            </c:strRef>
          </c:tx>
          <c:spPr>
            <a:solidFill>
              <a:srgbClr val="D3B0FF"/>
            </a:solidFill>
          </c:spPr>
          <c:invertIfNegative val="0"/>
          <c:dPt>
            <c:idx val="6"/>
            <c:invertIfNegative val="0"/>
            <c:bubble3D val="0"/>
            <c:extLst>
              <c:ext xmlns:c16="http://schemas.microsoft.com/office/drawing/2014/chart" uri="{C3380CC4-5D6E-409C-BE32-E72D297353CC}">
                <c16:uniqueId val="{00000018-6099-435F-A256-4F12A3038813}"/>
              </c:ext>
            </c:extLst>
          </c:dPt>
          <c:dPt>
            <c:idx val="10"/>
            <c:invertIfNegative val="0"/>
            <c:bubble3D val="0"/>
            <c:extLst>
              <c:ext xmlns:c16="http://schemas.microsoft.com/office/drawing/2014/chart" uri="{C3380CC4-5D6E-409C-BE32-E72D297353CC}">
                <c16:uniqueId val="{0000001B-6099-435F-A256-4F12A3038813}"/>
              </c:ext>
            </c:extLst>
          </c:dPt>
          <c:dPt>
            <c:idx val="11"/>
            <c:invertIfNegative val="0"/>
            <c:bubble3D val="0"/>
            <c:extLst>
              <c:ext xmlns:c16="http://schemas.microsoft.com/office/drawing/2014/chart" uri="{C3380CC4-5D6E-409C-BE32-E72D297353CC}">
                <c16:uniqueId val="{0000001C-6099-435F-A256-4F12A3038813}"/>
              </c:ext>
            </c:extLst>
          </c:dPt>
          <c:dPt>
            <c:idx val="12"/>
            <c:invertIfNegative val="0"/>
            <c:bubble3D val="0"/>
            <c:extLst>
              <c:ext xmlns:c16="http://schemas.microsoft.com/office/drawing/2014/chart" uri="{C3380CC4-5D6E-409C-BE32-E72D297353CC}">
                <c16:uniqueId val="{00000019-6099-435F-A256-4F12A3038813}"/>
              </c:ext>
            </c:extLst>
          </c:dPt>
          <c:dLbls>
            <c:dLbl>
              <c:idx val="0"/>
              <c:delete val="1"/>
              <c:extLst>
                <c:ext xmlns:c15="http://schemas.microsoft.com/office/drawing/2012/chart" uri="{CE6537A1-D6FC-4f65-9D91-7224C49458BB}"/>
                <c:ext xmlns:c16="http://schemas.microsoft.com/office/drawing/2014/chart" uri="{C3380CC4-5D6E-409C-BE32-E72D297353CC}">
                  <c16:uniqueId val="{00000010-2613-4068-9524-DCD6B62F00AF}"/>
                </c:ext>
              </c:extLst>
            </c:dLbl>
            <c:dLbl>
              <c:idx val="2"/>
              <c:delete val="1"/>
              <c:extLst>
                <c:ext xmlns:c15="http://schemas.microsoft.com/office/drawing/2012/chart" uri="{CE6537A1-D6FC-4f65-9D91-7224C49458BB}"/>
                <c:ext xmlns:c16="http://schemas.microsoft.com/office/drawing/2014/chart" uri="{C3380CC4-5D6E-409C-BE32-E72D297353CC}">
                  <c16:uniqueId val="{00000011-2613-4068-9524-DCD6B62F00AF}"/>
                </c:ext>
              </c:extLst>
            </c:dLbl>
            <c:dLbl>
              <c:idx val="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6099-435F-A256-4F12A3038813}"/>
                </c:ext>
              </c:extLst>
            </c:dLbl>
            <c:dLbl>
              <c:idx val="1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6099-435F-A256-4F12A3038813}"/>
                </c:ext>
              </c:extLst>
            </c:dLbl>
            <c:dLbl>
              <c:idx val="12"/>
              <c:spPr>
                <a:noFill/>
                <a:ln>
                  <a:noFill/>
                </a:ln>
                <a:effectLst/>
              </c:spPr>
              <c:txPr>
                <a:bodyPr wrap="square" lIns="38100" tIns="19050" rIns="38100" bIns="19050" anchor="ctr">
                  <a:noAutofit/>
                </a:bodyPr>
                <a:lstStyle/>
                <a:p>
                  <a:pPr>
                    <a:defRPr sz="900"/>
                  </a:pPr>
                  <a:endParaRPr lang="en-US"/>
                </a:p>
              </c:txPr>
              <c:dLblPos val="outEnd"/>
              <c:showLegendKey val="0"/>
              <c:showVal val="1"/>
              <c:showCatName val="0"/>
              <c:showSerName val="0"/>
              <c:showPercent val="0"/>
              <c:showBubbleSize val="0"/>
              <c:extLst>
                <c:ext xmlns:c15="http://schemas.microsoft.com/office/drawing/2012/chart" uri="{CE6537A1-D6FC-4f65-9D91-7224C49458BB}">
                  <c15:layout>
                    <c:manualLayout>
                      <c:w val="4.4696851851851849E-2"/>
                      <c:h val="4.4316137487616231E-2"/>
                    </c:manualLayout>
                  </c15:layout>
                </c:ext>
                <c:ext xmlns:c16="http://schemas.microsoft.com/office/drawing/2014/chart" uri="{C3380CC4-5D6E-409C-BE32-E72D297353CC}">
                  <c16:uniqueId val="{00000019-6099-435F-A256-4F12A3038813}"/>
                </c:ext>
              </c:extLst>
            </c:dLbl>
            <c:spPr>
              <a:noFill/>
              <a:ln>
                <a:noFill/>
              </a:ln>
              <a:effectLst/>
            </c:spPr>
            <c:txPr>
              <a:bodyPr wrap="square" lIns="38100" tIns="19050" rIns="38100" bIns="19050" anchor="ctr">
                <a:spAutoFit/>
              </a:bodyPr>
              <a:lstStyle/>
              <a:p>
                <a:pPr>
                  <a:defRPr sz="900"/>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Sheet1!$A$2:$A$12</c:f>
              <c:strCache>
                <c:ptCount val="11"/>
                <c:pt idx="0">
                  <c:v>3K</c:v>
                </c:pt>
                <c:pt idx="1">
                  <c:v>15K</c:v>
                </c:pt>
                <c:pt idx="2">
                  <c:v>30K</c:v>
                </c:pt>
                <c:pt idx="3">
                  <c:v>50K</c:v>
                </c:pt>
                <c:pt idx="4">
                  <c:v>80K</c:v>
                </c:pt>
                <c:pt idx="5">
                  <c:v>I don’t remember</c:v>
                </c:pt>
                <c:pt idx="6">
                  <c:v>No specific dosing options were discussed</c:v>
                </c:pt>
                <c:pt idx="7">
                  <c:v>12k</c:v>
                </c:pt>
                <c:pt idx="8">
                  <c:v>24K</c:v>
                </c:pt>
                <c:pt idx="9">
                  <c:v>36K</c:v>
                </c:pt>
                <c:pt idx="10">
                  <c:v>6k</c:v>
                </c:pt>
              </c:strCache>
            </c:strRef>
          </c:cat>
          <c:val>
            <c:numRef>
              <c:f>Sheet1!$B$2:$B$12</c:f>
              <c:numCache>
                <c:formatCode>0%</c:formatCode>
                <c:ptCount val="11"/>
                <c:pt idx="0">
                  <c:v>0.06</c:v>
                </c:pt>
                <c:pt idx="1">
                  <c:v>0.07</c:v>
                </c:pt>
                <c:pt idx="2">
                  <c:v>0.09</c:v>
                </c:pt>
                <c:pt idx="3">
                  <c:v>0.07</c:v>
                </c:pt>
                <c:pt idx="4">
                  <c:v>0.04</c:v>
                </c:pt>
                <c:pt idx="5">
                  <c:v>0.03</c:v>
                </c:pt>
                <c:pt idx="6">
                  <c:v>0.04</c:v>
                </c:pt>
                <c:pt idx="7">
                  <c:v>0.09</c:v>
                </c:pt>
                <c:pt idx="8">
                  <c:v>0.21</c:v>
                </c:pt>
                <c:pt idx="9">
                  <c:v>0.48</c:v>
                </c:pt>
                <c:pt idx="10">
                  <c:v>0.07</c:v>
                </c:pt>
              </c:numCache>
            </c:numRef>
          </c:val>
          <c:extLst>
            <c:ext xmlns:c16="http://schemas.microsoft.com/office/drawing/2014/chart" uri="{C3380CC4-5D6E-409C-BE32-E72D297353CC}">
              <c16:uniqueId val="{00000017-6099-435F-A256-4F12A3038813}"/>
            </c:ext>
          </c:extLst>
        </c:ser>
        <c:ser>
          <c:idx val="0"/>
          <c:order val="1"/>
          <c:tx>
            <c:strRef>
              <c:f>Sheet1!$C$1</c:f>
              <c:strCache>
                <c:ptCount val="1"/>
                <c:pt idx="0">
                  <c:v>W32</c:v>
                </c:pt>
              </c:strCache>
            </c:strRef>
          </c:tx>
          <c:spPr>
            <a:solidFill>
              <a:srgbClr val="9778D4"/>
            </a:solidFill>
            <a:ln>
              <a:noFill/>
            </a:ln>
            <a:effectLst/>
          </c:spPr>
          <c:invertIfNegative val="0"/>
          <c:dPt>
            <c:idx val="0"/>
            <c:invertIfNegative val="0"/>
            <c:bubble3D val="0"/>
            <c:extLst>
              <c:ext xmlns:c16="http://schemas.microsoft.com/office/drawing/2014/chart" uri="{C3380CC4-5D6E-409C-BE32-E72D297353CC}">
                <c16:uniqueId val="{00000000-C3F4-42B1-A6DF-BBBAA5FAF551}"/>
              </c:ext>
            </c:extLst>
          </c:dPt>
          <c:dPt>
            <c:idx val="1"/>
            <c:invertIfNegative val="0"/>
            <c:bubble3D val="0"/>
            <c:extLst>
              <c:ext xmlns:c16="http://schemas.microsoft.com/office/drawing/2014/chart" uri="{C3380CC4-5D6E-409C-BE32-E72D297353CC}">
                <c16:uniqueId val="{00000001-C3F4-42B1-A6DF-BBBAA5FAF551}"/>
              </c:ext>
            </c:extLst>
          </c:dPt>
          <c:dPt>
            <c:idx val="2"/>
            <c:invertIfNegative val="0"/>
            <c:bubble3D val="0"/>
            <c:extLst>
              <c:ext xmlns:c16="http://schemas.microsoft.com/office/drawing/2014/chart" uri="{C3380CC4-5D6E-409C-BE32-E72D297353CC}">
                <c16:uniqueId val="{00000002-C3F4-42B1-A6DF-BBBAA5FAF551}"/>
              </c:ext>
            </c:extLst>
          </c:dPt>
          <c:dPt>
            <c:idx val="3"/>
            <c:invertIfNegative val="0"/>
            <c:bubble3D val="0"/>
            <c:extLst>
              <c:ext xmlns:c16="http://schemas.microsoft.com/office/drawing/2014/chart" uri="{C3380CC4-5D6E-409C-BE32-E72D297353CC}">
                <c16:uniqueId val="{00000003-C3F4-42B1-A6DF-BBBAA5FAF551}"/>
              </c:ext>
            </c:extLst>
          </c:dPt>
          <c:dPt>
            <c:idx val="4"/>
            <c:invertIfNegative val="0"/>
            <c:bubble3D val="0"/>
            <c:extLst>
              <c:ext xmlns:c16="http://schemas.microsoft.com/office/drawing/2014/chart" uri="{C3380CC4-5D6E-409C-BE32-E72D297353CC}">
                <c16:uniqueId val="{00000004-C3F4-42B1-A6DF-BBBAA5FAF551}"/>
              </c:ext>
            </c:extLst>
          </c:dPt>
          <c:dPt>
            <c:idx val="5"/>
            <c:invertIfNegative val="0"/>
            <c:bubble3D val="0"/>
            <c:extLst>
              <c:ext xmlns:c16="http://schemas.microsoft.com/office/drawing/2014/chart" uri="{C3380CC4-5D6E-409C-BE32-E72D297353CC}">
                <c16:uniqueId val="{00000005-C3F4-42B1-A6DF-BBBAA5FAF551}"/>
              </c:ext>
            </c:extLst>
          </c:dPt>
          <c:dPt>
            <c:idx val="6"/>
            <c:invertIfNegative val="0"/>
            <c:bubble3D val="0"/>
            <c:extLst>
              <c:ext xmlns:c16="http://schemas.microsoft.com/office/drawing/2014/chart" uri="{C3380CC4-5D6E-409C-BE32-E72D297353CC}">
                <c16:uniqueId val="{00000006-C3F4-42B1-A6DF-BBBAA5FAF551}"/>
              </c:ext>
            </c:extLst>
          </c:dPt>
          <c:dPt>
            <c:idx val="8"/>
            <c:invertIfNegative val="0"/>
            <c:bubble3D val="0"/>
            <c:extLst>
              <c:ext xmlns:c16="http://schemas.microsoft.com/office/drawing/2014/chart" uri="{C3380CC4-5D6E-409C-BE32-E72D297353CC}">
                <c16:uniqueId val="{00000007-A49F-476F-95A6-52CEFFDE16F6}"/>
              </c:ext>
            </c:extLst>
          </c:dPt>
          <c:dPt>
            <c:idx val="9"/>
            <c:invertIfNegative val="0"/>
            <c:bubble3D val="0"/>
            <c:extLst>
              <c:ext xmlns:c16="http://schemas.microsoft.com/office/drawing/2014/chart" uri="{C3380CC4-5D6E-409C-BE32-E72D297353CC}">
                <c16:uniqueId val="{00000008-A49F-476F-95A6-52CEFFDE16F6}"/>
              </c:ext>
            </c:extLst>
          </c:dPt>
          <c:dPt>
            <c:idx val="10"/>
            <c:invertIfNegative val="0"/>
            <c:bubble3D val="0"/>
            <c:extLst>
              <c:ext xmlns:c16="http://schemas.microsoft.com/office/drawing/2014/chart" uri="{C3380CC4-5D6E-409C-BE32-E72D297353CC}">
                <c16:uniqueId val="{00000009-A49F-476F-95A6-52CEFFDE16F6}"/>
              </c:ext>
            </c:extLst>
          </c:dPt>
          <c:dPt>
            <c:idx val="11"/>
            <c:invertIfNegative val="0"/>
            <c:bubble3D val="0"/>
            <c:extLst>
              <c:ext xmlns:c16="http://schemas.microsoft.com/office/drawing/2014/chart" uri="{C3380CC4-5D6E-409C-BE32-E72D297353CC}">
                <c16:uniqueId val="{0000000E-5B1E-421C-A26F-CA84E3A3E045}"/>
              </c:ext>
            </c:extLst>
          </c:dPt>
          <c:dPt>
            <c:idx val="12"/>
            <c:invertIfNegative val="0"/>
            <c:bubble3D val="0"/>
            <c:extLst>
              <c:ext xmlns:c16="http://schemas.microsoft.com/office/drawing/2014/chart" uri="{C3380CC4-5D6E-409C-BE32-E72D297353CC}">
                <c16:uniqueId val="{0000000F-5B1E-421C-A26F-CA84E3A3E045}"/>
              </c:ext>
            </c:extLst>
          </c:dPt>
          <c:dLbls>
            <c:dLbl>
              <c:idx val="5"/>
              <c:layout>
                <c:manualLayout>
                  <c:x val="1.0583333333333333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3F4-42B1-A6DF-BBBAA5FAF551}"/>
                </c:ext>
              </c:extLst>
            </c:dLbl>
            <c:dLbl>
              <c:idx val="9"/>
              <c:layout>
                <c:manualLayout>
                  <c:x val="-7.0555555555555554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49F-476F-95A6-52CEFFDE16F6}"/>
                </c:ext>
              </c:extLst>
            </c:dLbl>
            <c:numFmt formatCode="0%" sourceLinked="0"/>
            <c:spPr>
              <a:noFill/>
              <a:ln>
                <a:noFill/>
              </a:ln>
              <a:effectLst/>
            </c:spPr>
            <c:txPr>
              <a:bodyPr rot="0" vert="horz"/>
              <a:lstStyle/>
              <a:p>
                <a:pPr>
                  <a:defRPr sz="900">
                    <a:solidFill>
                      <a:schemeClr val="tx1"/>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3K</c:v>
                </c:pt>
                <c:pt idx="1">
                  <c:v>15K</c:v>
                </c:pt>
                <c:pt idx="2">
                  <c:v>30K</c:v>
                </c:pt>
                <c:pt idx="3">
                  <c:v>50K</c:v>
                </c:pt>
                <c:pt idx="4">
                  <c:v>80K</c:v>
                </c:pt>
                <c:pt idx="5">
                  <c:v>I don’t remember</c:v>
                </c:pt>
                <c:pt idx="6">
                  <c:v>No specific dosing options were discussed</c:v>
                </c:pt>
                <c:pt idx="7">
                  <c:v>12k</c:v>
                </c:pt>
                <c:pt idx="8">
                  <c:v>24K</c:v>
                </c:pt>
                <c:pt idx="9">
                  <c:v>36K</c:v>
                </c:pt>
                <c:pt idx="10">
                  <c:v>6k</c:v>
                </c:pt>
              </c:strCache>
            </c:strRef>
          </c:cat>
          <c:val>
            <c:numRef>
              <c:f>Sheet1!$C$2:$C$12</c:f>
              <c:numCache>
                <c:formatCode>0%</c:formatCode>
                <c:ptCount val="11"/>
                <c:pt idx="0">
                  <c:v>0.02</c:v>
                </c:pt>
                <c:pt idx="1">
                  <c:v>0.05</c:v>
                </c:pt>
                <c:pt idx="2">
                  <c:v>0.07</c:v>
                </c:pt>
                <c:pt idx="3">
                  <c:v>0.07</c:v>
                </c:pt>
                <c:pt idx="4">
                  <c:v>0.04</c:v>
                </c:pt>
                <c:pt idx="5">
                  <c:v>0.0</c:v>
                </c:pt>
                <c:pt idx="6">
                  <c:v>0.03</c:v>
                </c:pt>
                <c:pt idx="7">
                  <c:v>0.06</c:v>
                </c:pt>
                <c:pt idx="8">
                  <c:v>0.16</c:v>
                </c:pt>
                <c:pt idx="9">
                  <c:v>0.45</c:v>
                </c:pt>
                <c:pt idx="10">
                  <c:v>0.06</c:v>
                </c:pt>
              </c:numCache>
            </c:numRef>
          </c:val>
          <c:extLst>
            <c:ext xmlns:c16="http://schemas.microsoft.com/office/drawing/2014/chart" uri="{C3380CC4-5D6E-409C-BE32-E72D297353CC}">
              <c16:uniqueId val="{00000007-C3F4-42B1-A6DF-BBBAA5FAF551}"/>
            </c:ext>
          </c:extLst>
        </c:ser>
        <c:dLbls>
          <c:dLblPos val="outEnd"/>
          <c:showLegendKey val="0"/>
          <c:showVal val="1"/>
          <c:showCatName val="0"/>
          <c:showSerName val="0"/>
          <c:showPercent val="0"/>
          <c:showBubbleSize val="0"/>
        </c:dLbls>
        <c:gapWidth val="50"/>
        <c:axId val="422529552"/>
        <c:axId val="422528376"/>
        <c:extLst/>
      </c:barChart>
      <c:catAx>
        <c:axId val="422529552"/>
        <c:scaling>
          <c:orientation val="minMax"/>
        </c:scaling>
        <c:delete val="0"/>
        <c:axPos val="b"/>
        <c:numFmt formatCode="General" sourceLinked="1"/>
        <c:majorTickMark val="out"/>
        <c:minorTickMark val="none"/>
        <c:tickLblPos val="nextTo"/>
        <c:crossAx val="422528376"/>
        <c:crosses val="autoZero"/>
        <c:auto val="1"/>
        <c:lblAlgn val="ctr"/>
        <c:lblOffset val="100"/>
        <c:noMultiLvlLbl val="0"/>
      </c:catAx>
      <c:valAx>
        <c:axId val="422528376"/>
        <c:scaling>
          <c:orientation val="minMax"/>
          <c:max val="0.5"/>
          <c:min val="0"/>
        </c:scaling>
        <c:delete val="1"/>
        <c:axPos val="r"/>
        <c:numFmt formatCode="0%" sourceLinked="1"/>
        <c:majorTickMark val="out"/>
        <c:minorTickMark val="none"/>
        <c:tickLblPos val="nextTo"/>
        <c:crossAx val="422529552"/>
        <c:crosses val="max"/>
        <c:crossBetween val="between"/>
        <c:majorUnit val="0.2"/>
      </c:valAx>
      <c:spPr>
        <a:noFill/>
        <a:ln>
          <a:noFill/>
        </a:ln>
        <a:effectLst/>
      </c:spPr>
    </c:plotArea>
    <c:plotVisOnly val="1"/>
    <c:dispBlanksAs val="gap"/>
    <c:showDLblsOverMax val="0"/>
  </c:chart>
  <c:spPr>
    <a:noFill/>
    <a:ln>
      <a:noFill/>
    </a:ln>
    <a:effectLst/>
  </c:spPr>
  <c:txPr>
    <a:bodyPr/>
    <a:lstStyle/>
    <a:p>
      <a:pPr algn="just">
        <a:defRPr sz="1000">
          <a:latin typeface="+mj-lt"/>
        </a:defRPr>
      </a:pPr>
      <a:endParaRPr lang="en-US"/>
    </a:p>
  </c:txPr>
  <c:externalData r:id="rId1">
    <c:autoUpdate val="0"/>
  </c:externalData>
</c:chartSpace>
</file>

<file path=ppt/charts/chart4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9205486058779204E-2"/>
          <c:y val="4.8705195379032298E-2"/>
          <c:w val="0.85795373609530412"/>
          <c:h val="0.7691409568462142"/>
        </c:manualLayout>
      </c:layout>
      <c:scatterChart>
        <c:scatterStyle val="lineMarker"/>
        <c:varyColors val="0"/>
        <c:ser>
          <c:idx val="0"/>
          <c:order val="0"/>
          <c:tx>
            <c:strRef>
              <c:f>Sheet1!$B:$B</c:f>
              <c:strCache>
                <c:ptCount val="1048576"/>
                <c:pt idx="0">
                  <c:v>MR W31</c:v>
                </c:pt>
                <c:pt idx="10">
                  <c:v>56%</c:v>
                </c:pt>
                <c:pt idx="11">
                  <c:v>54%</c:v>
                </c:pt>
                <c:pt idx="15">
                  <c:v>40%</c:v>
                </c:pt>
                <c:pt idx="16">
                  <c:v>39%</c:v>
                </c:pt>
                <c:pt idx="17">
                  <c:v>31%</c:v>
                </c:pt>
                <c:pt idx="18">
                  <c:v>30%</c:v>
                </c:pt>
                <c:pt idx="19">
                  <c:v>29%</c:v>
                </c:pt>
                <c:pt idx="24">
                  <c:v>38%</c:v>
                </c:pt>
                <c:pt idx="28">
                  <c:v>40%</c:v>
                </c:pt>
              </c:strCache>
            </c:strRef>
          </c:tx>
          <c:spPr>
            <a:ln w="19050">
              <a:noFill/>
            </a:ln>
            <a:effectLst/>
          </c:spPr>
          <c:marker>
            <c:symbol val="circle"/>
            <c:size val="6"/>
            <c:spPr>
              <a:solidFill>
                <a:srgbClr val="36729C"/>
              </a:solidFill>
              <a:ln w="12700">
                <a:noFill/>
              </a:ln>
            </c:spPr>
          </c:marker>
          <c:dPt>
            <c:idx val="0"/>
            <c:bubble3D val="0"/>
            <c:extLst>
              <c:ext xmlns:c16="http://schemas.microsoft.com/office/drawing/2014/chart" uri="{C3380CC4-5D6E-409C-BE32-E72D297353CC}">
                <c16:uniqueId val="{00000000-42E7-4EC4-B11F-EF6F52A32E8D}"/>
              </c:ext>
            </c:extLst>
          </c:dPt>
          <c:dPt>
            <c:idx val="1"/>
            <c:bubble3D val="0"/>
            <c:extLst>
              <c:ext xmlns:c16="http://schemas.microsoft.com/office/drawing/2014/chart" uri="{C3380CC4-5D6E-409C-BE32-E72D297353CC}">
                <c16:uniqueId val="{00000001-42E7-4EC4-B11F-EF6F52A32E8D}"/>
              </c:ext>
            </c:extLst>
          </c:dPt>
          <c:dPt>
            <c:idx val="2"/>
            <c:bubble3D val="0"/>
            <c:extLst>
              <c:ext xmlns:c16="http://schemas.microsoft.com/office/drawing/2014/chart" uri="{C3380CC4-5D6E-409C-BE32-E72D297353CC}">
                <c16:uniqueId val="{00000002-42E7-4EC4-B11F-EF6F52A32E8D}"/>
              </c:ext>
            </c:extLst>
          </c:dPt>
          <c:dPt>
            <c:idx val="3"/>
            <c:bubble3D val="0"/>
            <c:extLst>
              <c:ext xmlns:c16="http://schemas.microsoft.com/office/drawing/2014/chart" uri="{C3380CC4-5D6E-409C-BE32-E72D297353CC}">
                <c16:uniqueId val="{00000003-42E7-4EC4-B11F-EF6F52A32E8D}"/>
              </c:ext>
            </c:extLst>
          </c:dPt>
          <c:dPt>
            <c:idx val="4"/>
            <c:bubble3D val="0"/>
            <c:extLst>
              <c:ext xmlns:c16="http://schemas.microsoft.com/office/drawing/2014/chart" uri="{C3380CC4-5D6E-409C-BE32-E72D297353CC}">
                <c16:uniqueId val="{00000004-42E7-4EC4-B11F-EF6F52A32E8D}"/>
              </c:ext>
            </c:extLst>
          </c:dPt>
          <c:dPt>
            <c:idx val="5"/>
            <c:bubble3D val="0"/>
            <c:extLst>
              <c:ext xmlns:c16="http://schemas.microsoft.com/office/drawing/2014/chart" uri="{C3380CC4-5D6E-409C-BE32-E72D297353CC}">
                <c16:uniqueId val="{00000005-42E7-4EC4-B11F-EF6F52A32E8D}"/>
              </c:ext>
            </c:extLst>
          </c:dPt>
          <c:dPt>
            <c:idx val="6"/>
            <c:bubble3D val="0"/>
            <c:extLst>
              <c:ext xmlns:c16="http://schemas.microsoft.com/office/drawing/2014/chart" uri="{C3380CC4-5D6E-409C-BE32-E72D297353CC}">
                <c16:uniqueId val="{00000006-42E7-4EC4-B11F-EF6F52A32E8D}"/>
              </c:ext>
            </c:extLst>
          </c:dPt>
          <c:dPt>
            <c:idx val="7"/>
            <c:bubble3D val="0"/>
            <c:extLst>
              <c:ext xmlns:c16="http://schemas.microsoft.com/office/drawing/2014/chart" uri="{C3380CC4-5D6E-409C-BE32-E72D297353CC}">
                <c16:uniqueId val="{00000007-42E7-4EC4-B11F-EF6F52A32E8D}"/>
              </c:ext>
            </c:extLst>
          </c:dPt>
          <c:dPt>
            <c:idx val="8"/>
            <c:bubble3D val="0"/>
            <c:extLst>
              <c:ext xmlns:c16="http://schemas.microsoft.com/office/drawing/2014/chart" uri="{C3380CC4-5D6E-409C-BE32-E72D297353CC}">
                <c16:uniqueId val="{00000008-42E7-4EC4-B11F-EF6F52A32E8D}"/>
              </c:ext>
            </c:extLst>
          </c:dPt>
          <c:dPt>
            <c:idx val="9"/>
            <c:bubble3D val="0"/>
            <c:extLst>
              <c:ext xmlns:c16="http://schemas.microsoft.com/office/drawing/2014/chart" uri="{C3380CC4-5D6E-409C-BE32-E72D297353CC}">
                <c16:uniqueId val="{00000009-42E7-4EC4-B11F-EF6F52A32E8D}"/>
              </c:ext>
            </c:extLst>
          </c:dPt>
          <c:dPt>
            <c:idx val="10"/>
            <c:bubble3D val="0"/>
            <c:extLst>
              <c:ext xmlns:c16="http://schemas.microsoft.com/office/drawing/2014/chart" uri="{C3380CC4-5D6E-409C-BE32-E72D297353CC}">
                <c16:uniqueId val="{0000000A-42E7-4EC4-B11F-EF6F52A32E8D}"/>
              </c:ext>
            </c:extLst>
          </c:dPt>
          <c:dPt>
            <c:idx val="11"/>
            <c:bubble3D val="0"/>
            <c:extLst>
              <c:ext xmlns:c16="http://schemas.microsoft.com/office/drawing/2014/chart" uri="{C3380CC4-5D6E-409C-BE32-E72D297353CC}">
                <c16:uniqueId val="{0000000B-42E7-4EC4-B11F-EF6F52A32E8D}"/>
              </c:ext>
            </c:extLst>
          </c:dPt>
          <c:dPt>
            <c:idx val="12"/>
            <c:bubble3D val="0"/>
            <c:extLst>
              <c:ext xmlns:c16="http://schemas.microsoft.com/office/drawing/2014/chart" uri="{C3380CC4-5D6E-409C-BE32-E72D297353CC}">
                <c16:uniqueId val="{0000000C-42E7-4EC4-B11F-EF6F52A32E8D}"/>
              </c:ext>
            </c:extLst>
          </c:dPt>
          <c:dPt>
            <c:idx val="13"/>
            <c:bubble3D val="0"/>
            <c:extLst>
              <c:ext xmlns:c16="http://schemas.microsoft.com/office/drawing/2014/chart" uri="{C3380CC4-5D6E-409C-BE32-E72D297353CC}">
                <c16:uniqueId val="{0000000D-42E7-4EC4-B11F-EF6F52A32E8D}"/>
              </c:ext>
            </c:extLst>
          </c:dPt>
          <c:dPt>
            <c:idx val="14"/>
            <c:bubble3D val="0"/>
            <c:extLst>
              <c:ext xmlns:c16="http://schemas.microsoft.com/office/drawing/2014/chart" uri="{C3380CC4-5D6E-409C-BE32-E72D297353CC}">
                <c16:uniqueId val="{0000000E-42E7-4EC4-B11F-EF6F52A32E8D}"/>
              </c:ext>
            </c:extLst>
          </c:dPt>
          <c:dPt>
            <c:idx val="15"/>
            <c:bubble3D val="0"/>
            <c:extLst>
              <c:ext xmlns:c16="http://schemas.microsoft.com/office/drawing/2014/chart" uri="{C3380CC4-5D6E-409C-BE32-E72D297353CC}">
                <c16:uniqueId val="{0000000F-42E7-4EC4-B11F-EF6F52A32E8D}"/>
              </c:ext>
            </c:extLst>
          </c:dPt>
          <c:dPt>
            <c:idx val="16"/>
            <c:bubble3D val="0"/>
            <c:extLst>
              <c:ext xmlns:c16="http://schemas.microsoft.com/office/drawing/2014/chart" uri="{C3380CC4-5D6E-409C-BE32-E72D297353CC}">
                <c16:uniqueId val="{00000010-42E7-4EC4-B11F-EF6F52A32E8D}"/>
              </c:ext>
            </c:extLst>
          </c:dPt>
          <c:dPt>
            <c:idx val="17"/>
            <c:bubble3D val="0"/>
            <c:extLst>
              <c:ext xmlns:c16="http://schemas.microsoft.com/office/drawing/2014/chart" uri="{C3380CC4-5D6E-409C-BE32-E72D297353CC}">
                <c16:uniqueId val="{00000011-42E7-4EC4-B11F-EF6F52A32E8D}"/>
              </c:ext>
            </c:extLst>
          </c:dPt>
          <c:dPt>
            <c:idx val="18"/>
            <c:bubble3D val="0"/>
            <c:extLst>
              <c:ext xmlns:c16="http://schemas.microsoft.com/office/drawing/2014/chart" uri="{C3380CC4-5D6E-409C-BE32-E72D297353CC}">
                <c16:uniqueId val="{00000012-42E7-4EC4-B11F-EF6F52A32E8D}"/>
              </c:ext>
            </c:extLst>
          </c:dPt>
          <c:dPt>
            <c:idx val="19"/>
            <c:bubble3D val="0"/>
            <c:extLst>
              <c:ext xmlns:c16="http://schemas.microsoft.com/office/drawing/2014/chart" uri="{C3380CC4-5D6E-409C-BE32-E72D297353CC}">
                <c16:uniqueId val="{00000013-42E7-4EC4-B11F-EF6F52A32E8D}"/>
              </c:ext>
            </c:extLst>
          </c:dPt>
          <c:dPt>
            <c:idx val="20"/>
            <c:bubble3D val="0"/>
            <c:extLst>
              <c:ext xmlns:c16="http://schemas.microsoft.com/office/drawing/2014/chart" uri="{C3380CC4-5D6E-409C-BE32-E72D297353CC}">
                <c16:uniqueId val="{00000014-42E7-4EC4-B11F-EF6F52A32E8D}"/>
              </c:ext>
            </c:extLst>
          </c:dPt>
          <c:dPt>
            <c:idx val="21"/>
            <c:bubble3D val="0"/>
            <c:extLst>
              <c:ext xmlns:c16="http://schemas.microsoft.com/office/drawing/2014/chart" uri="{C3380CC4-5D6E-409C-BE32-E72D297353CC}">
                <c16:uniqueId val="{00000015-42E7-4EC4-B11F-EF6F52A32E8D}"/>
              </c:ext>
            </c:extLst>
          </c:dPt>
          <c:dPt>
            <c:idx val="22"/>
            <c:marker>
              <c:symbol val="square"/>
              <c:size val="6"/>
              <c:spPr>
                <a:solidFill>
                  <a:srgbClr val="00B050"/>
                </a:solidFill>
                <a:ln w="12700">
                  <a:noFill/>
                </a:ln>
              </c:spPr>
            </c:marker>
            <c:bubble3D val="0"/>
            <c:extLst>
              <c:ext xmlns:c16="http://schemas.microsoft.com/office/drawing/2014/chart" uri="{C3380CC4-5D6E-409C-BE32-E72D297353CC}">
                <c16:uniqueId val="{00000016-42E7-4EC4-B11F-EF6F52A32E8D}"/>
              </c:ext>
            </c:extLst>
          </c:dPt>
          <c:dPt>
            <c:idx val="23"/>
            <c:marker>
              <c:symbol val="square"/>
              <c:size val="6"/>
              <c:spPr>
                <a:solidFill>
                  <a:schemeClr val="bg1">
                    <a:lumMod val="50000"/>
                  </a:schemeClr>
                </a:solidFill>
                <a:ln w="12700">
                  <a:noFill/>
                </a:ln>
              </c:spPr>
            </c:marker>
            <c:bubble3D val="0"/>
            <c:extLst>
              <c:ext xmlns:c16="http://schemas.microsoft.com/office/drawing/2014/chart" uri="{C3380CC4-5D6E-409C-BE32-E72D297353CC}">
                <c16:uniqueId val="{00000017-42E7-4EC4-B11F-EF6F52A32E8D}"/>
              </c:ext>
            </c:extLst>
          </c:dPt>
          <c:dPt>
            <c:idx val="24"/>
            <c:bubble3D val="0"/>
            <c:extLst>
              <c:ext xmlns:c16="http://schemas.microsoft.com/office/drawing/2014/chart" uri="{C3380CC4-5D6E-409C-BE32-E72D297353CC}">
                <c16:uniqueId val="{00000018-42E7-4EC4-B11F-EF6F52A32E8D}"/>
              </c:ext>
            </c:extLst>
          </c:dPt>
          <c:dLbls>
            <c:dLbl>
              <c:idx val="0"/>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42E7-4EC4-B11F-EF6F52A32E8D}"/>
                </c:ext>
              </c:extLst>
            </c:dLbl>
            <c:dLbl>
              <c:idx val="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42E7-4EC4-B11F-EF6F52A32E8D}"/>
                </c:ext>
              </c:extLst>
            </c:dLbl>
            <c:dLbl>
              <c:idx val="2"/>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2-42E7-4EC4-B11F-EF6F52A32E8D}"/>
                </c:ext>
              </c:extLst>
            </c:dLbl>
            <c:dLbl>
              <c:idx val="3"/>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42E7-4EC4-B11F-EF6F52A32E8D}"/>
                </c:ext>
              </c:extLst>
            </c:dLbl>
            <c:dLbl>
              <c:idx val="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42E7-4EC4-B11F-EF6F52A32E8D}"/>
                </c:ext>
              </c:extLst>
            </c:dLbl>
            <c:dLbl>
              <c:idx val="5"/>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42E7-4EC4-B11F-EF6F52A32E8D}"/>
                </c:ext>
              </c:extLst>
            </c:dLbl>
            <c:dLbl>
              <c:idx val="6"/>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42E7-4EC4-B11F-EF6F52A32E8D}"/>
                </c:ext>
              </c:extLst>
            </c:dLbl>
            <c:dLbl>
              <c:idx val="7"/>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7-42E7-4EC4-B11F-EF6F52A32E8D}"/>
                </c:ext>
              </c:extLst>
            </c:dLbl>
            <c:dLbl>
              <c:idx val="8"/>
              <c:layout>
                <c:manualLayout>
                  <c:x val="-6.1250941974378293E-3"/>
                  <c:y val="-3.1721632929752569E-3"/>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42E7-4EC4-B11F-EF6F52A32E8D}"/>
                </c:ext>
              </c:extLst>
            </c:dLbl>
            <c:dLbl>
              <c:idx val="9"/>
              <c:layout>
                <c:manualLayout>
                  <c:x val="-8.0159155990957038E-3"/>
                  <c:y val="-5.8155655218788007E-17"/>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42E7-4EC4-B11F-EF6F52A32E8D}"/>
                </c:ext>
              </c:extLst>
            </c:dLbl>
            <c:dLbl>
              <c:idx val="10"/>
              <c:layout>
                <c:manualLayout>
                  <c:x val="-4.6966209495101843E-2"/>
                  <c:y val="-2.2912510487496558E-2"/>
                </c:manualLayout>
              </c:layout>
              <c:tx>
                <c:rich>
                  <a:bodyPr rot="0" spcFirstLastPara="1" vertOverflow="ellipsis" vert="horz" wrap="none" lIns="0" tIns="0" rIns="0" bIns="0" anchor="ctr" anchorCtr="1">
                    <a:no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fld id="{BF757265-28D4-4320-9029-3BE4F5F6ADA6}" type="CELLRANGE">
                      <a:rPr lang="en-US" sz="900" dirty="0">
                        <a:latin typeface="Arial" panose="020B0604020202020204" pitchFamily="34" charset="0"/>
                        <a:cs typeface="Arial" panose="020B0604020202020204" pitchFamily="34" charset="0"/>
                      </a:rPr>
                      <a:pPr>
                        <a:defRPr sz="900" b="0" i="0" u="none" strike="noStrike" kern="1200" baseline="0">
                          <a:solidFill>
                            <a:srgbClr val="36729C"/>
                          </a:solidFill>
                          <a:latin typeface="Arial" panose="020B0604020202020204" pitchFamily="34" charset="0"/>
                          <a:ea typeface="+mn-ea"/>
                          <a:cs typeface="Arial" panose="020B0604020202020204" pitchFamily="34" charset="0"/>
                        </a:defRPr>
                      </a:pPr>
                      <a:t>[CELLRANGE]</a:t>
                    </a:fld>
                    <a:endParaRPr lang="en-US"/>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5.1056518462697813E-2"/>
                      <c:h val="3.3136617579729327E-2"/>
                    </c:manualLayout>
                  </c15:layout>
                  <c15:dlblFieldTable/>
                  <c15:showDataLabelsRange val="1"/>
                </c:ext>
                <c:ext xmlns:c16="http://schemas.microsoft.com/office/drawing/2014/chart" uri="{C3380CC4-5D6E-409C-BE32-E72D297353CC}">
                  <c16:uniqueId val="{0000000A-42E7-4EC4-B11F-EF6F52A32E8D}"/>
                </c:ext>
              </c:extLst>
            </c:dLbl>
            <c:dLbl>
              <c:idx val="11"/>
              <c:layout>
                <c:manualLayout>
                  <c:x val="-1.3278191409193783E-2"/>
                  <c:y val="5.6369591492806976E-3"/>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layout>
                    <c:manualLayout>
                      <c:w val="5.1056518462697813E-2"/>
                      <c:h val="3.3136617579729327E-2"/>
                    </c:manualLayout>
                  </c15:layout>
                  <c15:dlblFieldTable/>
                  <c15:showDataLabelsRange val="1"/>
                </c:ext>
                <c:ext xmlns:c16="http://schemas.microsoft.com/office/drawing/2014/chart" uri="{C3380CC4-5D6E-409C-BE32-E72D297353CC}">
                  <c16:uniqueId val="{0000000B-42E7-4EC4-B11F-EF6F52A32E8D}"/>
                </c:ext>
              </c:extLst>
            </c:dLbl>
            <c:dLbl>
              <c:idx val="12"/>
              <c:layout>
                <c:manualLayout>
                  <c:x val="-3.6164822908816882E-2"/>
                  <c:y val="-1.9740347194521359E-2"/>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42E7-4EC4-B11F-EF6F52A32E8D}"/>
                </c:ext>
              </c:extLst>
            </c:dLbl>
            <c:dLbl>
              <c:idx val="13"/>
              <c:layout>
                <c:manualLayout>
                  <c:x val="-6.1250941974378352E-2"/>
                  <c:y val="-1.5860816464876283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D-42E7-4EC4-B11F-EF6F52A32E8D}"/>
                </c:ext>
              </c:extLst>
            </c:dLbl>
            <c:dLbl>
              <c:idx val="14"/>
              <c:layout>
                <c:manualLayout>
                  <c:x val="-3.3688018085908066E-2"/>
                  <c:y val="-2.5377306343802055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42E7-4EC4-B11F-EF6F52A32E8D}"/>
                </c:ext>
              </c:extLst>
            </c:dLbl>
            <c:dLbl>
              <c:idx val="15"/>
              <c:layout>
                <c:manualLayout>
                  <c:x val="-1.2250188394875659E-2"/>
                  <c:y val="-1.2688653171901087E-2"/>
                </c:manualLayout>
              </c:layout>
              <c:tx>
                <c:rich>
                  <a:bodyPr rot="0" spcFirstLastPara="1" vertOverflow="ellipsis" vert="horz" wrap="none" lIns="0" tIns="0" rIns="0" bIns="0" anchor="ctr" anchorCtr="1">
                    <a:sp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fld id="{4DAA323B-45EC-420A-8126-8B1D1E00CED3}" type="CELLRANGE">
                      <a:rPr lang="en-US" sz="900" dirty="0">
                        <a:solidFill>
                          <a:srgbClr val="36729C"/>
                        </a:solidFill>
                        <a:latin typeface="Arial" panose="020B0604020202020204" pitchFamily="34" charset="0"/>
                        <a:cs typeface="Arial" panose="020B0604020202020204" pitchFamily="34" charset="0"/>
                      </a:rPr>
                      <a:pPr>
                        <a:defRPr sz="900" b="0" i="0" u="none" strike="noStrike" kern="1200" baseline="0">
                          <a:solidFill>
                            <a:srgbClr val="36729C"/>
                          </a:solidFill>
                          <a:latin typeface="Arial" panose="020B0604020202020204" pitchFamily="34" charset="0"/>
                          <a:ea typeface="+mn-ea"/>
                          <a:cs typeface="Arial" panose="020B0604020202020204" pitchFamily="34" charset="0"/>
                        </a:defRPr>
                      </a:pPr>
                      <a:t>[CELLRANGE]</a:t>
                    </a:fld>
                    <a:endParaRPr lang="en-US"/>
                  </a:p>
                </c:rich>
              </c:tx>
              <c:numFmt formatCode="General" sourceLinked="0"/>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1"/>
                </c:ext>
                <c:ext xmlns:c16="http://schemas.microsoft.com/office/drawing/2014/chart" uri="{C3380CC4-5D6E-409C-BE32-E72D297353CC}">
                  <c16:uniqueId val="{0000000F-42E7-4EC4-B11F-EF6F52A32E8D}"/>
                </c:ext>
              </c:extLst>
            </c:dLbl>
            <c:dLbl>
              <c:idx val="16"/>
              <c:layout>
                <c:manualLayout>
                  <c:x val="-6.1250941974378297E-2"/>
                  <c:y val="-2.2205143050826798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0-42E7-4EC4-B11F-EF6F52A32E8D}"/>
                </c:ext>
              </c:extLst>
            </c:dLbl>
            <c:dLbl>
              <c:idx val="17"/>
              <c:layout>
                <c:manualLayout>
                  <c:x val="-9.1876412961567448E-3"/>
                  <c:y val="-5.8155655218788007E-17"/>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1-42E7-4EC4-B11F-EF6F52A32E8D}"/>
                </c:ext>
              </c:extLst>
            </c:dLbl>
            <c:dLbl>
              <c:idx val="18"/>
              <c:layout>
                <c:manualLayout>
                  <c:x val="-8.8813865862848534E-2"/>
                  <c:y val="0"/>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2-42E7-4EC4-B11F-EF6F52A32E8D}"/>
                </c:ext>
              </c:extLst>
            </c:dLbl>
            <c:dLbl>
              <c:idx val="19"/>
              <c:layout>
                <c:manualLayout>
                  <c:x val="-4.6966209495101843E-2"/>
                  <c:y val="2.6084923557109056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3-42E7-4EC4-B11F-EF6F52A32E8D}"/>
                </c:ext>
              </c:extLst>
            </c:dLbl>
            <c:dLbl>
              <c:idx val="20"/>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4-42E7-4EC4-B11F-EF6F52A32E8D}"/>
                </c:ext>
              </c:extLst>
            </c:dLbl>
            <c:dLbl>
              <c:idx val="2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5-42E7-4EC4-B11F-EF6F52A32E8D}"/>
                </c:ext>
              </c:extLst>
            </c:dLbl>
            <c:dLbl>
              <c:idx val="22"/>
              <c:delete val="1"/>
              <c:extLst>
                <c:ext xmlns:c15="http://schemas.microsoft.com/office/drawing/2012/chart" uri="{CE6537A1-D6FC-4f65-9D91-7224C49458BB}"/>
                <c:ext xmlns:c16="http://schemas.microsoft.com/office/drawing/2014/chart" uri="{C3380CC4-5D6E-409C-BE32-E72D297353CC}">
                  <c16:uniqueId val="{00000016-42E7-4EC4-B11F-EF6F52A32E8D}"/>
                </c:ext>
              </c:extLst>
            </c:dLbl>
            <c:dLbl>
              <c:idx val="23"/>
              <c:delete val="1"/>
              <c:extLst>
                <c:ext xmlns:c15="http://schemas.microsoft.com/office/drawing/2012/chart" uri="{CE6537A1-D6FC-4f65-9D91-7224C49458BB}"/>
                <c:ext xmlns:c16="http://schemas.microsoft.com/office/drawing/2014/chart" uri="{C3380CC4-5D6E-409C-BE32-E72D297353CC}">
                  <c16:uniqueId val="{00000017-42E7-4EC4-B11F-EF6F52A32E8D}"/>
                </c:ext>
              </c:extLst>
            </c:dLbl>
            <c:dLbl>
              <c:idx val="2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8-42E7-4EC4-B11F-EF6F52A32E8D}"/>
                </c:ext>
              </c:extLst>
            </c:dLbl>
            <c:spPr>
              <a:noFill/>
              <a:ln>
                <a:noFill/>
              </a:ln>
              <a:effectLst/>
            </c:spPr>
            <c:txPr>
              <a:bodyPr rot="0" spcFirstLastPara="1" vertOverflow="ellipsis" vert="horz" wrap="none" lIns="0" tIns="0" rIns="0" bIns="0" anchor="ctr" anchorCtr="1">
                <a:spAutoFit/>
              </a:bodyPr>
              <a:lstStyle/>
              <a:p>
                <a:pPr>
                  <a:defRPr sz="900" b="0" i="0" u="none" strike="noStrike" kern="1200" baseline="0">
                    <a:solidFill>
                      <a:srgbClr val="36729C"/>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DataLabelsRange val="1"/>
                <c15:showLeaderLines val="0"/>
              </c:ext>
            </c:extLst>
          </c:dLbls>
          <c:xVal>
            <c:numRef>
              <c:f>Sheet1!$A$2:$A$26</c:f>
              <c:numCache>
                <c:formatCode>General</c:formatCode>
                <c:ptCount val="25"/>
                <c:pt idx="9" formatCode="0%">
                  <c:v>0.46</c:v>
                </c:pt>
                <c:pt idx="10" formatCode="0%">
                  <c:v>0.59</c:v>
                </c:pt>
                <c:pt idx="14" formatCode="0%">
                  <c:v>0.57999999999999996</c:v>
                </c:pt>
                <c:pt idx="15" formatCode="0%">
                  <c:v>0.65</c:v>
                </c:pt>
                <c:pt idx="16" formatCode="0%">
                  <c:v>0.53</c:v>
                </c:pt>
                <c:pt idx="17" formatCode="0%">
                  <c:v>0.54</c:v>
                </c:pt>
                <c:pt idx="18" formatCode="0%">
                  <c:v>0.5</c:v>
                </c:pt>
                <c:pt idx="23" formatCode="0%">
                  <c:v>0.56999999999999995</c:v>
                </c:pt>
              </c:numCache>
            </c:numRef>
          </c:xVal>
          <c:yVal>
            <c:numRef>
              <c:f>Sheet1!$B$2:$B$26</c:f>
              <c:numCache>
                <c:formatCode>General</c:formatCode>
                <c:ptCount val="25"/>
                <c:pt idx="9" formatCode="0%">
                  <c:v>0.56000000000000005</c:v>
                </c:pt>
                <c:pt idx="10" formatCode="0%">
                  <c:v>0.54</c:v>
                </c:pt>
                <c:pt idx="14" formatCode="0%">
                  <c:v>0.4</c:v>
                </c:pt>
                <c:pt idx="15" formatCode="0%">
                  <c:v>0.39</c:v>
                </c:pt>
                <c:pt idx="16" formatCode="0%">
                  <c:v>0.31</c:v>
                </c:pt>
                <c:pt idx="17" formatCode="0%">
                  <c:v>0.3</c:v>
                </c:pt>
                <c:pt idx="18" formatCode="0%">
                  <c:v>0.28999999999999998</c:v>
                </c:pt>
                <c:pt idx="23" formatCode="0%">
                  <c:v>0.38</c:v>
                </c:pt>
              </c:numCache>
            </c:numRef>
          </c:yVal>
          <c:smooth val="0"/>
          <c:extLst>
            <c:ext xmlns:c15="http://schemas.microsoft.com/office/drawing/2012/chart" uri="{02D57815-91ED-43cb-92C2-25804820EDAC}">
              <c15:datalabelsRange>
                <c15:f>Sheet1!$D$2:$D$26</c15:f>
                <c15:dlblRangeCache>
                  <c:ptCount val="25"/>
                  <c:pt idx="8">
                    <c:v>C7</c:v>
                  </c:pt>
                  <c:pt idx="9">
                    <c:v>C6</c:v>
                  </c:pt>
                  <c:pt idx="10">
                    <c:v>C11</c:v>
                  </c:pt>
                  <c:pt idx="11">
                    <c:v>C10</c:v>
                  </c:pt>
                  <c:pt idx="12">
                    <c:v>C3</c:v>
                  </c:pt>
                  <c:pt idx="13">
                    <c:v>C4</c:v>
                  </c:pt>
                  <c:pt idx="14">
                    <c:v>C1</c:v>
                  </c:pt>
                  <c:pt idx="15">
                    <c:v>C9</c:v>
                  </c:pt>
                  <c:pt idx="16">
                    <c:v>C22*</c:v>
                  </c:pt>
                  <c:pt idx="17">
                    <c:v>C20*</c:v>
                  </c:pt>
                  <c:pt idx="18">
                    <c:v>C21*</c:v>
                  </c:pt>
                  <c:pt idx="19">
                    <c:v>C19</c:v>
                  </c:pt>
                  <c:pt idx="20">
                    <c:v>C17</c:v>
                  </c:pt>
                  <c:pt idx="22">
                    <c:v>IA</c:v>
                  </c:pt>
                  <c:pt idx="23">
                    <c:v>WA</c:v>
                  </c:pt>
                </c15:dlblRangeCache>
              </c15:datalabelsRange>
            </c:ext>
            <c:ext xmlns:c16="http://schemas.microsoft.com/office/drawing/2014/chart" uri="{C3380CC4-5D6E-409C-BE32-E72D297353CC}">
              <c16:uniqueId val="{00000019-42E7-4EC4-B11F-EF6F52A32E8D}"/>
            </c:ext>
          </c:extLst>
        </c:ser>
        <c:ser>
          <c:idx val="1"/>
          <c:order val="1"/>
          <c:tx>
            <c:v>W3</c:v>
          </c:tx>
          <c:spPr>
            <a:ln w="28575">
              <a:noFill/>
            </a:ln>
          </c:spPr>
          <c:marker>
            <c:symbol val="circle"/>
            <c:size val="6"/>
            <c:spPr>
              <a:solidFill>
                <a:schemeClr val="tx2">
                  <a:lumMod val="60000"/>
                  <a:lumOff val="40000"/>
                </a:schemeClr>
              </a:solidFill>
              <a:ln>
                <a:noFill/>
              </a:ln>
            </c:spPr>
          </c:marker>
          <c:dLbls>
            <c:dLbl>
              <c:idx val="0"/>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1-9429-4D8F-970C-2FB3CFC7829E}"/>
                </c:ext>
              </c:extLst>
            </c:dLbl>
            <c:dLbl>
              <c:idx val="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2-9429-4D8F-970C-2FB3CFC7829E}"/>
                </c:ext>
              </c:extLst>
            </c:dLbl>
            <c:dLbl>
              <c:idx val="2"/>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3-9429-4D8F-970C-2FB3CFC7829E}"/>
                </c:ext>
              </c:extLst>
            </c:dLbl>
            <c:dLbl>
              <c:idx val="3"/>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4-9429-4D8F-970C-2FB3CFC7829E}"/>
                </c:ext>
              </c:extLst>
            </c:dLbl>
            <c:dLbl>
              <c:idx val="4"/>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5-9429-4D8F-970C-2FB3CFC7829E}"/>
                </c:ext>
              </c:extLst>
            </c:dLbl>
            <c:dLbl>
              <c:idx val="5"/>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6-9429-4D8F-970C-2FB3CFC7829E}"/>
                </c:ext>
              </c:extLst>
            </c:dLbl>
            <c:dLbl>
              <c:idx val="6"/>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7-9429-4D8F-970C-2FB3CFC7829E}"/>
                </c:ext>
              </c:extLst>
            </c:dLbl>
            <c:dLbl>
              <c:idx val="7"/>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429-4D8F-970C-2FB3CFC7829E}"/>
                </c:ext>
              </c:extLst>
            </c:dLbl>
            <c:dLbl>
              <c:idx val="8"/>
              <c:layout>
                <c:manualLayout>
                  <c:x val="-8.346212509419744E-2"/>
                  <c:y val="-7.3831476202405998E-3"/>
                </c:manualLayout>
              </c:layout>
              <c:tx>
                <c:rich>
                  <a:bodyPr/>
                  <a:lstStyle/>
                  <a:p>
                    <a:fld id="{34776591-F94B-4487-85B9-3367B467BDEE}"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4-B1B4-417B-982C-B6396995408C}"/>
                </c:ext>
              </c:extLst>
            </c:dLbl>
            <c:dLbl>
              <c:idx val="9"/>
              <c:layout>
                <c:manualLayout>
                  <c:x val="-4.5938206480783721E-2"/>
                  <c:y val="-2.5377306343802055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F-B1B4-417B-982C-B6396995408C}"/>
                </c:ext>
              </c:extLst>
            </c:dLbl>
            <c:dLbl>
              <c:idx val="10"/>
              <c:layout>
                <c:manualLayout>
                  <c:x val="-6.5752524491333841E-2"/>
                  <c:y val="-2.8549469636777312E-2"/>
                </c:manualLayout>
              </c:layout>
              <c:tx>
                <c:rich>
                  <a:bodyPr wrap="none" lIns="38100" tIns="19050" rIns="38100" bIns="19050" anchor="ctr">
                    <a:noAutofit/>
                  </a:bodyPr>
                  <a:lstStyle/>
                  <a:p>
                    <a:pPr>
                      <a:defRPr sz="900">
                        <a:solidFill>
                          <a:schemeClr val="tx1">
                            <a:lumMod val="50000"/>
                            <a:lumOff val="50000"/>
                          </a:schemeClr>
                        </a:solidFill>
                        <a:latin typeface="Arial" panose="020B0604020202020204" pitchFamily="34" charset="0"/>
                        <a:cs typeface="Arial" panose="020B0604020202020204" pitchFamily="34" charset="0"/>
                      </a:defRPr>
                    </a:pPr>
                    <a:fld id="{40D799C5-6D24-461B-B4C6-B199F5DB8E13}" type="CELLRANGE">
                      <a:rPr lang="en-US">
                        <a:solidFill>
                          <a:schemeClr val="tx1">
                            <a:lumMod val="50000"/>
                            <a:lumOff val="50000"/>
                          </a:schemeClr>
                        </a:solidFill>
                      </a:rPr>
                      <a:pPr>
                        <a:defRPr sz="900">
                          <a:solidFill>
                            <a:schemeClr val="tx1">
                              <a:lumMod val="50000"/>
                              <a:lumOff val="50000"/>
                            </a:schemeClr>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5.9627792012057264E-2"/>
                      <c:h val="2.9199888000155865E-2"/>
                    </c:manualLayout>
                  </c15:layout>
                  <c15:dlblFieldTable/>
                  <c15:showDataLabelsRange val="1"/>
                </c:ext>
                <c:ext xmlns:c16="http://schemas.microsoft.com/office/drawing/2014/chart" uri="{C3380CC4-5D6E-409C-BE32-E72D297353CC}">
                  <c16:uniqueId val="{0000001C-B1B4-417B-982C-B6396995408C}"/>
                </c:ext>
              </c:extLst>
            </c:dLbl>
            <c:dLbl>
              <c:idx val="11"/>
              <c:layout>
                <c:manualLayout>
                  <c:x val="-4.8250550113036923E-2"/>
                  <c:y val="-2.4338485309511968E-2"/>
                </c:manualLayout>
              </c:layout>
              <c:tx>
                <c:rich>
                  <a:bodyPr/>
                  <a:lstStyle/>
                  <a:p>
                    <a:fld id="{2D355FBD-C139-445B-8400-5F51E2EE2B53}"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E-B1B4-417B-982C-B6396995408C}"/>
                </c:ext>
              </c:extLst>
            </c:dLbl>
            <c:dLbl>
              <c:idx val="12"/>
              <c:layout>
                <c:manualLayout>
                  <c:x val="-1.7625079125847778E-2"/>
                  <c:y val="-2.1333422586852289E-3"/>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22-B1B4-417B-982C-B6396995408C}"/>
                </c:ext>
              </c:extLst>
            </c:dLbl>
            <c:dLbl>
              <c:idx val="13"/>
              <c:layout>
                <c:manualLayout>
                  <c:x val="-1.8375282592313601E-2"/>
                  <c:y val="9.516489878925713E-3"/>
                </c:manualLayout>
              </c:layout>
              <c:tx>
                <c:rich>
                  <a:bodyPr/>
                  <a:lstStyle/>
                  <a:p>
                    <a:fld id="{1212A765-4565-43A3-85C3-A16707CC8942}"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3-B1B4-417B-982C-B6396995408C}"/>
                </c:ext>
              </c:extLst>
            </c:dLbl>
            <c:dLbl>
              <c:idx val="14"/>
              <c:layout>
                <c:manualLayout>
                  <c:x val="-3.6750565184626979E-2"/>
                  <c:y val="-3.1721632929752566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D-B1B4-417B-982C-B6396995408C}"/>
                </c:ext>
              </c:extLst>
            </c:dLbl>
            <c:dLbl>
              <c:idx val="15"/>
              <c:layout>
                <c:manualLayout>
                  <c:x val="-3.0625470987189148E-2"/>
                  <c:y val="-2.5377306343802055E-2"/>
                </c:manualLayout>
              </c:layout>
              <c:tx>
                <c:rich>
                  <a:bodyPr/>
                  <a:lstStyle/>
                  <a:p>
                    <a:fld id="{5A838D3C-0BB2-456A-BBBC-3C6B34388DDF}"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9429-4D8F-970C-2FB3CFC7829E}"/>
                </c:ext>
              </c:extLst>
            </c:dLbl>
            <c:dLbl>
              <c:idx val="16"/>
              <c:layout>
                <c:manualLayout>
                  <c:x val="-0.16844009042954031"/>
                  <c:y val="3.4893796222727765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B-B1B4-417B-982C-B6396995408C}"/>
                </c:ext>
              </c:extLst>
            </c:dLbl>
            <c:dLbl>
              <c:idx val="17"/>
              <c:layout>
                <c:manualLayout>
                  <c:x val="-1.2862697814619555E-2"/>
                  <c:y val="-2.0944270586028445E-2"/>
                </c:manualLayout>
              </c:layout>
              <c:tx>
                <c:rich>
                  <a:bodyPr wrap="none" lIns="38100" tIns="19050" rIns="38100" bIns="19050" anchor="ctr">
                    <a:noAutofit/>
                  </a:bodyPr>
                  <a:lstStyle/>
                  <a:p>
                    <a:pPr>
                      <a:defRPr sz="900">
                        <a:solidFill>
                          <a:schemeClr val="tx1">
                            <a:lumMod val="50000"/>
                            <a:lumOff val="50000"/>
                          </a:schemeClr>
                        </a:solidFill>
                        <a:latin typeface="Arial" panose="020B0604020202020204" pitchFamily="34" charset="0"/>
                        <a:cs typeface="Arial" panose="020B0604020202020204" pitchFamily="34" charset="0"/>
                      </a:defRPr>
                    </a:pPr>
                    <a:fld id="{1EA86154-5959-4BE9-9E94-45BE62E93F08}" type="CELLRANGE">
                      <a:rPr lang="en-US" sz="900" dirty="0">
                        <a:solidFill>
                          <a:schemeClr val="tx1">
                            <a:lumMod val="50000"/>
                            <a:lumOff val="50000"/>
                          </a:schemeClr>
                        </a:solidFill>
                        <a:latin typeface="Arial" panose="020B0604020202020204" pitchFamily="34" charset="0"/>
                        <a:cs typeface="Arial" panose="020B0604020202020204" pitchFamily="34" charset="0"/>
                      </a:rPr>
                      <a:pPr>
                        <a:defRPr sz="900">
                          <a:solidFill>
                            <a:schemeClr val="tx1">
                              <a:lumMod val="50000"/>
                              <a:lumOff val="50000"/>
                            </a:schemeClr>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6.8601055011303688E-2"/>
                      <c:h val="4.1888541172056891E-2"/>
                    </c:manualLayout>
                  </c15:layout>
                  <c15:dlblFieldTable/>
                  <c15:showDataLabelsRange val="1"/>
                </c:ext>
                <c:ext xmlns:c16="http://schemas.microsoft.com/office/drawing/2014/chart" uri="{C3380CC4-5D6E-409C-BE32-E72D297353CC}">
                  <c16:uniqueId val="{00000025-B1B4-417B-982C-B6396995408C}"/>
                </c:ext>
              </c:extLst>
            </c:dLbl>
            <c:dLbl>
              <c:idx val="18"/>
              <c:layout>
                <c:manualLayout>
                  <c:x val="-4.6244461190655612E-3"/>
                  <c:y val="-3.1721632929752569E-3"/>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20-B1B4-417B-982C-B6396995408C}"/>
                </c:ext>
              </c:extLst>
            </c:dLbl>
            <c:dLbl>
              <c:idx val="19"/>
              <c:layout>
                <c:manualLayout>
                  <c:x val="-0.10875104747550866"/>
                  <c:y val="4.1238122808678342E-2"/>
                </c:manualLayout>
              </c:layout>
              <c:tx>
                <c:rich>
                  <a:bodyPr/>
                  <a:lstStyle/>
                  <a:p>
                    <a:fld id="{725819EC-BAF2-47F6-BB4C-C9C002423CD0}"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1-B1B4-417B-982C-B6396995408C}"/>
                </c:ext>
              </c:extLst>
            </c:dLbl>
            <c:dLbl>
              <c:idx val="20"/>
              <c:layout>
                <c:manualLayout>
                  <c:x val="-9.571231348907315E-2"/>
                  <c:y val="-3.7027138481412994E-2"/>
                </c:manualLayout>
              </c:layout>
              <c:tx>
                <c:rich>
                  <a:bodyPr/>
                  <a:lstStyle/>
                  <a:p>
                    <a:fld id="{6C4160B9-A790-4793-BE4B-12C535775DA0}"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9429-4D8F-970C-2FB3CFC7829E}"/>
                </c:ext>
              </c:extLst>
            </c:dLbl>
            <c:dLbl>
              <c:idx val="2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429-4D8F-970C-2FB3CFC7829E}"/>
                </c:ext>
              </c:extLst>
            </c:dLbl>
            <c:spPr>
              <a:noFill/>
              <a:ln>
                <a:noFill/>
              </a:ln>
              <a:effectLst/>
            </c:spPr>
            <c:txPr>
              <a:bodyPr wrap="square" lIns="38100" tIns="19050" rIns="38100" bIns="19050" anchor="ctr">
                <a:spAutoFit/>
              </a:bodyPr>
              <a:lstStyle/>
              <a:p>
                <a:pPr>
                  <a:defRPr sz="900">
                    <a:solidFill>
                      <a:schemeClr val="tx1">
                        <a:lumMod val="50000"/>
                        <a:lumOff val="50000"/>
                      </a:schemeClr>
                    </a:solidFill>
                    <a:latin typeface="Arial" panose="020B0604020202020204" pitchFamily="34" charset="0"/>
                    <a:cs typeface="Arial" panose="020B0604020202020204" pitchFamily="34" charset="0"/>
                  </a:defRPr>
                </a:pPr>
                <a:endParaRPr lang="en-US"/>
              </a:p>
            </c:txPr>
            <c:dLblPos val="t"/>
            <c:showLegendKey val="0"/>
            <c:showVal val="0"/>
            <c:showCatName val="0"/>
            <c:showSerName val="0"/>
            <c:showPercent val="0"/>
            <c:showBubbleSize val="0"/>
            <c:showLeaderLines val="0"/>
            <c:extLst xmlns:c15="http://schemas.microsoft.com/office/drawing/2012/chart">
              <c:ext xmlns:c15="http://schemas.microsoft.com/office/drawing/2012/chart" uri="{CE6537A1-D6FC-4f65-9D91-7224C49458BB}">
                <c15:showDataLabelsRange val="1"/>
                <c15:showLeaderLines val="1"/>
              </c:ext>
            </c:extLst>
          </c:dLbls>
          <c:xVal>
            <c:numRef>
              <c:f>Sheet1!$G$2:$G$23</c:f>
              <c:numCache>
                <c:formatCode>General</c:formatCode>
                <c:ptCount val="22"/>
                <c:pt idx="8" formatCode="0%">
                  <c:v>0.56999999999999995</c:v>
                </c:pt>
                <c:pt idx="11" formatCode="0%">
                  <c:v>0.43</c:v>
                </c:pt>
                <c:pt idx="13" formatCode="0%">
                  <c:v>0.59</c:v>
                </c:pt>
                <c:pt idx="15" formatCode="0%">
                  <c:v>0.6</c:v>
                </c:pt>
              </c:numCache>
              <c:extLst xmlns:c15="http://schemas.microsoft.com/office/drawing/2012/chart"/>
            </c:numRef>
          </c:xVal>
          <c:yVal>
            <c:numRef>
              <c:f>Sheet1!$H$2:$H$23</c:f>
              <c:numCache>
                <c:formatCode>General</c:formatCode>
                <c:ptCount val="22"/>
                <c:pt idx="8" formatCode="0%">
                  <c:v>0.4</c:v>
                </c:pt>
                <c:pt idx="11" formatCode="0%">
                  <c:v>0.56999999999999995</c:v>
                </c:pt>
                <c:pt idx="13" formatCode="0%">
                  <c:v>0.32</c:v>
                </c:pt>
                <c:pt idx="15" formatCode="0%">
                  <c:v>0.42</c:v>
                </c:pt>
              </c:numCache>
              <c:extLst xmlns:c15="http://schemas.microsoft.com/office/drawing/2012/chart"/>
            </c:numRef>
          </c:yVal>
          <c:smooth val="0"/>
          <c:extLst xmlns:c15="http://schemas.microsoft.com/office/drawing/2012/chart">
            <c:ext xmlns:c15="http://schemas.microsoft.com/office/drawing/2012/chart" uri="{02D57815-91ED-43cb-92C2-25804820EDAC}">
              <c15:datalabelsRange>
                <c15:f>Sheet1!$I$2:$I$23</c15:f>
                <c15:dlblRangeCache>
                  <c:ptCount val="22"/>
                  <c:pt idx="8">
                    <c:v>C1</c:v>
                  </c:pt>
                  <c:pt idx="9">
                    <c:v>C3</c:v>
                  </c:pt>
                  <c:pt idx="10">
                    <c:v>C4</c:v>
                  </c:pt>
                  <c:pt idx="11">
                    <c:v>C6</c:v>
                  </c:pt>
                  <c:pt idx="12">
                    <c:v>C7</c:v>
                  </c:pt>
                  <c:pt idx="13">
                    <c:v>C9</c:v>
                  </c:pt>
                  <c:pt idx="14">
                    <c:v>C10</c:v>
                  </c:pt>
                  <c:pt idx="15">
                    <c:v>C11</c:v>
                  </c:pt>
                  <c:pt idx="16">
                    <c:v>C14'</c:v>
                  </c:pt>
                  <c:pt idx="17">
                    <c:v>C15'</c:v>
                  </c:pt>
                  <c:pt idx="18">
                    <c:v>C19</c:v>
                  </c:pt>
                  <c:pt idx="19">
                    <c:v>C17</c:v>
                  </c:pt>
                </c15:dlblRangeCache>
              </c15:datalabelsRange>
            </c:ext>
            <c:ext xmlns:c16="http://schemas.microsoft.com/office/drawing/2014/chart" uri="{C3380CC4-5D6E-409C-BE32-E72D297353CC}">
              <c16:uniqueId val="{0000001A-B1B4-417B-982C-B6396995408C}"/>
            </c:ext>
          </c:extLst>
        </c:ser>
        <c:dLbls>
          <c:dLblPos val="ctr"/>
          <c:showLegendKey val="0"/>
          <c:showVal val="1"/>
          <c:showCatName val="0"/>
          <c:showSerName val="0"/>
          <c:showPercent val="0"/>
          <c:showBubbleSize val="0"/>
        </c:dLbls>
        <c:axId val="681510616"/>
        <c:axId val="681511008"/>
        <c:extLst/>
      </c:scatterChart>
      <c:valAx>
        <c:axId val="681510616"/>
        <c:scaling>
          <c:orientation val="minMax"/>
          <c:max val="0.8"/>
          <c:min val="0.30000000000000004"/>
        </c:scaling>
        <c:delete val="1"/>
        <c:axPos val="b"/>
        <c:numFmt formatCode="General" sourceLinked="1"/>
        <c:majorTickMark val="out"/>
        <c:minorTickMark val="out"/>
        <c:tickLblPos val="nextTo"/>
        <c:crossAx val="681511008"/>
        <c:crosses val="autoZero"/>
        <c:crossBetween val="midCat"/>
      </c:valAx>
      <c:valAx>
        <c:axId val="681511008"/>
        <c:scaling>
          <c:orientation val="minMax"/>
          <c:max val="0.8"/>
        </c:scaling>
        <c:delete val="1"/>
        <c:axPos val="l"/>
        <c:numFmt formatCode="General" sourceLinked="1"/>
        <c:majorTickMark val="out"/>
        <c:minorTickMark val="out"/>
        <c:tickLblPos val="nextTo"/>
        <c:crossAx val="681510616"/>
        <c:crosses val="autoZero"/>
        <c:crossBetween val="midCat"/>
      </c:valAx>
      <c:spPr>
        <a:noFill/>
        <a:ln w="0">
          <a:solidFill>
            <a:schemeClr val="tx1"/>
          </a:solidFill>
        </a:ln>
        <a:effectLst/>
      </c:spPr>
    </c:plotArea>
    <c:plotVisOnly val="1"/>
    <c:dispBlanksAs val="gap"/>
    <c:showDLblsOverMax val="0"/>
  </c:chart>
  <c:spPr>
    <a:noFill/>
    <a:ln>
      <a:noFill/>
    </a:ln>
    <a:effectLst/>
  </c:spPr>
  <c:txPr>
    <a:bodyPr/>
    <a:lstStyle/>
    <a:p>
      <a:pPr>
        <a:defRPr sz="1000">
          <a:solidFill>
            <a:schemeClr val="tx1">
              <a:lumMod val="75000"/>
              <a:lumOff val="25000"/>
            </a:schemeClr>
          </a:solidFill>
          <a:latin typeface="Arial(Body)"/>
          <a:cs typeface="Arial" panose="020B0604020202020204" pitchFamily="34" charset="0"/>
        </a:defRPr>
      </a:pPr>
      <a:endParaRPr lang="en-US"/>
    </a:p>
  </c:txPr>
  <c:externalData r:id="rId1">
    <c:autoUpdate val="0"/>
  </c:externalData>
</c:chartSpace>
</file>

<file path=ppt/charts/chart4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9205486058779204E-2"/>
          <c:y val="4.8705195379032298E-2"/>
          <c:w val="0.85795373609530412"/>
          <c:h val="0.7691409568462142"/>
        </c:manualLayout>
      </c:layout>
      <c:scatterChart>
        <c:scatterStyle val="lineMarker"/>
        <c:varyColors val="0"/>
        <c:ser>
          <c:idx val="0"/>
          <c:order val="0"/>
          <c:tx>
            <c:strRef>
              <c:f>Sheet1!$B:$B</c:f>
              <c:strCache>
                <c:ptCount val="1048576"/>
                <c:pt idx="0">
                  <c:v>MR W31</c:v>
                </c:pt>
                <c:pt idx="11">
                  <c:v>49%</c:v>
                </c:pt>
                <c:pt idx="20">
                  <c:v>54%</c:v>
                </c:pt>
                <c:pt idx="24">
                  <c:v>38%</c:v>
                </c:pt>
                <c:pt idx="28">
                  <c:v>52%</c:v>
                </c:pt>
              </c:strCache>
            </c:strRef>
          </c:tx>
          <c:spPr>
            <a:ln w="19050">
              <a:noFill/>
            </a:ln>
            <a:effectLst/>
          </c:spPr>
          <c:marker>
            <c:symbol val="circle"/>
            <c:size val="6"/>
            <c:spPr>
              <a:pattFill prst="dkUpDiag">
                <a:fgClr>
                  <a:srgbClr val="9778D4"/>
                </a:fgClr>
                <a:bgClr>
                  <a:schemeClr val="bg1"/>
                </a:bgClr>
              </a:pattFill>
              <a:ln w="12700">
                <a:solidFill>
                  <a:srgbClr val="9778D4"/>
                </a:solidFill>
              </a:ln>
            </c:spPr>
          </c:marker>
          <c:dPt>
            <c:idx val="0"/>
            <c:bubble3D val="0"/>
            <c:extLst>
              <c:ext xmlns:c16="http://schemas.microsoft.com/office/drawing/2014/chart" uri="{C3380CC4-5D6E-409C-BE32-E72D297353CC}">
                <c16:uniqueId val="{00000000-42E7-4EC4-B11F-EF6F52A32E8D}"/>
              </c:ext>
            </c:extLst>
          </c:dPt>
          <c:dPt>
            <c:idx val="1"/>
            <c:bubble3D val="0"/>
            <c:extLst>
              <c:ext xmlns:c16="http://schemas.microsoft.com/office/drawing/2014/chart" uri="{C3380CC4-5D6E-409C-BE32-E72D297353CC}">
                <c16:uniqueId val="{00000001-42E7-4EC4-B11F-EF6F52A32E8D}"/>
              </c:ext>
            </c:extLst>
          </c:dPt>
          <c:dPt>
            <c:idx val="2"/>
            <c:bubble3D val="0"/>
            <c:extLst>
              <c:ext xmlns:c16="http://schemas.microsoft.com/office/drawing/2014/chart" uri="{C3380CC4-5D6E-409C-BE32-E72D297353CC}">
                <c16:uniqueId val="{00000002-42E7-4EC4-B11F-EF6F52A32E8D}"/>
              </c:ext>
            </c:extLst>
          </c:dPt>
          <c:dPt>
            <c:idx val="3"/>
            <c:bubble3D val="0"/>
            <c:extLst>
              <c:ext xmlns:c16="http://schemas.microsoft.com/office/drawing/2014/chart" uri="{C3380CC4-5D6E-409C-BE32-E72D297353CC}">
                <c16:uniqueId val="{00000003-42E7-4EC4-B11F-EF6F52A32E8D}"/>
              </c:ext>
            </c:extLst>
          </c:dPt>
          <c:dPt>
            <c:idx val="4"/>
            <c:bubble3D val="0"/>
            <c:extLst>
              <c:ext xmlns:c16="http://schemas.microsoft.com/office/drawing/2014/chart" uri="{C3380CC4-5D6E-409C-BE32-E72D297353CC}">
                <c16:uniqueId val="{00000004-42E7-4EC4-B11F-EF6F52A32E8D}"/>
              </c:ext>
            </c:extLst>
          </c:dPt>
          <c:dPt>
            <c:idx val="5"/>
            <c:bubble3D val="0"/>
            <c:extLst>
              <c:ext xmlns:c16="http://schemas.microsoft.com/office/drawing/2014/chart" uri="{C3380CC4-5D6E-409C-BE32-E72D297353CC}">
                <c16:uniqueId val="{00000005-42E7-4EC4-B11F-EF6F52A32E8D}"/>
              </c:ext>
            </c:extLst>
          </c:dPt>
          <c:dPt>
            <c:idx val="6"/>
            <c:bubble3D val="0"/>
            <c:extLst>
              <c:ext xmlns:c16="http://schemas.microsoft.com/office/drawing/2014/chart" uri="{C3380CC4-5D6E-409C-BE32-E72D297353CC}">
                <c16:uniqueId val="{00000006-42E7-4EC4-B11F-EF6F52A32E8D}"/>
              </c:ext>
            </c:extLst>
          </c:dPt>
          <c:dPt>
            <c:idx val="7"/>
            <c:bubble3D val="0"/>
            <c:extLst>
              <c:ext xmlns:c16="http://schemas.microsoft.com/office/drawing/2014/chart" uri="{C3380CC4-5D6E-409C-BE32-E72D297353CC}">
                <c16:uniqueId val="{00000007-42E7-4EC4-B11F-EF6F52A32E8D}"/>
              </c:ext>
            </c:extLst>
          </c:dPt>
          <c:dPt>
            <c:idx val="8"/>
            <c:bubble3D val="0"/>
            <c:extLst>
              <c:ext xmlns:c16="http://schemas.microsoft.com/office/drawing/2014/chart" uri="{C3380CC4-5D6E-409C-BE32-E72D297353CC}">
                <c16:uniqueId val="{00000008-42E7-4EC4-B11F-EF6F52A32E8D}"/>
              </c:ext>
            </c:extLst>
          </c:dPt>
          <c:dPt>
            <c:idx val="9"/>
            <c:bubble3D val="0"/>
            <c:extLst>
              <c:ext xmlns:c16="http://schemas.microsoft.com/office/drawing/2014/chart" uri="{C3380CC4-5D6E-409C-BE32-E72D297353CC}">
                <c16:uniqueId val="{00000009-42E7-4EC4-B11F-EF6F52A32E8D}"/>
              </c:ext>
            </c:extLst>
          </c:dPt>
          <c:dPt>
            <c:idx val="10"/>
            <c:bubble3D val="0"/>
            <c:extLst>
              <c:ext xmlns:c16="http://schemas.microsoft.com/office/drawing/2014/chart" uri="{C3380CC4-5D6E-409C-BE32-E72D297353CC}">
                <c16:uniqueId val="{0000000A-42E7-4EC4-B11F-EF6F52A32E8D}"/>
              </c:ext>
            </c:extLst>
          </c:dPt>
          <c:dPt>
            <c:idx val="11"/>
            <c:bubble3D val="0"/>
            <c:extLst>
              <c:ext xmlns:c16="http://schemas.microsoft.com/office/drawing/2014/chart" uri="{C3380CC4-5D6E-409C-BE32-E72D297353CC}">
                <c16:uniqueId val="{0000000B-42E7-4EC4-B11F-EF6F52A32E8D}"/>
              </c:ext>
            </c:extLst>
          </c:dPt>
          <c:dPt>
            <c:idx val="12"/>
            <c:bubble3D val="0"/>
            <c:extLst>
              <c:ext xmlns:c16="http://schemas.microsoft.com/office/drawing/2014/chart" uri="{C3380CC4-5D6E-409C-BE32-E72D297353CC}">
                <c16:uniqueId val="{0000000C-42E7-4EC4-B11F-EF6F52A32E8D}"/>
              </c:ext>
            </c:extLst>
          </c:dPt>
          <c:dPt>
            <c:idx val="13"/>
            <c:bubble3D val="0"/>
            <c:extLst>
              <c:ext xmlns:c16="http://schemas.microsoft.com/office/drawing/2014/chart" uri="{C3380CC4-5D6E-409C-BE32-E72D297353CC}">
                <c16:uniqueId val="{0000000D-42E7-4EC4-B11F-EF6F52A32E8D}"/>
              </c:ext>
            </c:extLst>
          </c:dPt>
          <c:dPt>
            <c:idx val="14"/>
            <c:bubble3D val="0"/>
            <c:extLst>
              <c:ext xmlns:c16="http://schemas.microsoft.com/office/drawing/2014/chart" uri="{C3380CC4-5D6E-409C-BE32-E72D297353CC}">
                <c16:uniqueId val="{0000000E-42E7-4EC4-B11F-EF6F52A32E8D}"/>
              </c:ext>
            </c:extLst>
          </c:dPt>
          <c:dPt>
            <c:idx val="15"/>
            <c:bubble3D val="0"/>
            <c:extLst>
              <c:ext xmlns:c16="http://schemas.microsoft.com/office/drawing/2014/chart" uri="{C3380CC4-5D6E-409C-BE32-E72D297353CC}">
                <c16:uniqueId val="{0000000F-42E7-4EC4-B11F-EF6F52A32E8D}"/>
              </c:ext>
            </c:extLst>
          </c:dPt>
          <c:dPt>
            <c:idx val="16"/>
            <c:bubble3D val="0"/>
            <c:extLst>
              <c:ext xmlns:c16="http://schemas.microsoft.com/office/drawing/2014/chart" uri="{C3380CC4-5D6E-409C-BE32-E72D297353CC}">
                <c16:uniqueId val="{00000010-42E7-4EC4-B11F-EF6F52A32E8D}"/>
              </c:ext>
            </c:extLst>
          </c:dPt>
          <c:dPt>
            <c:idx val="17"/>
            <c:bubble3D val="0"/>
            <c:extLst>
              <c:ext xmlns:c16="http://schemas.microsoft.com/office/drawing/2014/chart" uri="{C3380CC4-5D6E-409C-BE32-E72D297353CC}">
                <c16:uniqueId val="{00000011-42E7-4EC4-B11F-EF6F52A32E8D}"/>
              </c:ext>
            </c:extLst>
          </c:dPt>
          <c:dPt>
            <c:idx val="18"/>
            <c:bubble3D val="0"/>
            <c:extLst>
              <c:ext xmlns:c16="http://schemas.microsoft.com/office/drawing/2014/chart" uri="{C3380CC4-5D6E-409C-BE32-E72D297353CC}">
                <c16:uniqueId val="{00000012-42E7-4EC4-B11F-EF6F52A32E8D}"/>
              </c:ext>
            </c:extLst>
          </c:dPt>
          <c:dPt>
            <c:idx val="19"/>
            <c:bubble3D val="0"/>
            <c:extLst>
              <c:ext xmlns:c16="http://schemas.microsoft.com/office/drawing/2014/chart" uri="{C3380CC4-5D6E-409C-BE32-E72D297353CC}">
                <c16:uniqueId val="{00000013-42E7-4EC4-B11F-EF6F52A32E8D}"/>
              </c:ext>
            </c:extLst>
          </c:dPt>
          <c:dPt>
            <c:idx val="20"/>
            <c:bubble3D val="0"/>
            <c:extLst>
              <c:ext xmlns:c16="http://schemas.microsoft.com/office/drawing/2014/chart" uri="{C3380CC4-5D6E-409C-BE32-E72D297353CC}">
                <c16:uniqueId val="{00000014-42E7-4EC4-B11F-EF6F52A32E8D}"/>
              </c:ext>
            </c:extLst>
          </c:dPt>
          <c:dPt>
            <c:idx val="21"/>
            <c:bubble3D val="0"/>
            <c:extLst>
              <c:ext xmlns:c16="http://schemas.microsoft.com/office/drawing/2014/chart" uri="{C3380CC4-5D6E-409C-BE32-E72D297353CC}">
                <c16:uniqueId val="{00000015-42E7-4EC4-B11F-EF6F52A32E8D}"/>
              </c:ext>
            </c:extLst>
          </c:dPt>
          <c:dPt>
            <c:idx val="22"/>
            <c:marker>
              <c:symbol val="square"/>
              <c:size val="6"/>
            </c:marker>
            <c:bubble3D val="0"/>
            <c:extLst>
              <c:ext xmlns:c16="http://schemas.microsoft.com/office/drawing/2014/chart" uri="{C3380CC4-5D6E-409C-BE32-E72D297353CC}">
                <c16:uniqueId val="{00000016-42E7-4EC4-B11F-EF6F52A32E8D}"/>
              </c:ext>
            </c:extLst>
          </c:dPt>
          <c:dPt>
            <c:idx val="23"/>
            <c:marker>
              <c:symbol val="square"/>
              <c:size val="6"/>
              <c:spPr>
                <a:solidFill>
                  <a:schemeClr val="bg1">
                    <a:lumMod val="50000"/>
                  </a:schemeClr>
                </a:solidFill>
                <a:ln w="12700">
                  <a:noFill/>
                </a:ln>
              </c:spPr>
            </c:marker>
            <c:bubble3D val="0"/>
            <c:extLst>
              <c:ext xmlns:c16="http://schemas.microsoft.com/office/drawing/2014/chart" uri="{C3380CC4-5D6E-409C-BE32-E72D297353CC}">
                <c16:uniqueId val="{00000017-42E7-4EC4-B11F-EF6F52A32E8D}"/>
              </c:ext>
            </c:extLst>
          </c:dPt>
          <c:dPt>
            <c:idx val="24"/>
            <c:bubble3D val="0"/>
            <c:extLst>
              <c:ext xmlns:c16="http://schemas.microsoft.com/office/drawing/2014/chart" uri="{C3380CC4-5D6E-409C-BE32-E72D297353CC}">
                <c16:uniqueId val="{00000018-42E7-4EC4-B11F-EF6F52A32E8D}"/>
              </c:ext>
            </c:extLst>
          </c:dPt>
          <c:dLbls>
            <c:dLbl>
              <c:idx val="0"/>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42E7-4EC4-B11F-EF6F52A32E8D}"/>
                </c:ext>
              </c:extLst>
            </c:dLbl>
            <c:dLbl>
              <c:idx val="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42E7-4EC4-B11F-EF6F52A32E8D}"/>
                </c:ext>
              </c:extLst>
            </c:dLbl>
            <c:dLbl>
              <c:idx val="2"/>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2-42E7-4EC4-B11F-EF6F52A32E8D}"/>
                </c:ext>
              </c:extLst>
            </c:dLbl>
            <c:dLbl>
              <c:idx val="3"/>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42E7-4EC4-B11F-EF6F52A32E8D}"/>
                </c:ext>
              </c:extLst>
            </c:dLbl>
            <c:dLbl>
              <c:idx val="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42E7-4EC4-B11F-EF6F52A32E8D}"/>
                </c:ext>
              </c:extLst>
            </c:dLbl>
            <c:dLbl>
              <c:idx val="5"/>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42E7-4EC4-B11F-EF6F52A32E8D}"/>
                </c:ext>
              </c:extLst>
            </c:dLbl>
            <c:dLbl>
              <c:idx val="6"/>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42E7-4EC4-B11F-EF6F52A32E8D}"/>
                </c:ext>
              </c:extLst>
            </c:dLbl>
            <c:dLbl>
              <c:idx val="7"/>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7-42E7-4EC4-B11F-EF6F52A32E8D}"/>
                </c:ext>
              </c:extLst>
            </c:dLbl>
            <c:dLbl>
              <c:idx val="8"/>
              <c:layout>
                <c:manualLayout>
                  <c:x val="-6.1250941974378293E-3"/>
                  <c:y val="-3.1721632929752569E-3"/>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42E7-4EC4-B11F-EF6F52A32E8D}"/>
                </c:ext>
              </c:extLst>
            </c:dLbl>
            <c:dLbl>
              <c:idx val="9"/>
              <c:layout>
                <c:manualLayout>
                  <c:x val="-6.3141763376036233E-2"/>
                  <c:y val="3.1721632929752569E-3"/>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42E7-4EC4-B11F-EF6F52A32E8D}"/>
                </c:ext>
              </c:extLst>
            </c:dLbl>
            <c:dLbl>
              <c:idx val="10"/>
              <c:layout>
                <c:manualLayout>
                  <c:x val="-1.6340738507912528E-2"/>
                  <c:y val="-3.87733269523729E-2"/>
                </c:manualLayout>
              </c:layout>
              <c:tx>
                <c:rich>
                  <a:bodyPr rot="0" spcFirstLastPara="1" vertOverflow="ellipsis" vert="horz" wrap="none" lIns="0" tIns="0" rIns="0" bIns="0" anchor="ctr" anchorCtr="1">
                    <a:noAutofit/>
                  </a:bodyPr>
                  <a:lstStyle/>
                  <a:p>
                    <a:pPr>
                      <a:defRPr sz="900" b="0" i="0" u="none" strike="noStrike" kern="1200" baseline="0">
                        <a:solidFill>
                          <a:schemeClr val="accent4">
                            <a:lumMod val="40000"/>
                            <a:lumOff val="60000"/>
                          </a:schemeClr>
                        </a:solidFill>
                        <a:latin typeface="Arial" panose="020B0604020202020204" pitchFamily="34" charset="0"/>
                        <a:ea typeface="+mn-ea"/>
                        <a:cs typeface="Arial" panose="020B0604020202020204" pitchFamily="34" charset="0"/>
                      </a:defRPr>
                    </a:pPr>
                    <a:fld id="{BF757265-28D4-4320-9029-3BE4F5F6ADA6}" type="CELLRANGE">
                      <a:rPr lang="en-US" sz="900" dirty="0">
                        <a:solidFill>
                          <a:schemeClr val="accent4">
                            <a:lumMod val="40000"/>
                            <a:lumOff val="60000"/>
                          </a:schemeClr>
                        </a:solidFill>
                        <a:latin typeface="Arial" panose="020B0604020202020204" pitchFamily="34" charset="0"/>
                        <a:cs typeface="Arial" panose="020B0604020202020204" pitchFamily="34" charset="0"/>
                      </a:rPr>
                      <a:pPr>
                        <a:defRPr sz="900" b="0" i="0" u="none" strike="noStrike" kern="1200" baseline="0">
                          <a:solidFill>
                            <a:schemeClr val="accent4">
                              <a:lumMod val="40000"/>
                              <a:lumOff val="60000"/>
                            </a:schemeClr>
                          </a:solidFill>
                          <a:latin typeface="Arial" panose="020B0604020202020204" pitchFamily="34" charset="0"/>
                          <a:ea typeface="+mn-ea"/>
                          <a:cs typeface="Arial" panose="020B0604020202020204" pitchFamily="34" charset="0"/>
                        </a:defRPr>
                      </a:pPr>
                      <a:t>[CELLRANGE]</a:t>
                    </a:fld>
                    <a:endParaRPr lang="en-US"/>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5.1056518462697813E-2"/>
                      <c:h val="3.3136617579729327E-2"/>
                    </c:manualLayout>
                  </c15:layout>
                  <c15:dlblFieldTable/>
                  <c15:showDataLabelsRange val="1"/>
                </c:ext>
                <c:ext xmlns:c16="http://schemas.microsoft.com/office/drawing/2014/chart" uri="{C3380CC4-5D6E-409C-BE32-E72D297353CC}">
                  <c16:uniqueId val="{0000000A-42E7-4EC4-B11F-EF6F52A32E8D}"/>
                </c:ext>
              </c:extLst>
            </c:dLbl>
            <c:dLbl>
              <c:idx val="11"/>
              <c:layout>
                <c:manualLayout>
                  <c:x val="-4.3903662396382818E-2"/>
                  <c:y val="-2.608467378047187E-2"/>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layout>
                    <c:manualLayout>
                      <c:w val="5.1056518462697813E-2"/>
                      <c:h val="3.3136617579729327E-2"/>
                    </c:manualLayout>
                  </c15:layout>
                  <c15:dlblFieldTable/>
                  <c15:showDataLabelsRange val="1"/>
                </c:ext>
                <c:ext xmlns:c16="http://schemas.microsoft.com/office/drawing/2014/chart" uri="{C3380CC4-5D6E-409C-BE32-E72D297353CC}">
                  <c16:uniqueId val="{0000000B-42E7-4EC4-B11F-EF6F52A32E8D}"/>
                </c:ext>
              </c:extLst>
            </c:dLbl>
            <c:dLbl>
              <c:idx val="12"/>
              <c:layout>
                <c:manualLayout>
                  <c:x val="-7.9040482290881689E-2"/>
                  <c:y val="2.4647958563054988E-3"/>
                </c:manualLayout>
              </c:layout>
              <c:tx>
                <c:rich>
                  <a:bodyPr/>
                  <a:lstStyle/>
                  <a:p>
                    <a:fld id="{BF757265-28D4-4320-9029-3BE4F5F6ADA6}" type="CELLRANGE">
                      <a:rPr lang="en-US" smtClean="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42E7-4EC4-B11F-EF6F52A32E8D}"/>
                </c:ext>
              </c:extLst>
            </c:dLbl>
            <c:dLbl>
              <c:idx val="13"/>
              <c:layout>
                <c:manualLayout>
                  <c:x val="-6.1250941974378352E-2"/>
                  <c:y val="-1.5860816464876283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D-42E7-4EC4-B11F-EF6F52A32E8D}"/>
                </c:ext>
              </c:extLst>
            </c:dLbl>
            <c:dLbl>
              <c:idx val="14"/>
              <c:layout>
                <c:manualLayout>
                  <c:x val="-3.3688018085908066E-2"/>
                  <c:y val="-2.5377306343802055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42E7-4EC4-B11F-EF6F52A32E8D}"/>
                </c:ext>
              </c:extLst>
            </c:dLbl>
            <c:dLbl>
              <c:idx val="15"/>
              <c:layout>
                <c:manualLayout>
                  <c:x val="-1.2250188394875659E-2"/>
                  <c:y val="-1.2688653171901087E-2"/>
                </c:manualLayout>
              </c:layout>
              <c:tx>
                <c:rich>
                  <a:bodyPr rot="0" spcFirstLastPara="1" vertOverflow="ellipsis" vert="horz" wrap="none" lIns="0" tIns="0" rIns="0" bIns="0" anchor="ctr" anchorCtr="1">
                    <a:spAutoFit/>
                  </a:bodyPr>
                  <a:lstStyle/>
                  <a:p>
                    <a:pPr>
                      <a:defRPr sz="900" b="0" i="0" u="none" strike="noStrike" kern="1200" baseline="0">
                        <a:solidFill>
                          <a:schemeClr val="accent4">
                            <a:lumMod val="40000"/>
                            <a:lumOff val="60000"/>
                          </a:schemeClr>
                        </a:solidFill>
                        <a:latin typeface="Arial" panose="020B0604020202020204" pitchFamily="34" charset="0"/>
                        <a:ea typeface="+mn-ea"/>
                        <a:cs typeface="Arial" panose="020B0604020202020204" pitchFamily="34" charset="0"/>
                      </a:defRPr>
                    </a:pPr>
                    <a:fld id="{4DAA323B-45EC-420A-8126-8B1D1E00CED3}" type="CELLRANGE">
                      <a:rPr lang="en-US" sz="900" dirty="0">
                        <a:solidFill>
                          <a:schemeClr val="accent4">
                            <a:lumMod val="40000"/>
                            <a:lumOff val="60000"/>
                          </a:schemeClr>
                        </a:solidFill>
                        <a:latin typeface="Arial" panose="020B0604020202020204" pitchFamily="34" charset="0"/>
                        <a:cs typeface="Arial" panose="020B0604020202020204" pitchFamily="34" charset="0"/>
                      </a:rPr>
                      <a:pPr>
                        <a:defRPr sz="900" b="0" i="0" u="none" strike="noStrike" kern="1200" baseline="0">
                          <a:solidFill>
                            <a:schemeClr val="accent4">
                              <a:lumMod val="40000"/>
                              <a:lumOff val="60000"/>
                            </a:schemeClr>
                          </a:solidFill>
                          <a:latin typeface="Arial" panose="020B0604020202020204" pitchFamily="34" charset="0"/>
                          <a:ea typeface="+mn-ea"/>
                          <a:cs typeface="Arial" panose="020B0604020202020204" pitchFamily="34" charset="0"/>
                        </a:defRPr>
                      </a:pPr>
                      <a:t>[CELLRANGE]</a:t>
                    </a:fld>
                    <a:endParaRPr lang="en-US"/>
                  </a:p>
                </c:rich>
              </c:tx>
              <c:numFmt formatCode="General" sourceLinked="0"/>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1"/>
                </c:ext>
                <c:ext xmlns:c16="http://schemas.microsoft.com/office/drawing/2014/chart" uri="{C3380CC4-5D6E-409C-BE32-E72D297353CC}">
                  <c16:uniqueId val="{0000000F-42E7-4EC4-B11F-EF6F52A32E8D}"/>
                </c:ext>
              </c:extLst>
            </c:dLbl>
            <c:dLbl>
              <c:idx val="16"/>
              <c:layout>
                <c:manualLayout>
                  <c:x val="-8.8813865862848534E-2"/>
                  <c:y val="3.1721632929752569E-3"/>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0-42E7-4EC4-B11F-EF6F52A32E8D}"/>
                </c:ext>
              </c:extLst>
            </c:dLbl>
            <c:dLbl>
              <c:idx val="17"/>
              <c:layout>
                <c:manualLayout>
                  <c:x val="-9.1876412961567448E-3"/>
                  <c:y val="-5.8155655218788007E-17"/>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1-42E7-4EC4-B11F-EF6F52A32E8D}"/>
                </c:ext>
              </c:extLst>
            </c:dLbl>
            <c:dLbl>
              <c:idx val="18"/>
              <c:layout>
                <c:manualLayout>
                  <c:x val="-1.837528259231349E-2"/>
                  <c:y val="2.5377306343802055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2-42E7-4EC4-B11F-EF6F52A32E8D}"/>
                </c:ext>
              </c:extLst>
            </c:dLbl>
            <c:dLbl>
              <c:idx val="19"/>
              <c:layout>
                <c:manualLayout>
                  <c:x val="-4.084111529766396E-2"/>
                  <c:y val="-2.7841852423470342E-2"/>
                </c:manualLayout>
              </c:layout>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3-42E7-4EC4-B11F-EF6F52A32E8D}"/>
                </c:ext>
              </c:extLst>
            </c:dLbl>
            <c:dLbl>
              <c:idx val="20"/>
              <c:tx>
                <c:rich>
                  <a:bodyPr/>
                  <a:lstStyle/>
                  <a:p>
                    <a:fld id="{BF757265-28D4-4320-9029-3BE4F5F6ADA6}" type="CELLRANGE">
                      <a:rPr lang="en-US" dirty="0"/>
                      <a:pPr/>
                      <a:t>[CELLRANGE]</a:t>
                    </a:fld>
                    <a:endParaRPr lang="en-US"/>
                  </a:p>
                </c:rich>
              </c:tx>
              <c:dLblPos val="r"/>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4-42E7-4EC4-B11F-EF6F52A32E8D}"/>
                </c:ext>
              </c:extLst>
            </c:dLbl>
            <c:dLbl>
              <c:idx val="21"/>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5-42E7-4EC4-B11F-EF6F52A32E8D}"/>
                </c:ext>
              </c:extLst>
            </c:dLbl>
            <c:dLbl>
              <c:idx val="22"/>
              <c:delete val="1"/>
              <c:extLst>
                <c:ext xmlns:c15="http://schemas.microsoft.com/office/drawing/2012/chart" uri="{CE6537A1-D6FC-4f65-9D91-7224C49458BB}"/>
                <c:ext xmlns:c16="http://schemas.microsoft.com/office/drawing/2014/chart" uri="{C3380CC4-5D6E-409C-BE32-E72D297353CC}">
                  <c16:uniqueId val="{00000016-42E7-4EC4-B11F-EF6F52A32E8D}"/>
                </c:ext>
              </c:extLst>
            </c:dLbl>
            <c:dLbl>
              <c:idx val="23"/>
              <c:delete val="1"/>
              <c:extLst>
                <c:ext xmlns:c15="http://schemas.microsoft.com/office/drawing/2012/chart" uri="{CE6537A1-D6FC-4f65-9D91-7224C49458BB}"/>
                <c:ext xmlns:c16="http://schemas.microsoft.com/office/drawing/2014/chart" uri="{C3380CC4-5D6E-409C-BE32-E72D297353CC}">
                  <c16:uniqueId val="{00000017-42E7-4EC4-B11F-EF6F52A32E8D}"/>
                </c:ext>
              </c:extLst>
            </c:dLbl>
            <c:dLbl>
              <c:idx val="24"/>
              <c:tx>
                <c:rich>
                  <a:bodyPr/>
                  <a:lstStyle/>
                  <a:p>
                    <a:fld id="{BF757265-28D4-4320-9029-3BE4F5F6ADA6}" type="CELLRANGE">
                      <a:rPr lang="en-US" dirty="0"/>
                      <a:pPr/>
                      <a:t>[CELLRANGE]</a:t>
                    </a:fld>
                    <a:endParaRPr lang="en-US"/>
                  </a:p>
                </c:rich>
              </c:tx>
              <c:dLblPos val="t"/>
              <c:showLegendKey val="0"/>
              <c:showVal val="1"/>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8-42E7-4EC4-B11F-EF6F52A32E8D}"/>
                </c:ext>
              </c:extLst>
            </c:dLbl>
            <c:spPr>
              <a:noFill/>
              <a:ln>
                <a:noFill/>
              </a:ln>
              <a:effectLst/>
            </c:spPr>
            <c:txPr>
              <a:bodyPr rot="0" spcFirstLastPara="1" vertOverflow="ellipsis" vert="horz" wrap="none" lIns="0" tIns="0" rIns="0" bIns="0" anchor="ctr" anchorCtr="1">
                <a:spAutoFit/>
              </a:bodyPr>
              <a:lstStyle/>
              <a:p>
                <a:pPr>
                  <a:defRPr sz="900" b="0" i="0" u="none" strike="noStrike" kern="1200" baseline="0">
                    <a:solidFill>
                      <a:schemeClr val="accent4">
                        <a:lumMod val="40000"/>
                        <a:lumOff val="60000"/>
                      </a:schemeClr>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DataLabelsRange val="1"/>
                <c15:showLeaderLines val="1"/>
              </c:ext>
            </c:extLst>
          </c:dLbls>
          <c:xVal>
            <c:numRef>
              <c:f>Sheet1!$A$2:$A$26</c:f>
              <c:numCache>
                <c:formatCode>General</c:formatCode>
                <c:ptCount val="25"/>
                <c:pt idx="10" formatCode="0%">
                  <c:v>0.52</c:v>
                </c:pt>
                <c:pt idx="19" formatCode="0%">
                  <c:v>0.48</c:v>
                </c:pt>
                <c:pt idx="23" formatCode="0%">
                  <c:v>0.56999999999999995</c:v>
                </c:pt>
              </c:numCache>
            </c:numRef>
          </c:xVal>
          <c:yVal>
            <c:numRef>
              <c:f>Sheet1!$B$2:$B$26</c:f>
              <c:numCache>
                <c:formatCode>General</c:formatCode>
                <c:ptCount val="25"/>
                <c:pt idx="10" formatCode="0%">
                  <c:v>0.49</c:v>
                </c:pt>
                <c:pt idx="19" formatCode="0%">
                  <c:v>0.54</c:v>
                </c:pt>
                <c:pt idx="23" formatCode="0%">
                  <c:v>0.38</c:v>
                </c:pt>
              </c:numCache>
            </c:numRef>
          </c:yVal>
          <c:smooth val="0"/>
          <c:extLst>
            <c:ext xmlns:c15="http://schemas.microsoft.com/office/drawing/2012/chart" uri="{02D57815-91ED-43cb-92C2-25804820EDAC}">
              <c15:datalabelsRange>
                <c15:f>Sheet1!$D$2:$D$26</c15:f>
                <c15:dlblRangeCache>
                  <c:ptCount val="25"/>
                  <c:pt idx="8">
                    <c:v>Z7</c:v>
                  </c:pt>
                  <c:pt idx="9">
                    <c:v>Z8</c:v>
                  </c:pt>
                  <c:pt idx="10">
                    <c:v>Z11</c:v>
                  </c:pt>
                  <c:pt idx="11">
                    <c:v>Z15</c:v>
                  </c:pt>
                  <c:pt idx="12">
                    <c:v>Z16</c:v>
                  </c:pt>
                  <c:pt idx="13">
                    <c:v>Z17</c:v>
                  </c:pt>
                  <c:pt idx="14">
                    <c:v>Z18</c:v>
                  </c:pt>
                  <c:pt idx="15">
                    <c:v>Z19</c:v>
                  </c:pt>
                  <c:pt idx="16">
                    <c:v>Z20</c:v>
                  </c:pt>
                  <c:pt idx="17">
                    <c:v>Z21</c:v>
                  </c:pt>
                  <c:pt idx="18">
                    <c:v>Z22</c:v>
                  </c:pt>
                  <c:pt idx="19">
                    <c:v>Z23</c:v>
                  </c:pt>
                  <c:pt idx="22">
                    <c:v>IA</c:v>
                  </c:pt>
                  <c:pt idx="23">
                    <c:v>WA</c:v>
                  </c:pt>
                </c15:dlblRangeCache>
              </c15:datalabelsRange>
            </c:ext>
            <c:ext xmlns:c16="http://schemas.microsoft.com/office/drawing/2014/chart" uri="{C3380CC4-5D6E-409C-BE32-E72D297353CC}">
              <c16:uniqueId val="{00000019-42E7-4EC4-B11F-EF6F52A32E8D}"/>
            </c:ext>
          </c:extLst>
        </c:ser>
        <c:ser>
          <c:idx val="1"/>
          <c:order val="1"/>
          <c:tx>
            <c:v>W3</c:v>
          </c:tx>
          <c:spPr>
            <a:ln w="28575">
              <a:noFill/>
            </a:ln>
          </c:spPr>
          <c:marker>
            <c:symbol val="circle"/>
            <c:size val="6"/>
            <c:spPr>
              <a:solidFill>
                <a:srgbClr val="9778D4"/>
              </a:solidFill>
              <a:ln>
                <a:noFill/>
              </a:ln>
            </c:spPr>
          </c:marker>
          <c:dLbls>
            <c:dLbl>
              <c:idx val="0"/>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1-9429-4D8F-970C-2FB3CFC7829E}"/>
                </c:ext>
              </c:extLst>
            </c:dLbl>
            <c:dLbl>
              <c:idx val="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2-9429-4D8F-970C-2FB3CFC7829E}"/>
                </c:ext>
              </c:extLst>
            </c:dLbl>
            <c:dLbl>
              <c:idx val="2"/>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3-9429-4D8F-970C-2FB3CFC7829E}"/>
                </c:ext>
              </c:extLst>
            </c:dLbl>
            <c:dLbl>
              <c:idx val="3"/>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4-9429-4D8F-970C-2FB3CFC7829E}"/>
                </c:ext>
              </c:extLst>
            </c:dLbl>
            <c:dLbl>
              <c:idx val="4"/>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5-9429-4D8F-970C-2FB3CFC7829E}"/>
                </c:ext>
              </c:extLst>
            </c:dLbl>
            <c:dLbl>
              <c:idx val="5"/>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6-9429-4D8F-970C-2FB3CFC7829E}"/>
                </c:ext>
              </c:extLst>
            </c:dLbl>
            <c:dLbl>
              <c:idx val="6"/>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7-9429-4D8F-970C-2FB3CFC7829E}"/>
                </c:ext>
              </c:extLst>
            </c:dLbl>
            <c:dLbl>
              <c:idx val="7"/>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429-4D8F-970C-2FB3CFC7829E}"/>
                </c:ext>
              </c:extLst>
            </c:dLbl>
            <c:dLbl>
              <c:idx val="8"/>
              <c:layout>
                <c:manualLayout>
                  <c:x val="-5.2836654107008399E-2"/>
                  <c:y val="-2.3243964085116885E-2"/>
                </c:manualLayout>
              </c:layout>
              <c:tx>
                <c:rich>
                  <a:bodyPr/>
                  <a:lstStyle/>
                  <a:p>
                    <a:fld id="{34776591-F94B-4487-85B9-3367B467BDEE}"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4-B1B4-417B-982C-B6396995408C}"/>
                </c:ext>
              </c:extLst>
            </c:dLbl>
            <c:dLbl>
              <c:idx val="9"/>
              <c:layout>
                <c:manualLayout>
                  <c:x val="-4.5938206480783721E-2"/>
                  <c:y val="-2.5377306343802055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F-B1B4-417B-982C-B6396995408C}"/>
                </c:ext>
              </c:extLst>
            </c:dLbl>
            <c:dLbl>
              <c:idx val="10"/>
              <c:layout>
                <c:manualLayout>
                  <c:x val="-2.9001959306706859E-2"/>
                  <c:y val="5.3926775980579364E-2"/>
                </c:manualLayout>
              </c:layout>
              <c:tx>
                <c:rich>
                  <a:bodyPr wrap="none" lIns="38100" tIns="19050" rIns="38100" bIns="19050" anchor="ctr">
                    <a:noAutofit/>
                  </a:bodyPr>
                  <a:lstStyle/>
                  <a:p>
                    <a:pPr>
                      <a:defRPr sz="900">
                        <a:solidFill>
                          <a:srgbClr val="9778D4"/>
                        </a:solidFill>
                        <a:latin typeface="Arial" panose="020B0604020202020204" pitchFamily="34" charset="0"/>
                        <a:cs typeface="Arial" panose="020B0604020202020204" pitchFamily="34" charset="0"/>
                      </a:defRPr>
                    </a:pPr>
                    <a:fld id="{F9400612-CE1D-47F1-9CFF-D25E4B1C0186}" type="CELLRANGE">
                      <a:rPr lang="en-US"/>
                      <a:pPr>
                        <a:defRPr sz="900">
                          <a:solidFill>
                            <a:srgbClr val="9778D4"/>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5.9627792012057264E-2"/>
                      <c:h val="2.9199888000155865E-2"/>
                    </c:manualLayout>
                  </c15:layout>
                  <c15:dlblFieldTable/>
                  <c15:showDataLabelsRange val="1"/>
                </c:ext>
                <c:ext xmlns:c16="http://schemas.microsoft.com/office/drawing/2014/chart" uri="{C3380CC4-5D6E-409C-BE32-E72D297353CC}">
                  <c16:uniqueId val="{0000001C-B1B4-417B-982C-B6396995408C}"/>
                </c:ext>
              </c:extLst>
            </c:dLbl>
            <c:dLbl>
              <c:idx val="11"/>
              <c:layout>
                <c:manualLayout>
                  <c:x val="-5.3748907309721173E-3"/>
                  <c:y val="-1.1649832137611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E-B1B4-417B-982C-B6396995408C}"/>
                </c:ext>
              </c:extLst>
            </c:dLbl>
            <c:dLbl>
              <c:idx val="12"/>
              <c:layout>
                <c:manualLayout>
                  <c:x val="-1.7625079125847778E-2"/>
                  <c:y val="-2.1333422586852289E-3"/>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22-B1B4-417B-982C-B6396995408C}"/>
                </c:ext>
              </c:extLst>
            </c:dLbl>
            <c:dLbl>
              <c:idx val="13"/>
              <c:layout>
                <c:manualLayout>
                  <c:x val="-6.1250941974378293E-3"/>
                  <c:y val="3.1721632929751988E-3"/>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23-B1B4-417B-982C-B6396995408C}"/>
                </c:ext>
              </c:extLst>
            </c:dLbl>
            <c:dLbl>
              <c:idx val="14"/>
              <c:layout>
                <c:manualLayout>
                  <c:x val="-6.431348907309721E-2"/>
                  <c:y val="-1.90329797578515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1D-B1B4-417B-982C-B6396995408C}"/>
                </c:ext>
              </c:extLst>
            </c:dLbl>
            <c:dLbl>
              <c:idx val="15"/>
              <c:layout>
                <c:manualLayout>
                  <c:x val="-8.8813865862848534E-2"/>
                  <c:y val="3.1721632929751988E-3"/>
                </c:manualLayout>
              </c:layout>
              <c:tx>
                <c:rich>
                  <a:bodyPr/>
                  <a:lstStyle/>
                  <a:p>
                    <a:fld id="{EC8A5403-8550-44FD-AACB-D27C95C27D68}"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9429-4D8F-970C-2FB3CFC7829E}"/>
                </c:ext>
              </c:extLst>
            </c:dLbl>
            <c:dLbl>
              <c:idx val="16"/>
              <c:layout>
                <c:manualLayout>
                  <c:x val="-6.1250941974378293E-3"/>
                  <c:y val="3.1721632929752566E-2"/>
                </c:manualLayout>
              </c:layout>
              <c:tx>
                <c:rich>
                  <a:bodyPr/>
                  <a:lstStyle/>
                  <a:p>
                    <a:fld id="{15899310-C187-44C8-AEF9-10F9D1EABD6F}" type="CELLRANGE">
                      <a:rPr lang="en-US"/>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B-B1B4-417B-982C-B6396995408C}"/>
                </c:ext>
              </c:extLst>
            </c:dLbl>
            <c:dLbl>
              <c:idx val="17"/>
              <c:layout>
                <c:manualLayout>
                  <c:x val="-1.2862697814619555E-2"/>
                  <c:y val="-2.0944270586028445E-2"/>
                </c:manualLayout>
              </c:layout>
              <c:tx>
                <c:rich>
                  <a:bodyPr wrap="none" lIns="38100" tIns="19050" rIns="38100" bIns="19050" anchor="ctr">
                    <a:noAutofit/>
                  </a:bodyPr>
                  <a:lstStyle/>
                  <a:p>
                    <a:pPr>
                      <a:defRPr sz="900">
                        <a:solidFill>
                          <a:srgbClr val="9778D4"/>
                        </a:solidFill>
                        <a:latin typeface="Arial" panose="020B0604020202020204" pitchFamily="34" charset="0"/>
                        <a:cs typeface="Arial" panose="020B0604020202020204" pitchFamily="34" charset="0"/>
                      </a:defRPr>
                    </a:pPr>
                    <a:fld id="{1EA86154-5959-4BE9-9E94-45BE62E93F08}" type="CELLRANGE">
                      <a:rPr lang="en-US" sz="900" dirty="0">
                        <a:solidFill>
                          <a:srgbClr val="9778D4"/>
                        </a:solidFill>
                        <a:latin typeface="Arial" panose="020B0604020202020204" pitchFamily="34" charset="0"/>
                        <a:cs typeface="Arial" panose="020B0604020202020204" pitchFamily="34" charset="0"/>
                      </a:rPr>
                      <a:pPr>
                        <a:defRPr sz="900">
                          <a:solidFill>
                            <a:srgbClr val="9778D4"/>
                          </a:solidFill>
                          <a:latin typeface="Arial" panose="020B0604020202020204" pitchFamily="34" charset="0"/>
                          <a:cs typeface="Arial" panose="020B0604020202020204" pitchFamily="34" charset="0"/>
                        </a:defRPr>
                      </a:pPr>
                      <a:t>[CELLRANGE]</a:t>
                    </a:fld>
                    <a:endParaRPr lang="en-US"/>
                  </a:p>
                </c:rich>
              </c:tx>
              <c:spPr>
                <a:noFill/>
                <a:ln>
                  <a:noFill/>
                </a:ln>
                <a:effectLst/>
              </c:spPr>
              <c:dLblPos val="r"/>
              <c:showLegendKey val="0"/>
              <c:showVal val="0"/>
              <c:showCatName val="0"/>
              <c:showSerName val="0"/>
              <c:showPercent val="0"/>
              <c:showBubbleSize val="0"/>
              <c:extLst>
                <c:ext xmlns:c15="http://schemas.microsoft.com/office/drawing/2012/chart" uri="{CE6537A1-D6FC-4f65-9D91-7224C49458BB}">
                  <c15:layout>
                    <c:manualLayout>
                      <c:w val="6.8601055011303688E-2"/>
                      <c:h val="4.1888541172056891E-2"/>
                    </c:manualLayout>
                  </c15:layout>
                  <c15:dlblFieldTable/>
                  <c15:showDataLabelsRange val="1"/>
                </c:ext>
                <c:ext xmlns:c16="http://schemas.microsoft.com/office/drawing/2014/chart" uri="{C3380CC4-5D6E-409C-BE32-E72D297353CC}">
                  <c16:uniqueId val="{00000025-B1B4-417B-982C-B6396995408C}"/>
                </c:ext>
              </c:extLst>
            </c:dLbl>
            <c:dLbl>
              <c:idx val="18"/>
              <c:layout>
                <c:manualLayout>
                  <c:x val="-4.6244461190655057E-3"/>
                  <c:y val="0.11737004184008451"/>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20-B1B4-417B-982C-B6396995408C}"/>
                </c:ext>
              </c:extLst>
            </c:dLbl>
            <c:dLbl>
              <c:idx val="19"/>
              <c:layout>
                <c:manualLayout>
                  <c:x val="-0.11487614167294649"/>
                  <c:y val="8.882057220330708E-2"/>
                </c:manualLayout>
              </c:layout>
              <c:tx>
                <c:rich>
                  <a:bodyPr/>
                  <a:lstStyle/>
                  <a:p>
                    <a:fld id="{725819EC-BAF2-47F6-BB4C-C9C002423CD0}" type="CELLRANGE">
                      <a:rPr lang="en-US" dirty="0"/>
                      <a:pPr/>
                      <a:t>[CELLRANGE]</a:t>
                    </a:fld>
                    <a:endParaRPr lang="en-US"/>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1-B1B4-417B-982C-B6396995408C}"/>
                </c:ext>
              </c:extLst>
            </c:dLbl>
            <c:dLbl>
              <c:idx val="20"/>
              <c:layout>
                <c:manualLayout>
                  <c:x val="-4.3649012810851547E-2"/>
                  <c:y val="5.8137760307844594E-2"/>
                </c:manualLayout>
              </c:layout>
              <c:tx>
                <c:rich>
                  <a:bodyPr/>
                  <a:lstStyle/>
                  <a:p>
                    <a:endParaRPr lang="en-US"/>
                  </a:p>
                </c:rich>
              </c:tx>
              <c:dLblPos val="r"/>
              <c:showLegendKey val="0"/>
              <c:showVal val="0"/>
              <c:showCatName val="0"/>
              <c:showSerName val="0"/>
              <c:showPercent val="0"/>
              <c:showBubbleSize val="0"/>
              <c:extLst>
                <c:ext xmlns:c15="http://schemas.microsoft.com/office/drawing/2012/chart" uri="{CE6537A1-D6FC-4f65-9D91-7224C49458BB}">
                  <c15:showDataLabelsRange val="1"/>
                </c:ext>
                <c:ext xmlns:c16="http://schemas.microsoft.com/office/drawing/2014/chart" uri="{C3380CC4-5D6E-409C-BE32-E72D297353CC}">
                  <c16:uniqueId val="{0000000A-9429-4D8F-970C-2FB3CFC7829E}"/>
                </c:ext>
              </c:extLst>
            </c:dLbl>
            <c:dLbl>
              <c:idx val="21"/>
              <c:tx>
                <c:rich>
                  <a:bodyPr/>
                  <a:lstStyle/>
                  <a:p>
                    <a:endParaRPr lang="en-US"/>
                  </a:p>
                </c:rich>
              </c:tx>
              <c:dLblPos val="t"/>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429-4D8F-970C-2FB3CFC7829E}"/>
                </c:ext>
              </c:extLst>
            </c:dLbl>
            <c:spPr>
              <a:noFill/>
              <a:ln>
                <a:noFill/>
              </a:ln>
              <a:effectLst/>
            </c:spPr>
            <c:txPr>
              <a:bodyPr wrap="square" lIns="38100" tIns="19050" rIns="38100" bIns="19050" anchor="ctr">
                <a:spAutoFit/>
              </a:bodyPr>
              <a:lstStyle/>
              <a:p>
                <a:pPr>
                  <a:defRPr sz="900">
                    <a:solidFill>
                      <a:srgbClr val="9778D4"/>
                    </a:solidFill>
                    <a:latin typeface="Arial" panose="020B0604020202020204" pitchFamily="34" charset="0"/>
                    <a:cs typeface="Arial" panose="020B0604020202020204" pitchFamily="34" charset="0"/>
                  </a:defRPr>
                </a:pPr>
                <a:endParaRPr lang="en-US"/>
              </a:p>
            </c:txPr>
            <c:dLblPos val="t"/>
            <c:showLegendKey val="0"/>
            <c:showVal val="0"/>
            <c:showCatName val="0"/>
            <c:showSerName val="0"/>
            <c:showPercent val="0"/>
            <c:showBubbleSize val="0"/>
            <c:showLeaderLines val="0"/>
            <c:extLst xmlns:c15="http://schemas.microsoft.com/office/drawing/2012/chart">
              <c:ext xmlns:c15="http://schemas.microsoft.com/office/drawing/2012/chart" uri="{CE6537A1-D6FC-4f65-9D91-7224C49458BB}">
                <c15:showDataLabelsRange val="1"/>
                <c15:showLeaderLines val="1"/>
              </c:ext>
            </c:extLst>
          </c:dLbls>
          <c:xVal>
            <c:numRef>
              <c:f>Sheet1!$G$2:$G$23</c:f>
              <c:numCache>
                <c:formatCode>General</c:formatCode>
                <c:ptCount val="22"/>
                <c:pt idx="10" formatCode="0%">
                  <c:v>0.52</c:v>
                </c:pt>
                <c:pt idx="15" formatCode="0%">
                  <c:v>0.5</c:v>
                </c:pt>
                <c:pt idx="16" formatCode="0%">
                  <c:v>0.55000000000000004</c:v>
                </c:pt>
              </c:numCache>
              <c:extLst xmlns:c15="http://schemas.microsoft.com/office/drawing/2012/chart"/>
            </c:numRef>
          </c:xVal>
          <c:yVal>
            <c:numRef>
              <c:f>Sheet1!$H$2:$H$23</c:f>
              <c:numCache>
                <c:formatCode>General</c:formatCode>
                <c:ptCount val="22"/>
                <c:pt idx="10" formatCode="0%">
                  <c:v>0.49</c:v>
                </c:pt>
                <c:pt idx="15" formatCode="0%">
                  <c:v>0.37</c:v>
                </c:pt>
                <c:pt idx="16" formatCode="0%">
                  <c:v>0.25</c:v>
                </c:pt>
              </c:numCache>
              <c:extLst xmlns:c15="http://schemas.microsoft.com/office/drawing/2012/chart"/>
            </c:numRef>
          </c:yVal>
          <c:smooth val="0"/>
          <c:extLst xmlns:c15="http://schemas.microsoft.com/office/drawing/2012/chart">
            <c:ext xmlns:c15="http://schemas.microsoft.com/office/drawing/2012/chart" uri="{02D57815-91ED-43cb-92C2-25804820EDAC}">
              <c15:datalabelsRange>
                <c15:f>Sheet1!$I$2:$I$23</c15:f>
                <c15:dlblRangeCache>
                  <c:ptCount val="22"/>
                  <c:pt idx="8">
                    <c:v>Z17</c:v>
                  </c:pt>
                  <c:pt idx="9">
                    <c:v>Z16</c:v>
                  </c:pt>
                  <c:pt idx="10">
                    <c:v>Z11</c:v>
                  </c:pt>
                  <c:pt idx="11">
                    <c:v>Z15</c:v>
                  </c:pt>
                  <c:pt idx="12">
                    <c:v>Z7</c:v>
                  </c:pt>
                  <c:pt idx="13">
                    <c:v>Z19</c:v>
                  </c:pt>
                  <c:pt idx="14">
                    <c:v>Z21</c:v>
                  </c:pt>
                  <c:pt idx="15">
                    <c:v>Z23</c:v>
                  </c:pt>
                  <c:pt idx="16">
                    <c:v>Z24*</c:v>
                  </c:pt>
                  <c:pt idx="17">
                    <c:v>Z18</c:v>
                  </c:pt>
                  <c:pt idx="18">
                    <c:v>Z20</c:v>
                  </c:pt>
                  <c:pt idx="19">
                    <c:v>Z22</c:v>
                  </c:pt>
                  <c:pt idx="20">
                    <c:v>Z8</c:v>
                  </c:pt>
                </c15:dlblRangeCache>
              </c15:datalabelsRange>
            </c:ext>
            <c:ext xmlns:c16="http://schemas.microsoft.com/office/drawing/2014/chart" uri="{C3380CC4-5D6E-409C-BE32-E72D297353CC}">
              <c16:uniqueId val="{0000001A-B1B4-417B-982C-B6396995408C}"/>
            </c:ext>
          </c:extLst>
        </c:ser>
        <c:dLbls>
          <c:dLblPos val="ctr"/>
          <c:showLegendKey val="0"/>
          <c:showVal val="1"/>
          <c:showCatName val="0"/>
          <c:showSerName val="0"/>
          <c:showPercent val="0"/>
          <c:showBubbleSize val="0"/>
        </c:dLbls>
        <c:axId val="681510616"/>
        <c:axId val="681511008"/>
        <c:extLst/>
      </c:scatterChart>
      <c:valAx>
        <c:axId val="681510616"/>
        <c:scaling>
          <c:orientation val="minMax"/>
          <c:max val="0.8"/>
          <c:min val="0.30000000000000004"/>
        </c:scaling>
        <c:delete val="1"/>
        <c:axPos val="b"/>
        <c:numFmt formatCode="General" sourceLinked="1"/>
        <c:majorTickMark val="out"/>
        <c:minorTickMark val="out"/>
        <c:tickLblPos val="nextTo"/>
        <c:crossAx val="681511008"/>
        <c:crosses val="autoZero"/>
        <c:crossBetween val="midCat"/>
      </c:valAx>
      <c:valAx>
        <c:axId val="681511008"/>
        <c:scaling>
          <c:orientation val="minMax"/>
          <c:max val="0.8"/>
        </c:scaling>
        <c:delete val="1"/>
        <c:axPos val="l"/>
        <c:numFmt formatCode="General" sourceLinked="1"/>
        <c:majorTickMark val="out"/>
        <c:minorTickMark val="out"/>
        <c:tickLblPos val="nextTo"/>
        <c:crossAx val="681510616"/>
        <c:crosses val="autoZero"/>
        <c:crossBetween val="midCat"/>
      </c:valAx>
      <c:spPr>
        <a:noFill/>
        <a:ln w="0">
          <a:solidFill>
            <a:schemeClr val="tx1"/>
          </a:solidFill>
        </a:ln>
        <a:effectLst/>
      </c:spPr>
    </c:plotArea>
    <c:plotVisOnly val="1"/>
    <c:dispBlanksAs val="gap"/>
    <c:showDLblsOverMax val="0"/>
  </c:chart>
  <c:spPr>
    <a:noFill/>
    <a:ln>
      <a:noFill/>
    </a:ln>
    <a:effectLst/>
  </c:spPr>
  <c:txPr>
    <a:bodyPr/>
    <a:lstStyle/>
    <a:p>
      <a:pPr>
        <a:defRPr sz="1000">
          <a:solidFill>
            <a:schemeClr val="tx1">
              <a:lumMod val="75000"/>
              <a:lumOff val="25000"/>
            </a:schemeClr>
          </a:solidFill>
          <a:latin typeface="Arial(Body)"/>
          <a:cs typeface="Arial" panose="020B0604020202020204" pitchFamily="34" charset="0"/>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withinLinear" id="15">
  <a:schemeClr val="accent2"/>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omments/modernComment_2D58_20A278A2.xml><?xml version="1.0" encoding="utf-8"?>
<p188:cmLst xmlns:a="http://schemas.openxmlformats.org/drawingml/2006/main" xmlns:r="http://schemas.openxmlformats.org/officeDocument/2006/relationships" xmlns:p188="http://schemas.microsoft.com/office/powerpoint/2018/8/main">
  <p188:cm id="{B5145BC2-E2E1-49D7-8F93-F0CFE4C99D92}" authorId="{BBF12247-FCE2-975B-50B5-A22144896562}" status="resolved" created="2026-04-20T14:30:43.252" complete="100000">
    <ac:deMkLst xmlns:ac="http://schemas.microsoft.com/office/drawing/2013/main/command">
      <pc:docMk xmlns:pc="http://schemas.microsoft.com/office/powerpoint/2013/main/command"/>
      <pc:sldMk xmlns:pc="http://schemas.microsoft.com/office/powerpoint/2013/main/command" cId="547518626" sldId="11608"/>
      <ac:graphicFrameMk id="10" creationId="{7B5E4DD8-0A48-0727-4634-035A91352DFC}"/>
    </ac:deMkLst>
    <p188:txBody>
      <a:bodyPr/>
      <a:lstStyle/>
      <a:p>
        <a:r>
          <a:rPr lang="en-US"/>
          <a:t>Round off</a:t>
        </a:r>
      </a:p>
    </p188:txBody>
    <p188:extLst>
      <p:ext xmlns:p="http://schemas.openxmlformats.org/presentationml/2006/main" uri="{57CB4572-C831-44C2-8A1C-0ADB6CCDFE69}">
        <p223:reactions xmlns:p223="http://schemas.microsoft.com/office/powerpoint/2022/03/main">
          <p223:rxn type="👍">
            <p223:instance time="2026-04-21T07:01:30.237" authorId="{BBF12247-FCE2-975B-50B5-A22144896562}"/>
          </p223:rxn>
        </p223:reactions>
      </p:ext>
    </p188:extLst>
  </p188:cm>
</p188:cmLst>
</file>

<file path=ppt/comments/modernComment_2E8B_B4795BA3.xml><?xml version="1.0" encoding="utf-8"?>
<p188:cmLst xmlns:a="http://schemas.openxmlformats.org/drawingml/2006/main" xmlns:r="http://schemas.openxmlformats.org/officeDocument/2006/relationships" xmlns:p188="http://schemas.microsoft.com/office/powerpoint/2018/8/main">
  <p188:cm id="{BCAA9A7A-8A53-497F-BCA1-9BD210D12DC4}" authorId="{DDEB3EB1-7641-3FC4-3E60-85BA7193ABEE}" status="resolved" created="2026-01-28T21:52:01.685">
    <pc:sldMkLst xmlns:pc="http://schemas.microsoft.com/office/powerpoint/2013/main/command">
      <pc:docMk/>
      <pc:sldMk cId="3027852195" sldId="11915"/>
    </pc:sldMkLst>
    <p188:replyLst>
      <p188:reply id="{AF45F212-D6DC-4D22-B1A0-D35B3795B147}" authorId="{BBF12247-FCE2-975B-50B5-A22144896562}" created="2026-01-29T17:46:32.999">
        <p188:txBody>
          <a:bodyPr/>
          <a:lstStyle/>
          <a:p>
            <a:r>
              <a:rPr lang="en-IN"/>
              <a:t>We’ve added the new charts comparing two waves for both CREON &amp; ZENPEP</a:t>
            </a:r>
          </a:p>
        </p188:txBody>
      </p188:reply>
    </p188:replyLst>
    <p188:txBody>
      <a:bodyPr/>
      <a:lstStyle/>
      <a:p>
        <a:r>
          <a:rPr lang="en-US"/>
          <a:t>Can we make another slide of CREON messages - last wave to current wave 2x2 of recall v effectiveness… and another one for ZENPEP? I think this would really help tie the story together on how the new messages performed </a:t>
        </a:r>
      </a:p>
    </p188:txBody>
  </p188:cm>
</p188:cmLst>
</file>

<file path=ppt/comments/modernComment_2EEF_6125F216.xml><?xml version="1.0" encoding="utf-8"?>
<p188:cmLst xmlns:a="http://schemas.openxmlformats.org/drawingml/2006/main" xmlns:r="http://schemas.openxmlformats.org/officeDocument/2006/relationships" xmlns:p188="http://schemas.microsoft.com/office/powerpoint/2018/8/main">
  <p188:cm id="{8F46D3A2-AED0-43D9-B02A-A55CC4469CA8}" authorId="{DDEB3EB1-7641-3FC4-3E60-85BA7193ABEE}" status="resolved" created="2026-01-28T21:55:38.035">
    <pc:sldMkLst xmlns:pc="http://schemas.microsoft.com/office/powerpoint/2013/main/command">
      <pc:docMk/>
      <pc:sldMk cId="1629876758" sldId="12015"/>
    </pc:sldMkLst>
    <p188:replyLst>
      <p188:reply id="{64C776C6-A427-4962-BC91-65F4A8B75FEC}" authorId="{BBF12247-FCE2-975B-50B5-A22144896562}" created="2026-01-29T16:20:54.572">
        <p188:txBody>
          <a:bodyPr/>
          <a:lstStyle/>
          <a:p>
            <a:r>
              <a:rPr lang="en-IN"/>
              <a:t>Added the relevant Questions in speaker notes</a:t>
            </a:r>
          </a:p>
        </p188:txBody>
      </p188:reply>
    </p188:replyLst>
    <p188:txBody>
      <a:bodyPr/>
      <a:lstStyle/>
      <a:p>
        <a:r>
          <a:rPr lang="en-US"/>
          <a:t>Please add the survey question in the footnotes</a:t>
        </a:r>
      </a:p>
    </p188:txBody>
  </p188:cm>
</p188:cmLst>
</file>

<file path=ppt/comments/modernComment_2EF5_3E0FB3DA.xml><?xml version="1.0" encoding="utf-8"?>
<p188:cmLst xmlns:a="http://schemas.openxmlformats.org/drawingml/2006/main" xmlns:r="http://schemas.openxmlformats.org/officeDocument/2006/relationships" xmlns:p188="http://schemas.microsoft.com/office/powerpoint/2018/8/main">
  <p188:cm id="{57927119-C8CE-423F-B323-D1A5D14F545F}" authorId="{BBF12247-FCE2-975B-50B5-A22144896562}" created="2026-04-20T11:22:38.465">
    <pc:sldMkLst xmlns:pc="http://schemas.microsoft.com/office/powerpoint/2013/main/command">
      <pc:docMk/>
      <pc:sldMk cId="1041216474" sldId="12021"/>
    </pc:sldMkLst>
    <p188:txBody>
      <a:bodyPr/>
      <a:lstStyle/>
      <a:p>
        <a:r>
          <a:rPr lang="en-US"/>
          <a:t>Negative to postive</a:t>
        </a:r>
      </a:p>
    </p188:txBody>
  </p188:cm>
</p188:cmLst>
</file>

<file path=ppt/comments/modernComment_2EF8_F31A713.xml><?xml version="1.0" encoding="utf-8"?>
<p188:cmLst xmlns:a="http://schemas.openxmlformats.org/drawingml/2006/main" xmlns:r="http://schemas.openxmlformats.org/officeDocument/2006/relationships" xmlns:p188="http://schemas.microsoft.com/office/powerpoint/2018/8/main">
  <p188:cm id="{1DE85C65-77D7-4AF4-A4E8-9A26B75F85C1}" authorId="{DDEB3EB1-7641-3FC4-3E60-85BA7193ABEE}" status="resolved" created="2026-01-29T19:58:42.710">
    <pc:sldMkLst xmlns:pc="http://schemas.microsoft.com/office/powerpoint/2013/main/command">
      <pc:docMk/>
      <pc:sldMk cId="254912275" sldId="12024"/>
    </pc:sldMkLst>
    <p188:txBody>
      <a:bodyPr/>
      <a:lstStyle/>
      <a:p>
        <a:r>
          <a:rPr lang="en-US"/>
          <a:t>Same here</a:t>
        </a:r>
      </a:p>
    </p188:txBody>
    <p188:extLst>
      <p:ext xmlns:p="http://schemas.openxmlformats.org/presentationml/2006/main" uri="{57CB4572-C831-44C2-8A1C-0ADB6CCDFE69}">
        <p223:reactions xmlns:p223="http://schemas.microsoft.com/office/powerpoint/2022/03/main">
          <p223:rxn type="👍">
            <p223:instance time="2026-01-30T10:21:22.474" authorId="{BBF12247-FCE2-975B-50B5-A22144896562}"/>
          </p223:rxn>
        </p223:reactions>
      </p:ext>
    </p188:extLst>
  </p188:cm>
</p188:cmLst>
</file>

<file path=ppt/comments/modernComment_2EF9_4DD335CD.xml><?xml version="1.0" encoding="utf-8"?>
<p188:cmLst xmlns:a="http://schemas.openxmlformats.org/drawingml/2006/main" xmlns:r="http://schemas.openxmlformats.org/officeDocument/2006/relationships" xmlns:p188="http://schemas.microsoft.com/office/powerpoint/2018/8/main">
  <p188:cm id="{43A239AC-A835-4353-ACEA-18BCF40F8527}" authorId="{DDEB3EB1-7641-3FC4-3E60-85BA7193ABEE}" status="resolved" created="2026-01-29T19:58:30.159">
    <pc:sldMkLst xmlns:pc="http://schemas.microsoft.com/office/powerpoint/2013/main/command">
      <pc:docMk/>
      <pc:sldMk cId="1305687501" sldId="12025"/>
    </pc:sldMkLst>
    <p188:replyLst>
      <p188:reply id="{66DF0D46-EC93-4EFF-9716-90F0A3253DA6}" authorId="{BBF12247-FCE2-975B-50B5-A22144896562}" created="2026-01-30T10:21:14.313">
        <p188:txBody>
          <a:bodyPr/>
          <a:lstStyle/>
          <a:p>
            <a:r>
              <a:rPr lang="en-IN"/>
              <a:t>Yes, Thanks Lynn</a:t>
            </a:r>
          </a:p>
        </p188:txBody>
      </p188:reply>
    </p188:replyLst>
    <p188:txBody>
      <a:bodyPr/>
      <a:lstStyle/>
      <a:p>
        <a:r>
          <a:rPr lang="en-US"/>
          <a:t>I removed all other messages and only kept the new/updated messages to get a clearer picture here of what’s happening</a:t>
        </a:r>
      </a:p>
    </p188:txBody>
    <p188:extLst>
      <p:ext xmlns:p="http://schemas.openxmlformats.org/presentationml/2006/main" uri="{57CB4572-C831-44C2-8A1C-0ADB6CCDFE69}">
        <p223:reactions xmlns:p223="http://schemas.microsoft.com/office/powerpoint/2022/03/main">
          <p223:rxn type="👍">
            <p223:instance time="2026-01-30T10:20:55.821" authorId="{BBF12247-FCE2-975B-50B5-A22144896562}"/>
          </p223:rxn>
        </p223:reactions>
      </p:ext>
    </p188:extLst>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936C881D-D3E9-EBAB-9E0D-76CCAE09E456}"/>
              </a:ext>
            </a:extLst>
          </p:cNvPr>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BD641352-D96F-5FEF-5CA9-04FE8B633357}"/>
              </a:ext>
            </a:extLst>
          </p:cNvPr>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72DA19AB-42E7-4757-982A-639633A5CCAA}" type="datetimeFigureOut">
              <a:rPr lang="en-US" smtClean="0"/>
              <a:t>4/21/2026</a:t>
            </a:fld>
            <a:endParaRPr lang="en-US"/>
          </a:p>
        </p:txBody>
      </p:sp>
      <p:sp>
        <p:nvSpPr>
          <p:cNvPr id="4" name="Footer Placeholder 3">
            <a:extLst>
              <a:ext uri="{FF2B5EF4-FFF2-40B4-BE49-F238E27FC236}">
                <a16:creationId xmlns:a16="http://schemas.microsoft.com/office/drawing/2014/main" id="{331A8B6E-704A-3EF3-E1E3-1F34AF664CB0}"/>
              </a:ext>
            </a:extLst>
          </p:cNvPr>
          <p:cNvSpPr>
            <a:spLocks noGrp="1"/>
          </p:cNvSpPr>
          <p:nvPr>
            <p:ph type="ftr" sz="quarter" idx="2"/>
          </p:nvPr>
        </p:nvSpPr>
        <p:spPr>
          <a:xfrm>
            <a:off x="0" y="9428163"/>
            <a:ext cx="2946400" cy="4968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947CC10F-E4F5-9088-94DF-0B026D2CCF94}"/>
              </a:ext>
            </a:extLst>
          </p:cNvPr>
          <p:cNvSpPr>
            <a:spLocks noGrp="1"/>
          </p:cNvSpPr>
          <p:nvPr>
            <p:ph type="sldNum" sz="quarter" idx="3"/>
          </p:nvPr>
        </p:nvSpPr>
        <p:spPr>
          <a:xfrm>
            <a:off x="3849688" y="9428163"/>
            <a:ext cx="2946400" cy="496887"/>
          </a:xfrm>
          <a:prstGeom prst="rect">
            <a:avLst/>
          </a:prstGeom>
        </p:spPr>
        <p:txBody>
          <a:bodyPr vert="horz" lIns="91440" tIns="45720" rIns="91440" bIns="45720" rtlCol="0" anchor="b"/>
          <a:lstStyle>
            <a:lvl1pPr algn="r">
              <a:defRPr sz="1200"/>
            </a:lvl1pPr>
          </a:lstStyle>
          <a:p>
            <a:fld id="{ECA218EC-BE70-4DEF-B7A9-FD22F829A464}" type="slidenum">
              <a:rPr lang="en-US" smtClean="0"/>
              <a:t>‹#›</a:t>
            </a:fld>
            <a:endParaRPr lang="en-US"/>
          </a:p>
        </p:txBody>
      </p:sp>
    </p:spTree>
    <p:extLst>
      <p:ext uri="{BB962C8B-B14F-4D97-AF65-F5344CB8AC3E}">
        <p14:creationId xmlns:p14="http://schemas.microsoft.com/office/powerpoint/2010/main" val="4943478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lvl1pPr marL="457200" marR="0" lvl="0" indent="-292100" algn="l" rtl="0">
              <a:spcBef>
                <a:spcPts val="1000"/>
              </a:spcBef>
              <a:spcAft>
                <a:spcPts val="0"/>
              </a:spcAft>
              <a:buClr>
                <a:schemeClr val="dk1"/>
              </a:buClr>
              <a:buSzPts val="1000"/>
              <a:buFont typeface="Arimo"/>
              <a:buChar char="4"/>
              <a:defRPr sz="1000" b="0" i="0" u="none" strike="noStrike" cap="none">
                <a:solidFill>
                  <a:schemeClr val="dk1"/>
                </a:solidFill>
                <a:latin typeface="Arial"/>
                <a:ea typeface="Arial"/>
                <a:cs typeface="Arial"/>
                <a:sym typeface="Arial"/>
              </a:defRPr>
            </a:lvl1pPr>
            <a:lvl2pPr marL="914400" marR="0" lvl="1" indent="-292100" algn="l" rtl="0">
              <a:lnSpc>
                <a:spcPct val="85000"/>
              </a:lnSpc>
              <a:spcBef>
                <a:spcPts val="450"/>
              </a:spcBef>
              <a:spcAft>
                <a:spcPts val="0"/>
              </a:spcAft>
              <a:buClr>
                <a:schemeClr val="dk1"/>
              </a:buClr>
              <a:buSzPts val="1000"/>
              <a:buFont typeface="Arial"/>
              <a:buChar char="–"/>
              <a:defRPr sz="1000" b="0" i="0" u="none" strike="noStrike" cap="none">
                <a:solidFill>
                  <a:schemeClr val="dk1"/>
                </a:solidFill>
                <a:latin typeface="Arial"/>
                <a:ea typeface="Arial"/>
                <a:cs typeface="Arial"/>
                <a:sym typeface="Arial"/>
              </a:defRPr>
            </a:lvl2pPr>
            <a:lvl3pPr marL="1371600" marR="0" lvl="2" indent="-228600" algn="l" rtl="0">
              <a:lnSpc>
                <a:spcPct val="85000"/>
              </a:lnSpc>
              <a:spcBef>
                <a:spcPts val="450"/>
              </a:spcBef>
              <a:spcAft>
                <a:spcPts val="0"/>
              </a:spcAft>
              <a:buSzPts val="1400"/>
              <a:buNone/>
              <a:defRPr sz="1000" b="0" i="0" u="none" strike="noStrike" cap="none">
                <a:solidFill>
                  <a:schemeClr val="dk1"/>
                </a:solidFill>
                <a:latin typeface="Arial"/>
                <a:ea typeface="Arial"/>
                <a:cs typeface="Arial"/>
                <a:sym typeface="Arial"/>
              </a:defRPr>
            </a:lvl3pPr>
            <a:lvl4pPr marL="1828800" marR="0" lvl="3" indent="-228600" algn="l" rtl="0">
              <a:lnSpc>
                <a:spcPct val="85000"/>
              </a:lnSpc>
              <a:spcBef>
                <a:spcPts val="450"/>
              </a:spcBef>
              <a:spcAft>
                <a:spcPts val="0"/>
              </a:spcAft>
              <a:buSzPts val="1400"/>
              <a:buNone/>
              <a:defRPr sz="1000" b="0" i="0" u="none" strike="noStrike" cap="none">
                <a:solidFill>
                  <a:schemeClr val="dk1"/>
                </a:solidFill>
                <a:latin typeface="Arial"/>
                <a:ea typeface="Arial"/>
                <a:cs typeface="Arial"/>
                <a:sym typeface="Arial"/>
              </a:defRPr>
            </a:lvl4pPr>
            <a:lvl5pPr marL="2286000" marR="0" lvl="4" indent="-228600" algn="l" rtl="0">
              <a:spcBef>
                <a:spcPts val="360"/>
              </a:spcBef>
              <a:spcAft>
                <a:spcPts val="0"/>
              </a:spcAft>
              <a:buSzPts val="1400"/>
              <a:buNone/>
              <a:defRPr sz="1200" b="0" i="0" u="none" strike="noStrike" cap="none">
                <a:solidFill>
                  <a:schemeClr val="dk1"/>
                </a:solidFill>
                <a:latin typeface="Book Antiqua"/>
                <a:ea typeface="Book Antiqua"/>
                <a:cs typeface="Book Antiqua"/>
                <a:sym typeface="Book Antiqua"/>
              </a:defRPr>
            </a:lvl5pPr>
            <a:lvl6pPr marL="2743200" marR="0" lvl="5"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6pPr>
            <a:lvl7pPr marL="3200400" marR="0" lvl="6"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7pPr>
            <a:lvl8pPr marL="3657600" marR="0" lvl="7"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8pPr>
            <a:lvl9pPr marL="4114800" marR="0" lvl="8"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9pPr>
          </a:lstStyle>
          <a:p>
            <a:endParaRPr/>
          </a:p>
        </p:txBody>
      </p:sp>
      <p:sp>
        <p:nvSpPr>
          <p:cNvPr id="4" name="Google Shape;4;n"/>
          <p:cNvSpPr>
            <a:spLocks noGrp="1" noRot="1" noChangeAspect="1"/>
          </p:cNvSpPr>
          <p:nvPr>
            <p:ph type="sldImg" idx="2"/>
          </p:nvPr>
        </p:nvSpPr>
        <p:spPr>
          <a:xfrm>
            <a:off x="555625" y="228600"/>
            <a:ext cx="5638800"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IN"/>
          </a:p>
        </p:txBody>
      </p:sp>
      <p:sp>
        <p:nvSpPr>
          <p:cNvPr id="5" name="Google Shape;5;n"/>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rtl="0">
              <a:spcBef>
                <a:spcPts val="0"/>
              </a:spcBef>
              <a:spcAft>
                <a:spcPts val="0"/>
              </a:spcAft>
              <a:buClr>
                <a:schemeClr val="dk1"/>
              </a:buClr>
              <a:buSzPts val="800"/>
              <a:buFont typeface="Arimo"/>
              <a:buNone/>
            </a:pPr>
            <a:fld id="{00000000-1234-1234-1234-123412341234}" type="slidenum">
              <a:rPr lang="en-US" sz="800" b="0" i="0" u="none" strike="noStrike" cap="none">
                <a:solidFill>
                  <a:schemeClr val="dk1"/>
                </a:solidFill>
                <a:latin typeface="Arial"/>
                <a:ea typeface="Arial"/>
                <a:cs typeface="Arial"/>
                <a:sym typeface="Arial"/>
              </a:rPr>
              <a:t>‹#›</a:t>
            </a:fld>
            <a:endParaRPr sz="800" b="0" i="0" u="none" strike="noStrike" cap="none">
              <a:solidFill>
                <a:schemeClr val="dk1"/>
              </a:solidFill>
              <a:latin typeface="Arial"/>
              <a:ea typeface="Arial"/>
              <a:cs typeface="Arial"/>
              <a:sym typeface="Arial"/>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165100" indent="0">
              <a:buNone/>
            </a:pPr>
            <a:endParaRPr lang="en-IN"/>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Clr>
                <a:schemeClr val="dk1"/>
              </a:buClr>
              <a:buSzPts val="800"/>
              <a:buFont typeface="Arimo"/>
              <a:buNone/>
            </a:pPr>
            <a:fld id="{00000000-1234-1234-1234-123412341234}" type="slidenum">
              <a:rPr lang="en-US" sz="800" b="0" i="0" u="none" strike="noStrike" cap="none" smtClean="0">
                <a:solidFill>
                  <a:schemeClr val="dk1"/>
                </a:solidFill>
                <a:latin typeface="Arial"/>
                <a:ea typeface="Arial"/>
                <a:cs typeface="Arial"/>
                <a:sym typeface="Arial"/>
              </a:rPr>
              <a:t>1</a:t>
            </a:fld>
            <a:endParaRPr lang="en-US" sz="800" b="0" i="0" u="none" strike="noStrike" cap="none">
              <a:solidFill>
                <a:schemeClr val="dk1"/>
              </a:solidFill>
              <a:latin typeface="Arial"/>
              <a:ea typeface="Arial"/>
              <a:cs typeface="Arial"/>
              <a:sym typeface="Arial"/>
            </a:endParaRPr>
          </a:p>
        </p:txBody>
      </p:sp>
    </p:spTree>
    <p:extLst>
      <p:ext uri="{BB962C8B-B14F-4D97-AF65-F5344CB8AC3E}">
        <p14:creationId xmlns:p14="http://schemas.microsoft.com/office/powerpoint/2010/main" val="3028852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
        <p:cNvGrpSpPr/>
        <p:nvPr/>
      </p:nvGrpSpPr>
      <p:grpSpPr>
        <a:xfrm>
          <a:off x="0" y="0"/>
          <a:ext cx="0" cy="0"/>
          <a:chOff x="0" y="0"/>
          <a:chExt cx="0" cy="0"/>
        </a:xfrm>
      </p:grpSpPr>
      <p:sp>
        <p:nvSpPr>
          <p:cNvPr id="163" name="Google Shape;163;p3: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lvl="0" indent="0" algn="l" rtl="0">
              <a:spcBef>
                <a:spcPts val="1000"/>
              </a:spcBef>
              <a:spcAft>
                <a:spcPts val="0"/>
              </a:spcAft>
              <a:buNone/>
            </a:pPr>
            <a:endParaRPr/>
          </a:p>
        </p:txBody>
      </p:sp>
      <p:sp>
        <p:nvSpPr>
          <p:cNvPr id="164" name="Google Shape;164;p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4603683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8"/>
        <p:cNvGrpSpPr/>
        <p:nvPr/>
      </p:nvGrpSpPr>
      <p:grpSpPr>
        <a:xfrm>
          <a:off x="0" y="0"/>
          <a:ext cx="0" cy="0"/>
          <a:chOff x="0" y="0"/>
          <a:chExt cx="0" cy="0"/>
        </a:xfrm>
      </p:grpSpPr>
      <p:sp>
        <p:nvSpPr>
          <p:cNvPr id="2199" name="Google Shape;2199;p59: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2200" name="Google Shape;2200;p59: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chemeClr val="dk1"/>
              </a:buClr>
              <a:buSzPts val="1800"/>
              <a:buNone/>
            </a:pPr>
            <a:r>
              <a:rPr lang="en-GB" sz="4000" b="0" i="0">
                <a:solidFill>
                  <a:srgbClr val="212529"/>
                </a:solidFill>
                <a:effectLst/>
                <a:latin typeface="-apple-system"/>
              </a:rPr>
              <a:t>S0_10 </a:t>
            </a:r>
            <a:r>
              <a:rPr lang="en-US" sz="4000" b="0" i="0">
                <a:solidFill>
                  <a:srgbClr val="212529"/>
                </a:solidFill>
                <a:effectLst/>
                <a:latin typeface="-apple-system"/>
              </a:rPr>
              <a:t>Which of the following best describes your medical role?</a:t>
            </a:r>
          </a:p>
          <a:p>
            <a:pPr marL="0" lvl="0" indent="0" algn="l" rtl="0">
              <a:spcBef>
                <a:spcPts val="0"/>
              </a:spcBef>
              <a:spcAft>
                <a:spcPts val="0"/>
              </a:spcAft>
              <a:buClr>
                <a:schemeClr val="dk1"/>
              </a:buClr>
              <a:buSzPts val="1800"/>
              <a:buNone/>
            </a:pPr>
            <a:r>
              <a:rPr lang="en-GB" sz="4000" b="0" i="0">
                <a:solidFill>
                  <a:srgbClr val="212529"/>
                </a:solidFill>
                <a:effectLst/>
                <a:latin typeface="-apple-system"/>
              </a:rPr>
              <a:t>S0_20 What is your primary medical specialty?</a:t>
            </a:r>
            <a:br>
              <a:rPr lang="en-GB" sz="4000" b="0" i="0">
                <a:solidFill>
                  <a:srgbClr val="212529"/>
                </a:solidFill>
                <a:effectLst/>
                <a:latin typeface="-apple-system"/>
              </a:rPr>
            </a:br>
            <a:r>
              <a:rPr lang="en-GB" sz="4000" b="0" i="0">
                <a:solidFill>
                  <a:srgbClr val="212529"/>
                </a:solidFill>
                <a:effectLst/>
                <a:latin typeface="-apple-system"/>
              </a:rPr>
              <a:t>S0_35 How many years have you practiced in this specialty post-residency?</a:t>
            </a:r>
            <a:br>
              <a:rPr lang="en-GB" sz="4000" b="0" i="0">
                <a:solidFill>
                  <a:srgbClr val="212529"/>
                </a:solidFill>
                <a:effectLst/>
                <a:latin typeface="-apple-system"/>
              </a:rPr>
            </a:br>
            <a:r>
              <a:rPr lang="en-GB" sz="4000" b="0" i="0">
                <a:solidFill>
                  <a:srgbClr val="212529"/>
                </a:solidFill>
                <a:effectLst/>
                <a:latin typeface="-apple-system"/>
              </a:rPr>
              <a:t>S0_38 What percent of your total professional time is spent in direct patient care / clinical practice, as opposed to teaching, research, or administrative duties?</a:t>
            </a:r>
            <a:br>
              <a:rPr lang="en-GB" sz="4000" b="0" i="0">
                <a:solidFill>
                  <a:srgbClr val="212529"/>
                </a:solidFill>
                <a:effectLst/>
                <a:latin typeface="-apple-system"/>
              </a:rPr>
            </a:br>
            <a:r>
              <a:rPr lang="en-GB" sz="4000" b="0" i="0">
                <a:solidFill>
                  <a:srgbClr val="212529"/>
                </a:solidFill>
                <a:effectLst/>
                <a:latin typeface="-apple-system"/>
              </a:rPr>
              <a:t>S0_60 In a typical month, how many unique adult patients, regardless of condition, do you personally see in your office?</a:t>
            </a:r>
            <a:br>
              <a:rPr lang="en-GB" sz="1800">
                <a:latin typeface="Calibri"/>
                <a:ea typeface="Calibri"/>
                <a:cs typeface="Calibri"/>
                <a:sym typeface="Calibri"/>
              </a:rPr>
            </a:br>
            <a:r>
              <a:rPr lang="en-GB" sz="4000" b="0" i="0">
                <a:solidFill>
                  <a:srgbClr val="212529"/>
                </a:solidFill>
                <a:effectLst/>
                <a:latin typeface="-apple-system"/>
              </a:rPr>
              <a:t>S0_65 How many of the {S0_60Z.shown} unique adult patients do you personally treat in a typical month for Exocrine Pancreatic Insufficiency (EPI)?</a:t>
            </a:r>
            <a:endParaRPr lang="en-GB" sz="1800" b="1" i="1">
              <a:latin typeface="Calibri"/>
              <a:ea typeface="Calibri"/>
              <a:cs typeface="Calibri"/>
              <a:sym typeface="Calibri"/>
            </a:endParaRPr>
          </a:p>
          <a:p>
            <a:pPr marL="0" lvl="0" indent="0" algn="l" rtl="0">
              <a:spcBef>
                <a:spcPts val="1800"/>
              </a:spcBef>
              <a:spcAft>
                <a:spcPts val="0"/>
              </a:spcAft>
              <a:buClr>
                <a:schemeClr val="dk1"/>
              </a:buClr>
              <a:buSzPts val="1800"/>
              <a:buNone/>
            </a:pPr>
            <a:r>
              <a:rPr lang="en-GB" sz="4000" b="0" i="0">
                <a:solidFill>
                  <a:srgbClr val="212529"/>
                </a:solidFill>
                <a:effectLst/>
                <a:latin typeface="-apple-system"/>
              </a:rPr>
              <a:t>S0_71 In a typical month, how many prescriptions do you write for pancreatic enzyme replacement therapy (PERT) for patients diagnosed with Exocrine Pancreatic Insufficiency (EPI)?</a:t>
            </a:r>
            <a:br>
              <a:rPr lang="en-GB" sz="4000" b="0" i="0">
                <a:solidFill>
                  <a:srgbClr val="212529"/>
                </a:solidFill>
                <a:effectLst/>
                <a:latin typeface="-apple-system"/>
              </a:rPr>
            </a:br>
            <a:r>
              <a:rPr lang="en-GB" b="0" i="0">
                <a:solidFill>
                  <a:srgbClr val="212529"/>
                </a:solidFill>
                <a:effectLst/>
                <a:latin typeface="-apple-system"/>
              </a:rPr>
              <a:t>S0_45 Which category best describes your primary practice setting?</a:t>
            </a:r>
            <a:endParaRPr b="1" i="1"/>
          </a:p>
        </p:txBody>
      </p:sp>
      <p:sp>
        <p:nvSpPr>
          <p:cNvPr id="2201" name="Google Shape;2201;p59: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4</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998401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1"/>
        <p:cNvGrpSpPr/>
        <p:nvPr/>
      </p:nvGrpSpPr>
      <p:grpSpPr>
        <a:xfrm>
          <a:off x="0" y="0"/>
          <a:ext cx="0" cy="0"/>
          <a:chOff x="0" y="0"/>
          <a:chExt cx="0" cy="0"/>
        </a:xfrm>
      </p:grpSpPr>
      <p:sp>
        <p:nvSpPr>
          <p:cNvPr id="1162" name="Google Shape;1162;p92: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lvl="0" indent="0" algn="l" rtl="0">
              <a:spcBef>
                <a:spcPts val="1000"/>
              </a:spcBef>
              <a:spcAft>
                <a:spcPts val="0"/>
              </a:spcAft>
              <a:buNone/>
            </a:pPr>
            <a:endParaRPr/>
          </a:p>
        </p:txBody>
      </p:sp>
      <p:sp>
        <p:nvSpPr>
          <p:cNvPr id="1163" name="Google Shape;1163;p92: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
          <a:extLst>
            <a:ext uri="{FF2B5EF4-FFF2-40B4-BE49-F238E27FC236}">
              <a16:creationId xmlns:a16="http://schemas.microsoft.com/office/drawing/2014/main" id="{949233BE-7FC9-F390-6FAE-B3B953EFD138}"/>
            </a:ext>
          </a:extLst>
        </p:cNvPr>
        <p:cNvGrpSpPr/>
        <p:nvPr/>
      </p:nvGrpSpPr>
      <p:grpSpPr>
        <a:xfrm>
          <a:off x="0" y="0"/>
          <a:ext cx="0" cy="0"/>
          <a:chOff x="0" y="0"/>
          <a:chExt cx="0" cy="0"/>
        </a:xfrm>
      </p:grpSpPr>
      <p:sp>
        <p:nvSpPr>
          <p:cNvPr id="1195" name="Google Shape;1195;p94:notes">
            <a:extLst>
              <a:ext uri="{FF2B5EF4-FFF2-40B4-BE49-F238E27FC236}">
                <a16:creationId xmlns:a16="http://schemas.microsoft.com/office/drawing/2014/main" id="{1EF7F919-801C-0C50-D3D1-62E83752DC28}"/>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lnSpc>
                <a:spcPct val="100000"/>
              </a:lnSpc>
              <a:spcBef>
                <a:spcPts val="1000"/>
              </a:spcBef>
              <a:spcAft>
                <a:spcPts val="0"/>
              </a:spcAft>
              <a:buSzPts val="1000"/>
              <a:buNone/>
            </a:pPr>
            <a:endParaRPr/>
          </a:p>
        </p:txBody>
      </p:sp>
      <p:sp>
        <p:nvSpPr>
          <p:cNvPr id="1196" name="Google Shape;1196;p94:notes">
            <a:extLst>
              <a:ext uri="{FF2B5EF4-FFF2-40B4-BE49-F238E27FC236}">
                <a16:creationId xmlns:a16="http://schemas.microsoft.com/office/drawing/2014/main" id="{DDC1AC64-C669-F7C0-5AF8-9CD2FADEFA85}"/>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Tree>
    <p:extLst>
      <p:ext uri="{BB962C8B-B14F-4D97-AF65-F5344CB8AC3E}">
        <p14:creationId xmlns:p14="http://schemas.microsoft.com/office/powerpoint/2010/main" val="31330130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
          <a:extLst>
            <a:ext uri="{FF2B5EF4-FFF2-40B4-BE49-F238E27FC236}">
              <a16:creationId xmlns:a16="http://schemas.microsoft.com/office/drawing/2014/main" id="{D4DB740F-62D2-6673-6193-85510D67CCA8}"/>
            </a:ext>
          </a:extLst>
        </p:cNvPr>
        <p:cNvGrpSpPr/>
        <p:nvPr/>
      </p:nvGrpSpPr>
      <p:grpSpPr>
        <a:xfrm>
          <a:off x="0" y="0"/>
          <a:ext cx="0" cy="0"/>
          <a:chOff x="0" y="0"/>
          <a:chExt cx="0" cy="0"/>
        </a:xfrm>
      </p:grpSpPr>
      <p:sp>
        <p:nvSpPr>
          <p:cNvPr id="1195" name="Google Shape;1195;p94:notes">
            <a:extLst>
              <a:ext uri="{FF2B5EF4-FFF2-40B4-BE49-F238E27FC236}">
                <a16:creationId xmlns:a16="http://schemas.microsoft.com/office/drawing/2014/main" id="{BF06866A-F70D-9C64-F4D9-3B297AB3B113}"/>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lnSpc>
                <a:spcPct val="100000"/>
              </a:lnSpc>
              <a:spcBef>
                <a:spcPts val="1000"/>
              </a:spcBef>
              <a:spcAft>
                <a:spcPts val="0"/>
              </a:spcAft>
              <a:buSzPts val="1000"/>
              <a:buNone/>
            </a:pPr>
            <a:endParaRPr/>
          </a:p>
        </p:txBody>
      </p:sp>
      <p:sp>
        <p:nvSpPr>
          <p:cNvPr id="1196" name="Google Shape;1196;p94:notes">
            <a:extLst>
              <a:ext uri="{FF2B5EF4-FFF2-40B4-BE49-F238E27FC236}">
                <a16:creationId xmlns:a16="http://schemas.microsoft.com/office/drawing/2014/main" id="{1EC07E94-CCAA-53B4-5182-9275E245B619}"/>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Tree>
    <p:extLst>
      <p:ext uri="{BB962C8B-B14F-4D97-AF65-F5344CB8AC3E}">
        <p14:creationId xmlns:p14="http://schemas.microsoft.com/office/powerpoint/2010/main" val="318699164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
        <p:cNvGrpSpPr/>
        <p:nvPr/>
      </p:nvGrpSpPr>
      <p:grpSpPr>
        <a:xfrm>
          <a:off x="0" y="0"/>
          <a:ext cx="0" cy="0"/>
          <a:chOff x="0" y="0"/>
          <a:chExt cx="0" cy="0"/>
        </a:xfrm>
      </p:grpSpPr>
      <p:sp>
        <p:nvSpPr>
          <p:cNvPr id="1750" name="Google Shape;1750;p46: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751" name="Google Shape;1751;p46: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GB" sz="1000" b="0" i="0" u="none" strike="noStrike">
                <a:solidFill>
                  <a:srgbClr val="000000"/>
                </a:solidFill>
                <a:effectLst/>
                <a:latin typeface="Calibri" panose="020F0502020204030204" pitchFamily="34" charset="0"/>
              </a:rPr>
              <a:t>Q4.11 Thinking of [PRODUCT], please indicate how well you feel the product performs on each of the following attributes on a scale of 1-7 where, 1 = “Not at all well” and 7 = “Extremely well”. If you are unsure about the product performance for any of the attributes, please select “0” i.e., “Unsure / Do not know”.</a:t>
            </a:r>
          </a:p>
          <a:p>
            <a:pPr marL="165100" indent="0">
              <a:buNone/>
            </a:pPr>
            <a:br>
              <a:rPr lang="en-GB" sz="1800" b="0" i="0" u="none" strike="noStrike">
                <a:solidFill>
                  <a:srgbClr val="000000"/>
                </a:solidFill>
                <a:effectLst/>
                <a:latin typeface="Calibri" panose="020F0502020204030204" pitchFamily="34" charset="0"/>
              </a:rPr>
            </a:br>
            <a:endParaRPr lang="en-GB" sz="4000" b="0">
              <a:effectLst/>
            </a:endParaRPr>
          </a:p>
        </p:txBody>
      </p:sp>
      <p:sp>
        <p:nvSpPr>
          <p:cNvPr id="1752" name="Google Shape;1752;p46: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9</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9678860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
        <p:cNvGrpSpPr/>
        <p:nvPr/>
      </p:nvGrpSpPr>
      <p:grpSpPr>
        <a:xfrm>
          <a:off x="0" y="0"/>
          <a:ext cx="0" cy="0"/>
          <a:chOff x="0" y="0"/>
          <a:chExt cx="0" cy="0"/>
        </a:xfrm>
      </p:grpSpPr>
      <p:sp>
        <p:nvSpPr>
          <p:cNvPr id="1750" name="Google Shape;1750;p46: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751" name="Google Shape;1751;p46: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GB" sz="1000" b="0" i="0" u="none" strike="noStrike">
                <a:solidFill>
                  <a:srgbClr val="000000"/>
                </a:solidFill>
                <a:effectLst/>
                <a:latin typeface="Calibri" panose="020F0502020204030204" pitchFamily="34" charset="0"/>
              </a:rPr>
              <a:t>Q4.11 Thinking of [PRODUCT], please indicate how well you feel the product performs on each of the following attributes on a scale of 1-7 where, 1 = “Not at all well” and 7 = “Extremely well”. If you are unsure about the product performance for any of the attributes, please select “0” i.e., “Unsure / Do not know”.</a:t>
            </a:r>
          </a:p>
          <a:p>
            <a:pPr marL="165100" indent="0">
              <a:buNone/>
            </a:pPr>
            <a:endParaRPr lang="en-GB" sz="4000" b="0">
              <a:effectLst/>
            </a:endParaRPr>
          </a:p>
        </p:txBody>
      </p:sp>
      <p:sp>
        <p:nvSpPr>
          <p:cNvPr id="1752" name="Google Shape;1752;p46: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10</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6281252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32C2A97B-C188-E217-3666-92944D9A4590}"/>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DD51890A-9280-1871-D955-7929383360B0}"/>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80C05B56-F044-D43E-0570-7E89E8308518}"/>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GB" sz="1800" b="0" i="0" u="none" strike="noStrike">
                <a:solidFill>
                  <a:srgbClr val="000000"/>
                </a:solidFill>
                <a:effectLst/>
                <a:latin typeface="Calibri" panose="020F0502020204030204" pitchFamily="34" charset="0"/>
              </a:rPr>
              <a:t>Q4.11 Thinking of [PRODUCT], please indicate how well you feel the product performs on each of the following attributes on a scale of 1-7 where, 1 = “Not at all well” and 7 = “Extremely well”. If you are unsure about the product performance for any of the attributes, please select “0” i.e., “Unsure / Do not know”.</a:t>
            </a:r>
          </a:p>
          <a:p>
            <a:pPr marL="165100" indent="0" rtl="0">
              <a:spcBef>
                <a:spcPts val="1200"/>
              </a:spcBef>
              <a:spcAft>
                <a:spcPts val="1200"/>
              </a:spcAft>
              <a:buNone/>
            </a:pPr>
            <a:endParaRPr lang="en-GB" sz="1800" b="0" i="0" u="none" strike="noStrike">
              <a:solidFill>
                <a:srgbClr val="000000"/>
              </a:solidFill>
              <a:effectLst/>
              <a:latin typeface="Calibri" panose="020F0502020204030204" pitchFamily="34" charset="0"/>
            </a:endParaRPr>
          </a:p>
          <a:p>
            <a:pPr marL="165100" indent="0" rtl="0">
              <a:spcBef>
                <a:spcPts val="1200"/>
              </a:spcBef>
              <a:spcAft>
                <a:spcPts val="1200"/>
              </a:spcAft>
              <a:buNone/>
            </a:pPr>
            <a:r>
              <a:rPr kumimoji="0" lang="en-GB" sz="1800" b="1" i="0" u="sng" strike="noStrike" kern="0" cap="none" spc="0" normalizeH="0" baseline="0" noProof="0">
                <a:ln>
                  <a:noFill/>
                </a:ln>
                <a:solidFill>
                  <a:srgbClr val="071D49"/>
                </a:solidFill>
                <a:effectLst/>
                <a:uLnTx/>
                <a:uFillTx/>
                <a:latin typeface="Arial"/>
                <a:cs typeface="Calibri"/>
                <a:sym typeface="Calibri"/>
              </a:rPr>
              <a:t>Product Performance Attributes :</a:t>
            </a:r>
            <a:endParaRPr lang="en-GB" sz="1800" b="0" i="0" u="none" strike="noStrike">
              <a:solidFill>
                <a:srgbClr val="000000"/>
              </a:solidFill>
              <a:effectLst/>
              <a:latin typeface="Calibri" panose="020F0502020204030204" pitchFamily="34" charset="0"/>
            </a:endParaRPr>
          </a:p>
          <a:p>
            <a:pPr marL="165100" indent="0">
              <a:buNone/>
            </a:pPr>
            <a:br>
              <a:rPr lang="en-US" sz="7200" b="0">
                <a:effectLst/>
              </a:rPr>
            </a:br>
            <a:r>
              <a:rPr lang="en-US" sz="7200" b="0">
                <a:effectLst/>
              </a:rPr>
              <a:t>Improves symptoms</a:t>
            </a:r>
          </a:p>
          <a:p>
            <a:pPr marL="165100" indent="0">
              <a:buNone/>
            </a:pPr>
            <a:r>
              <a:rPr lang="en-US" sz="7200" b="0">
                <a:effectLst/>
              </a:rPr>
              <a:t>Highest efficacy</a:t>
            </a:r>
          </a:p>
          <a:p>
            <a:pPr marL="165100" indent="0">
              <a:buNone/>
            </a:pPr>
            <a:r>
              <a:rPr lang="en-US" sz="7200" b="0">
                <a:effectLst/>
              </a:rPr>
              <a:t>Benefits patient outcomes beyond symptom relief</a:t>
            </a:r>
          </a:p>
          <a:p>
            <a:pPr marL="165100" indent="0">
              <a:buNone/>
            </a:pPr>
            <a:r>
              <a:rPr lang="en-US" sz="7200" b="0">
                <a:effectLst/>
              </a:rPr>
              <a:t>Best formulary / insurance coverage</a:t>
            </a:r>
          </a:p>
          <a:p>
            <a:pPr marL="165100" indent="0">
              <a:buNone/>
            </a:pPr>
            <a:r>
              <a:rPr lang="en-US" sz="7200" b="0">
                <a:effectLst/>
              </a:rPr>
              <a:t>Easiest to prescribe (less impact on practice resources)</a:t>
            </a:r>
          </a:p>
          <a:p>
            <a:pPr marL="165100" indent="0">
              <a:buNone/>
            </a:pPr>
            <a:r>
              <a:rPr lang="en-US" sz="7200" b="0">
                <a:effectLst/>
              </a:rPr>
              <a:t>Patient Support Programs</a:t>
            </a:r>
          </a:p>
          <a:p>
            <a:pPr marL="165100" indent="0">
              <a:buNone/>
            </a:pPr>
            <a:r>
              <a:rPr lang="en-US" sz="7200" b="0">
                <a:effectLst/>
              </a:rPr>
              <a:t>Co-pay assistance</a:t>
            </a:r>
          </a:p>
          <a:p>
            <a:pPr marL="165100" indent="0">
              <a:buNone/>
            </a:pPr>
            <a:r>
              <a:rPr lang="en-US" sz="7200" b="0">
                <a:effectLst/>
              </a:rPr>
              <a:t>Simplest dosing</a:t>
            </a:r>
          </a:p>
          <a:p>
            <a:pPr marL="165100" indent="0">
              <a:buNone/>
            </a:pPr>
            <a:r>
              <a:rPr lang="en-US" sz="7200" b="0">
                <a:effectLst/>
              </a:rPr>
              <a:t>Dosing flexibility</a:t>
            </a:r>
          </a:p>
          <a:p>
            <a:pPr marL="165100" indent="0">
              <a:buNone/>
            </a:pPr>
            <a:r>
              <a:rPr lang="en-US" sz="7200" b="0">
                <a:effectLst/>
              </a:rPr>
              <a:t>Patient adherence</a:t>
            </a:r>
          </a:p>
          <a:p>
            <a:pPr marL="165100" indent="0">
              <a:buNone/>
            </a:pPr>
            <a:r>
              <a:rPr lang="en-US" sz="7200" b="0">
                <a:effectLst/>
              </a:rPr>
              <a:t>Most dosing options</a:t>
            </a:r>
          </a:p>
          <a:p>
            <a:pPr marL="165100" indent="0">
              <a:buNone/>
            </a:pPr>
            <a:r>
              <a:rPr lang="en-US" sz="7200" b="0">
                <a:effectLst/>
              </a:rPr>
              <a:t>Most favorable safety profile</a:t>
            </a:r>
          </a:p>
          <a:p>
            <a:pPr marL="165100" indent="0">
              <a:buNone/>
            </a:pPr>
            <a:r>
              <a:rPr lang="en-US" sz="7200" b="0">
                <a:effectLst/>
              </a:rPr>
              <a:t>Successful personal experience with treatment</a:t>
            </a:r>
          </a:p>
          <a:p>
            <a:pPr marL="165100" indent="0">
              <a:buNone/>
            </a:pPr>
            <a:r>
              <a:rPr lang="en-US" sz="7200" b="0">
                <a:effectLst/>
              </a:rPr>
              <a:t>Treatment is preferred by patients</a:t>
            </a:r>
          </a:p>
          <a:p>
            <a:pPr marL="165100" indent="0">
              <a:buNone/>
            </a:pPr>
            <a:endParaRPr lang="en-GB" sz="7200" b="0">
              <a:effectLst/>
            </a:endParaRPr>
          </a:p>
        </p:txBody>
      </p:sp>
      <p:sp>
        <p:nvSpPr>
          <p:cNvPr id="1356" name="Google Shape;1356;p33:notes">
            <a:extLst>
              <a:ext uri="{FF2B5EF4-FFF2-40B4-BE49-F238E27FC236}">
                <a16:creationId xmlns:a16="http://schemas.microsoft.com/office/drawing/2014/main" id="{6DD2DA58-E372-C1B4-15A7-2F8BB55242AF}"/>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11</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1507311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BBADEE1D-1092-7534-220D-9F99FAD38F09}"/>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062BBB84-A480-2394-0403-4B993B2CD826}"/>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D7729DEB-E6B4-1F46-B314-E61B7E138449}"/>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GB" sz="1800" b="0" i="0" u="none" strike="noStrike">
                <a:solidFill>
                  <a:srgbClr val="000000"/>
                </a:solidFill>
                <a:effectLst/>
                <a:latin typeface="Calibri" panose="020F0502020204030204" pitchFamily="34" charset="0"/>
              </a:rPr>
              <a:t>Q4.11 Thinking of [PRODUCT], please indicate how well you feel the product performs on each of the following attributes on a scale of 1-7 where, 1 = “Not at all well” and 7 = “Extremely well”. If you are unsure about the product performance for any of the attributes, please select “0” i.e., “Unsure / Do not know”.</a:t>
            </a:r>
          </a:p>
          <a:p>
            <a:pPr marL="165100" indent="0" rtl="0">
              <a:spcBef>
                <a:spcPts val="1200"/>
              </a:spcBef>
              <a:spcAft>
                <a:spcPts val="1200"/>
              </a:spcAft>
              <a:buNone/>
            </a:pPr>
            <a:endParaRPr lang="en-GB" sz="1800" b="0" i="0" u="none" strike="noStrike">
              <a:solidFill>
                <a:srgbClr val="000000"/>
              </a:solidFill>
              <a:effectLst/>
              <a:latin typeface="Calibri" panose="020F0502020204030204" pitchFamily="34" charset="0"/>
            </a:endParaRPr>
          </a:p>
          <a:p>
            <a:pPr marL="165100" indent="0" rtl="0">
              <a:spcBef>
                <a:spcPts val="1200"/>
              </a:spcBef>
              <a:spcAft>
                <a:spcPts val="1200"/>
              </a:spcAft>
              <a:buNone/>
            </a:pPr>
            <a:r>
              <a:rPr kumimoji="0" lang="en-GB" sz="1800" b="1" i="0" u="sng" strike="noStrike" kern="0" cap="none" spc="0" normalizeH="0" baseline="0" noProof="0">
                <a:ln>
                  <a:noFill/>
                </a:ln>
                <a:solidFill>
                  <a:srgbClr val="071D49"/>
                </a:solidFill>
                <a:effectLst/>
                <a:uLnTx/>
                <a:uFillTx/>
                <a:latin typeface="Arial"/>
                <a:cs typeface="Calibri"/>
                <a:sym typeface="Calibri"/>
              </a:rPr>
              <a:t>Product Performance Attributes :</a:t>
            </a:r>
            <a:endParaRPr lang="en-GB" sz="1800" b="0" i="0" u="none" strike="noStrike">
              <a:solidFill>
                <a:srgbClr val="000000"/>
              </a:solidFill>
              <a:effectLst/>
              <a:latin typeface="Calibri" panose="020F0502020204030204" pitchFamily="34" charset="0"/>
            </a:endParaRPr>
          </a:p>
          <a:p>
            <a:pPr marL="165100" indent="0">
              <a:buNone/>
            </a:pPr>
            <a:br>
              <a:rPr lang="en-US" sz="7200" b="0">
                <a:effectLst/>
              </a:rPr>
            </a:br>
            <a:r>
              <a:rPr lang="en-US" sz="7200" b="0">
                <a:effectLst/>
              </a:rPr>
              <a:t>Improves symptoms</a:t>
            </a:r>
          </a:p>
          <a:p>
            <a:pPr marL="165100" indent="0">
              <a:buNone/>
            </a:pPr>
            <a:r>
              <a:rPr lang="en-US" sz="7200" b="0">
                <a:effectLst/>
              </a:rPr>
              <a:t>Highest efficacy</a:t>
            </a:r>
          </a:p>
          <a:p>
            <a:pPr marL="165100" indent="0">
              <a:buNone/>
            </a:pPr>
            <a:r>
              <a:rPr lang="en-US" sz="7200" b="0">
                <a:effectLst/>
              </a:rPr>
              <a:t>Benefits patient outcomes beyond symptom relief</a:t>
            </a:r>
          </a:p>
          <a:p>
            <a:pPr marL="165100" indent="0">
              <a:buNone/>
            </a:pPr>
            <a:r>
              <a:rPr lang="en-US" sz="7200" b="0">
                <a:effectLst/>
              </a:rPr>
              <a:t>Best formulary / insurance coverage</a:t>
            </a:r>
          </a:p>
          <a:p>
            <a:pPr marL="165100" indent="0">
              <a:buNone/>
            </a:pPr>
            <a:r>
              <a:rPr lang="en-US" sz="7200" b="0">
                <a:effectLst/>
              </a:rPr>
              <a:t>Easiest to prescribe (less impact on practice resources)</a:t>
            </a:r>
          </a:p>
          <a:p>
            <a:pPr marL="165100" indent="0">
              <a:buNone/>
            </a:pPr>
            <a:r>
              <a:rPr lang="en-US" sz="7200" b="0">
                <a:effectLst/>
              </a:rPr>
              <a:t>Patient Support Programs</a:t>
            </a:r>
          </a:p>
          <a:p>
            <a:pPr marL="165100" indent="0">
              <a:buNone/>
            </a:pPr>
            <a:r>
              <a:rPr lang="en-US" sz="7200" b="0">
                <a:effectLst/>
              </a:rPr>
              <a:t>Co-pay assistance</a:t>
            </a:r>
          </a:p>
          <a:p>
            <a:pPr marL="165100" indent="0">
              <a:buNone/>
            </a:pPr>
            <a:r>
              <a:rPr lang="en-US" sz="7200" b="0">
                <a:effectLst/>
              </a:rPr>
              <a:t>Simplest dosing</a:t>
            </a:r>
          </a:p>
          <a:p>
            <a:pPr marL="165100" indent="0">
              <a:buNone/>
            </a:pPr>
            <a:r>
              <a:rPr lang="en-US" sz="7200" b="0">
                <a:effectLst/>
              </a:rPr>
              <a:t>Dosing flexibility</a:t>
            </a:r>
          </a:p>
          <a:p>
            <a:pPr marL="165100" indent="0">
              <a:buNone/>
            </a:pPr>
            <a:r>
              <a:rPr lang="en-US" sz="7200" b="0">
                <a:effectLst/>
              </a:rPr>
              <a:t>Patient adherence</a:t>
            </a:r>
          </a:p>
          <a:p>
            <a:pPr marL="165100" indent="0">
              <a:buNone/>
            </a:pPr>
            <a:r>
              <a:rPr lang="en-US" sz="7200" b="0">
                <a:effectLst/>
              </a:rPr>
              <a:t>Most dosing options</a:t>
            </a:r>
          </a:p>
          <a:p>
            <a:pPr marL="165100" indent="0">
              <a:buNone/>
            </a:pPr>
            <a:r>
              <a:rPr lang="en-US" sz="7200" b="0">
                <a:effectLst/>
              </a:rPr>
              <a:t>Most favorable safety profile</a:t>
            </a:r>
          </a:p>
          <a:p>
            <a:pPr marL="165100" indent="0">
              <a:buNone/>
            </a:pPr>
            <a:r>
              <a:rPr lang="en-US" sz="7200" b="0">
                <a:effectLst/>
              </a:rPr>
              <a:t>Successful personal experience with treatment</a:t>
            </a:r>
          </a:p>
          <a:p>
            <a:pPr marL="165100" indent="0">
              <a:buNone/>
            </a:pPr>
            <a:r>
              <a:rPr lang="en-US" sz="7200" b="0">
                <a:effectLst/>
              </a:rPr>
              <a:t>Treatment is preferred by patients</a:t>
            </a:r>
          </a:p>
          <a:p>
            <a:pPr marL="165100" indent="0">
              <a:buNone/>
            </a:pPr>
            <a:endParaRPr lang="en-GB" sz="7200" b="0">
              <a:effectLst/>
            </a:endParaRPr>
          </a:p>
        </p:txBody>
      </p:sp>
      <p:sp>
        <p:nvSpPr>
          <p:cNvPr id="1356" name="Google Shape;1356;p33:notes">
            <a:extLst>
              <a:ext uri="{FF2B5EF4-FFF2-40B4-BE49-F238E27FC236}">
                <a16:creationId xmlns:a16="http://schemas.microsoft.com/office/drawing/2014/main" id="{BCD93A6E-4693-8BAF-7DA8-BBAC48DFB387}"/>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12</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4612836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65D26201-4849-B07A-A382-986C9C4C43FF}"/>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43D797A0-CCFC-1B45-A2C0-F5AB49A46952}"/>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23100282-5DAF-2BD7-63E3-79B7E7A0FF98}"/>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GB" sz="1800" b="0" i="0" u="none" strike="noStrike">
                <a:solidFill>
                  <a:srgbClr val="000000"/>
                </a:solidFill>
                <a:effectLst/>
                <a:latin typeface="Calibri" panose="020F0502020204030204" pitchFamily="34" charset="0"/>
              </a:rPr>
              <a:t>Q4.11 Thinking of [PRODUCT], please indicate how well you feel the product performs on each of the following attributes on a scale of 1-7 where, 1 = “Not at all well” and 7 = “Extremely well”. If you are unsure about the product performance for any of the attributes, please select “0” i.e., “Unsure / Do not know”.</a:t>
            </a:r>
          </a:p>
          <a:p>
            <a:pPr marL="165100" indent="0" rtl="0">
              <a:spcBef>
                <a:spcPts val="1200"/>
              </a:spcBef>
              <a:spcAft>
                <a:spcPts val="1200"/>
              </a:spcAft>
              <a:buNone/>
            </a:pPr>
            <a:endParaRPr lang="en-GB" sz="1800" b="0" i="0" u="none" strike="noStrike">
              <a:solidFill>
                <a:srgbClr val="000000"/>
              </a:solidFill>
              <a:effectLst/>
              <a:latin typeface="Calibri" panose="020F0502020204030204" pitchFamily="34" charset="0"/>
            </a:endParaRPr>
          </a:p>
          <a:p>
            <a:pPr marL="165100" indent="0" rtl="0">
              <a:spcBef>
                <a:spcPts val="1200"/>
              </a:spcBef>
              <a:spcAft>
                <a:spcPts val="1200"/>
              </a:spcAft>
              <a:buNone/>
            </a:pPr>
            <a:r>
              <a:rPr kumimoji="0" lang="en-GB" sz="1800" b="1" i="0" u="sng" strike="noStrike" kern="0" cap="none" spc="0" normalizeH="0" baseline="0" noProof="0">
                <a:ln>
                  <a:noFill/>
                </a:ln>
                <a:solidFill>
                  <a:srgbClr val="071D49"/>
                </a:solidFill>
                <a:effectLst/>
                <a:uLnTx/>
                <a:uFillTx/>
                <a:latin typeface="Arial"/>
                <a:cs typeface="Calibri"/>
                <a:sym typeface="Calibri"/>
              </a:rPr>
              <a:t>Product Performance Attributes :</a:t>
            </a:r>
            <a:endParaRPr lang="en-GB" sz="1800" b="0" i="0" u="none" strike="noStrike">
              <a:solidFill>
                <a:srgbClr val="000000"/>
              </a:solidFill>
              <a:effectLst/>
              <a:latin typeface="Calibri" panose="020F0502020204030204" pitchFamily="34" charset="0"/>
            </a:endParaRPr>
          </a:p>
          <a:p>
            <a:pPr marL="165100" indent="0">
              <a:buNone/>
            </a:pPr>
            <a:br>
              <a:rPr lang="en-US" sz="7200" b="0">
                <a:effectLst/>
              </a:rPr>
            </a:br>
            <a:r>
              <a:rPr lang="en-US" sz="7200" b="0">
                <a:effectLst/>
              </a:rPr>
              <a:t>Improves symptoms</a:t>
            </a:r>
          </a:p>
          <a:p>
            <a:pPr marL="165100" indent="0">
              <a:buNone/>
            </a:pPr>
            <a:r>
              <a:rPr lang="en-US" sz="7200" b="0">
                <a:effectLst/>
              </a:rPr>
              <a:t>Highest efficacy</a:t>
            </a:r>
          </a:p>
          <a:p>
            <a:pPr marL="165100" indent="0">
              <a:buNone/>
            </a:pPr>
            <a:r>
              <a:rPr lang="en-US" sz="7200" b="0">
                <a:effectLst/>
              </a:rPr>
              <a:t>Benefits patient outcomes beyond symptom relief</a:t>
            </a:r>
          </a:p>
          <a:p>
            <a:pPr marL="165100" indent="0">
              <a:buNone/>
            </a:pPr>
            <a:r>
              <a:rPr lang="en-US" sz="7200" b="0">
                <a:effectLst/>
              </a:rPr>
              <a:t>Best formulary / insurance coverage</a:t>
            </a:r>
          </a:p>
          <a:p>
            <a:pPr marL="165100" indent="0">
              <a:buNone/>
            </a:pPr>
            <a:r>
              <a:rPr lang="en-US" sz="7200" b="0">
                <a:effectLst/>
              </a:rPr>
              <a:t>Easiest to prescribe (less impact on practice resources)</a:t>
            </a:r>
          </a:p>
          <a:p>
            <a:pPr marL="165100" indent="0">
              <a:buNone/>
            </a:pPr>
            <a:r>
              <a:rPr lang="en-US" sz="7200" b="0">
                <a:effectLst/>
              </a:rPr>
              <a:t>Patient Support Programs</a:t>
            </a:r>
          </a:p>
          <a:p>
            <a:pPr marL="165100" indent="0">
              <a:buNone/>
            </a:pPr>
            <a:r>
              <a:rPr lang="en-US" sz="7200" b="0">
                <a:effectLst/>
              </a:rPr>
              <a:t>Co-pay assistance</a:t>
            </a:r>
          </a:p>
          <a:p>
            <a:pPr marL="165100" indent="0">
              <a:buNone/>
            </a:pPr>
            <a:r>
              <a:rPr lang="en-US" sz="7200" b="0">
                <a:effectLst/>
              </a:rPr>
              <a:t>Simplest dosing</a:t>
            </a:r>
          </a:p>
          <a:p>
            <a:pPr marL="165100" indent="0">
              <a:buNone/>
            </a:pPr>
            <a:r>
              <a:rPr lang="en-US" sz="7200" b="0">
                <a:effectLst/>
              </a:rPr>
              <a:t>Dosing flexibility</a:t>
            </a:r>
          </a:p>
          <a:p>
            <a:pPr marL="165100" indent="0">
              <a:buNone/>
            </a:pPr>
            <a:r>
              <a:rPr lang="en-US" sz="7200" b="0">
                <a:effectLst/>
              </a:rPr>
              <a:t>Patient adherence</a:t>
            </a:r>
          </a:p>
          <a:p>
            <a:pPr marL="165100" indent="0">
              <a:buNone/>
            </a:pPr>
            <a:r>
              <a:rPr lang="en-US" sz="7200" b="0">
                <a:effectLst/>
              </a:rPr>
              <a:t>Most dosing options</a:t>
            </a:r>
          </a:p>
          <a:p>
            <a:pPr marL="165100" indent="0">
              <a:buNone/>
            </a:pPr>
            <a:r>
              <a:rPr lang="en-US" sz="7200" b="0">
                <a:effectLst/>
              </a:rPr>
              <a:t>Most favorable safety profile</a:t>
            </a:r>
          </a:p>
          <a:p>
            <a:pPr marL="165100" indent="0">
              <a:buNone/>
            </a:pPr>
            <a:r>
              <a:rPr lang="en-US" sz="7200" b="0">
                <a:effectLst/>
              </a:rPr>
              <a:t>Successful personal experience with treatment</a:t>
            </a:r>
          </a:p>
          <a:p>
            <a:pPr marL="165100" indent="0">
              <a:buNone/>
            </a:pPr>
            <a:r>
              <a:rPr lang="en-US" sz="7200" b="0">
                <a:effectLst/>
              </a:rPr>
              <a:t>Treatment is preferred by patients</a:t>
            </a:r>
          </a:p>
          <a:p>
            <a:pPr marL="165100" indent="0">
              <a:buNone/>
            </a:pPr>
            <a:endParaRPr lang="en-GB" sz="7200" b="0">
              <a:effectLst/>
            </a:endParaRPr>
          </a:p>
        </p:txBody>
      </p:sp>
      <p:sp>
        <p:nvSpPr>
          <p:cNvPr id="1356" name="Google Shape;1356;p33:notes">
            <a:extLst>
              <a:ext uri="{FF2B5EF4-FFF2-40B4-BE49-F238E27FC236}">
                <a16:creationId xmlns:a16="http://schemas.microsoft.com/office/drawing/2014/main" id="{B70379E2-2588-AC6D-2CF8-9692FD313A8E}"/>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13</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9681846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a:extLst>
            <a:ext uri="{FF2B5EF4-FFF2-40B4-BE49-F238E27FC236}">
              <a16:creationId xmlns:a16="http://schemas.microsoft.com/office/drawing/2014/main" id="{D046CD03-EC0E-48EE-53F7-E7FFE0BB3A74}"/>
            </a:ext>
          </a:extLst>
        </p:cNvPr>
        <p:cNvGrpSpPr/>
        <p:nvPr/>
      </p:nvGrpSpPr>
      <p:grpSpPr>
        <a:xfrm>
          <a:off x="0" y="0"/>
          <a:ext cx="0" cy="0"/>
          <a:chOff x="0" y="0"/>
          <a:chExt cx="0" cy="0"/>
        </a:xfrm>
      </p:grpSpPr>
      <p:sp>
        <p:nvSpPr>
          <p:cNvPr id="565" name="Google Shape;565;p15:notes">
            <a:extLst>
              <a:ext uri="{FF2B5EF4-FFF2-40B4-BE49-F238E27FC236}">
                <a16:creationId xmlns:a16="http://schemas.microsoft.com/office/drawing/2014/main" id="{7F2852F0-3835-B8F7-B66C-7233B09081B5}"/>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a:extLst>
              <a:ext uri="{FF2B5EF4-FFF2-40B4-BE49-F238E27FC236}">
                <a16:creationId xmlns:a16="http://schemas.microsoft.com/office/drawing/2014/main" id="{795CCB21-042E-2B8E-12A0-685DC9B435F2}"/>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chemeClr val="dk1"/>
              </a:buClr>
              <a:buSzPts val="1800"/>
              <a:buNone/>
            </a:pPr>
            <a:r>
              <a:rPr lang="en-US" sz="18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800" b="1" u="sng">
                <a:latin typeface="Calibri"/>
                <a:ea typeface="Calibri"/>
                <a:cs typeface="Calibri"/>
                <a:sym typeface="Calibri"/>
              </a:rPr>
              <a:t>last 30 days</a:t>
            </a:r>
            <a:r>
              <a:rPr lang="en-US" sz="1800" b="1">
                <a:latin typeface="Calibri"/>
                <a:ea typeface="Calibri"/>
                <a:cs typeface="Calibri"/>
                <a:sym typeface="Calibri"/>
              </a:rPr>
              <a:t> </a:t>
            </a:r>
            <a:r>
              <a:rPr lang="en-US" sz="1800">
                <a:latin typeface="Calibri"/>
                <a:ea typeface="Calibri"/>
                <a:cs typeface="Calibri"/>
                <a:sym typeface="Calibri"/>
              </a:rPr>
              <a:t>for each of the companies?</a:t>
            </a:r>
            <a:r>
              <a:rPr lang="en-US" sz="1800" b="1">
                <a:latin typeface="Calibri"/>
                <a:ea typeface="Calibri"/>
                <a:cs typeface="Calibri"/>
                <a:sym typeface="Calibri"/>
              </a:rPr>
              <a:t> </a:t>
            </a:r>
            <a:r>
              <a:rPr lang="en-US" sz="1800">
                <a:latin typeface="Calibri"/>
                <a:ea typeface="Calibri"/>
                <a:cs typeface="Calibri"/>
                <a:sym typeface="Calibri"/>
              </a:rPr>
              <a:t>Please select all that apply.</a:t>
            </a:r>
            <a:endParaRPr lang="en-US" sz="1800"/>
          </a:p>
          <a:p>
            <a:pPr marL="0" lvl="0" indent="0" algn="l" rtl="0">
              <a:spcBef>
                <a:spcPts val="1800"/>
              </a:spcBef>
              <a:spcAft>
                <a:spcPts val="0"/>
              </a:spcAft>
              <a:buClr>
                <a:schemeClr val="dk1"/>
              </a:buClr>
              <a:buSzPts val="1800"/>
              <a:buNone/>
            </a:pPr>
            <a:endParaRPr lang="en-US" sz="1800" b="1" i="1">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endParaRPr lang="en-US" sz="1800" b="1" i="1"/>
          </a:p>
          <a:p>
            <a:pPr marL="177800" lvl="0" indent="-114300" algn="l" rtl="0">
              <a:spcBef>
                <a:spcPts val="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177800" lvl="0" indent="-114300" algn="l" rtl="0">
              <a:spcBef>
                <a:spcPts val="1000"/>
              </a:spcBef>
              <a:spcAft>
                <a:spcPts val="0"/>
              </a:spcAft>
              <a:buClr>
                <a:schemeClr val="dk1"/>
              </a:buClr>
              <a:buSzPts val="1000"/>
              <a:buNone/>
            </a:pPr>
            <a:endParaRPr lang="en-US" sz="1800" b="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Non-personal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Drug Samples, Print/Digital Aids, Emails from manufacturer, In-Person/Virtual Conventions, Websites, Social media posts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Consumer Tactics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In-office advertising to patients, TV ads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p:txBody>
      </p:sp>
      <p:sp>
        <p:nvSpPr>
          <p:cNvPr id="567" name="Google Shape;567;p15:notes">
            <a:extLst>
              <a:ext uri="{FF2B5EF4-FFF2-40B4-BE49-F238E27FC236}">
                <a16:creationId xmlns:a16="http://schemas.microsoft.com/office/drawing/2014/main" id="{B186B42C-62C3-2FF8-B8A9-480E74C8848F}"/>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15</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77188554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p15: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p>
          <a:p>
            <a:pPr marL="177800" lvl="0" indent="-114300" algn="l" rtl="0">
              <a:spcBef>
                <a:spcPts val="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177800" lvl="0" indent="-114300" algn="l" rtl="0">
              <a:spcBef>
                <a:spcPts val="1000"/>
              </a:spcBef>
              <a:spcAft>
                <a:spcPts val="0"/>
              </a:spcAft>
              <a:buClr>
                <a:schemeClr val="dk1"/>
              </a:buClr>
              <a:buSzPts val="1000"/>
              <a:buNone/>
            </a:pPr>
            <a:endParaRPr lang="en-US" sz="1800" b="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Non-personal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Drug Samples, Print/Digital Aids, Emails from manufacturer, In-Person/Virtual Conventions, Websites, Social media posts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Consumer Tactics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In-office advertising to patients, TV ads</a:t>
            </a:r>
            <a:endParaRPr lang="en-US" sz="1800"/>
          </a:p>
          <a:p>
            <a:pPr marL="0" lvl="0" indent="0" algn="l" rtl="0">
              <a:spcBef>
                <a:spcPts val="1800"/>
              </a:spcBef>
              <a:spcAft>
                <a:spcPts val="0"/>
              </a:spcAft>
              <a:buClr>
                <a:schemeClr val="dk1"/>
              </a:buClr>
              <a:buSzPts val="1800"/>
              <a:buNone/>
            </a:pPr>
            <a:endParaRPr lang="en-US" sz="1800" b="1" i="1"/>
          </a:p>
        </p:txBody>
      </p:sp>
      <p:sp>
        <p:nvSpPr>
          <p:cNvPr id="567" name="Google Shape;567;p15: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16</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2143685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p15: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p>
          <a:p>
            <a:pPr marL="0" lvl="0" indent="0" algn="l" rtl="0">
              <a:spcBef>
                <a:spcPts val="1800"/>
              </a:spcBef>
              <a:spcAft>
                <a:spcPts val="0"/>
              </a:spcAft>
              <a:buClr>
                <a:schemeClr val="dk1"/>
              </a:buClr>
              <a:buSzPts val="1800"/>
              <a:buNone/>
            </a:pPr>
            <a:endParaRPr lang="en-US" sz="1800" b="1" i="1" u="sng">
              <a:latin typeface="Calibri"/>
              <a:ea typeface="Calibri"/>
              <a:cs typeface="Calibri"/>
              <a:sym typeface="Calibri"/>
            </a:endParaRPr>
          </a:p>
          <a:p>
            <a:pPr marL="177800" lvl="0" indent="-114300" algn="l" rtl="0">
              <a:spcBef>
                <a:spcPts val="0"/>
              </a:spcBef>
              <a:spcAft>
                <a:spcPts val="0"/>
              </a:spcAft>
              <a:buClr>
                <a:schemeClr val="dk1"/>
              </a:buClr>
              <a:buSzPts val="1000"/>
              <a:buNone/>
            </a:pPr>
            <a:r>
              <a:rPr kumimoji="0" lang="en-US" sz="1800" b="1" i="1" u="none" strike="noStrike" kern="0" cap="none" spc="0" normalizeH="0" baseline="0" noProof="0">
                <a:ln>
                  <a:noFill/>
                </a:ln>
                <a:solidFill>
                  <a:srgbClr val="071D49"/>
                </a:solidFill>
                <a:effectLst/>
                <a:uLnTx/>
                <a:uFillTx/>
                <a:latin typeface="Calibri (Body)"/>
                <a:ea typeface="Calibri"/>
                <a:cs typeface="Calibri" panose="020F0502020204030204" pitchFamily="34" charset="0"/>
                <a:sym typeface="Calibri"/>
              </a:rPr>
              <a:t>Channels mapping has been modified in Nov ‘20 to align with HCV Study</a:t>
            </a: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177800" lvl="0" indent="-114300" algn="l" rtl="0">
              <a:spcBef>
                <a:spcPts val="1000"/>
              </a:spcBef>
              <a:spcAft>
                <a:spcPts val="0"/>
              </a:spcAft>
              <a:buClr>
                <a:schemeClr val="dk1"/>
              </a:buClr>
              <a:buSzPts val="1000"/>
              <a:buNone/>
            </a:pPr>
            <a:endParaRPr lang="en-US" sz="1800" b="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Non-personal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Drug Samples, Print/Digital Aids, Emails from manufacturer, In-Person/Virtual Conventions, Websites, Social media posts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Consumer Tactics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In-office advertising to patients, TV ads</a:t>
            </a:r>
            <a:endParaRPr lang="en-US" sz="1800"/>
          </a:p>
          <a:p>
            <a:pPr marL="0" lvl="0" indent="0" algn="l" rtl="0">
              <a:spcBef>
                <a:spcPts val="1800"/>
              </a:spcBef>
              <a:spcAft>
                <a:spcPts val="0"/>
              </a:spcAft>
              <a:buClr>
                <a:schemeClr val="dk1"/>
              </a:buClr>
              <a:buSzPts val="1800"/>
              <a:buNone/>
            </a:pPr>
            <a:endParaRPr lang="en-US" sz="1800" b="1" i="1"/>
          </a:p>
        </p:txBody>
      </p:sp>
      <p:sp>
        <p:nvSpPr>
          <p:cNvPr id="567" name="Google Shape;567;p15: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17</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8348402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lvl="0" indent="0" algn="l" rtl="0">
              <a:spcBef>
                <a:spcPts val="1000"/>
              </a:spcBef>
              <a:spcAft>
                <a:spcPts val="0"/>
              </a:spcAft>
              <a:buClr>
                <a:schemeClr val="dk1"/>
              </a:buClr>
              <a:buSzPts val="1000"/>
              <a:buNone/>
            </a:pPr>
            <a:r>
              <a:rPr lang="en-US" sz="10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000" b="1" u="sng">
                <a:latin typeface="Calibri"/>
                <a:ea typeface="Calibri"/>
                <a:cs typeface="Calibri"/>
                <a:sym typeface="Calibri"/>
              </a:rPr>
              <a:t>last 30 days</a:t>
            </a:r>
            <a:r>
              <a:rPr lang="en-US" sz="1000" b="1">
                <a:latin typeface="Calibri"/>
                <a:ea typeface="Calibri"/>
                <a:cs typeface="Calibri"/>
                <a:sym typeface="Calibri"/>
              </a:rPr>
              <a:t> </a:t>
            </a:r>
            <a:r>
              <a:rPr lang="en-US" sz="1000">
                <a:latin typeface="Calibri"/>
                <a:ea typeface="Calibri"/>
                <a:cs typeface="Calibri"/>
                <a:sym typeface="Calibri"/>
              </a:rPr>
              <a:t>for each of the companies?</a:t>
            </a:r>
            <a:r>
              <a:rPr lang="en-US" sz="1000" b="1">
                <a:latin typeface="Calibri"/>
                <a:ea typeface="Calibri"/>
                <a:cs typeface="Calibri"/>
                <a:sym typeface="Calibri"/>
              </a:rPr>
              <a:t> </a:t>
            </a:r>
            <a:r>
              <a:rPr lang="en-US" sz="1000">
                <a:latin typeface="Calibri"/>
                <a:ea typeface="Calibri"/>
                <a:cs typeface="Calibri"/>
                <a:sym typeface="Calibri"/>
              </a:rPr>
              <a:t>Please select all that apply.</a:t>
            </a:r>
            <a:endParaRPr lang="en-US"/>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000" b="1" u="sng">
                <a:latin typeface="Calibri"/>
                <a:ea typeface="Calibri"/>
                <a:cs typeface="Calibri"/>
                <a:sym typeface="Calibri"/>
              </a:rPr>
              <a:t> 30 days</a:t>
            </a:r>
            <a:endParaRPr lang="en-US" b="1" i="1"/>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18</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69315061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lvl="0" indent="0" algn="l" rtl="0">
              <a:spcBef>
                <a:spcPts val="1000"/>
              </a:spcBef>
              <a:spcAft>
                <a:spcPts val="0"/>
              </a:spcAft>
              <a:buClr>
                <a:schemeClr val="dk1"/>
              </a:buClr>
              <a:buSzPts val="1000"/>
              <a:buNone/>
            </a:pPr>
            <a:r>
              <a:rPr lang="en-US" sz="10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000" b="1" u="sng">
                <a:latin typeface="Calibri"/>
                <a:ea typeface="Calibri"/>
                <a:cs typeface="Calibri"/>
                <a:sym typeface="Calibri"/>
              </a:rPr>
              <a:t>last 30 days</a:t>
            </a:r>
            <a:r>
              <a:rPr lang="en-US" sz="1000" b="1">
                <a:latin typeface="Calibri"/>
                <a:ea typeface="Calibri"/>
                <a:cs typeface="Calibri"/>
                <a:sym typeface="Calibri"/>
              </a:rPr>
              <a:t> </a:t>
            </a:r>
            <a:r>
              <a:rPr lang="en-US" sz="1000">
                <a:latin typeface="Calibri"/>
                <a:ea typeface="Calibri"/>
                <a:cs typeface="Calibri"/>
                <a:sym typeface="Calibri"/>
              </a:rPr>
              <a:t>for each of the companies?</a:t>
            </a:r>
            <a:r>
              <a:rPr lang="en-US" sz="1000" b="1">
                <a:latin typeface="Calibri"/>
                <a:ea typeface="Calibri"/>
                <a:cs typeface="Calibri"/>
                <a:sym typeface="Calibri"/>
              </a:rPr>
              <a:t> </a:t>
            </a:r>
            <a:r>
              <a:rPr lang="en-US" sz="1000">
                <a:latin typeface="Calibri"/>
                <a:ea typeface="Calibri"/>
                <a:cs typeface="Calibri"/>
                <a:sym typeface="Calibri"/>
              </a:rPr>
              <a:t>Please select all that apply.</a:t>
            </a:r>
            <a:endParaRPr lang="en-US"/>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000" b="1" u="sng">
                <a:latin typeface="Calibri"/>
                <a:ea typeface="Calibri"/>
                <a:cs typeface="Calibri"/>
                <a:sym typeface="Calibri"/>
              </a:rPr>
              <a:t> 30 days</a:t>
            </a:r>
            <a:endParaRPr lang="en-US" b="1" i="1"/>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19</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6507130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lvl="0" indent="0" algn="l" rtl="0">
              <a:spcBef>
                <a:spcPts val="1000"/>
              </a:spcBef>
              <a:spcAft>
                <a:spcPts val="0"/>
              </a:spcAft>
              <a:buClr>
                <a:schemeClr val="dk1"/>
              </a:buClr>
              <a:buSzPts val="1000"/>
              <a:buNone/>
            </a:pPr>
            <a:r>
              <a:rPr lang="en-US" sz="10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000" b="1" u="sng">
                <a:latin typeface="Calibri"/>
                <a:ea typeface="Calibri"/>
                <a:cs typeface="Calibri"/>
                <a:sym typeface="Calibri"/>
              </a:rPr>
              <a:t>last 30 days</a:t>
            </a:r>
            <a:r>
              <a:rPr lang="en-US" sz="1000" b="1">
                <a:latin typeface="Calibri"/>
                <a:ea typeface="Calibri"/>
                <a:cs typeface="Calibri"/>
                <a:sym typeface="Calibri"/>
              </a:rPr>
              <a:t> </a:t>
            </a:r>
            <a:r>
              <a:rPr lang="en-US" sz="1000">
                <a:latin typeface="Calibri"/>
                <a:ea typeface="Calibri"/>
                <a:cs typeface="Calibri"/>
                <a:sym typeface="Calibri"/>
              </a:rPr>
              <a:t>for each of the companies?</a:t>
            </a:r>
            <a:r>
              <a:rPr lang="en-US" sz="1000" b="1">
                <a:latin typeface="Calibri"/>
                <a:ea typeface="Calibri"/>
                <a:cs typeface="Calibri"/>
                <a:sym typeface="Calibri"/>
              </a:rPr>
              <a:t> </a:t>
            </a:r>
            <a:r>
              <a:rPr lang="en-US" sz="1000">
                <a:latin typeface="Calibri"/>
                <a:ea typeface="Calibri"/>
                <a:cs typeface="Calibri"/>
                <a:sym typeface="Calibri"/>
              </a:rPr>
              <a:t>Please select all that apply.</a:t>
            </a:r>
            <a:endParaRPr lang="en-US"/>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000" b="1" u="sng">
                <a:latin typeface="Calibri"/>
                <a:ea typeface="Calibri"/>
                <a:cs typeface="Calibri"/>
                <a:sym typeface="Calibri"/>
              </a:rPr>
              <a:t> 30 days</a:t>
            </a:r>
            <a:endParaRPr lang="en-US" b="1" i="1"/>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20</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63793049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p15: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177800" lvl="0" indent="-114300" algn="l" rtl="0">
              <a:spcBef>
                <a:spcPts val="1000"/>
              </a:spcBef>
              <a:spcAft>
                <a:spcPts val="0"/>
              </a:spcAft>
              <a:buClr>
                <a:schemeClr val="dk1"/>
              </a:buClr>
              <a:buSzPts val="1000"/>
              <a:buNone/>
            </a:pPr>
            <a:endParaRPr lang="en-US" sz="1800" b="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Non-personal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Drug Samples, Print/Digital Aids, Emails from manufacturer, In-Person/Virtual Conventions, Websites, Social media posts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Consumer Tactics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In-office advertising to patients, TV ads</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800" b="1" u="sng">
                <a:latin typeface="Calibri"/>
                <a:ea typeface="Calibri"/>
                <a:cs typeface="Calibri"/>
                <a:sym typeface="Calibri"/>
              </a:rPr>
              <a:t>last 30 days</a:t>
            </a:r>
            <a:r>
              <a:rPr lang="en-US" sz="1800" b="1">
                <a:latin typeface="Calibri"/>
                <a:ea typeface="Calibri"/>
                <a:cs typeface="Calibri"/>
                <a:sym typeface="Calibri"/>
              </a:rPr>
              <a:t> </a:t>
            </a:r>
            <a:r>
              <a:rPr lang="en-US" sz="1800">
                <a:latin typeface="Calibri"/>
                <a:ea typeface="Calibri"/>
                <a:cs typeface="Calibri"/>
                <a:sym typeface="Calibri"/>
              </a:rPr>
              <a:t>for each of the companies?</a:t>
            </a:r>
            <a:r>
              <a:rPr lang="en-US" sz="1800" b="1">
                <a:latin typeface="Calibri"/>
                <a:ea typeface="Calibri"/>
                <a:cs typeface="Calibri"/>
                <a:sym typeface="Calibri"/>
              </a:rPr>
              <a:t> </a:t>
            </a:r>
            <a:r>
              <a:rPr lang="en-US" sz="1800">
                <a:latin typeface="Calibri"/>
                <a:ea typeface="Calibri"/>
                <a:cs typeface="Calibri"/>
                <a:sym typeface="Calibri"/>
              </a:rPr>
              <a:t>Please select all that apply.</a:t>
            </a:r>
            <a:endParaRPr lang="en-US" sz="1800"/>
          </a:p>
          <a:p>
            <a:pPr marL="0" lvl="0" indent="0" algn="l" rtl="0">
              <a:spcBef>
                <a:spcPts val="1800"/>
              </a:spcBef>
              <a:spcAft>
                <a:spcPts val="0"/>
              </a:spcAft>
              <a:buClr>
                <a:schemeClr val="dk1"/>
              </a:buClr>
              <a:buSzPts val="1800"/>
              <a:buNone/>
            </a:pPr>
            <a:endParaRPr lang="en-US" sz="1800" b="1" i="1">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endParaRPr lang="en-US" sz="1800" b="1" i="1"/>
          </a:p>
        </p:txBody>
      </p:sp>
      <p:sp>
        <p:nvSpPr>
          <p:cNvPr id="567" name="Google Shape;567;p15: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21</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65112881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p15: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800" b="1" u="sng">
                <a:latin typeface="Calibri"/>
                <a:ea typeface="Calibri"/>
                <a:cs typeface="Calibri"/>
                <a:sym typeface="Calibri"/>
              </a:rPr>
              <a:t>last 30 days</a:t>
            </a:r>
            <a:r>
              <a:rPr lang="en-US" sz="1800" b="1">
                <a:latin typeface="Calibri"/>
                <a:ea typeface="Calibri"/>
                <a:cs typeface="Calibri"/>
                <a:sym typeface="Calibri"/>
              </a:rPr>
              <a:t> </a:t>
            </a:r>
            <a:r>
              <a:rPr lang="en-US" sz="1800">
                <a:latin typeface="Calibri"/>
                <a:ea typeface="Calibri"/>
                <a:cs typeface="Calibri"/>
                <a:sym typeface="Calibri"/>
              </a:rPr>
              <a:t>for each of the companies?</a:t>
            </a:r>
            <a:r>
              <a:rPr lang="en-US" sz="1800" b="1">
                <a:latin typeface="Calibri"/>
                <a:ea typeface="Calibri"/>
                <a:cs typeface="Calibri"/>
                <a:sym typeface="Calibri"/>
              </a:rPr>
              <a:t> </a:t>
            </a:r>
            <a:r>
              <a:rPr lang="en-US" sz="1800">
                <a:latin typeface="Calibri"/>
                <a:ea typeface="Calibri"/>
                <a:cs typeface="Calibri"/>
                <a:sym typeface="Calibri"/>
              </a:rPr>
              <a:t>Please select all that apply.</a:t>
            </a:r>
            <a:endParaRPr lang="en-US" sz="1800"/>
          </a:p>
          <a:p>
            <a:pPr marL="0" lvl="0" indent="0" algn="l" rtl="0">
              <a:spcBef>
                <a:spcPts val="1800"/>
              </a:spcBef>
              <a:spcAft>
                <a:spcPts val="0"/>
              </a:spcAft>
              <a:buClr>
                <a:schemeClr val="dk1"/>
              </a:buClr>
              <a:buSzPts val="1800"/>
              <a:buNone/>
            </a:pPr>
            <a:endParaRPr lang="en-US" sz="1800" b="1" i="1">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endParaRPr lang="en-US" sz="1800" b="1" i="1"/>
          </a:p>
        </p:txBody>
      </p:sp>
      <p:sp>
        <p:nvSpPr>
          <p:cNvPr id="567" name="Google Shape;567;p15: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22</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1135699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p15: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566" name="Google Shape;566;p15: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77800" marR="0" lvl="0" indent="-114300" algn="l" defTabSz="914400" rtl="0" eaLnBrk="1" fontAlgn="auto" latinLnBrk="0" hangingPunct="1">
              <a:lnSpc>
                <a:spcPct val="100000"/>
              </a:lnSpc>
              <a:spcBef>
                <a:spcPts val="0"/>
              </a:spcBef>
              <a:spcAft>
                <a:spcPts val="0"/>
              </a:spcAft>
              <a:buClr>
                <a:schemeClr val="dk1"/>
              </a:buClr>
              <a:buSzPts val="1000"/>
              <a:buFont typeface="Arimo"/>
              <a:buNone/>
              <a:tabLst/>
              <a:defRPr/>
            </a:pPr>
            <a:r>
              <a:rPr kumimoji="0" lang="en-US" sz="1800" b="1" i="1" u="none" strike="noStrike" kern="0" cap="none" spc="0" normalizeH="0" baseline="0" noProof="0">
                <a:ln>
                  <a:noFill/>
                </a:ln>
                <a:solidFill>
                  <a:srgbClr val="071D49"/>
                </a:solidFill>
                <a:effectLst/>
                <a:uLnTx/>
                <a:uFillTx/>
                <a:latin typeface="Calibri (Body)"/>
                <a:ea typeface="Calibri"/>
                <a:cs typeface="Calibri" panose="020F0502020204030204" pitchFamily="34" charset="0"/>
                <a:sym typeface="Calibri"/>
              </a:rPr>
              <a:t>Channels mapping has been modified in Nov ‘20 to align with HCV Study</a:t>
            </a: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0"/>
              </a:spcBef>
              <a:spcAft>
                <a:spcPts val="0"/>
              </a:spcAft>
              <a:buClr>
                <a:schemeClr val="dk1"/>
              </a:buClr>
              <a:buSzPts val="1000"/>
              <a:buNone/>
            </a:pPr>
            <a:r>
              <a:rPr lang="en-US" sz="1800" b="1" u="sng">
                <a:latin typeface="Calibri"/>
                <a:ea typeface="Calibri"/>
                <a:cs typeface="Calibri"/>
                <a:sym typeface="Calibri"/>
              </a:rPr>
              <a:t>Channel Grouping</a:t>
            </a:r>
            <a:r>
              <a:rPr lang="en-US" sz="1800" b="1">
                <a:latin typeface="Calibri"/>
                <a:ea typeface="Calibri"/>
                <a:cs typeface="Calibri"/>
                <a:sym typeface="Calibri"/>
              </a:rPr>
              <a:t>:</a:t>
            </a:r>
            <a:endParaRPr lang="en-US" sz="1800"/>
          </a:p>
          <a:p>
            <a:pPr marL="177800" lvl="0" indent="-114300" algn="l" rtl="0">
              <a:spcBef>
                <a:spcPts val="1000"/>
              </a:spcBef>
              <a:spcAft>
                <a:spcPts val="0"/>
              </a:spcAft>
              <a:buClr>
                <a:schemeClr val="dk1"/>
              </a:buClr>
              <a:buSzPts val="1000"/>
              <a:buNone/>
            </a:pPr>
            <a:endParaRPr lang="en-US" sz="18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Overall</a:t>
            </a:r>
            <a:r>
              <a:rPr lang="en-US" sz="1800" b="0" u="sng">
                <a:latin typeface="Calibri"/>
                <a:ea typeface="Calibri"/>
                <a:cs typeface="Calibri"/>
                <a:sym typeface="Calibri"/>
              </a:rPr>
              <a:t> </a:t>
            </a:r>
            <a:r>
              <a:rPr lang="en-US" sz="1800" b="0">
                <a:latin typeface="Calibri"/>
                <a:ea typeface="Calibri"/>
                <a:cs typeface="Calibri"/>
                <a:sym typeface="Calibri"/>
              </a:rPr>
              <a:t> </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Personal and Non-Personal Promotions</a:t>
            </a:r>
            <a:endParaRPr lang="en-US" sz="1800"/>
          </a:p>
          <a:p>
            <a:pPr marL="177800" lvl="0" indent="-114300" algn="l" rtl="0">
              <a:spcBef>
                <a:spcPts val="1000"/>
              </a:spcBef>
              <a:spcAft>
                <a:spcPts val="0"/>
              </a:spcAft>
              <a:buClr>
                <a:schemeClr val="dk1"/>
              </a:buClr>
              <a:buSzPts val="1000"/>
              <a:buNone/>
            </a:pPr>
            <a:endParaRPr lang="en-US" sz="18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800" b="1" u="sng">
                <a:latin typeface="Calibri"/>
                <a:ea typeface="Calibri"/>
                <a:cs typeface="Calibri"/>
                <a:sym typeface="Calibri"/>
              </a:rPr>
              <a:t>Personal promotions</a:t>
            </a:r>
            <a:endParaRPr lang="en-US" sz="1800"/>
          </a:p>
          <a:p>
            <a:pPr marL="177800" lvl="0" indent="-114300" algn="l" rtl="0">
              <a:spcBef>
                <a:spcPts val="1000"/>
              </a:spcBef>
              <a:spcAft>
                <a:spcPts val="0"/>
              </a:spcAft>
              <a:buClr>
                <a:schemeClr val="dk1"/>
              </a:buClr>
              <a:buSzPts val="1000"/>
              <a:buNone/>
            </a:pPr>
            <a:r>
              <a:rPr lang="en-US" sz="1800" b="0">
                <a:latin typeface="Calibri"/>
                <a:ea typeface="Calibri"/>
                <a:cs typeface="Calibri"/>
                <a:sym typeface="Calibri"/>
              </a:rPr>
              <a:t>In-Person/Video/Phone call rep detail, In-Person/Virtual lunch and learn, In-Person/Virtual Speaker Program, Live dinner, Email/Text from rep</a:t>
            </a:r>
            <a:endParaRPr lang="en-US" sz="1800"/>
          </a:p>
          <a:p>
            <a:pPr marL="0" lvl="0" indent="0" algn="l" rtl="0">
              <a:spcBef>
                <a:spcPts val="1800"/>
              </a:spcBef>
              <a:spcAft>
                <a:spcPts val="0"/>
              </a:spcAft>
              <a:buClr>
                <a:schemeClr val="dk1"/>
              </a:buClr>
              <a:buSzPts val="1800"/>
              <a:buNone/>
            </a:pPr>
            <a:endParaRPr lang="en-US" sz="1800">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S0.40 Consider the following companies and products related to exocrine pancreatic insufficiency (EPI). Through which channels have you been exposed to product and/or exocrine pancreatic insufficiency (EPI) information in the </a:t>
            </a:r>
            <a:r>
              <a:rPr lang="en-US" sz="1800" b="1" u="sng">
                <a:latin typeface="Calibri"/>
                <a:ea typeface="Calibri"/>
                <a:cs typeface="Calibri"/>
                <a:sym typeface="Calibri"/>
              </a:rPr>
              <a:t>last 30 days</a:t>
            </a:r>
            <a:r>
              <a:rPr lang="en-US" sz="1800" b="1">
                <a:latin typeface="Calibri"/>
                <a:ea typeface="Calibri"/>
                <a:cs typeface="Calibri"/>
                <a:sym typeface="Calibri"/>
              </a:rPr>
              <a:t> </a:t>
            </a:r>
            <a:r>
              <a:rPr lang="en-US" sz="1800">
                <a:latin typeface="Calibri"/>
                <a:ea typeface="Calibri"/>
                <a:cs typeface="Calibri"/>
                <a:sym typeface="Calibri"/>
              </a:rPr>
              <a:t>for each of the companies?</a:t>
            </a:r>
            <a:r>
              <a:rPr lang="en-US" sz="1800" b="1">
                <a:latin typeface="Calibri"/>
                <a:ea typeface="Calibri"/>
                <a:cs typeface="Calibri"/>
                <a:sym typeface="Calibri"/>
              </a:rPr>
              <a:t> </a:t>
            </a:r>
            <a:r>
              <a:rPr lang="en-US" sz="1800">
                <a:latin typeface="Calibri"/>
                <a:ea typeface="Calibri"/>
                <a:cs typeface="Calibri"/>
                <a:sym typeface="Calibri"/>
              </a:rPr>
              <a:t>Please select all that apply.</a:t>
            </a:r>
            <a:endParaRPr lang="en-US" sz="1800"/>
          </a:p>
          <a:p>
            <a:pPr marL="0" lvl="0" indent="0" algn="l" rtl="0">
              <a:spcBef>
                <a:spcPts val="1800"/>
              </a:spcBef>
              <a:spcAft>
                <a:spcPts val="0"/>
              </a:spcAft>
              <a:buClr>
                <a:schemeClr val="dk1"/>
              </a:buClr>
              <a:buSzPts val="1800"/>
              <a:buNone/>
            </a:pPr>
            <a:endParaRPr lang="en-US" sz="1800" b="1" i="1">
              <a:latin typeface="Calibri"/>
              <a:ea typeface="Calibri"/>
              <a:cs typeface="Calibri"/>
              <a:sym typeface="Calibri"/>
            </a:endParaRPr>
          </a:p>
          <a:p>
            <a:pPr marL="0" lvl="0" indent="0" algn="l" rtl="0">
              <a:spcBef>
                <a:spcPts val="1800"/>
              </a:spcBef>
              <a:spcAft>
                <a:spcPts val="0"/>
              </a:spcAft>
              <a:buClr>
                <a:schemeClr val="dk1"/>
              </a:buClr>
              <a:buSzPts val="1800"/>
              <a:buNone/>
            </a:pPr>
            <a:r>
              <a:rPr lang="en-US" sz="1800">
                <a:latin typeface="Calibri"/>
                <a:ea typeface="Calibri"/>
                <a:cs typeface="Calibri"/>
                <a:sym typeface="Calibri"/>
              </a:rPr>
              <a:t>S0.50 How many times have you been exposed to product and/or exocrine pancreatic insufficiency (EPI) information via the following channels from each of the companies in the last</a:t>
            </a:r>
            <a:r>
              <a:rPr lang="en-US" sz="1800" b="1" u="sng">
                <a:latin typeface="Calibri"/>
                <a:ea typeface="Calibri"/>
                <a:cs typeface="Calibri"/>
                <a:sym typeface="Calibri"/>
              </a:rPr>
              <a:t> 30 days?</a:t>
            </a:r>
            <a:endParaRPr lang="en-US" sz="1800" b="1" i="1"/>
          </a:p>
        </p:txBody>
      </p:sp>
      <p:sp>
        <p:nvSpPr>
          <p:cNvPr id="567" name="Google Shape;567;p15: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23</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3064672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a:extLst>
            <a:ext uri="{FF2B5EF4-FFF2-40B4-BE49-F238E27FC236}">
              <a16:creationId xmlns:a16="http://schemas.microsoft.com/office/drawing/2014/main" id="{1FB516C0-1381-6FC2-BB13-1FC94545A8C3}"/>
            </a:ext>
          </a:extLst>
        </p:cNvPr>
        <p:cNvGrpSpPr/>
        <p:nvPr/>
      </p:nvGrpSpPr>
      <p:grpSpPr>
        <a:xfrm>
          <a:off x="0" y="0"/>
          <a:ext cx="0" cy="0"/>
          <a:chOff x="0" y="0"/>
          <a:chExt cx="0" cy="0"/>
        </a:xfrm>
      </p:grpSpPr>
      <p:sp>
        <p:nvSpPr>
          <p:cNvPr id="338" name="Google Shape;338;p10:notes">
            <a:extLst>
              <a:ext uri="{FF2B5EF4-FFF2-40B4-BE49-F238E27FC236}">
                <a16:creationId xmlns:a16="http://schemas.microsoft.com/office/drawing/2014/main" id="{DE2E357B-0B9E-C3B3-F5F4-2B81C2CAF687}"/>
              </a:ext>
            </a:extLst>
          </p:cNvPr>
          <p:cNvSpPr txBox="1">
            <a:spLocks noGrp="1"/>
          </p:cNvSpPr>
          <p:nvPr>
            <p:ph type="body" idx="1"/>
          </p:nvPr>
        </p:nvSpPr>
        <p:spPr>
          <a:xfrm>
            <a:off x="611587" y="4417634"/>
            <a:ext cx="5737026" cy="4586716"/>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3200">
                <a:solidFill>
                  <a:schemeClr val="bg1"/>
                </a:solidFill>
              </a:rPr>
              <a:t>Message effectiveness was not fielded in Nov’21 –  Dec’21 and fielded again in Jan'22 – Feb’22.</a:t>
            </a:r>
            <a:endParaRPr lang="en-US" sz="1800" b="0" i="1" baseline="30000">
              <a:solidFill>
                <a:schemeClr val="lt1"/>
              </a:solidFill>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0" i="1" baseline="30000">
              <a:solidFill>
                <a:schemeClr val="lt1"/>
              </a:solidFill>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br>
              <a:rPr lang="en-US" sz="1800" b="1">
                <a:solidFill>
                  <a:srgbClr val="262626"/>
                </a:solidFill>
                <a:latin typeface="Calibri"/>
                <a:ea typeface="Calibri"/>
                <a:cs typeface="Calibri"/>
                <a:sym typeface="Calibri"/>
              </a:rPr>
            </a:br>
            <a:r>
              <a:rPr lang="en-US" sz="1800" b="1">
                <a:solidFill>
                  <a:srgbClr val="262626"/>
                </a:solidFill>
                <a:latin typeface="Calibri"/>
                <a:ea typeface="Calibri"/>
                <a:cs typeface="Calibri"/>
                <a:sym typeface="Calibri"/>
              </a:rPr>
              <a:t>CREON Messages (W5)</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a:t>
            </a:r>
            <a:r>
              <a:rPr lang="en-US" sz="4000" b="0" i="0" u="none" strike="noStrike">
                <a:solidFill>
                  <a:schemeClr val="dk1"/>
                </a:solidFill>
                <a:effectLst/>
                <a:latin typeface="Arial"/>
              </a:rPr>
              <a:t> </a:t>
            </a:r>
            <a:r>
              <a:rPr lang="en-US" sz="1800" b="0" i="0" u="none" strike="noStrike">
                <a:solidFill>
                  <a:srgbClr val="000000"/>
                </a:solidFill>
                <a:effectLst/>
                <a:latin typeface="Calibri" panose="020F0502020204030204" pitchFamily="34" charset="0"/>
              </a:rPr>
              <a:t>95% of commercial and Medicare-D insured patients have unrestricted access to CREON without prior authorization</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C3</a:t>
            </a:r>
            <a:r>
              <a:rPr lang="en-US" sz="1800" b="0" i="0" u="none" strike="noStrike">
                <a:solidFill>
                  <a:srgbClr val="000000"/>
                </a:solidFill>
                <a:effectLst/>
                <a:latin typeface="Calibri" panose="020F0502020204030204" pitchFamily="34" charset="0"/>
              </a:rPr>
              <a:t> Underlying conditions and surgical procedures that can cause EPI include: Cystic Fibrosis, Chronic Pancreatitis, Pancreatic Cancer, Pancreatectomy, Type 1 diabetes, Gastric reaction/bypass, Acute pancreatitis, Crohn’s disease, Celiac Disease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C4</a:t>
            </a:r>
            <a:r>
              <a:rPr lang="en-US" sz="4000" b="0" i="0" u="none" strike="noStrike">
                <a:solidFill>
                  <a:schemeClr val="dk1"/>
                </a:solidFill>
                <a:effectLst/>
                <a:latin typeface="Arial"/>
              </a:rPr>
              <a:t> </a:t>
            </a:r>
            <a:r>
              <a:rPr lang="en-US" sz="1800" b="0" i="0" u="none" strike="noStrike">
                <a:solidFill>
                  <a:srgbClr val="000000"/>
                </a:solidFill>
                <a:effectLst/>
                <a:latin typeface="Calibri" panose="020F0502020204030204" pitchFamily="34" charset="0"/>
              </a:rPr>
              <a:t>EPI is largely a clinical diagnosis. Consider EPI in your differential diagnosis if you’re seeing symptoms such as frequent gas and/or bloating, unexplained abdominal pain, and frequent diarrhea</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C7</a:t>
            </a:r>
            <a:r>
              <a:rPr lang="en-US" sz="1800" b="0" i="0" u="none" strike="noStrike">
                <a:solidFill>
                  <a:srgbClr val="000000"/>
                </a:solidFill>
                <a:effectLst/>
                <a:latin typeface="Calibri" panose="020F0502020204030204" pitchFamily="34" charset="0"/>
              </a:rPr>
              <a:t> CREON 36K capsules can be an appropriate strength for many adult EPI patients weighing at least 110 lbs. CREON 36K may help reduce pill burden for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C8</a:t>
            </a:r>
            <a:r>
              <a:rPr lang="en-US" sz="1800" b="0" i="0" u="none" strike="noStrike">
                <a:solidFill>
                  <a:srgbClr val="000000"/>
                </a:solidFill>
                <a:effectLst/>
                <a:latin typeface="Calibri" panose="020F0502020204030204" pitchFamily="34" charset="0"/>
              </a:rPr>
              <a:t> CREON enteric coated capsules allows the spheres to travel beyond the low pH of the stomach to release in the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C10</a:t>
            </a:r>
            <a:r>
              <a:rPr lang="en-US"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C11</a:t>
            </a:r>
            <a:r>
              <a:rPr lang="en-US" sz="1800" b="0" i="0" u="none" strike="noStrike">
                <a:solidFill>
                  <a:srgbClr val="000000"/>
                </a:solidFill>
                <a:effectLst/>
                <a:latin typeface="Calibri" panose="020F0502020204030204" pitchFamily="34" charset="0"/>
              </a:rPr>
              <a:t> CREON makes it easy and convenient for patients with EPI to get financial, multivitamin, and educational support. With CREON on Course, eligible patients may pay as little as $5 a month.</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C14</a:t>
            </a:r>
            <a:r>
              <a:rPr lang="en-US" sz="1800" b="0" i="0" u="none" strike="noStrike">
                <a:solidFill>
                  <a:srgbClr val="000000"/>
                </a:solidFill>
                <a:effectLst/>
                <a:latin typeface="Calibri" panose="020F0502020204030204" pitchFamily="34" charset="0"/>
              </a:rPr>
              <a:t> 94% of commercial and Medicare-D insured patients have preferred access to CREON with the lowest branded copay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C15</a:t>
            </a:r>
            <a:r>
              <a:rPr lang="en-US" sz="1800" b="0" i="0" u="none" strike="noStrike">
                <a:solidFill>
                  <a:srgbClr val="000000"/>
                </a:solidFill>
                <a:effectLst/>
                <a:latin typeface="Calibri" panose="020F0502020204030204" pitchFamily="34" charset="0"/>
              </a:rPr>
              <a:t> There are no head-to-head superiority trials between CREON and any other PERT. CREON is not interchangeable with any </a:t>
            </a:r>
            <a:r>
              <a:rPr lang="en-US" sz="1800" b="0" i="0" u="none" strike="noStrike" err="1">
                <a:solidFill>
                  <a:srgbClr val="000000"/>
                </a:solidFill>
                <a:effectLst/>
                <a:latin typeface="Calibri" panose="020F0502020204030204" pitchFamily="34" charset="0"/>
              </a:rPr>
              <a:t>pancrelipase</a:t>
            </a:r>
            <a:r>
              <a:rPr lang="en-US" sz="1800" b="0" i="0" u="none" strike="noStrike">
                <a:solidFill>
                  <a:srgbClr val="000000"/>
                </a:solidFill>
                <a:effectLst/>
                <a:latin typeface="Calibri" panose="020F0502020204030204" pitchFamily="34" charset="0"/>
              </a:rPr>
              <a:t> product.</a:t>
            </a:r>
            <a:endParaRPr lang="en-US" sz="4000" b="0">
              <a:effectLst/>
            </a:endParaRPr>
          </a:p>
          <a:p>
            <a:pPr marL="622300" lvl="1" indent="0" algn="l" rtl="0" fontAlgn="t">
              <a:spcBef>
                <a:spcPts val="0"/>
              </a:spcBef>
              <a:spcAft>
                <a:spcPts val="0"/>
              </a:spcAft>
              <a:buNone/>
            </a:pPr>
            <a:r>
              <a:rPr lang="en-US" sz="4000" b="1" i="0" u="none" strike="noStrike">
                <a:solidFill>
                  <a:srgbClr val="000000"/>
                </a:solidFill>
                <a:effectLst/>
                <a:latin typeface="Calibri" panose="020F0502020204030204" pitchFamily="34" charset="0"/>
              </a:rPr>
              <a:t>C16</a:t>
            </a:r>
            <a:r>
              <a:rPr lang="en-US" sz="4000" b="0" i="0" u="none" strike="noStrike">
                <a:solidFill>
                  <a:srgbClr val="000000"/>
                </a:solidFill>
                <a:effectLst/>
                <a:latin typeface="Calibri" panose="020F0502020204030204" pitchFamily="34" charset="0"/>
              </a:rPr>
              <a:t> CREON is the only FDA-approved PERT for patients with EPI due to cystic fibrosis, chronic pancreatitis, pancreatectomy, and other conditions. Based on the FDA-approved label, it has been studied in more etiologies than any other PERT.</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a:t>
            </a:r>
            <a:r>
              <a:rPr lang="en-US"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CR3</a:t>
            </a:r>
            <a:r>
              <a:rPr lang="en-US"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CR4</a:t>
            </a:r>
            <a:r>
              <a:rPr lang="en-US"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CR7</a:t>
            </a:r>
            <a:r>
              <a:rPr lang="en-US"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CR10</a:t>
            </a:r>
            <a:r>
              <a:rPr lang="en-US"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CR11</a:t>
            </a:r>
            <a:r>
              <a:rPr lang="en-US"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CR14</a:t>
            </a:r>
            <a:r>
              <a:rPr lang="en-US"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CR15</a:t>
            </a:r>
            <a:r>
              <a:rPr lang="en-US"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CR19</a:t>
            </a:r>
            <a:r>
              <a:rPr lang="en-US"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CR17</a:t>
            </a:r>
            <a:r>
              <a:rPr lang="en-US"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CR18</a:t>
            </a:r>
            <a:r>
              <a:rPr lang="en-US"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p>
          <a:p>
            <a:pPr marL="622300" lvl="1" indent="0" algn="l" rtl="0" fontAlgn="t">
              <a:spcBef>
                <a:spcPts val="0"/>
              </a:spcBef>
              <a:spcAft>
                <a:spcPts val="0"/>
              </a:spcAft>
              <a:buNone/>
            </a:pPr>
            <a:r>
              <a:rPr lang="en-US" sz="4000" b="0" i="0" u="none" strike="noStrike">
                <a:solidFill>
                  <a:srgbClr val="000000"/>
                </a:solidFill>
                <a:effectLst/>
                <a:latin typeface="Calibri" panose="020F0502020204030204" pitchFamily="34" charset="0"/>
              </a:rPr>
              <a:t>other PERT.</a:t>
            </a:r>
            <a:endParaRPr lang="en-US" sz="4000" b="0">
              <a:effectLst/>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lang="en-US"/>
          </a:p>
        </p:txBody>
      </p:sp>
      <p:sp>
        <p:nvSpPr>
          <p:cNvPr id="339" name="Google Shape;339;p10:notes">
            <a:extLst>
              <a:ext uri="{FF2B5EF4-FFF2-40B4-BE49-F238E27FC236}">
                <a16:creationId xmlns:a16="http://schemas.microsoft.com/office/drawing/2014/main" id="{BA8B8EC0-CA9B-5B4F-3C02-22AEEA0487FA}"/>
              </a:ext>
            </a:extLst>
          </p:cNvPr>
          <p:cNvSpPr>
            <a:spLocks noGrp="1" noRot="1" noChangeAspect="1"/>
          </p:cNvSpPr>
          <p:nvPr>
            <p:ph type="sldImg" idx="2"/>
          </p:nvPr>
        </p:nvSpPr>
        <p:spPr>
          <a:xfrm>
            <a:off x="838200" y="214313"/>
            <a:ext cx="5284788" cy="39624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376329791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a:extLst>
            <a:ext uri="{FF2B5EF4-FFF2-40B4-BE49-F238E27FC236}">
              <a16:creationId xmlns:a16="http://schemas.microsoft.com/office/drawing/2014/main" id="{1FB516C0-1381-6FC2-BB13-1FC94545A8C3}"/>
            </a:ext>
          </a:extLst>
        </p:cNvPr>
        <p:cNvGrpSpPr/>
        <p:nvPr/>
      </p:nvGrpSpPr>
      <p:grpSpPr>
        <a:xfrm>
          <a:off x="0" y="0"/>
          <a:ext cx="0" cy="0"/>
          <a:chOff x="0" y="0"/>
          <a:chExt cx="0" cy="0"/>
        </a:xfrm>
      </p:grpSpPr>
      <p:sp>
        <p:nvSpPr>
          <p:cNvPr id="338" name="Google Shape;338;p10:notes">
            <a:extLst>
              <a:ext uri="{FF2B5EF4-FFF2-40B4-BE49-F238E27FC236}">
                <a16:creationId xmlns:a16="http://schemas.microsoft.com/office/drawing/2014/main" id="{DE2E357B-0B9E-C3B3-F5F4-2B81C2CAF687}"/>
              </a:ext>
            </a:extLst>
          </p:cNvPr>
          <p:cNvSpPr txBox="1">
            <a:spLocks noGrp="1"/>
          </p:cNvSpPr>
          <p:nvPr>
            <p:ph type="body" idx="1"/>
          </p:nvPr>
        </p:nvSpPr>
        <p:spPr>
          <a:xfrm>
            <a:off x="611587" y="4417634"/>
            <a:ext cx="5737026" cy="4586716"/>
          </a:xfrm>
          <a:prstGeom prst="rect">
            <a:avLst/>
          </a:prstGeom>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Z17</a:t>
            </a:r>
            <a:r>
              <a:rPr lang="en-GB" sz="1800">
                <a:effectLst/>
              </a:rPr>
              <a:t> </a:t>
            </a:r>
            <a:r>
              <a:rPr lang="en-GB" sz="10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Z16</a:t>
            </a:r>
            <a:r>
              <a:rPr lang="en-GB" sz="1800">
                <a:effectLst/>
              </a:rPr>
              <a:t> </a:t>
            </a:r>
            <a:r>
              <a:rPr lang="en-GB" sz="1000" b="0" i="0" u="none" strike="noStrike" cap="none">
                <a:solidFill>
                  <a:schemeClr val="dk1"/>
                </a:solidFill>
                <a:effectLst/>
                <a:latin typeface="Arial"/>
                <a:ea typeface="Arial"/>
                <a:cs typeface="Arial"/>
                <a:sym typeface="Arial"/>
              </a:rPr>
              <a:t>ZENPEP offers a single-capsule starting dose for almost all adult patients</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Z11</a:t>
            </a:r>
            <a:r>
              <a:rPr lang="en-GB" sz="1800">
                <a:effectLst/>
              </a:rPr>
              <a:t> </a:t>
            </a:r>
            <a:r>
              <a:rPr lang="en-GB" sz="10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Z15</a:t>
            </a:r>
            <a:r>
              <a:rPr lang="en-GB" sz="1800">
                <a:effectLst/>
              </a:rPr>
              <a:t> </a:t>
            </a:r>
            <a:r>
              <a:rPr lang="en-GB" sz="10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Z7</a:t>
            </a:r>
            <a:r>
              <a:rPr lang="en-GB" sz="1800">
                <a:effectLst/>
              </a:rPr>
              <a:t> </a:t>
            </a:r>
            <a:r>
              <a:rPr lang="en-GB" sz="10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Z19</a:t>
            </a:r>
            <a:r>
              <a:rPr lang="en-GB" sz="1800">
                <a:effectLst/>
              </a:rPr>
              <a:t> </a:t>
            </a:r>
            <a:r>
              <a:rPr lang="en-GB" sz="1000" b="0" i="0" u="none" strike="noStrike" cap="none">
                <a:solidFill>
                  <a:schemeClr val="dk1"/>
                </a:solidFill>
                <a:effectLst/>
                <a:latin typeface="Arial"/>
                <a:ea typeface="Arial"/>
                <a:cs typeface="Arial"/>
                <a:sym typeface="Arial"/>
              </a:rPr>
              <a:t>Meets the ACG guideline for EPI and CP in a single capsule</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Z21</a:t>
            </a:r>
            <a:r>
              <a:rPr lang="en-GB" sz="1800">
                <a:effectLst/>
              </a:rPr>
              <a:t> </a:t>
            </a:r>
            <a:r>
              <a:rPr lang="en-GB" sz="10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Z23</a:t>
            </a:r>
            <a:r>
              <a:rPr lang="en-GB" sz="1800">
                <a:effectLst/>
              </a:rPr>
              <a:t> </a:t>
            </a:r>
            <a:r>
              <a:rPr lang="en-GB" sz="1000" b="0" i="0" u="none" strike="noStrike" cap="none">
                <a:solidFill>
                  <a:schemeClr val="dk1"/>
                </a:solidFill>
                <a:effectLst/>
                <a:latin typeface="Arial"/>
                <a:ea typeface="Arial"/>
                <a:cs typeface="Arial"/>
                <a:sym typeface="Arial"/>
              </a:rPr>
              <a:t>ZENPEP is the most widely covered treatment in its class.</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Z24</a:t>
            </a:r>
            <a:r>
              <a:rPr lang="en-GB" sz="1800">
                <a:effectLst/>
              </a:rPr>
              <a:t> </a:t>
            </a:r>
            <a:r>
              <a:rPr lang="en-GB" sz="1000" b="0" i="0" u="none" strike="noStrike" cap="none">
                <a:solidFill>
                  <a:schemeClr val="dk1"/>
                </a:solidFill>
                <a:effectLst/>
                <a:latin typeface="Arial"/>
                <a:ea typeface="Arial"/>
                <a:cs typeface="Arial"/>
                <a:sym typeface="Arial"/>
              </a:rPr>
              <a:t>ZENPEP is designed to mimic typical exocrine pancreatic function.</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Z18</a:t>
            </a:r>
            <a:r>
              <a:rPr lang="en-GB" sz="1800">
                <a:effectLst/>
              </a:rPr>
              <a:t> </a:t>
            </a:r>
            <a:r>
              <a:rPr lang="en-GB" sz="10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Z20</a:t>
            </a:r>
            <a:r>
              <a:rPr lang="en-GB" sz="1800">
                <a:effectLst/>
              </a:rPr>
              <a:t> </a:t>
            </a:r>
            <a:r>
              <a:rPr lang="en-GB" sz="1000" b="0" i="0" u="none" strike="noStrike" cap="none">
                <a:solidFill>
                  <a:schemeClr val="dk1"/>
                </a:solidFill>
                <a:effectLst/>
                <a:latin typeface="Arial"/>
                <a:ea typeface="Arial"/>
                <a:cs typeface="Arial"/>
                <a:sym typeface="Arial"/>
              </a:rPr>
              <a:t>91% of patients achieved a CFA of 80% or higher with ZENPEP</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Z22</a:t>
            </a:r>
            <a:r>
              <a:rPr lang="en-GB" sz="1800">
                <a:effectLst/>
              </a:rPr>
              <a:t> </a:t>
            </a:r>
            <a:r>
              <a:rPr lang="en-GB" sz="10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1800">
                <a:effectLst/>
              </a:rPr>
              <a:t> </a:t>
            </a:r>
          </a:p>
          <a:p>
            <a:pPr marL="0" lvl="0" indent="0" algn="l" rtl="0">
              <a:spcBef>
                <a:spcPts val="0"/>
              </a:spcBef>
              <a:spcAft>
                <a:spcPts val="0"/>
              </a:spcAft>
              <a:buClr>
                <a:srgbClr val="262626"/>
              </a:buClr>
              <a:buSzPts val="1800"/>
              <a:buNone/>
            </a:pPr>
            <a:r>
              <a:rPr lang="en-GB" sz="1000" b="1" i="0" u="none" strike="noStrike" cap="none">
                <a:solidFill>
                  <a:schemeClr val="dk1"/>
                </a:solidFill>
                <a:effectLst/>
                <a:latin typeface="Arial"/>
                <a:ea typeface="Arial"/>
                <a:cs typeface="Arial"/>
                <a:sym typeface="Arial"/>
              </a:rPr>
              <a:t>Z8</a:t>
            </a:r>
            <a:r>
              <a:rPr lang="en-GB" sz="1800">
                <a:effectLst/>
              </a:rPr>
              <a:t> </a:t>
            </a:r>
            <a:r>
              <a:rPr lang="en-GB" sz="10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18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(W5)</a:t>
            </a:r>
          </a:p>
          <a:p>
            <a:pPr marL="457200" lvl="1" indent="0" algn="l" rtl="0" fontAlgn="t">
              <a:spcBef>
                <a:spcPts val="0"/>
              </a:spcBef>
              <a:spcAft>
                <a:spcPts val="0"/>
              </a:spcAft>
              <a:buNone/>
            </a:pPr>
            <a:br>
              <a:rPr lang="en-US" sz="4000" b="0">
                <a:effectLst/>
              </a:rPr>
            </a:br>
            <a:r>
              <a:rPr lang="en-US" sz="1800" b="1" i="0" u="none" strike="noStrike">
                <a:solidFill>
                  <a:srgbClr val="000000"/>
                </a:solidFill>
                <a:effectLst/>
                <a:latin typeface="Calibri" panose="020F0502020204030204" pitchFamily="34" charset="0"/>
              </a:rPr>
              <a:t>Z1</a:t>
            </a:r>
            <a:r>
              <a:rPr lang="en-US" sz="1800" b="0" i="0" u="none" strike="noStrike">
                <a:solidFill>
                  <a:srgbClr val="000000"/>
                </a:solidFill>
                <a:effectLst/>
                <a:latin typeface="Calibri" panose="020F0502020204030204" pitchFamily="34" charset="0"/>
              </a:rPr>
              <a:t> ZENPEP combined insurance coverage through commercial and Medicare Part D is 96% for all dosage strengths, with unrestricted access. Coverage is the same for all dosage strengths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Z2</a:t>
            </a:r>
            <a:r>
              <a:rPr lang="en-US" sz="1800" b="0" i="0" u="none" strike="noStrike">
                <a:solidFill>
                  <a:srgbClr val="000000"/>
                </a:solidFill>
                <a:effectLst/>
                <a:latin typeface="Calibri" panose="020F0502020204030204" pitchFamily="34" charset="0"/>
              </a:rPr>
              <a:t> EPI is characterized by deficiencies in the amount or activity of exocrine pancreatic enzymes. This can result in the inability to digest food properly, or maldigestion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Z3</a:t>
            </a:r>
            <a:r>
              <a:rPr lang="en-US" sz="1800" b="0" i="0" u="none" strike="noStrike">
                <a:solidFill>
                  <a:srgbClr val="000000"/>
                </a:solidFill>
                <a:effectLst/>
                <a:latin typeface="Calibri" panose="020F0502020204030204" pitchFamily="34" charset="0"/>
              </a:rPr>
              <a:t> In addition to the treatment of causative factors, there are 2 key goals for managing EPI are improving digestion and absorption of nutrients and relieving GI signs and symptoms of EPI</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Z4</a:t>
            </a:r>
            <a:r>
              <a:rPr lang="en-US" sz="1800" b="0" i="0" u="none" strike="noStrike">
                <a:solidFill>
                  <a:srgbClr val="000000"/>
                </a:solidFill>
                <a:effectLst/>
                <a:latin typeface="Calibri" panose="020F0502020204030204" pitchFamily="34" charset="0"/>
              </a:rPr>
              <a:t> Managing EPI includes lifestyle and dietary modifications, vitamin and nutrient supplementation, and pancreatic enzyme therapy</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Z5</a:t>
            </a:r>
            <a:r>
              <a:rPr lang="en-US" sz="1800" b="0" i="0" u="none" strike="noStrike">
                <a:solidFill>
                  <a:srgbClr val="000000"/>
                </a:solidFill>
                <a:effectLst/>
                <a:latin typeface="Calibri" panose="020F0502020204030204" pitchFamily="34" charset="0"/>
              </a:rPr>
              <a:t> ZENPEP has the widest range of dosing options, including the highest strength available—40,000 lipase units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Z6</a:t>
            </a:r>
            <a:r>
              <a:rPr lang="en-US" sz="1800" b="0" i="0" u="none" strike="noStrike">
                <a:solidFill>
                  <a:srgbClr val="000000"/>
                </a:solidFill>
                <a:effectLst/>
                <a:latin typeface="Calibri" panose="020F0502020204030204" pitchFamily="34" charset="0"/>
              </a:rPr>
              <a:t> ZENPEP offers dosing flexibility that minimizes the number of capsules needed. The ZENPEP dose can be calculated in 3 easy steps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Z9</a:t>
            </a:r>
            <a:r>
              <a:rPr lang="en-US" sz="1800" b="0" i="0" u="none" strike="noStrike">
                <a:solidFill>
                  <a:srgbClr val="000000"/>
                </a:solidFill>
                <a:effectLst/>
                <a:latin typeface="Calibri" panose="020F0502020204030204" pitchFamily="34" charset="0"/>
              </a:rPr>
              <a:t> In a non-inferiority study, ZENPEP was shown to have comparable efficacy to CREON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Z11</a:t>
            </a:r>
            <a:r>
              <a:rPr lang="en-US" sz="1800" b="0" i="0" u="none" strike="noStrike">
                <a:solidFill>
                  <a:srgbClr val="000000"/>
                </a:solidFill>
                <a:effectLst/>
                <a:latin typeface="Calibri" panose="020F0502020204030204" pitchFamily="34" charset="0"/>
              </a:rPr>
              <a:t> Eligible patients may be able to start saving today with the ZENPEP Patient Savings Program, paying as little as $0 out of pocket</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Z13</a:t>
            </a:r>
            <a:r>
              <a:rPr lang="en-US" sz="1800" b="0" i="0" u="none" strike="noStrike">
                <a:solidFill>
                  <a:srgbClr val="000000"/>
                </a:solidFill>
                <a:effectLst/>
                <a:latin typeface="Calibri" panose="020F0502020204030204" pitchFamily="34" charset="0"/>
              </a:rPr>
              <a:t> ZENPEP helps improve digestion and fuel your patients’ nutritional health</a:t>
            </a:r>
          </a:p>
          <a:p>
            <a:pPr marL="4572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4000" b="1" i="0" u="none" strike="noStrike">
                <a:solidFill>
                  <a:srgbClr val="000000"/>
                </a:solidFill>
                <a:effectLst/>
                <a:latin typeface="Calibri" panose="020F0502020204030204" pitchFamily="34" charset="0"/>
              </a:rPr>
              <a:t>Z14</a:t>
            </a:r>
            <a:r>
              <a:rPr lang="en-US" sz="4000" b="0" i="0" u="none" strike="noStrike">
                <a:solidFill>
                  <a:srgbClr val="000000"/>
                </a:solidFill>
                <a:effectLst/>
                <a:latin typeface="Calibri" panose="020F0502020204030204" pitchFamily="34" charset="0"/>
              </a:rPr>
              <a:t> </a:t>
            </a:r>
            <a:r>
              <a:rPr lang="en-US" sz="7200" b="0" i="0">
                <a:solidFill>
                  <a:srgbClr val="333333"/>
                </a:solidFill>
                <a:effectLst/>
                <a:latin typeface="Roboto" panose="02000000000000000000" pitchFamily="2" charset="0"/>
              </a:rPr>
              <a:t>ZENPEP has excellent coverage, on par with or better than others in the PERT class</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ZP15</a:t>
            </a:r>
            <a:r>
              <a:rPr lang="en-US"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ZP16</a:t>
            </a:r>
            <a:r>
              <a:rPr lang="en-US"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ZP17</a:t>
            </a:r>
            <a:r>
              <a:rPr lang="en-US"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ZP18</a:t>
            </a:r>
            <a:r>
              <a:rPr lang="en-US"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ZP19</a:t>
            </a:r>
            <a:r>
              <a:rPr lang="en-US"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ZP20</a:t>
            </a:r>
            <a:r>
              <a:rPr lang="en-US"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ZP21</a:t>
            </a:r>
            <a:r>
              <a:rPr lang="en-US"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ZP22</a:t>
            </a:r>
            <a:r>
              <a:rPr lang="en-US"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ZP11</a:t>
            </a:r>
            <a:r>
              <a:rPr lang="en-US"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ZP23</a:t>
            </a:r>
            <a:r>
              <a:rPr lang="en-US" sz="1800" b="0" i="0" u="none" strike="noStrike">
                <a:solidFill>
                  <a:srgbClr val="000000"/>
                </a:solidFill>
                <a:effectLst/>
                <a:latin typeface="Calibri" panose="020F0502020204030204" pitchFamily="34" charset="0"/>
              </a:rPr>
              <a:t> Almost all patients are covered with either commercial insurance (89%) or Medicare Part D (98%)</a:t>
            </a: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lang="en-US"/>
          </a:p>
        </p:txBody>
      </p:sp>
      <p:sp>
        <p:nvSpPr>
          <p:cNvPr id="339" name="Google Shape;339;p10:notes">
            <a:extLst>
              <a:ext uri="{FF2B5EF4-FFF2-40B4-BE49-F238E27FC236}">
                <a16:creationId xmlns:a16="http://schemas.microsoft.com/office/drawing/2014/main" id="{BA8B8EC0-CA9B-5B4F-3C02-22AEEA0487FA}"/>
              </a:ext>
            </a:extLst>
          </p:cNvPr>
          <p:cNvSpPr>
            <a:spLocks noGrp="1" noRot="1" noChangeAspect="1"/>
          </p:cNvSpPr>
          <p:nvPr>
            <p:ph type="sldImg" idx="2"/>
          </p:nvPr>
        </p:nvSpPr>
        <p:spPr>
          <a:xfrm>
            <a:off x="838200" y="214313"/>
            <a:ext cx="5284788" cy="39624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29575441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
          <a:extLst>
            <a:ext uri="{FF2B5EF4-FFF2-40B4-BE49-F238E27FC236}">
              <a16:creationId xmlns:a16="http://schemas.microsoft.com/office/drawing/2014/main" id="{B0EE9C14-6ED5-2FA5-BB0A-F7006EEC8330}"/>
            </a:ext>
          </a:extLst>
        </p:cNvPr>
        <p:cNvGrpSpPr/>
        <p:nvPr/>
      </p:nvGrpSpPr>
      <p:grpSpPr>
        <a:xfrm>
          <a:off x="0" y="0"/>
          <a:ext cx="0" cy="0"/>
          <a:chOff x="0" y="0"/>
          <a:chExt cx="0" cy="0"/>
        </a:xfrm>
      </p:grpSpPr>
      <p:sp>
        <p:nvSpPr>
          <p:cNvPr id="1319" name="Google Shape;1319;p31:notes">
            <a:extLst>
              <a:ext uri="{FF2B5EF4-FFF2-40B4-BE49-F238E27FC236}">
                <a16:creationId xmlns:a16="http://schemas.microsoft.com/office/drawing/2014/main" id="{975DAB1A-FEC0-64F6-D6BC-DFE0DC50BF3F}"/>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20" name="Google Shape;1320;p31:notes">
            <a:extLst>
              <a:ext uri="{FF2B5EF4-FFF2-40B4-BE49-F238E27FC236}">
                <a16:creationId xmlns:a16="http://schemas.microsoft.com/office/drawing/2014/main" id="{FA42F63E-6F95-08B6-E218-73369C15BFCE}"/>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rgbClr val="262626"/>
              </a:buClr>
              <a:buSzPts val="1800"/>
              <a:buNone/>
            </a:pPr>
            <a:r>
              <a:rPr lang="en-US" sz="1800">
                <a:solidFill>
                  <a:srgbClr val="262626"/>
                </a:solidFill>
                <a:latin typeface="Calibri"/>
                <a:ea typeface="Calibri"/>
                <a:cs typeface="Calibri"/>
                <a:sym typeface="Calibri"/>
              </a:rPr>
              <a:t>Q2.10A What primary messages regarding [EPI COMMUNICATION OR PRODUCT] do you recall from the [PIPE IN PRIORITY CHANNEL] ?</a:t>
            </a:r>
            <a:br>
              <a:rPr lang="en-US" sz="1800">
                <a:solidFill>
                  <a:srgbClr val="262626"/>
                </a:solidFill>
                <a:latin typeface="Calibri"/>
                <a:ea typeface="Calibri"/>
                <a:cs typeface="Calibri"/>
                <a:sym typeface="Calibri"/>
              </a:rPr>
            </a:br>
            <a:br>
              <a:rPr lang="en-US" sz="1800">
                <a:solidFill>
                  <a:srgbClr val="262626"/>
                </a:solidFill>
                <a:latin typeface="Calibri"/>
                <a:ea typeface="Calibri"/>
                <a:cs typeface="Calibri"/>
                <a:sym typeface="Calibri"/>
              </a:rPr>
            </a:br>
            <a:endParaRPr b="1" i="1"/>
          </a:p>
        </p:txBody>
      </p:sp>
      <p:sp>
        <p:nvSpPr>
          <p:cNvPr id="1321" name="Google Shape;1321;p31:notes">
            <a:extLst>
              <a:ext uri="{FF2B5EF4-FFF2-40B4-BE49-F238E27FC236}">
                <a16:creationId xmlns:a16="http://schemas.microsoft.com/office/drawing/2014/main" id="{3F7A7B80-72F0-567D-96DA-C216A941569C}"/>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27</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33005166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
          <a:extLst>
            <a:ext uri="{FF2B5EF4-FFF2-40B4-BE49-F238E27FC236}">
              <a16:creationId xmlns:a16="http://schemas.microsoft.com/office/drawing/2014/main" id="{02C9533F-AB30-7D73-FBF6-68E676EEB1F6}"/>
            </a:ext>
          </a:extLst>
        </p:cNvPr>
        <p:cNvGrpSpPr/>
        <p:nvPr/>
      </p:nvGrpSpPr>
      <p:grpSpPr>
        <a:xfrm>
          <a:off x="0" y="0"/>
          <a:ext cx="0" cy="0"/>
          <a:chOff x="0" y="0"/>
          <a:chExt cx="0" cy="0"/>
        </a:xfrm>
      </p:grpSpPr>
      <p:sp>
        <p:nvSpPr>
          <p:cNvPr id="1319" name="Google Shape;1319;p31:notes">
            <a:extLst>
              <a:ext uri="{FF2B5EF4-FFF2-40B4-BE49-F238E27FC236}">
                <a16:creationId xmlns:a16="http://schemas.microsoft.com/office/drawing/2014/main" id="{FB305778-E1B3-2A1A-6662-E9DCB8F2CEB1}"/>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20" name="Google Shape;1320;p31:notes">
            <a:extLst>
              <a:ext uri="{FF2B5EF4-FFF2-40B4-BE49-F238E27FC236}">
                <a16:creationId xmlns:a16="http://schemas.microsoft.com/office/drawing/2014/main" id="{83D4999A-56C7-190B-4F21-D8BC22E85278}"/>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rgbClr val="262626"/>
              </a:buClr>
              <a:buSzPts val="1800"/>
              <a:buNone/>
            </a:pPr>
            <a:r>
              <a:rPr lang="en-US" sz="1800">
                <a:solidFill>
                  <a:srgbClr val="262626"/>
                </a:solidFill>
                <a:latin typeface="Calibri"/>
                <a:ea typeface="Calibri"/>
                <a:cs typeface="Calibri"/>
                <a:sym typeface="Calibri"/>
              </a:rPr>
              <a:t>Q2.10A What primary messages regarding [EPI COMMUNICATION OR PRODUCT] do you recall from the [PIPE IN PRIORITY CHANNEL] ?</a:t>
            </a:r>
            <a:br>
              <a:rPr lang="en-US" sz="1800">
                <a:solidFill>
                  <a:srgbClr val="262626"/>
                </a:solidFill>
                <a:latin typeface="Calibri"/>
                <a:ea typeface="Calibri"/>
                <a:cs typeface="Calibri"/>
                <a:sym typeface="Calibri"/>
              </a:rPr>
            </a:br>
            <a:br>
              <a:rPr lang="en-US" sz="1800">
                <a:solidFill>
                  <a:srgbClr val="262626"/>
                </a:solidFill>
                <a:latin typeface="Calibri"/>
                <a:ea typeface="Calibri"/>
                <a:cs typeface="Calibri"/>
                <a:sym typeface="Calibri"/>
              </a:rPr>
            </a:br>
            <a:endParaRPr b="1" i="1"/>
          </a:p>
        </p:txBody>
      </p:sp>
      <p:sp>
        <p:nvSpPr>
          <p:cNvPr id="1321" name="Google Shape;1321;p31:notes">
            <a:extLst>
              <a:ext uri="{FF2B5EF4-FFF2-40B4-BE49-F238E27FC236}">
                <a16:creationId xmlns:a16="http://schemas.microsoft.com/office/drawing/2014/main" id="{E3E40E18-E223-3E12-3C4B-1DE382733F80}"/>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28</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01391507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CR18</a:t>
            </a:r>
            <a:r>
              <a:rPr lang="en-GB"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p>
          <a:p>
            <a:pPr marL="165100" marR="0" lvl="0" indent="0" algn="l" defTabSz="914400" rtl="0" eaLnBrk="1" fontAlgn="t" latinLnBrk="0" hangingPunct="1">
              <a:lnSpc>
                <a:spcPct val="85000"/>
              </a:lnSpc>
              <a:spcBef>
                <a:spcPts val="0"/>
              </a:spcBef>
              <a:spcAft>
                <a:spcPts val="0"/>
              </a:spcAft>
              <a:buClr>
                <a:schemeClr val="dk1"/>
              </a:buClr>
              <a:buSzPts val="1000"/>
              <a:buFont typeface="Arial"/>
              <a:buNone/>
              <a:tabLst/>
              <a:defRPr/>
            </a:pPr>
            <a:br>
              <a:rPr lang="en-GB" sz="1800" b="0" i="0" u="none" strike="noStrike">
                <a:solidFill>
                  <a:srgbClr val="000000"/>
                </a:solidFill>
                <a:effectLst/>
                <a:latin typeface="Calibri" panose="020F0502020204030204" pitchFamily="34" charset="0"/>
                <a:ea typeface="Calibri"/>
                <a:cs typeface="Arial"/>
                <a:sym typeface="Arial"/>
              </a:rPr>
            </a:br>
            <a:r>
              <a:rPr lang="en-US" sz="1000" b="1">
                <a:solidFill>
                  <a:srgbClr val="262626"/>
                </a:solidFill>
                <a:latin typeface="Calibri"/>
                <a:ea typeface="Calibri"/>
                <a:cs typeface="Calibri"/>
                <a:sym typeface="Calibri"/>
              </a:rPr>
              <a:t>CREON Message (Sep’24 – Oct’24)</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CR11</a:t>
            </a:r>
            <a:r>
              <a:rPr lang="en-GB" sz="1000" b="0" i="0" u="none" strike="noStrike">
                <a:solidFill>
                  <a:srgbClr val="000000"/>
                </a:solidFill>
                <a:effectLst/>
                <a:latin typeface="Calibri" panose="020F0502020204030204" pitchFamily="34" charset="0"/>
              </a:rPr>
              <a:t> </a:t>
            </a:r>
            <a:r>
              <a:rPr lang="en-US" sz="1800" b="0" i="0">
                <a:solidFill>
                  <a:srgbClr val="242424"/>
                </a:solidFill>
                <a:effectLst/>
                <a:latin typeface="Aptos Narrow" panose="020B0004020202020204" pitchFamily="34" charset="0"/>
              </a:rPr>
              <a:t>Eligible patients may pay as little as $5 a month per 30- or 90-day prescription with the CREON Complete Savings Card</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a:t>
            </a:r>
            <a:r>
              <a:rPr lang="en-GB" sz="10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CR3</a:t>
            </a:r>
            <a:r>
              <a:rPr lang="en-GB" sz="10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CR4</a:t>
            </a:r>
            <a:r>
              <a:rPr lang="en-GB" sz="10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CR6</a:t>
            </a:r>
            <a:r>
              <a:rPr lang="en-GB" sz="10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CR7</a:t>
            </a:r>
            <a:r>
              <a:rPr lang="en-GB" sz="10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CR9</a:t>
            </a:r>
            <a:r>
              <a:rPr lang="en-GB" sz="10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CR10</a:t>
            </a:r>
            <a:r>
              <a:rPr lang="en-GB" sz="10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CR14</a:t>
            </a:r>
            <a:r>
              <a:rPr lang="en-GB" sz="10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CR15</a:t>
            </a:r>
            <a:r>
              <a:rPr lang="en-GB" sz="10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CR19</a:t>
            </a:r>
            <a:r>
              <a:rPr lang="en-GB" sz="10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000" b="1" i="0" u="none" strike="noStrike">
                <a:solidFill>
                  <a:srgbClr val="000000"/>
                </a:solidFill>
                <a:effectLst/>
                <a:latin typeface="Calibri" panose="020F0502020204030204" pitchFamily="34" charset="0"/>
              </a:rPr>
              <a:t>CR17</a:t>
            </a:r>
            <a:r>
              <a:rPr lang="en-GB" sz="10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br>
              <a:rPr lang="en-GB" sz="1000" b="0" i="0" u="none" strike="noStrike">
                <a:solidFill>
                  <a:srgbClr val="000000"/>
                </a:solidFill>
                <a:effectLst/>
                <a:latin typeface="Calibri" panose="020F0502020204030204" pitchFamily="34" charset="0"/>
              </a:rPr>
            </a:br>
            <a:endParaRPr lang="en-GB" sz="10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a:p>
          <a:p>
            <a:pPr marL="0" lvl="0" indent="0" algn="l" rtl="0">
              <a:spcBef>
                <a:spcPts val="1800"/>
              </a:spcBef>
              <a:spcAft>
                <a:spcPts val="0"/>
              </a:spcAft>
              <a:buClr>
                <a:schemeClr val="dk1"/>
              </a:buClr>
              <a:buSzPts val="1800"/>
              <a:buNone/>
            </a:pPr>
            <a:endParaRPr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Q4.10 Please consider the following [</a:t>
            </a:r>
            <a:r>
              <a:rPr lang="en-US" sz="1800">
                <a:highlight>
                  <a:srgbClr val="D3D3D3"/>
                </a:highlight>
                <a:latin typeface="Calibri"/>
                <a:ea typeface="Calibri"/>
                <a:cs typeface="Calibri"/>
                <a:sym typeface="Calibri"/>
              </a:rPr>
              <a:t>PRODUCT</a:t>
            </a:r>
            <a:r>
              <a:rPr lang="en-US" sz="1800">
                <a:latin typeface="Calibri"/>
                <a:ea typeface="Calibri"/>
                <a:cs typeface="Calibri"/>
                <a:sym typeface="Calibri"/>
              </a:rPr>
              <a:t>] sales messages below. Now, using a scale from 1 to 7, where 1 means “Not at all” and a 7 means “Extremely”, please indicate:</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 </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A. How </a:t>
            </a:r>
            <a:r>
              <a:rPr lang="en-US" sz="1800" b="1">
                <a:latin typeface="Calibri"/>
                <a:ea typeface="Calibri"/>
                <a:cs typeface="Calibri"/>
                <a:sym typeface="Calibri"/>
              </a:rPr>
              <a:t>differentiated </a:t>
            </a:r>
            <a:r>
              <a:rPr lang="en-US" sz="1800">
                <a:latin typeface="Calibri"/>
                <a:ea typeface="Calibri"/>
                <a:cs typeface="Calibri"/>
                <a:sym typeface="Calibri"/>
              </a:rPr>
              <a:t>you feel each message is compared to messages about competing products</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B. How </a:t>
            </a:r>
            <a:r>
              <a:rPr lang="en-US" sz="1800" b="1">
                <a:latin typeface="Calibri"/>
                <a:ea typeface="Calibri"/>
                <a:cs typeface="Calibri"/>
                <a:sym typeface="Calibri"/>
              </a:rPr>
              <a:t>believable </a:t>
            </a:r>
            <a:r>
              <a:rPr lang="en-US" sz="1800">
                <a:latin typeface="Calibri"/>
                <a:ea typeface="Calibri"/>
                <a:cs typeface="Calibri"/>
                <a:sym typeface="Calibri"/>
              </a:rPr>
              <a:t>each message is in conveying a benefit of the product</a:t>
            </a:r>
            <a:endParaRPr lang="en-US" sz="1800">
              <a:latin typeface="Arial"/>
              <a:ea typeface="Arial"/>
              <a:cs typeface="Arial"/>
              <a:sym typeface="Arial"/>
            </a:endParaRPr>
          </a:p>
          <a:p>
            <a:pPr marL="0" lvl="0" indent="0" algn="l" rtl="0">
              <a:spcBef>
                <a:spcPts val="1000"/>
              </a:spcBef>
              <a:spcAft>
                <a:spcPts val="0"/>
              </a:spcAft>
              <a:buClr>
                <a:schemeClr val="dk1"/>
              </a:buClr>
              <a:buSzPts val="1000"/>
              <a:buNone/>
            </a:pPr>
            <a:r>
              <a:rPr lang="en-US" sz="1800">
                <a:latin typeface="Calibri"/>
                <a:ea typeface="Calibri"/>
                <a:cs typeface="Calibri"/>
                <a:sym typeface="Calibri"/>
              </a:rPr>
              <a:t>C. How </a:t>
            </a:r>
            <a:r>
              <a:rPr lang="en-US" sz="1800" b="1">
                <a:latin typeface="Calibri"/>
                <a:ea typeface="Calibri"/>
                <a:cs typeface="Calibri"/>
                <a:sym typeface="Calibri"/>
              </a:rPr>
              <a:t>motivating </a:t>
            </a:r>
            <a:r>
              <a:rPr lang="en-US" sz="1800">
                <a:latin typeface="Calibri"/>
                <a:ea typeface="Calibri"/>
                <a:cs typeface="Calibri"/>
                <a:sym typeface="Calibri"/>
              </a:rPr>
              <a:t>the conveyed message is in terms of your intent to prescribe the product</a:t>
            </a:r>
            <a:endParaRPr lang="en-US" sz="1800" b="1" i="1"/>
          </a:p>
          <a:p>
            <a:pPr marL="0" lvl="0" indent="0" algn="l" rtl="0">
              <a:spcBef>
                <a:spcPts val="1800"/>
              </a:spcBef>
              <a:spcAft>
                <a:spcPts val="0"/>
              </a:spcAft>
              <a:buClr>
                <a:srgbClr val="262626"/>
              </a:buClr>
              <a:buSzPts val="1800"/>
              <a:buNone/>
            </a:pPr>
            <a:endParaRPr lang="en-US" b="1" i="1"/>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29</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21468974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ZP15</a:t>
            </a:r>
            <a:r>
              <a:rPr lang="en-GB"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ZP16</a:t>
            </a:r>
            <a:r>
              <a:rPr lang="en-GB"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ZP17</a:t>
            </a:r>
            <a:r>
              <a:rPr lang="en-GB"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ZP18</a:t>
            </a:r>
            <a:r>
              <a:rPr lang="en-GB"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ZP19</a:t>
            </a:r>
            <a:r>
              <a:rPr lang="en-GB"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Z7</a:t>
            </a:r>
            <a:r>
              <a:rPr lang="en-GB"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ZP20</a:t>
            </a:r>
            <a:r>
              <a:rPr lang="en-GB"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ZP21</a:t>
            </a:r>
            <a:r>
              <a:rPr lang="en-GB"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ZP8</a:t>
            </a:r>
            <a:r>
              <a:rPr lang="en-GB"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ZP22</a:t>
            </a:r>
            <a:r>
              <a:rPr lang="en-GB"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ZP11</a:t>
            </a:r>
            <a:r>
              <a:rPr lang="en-GB"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ZP23</a:t>
            </a:r>
            <a:r>
              <a:rPr lang="en-GB" sz="1800" b="0" i="0" u="none" strike="noStrike">
                <a:solidFill>
                  <a:srgbClr val="000000"/>
                </a:solidFill>
                <a:effectLst/>
                <a:latin typeface="Calibri" panose="020F0502020204030204" pitchFamily="34" charset="0"/>
              </a:rPr>
              <a:t> Almost all patients are covered with either commercial insurance (89%) or Medicare Part D (98%)</a:t>
            </a: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Q4.10 Please consider the following [</a:t>
            </a:r>
            <a:r>
              <a:rPr lang="en-US" sz="1800">
                <a:highlight>
                  <a:srgbClr val="D3D3D3"/>
                </a:highlight>
                <a:latin typeface="Calibri"/>
                <a:ea typeface="Calibri"/>
                <a:cs typeface="Calibri"/>
                <a:sym typeface="Calibri"/>
              </a:rPr>
              <a:t>PRODUCT</a:t>
            </a:r>
            <a:r>
              <a:rPr lang="en-US" sz="1800">
                <a:latin typeface="Calibri"/>
                <a:ea typeface="Calibri"/>
                <a:cs typeface="Calibri"/>
                <a:sym typeface="Calibri"/>
              </a:rPr>
              <a:t>] sales messages below. Now, using a scale from 1 to 7, where 1 means “Not at all” and a 7 means “Extremely”, please indicate:</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 </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A. How </a:t>
            </a:r>
            <a:r>
              <a:rPr lang="en-US" sz="1800" b="1">
                <a:latin typeface="Calibri"/>
                <a:ea typeface="Calibri"/>
                <a:cs typeface="Calibri"/>
                <a:sym typeface="Calibri"/>
              </a:rPr>
              <a:t>differentiated </a:t>
            </a:r>
            <a:r>
              <a:rPr lang="en-US" sz="1800">
                <a:latin typeface="Calibri"/>
                <a:ea typeface="Calibri"/>
                <a:cs typeface="Calibri"/>
                <a:sym typeface="Calibri"/>
              </a:rPr>
              <a:t>you feel each message is compared to messages about competing products</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B. How </a:t>
            </a:r>
            <a:r>
              <a:rPr lang="en-US" sz="1800" b="1">
                <a:latin typeface="Calibri"/>
                <a:ea typeface="Calibri"/>
                <a:cs typeface="Calibri"/>
                <a:sym typeface="Calibri"/>
              </a:rPr>
              <a:t>believable </a:t>
            </a:r>
            <a:r>
              <a:rPr lang="en-US" sz="1800">
                <a:latin typeface="Calibri"/>
                <a:ea typeface="Calibri"/>
                <a:cs typeface="Calibri"/>
                <a:sym typeface="Calibri"/>
              </a:rPr>
              <a:t>each message is in conveying a benefit of the product</a:t>
            </a:r>
            <a:endParaRPr lang="en-US" sz="1800">
              <a:latin typeface="Arial"/>
              <a:ea typeface="Arial"/>
              <a:cs typeface="Arial"/>
              <a:sym typeface="Arial"/>
            </a:endParaRPr>
          </a:p>
          <a:p>
            <a:pPr marL="0" lvl="0" indent="0" algn="l" rtl="0">
              <a:spcBef>
                <a:spcPts val="1000"/>
              </a:spcBef>
              <a:spcAft>
                <a:spcPts val="0"/>
              </a:spcAft>
              <a:buClr>
                <a:schemeClr val="dk1"/>
              </a:buClr>
              <a:buSzPts val="1000"/>
              <a:buNone/>
            </a:pPr>
            <a:r>
              <a:rPr lang="en-US" sz="1800">
                <a:latin typeface="Calibri"/>
                <a:ea typeface="Calibri"/>
                <a:cs typeface="Calibri"/>
                <a:sym typeface="Calibri"/>
              </a:rPr>
              <a:t>C. How </a:t>
            </a:r>
            <a:r>
              <a:rPr lang="en-US" sz="1800" b="1">
                <a:latin typeface="Calibri"/>
                <a:ea typeface="Calibri"/>
                <a:cs typeface="Calibri"/>
                <a:sym typeface="Calibri"/>
              </a:rPr>
              <a:t>motivating </a:t>
            </a:r>
            <a:r>
              <a:rPr lang="en-US" sz="1800">
                <a:latin typeface="Calibri"/>
                <a:ea typeface="Calibri"/>
                <a:cs typeface="Calibri"/>
                <a:sym typeface="Calibri"/>
              </a:rPr>
              <a:t>the conveyed message is in terms of your intent to prescribe the product</a:t>
            </a:r>
            <a:endParaRPr lang="en-US" sz="1800" b="1" i="1"/>
          </a:p>
          <a:p>
            <a:pPr marL="0" lvl="0" indent="0" algn="l" rtl="0">
              <a:spcBef>
                <a:spcPts val="1800"/>
              </a:spcBef>
              <a:spcAft>
                <a:spcPts val="0"/>
              </a:spcAft>
              <a:buClr>
                <a:schemeClr val="dk1"/>
              </a:buClr>
              <a:buSzPts val="1800"/>
              <a:buNone/>
            </a:pPr>
            <a:endParaRPr sz="1800" b="1" i="1">
              <a:solidFill>
                <a:srgbClr val="262626"/>
              </a:solidFill>
              <a:latin typeface="Calibri"/>
              <a:ea typeface="Calibri"/>
              <a:cs typeface="Calibri"/>
              <a:sym typeface="Calibri"/>
            </a:endParaRPr>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30</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3834387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
          <a:extLst>
            <a:ext uri="{FF2B5EF4-FFF2-40B4-BE49-F238E27FC236}">
              <a16:creationId xmlns:a16="http://schemas.microsoft.com/office/drawing/2014/main" id="{6F18F412-7DAC-C9D0-684A-870BA992AD9E}"/>
            </a:ext>
          </a:extLst>
        </p:cNvPr>
        <p:cNvGrpSpPr/>
        <p:nvPr/>
      </p:nvGrpSpPr>
      <p:grpSpPr>
        <a:xfrm>
          <a:off x="0" y="0"/>
          <a:ext cx="0" cy="0"/>
          <a:chOff x="0" y="0"/>
          <a:chExt cx="0" cy="0"/>
        </a:xfrm>
      </p:grpSpPr>
      <p:sp>
        <p:nvSpPr>
          <p:cNvPr id="1411" name="Google Shape;1411;p35:notes">
            <a:extLst>
              <a:ext uri="{FF2B5EF4-FFF2-40B4-BE49-F238E27FC236}">
                <a16:creationId xmlns:a16="http://schemas.microsoft.com/office/drawing/2014/main" id="{C35B373C-769D-5B0D-4091-C635188FFFB9}"/>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12" name="Google Shape;1412;p35:notes">
            <a:extLst>
              <a:ext uri="{FF2B5EF4-FFF2-40B4-BE49-F238E27FC236}">
                <a16:creationId xmlns:a16="http://schemas.microsoft.com/office/drawing/2014/main" id="{DD3C3EBF-0BA9-9788-984E-9BC0055D390F}"/>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(W5)</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95% of commercial and Medicare-D insured patients have unrestricted access to CREON without prior authorization</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C3</a:t>
            </a:r>
            <a:r>
              <a:rPr lang="en-US" sz="1800" b="0" i="0" u="none" strike="noStrike">
                <a:solidFill>
                  <a:srgbClr val="000000"/>
                </a:solidFill>
                <a:effectLst/>
                <a:latin typeface="Calibri" panose="020F0502020204030204" pitchFamily="34" charset="0"/>
              </a:rPr>
              <a:t> Underlying conditions and surgical procedures that can cause EPI include: Cystic Fibrosis, Chronic Pancreatitis, Pancreatic Cancer, Pancreatectomy, Type 1 diabetes, Gastric reaction/bypass, Acute pancreatitis, Crohn’s disease, Celiac Disease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C4</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EPI is largely a clinical diagnosis. Consider EPI in your differential diagnosis if you’re seeing symptoms such as frequent gas and/or bloating, unexplained abdominal pain, and frequent </a:t>
            </a:r>
            <a:r>
              <a:rPr lang="en-GB" sz="1800" b="0" i="0" u="none" strike="noStrike" err="1">
                <a:solidFill>
                  <a:srgbClr val="000000"/>
                </a:solidFill>
                <a:effectLst/>
                <a:latin typeface="Calibri" panose="020F0502020204030204" pitchFamily="34" charset="0"/>
              </a:rPr>
              <a:t>diarrhea</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C7</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36K capsules can be an appropriate strength for many adult EPI patients weighing at least 110 lbs. CREON 36K may help reduce pill burden for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C8</a:t>
            </a:r>
            <a:r>
              <a:rPr lang="en-US" sz="1800" b="0" i="0" u="none" strike="noStrike">
                <a:solidFill>
                  <a:srgbClr val="000000"/>
                </a:solidFill>
                <a:effectLst/>
                <a:latin typeface="Calibri" panose="020F0502020204030204" pitchFamily="34" charset="0"/>
              </a:rPr>
              <a:t> CREON enteric coated capsules allows the spheres to travel beyond the low pH of the stomach to release in the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C10</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is the #1 PERT prescribed by Gastroenterologists, Primary Care Physicians, and Nurse Practitioners and Physician Assistants.</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C11</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makes it easy and convenient for patients with EPI to get financial, multivitamin, and educational support. With CREON on Course, eligible patients may pay as little as $5 a month</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C14</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94% of commercial and Medicare-D insured patients have preferred access to CREON with the lowest branded copay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C15</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There are no head-to-head superiority trials between CREON and any other PERT. CREON is not interchangeable with any </a:t>
            </a:r>
            <a:r>
              <a:rPr lang="en-GB" sz="1800" b="0" i="0" u="none" strike="noStrike" err="1">
                <a:solidFill>
                  <a:srgbClr val="000000"/>
                </a:solidFill>
                <a:effectLst/>
                <a:latin typeface="Calibri" panose="020F0502020204030204" pitchFamily="34" charset="0"/>
              </a:rPr>
              <a:t>pancrelipase</a:t>
            </a:r>
            <a:r>
              <a:rPr lang="en-GB" sz="1800" b="0" i="0" u="none" strike="noStrike">
                <a:solidFill>
                  <a:srgbClr val="000000"/>
                </a:solidFill>
                <a:effectLst/>
                <a:latin typeface="Calibri" panose="020F0502020204030204" pitchFamily="34" charset="0"/>
              </a:rPr>
              <a:t> product.</a:t>
            </a:r>
            <a:endParaRPr lang="en-US" sz="4000" b="0">
              <a:effectLst/>
            </a:endParaRPr>
          </a:p>
          <a:p>
            <a:pPr marL="622300" lvl="1" indent="0" algn="l" rtl="0" fontAlgn="t">
              <a:spcBef>
                <a:spcPts val="0"/>
              </a:spcBef>
              <a:spcAft>
                <a:spcPts val="0"/>
              </a:spcAft>
              <a:buNone/>
            </a:pPr>
            <a:r>
              <a:rPr lang="en-US" sz="4000" b="1" i="0" u="none" strike="noStrike">
                <a:solidFill>
                  <a:srgbClr val="000000"/>
                </a:solidFill>
                <a:effectLst/>
                <a:latin typeface="Calibri" panose="020F0502020204030204" pitchFamily="34" charset="0"/>
              </a:rPr>
              <a:t>C16</a:t>
            </a:r>
            <a:r>
              <a:rPr lang="en-US" sz="4000" b="0" i="0" u="none" strike="noStrike">
                <a:solidFill>
                  <a:srgbClr val="000000"/>
                </a:solidFill>
                <a:effectLst/>
                <a:latin typeface="Calibri" panose="020F0502020204030204" pitchFamily="34" charset="0"/>
              </a:rPr>
              <a:t> </a:t>
            </a:r>
            <a:r>
              <a:rPr lang="en-GB" sz="4000" b="0" i="0" u="none" strike="noStrike">
                <a:solidFill>
                  <a:srgbClr val="000000"/>
                </a:solidFill>
                <a:effectLst/>
                <a:latin typeface="Calibri" panose="020F0502020204030204" pitchFamily="34" charset="0"/>
              </a:rPr>
              <a:t>CREON is the only FDA-approved PERT for patients with EPI due to cystic fibrosis, chronic pancreatitis, pancreatectomy, and other conditions. Based on the FDA-approved label, it has been studied in more </a:t>
            </a:r>
            <a:r>
              <a:rPr lang="en-GB" sz="4000" b="0" i="0" u="none" strike="noStrike" err="1">
                <a:solidFill>
                  <a:srgbClr val="000000"/>
                </a:solidFill>
                <a:effectLst/>
                <a:latin typeface="Calibri" panose="020F0502020204030204" pitchFamily="34" charset="0"/>
              </a:rPr>
              <a:t>etiologies</a:t>
            </a:r>
            <a:r>
              <a:rPr lang="en-GB" sz="4000" b="0" i="0" u="none" strike="noStrike">
                <a:solidFill>
                  <a:srgbClr val="000000"/>
                </a:solidFill>
                <a:effectLst/>
                <a:latin typeface="Calibri" panose="020F0502020204030204" pitchFamily="34" charset="0"/>
              </a:rPr>
              <a:t> than any other PERT.</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CR18</a:t>
            </a:r>
            <a:r>
              <a:rPr lang="en-GB"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br>
              <a:rPr lang="en-GB" sz="1800" b="0" i="0" u="none" strike="noStrike">
                <a:solidFill>
                  <a:srgbClr val="000000"/>
                </a:solidFill>
                <a:effectLst/>
                <a:latin typeface="Calibri" panose="020F0502020204030204" pitchFamily="34" charset="0"/>
              </a:rPr>
            </a:br>
            <a:endParaRPr lang="en-GB" sz="1800" b="0" i="0" u="none" strike="noStrike">
              <a:solidFill>
                <a:srgbClr val="000000"/>
              </a:solidFill>
              <a:effectLst/>
              <a:latin typeface="Calibri" panose="020F0502020204030204" pitchFamily="34" charset="0"/>
            </a:endParaRPr>
          </a:p>
          <a:p>
            <a:pPr marL="6223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1800" b="1">
                <a:solidFill>
                  <a:srgbClr val="262626"/>
                </a:solidFill>
                <a:latin typeface="Calibri"/>
                <a:ea typeface="Calibri"/>
                <a:cs typeface="Calibri"/>
                <a:sym typeface="Calibri"/>
              </a:rPr>
              <a:t>CREON Message (Sep’24 – Oct’24)</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a:t>
            </a:r>
            <a:r>
              <a:rPr lang="en-US" sz="4000" b="0" i="0">
                <a:solidFill>
                  <a:srgbClr val="242424"/>
                </a:solidFill>
                <a:effectLst/>
                <a:latin typeface="Aptos Narrow" panose="020B0004020202020204" pitchFamily="34" charset="0"/>
              </a:rPr>
              <a:t>Eligible patients may pay as little as $5 a month per 30- or 90-day prescription with the CREON Complete Savings Card</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br>
              <a:rPr lang="en-GB" sz="1800" b="0" i="0" u="none" strike="noStrike">
                <a:solidFill>
                  <a:srgbClr val="000000"/>
                </a:solidFill>
                <a:effectLst/>
                <a:latin typeface="Calibri" panose="020F0502020204030204" pitchFamily="34" charset="0"/>
              </a:rPr>
            </a:br>
            <a:endParaRPr lang="en-GB" sz="18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b="1" i="1"/>
          </a:p>
          <a:p>
            <a:pPr marL="0" lvl="0" indent="0" algn="l" rtl="0">
              <a:spcBef>
                <a:spcPts val="1000"/>
              </a:spcBef>
              <a:spcAft>
                <a:spcPts val="0"/>
              </a:spcAft>
              <a:buClr>
                <a:schemeClr val="dk1"/>
              </a:buClr>
              <a:buSzPts val="1000"/>
              <a:buNone/>
            </a:pPr>
            <a:endParaRPr b="1" i="1"/>
          </a:p>
        </p:txBody>
      </p:sp>
      <p:sp>
        <p:nvSpPr>
          <p:cNvPr id="1413" name="Google Shape;1413;p35:notes">
            <a:extLst>
              <a:ext uri="{FF2B5EF4-FFF2-40B4-BE49-F238E27FC236}">
                <a16:creationId xmlns:a16="http://schemas.microsoft.com/office/drawing/2014/main" id="{D37723BB-8CDB-549F-693B-8FF1F6E815B4}"/>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31</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80328982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p:cNvGrpSpPr/>
        <p:nvPr/>
      </p:nvGrpSpPr>
      <p:grpSpPr>
        <a:xfrm>
          <a:off x="0" y="0"/>
          <a:ext cx="0" cy="0"/>
          <a:chOff x="0" y="0"/>
          <a:chExt cx="0" cy="0"/>
        </a:xfrm>
      </p:grpSpPr>
      <p:sp>
        <p:nvSpPr>
          <p:cNvPr id="1439" name="Google Shape;1439;p36: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40" name="Google Shape;1440;p36: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40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(W5)</a:t>
            </a:r>
          </a:p>
          <a:p>
            <a:pPr marL="457200" lvl="1" indent="0" algn="l" rtl="0" fontAlgn="t">
              <a:spcBef>
                <a:spcPts val="0"/>
              </a:spcBef>
              <a:spcAft>
                <a:spcPts val="0"/>
              </a:spcAft>
              <a:buNone/>
            </a:pPr>
            <a:br>
              <a:rPr lang="en-US" sz="4000" b="0">
                <a:effectLst/>
              </a:rPr>
            </a:br>
            <a:r>
              <a:rPr lang="en-US" sz="1800" b="1" i="0" u="none" strike="noStrike">
                <a:solidFill>
                  <a:srgbClr val="000000"/>
                </a:solidFill>
                <a:effectLst/>
                <a:latin typeface="Calibri" panose="020F0502020204030204" pitchFamily="34" charset="0"/>
              </a:rPr>
              <a:t>Z1</a:t>
            </a:r>
            <a:r>
              <a:rPr lang="en-US" sz="1800" b="0" i="0" u="none" strike="noStrike">
                <a:solidFill>
                  <a:srgbClr val="000000"/>
                </a:solidFill>
                <a:effectLst/>
                <a:latin typeface="Calibri" panose="020F0502020204030204" pitchFamily="34" charset="0"/>
              </a:rPr>
              <a:t> ZENPEP combined insurance coverage through commercial and Medicare Part D is 96% for all dosage strengths, with unrestricted access. Coverage is the same for all dosage strengths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Z2</a:t>
            </a:r>
            <a:r>
              <a:rPr lang="en-US" sz="1800" b="0" i="0" u="none" strike="noStrike">
                <a:solidFill>
                  <a:srgbClr val="000000"/>
                </a:solidFill>
                <a:effectLst/>
                <a:latin typeface="Calibri" panose="020F0502020204030204" pitchFamily="34" charset="0"/>
              </a:rPr>
              <a:t> EPI is characterized by deficiencies in the amount or activity of exocrine pancreatic enzymes. This can result in the inability to digest food properly, or maldigestion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Z3</a:t>
            </a:r>
            <a:r>
              <a:rPr lang="en-US" sz="1800" b="0" i="0" u="none" strike="noStrike">
                <a:solidFill>
                  <a:srgbClr val="000000"/>
                </a:solidFill>
                <a:effectLst/>
                <a:latin typeface="Calibri" panose="020F0502020204030204" pitchFamily="34" charset="0"/>
              </a:rPr>
              <a:t> In addition to the treatment of causative factors, there are 2 key goals for managing EPI are improving digestion and absorption of nutrients and relieving GI signs and symptoms of EPI</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Z4</a:t>
            </a:r>
            <a:r>
              <a:rPr lang="en-US" sz="1800" b="0" i="0" u="none" strike="noStrike">
                <a:solidFill>
                  <a:srgbClr val="000000"/>
                </a:solidFill>
                <a:effectLst/>
                <a:latin typeface="Calibri" panose="020F0502020204030204" pitchFamily="34" charset="0"/>
              </a:rPr>
              <a:t> Managing EPI includes lifestyle and dietary modifications, vitamin and nutrient supplementation, and pancreatic enzyme therapy</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Z5</a:t>
            </a:r>
            <a:r>
              <a:rPr lang="en-US" sz="1800" b="0" i="0" u="none" strike="noStrike">
                <a:solidFill>
                  <a:srgbClr val="000000"/>
                </a:solidFill>
                <a:effectLst/>
                <a:latin typeface="Calibri" panose="020F0502020204030204" pitchFamily="34" charset="0"/>
              </a:rPr>
              <a:t> ZENPEP has the widest range of dosing options, including the highest strength available—40,000 lipase units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Z6</a:t>
            </a:r>
            <a:r>
              <a:rPr lang="en-US" sz="1800" b="0" i="0" u="none" strike="noStrike">
                <a:solidFill>
                  <a:srgbClr val="000000"/>
                </a:solidFill>
                <a:effectLst/>
                <a:latin typeface="Calibri" panose="020F0502020204030204" pitchFamily="34" charset="0"/>
              </a:rPr>
              <a:t> ZENPEP offers dosing flexibility that minimizes the number of capsules needed. The ZENPEP dose can be calculated in 3 easy steps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Z9</a:t>
            </a:r>
            <a:r>
              <a:rPr lang="en-US" sz="1800" b="0" i="0" u="none" strike="noStrike">
                <a:solidFill>
                  <a:srgbClr val="000000"/>
                </a:solidFill>
                <a:effectLst/>
                <a:latin typeface="Calibri" panose="020F0502020204030204" pitchFamily="34" charset="0"/>
              </a:rPr>
              <a:t> In a non-inferiority study, ZENPEP was shown to have comparable efficacy to CREON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Z11</a:t>
            </a:r>
            <a:r>
              <a:rPr lang="en-US" sz="1800" b="0" i="0" u="none" strike="noStrike">
                <a:solidFill>
                  <a:srgbClr val="000000"/>
                </a:solidFill>
                <a:effectLst/>
                <a:latin typeface="Calibri" panose="020F0502020204030204" pitchFamily="34" charset="0"/>
              </a:rPr>
              <a:t> Eligible patients may be able to start saving today with the ZENPEP Patient Savings Program, paying as little as $0 out of pocket</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Z13</a:t>
            </a:r>
            <a:r>
              <a:rPr lang="en-US" sz="1800" b="0" i="0" u="none" strike="noStrike">
                <a:solidFill>
                  <a:srgbClr val="000000"/>
                </a:solidFill>
                <a:effectLst/>
                <a:latin typeface="Calibri" panose="020F0502020204030204" pitchFamily="34" charset="0"/>
              </a:rPr>
              <a:t> ZENPEP helps improve digestion and fuel your patients’ nutritional health</a:t>
            </a:r>
          </a:p>
          <a:p>
            <a:pPr marL="4572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4000" b="1" i="0" u="none" strike="noStrike">
                <a:solidFill>
                  <a:srgbClr val="000000"/>
                </a:solidFill>
                <a:effectLst/>
                <a:latin typeface="Calibri" panose="020F0502020204030204" pitchFamily="34" charset="0"/>
              </a:rPr>
              <a:t>Z14</a:t>
            </a:r>
            <a:r>
              <a:rPr lang="en-US" sz="4000" b="0" i="0" u="none" strike="noStrike">
                <a:solidFill>
                  <a:srgbClr val="000000"/>
                </a:solidFill>
                <a:effectLst/>
                <a:latin typeface="Calibri" panose="020F0502020204030204" pitchFamily="34" charset="0"/>
              </a:rPr>
              <a:t> </a:t>
            </a:r>
            <a:r>
              <a:rPr lang="en-GB" sz="7200" b="0" i="0">
                <a:solidFill>
                  <a:srgbClr val="333333"/>
                </a:solidFill>
                <a:effectLst/>
                <a:latin typeface="Roboto" panose="02000000000000000000" pitchFamily="2" charset="0"/>
              </a:rPr>
              <a:t>ZENPEP has excellent coverage, on par with or better than others in the PERT class</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ZP15</a:t>
            </a:r>
            <a:r>
              <a:rPr lang="en-GB"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ZP16</a:t>
            </a:r>
            <a:r>
              <a:rPr lang="en-GB"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ZP17</a:t>
            </a:r>
            <a:r>
              <a:rPr lang="en-GB"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ZP18</a:t>
            </a:r>
            <a:r>
              <a:rPr lang="en-GB"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ZP19</a:t>
            </a:r>
            <a:r>
              <a:rPr lang="en-GB"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Z7</a:t>
            </a:r>
            <a:r>
              <a:rPr lang="en-GB"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ZP20</a:t>
            </a:r>
            <a:r>
              <a:rPr lang="en-GB"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ZP21</a:t>
            </a:r>
            <a:r>
              <a:rPr lang="en-GB"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ZP8</a:t>
            </a:r>
            <a:r>
              <a:rPr lang="en-GB"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ZP22</a:t>
            </a:r>
            <a:r>
              <a:rPr lang="en-GB"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ZP11</a:t>
            </a:r>
            <a:r>
              <a:rPr lang="en-GB"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ZP23</a:t>
            </a:r>
            <a:r>
              <a:rPr lang="en-GB" sz="1800" b="0" i="0" u="none" strike="noStrike">
                <a:solidFill>
                  <a:srgbClr val="000000"/>
                </a:solidFill>
                <a:effectLst/>
                <a:latin typeface="Calibri" panose="020F0502020204030204" pitchFamily="34" charset="0"/>
              </a:rPr>
              <a:t> Almost all patients are covered with either commercial insurance (89%) or Medicare Part D (98%)</a:t>
            </a:r>
          </a:p>
          <a:p>
            <a:pPr marL="457200" lvl="1" indent="0" algn="l" rtl="0" fontAlgn="t">
              <a:spcBef>
                <a:spcPts val="0"/>
              </a:spcBef>
              <a:spcAft>
                <a:spcPts val="0"/>
              </a:spcAft>
              <a:buNone/>
            </a:pPr>
            <a:endParaRPr lang="en-US" sz="4000" b="0">
              <a:effectLst/>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b="1" i="1"/>
          </a:p>
          <a:p>
            <a:pPr marL="0" lvl="0" indent="0" algn="l" rtl="0">
              <a:spcBef>
                <a:spcPts val="1000"/>
              </a:spcBef>
              <a:spcAft>
                <a:spcPts val="0"/>
              </a:spcAft>
              <a:buClr>
                <a:schemeClr val="dk1"/>
              </a:buClr>
              <a:buSzPts val="1000"/>
              <a:buNone/>
            </a:pPr>
            <a:endParaRPr b="1" i="1"/>
          </a:p>
        </p:txBody>
      </p:sp>
      <p:sp>
        <p:nvSpPr>
          <p:cNvPr id="1441" name="Google Shape;1441;p36: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32</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655475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a:extLst>
            <a:ext uri="{FF2B5EF4-FFF2-40B4-BE49-F238E27FC236}">
              <a16:creationId xmlns:a16="http://schemas.microsoft.com/office/drawing/2014/main" id="{78395557-EBCB-2C22-19D5-60E0A9BBB393}"/>
            </a:ext>
          </a:extLst>
        </p:cNvPr>
        <p:cNvGrpSpPr/>
        <p:nvPr/>
      </p:nvGrpSpPr>
      <p:grpSpPr>
        <a:xfrm>
          <a:off x="0" y="0"/>
          <a:ext cx="0" cy="0"/>
          <a:chOff x="0" y="0"/>
          <a:chExt cx="0" cy="0"/>
        </a:xfrm>
      </p:grpSpPr>
      <p:sp>
        <p:nvSpPr>
          <p:cNvPr id="338" name="Google Shape;338;p10:notes">
            <a:extLst>
              <a:ext uri="{FF2B5EF4-FFF2-40B4-BE49-F238E27FC236}">
                <a16:creationId xmlns:a16="http://schemas.microsoft.com/office/drawing/2014/main" id="{A4082476-EF90-B66F-C2D9-A0E22B168F66}"/>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40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(W5)</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95% of commercial and Medicare-D insured patients have unrestricted access to CREON without prior authorization</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C3</a:t>
            </a:r>
            <a:r>
              <a:rPr lang="en-US" sz="1800" b="0" i="0" u="none" strike="noStrike">
                <a:solidFill>
                  <a:srgbClr val="000000"/>
                </a:solidFill>
                <a:effectLst/>
                <a:latin typeface="Calibri" panose="020F0502020204030204" pitchFamily="34" charset="0"/>
              </a:rPr>
              <a:t> Underlying conditions and surgical procedures that can cause EPI include: Cystic Fibrosis, Chronic Pancreatitis, Pancreatic Cancer, Pancreatectomy, Type 1 diabetes, Gastric reaction/bypass, Acute pancreatitis, Crohn’s disease, Celiac Disease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C4</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EPI is largely a clinical diagnosis. Consider EPI in your differential diagnosis if you’re seeing symptoms such as frequent gas and/or bloating, unexplained abdominal pain, and frequent </a:t>
            </a:r>
            <a:r>
              <a:rPr lang="en-GB" sz="1800" b="0" i="0" u="none" strike="noStrike" err="1">
                <a:solidFill>
                  <a:srgbClr val="000000"/>
                </a:solidFill>
                <a:effectLst/>
                <a:latin typeface="Calibri" panose="020F0502020204030204" pitchFamily="34" charset="0"/>
              </a:rPr>
              <a:t>diarrhea</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C7</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36K capsules can be an appropriate strength for many adult EPI patients weighing at least 110 lbs. CREON 36K may help reduce pill burden for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C8</a:t>
            </a:r>
            <a:r>
              <a:rPr lang="en-US" sz="1800" b="0" i="0" u="none" strike="noStrike">
                <a:solidFill>
                  <a:srgbClr val="000000"/>
                </a:solidFill>
                <a:effectLst/>
                <a:latin typeface="Calibri" panose="020F0502020204030204" pitchFamily="34" charset="0"/>
              </a:rPr>
              <a:t> CREON enteric coated capsules allows the spheres to travel beyond the low pH of the stomach to release in the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C10</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is the #1 PERT prescribed by Gastroenterologists, Primary Care Physicians, and Nurse Practitioners and Physician Assistants.</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C11</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makes it easy and convenient for patients with EPI to get financial, multivitamin, and educational support. With CREON on Course, eligible patients may pay as little as $5 a month</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C14</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94% of commercial and Medicare-D insured patients have preferred access to CREON with the lowest branded copay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C15</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There are no head-to-head superiority trials between CREON and any other PERT. CREON is not interchangeable with any </a:t>
            </a:r>
            <a:r>
              <a:rPr lang="en-GB" sz="1800" b="0" i="0" u="none" strike="noStrike" err="1">
                <a:solidFill>
                  <a:srgbClr val="000000"/>
                </a:solidFill>
                <a:effectLst/>
                <a:latin typeface="Calibri" panose="020F0502020204030204" pitchFamily="34" charset="0"/>
              </a:rPr>
              <a:t>pancrelipase</a:t>
            </a:r>
            <a:r>
              <a:rPr lang="en-GB" sz="1800" b="0" i="0" u="none" strike="noStrike">
                <a:solidFill>
                  <a:srgbClr val="000000"/>
                </a:solidFill>
                <a:effectLst/>
                <a:latin typeface="Calibri" panose="020F0502020204030204" pitchFamily="34" charset="0"/>
              </a:rPr>
              <a:t> product.</a:t>
            </a:r>
            <a:endParaRPr lang="en-US" sz="4000" b="0">
              <a:effectLst/>
            </a:endParaRPr>
          </a:p>
          <a:p>
            <a:pPr marL="622300" lvl="1" indent="0" algn="l" rtl="0" fontAlgn="t">
              <a:spcBef>
                <a:spcPts val="0"/>
              </a:spcBef>
              <a:spcAft>
                <a:spcPts val="0"/>
              </a:spcAft>
              <a:buNone/>
            </a:pPr>
            <a:r>
              <a:rPr lang="en-US" sz="4000" b="1" i="0" u="none" strike="noStrike">
                <a:solidFill>
                  <a:srgbClr val="000000"/>
                </a:solidFill>
                <a:effectLst/>
                <a:latin typeface="Calibri" panose="020F0502020204030204" pitchFamily="34" charset="0"/>
              </a:rPr>
              <a:t>C16</a:t>
            </a:r>
            <a:r>
              <a:rPr lang="en-US" sz="4000" b="0" i="0" u="none" strike="noStrike">
                <a:solidFill>
                  <a:srgbClr val="000000"/>
                </a:solidFill>
                <a:effectLst/>
                <a:latin typeface="Calibri" panose="020F0502020204030204" pitchFamily="34" charset="0"/>
              </a:rPr>
              <a:t> </a:t>
            </a:r>
            <a:r>
              <a:rPr lang="en-GB" sz="4000" b="0" i="0" u="none" strike="noStrike">
                <a:solidFill>
                  <a:srgbClr val="000000"/>
                </a:solidFill>
                <a:effectLst/>
                <a:latin typeface="Calibri" panose="020F0502020204030204" pitchFamily="34" charset="0"/>
              </a:rPr>
              <a:t>CREON is the only FDA-approved PERT for patients with EPI due to cystic fibrosis, chronic pancreatitis, pancreatectomy, and other conditions. Based on the FDA-approved label, it has been studied in more </a:t>
            </a:r>
            <a:r>
              <a:rPr lang="en-GB" sz="4000" b="0" i="0" u="none" strike="noStrike" err="1">
                <a:solidFill>
                  <a:srgbClr val="000000"/>
                </a:solidFill>
                <a:effectLst/>
                <a:latin typeface="Calibri" panose="020F0502020204030204" pitchFamily="34" charset="0"/>
              </a:rPr>
              <a:t>etiologies</a:t>
            </a:r>
            <a:r>
              <a:rPr lang="en-GB" sz="4000" b="0" i="0" u="none" strike="noStrike">
                <a:solidFill>
                  <a:srgbClr val="000000"/>
                </a:solidFill>
                <a:effectLst/>
                <a:latin typeface="Calibri" panose="020F0502020204030204" pitchFamily="34" charset="0"/>
              </a:rPr>
              <a:t> than any other PERT.</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CR16</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CR18</a:t>
            </a:r>
            <a:r>
              <a:rPr lang="en-GB"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6223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1800" b="1">
                <a:solidFill>
                  <a:srgbClr val="262626"/>
                </a:solidFill>
                <a:latin typeface="Calibri"/>
                <a:ea typeface="Calibri"/>
                <a:cs typeface="Calibri"/>
                <a:sym typeface="Calibri"/>
              </a:rPr>
              <a:t>CREON Message (Sep’24 – Oct’24)</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a:t>
            </a:r>
            <a:r>
              <a:rPr lang="en-US" sz="4000" b="0" i="0">
                <a:solidFill>
                  <a:srgbClr val="242424"/>
                </a:solidFill>
                <a:effectLst/>
                <a:latin typeface="Aptos Narrow" panose="020B0004020202020204" pitchFamily="34" charset="0"/>
              </a:rPr>
              <a:t>Eligible patients may pay as little as $5 a month per 30- or 90-day prescription with the CREON Complete Savings Card</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(W5)</a:t>
            </a:r>
          </a:p>
          <a:p>
            <a:pPr marL="457200" lvl="1" indent="0" algn="l" rtl="0" fontAlgn="t">
              <a:spcBef>
                <a:spcPts val="0"/>
              </a:spcBef>
              <a:spcAft>
                <a:spcPts val="0"/>
              </a:spcAft>
              <a:buNone/>
            </a:pPr>
            <a:br>
              <a:rPr lang="en-US" sz="4000" b="0">
                <a:effectLst/>
              </a:rPr>
            </a:br>
            <a:r>
              <a:rPr lang="en-US" sz="1800" b="1" i="0" u="none" strike="noStrike">
                <a:solidFill>
                  <a:srgbClr val="000000"/>
                </a:solidFill>
                <a:effectLst/>
                <a:latin typeface="Calibri" panose="020F0502020204030204" pitchFamily="34" charset="0"/>
              </a:rPr>
              <a:t>Z1</a:t>
            </a:r>
            <a:r>
              <a:rPr lang="en-US" sz="1800" b="0" i="0" u="none" strike="noStrike">
                <a:solidFill>
                  <a:srgbClr val="000000"/>
                </a:solidFill>
                <a:effectLst/>
                <a:latin typeface="Calibri" panose="020F0502020204030204" pitchFamily="34" charset="0"/>
              </a:rPr>
              <a:t> ZENPEP combined insurance coverage through commercial and Medicare Part D is 96% for all dosage strengths, with unrestricted access. Coverage is the same for all dosage strengths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Z2</a:t>
            </a:r>
            <a:r>
              <a:rPr lang="en-US" sz="1800" b="0" i="0" u="none" strike="noStrike">
                <a:solidFill>
                  <a:srgbClr val="000000"/>
                </a:solidFill>
                <a:effectLst/>
                <a:latin typeface="Calibri" panose="020F0502020204030204" pitchFamily="34" charset="0"/>
              </a:rPr>
              <a:t> EPI is characterized by deficiencies in the amount or activity of exocrine pancreatic enzymes. This can result in the inability to digest food properly, or maldigestion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Z3</a:t>
            </a:r>
            <a:r>
              <a:rPr lang="en-US" sz="1800" b="0" i="0" u="none" strike="noStrike">
                <a:solidFill>
                  <a:srgbClr val="000000"/>
                </a:solidFill>
                <a:effectLst/>
                <a:latin typeface="Calibri" panose="020F0502020204030204" pitchFamily="34" charset="0"/>
              </a:rPr>
              <a:t> In addition to the treatment of causative factors, there are 2 key goals for managing EPI are improving digestion and absorption of nutrients and relieving GI signs and symptoms of EPI</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Z4</a:t>
            </a:r>
            <a:r>
              <a:rPr lang="en-US" sz="1800" b="0" i="0" u="none" strike="noStrike">
                <a:solidFill>
                  <a:srgbClr val="000000"/>
                </a:solidFill>
                <a:effectLst/>
                <a:latin typeface="Calibri" panose="020F0502020204030204" pitchFamily="34" charset="0"/>
              </a:rPr>
              <a:t> Managing EPI includes lifestyle and dietary modifications, vitamin and nutrient supplementation, and pancreatic enzyme therapy</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Z5</a:t>
            </a:r>
            <a:r>
              <a:rPr lang="en-US" sz="1800" b="0" i="0" u="none" strike="noStrike">
                <a:solidFill>
                  <a:srgbClr val="000000"/>
                </a:solidFill>
                <a:effectLst/>
                <a:latin typeface="Calibri" panose="020F0502020204030204" pitchFamily="34" charset="0"/>
              </a:rPr>
              <a:t> ZENPEP has the widest range of dosing options, including the highest strength available—40,000 lipase units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Z6</a:t>
            </a:r>
            <a:r>
              <a:rPr lang="en-US" sz="1800" b="0" i="0" u="none" strike="noStrike">
                <a:solidFill>
                  <a:srgbClr val="000000"/>
                </a:solidFill>
                <a:effectLst/>
                <a:latin typeface="Calibri" panose="020F0502020204030204" pitchFamily="34" charset="0"/>
              </a:rPr>
              <a:t> ZENPEP offers dosing flexibility that minimizes the number of capsules needed. The ZENPEP dose can be calculated in 3 easy steps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Z9</a:t>
            </a:r>
            <a:r>
              <a:rPr lang="en-US" sz="1800" b="0" i="0" u="none" strike="noStrike">
                <a:solidFill>
                  <a:srgbClr val="000000"/>
                </a:solidFill>
                <a:effectLst/>
                <a:latin typeface="Calibri" panose="020F0502020204030204" pitchFamily="34" charset="0"/>
              </a:rPr>
              <a:t> In a non-inferiority study, ZENPEP was shown to have comparable efficacy to CREON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Z11</a:t>
            </a:r>
            <a:r>
              <a:rPr lang="en-US" sz="1800" b="0" i="0" u="none" strike="noStrike">
                <a:solidFill>
                  <a:srgbClr val="000000"/>
                </a:solidFill>
                <a:effectLst/>
                <a:latin typeface="Calibri" panose="020F0502020204030204" pitchFamily="34" charset="0"/>
              </a:rPr>
              <a:t> Eligible patients may be able to start saving today with the ZENPEP Patient Savings Program, paying as little as $0 out of pocket</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Z13</a:t>
            </a:r>
            <a:r>
              <a:rPr lang="en-US" sz="1800" b="0" i="0" u="none" strike="noStrike">
                <a:solidFill>
                  <a:srgbClr val="000000"/>
                </a:solidFill>
                <a:effectLst/>
                <a:latin typeface="Calibri" panose="020F0502020204030204" pitchFamily="34" charset="0"/>
              </a:rPr>
              <a:t> ZENPEP helps improve digestion and fuel your patients’ nutritional health</a:t>
            </a:r>
          </a:p>
          <a:p>
            <a:pPr marL="4572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4000" b="1" i="0" u="none" strike="noStrike">
                <a:solidFill>
                  <a:srgbClr val="000000"/>
                </a:solidFill>
                <a:effectLst/>
                <a:latin typeface="Calibri" panose="020F0502020204030204" pitchFamily="34" charset="0"/>
              </a:rPr>
              <a:t>Z14</a:t>
            </a:r>
            <a:r>
              <a:rPr lang="en-US" sz="4000" b="0" i="0" u="none" strike="noStrike">
                <a:solidFill>
                  <a:srgbClr val="000000"/>
                </a:solidFill>
                <a:effectLst/>
                <a:latin typeface="Calibri" panose="020F0502020204030204" pitchFamily="34" charset="0"/>
              </a:rPr>
              <a:t> </a:t>
            </a:r>
            <a:r>
              <a:rPr lang="en-GB" sz="7200" b="0" i="0">
                <a:solidFill>
                  <a:srgbClr val="333333"/>
                </a:solidFill>
                <a:effectLst/>
                <a:latin typeface="Roboto" panose="02000000000000000000" pitchFamily="2" charset="0"/>
              </a:rPr>
              <a:t>ZENPEP has excellent coverage, on par with or better than others in the PERT class</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ZP15</a:t>
            </a:r>
            <a:r>
              <a:rPr lang="en-GB"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ZP16</a:t>
            </a:r>
            <a:r>
              <a:rPr lang="en-GB"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ZP17</a:t>
            </a:r>
            <a:r>
              <a:rPr lang="en-GB"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ZP18</a:t>
            </a:r>
            <a:r>
              <a:rPr lang="en-GB"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ZP19</a:t>
            </a:r>
            <a:r>
              <a:rPr lang="en-GB"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Z7</a:t>
            </a:r>
            <a:r>
              <a:rPr lang="en-GB"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ZP20</a:t>
            </a:r>
            <a:r>
              <a:rPr lang="en-GB"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ZP21</a:t>
            </a:r>
            <a:r>
              <a:rPr lang="en-GB"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ZP8</a:t>
            </a:r>
            <a:r>
              <a:rPr lang="en-GB"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ZP22</a:t>
            </a:r>
            <a:r>
              <a:rPr lang="en-GB"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ZP11</a:t>
            </a:r>
            <a:r>
              <a:rPr lang="en-GB"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ZP23</a:t>
            </a:r>
            <a:r>
              <a:rPr lang="en-GB" sz="1800" b="0" i="0" u="none" strike="noStrike">
                <a:solidFill>
                  <a:srgbClr val="000000"/>
                </a:solidFill>
                <a:effectLst/>
                <a:latin typeface="Calibri" panose="020F0502020204030204" pitchFamily="34" charset="0"/>
              </a:rPr>
              <a:t> Almost all patients are covered with either commercial insurance (89%) or Medicare Part D (98%)</a:t>
            </a: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Q2.30A You mentioned hearing the following messages about [</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 Please indicate which of the following messages that you heard was the </a:t>
            </a:r>
            <a:r>
              <a:rPr lang="en-US" sz="1000" b="1">
                <a:solidFill>
                  <a:srgbClr val="262626"/>
                </a:solidFill>
                <a:latin typeface="Calibri"/>
                <a:ea typeface="Calibri"/>
                <a:cs typeface="Calibri"/>
                <a:sym typeface="Calibri"/>
              </a:rPr>
              <a:t>primary message </a:t>
            </a:r>
            <a:r>
              <a:rPr lang="en-US" sz="1000">
                <a:solidFill>
                  <a:srgbClr val="262626"/>
                </a:solidFill>
                <a:latin typeface="Calibri"/>
                <a:ea typeface="Calibri"/>
                <a:cs typeface="Calibri"/>
                <a:sym typeface="Calibri"/>
              </a:rPr>
              <a:t>discussed during your most recent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with the [</a:t>
            </a:r>
            <a:r>
              <a:rPr lang="en-US" sz="1000">
                <a:solidFill>
                  <a:srgbClr val="262626"/>
                </a:solidFill>
                <a:highlight>
                  <a:srgbClr val="D3D3D3"/>
                </a:highlight>
                <a:latin typeface="Calibri"/>
                <a:ea typeface="Calibri"/>
                <a:cs typeface="Calibri"/>
                <a:sym typeface="Calibri"/>
              </a:rPr>
              <a:t>COMPANY</a:t>
            </a:r>
            <a:r>
              <a:rPr lang="en-US" sz="1000">
                <a:solidFill>
                  <a:srgbClr val="262626"/>
                </a:solidFill>
                <a:latin typeface="Calibri"/>
                <a:ea typeface="Calibri"/>
                <a:cs typeface="Calibri"/>
                <a:sym typeface="Calibri"/>
              </a:rPr>
              <a:t>] rep? </a:t>
            </a: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lang="en-US"/>
          </a:p>
        </p:txBody>
      </p:sp>
      <p:sp>
        <p:nvSpPr>
          <p:cNvPr id="339" name="Google Shape;339;p10:notes">
            <a:extLst>
              <a:ext uri="{FF2B5EF4-FFF2-40B4-BE49-F238E27FC236}">
                <a16:creationId xmlns:a16="http://schemas.microsoft.com/office/drawing/2014/main" id="{99B4A5A0-BCC4-5882-1CE3-5AF17E1C25CB}"/>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412871924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
          <a:extLst>
            <a:ext uri="{FF2B5EF4-FFF2-40B4-BE49-F238E27FC236}">
              <a16:creationId xmlns:a16="http://schemas.microsoft.com/office/drawing/2014/main" id="{4A428407-2CE2-718B-1F12-85C6E6536375}"/>
            </a:ext>
          </a:extLst>
        </p:cNvPr>
        <p:cNvGrpSpPr/>
        <p:nvPr/>
      </p:nvGrpSpPr>
      <p:grpSpPr>
        <a:xfrm>
          <a:off x="0" y="0"/>
          <a:ext cx="0" cy="0"/>
          <a:chOff x="0" y="0"/>
          <a:chExt cx="0" cy="0"/>
        </a:xfrm>
      </p:grpSpPr>
      <p:sp>
        <p:nvSpPr>
          <p:cNvPr id="1750" name="Google Shape;1750;p46:notes">
            <a:extLst>
              <a:ext uri="{FF2B5EF4-FFF2-40B4-BE49-F238E27FC236}">
                <a16:creationId xmlns:a16="http://schemas.microsoft.com/office/drawing/2014/main" id="{3C531E36-40B6-FC40-6AAC-C8BD5B63DC52}"/>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751" name="Google Shape;1751;p46:notes">
            <a:extLst>
              <a:ext uri="{FF2B5EF4-FFF2-40B4-BE49-F238E27FC236}">
                <a16:creationId xmlns:a16="http://schemas.microsoft.com/office/drawing/2014/main" id="{2BE21516-A5A6-853D-37FA-84BF46AA636A}"/>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br>
              <a:rPr lang="en-US" sz="1800" b="0" i="0" u="none" strike="noStrike">
                <a:solidFill>
                  <a:srgbClr val="000000"/>
                </a:solidFill>
                <a:effectLst/>
                <a:latin typeface="Calibri" panose="020F0502020204030204" pitchFamily="34" charset="0"/>
              </a:rPr>
            </a:br>
            <a:r>
              <a:rPr lang="en-US" sz="1800" b="0" i="0" u="none" strike="noStrike">
                <a:solidFill>
                  <a:srgbClr val="000000"/>
                </a:solidFill>
                <a:effectLst/>
                <a:latin typeface="Calibri" panose="020F0502020204030204" pitchFamily="34" charset="0"/>
              </a:rPr>
              <a:t>Q2.100B How likely are you to increase your prescribing of [PRODUCT] to your exocrine pancreatic insufficiency (EPI) patients based on your most recent </a:t>
            </a:r>
            <a:r>
              <a:rPr lang="en-US" sz="1800" b="0" i="0" u="none" strike="noStrike">
                <a:solidFill>
                  <a:srgbClr val="262626"/>
                </a:solidFill>
                <a:effectLst/>
                <a:latin typeface="Calibri" panose="020F0502020204030204" pitchFamily="34" charset="0"/>
              </a:rPr>
              <a:t>[PIPE IN PRIORITY CHANNEL]</a:t>
            </a:r>
            <a:r>
              <a:rPr lang="en-US" sz="1800" b="0" i="0" u="none" strike="noStrike">
                <a:solidFill>
                  <a:srgbClr val="000000"/>
                </a:solidFill>
                <a:effectLst/>
                <a:latin typeface="Calibri" panose="020F0502020204030204" pitchFamily="34" charset="0"/>
              </a:rPr>
              <a:t> with the [COMPANY] sales rep? </a:t>
            </a:r>
            <a:r>
              <a:rPr lang="en-US" sz="1800" b="0" i="1" u="none" strike="noStrike">
                <a:solidFill>
                  <a:srgbClr val="000000"/>
                </a:solidFill>
                <a:effectLst/>
                <a:latin typeface="Calibri" panose="020F0502020204030204" pitchFamily="34" charset="0"/>
              </a:rPr>
              <a:t>1 = Not at all likely // 7 = Extremely likely</a:t>
            </a:r>
            <a:br>
              <a:rPr lang="en-US" sz="1800" b="0" i="1" u="none" strike="noStrike">
                <a:solidFill>
                  <a:srgbClr val="000000"/>
                </a:solidFill>
                <a:effectLst/>
                <a:latin typeface="Calibri" panose="020F0502020204030204" pitchFamily="34" charset="0"/>
              </a:rPr>
            </a:br>
            <a:endParaRPr lang="en-US" sz="1800" b="0" i="1" u="none" strike="noStrike">
              <a:solidFill>
                <a:srgbClr val="000000"/>
              </a:solidFill>
              <a:effectLst/>
              <a:latin typeface="Calibri" panose="020F0502020204030204" pitchFamily="34" charset="0"/>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solidFill>
                  <a:srgbClr val="262626"/>
                </a:solidFill>
                <a:latin typeface="Calibri"/>
                <a:ea typeface="Calibri"/>
                <a:cs typeface="Calibri"/>
                <a:sym typeface="Calibri"/>
              </a:rPr>
              <a:t>Q2.20A Which of the following messages do you recall hearing from the [</a:t>
            </a:r>
            <a:r>
              <a:rPr lang="en-US" sz="4000">
                <a:solidFill>
                  <a:srgbClr val="262626"/>
                </a:solidFill>
                <a:highlight>
                  <a:srgbClr val="D3D3D3"/>
                </a:highlight>
                <a:latin typeface="Calibri"/>
                <a:ea typeface="Calibri"/>
                <a:cs typeface="Calibri"/>
                <a:sym typeface="Calibri"/>
              </a:rPr>
              <a:t>PIPE IN PRIORITY CHANNEL</a:t>
            </a:r>
            <a:r>
              <a:rPr lang="en-US" sz="4000">
                <a:solidFill>
                  <a:srgbClr val="262626"/>
                </a:solidFill>
                <a:latin typeface="Calibri"/>
                <a:ea typeface="Calibri"/>
                <a:cs typeface="Calibri"/>
                <a:sym typeface="Calibri"/>
              </a:rPr>
              <a:t>] </a:t>
            </a:r>
            <a:r>
              <a:rPr lang="en-US" sz="4000">
                <a:latin typeface="Calibri"/>
                <a:ea typeface="Calibri"/>
                <a:cs typeface="Calibri"/>
                <a:sym typeface="Calibri"/>
              </a:rPr>
              <a:t>regarding </a:t>
            </a:r>
            <a:r>
              <a:rPr lang="en-US" sz="4000">
                <a:solidFill>
                  <a:srgbClr val="262626"/>
                </a:solidFill>
                <a:latin typeface="Calibri"/>
                <a:ea typeface="Calibri"/>
                <a:cs typeface="Calibri"/>
                <a:sym typeface="Calibri"/>
              </a:rPr>
              <a:t>[</a:t>
            </a:r>
            <a:r>
              <a:rPr lang="en-US" sz="4000">
                <a:solidFill>
                  <a:srgbClr val="262626"/>
                </a:solidFill>
                <a:highlight>
                  <a:srgbClr val="D3D3D3"/>
                </a:highlight>
                <a:latin typeface="Calibri"/>
                <a:ea typeface="Calibri"/>
                <a:cs typeface="Calibri"/>
                <a:sym typeface="Calibri"/>
              </a:rPr>
              <a:t>EPI COMMUNICATION OR PRODUCT</a:t>
            </a:r>
            <a:r>
              <a:rPr lang="en-US" sz="4000">
                <a:solidFill>
                  <a:srgbClr val="262626"/>
                </a:solidFill>
                <a:latin typeface="Calibri"/>
                <a:ea typeface="Calibri"/>
                <a:cs typeface="Calibri"/>
                <a:sym typeface="Calibri"/>
              </a:rPr>
              <a:t>]?</a:t>
            </a:r>
            <a:endParaRPr lang="en-GB" sz="4000" b="0">
              <a:solidFill>
                <a:srgbClr val="262626"/>
              </a:solidFill>
              <a:effectLst/>
              <a:latin typeface="Calibri"/>
              <a:ea typeface="Calibri"/>
              <a:cs typeface="Calibri"/>
              <a:sym typeface="Calibri"/>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br>
              <a:rPr lang="en-GB" sz="4000" b="0">
                <a:solidFill>
                  <a:srgbClr val="262626"/>
                </a:solidFill>
                <a:effectLst/>
                <a:latin typeface="Calibri"/>
                <a:ea typeface="Calibri"/>
                <a:cs typeface="Calibri"/>
                <a:sym typeface="Calibri"/>
              </a:rPr>
            </a:br>
            <a:r>
              <a:rPr lang="en-GB" sz="4000" b="0">
                <a:solidFill>
                  <a:srgbClr val="262626"/>
                </a:solidFill>
                <a:effectLst/>
                <a:latin typeface="Calibri"/>
                <a:ea typeface="Calibri"/>
                <a:cs typeface="Calibri"/>
                <a:sym typeface="Calibri"/>
              </a:rPr>
              <a:t>n values</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             </a:t>
            </a:r>
            <a:br>
              <a:rPr lang="en-US" sz="4000"/>
            </a:br>
            <a:r>
              <a:rPr lang="en-US" sz="4000"/>
              <a:t>Code	Recalled	Not Recalled</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	76	135</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C3	95	117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C4	95	117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C6	128	84</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C7	134	77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C9	79	132</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C10	102	109</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C11	102	110</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C14	37	66</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C15	12	92</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C17	44	167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C19	54	157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C20	32	76</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C21	31	77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t>C22	33	75</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endParaRPr lang="en-US" sz="4000"/>
          </a:p>
        </p:txBody>
      </p:sp>
      <p:sp>
        <p:nvSpPr>
          <p:cNvPr id="1752" name="Google Shape;1752;p46:notes">
            <a:extLst>
              <a:ext uri="{FF2B5EF4-FFF2-40B4-BE49-F238E27FC236}">
                <a16:creationId xmlns:a16="http://schemas.microsoft.com/office/drawing/2014/main" id="{B422B146-7215-D33E-F756-5B0CC0247D1B}"/>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34</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2686556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
          <a:extLst>
            <a:ext uri="{FF2B5EF4-FFF2-40B4-BE49-F238E27FC236}">
              <a16:creationId xmlns:a16="http://schemas.microsoft.com/office/drawing/2014/main" id="{17E8A591-4A0A-F516-0519-53571DE304E9}"/>
            </a:ext>
          </a:extLst>
        </p:cNvPr>
        <p:cNvGrpSpPr/>
        <p:nvPr/>
      </p:nvGrpSpPr>
      <p:grpSpPr>
        <a:xfrm>
          <a:off x="0" y="0"/>
          <a:ext cx="0" cy="0"/>
          <a:chOff x="0" y="0"/>
          <a:chExt cx="0" cy="0"/>
        </a:xfrm>
      </p:grpSpPr>
      <p:sp>
        <p:nvSpPr>
          <p:cNvPr id="1750" name="Google Shape;1750;p46:notes">
            <a:extLst>
              <a:ext uri="{FF2B5EF4-FFF2-40B4-BE49-F238E27FC236}">
                <a16:creationId xmlns:a16="http://schemas.microsoft.com/office/drawing/2014/main" id="{85F49FB6-FF42-0BDD-1DE9-301E24C140C5}"/>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751" name="Google Shape;1751;p46:notes">
            <a:extLst>
              <a:ext uri="{FF2B5EF4-FFF2-40B4-BE49-F238E27FC236}">
                <a16:creationId xmlns:a16="http://schemas.microsoft.com/office/drawing/2014/main" id="{E093B954-AB98-8FA7-61B9-2255F81D9908}"/>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1800" b="0" i="0" u="none" strike="noStrike">
                <a:solidFill>
                  <a:srgbClr val="000000"/>
                </a:solidFill>
                <a:effectLst/>
                <a:latin typeface="Calibri" panose="020F0502020204030204" pitchFamily="34" charset="0"/>
              </a:rPr>
              <a:t>Q2.100B How likely are you to increase your prescribing of [PRODUCT] to your exocrine pancreatic insufficiency (EPI) patients based on your most recent </a:t>
            </a:r>
            <a:r>
              <a:rPr lang="en-US" sz="1800" b="0" i="0" u="none" strike="noStrike">
                <a:solidFill>
                  <a:srgbClr val="262626"/>
                </a:solidFill>
                <a:effectLst/>
                <a:latin typeface="Calibri" panose="020F0502020204030204" pitchFamily="34" charset="0"/>
              </a:rPr>
              <a:t>[PIPE IN PRIORITY CHANNEL]</a:t>
            </a:r>
            <a:r>
              <a:rPr lang="en-US" sz="1800" b="0" i="0" u="none" strike="noStrike">
                <a:solidFill>
                  <a:srgbClr val="000000"/>
                </a:solidFill>
                <a:effectLst/>
                <a:latin typeface="Calibri" panose="020F0502020204030204" pitchFamily="34" charset="0"/>
              </a:rPr>
              <a:t> with the [COMPANY] sales rep? </a:t>
            </a:r>
            <a:r>
              <a:rPr lang="en-US" sz="1800" b="0" i="1" u="none" strike="noStrike">
                <a:solidFill>
                  <a:srgbClr val="000000"/>
                </a:solidFill>
                <a:effectLst/>
                <a:latin typeface="Calibri" panose="020F0502020204030204" pitchFamily="34" charset="0"/>
              </a:rPr>
              <a:t>1 = Not at all likely // 7 = Extremely likely</a:t>
            </a:r>
            <a:br>
              <a:rPr lang="en-US" sz="1800" b="0" i="1" u="none" strike="noStrike">
                <a:solidFill>
                  <a:srgbClr val="000000"/>
                </a:solidFill>
                <a:effectLst/>
                <a:latin typeface="Calibri" panose="020F0502020204030204" pitchFamily="34" charset="0"/>
              </a:rPr>
            </a:br>
            <a:endParaRPr lang="en-US" sz="1800" b="0" i="1" u="none" strike="noStrike">
              <a:solidFill>
                <a:srgbClr val="000000"/>
              </a:solidFill>
              <a:effectLst/>
              <a:latin typeface="Calibri" panose="020F0502020204030204" pitchFamily="34" charset="0"/>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4000">
                <a:solidFill>
                  <a:srgbClr val="262626"/>
                </a:solidFill>
                <a:latin typeface="Calibri"/>
                <a:ea typeface="Calibri"/>
                <a:cs typeface="Calibri"/>
                <a:sym typeface="Calibri"/>
              </a:rPr>
              <a:t>Q2.20A Which of the following messages do you recall hearing from the [</a:t>
            </a:r>
            <a:r>
              <a:rPr lang="en-US" sz="4000">
                <a:solidFill>
                  <a:srgbClr val="262626"/>
                </a:solidFill>
                <a:highlight>
                  <a:srgbClr val="D3D3D3"/>
                </a:highlight>
                <a:latin typeface="Calibri"/>
                <a:ea typeface="Calibri"/>
                <a:cs typeface="Calibri"/>
                <a:sym typeface="Calibri"/>
              </a:rPr>
              <a:t>PIPE IN PRIORITY CHANNEL</a:t>
            </a:r>
            <a:r>
              <a:rPr lang="en-US" sz="4000">
                <a:solidFill>
                  <a:srgbClr val="262626"/>
                </a:solidFill>
                <a:latin typeface="Calibri"/>
                <a:ea typeface="Calibri"/>
                <a:cs typeface="Calibri"/>
                <a:sym typeface="Calibri"/>
              </a:rPr>
              <a:t>] </a:t>
            </a:r>
            <a:r>
              <a:rPr lang="en-US" sz="4000">
                <a:latin typeface="Calibri"/>
                <a:ea typeface="Calibri"/>
                <a:cs typeface="Calibri"/>
                <a:sym typeface="Calibri"/>
              </a:rPr>
              <a:t>regarding </a:t>
            </a:r>
            <a:r>
              <a:rPr lang="en-US" sz="4000">
                <a:solidFill>
                  <a:srgbClr val="262626"/>
                </a:solidFill>
                <a:latin typeface="Calibri"/>
                <a:ea typeface="Calibri"/>
                <a:cs typeface="Calibri"/>
                <a:sym typeface="Calibri"/>
              </a:rPr>
              <a:t>[</a:t>
            </a:r>
            <a:r>
              <a:rPr lang="en-US" sz="4000">
                <a:solidFill>
                  <a:srgbClr val="262626"/>
                </a:solidFill>
                <a:highlight>
                  <a:srgbClr val="D3D3D3"/>
                </a:highlight>
                <a:latin typeface="Calibri"/>
                <a:ea typeface="Calibri"/>
                <a:cs typeface="Calibri"/>
                <a:sym typeface="Calibri"/>
              </a:rPr>
              <a:t>EPI COMMUNICATION OR PRODUCT</a:t>
            </a:r>
            <a:r>
              <a:rPr lang="en-US" sz="4000">
                <a:solidFill>
                  <a:srgbClr val="262626"/>
                </a:solidFill>
                <a:latin typeface="Calibri"/>
                <a:ea typeface="Calibri"/>
                <a:cs typeface="Calibri"/>
                <a:sym typeface="Calibri"/>
              </a:rPr>
              <a:t>]?</a:t>
            </a:r>
            <a:endParaRPr lang="en-GB" sz="4000" b="0">
              <a:solidFill>
                <a:srgbClr val="262626"/>
              </a:solidFill>
              <a:effectLst/>
              <a:latin typeface="Calibri"/>
              <a:ea typeface="Calibri"/>
              <a:cs typeface="Calibri"/>
              <a:sym typeface="Calibri"/>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br>
              <a:rPr lang="en-GB" sz="4000" b="0">
                <a:solidFill>
                  <a:srgbClr val="262626"/>
                </a:solidFill>
                <a:effectLst/>
                <a:latin typeface="Calibri"/>
                <a:ea typeface="Calibri"/>
                <a:cs typeface="Calibri"/>
                <a:sym typeface="Calibri"/>
              </a:rPr>
            </a:br>
            <a:r>
              <a:rPr lang="en-GB" sz="4000" b="0">
                <a:solidFill>
                  <a:srgbClr val="262626"/>
                </a:solidFill>
                <a:effectLst/>
                <a:latin typeface="Calibri"/>
                <a:ea typeface="Calibri"/>
                <a:cs typeface="Calibri"/>
                <a:sym typeface="Calibri"/>
              </a:rPr>
              <a:t>n values</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endParaRPr lang="en-GB" sz="4000" b="0">
              <a:solidFill>
                <a:srgbClr val="262626"/>
              </a:solidFill>
              <a:effectLst/>
              <a:latin typeface="Calibri"/>
              <a:ea typeface="Calibri"/>
              <a:cs typeface="Calibri"/>
              <a:sym typeface="Calibri"/>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Code	Recalled	Not recalled</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Z7	111	122</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Z8	56	163</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Z11	155	100</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Z15	124	118</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Z16	181	81</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Z17	189	76</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Z18	71	151</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Z19	105	129</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Z20	76	151</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Z21	106	123</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Z22	58	162</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Z23	147	109</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pl-PL" sz="4000" b="0">
                <a:solidFill>
                  <a:srgbClr val="262626"/>
                </a:solidFill>
                <a:effectLst/>
                <a:latin typeface="Calibri"/>
                <a:ea typeface="Calibri"/>
                <a:cs typeface="Calibri"/>
                <a:sym typeface="Calibri"/>
              </a:rPr>
              <a:t>Z24	25	77</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endParaRPr lang="en-GB" sz="4000" b="0">
              <a:solidFill>
                <a:srgbClr val="262626"/>
              </a:solidFill>
              <a:effectLst/>
              <a:latin typeface="Calibri"/>
              <a:ea typeface="Calibri"/>
              <a:cs typeface="Calibri"/>
              <a:sym typeface="Calibri"/>
            </a:endParaRPr>
          </a:p>
        </p:txBody>
      </p:sp>
      <p:sp>
        <p:nvSpPr>
          <p:cNvPr id="1752" name="Google Shape;1752;p46:notes">
            <a:extLst>
              <a:ext uri="{FF2B5EF4-FFF2-40B4-BE49-F238E27FC236}">
                <a16:creationId xmlns:a16="http://schemas.microsoft.com/office/drawing/2014/main" id="{A161CFDE-0D0A-439A-1753-8DFC4D877D59}"/>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35</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94714741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0"/>
        <p:cNvGrpSpPr/>
        <p:nvPr/>
      </p:nvGrpSpPr>
      <p:grpSpPr>
        <a:xfrm>
          <a:off x="0" y="0"/>
          <a:ext cx="0" cy="0"/>
          <a:chOff x="0" y="0"/>
          <a:chExt cx="0" cy="0"/>
        </a:xfrm>
      </p:grpSpPr>
      <p:sp>
        <p:nvSpPr>
          <p:cNvPr id="1591" name="Google Shape;1591;p41: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592" name="Google Shape;1592;p41: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b="1">
                <a:latin typeface="Calibri"/>
                <a:ea typeface="Calibri"/>
                <a:cs typeface="Calibri"/>
              </a:rPr>
              <a:t>Sample size</a:t>
            </a:r>
            <a:br>
              <a:rPr lang="en-US" sz="1800" b="1">
                <a:latin typeface="Calibri"/>
                <a:ea typeface="Calibri"/>
                <a:cs typeface="Calibri"/>
              </a:rPr>
            </a:br>
            <a:endParaRPr lang="en-US" sz="1800" b="1">
              <a:latin typeface="Calibri"/>
              <a:ea typeface="Calibri"/>
              <a:cs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b="1" i="0" u="none" strike="noStrike" cap="none">
                <a:solidFill>
                  <a:schemeClr val="lt1"/>
                </a:solidFill>
                <a:latin typeface="Calibri"/>
                <a:ea typeface="Calibri"/>
                <a:cs typeface="Calibri"/>
                <a:sym typeface="Calibri"/>
              </a:rPr>
              <a:t>Overall quality of the Rep’s interaction </a:t>
            </a:r>
            <a:br>
              <a:rPr lang="en-US" sz="1800" b="1" i="0" u="none" strike="noStrike" cap="none">
                <a:solidFill>
                  <a:schemeClr val="lt1"/>
                </a:solidFill>
                <a:latin typeface="Calibri"/>
                <a:ea typeface="Calibri"/>
                <a:cs typeface="Calibri"/>
                <a:sym typeface="Calibri"/>
              </a:rPr>
            </a:br>
            <a:br>
              <a:rPr lang="en-US" sz="1800" b="1" i="0" u="none" strike="noStrike" cap="none">
                <a:solidFill>
                  <a:schemeClr val="lt1"/>
                </a:solidFill>
                <a:latin typeface="Calibri"/>
                <a:ea typeface="Calibri"/>
                <a:cs typeface="Calibri"/>
                <a:sym typeface="Calibri"/>
              </a:rPr>
            </a:br>
            <a:r>
              <a:rPr lang="en-US" sz="1800" b="1" i="0" u="none" strike="noStrike" cap="none">
                <a:solidFill>
                  <a:schemeClr val="lt1"/>
                </a:solidFill>
                <a:latin typeface="Calibri"/>
                <a:ea typeface="Calibri"/>
                <a:cs typeface="Calibri"/>
                <a:sym typeface="Calibri"/>
              </a:rPr>
              <a:t>CREON</a:t>
            </a:r>
            <a:endParaRPr lang="en-US" sz="1200" b="1">
              <a:solidFill>
                <a:schemeClr val="lt1"/>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		Overall	Gastro	PCPs</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Jan’25 – Feb’25	81	46	19*</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Mar’25 – Apr’25	103	62	20*</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May’25 – Jun’25	95	48	24*</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Jul’25 – Aug’25	104	55	21*</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Sep’25 – Oct’25	101	48	24*</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Nov’25 – Dec’25	102	53	22*</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US" sz="1800">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b="1" i="0" u="none" strike="noStrike" cap="none">
                <a:solidFill>
                  <a:schemeClr val="lt1"/>
                </a:solidFill>
                <a:latin typeface="Calibri"/>
                <a:ea typeface="Calibri"/>
                <a:cs typeface="Calibri"/>
                <a:sym typeface="Calibri"/>
              </a:rPr>
              <a:t>ZENPEP</a:t>
            </a:r>
            <a:br>
              <a:rPr lang="en-US" sz="1800">
                <a:latin typeface="Calibri"/>
                <a:ea typeface="Calibri"/>
                <a:cs typeface="Calibri"/>
                <a:sym typeface="Calibri"/>
              </a:rPr>
            </a:br>
            <a:r>
              <a:rPr lang="en-US" sz="1800">
                <a:latin typeface="Calibri"/>
                <a:ea typeface="Calibri"/>
                <a:cs typeface="Calibri"/>
                <a:sym typeface="Calibri"/>
              </a:rPr>
              <a:t>		Overall	Gastro	PCPs</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Jan’25 – Feb’25	81	49	15*</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Mar’25 – Apr’25	97	59	18*</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May’25 – Jun’25	95	58	14*</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Jul’25 – Aug’25	99	65	16*</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Sep’25 – Oct’25	96	61	16*</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Nov’25 – Dec’25	96	52	19*</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US" sz="1800">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US" sz="1800">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US" sz="1800">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1" i="0" u="none" strike="noStrike" cap="none">
                <a:solidFill>
                  <a:schemeClr val="lt1"/>
                </a:solidFill>
                <a:latin typeface="Calibri"/>
                <a:ea typeface="Calibri"/>
                <a:cs typeface="Calibri"/>
                <a:sym typeface="Calibri"/>
              </a:rPr>
              <a:t>Likelihood to Increase Prescription After Interaction</a:t>
            </a:r>
            <a:br>
              <a:rPr lang="en-GB" sz="1800" b="0" i="0" u="none" strike="noStrike" cap="none">
                <a:solidFill>
                  <a:srgbClr val="FFFFFF"/>
                </a:solidFill>
                <a:latin typeface="Calibri"/>
                <a:ea typeface="Calibri"/>
                <a:cs typeface="Calibri"/>
                <a:sym typeface="Calibri"/>
              </a:rPr>
            </a:br>
            <a:endParaRPr lang="en-GB" sz="1800" b="0" i="0" u="none" strike="noStrike" cap="none">
              <a:solidFill>
                <a:srgbClr val="FFFFFF"/>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1" i="0" u="none" strike="noStrike" cap="none">
                <a:solidFill>
                  <a:srgbClr val="FFFFFF"/>
                </a:solidFill>
                <a:latin typeface="Calibri"/>
                <a:ea typeface="Calibri"/>
                <a:cs typeface="Calibri"/>
                <a:sym typeface="Calibri"/>
              </a:rPr>
              <a:t>CREON</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		Overall	Gastro	PCPs</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Jan’25 – Feb’25	109	60	28*</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Mar’25 – Apr’25	105	64	20*</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May’25 – Jun’25	106	52	26*</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Jul’25 – Aug’25	108	59	21*</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Sep’25 – Oct’25	104	49	25*</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Nov’25 – Dec’25	108	57	23*</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GB" sz="1800" b="0" i="0" u="none" strike="noStrike" cap="none">
              <a:solidFill>
                <a:srgbClr val="FFFFFF"/>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b="1" i="0" u="none" strike="noStrike" cap="none">
                <a:solidFill>
                  <a:schemeClr val="lt1"/>
                </a:solidFill>
                <a:latin typeface="Calibri"/>
                <a:ea typeface="Calibri"/>
                <a:cs typeface="Calibri"/>
                <a:sym typeface="Calibri"/>
              </a:rPr>
              <a:t>ZENPEP</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		Overall	Gastro	PCPs</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Jan’25 – Feb’25	108	59	19*</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Mar’25 – Apr’25	105	62	21*</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May’25 – Jun’25	104	62	17*</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GB" sz="1800" b="0" i="0" u="none" strike="noStrike" cap="none">
                <a:solidFill>
                  <a:srgbClr val="FFFFFF"/>
                </a:solidFill>
                <a:latin typeface="Calibri"/>
                <a:ea typeface="Calibri"/>
                <a:cs typeface="Calibri"/>
                <a:sym typeface="Calibri"/>
              </a:rPr>
              <a:t>Jul’25 – Aug’25	102	67	16*</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Sep’25 – Oct’25	106	69	18*	</a:t>
            </a:r>
            <a:endParaRPr lang="en-GB" sz="1800" b="0" i="0" u="none" strike="noStrike" cap="none">
              <a:solidFill>
                <a:srgbClr val="FFFFFF"/>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r>
              <a:rPr lang="en-US" sz="1800">
                <a:latin typeface="Calibri"/>
                <a:ea typeface="Calibri"/>
                <a:cs typeface="Calibri"/>
                <a:sym typeface="Calibri"/>
              </a:rPr>
              <a:t>Nov’25 – Dec’25	102	57	20*</a:t>
            </a: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GB" sz="1800" b="0" i="0" u="none" strike="noStrike" cap="none">
              <a:solidFill>
                <a:srgbClr val="FFFFFF"/>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chemeClr val="dk1"/>
              </a:buClr>
              <a:buSzPts val="1800"/>
              <a:buFont typeface="Arimo"/>
              <a:buNone/>
              <a:tabLst/>
              <a:defRPr/>
            </a:pPr>
            <a:endParaRPr lang="en-US" sz="1800">
              <a:latin typeface="Calibri"/>
              <a:ea typeface="Calibri"/>
              <a:cs typeface="Calibri"/>
              <a:sym typeface="Calibri"/>
            </a:endParaRPr>
          </a:p>
          <a:p>
            <a:pPr marL="0" lvl="0" indent="0" algn="l" rtl="0">
              <a:spcBef>
                <a:spcPts val="0"/>
              </a:spcBef>
              <a:spcAft>
                <a:spcPts val="0"/>
              </a:spcAft>
              <a:buClr>
                <a:schemeClr val="dk1"/>
              </a:buClr>
              <a:buSzPts val="1800"/>
              <a:buNone/>
            </a:pPr>
            <a:r>
              <a:rPr lang="en-US" sz="1800">
                <a:latin typeface="Calibri"/>
                <a:ea typeface="Calibri"/>
                <a:cs typeface="Calibri"/>
                <a:sym typeface="Calibri"/>
              </a:rPr>
              <a:t>Q2.40B Please rate the [COMPANY] sales rep across each of the following attributes based on your most recent interaction. Please use the scale below: 1 = Performed Poorly // 7 = Performed Extremely Well</a:t>
            </a: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1800" b="0" i="0" u="none" strike="noStrike">
                <a:solidFill>
                  <a:srgbClr val="000000"/>
                </a:solidFill>
                <a:effectLst/>
                <a:latin typeface="Calibri" panose="020F0502020204030204" pitchFamily="34" charset="0"/>
              </a:rPr>
              <a:t>Q2.100B How likely are you to increase your prescribing of [PRODUCT] to your exocrine pancreatic insufficiency (EPI) patients based on your most recent </a:t>
            </a:r>
            <a:r>
              <a:rPr lang="en-US" sz="1800" b="0" i="0" u="none" strike="noStrike">
                <a:solidFill>
                  <a:srgbClr val="262626"/>
                </a:solidFill>
                <a:effectLst/>
                <a:latin typeface="Calibri" panose="020F0502020204030204" pitchFamily="34" charset="0"/>
              </a:rPr>
              <a:t>[PIPE IN PRIORITY CHANNEL]</a:t>
            </a:r>
            <a:r>
              <a:rPr lang="en-US" sz="1800" b="0" i="0" u="none" strike="noStrike">
                <a:solidFill>
                  <a:srgbClr val="000000"/>
                </a:solidFill>
                <a:effectLst/>
                <a:latin typeface="Calibri" panose="020F0502020204030204" pitchFamily="34" charset="0"/>
              </a:rPr>
              <a:t> with the [COMPANY] sales rep? </a:t>
            </a:r>
            <a:r>
              <a:rPr lang="en-US" sz="1800" b="0" i="1" u="none" strike="noStrike">
                <a:solidFill>
                  <a:srgbClr val="000000"/>
                </a:solidFill>
                <a:effectLst/>
                <a:latin typeface="Calibri" panose="020F0502020204030204" pitchFamily="34" charset="0"/>
              </a:rPr>
              <a:t>1 = Not at all likely // 7 = Extremely likely</a:t>
            </a:r>
          </a:p>
          <a:p>
            <a:pPr marL="0" lvl="0" indent="0" algn="l" rtl="0">
              <a:spcBef>
                <a:spcPts val="1800"/>
              </a:spcBef>
              <a:spcAft>
                <a:spcPts val="0"/>
              </a:spcAft>
              <a:buClr>
                <a:schemeClr val="dk1"/>
              </a:buClr>
              <a:buSzPts val="1800"/>
              <a:buNone/>
            </a:pPr>
            <a:endParaRPr lang="en-US" sz="1800" b="1" i="1">
              <a:latin typeface="Calibri"/>
              <a:ea typeface="Calibri"/>
              <a:cs typeface="Calibri"/>
              <a:sym typeface="Calibri"/>
            </a:endParaRPr>
          </a:p>
          <a:p>
            <a:pPr marL="0" lvl="0" indent="0" algn="l" rtl="0">
              <a:spcBef>
                <a:spcPts val="1000"/>
              </a:spcBef>
              <a:spcAft>
                <a:spcPts val="0"/>
              </a:spcAft>
              <a:buClr>
                <a:schemeClr val="dk1"/>
              </a:buClr>
              <a:buSzPts val="1000"/>
              <a:buNone/>
            </a:pPr>
            <a:endParaRPr lang="en-US" b="1" i="1"/>
          </a:p>
        </p:txBody>
      </p:sp>
      <p:sp>
        <p:nvSpPr>
          <p:cNvPr id="1593" name="Google Shape;1593;p41: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37</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27912202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p8: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latin typeface="Calibri"/>
                <a:ea typeface="Calibri"/>
                <a:cs typeface="Calibri"/>
                <a:sym typeface="Calibri"/>
              </a:rPr>
              <a:t>Q2.40B Please rate the [COMPANY] sales rep across each of the following attributes based on your most recent interaction. Please use the scale below: </a:t>
            </a:r>
            <a:r>
              <a:rPr lang="en-US" sz="1000" i="1">
                <a:latin typeface="Calibri"/>
                <a:ea typeface="Calibri"/>
                <a:cs typeface="Calibri"/>
                <a:sym typeface="Calibri"/>
              </a:rPr>
              <a:t>1 = Performed Poorly // 7 = Performed Extremely Well</a:t>
            </a:r>
            <a:endParaRPr lang="en-US" b="1" i="1"/>
          </a:p>
          <a:p>
            <a:pPr marL="0" lvl="0" indent="0" algn="l" rtl="0">
              <a:spcBef>
                <a:spcPts val="1000"/>
              </a:spcBef>
              <a:spcAft>
                <a:spcPts val="0"/>
              </a:spcAft>
              <a:buNone/>
            </a:pPr>
            <a:br>
              <a:rPr lang="en-US"/>
            </a:br>
            <a:r>
              <a:rPr lang="en-US"/>
              <a:t>Sample size : Rep Performance</a:t>
            </a:r>
          </a:p>
          <a:p>
            <a:pPr marL="0" lvl="0" indent="0" algn="l" rtl="0">
              <a:spcBef>
                <a:spcPts val="1000"/>
              </a:spcBef>
              <a:spcAft>
                <a:spcPts val="0"/>
              </a:spcAft>
              <a:buNone/>
            </a:pPr>
            <a:endParaRPr lang="en-US"/>
          </a:p>
          <a:p>
            <a:pPr marL="0" lvl="0" indent="0" algn="l" rtl="0">
              <a:spcBef>
                <a:spcPts val="1000"/>
              </a:spcBef>
              <a:spcAft>
                <a:spcPts val="0"/>
              </a:spcAft>
              <a:buNone/>
            </a:pPr>
            <a:endParaRPr lang="en-US"/>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		CREON	ZENPEP</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Nov’24 – Dec’24	86	81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Jan’25 – Feb’25	81	81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Mar’25 – Apr’25	103	97</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May’25 – Jun’25	95	95</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Jul’24 – Aug’24	104	99</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Sep’25 – Oct’25	101	96</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endParaRPr lang="en-US"/>
          </a:p>
          <a:p>
            <a:pPr marL="0" lvl="0" indent="0" algn="l" rtl="0">
              <a:spcBef>
                <a:spcPts val="1000"/>
              </a:spcBef>
              <a:spcAft>
                <a:spcPts val="0"/>
              </a:spcAft>
              <a:buNone/>
            </a:pPr>
            <a:endParaRPr lang="en-US"/>
          </a:p>
        </p:txBody>
      </p:sp>
      <p:sp>
        <p:nvSpPr>
          <p:cNvPr id="295" name="Google Shape;295;p8: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153538582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F7510F41-4123-B6A2-E2E0-0AA73EC0B809}"/>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B5D7505B-92B7-CC52-2328-CD8DA2A3668E}"/>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07D524D2-8A00-464D-31EB-DD60C8C8FAB5}"/>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latin typeface="Calibri"/>
                <a:ea typeface="Calibri"/>
                <a:cs typeface="Calibri"/>
                <a:sym typeface="Calibri"/>
              </a:rPr>
              <a:t>Q2.40B Please rate the [COMPANY] sales rep across each of the following attributes based on your most recent interaction. Please use the scale below: </a:t>
            </a:r>
            <a:r>
              <a:rPr lang="en-US" sz="1800" i="1">
                <a:latin typeface="Calibri"/>
                <a:ea typeface="Calibri"/>
                <a:cs typeface="Calibri"/>
                <a:sym typeface="Calibri"/>
              </a:rPr>
              <a:t>1 = Performed Poorly // 7 = Performed Extremely Well</a:t>
            </a:r>
            <a:endParaRPr lang="en-US" sz="1800" b="1" i="1"/>
          </a:p>
          <a:p>
            <a:pPr marL="0" lvl="0" indent="0" algn="l" rtl="0">
              <a:spcBef>
                <a:spcPts val="1000"/>
              </a:spcBef>
              <a:spcAft>
                <a:spcPts val="0"/>
              </a:spcAft>
              <a:buNone/>
            </a:pPr>
            <a:br>
              <a:rPr lang="en-US" sz="1800">
                <a:solidFill>
                  <a:srgbClr val="262626"/>
                </a:solidFill>
                <a:latin typeface="Calibri"/>
                <a:ea typeface="Calibri"/>
                <a:cs typeface="Calibri"/>
                <a:sym typeface="Calibri"/>
              </a:rPr>
            </a:br>
            <a:r>
              <a:rPr lang="en-US" sz="1800"/>
              <a:t>Sample size : Rep Performance</a:t>
            </a:r>
          </a:p>
          <a:p>
            <a:pPr marL="0" lvl="0" indent="0" algn="l" rtl="0">
              <a:spcBef>
                <a:spcPts val="1000"/>
              </a:spcBef>
              <a:spcAft>
                <a:spcPts val="0"/>
              </a:spcAft>
              <a:buNone/>
            </a:pPr>
            <a:endParaRPr lang="en-US" sz="1800"/>
          </a:p>
          <a:p>
            <a:pPr marL="0" lvl="0" indent="0" algn="l" rtl="0">
              <a:spcBef>
                <a:spcPts val="1000"/>
              </a:spcBef>
              <a:spcAft>
                <a:spcPts val="0"/>
              </a:spcAft>
              <a:buNone/>
            </a:pPr>
            <a:endParaRPr lang="en-US" sz="1800"/>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		CREON	ZENPEP</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Nov’24 – Dec’24	86	81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Jan’25 – Feb’25	81	81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Mar’25 – Apr’25	103	97</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May’25 – Jun’25	95	95</a:t>
            </a: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a:t>Jul’25 – Aug’25	104	99</a:t>
            </a:r>
            <a:endParaRPr lang="en-US" sz="1800">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1800"/>
              </a:spcBef>
              <a:spcAft>
                <a:spcPts val="0"/>
              </a:spcAft>
              <a:buClr>
                <a:schemeClr val="dk1"/>
              </a:buClr>
              <a:buSzPts val="1800"/>
              <a:buFont typeface="Arimo"/>
              <a:buNone/>
              <a:tabLst/>
              <a:defRPr/>
            </a:pPr>
            <a:r>
              <a:rPr lang="en-US" sz="1800"/>
              <a:t>Sep’25 – Oct’25	101	96</a:t>
            </a:r>
          </a:p>
          <a:p>
            <a:pPr marL="0" lvl="0" indent="0" algn="l" rtl="0">
              <a:spcBef>
                <a:spcPts val="1800"/>
              </a:spcBef>
              <a:spcAft>
                <a:spcPts val="0"/>
              </a:spcAft>
              <a:buClr>
                <a:schemeClr val="dk1"/>
              </a:buClr>
              <a:buSzPts val="1800"/>
              <a:buNone/>
            </a:pPr>
            <a:endParaRPr sz="1800" b="1" i="1">
              <a:solidFill>
                <a:srgbClr val="262626"/>
              </a:solidFill>
              <a:latin typeface="Calibri"/>
              <a:ea typeface="Calibri"/>
              <a:cs typeface="Calibri"/>
              <a:sym typeface="Calibri"/>
            </a:endParaRPr>
          </a:p>
        </p:txBody>
      </p:sp>
      <p:sp>
        <p:nvSpPr>
          <p:cNvPr id="1356" name="Google Shape;1356;p33:notes">
            <a:extLst>
              <a:ext uri="{FF2B5EF4-FFF2-40B4-BE49-F238E27FC236}">
                <a16:creationId xmlns:a16="http://schemas.microsoft.com/office/drawing/2014/main" id="{B2F0F168-77B8-4230-FDFD-910188B05FB4}"/>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39</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32811757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a:extLst>
            <a:ext uri="{FF2B5EF4-FFF2-40B4-BE49-F238E27FC236}">
              <a16:creationId xmlns:a16="http://schemas.microsoft.com/office/drawing/2014/main" id="{F2727AD7-73DF-2CDF-A3D4-725E6A847AE2}"/>
            </a:ext>
          </a:extLst>
        </p:cNvPr>
        <p:cNvGrpSpPr/>
        <p:nvPr/>
      </p:nvGrpSpPr>
      <p:grpSpPr>
        <a:xfrm>
          <a:off x="0" y="0"/>
          <a:ext cx="0" cy="0"/>
          <a:chOff x="0" y="0"/>
          <a:chExt cx="0" cy="0"/>
        </a:xfrm>
      </p:grpSpPr>
      <p:sp>
        <p:nvSpPr>
          <p:cNvPr id="294" name="Google Shape;294;p8:notes">
            <a:extLst>
              <a:ext uri="{FF2B5EF4-FFF2-40B4-BE49-F238E27FC236}">
                <a16:creationId xmlns:a16="http://schemas.microsoft.com/office/drawing/2014/main" id="{FCC169E1-A0D7-AA61-EA9E-E75E70CD1EE5}"/>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latin typeface="Calibri"/>
                <a:ea typeface="Calibri"/>
                <a:cs typeface="Calibri"/>
                <a:sym typeface="Calibri"/>
              </a:rPr>
              <a:t>Q2.40B Please rate the [COMPANY] sales rep across each of the following attributes based on your most recent interaction. Please use the scale below: </a:t>
            </a:r>
            <a:r>
              <a:rPr lang="en-US" sz="1000" i="1">
                <a:latin typeface="Calibri"/>
                <a:ea typeface="Calibri"/>
                <a:cs typeface="Calibri"/>
                <a:sym typeface="Calibri"/>
              </a:rPr>
              <a:t>1 = Performed Poorly // 7 = Performed Extremely Well</a:t>
            </a:r>
            <a:endParaRPr lang="en-US" b="1" i="1"/>
          </a:p>
          <a:p>
            <a:pPr marL="0" lvl="0" indent="0" algn="l" rtl="0">
              <a:spcBef>
                <a:spcPts val="1000"/>
              </a:spcBef>
              <a:spcAft>
                <a:spcPts val="0"/>
              </a:spcAft>
              <a:buNone/>
            </a:pPr>
            <a:br>
              <a:rPr lang="en-US"/>
            </a:br>
            <a:r>
              <a:rPr lang="en-US"/>
              <a:t>Sample size : Rep Performance (Gastros)</a:t>
            </a:r>
            <a:br>
              <a:rPr lang="en-US"/>
            </a:br>
            <a:endParaRPr lang="en-US"/>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	                   CREON            </a:t>
            </a:r>
            <a:r>
              <a:rPr lang="en-US" sz="1000">
                <a:solidFill>
                  <a:srgbClr val="070605"/>
                </a:solidFill>
                <a:ea typeface="Calibri"/>
                <a:cs typeface="Calibri"/>
                <a:sym typeface="Calibri"/>
              </a:rPr>
              <a:t>ZENPEP</a:t>
            </a:r>
            <a:endParaRPr lang="en-US"/>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Jan’25 – Feb’25	46	49</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t>Mar’25 – Apr’25	62	59</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May’25 – Jun’25	48	58</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Jul’25 – Aug’25	55	65</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Sep’25 – Oct’25	48	61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Nov’25 – Dec’25	53	52</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endParaRPr lang="en-US"/>
          </a:p>
        </p:txBody>
      </p:sp>
      <p:sp>
        <p:nvSpPr>
          <p:cNvPr id="295" name="Google Shape;295;p8:notes">
            <a:extLst>
              <a:ext uri="{FF2B5EF4-FFF2-40B4-BE49-F238E27FC236}">
                <a16:creationId xmlns:a16="http://schemas.microsoft.com/office/drawing/2014/main" id="{7965C860-65BF-D841-F9E5-2D4A611EDC15}"/>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230863913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a:extLst>
            <a:ext uri="{FF2B5EF4-FFF2-40B4-BE49-F238E27FC236}">
              <a16:creationId xmlns:a16="http://schemas.microsoft.com/office/drawing/2014/main" id="{6B2FBFA9-23E4-0227-E560-DD9BB971936C}"/>
            </a:ext>
          </a:extLst>
        </p:cNvPr>
        <p:cNvGrpSpPr/>
        <p:nvPr/>
      </p:nvGrpSpPr>
      <p:grpSpPr>
        <a:xfrm>
          <a:off x="0" y="0"/>
          <a:ext cx="0" cy="0"/>
          <a:chOff x="0" y="0"/>
          <a:chExt cx="0" cy="0"/>
        </a:xfrm>
      </p:grpSpPr>
      <p:sp>
        <p:nvSpPr>
          <p:cNvPr id="294" name="Google Shape;294;p8:notes">
            <a:extLst>
              <a:ext uri="{FF2B5EF4-FFF2-40B4-BE49-F238E27FC236}">
                <a16:creationId xmlns:a16="http://schemas.microsoft.com/office/drawing/2014/main" id="{C94B5A61-4777-A7DE-EF96-A631971DDB9B}"/>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latin typeface="Calibri"/>
                <a:ea typeface="Calibri"/>
                <a:cs typeface="Calibri"/>
                <a:sym typeface="Calibri"/>
              </a:rPr>
              <a:t>Q2.40B Please rate the [COMPANY] sales rep across each of the following attributes based on your most recent interaction. Please use the scale below: </a:t>
            </a:r>
            <a:r>
              <a:rPr lang="en-US" sz="1000" i="1">
                <a:latin typeface="Calibri"/>
                <a:ea typeface="Calibri"/>
                <a:cs typeface="Calibri"/>
                <a:sym typeface="Calibri"/>
              </a:rPr>
              <a:t>1 = Performed Poorly // 7 = Performed Extremely Well</a:t>
            </a:r>
            <a:endParaRPr lang="en-US" b="1" i="1"/>
          </a:p>
          <a:p>
            <a:pPr marL="0" lvl="0" indent="0" algn="l" rtl="0">
              <a:spcBef>
                <a:spcPts val="1000"/>
              </a:spcBef>
              <a:spcAft>
                <a:spcPts val="0"/>
              </a:spcAft>
              <a:buNone/>
            </a:pPr>
            <a:br>
              <a:rPr lang="en-US"/>
            </a:br>
            <a:r>
              <a:rPr lang="en-US"/>
              <a:t>Sample size : Rep Performance (PCPs)</a:t>
            </a:r>
          </a:p>
          <a:p>
            <a:pPr marL="0" lvl="0" indent="0" algn="l" rtl="0">
              <a:spcBef>
                <a:spcPts val="1000"/>
              </a:spcBef>
              <a:spcAft>
                <a:spcPts val="0"/>
              </a:spcAft>
              <a:buNone/>
            </a:pPr>
            <a:br>
              <a:rPr lang="en-US"/>
            </a:br>
            <a:r>
              <a:rPr lang="en-US"/>
              <a:t>   	                    CREON            ZENPEP</a:t>
            </a:r>
          </a:p>
          <a:p>
            <a:pPr marL="0" lvl="0" indent="0" algn="l" rtl="0">
              <a:spcBef>
                <a:spcPts val="1000"/>
              </a:spcBef>
              <a:spcAft>
                <a:spcPts val="0"/>
              </a:spcAft>
              <a:buNone/>
            </a:pPr>
            <a:r>
              <a:rPr lang="en-US"/>
              <a:t>Jan’25 – Feb’25	19*	15*</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t>Mar’25 – Apr’25	20*	18*</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May’25 – Jun’25	24*	14*</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Jul’25 – Aug’25	21*	16*</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Sep’25 – Oct’25	24*	16*</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Nov’25 – Dec’25	22*	19*</a:t>
            </a:r>
          </a:p>
          <a:p>
            <a:pPr marL="0" lvl="0" indent="0" algn="l" rtl="0">
              <a:spcBef>
                <a:spcPts val="1000"/>
              </a:spcBef>
              <a:spcAft>
                <a:spcPts val="0"/>
              </a:spcAft>
              <a:buNone/>
            </a:pPr>
            <a:endParaRPr lang="en-US"/>
          </a:p>
        </p:txBody>
      </p:sp>
      <p:sp>
        <p:nvSpPr>
          <p:cNvPr id="295" name="Google Shape;295;p8:notes">
            <a:extLst>
              <a:ext uri="{FF2B5EF4-FFF2-40B4-BE49-F238E27FC236}">
                <a16:creationId xmlns:a16="http://schemas.microsoft.com/office/drawing/2014/main" id="{617024F1-87AC-8EC7-0EBC-40C075FF633D}"/>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236481268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a:extLst>
            <a:ext uri="{FF2B5EF4-FFF2-40B4-BE49-F238E27FC236}">
              <a16:creationId xmlns:a16="http://schemas.microsoft.com/office/drawing/2014/main" id="{394860F0-16A2-2FF2-7A24-77FD2D1CC6EB}"/>
            </a:ext>
          </a:extLst>
        </p:cNvPr>
        <p:cNvGrpSpPr/>
        <p:nvPr/>
      </p:nvGrpSpPr>
      <p:grpSpPr>
        <a:xfrm>
          <a:off x="0" y="0"/>
          <a:ext cx="0" cy="0"/>
          <a:chOff x="0" y="0"/>
          <a:chExt cx="0" cy="0"/>
        </a:xfrm>
      </p:grpSpPr>
      <p:sp>
        <p:nvSpPr>
          <p:cNvPr id="294" name="Google Shape;294;p8:notes">
            <a:extLst>
              <a:ext uri="{FF2B5EF4-FFF2-40B4-BE49-F238E27FC236}">
                <a16:creationId xmlns:a16="http://schemas.microsoft.com/office/drawing/2014/main" id="{B01FCB52-9B92-F762-E9D8-B04614452786}"/>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latin typeface="Calibri"/>
                <a:ea typeface="Calibri"/>
                <a:cs typeface="Calibri"/>
                <a:sym typeface="Calibri"/>
              </a:rPr>
              <a:t>Q2.40B Please rate the [COMPANY] sales rep across each of the following attributes based on your most recent interaction. Please use the scale below: </a:t>
            </a:r>
            <a:r>
              <a:rPr lang="en-US" sz="1000" i="1">
                <a:latin typeface="Calibri"/>
                <a:ea typeface="Calibri"/>
                <a:cs typeface="Calibri"/>
                <a:sym typeface="Calibri"/>
              </a:rPr>
              <a:t>1 = Performed Poorly // 7 = Performed Extremely Well</a:t>
            </a:r>
            <a:endParaRPr lang="en-US" b="1" i="1"/>
          </a:p>
          <a:p>
            <a:pPr marL="0" lvl="0" indent="0" algn="l" rtl="0">
              <a:spcBef>
                <a:spcPts val="1000"/>
              </a:spcBef>
              <a:spcAft>
                <a:spcPts val="0"/>
              </a:spcAft>
              <a:buNone/>
            </a:pPr>
            <a:br>
              <a:rPr lang="en-US"/>
            </a:br>
            <a:r>
              <a:rPr lang="en-US"/>
              <a:t>Sample size : Rep Performance (NP/PAs)</a:t>
            </a:r>
            <a:br>
              <a:rPr lang="en-US"/>
            </a:br>
            <a:endParaRPr lang="en-US"/>
          </a:p>
          <a:p>
            <a:pPr marL="0" lvl="0" indent="0" algn="l" rtl="0">
              <a:spcBef>
                <a:spcPts val="1000"/>
              </a:spcBef>
              <a:spcAft>
                <a:spcPts val="0"/>
              </a:spcAft>
              <a:buNone/>
            </a:pPr>
            <a:r>
              <a:rPr lang="en-US"/>
              <a:t>                                            CREON              ZENPEP</a:t>
            </a:r>
          </a:p>
          <a:p>
            <a:pPr marL="0" lvl="0" indent="0" algn="l" rtl="0">
              <a:spcBef>
                <a:spcPts val="1000"/>
              </a:spcBef>
              <a:spcAft>
                <a:spcPts val="0"/>
              </a:spcAft>
              <a:buNone/>
            </a:pPr>
            <a:r>
              <a:rPr lang="en-US"/>
              <a:t>Jan’25 – Feb’25	16*	17*</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t>Mar’25 – Apr’25	21*	20*</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May’25 – Jun’25	23*	23*</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Jul’25 – Aug’25	28*	18*</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Sep’25 – Oct’25	19*	20*</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Nov’25 – Dec’25	27*	25*</a:t>
            </a:r>
          </a:p>
          <a:p>
            <a:pPr marL="0" lvl="0" indent="0" algn="l" rtl="0">
              <a:spcBef>
                <a:spcPts val="1000"/>
              </a:spcBef>
              <a:spcAft>
                <a:spcPts val="0"/>
              </a:spcAft>
              <a:buNone/>
            </a:pPr>
            <a:endParaRPr lang="en-US"/>
          </a:p>
        </p:txBody>
      </p:sp>
      <p:sp>
        <p:nvSpPr>
          <p:cNvPr id="295" name="Google Shape;295;p8:notes">
            <a:extLst>
              <a:ext uri="{FF2B5EF4-FFF2-40B4-BE49-F238E27FC236}">
                <a16:creationId xmlns:a16="http://schemas.microsoft.com/office/drawing/2014/main" id="{F5E72424-D362-DBF5-9D8F-53632C25D0F8}"/>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70578088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000"/>
              </a:spcBef>
              <a:spcAft>
                <a:spcPts val="0"/>
              </a:spcAft>
              <a:buClr>
                <a:schemeClr val="dk1"/>
              </a:buClr>
              <a:buSzPts val="1000"/>
              <a:buNone/>
            </a:pPr>
            <a:r>
              <a:rPr lang="en-US" sz="1000" b="0" i="0">
                <a:solidFill>
                  <a:schemeClr val="lt1"/>
                </a:solidFill>
                <a:latin typeface="Calibri"/>
                <a:ea typeface="Calibri"/>
                <a:cs typeface="Calibri"/>
                <a:sym typeface="Calibri"/>
              </a:rPr>
              <a:t>Q9.00. What is your overall perception of the following manufacturers of products currently approved for exocrine pancreatic insufficiency (EPI)?</a:t>
            </a:r>
          </a:p>
          <a:p>
            <a:pPr marL="0" lvl="0" indent="0" algn="l" rtl="0">
              <a:spcBef>
                <a:spcPts val="1000"/>
              </a:spcBef>
              <a:spcAft>
                <a:spcPts val="0"/>
              </a:spcAft>
              <a:buClr>
                <a:schemeClr val="dk1"/>
              </a:buClr>
              <a:buSzPts val="1000"/>
              <a:buNone/>
            </a:pPr>
            <a:endParaRPr lang="en-US" sz="1000" b="0" i="0">
              <a:solidFill>
                <a:schemeClr val="lt1"/>
              </a:solidFill>
              <a:latin typeface="Calibri"/>
              <a:ea typeface="Calibri"/>
              <a:cs typeface="Calibri"/>
              <a:sym typeface="Calibri"/>
            </a:endParaRPr>
          </a:p>
          <a:p>
            <a:pPr marL="0" lvl="0" indent="0" algn="l" rtl="0">
              <a:spcBef>
                <a:spcPts val="1000"/>
              </a:spcBef>
              <a:spcAft>
                <a:spcPts val="0"/>
              </a:spcAft>
              <a:buClr>
                <a:schemeClr val="dk1"/>
              </a:buClr>
              <a:buSzPts val="1000"/>
              <a:buNone/>
            </a:pPr>
            <a:r>
              <a:rPr lang="en-US" sz="1000" b="0" i="0">
                <a:solidFill>
                  <a:schemeClr val="lt1"/>
                </a:solidFill>
                <a:latin typeface="Calibri"/>
                <a:ea typeface="Calibri"/>
                <a:cs typeface="Calibri"/>
                <a:sym typeface="Calibri"/>
              </a:rPr>
              <a:t>Please use the following scale: 1 = Extremely negative view of this product manufacturer // 7 = Extremely positive view of this product manufacturer.</a:t>
            </a:r>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45</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81916436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000"/>
              </a:spcBef>
              <a:spcAft>
                <a:spcPts val="0"/>
              </a:spcAft>
              <a:buClr>
                <a:schemeClr val="dk1"/>
              </a:buClr>
              <a:buSzPts val="1000"/>
              <a:buNone/>
            </a:pPr>
            <a:r>
              <a:rPr lang="en-US" sz="1000" b="1" i="0">
                <a:solidFill>
                  <a:schemeClr val="lt1"/>
                </a:solidFill>
                <a:latin typeface="Calibri"/>
                <a:ea typeface="Calibri"/>
                <a:cs typeface="Calibri"/>
                <a:sym typeface="Calibri"/>
              </a:rPr>
              <a:t>Q9.10. Doctor, please indicate your level of agreement for each of the following statements regarding [COMPANY].</a:t>
            </a:r>
          </a:p>
          <a:p>
            <a:pPr marL="0" lvl="0" indent="0" algn="l" rtl="0">
              <a:spcBef>
                <a:spcPts val="1000"/>
              </a:spcBef>
              <a:spcAft>
                <a:spcPts val="0"/>
              </a:spcAft>
              <a:buClr>
                <a:schemeClr val="dk1"/>
              </a:buClr>
              <a:buSzPts val="1000"/>
              <a:buNone/>
            </a:pPr>
            <a:r>
              <a:rPr lang="en-US" sz="1000" b="1" i="0">
                <a:solidFill>
                  <a:schemeClr val="lt1"/>
                </a:solidFill>
                <a:latin typeface="Calibri"/>
                <a:ea typeface="Calibri"/>
                <a:cs typeface="Calibri"/>
                <a:sym typeface="Calibri"/>
              </a:rPr>
              <a:t>Please use the following rating scale: 1 = Significantly disagree // 7 = Significantly agree</a:t>
            </a:r>
          </a:p>
          <a:p>
            <a:pPr marL="0" lvl="0" indent="0" algn="l" rtl="0">
              <a:spcBef>
                <a:spcPts val="1000"/>
              </a:spcBef>
              <a:spcAft>
                <a:spcPts val="0"/>
              </a:spcAft>
              <a:buClr>
                <a:schemeClr val="dk1"/>
              </a:buClr>
              <a:buSzPts val="1000"/>
              <a:buNone/>
            </a:pPr>
            <a:endParaRPr lang="en-US" sz="1000" b="0" i="1">
              <a:solidFill>
                <a:schemeClr val="lt1"/>
              </a:solidFill>
              <a:latin typeface="Calibri"/>
              <a:ea typeface="Calibri"/>
              <a:cs typeface="Calibri"/>
              <a:sym typeface="Calibri"/>
            </a:endParaRPr>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46</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26060152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
        <p:cNvGrpSpPr/>
        <p:nvPr/>
      </p:nvGrpSpPr>
      <p:grpSpPr>
        <a:xfrm>
          <a:off x="0" y="0"/>
          <a:ext cx="0" cy="0"/>
          <a:chOff x="0" y="0"/>
          <a:chExt cx="0" cy="0"/>
        </a:xfrm>
      </p:grpSpPr>
      <p:sp>
        <p:nvSpPr>
          <p:cNvPr id="1750" name="Google Shape;1750;p46: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751" name="Google Shape;1751;p46: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US" sz="1800" b="0" i="0" u="none" strike="noStrike">
                <a:solidFill>
                  <a:srgbClr val="000000"/>
                </a:solidFill>
                <a:effectLst/>
                <a:latin typeface="Calibri" panose="020F0502020204030204" pitchFamily="34" charset="0"/>
              </a:rPr>
              <a:t>Q4.36. You indicated that in the past 3 months, the number of exocrine pancreatic insufficiency (EPI) patients you have treated has increased.  Which of the following reasons best describes why you have treated a greater number of exocrine pancreatic insufficiency (EPI) patients? Please select all that apply.</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US" sz="1800" b="0" i="0" u="none" strike="noStrike">
                <a:solidFill>
                  <a:srgbClr val="000000"/>
                </a:solidFill>
                <a:effectLst/>
                <a:latin typeface="Calibri" panose="020F0502020204030204" pitchFamily="34" charset="0"/>
              </a:rPr>
              <a:t>Q4.37. You indicated that increased patient awareness has contributed to an increased number of exocrine pancreatic insufficiency (EPI) patients you have treated in the past 3 months. Please explain any specific sources of information that patients have mentioned relating to exocrine pancreatic insufficiency (EPI). </a:t>
            </a:r>
            <a:br>
              <a:rPr lang="en-US" sz="1800" b="0" i="0" u="none" strike="noStrike">
                <a:solidFill>
                  <a:srgbClr val="000000"/>
                </a:solidFill>
                <a:effectLst/>
                <a:latin typeface="Calibri" panose="020F0502020204030204" pitchFamily="34" charset="0"/>
              </a:rPr>
            </a:br>
            <a:r>
              <a:rPr lang="en-US" sz="1800" b="0" i="0" u="none" strike="noStrike">
                <a:solidFill>
                  <a:srgbClr val="000000"/>
                </a:solidFill>
                <a:effectLst/>
                <a:latin typeface="Calibri" panose="020F0502020204030204" pitchFamily="34" charset="0"/>
              </a:rPr>
              <a:t>………………………………………………………………..</a:t>
            </a:r>
            <a:br>
              <a:rPr lang="en-US" sz="1800" b="0" i="0" u="none" strike="noStrike">
                <a:solidFill>
                  <a:srgbClr val="000000"/>
                </a:solidFill>
                <a:effectLst/>
                <a:latin typeface="Calibri" panose="020F0502020204030204" pitchFamily="34" charset="0"/>
              </a:rPr>
            </a:br>
            <a:endParaRPr lang="en-US" sz="1800" b="0" i="0" u="none" strike="noStrike">
              <a:solidFill>
                <a:srgbClr val="000000"/>
              </a:solidFill>
              <a:effectLst/>
              <a:latin typeface="Calibri" panose="020F0502020204030204" pitchFamily="34" charset="0"/>
            </a:endParaRP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US" sz="1800" b="0" i="0" u="none" strike="noStrike">
                <a:solidFill>
                  <a:srgbClr val="000000"/>
                </a:solidFill>
                <a:effectLst/>
                <a:latin typeface="Calibri" panose="020F0502020204030204" pitchFamily="34" charset="0"/>
              </a:rPr>
              <a:t>Full Text: </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endParaRPr lang="en-US" sz="1800" b="0" i="0" u="none" strike="noStrike">
              <a:solidFill>
                <a:srgbClr val="000000"/>
              </a:solidFill>
              <a:effectLst/>
              <a:latin typeface="Calibri" panose="020F0502020204030204" pitchFamily="34" charset="0"/>
            </a:endParaRP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Increased patient awareness of exocrine pancreatic insufficiency (EPI)</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Recent increase in performing clinical tests related to exocrine pancreatic insufficiency (EPI)</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type 2 diabetes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chronic pancreatitis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Recent increase in performing confirmatory tests related to exocrine pancreatic insufficiency (EPI)</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acute pancreatitis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who have underwent a pancreatectomy</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who have had recent surgery on the digestive tract (including weight loss surgery)</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inflammatory bowel disease</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Crohn's disease</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performed more colonoscopies due to increased patient volume</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cystic fibrosis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type 1 diabetes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celiac disease</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seen more patients with pancreatic cancer</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Increased referrals of patients with exocrine pancreatic insufficiency (EPI)</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r>
              <a:rPr lang="en-GB" sz="4000" b="0">
                <a:effectLst/>
              </a:rPr>
              <a:t>I have performed more colonoscopies based on updated screening guidelines</a:t>
            </a:r>
          </a:p>
          <a:p>
            <a:pPr marL="165100" marR="0" lvl="0" indent="0" algn="l" defTabSz="914400" rtl="0" eaLnBrk="1" fontAlgn="auto" latinLnBrk="0" hangingPunct="1">
              <a:lnSpc>
                <a:spcPct val="100000"/>
              </a:lnSpc>
              <a:spcBef>
                <a:spcPts val="1200"/>
              </a:spcBef>
              <a:spcAft>
                <a:spcPts val="1200"/>
              </a:spcAft>
              <a:buClr>
                <a:schemeClr val="dk1"/>
              </a:buClr>
              <a:buSzPts val="1000"/>
              <a:buFont typeface="Arimo"/>
              <a:buNone/>
              <a:tabLst/>
              <a:defRPr/>
            </a:pPr>
            <a:endParaRPr lang="en-GB" sz="4000" b="0">
              <a:effectLst/>
            </a:endParaRPr>
          </a:p>
        </p:txBody>
      </p:sp>
      <p:sp>
        <p:nvSpPr>
          <p:cNvPr id="1752" name="Google Shape;1752;p46: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48</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50346123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5625" y="228600"/>
            <a:ext cx="5638800"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indent="0" rtl="0">
              <a:spcBef>
                <a:spcPts val="1200"/>
              </a:spcBef>
              <a:spcAft>
                <a:spcPts val="1200"/>
              </a:spcAft>
              <a:buNone/>
            </a:pPr>
            <a:r>
              <a:rPr lang="en-US" sz="1000" b="0" i="0" u="none" strike="noStrike">
                <a:solidFill>
                  <a:srgbClr val="000000"/>
                </a:solidFill>
                <a:effectLst/>
                <a:latin typeface="Calibri" panose="020F0502020204030204" pitchFamily="34" charset="0"/>
              </a:rPr>
              <a:t>Q4.39Z.You indicated that the number of patients coming in to ask about exocrine pancreatic insufficiency (EPI) has increased over the last 3 months. Which of the following brands have patients specifically asked about? Please select all that apply.</a:t>
            </a:r>
            <a:endParaRPr lang="en-GB" sz="1800" b="0">
              <a:effectLst/>
            </a:endParaRPr>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49</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95612590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lvl="0" indent="0" algn="l" rtl="0">
              <a:spcBef>
                <a:spcPts val="1000"/>
              </a:spcBef>
              <a:spcAft>
                <a:spcPts val="0"/>
              </a:spcAft>
              <a:buClr>
                <a:schemeClr val="dk1"/>
              </a:buClr>
              <a:buSzPts val="1000"/>
              <a:buNone/>
            </a:pPr>
            <a:r>
              <a:rPr lang="en-US" b="0" i="1"/>
              <a:t>Q4_47 Thinking about the patients that asked for PRODUCT in the past 3 months, what percent of these patients did you take the following actions with regard to your PRODUCT discussion? Your answers must add up to 100%.</a:t>
            </a:r>
            <a:br>
              <a:rPr lang="en-IN" b="0" i="1"/>
            </a:br>
            <a:r>
              <a:rPr lang="en-US" b="0" i="1"/>
              <a:t>Discussed product and decided to recommend an OTC product or supplement instead</a:t>
            </a:r>
          </a:p>
          <a:p>
            <a:pPr marL="0" lvl="0" indent="0" algn="l" rtl="0">
              <a:spcBef>
                <a:spcPts val="1000"/>
              </a:spcBef>
              <a:spcAft>
                <a:spcPts val="0"/>
              </a:spcAft>
              <a:buClr>
                <a:schemeClr val="dk1"/>
              </a:buClr>
              <a:buSzPts val="1000"/>
              <a:buNone/>
            </a:pPr>
            <a:r>
              <a:rPr lang="en-US" b="0" i="1"/>
              <a:t>Discussed product and decided to recommend another Rx PERT medication instead</a:t>
            </a:r>
          </a:p>
          <a:p>
            <a:pPr marL="0" lvl="0" indent="0" algn="l" rtl="0">
              <a:spcBef>
                <a:spcPts val="1000"/>
              </a:spcBef>
              <a:spcAft>
                <a:spcPts val="0"/>
              </a:spcAft>
              <a:buClr>
                <a:schemeClr val="dk1"/>
              </a:buClr>
              <a:buSzPts val="1000"/>
              <a:buNone/>
            </a:pPr>
            <a:r>
              <a:rPr lang="en-US" b="0" i="1"/>
              <a:t>Discussed product and gave patient a sample and/or prescription for CREON</a:t>
            </a:r>
            <a:br>
              <a:rPr lang="en-IN" b="0" i="1"/>
            </a:br>
            <a:endParaRPr lang="en-US" b="0" i="0"/>
          </a:p>
          <a:p>
            <a:pPr marL="0" lvl="0" indent="0" algn="l" rtl="0">
              <a:spcBef>
                <a:spcPts val="1000"/>
              </a:spcBef>
              <a:spcAft>
                <a:spcPts val="0"/>
              </a:spcAft>
              <a:buClr>
                <a:schemeClr val="dk1"/>
              </a:buClr>
              <a:buSzPts val="1000"/>
              <a:buNone/>
            </a:pPr>
            <a:r>
              <a:rPr lang="en-US" b="0" i="0"/>
              <a:t>	Oct'25	Nov'25	Dec'25	Jan'26	Feb'26	Mar'26</a:t>
            </a:r>
          </a:p>
          <a:p>
            <a:pPr marL="0" lvl="0" indent="0" algn="l" rtl="0">
              <a:spcBef>
                <a:spcPts val="1000"/>
              </a:spcBef>
              <a:spcAft>
                <a:spcPts val="0"/>
              </a:spcAft>
              <a:buClr>
                <a:schemeClr val="dk1"/>
              </a:buClr>
              <a:buSzPts val="1000"/>
              <a:buNone/>
            </a:pPr>
            <a:r>
              <a:rPr lang="en-US" b="0" i="0"/>
              <a:t>CREON	5800	5500	7000	6800	6100	5700</a:t>
            </a:r>
          </a:p>
          <a:p>
            <a:pPr marL="0" lvl="0" indent="0" algn="l" rtl="0">
              <a:spcBef>
                <a:spcPts val="1000"/>
              </a:spcBef>
              <a:spcAft>
                <a:spcPts val="0"/>
              </a:spcAft>
              <a:buClr>
                <a:schemeClr val="dk1"/>
              </a:buClr>
              <a:buSzPts val="1000"/>
              <a:buNone/>
            </a:pPr>
            <a:r>
              <a:rPr lang="en-US" b="0" i="0"/>
              <a:t>PANCREAZE	1400	900	1400	1000	1300	900</a:t>
            </a:r>
          </a:p>
          <a:p>
            <a:pPr marL="0" lvl="0" indent="0" algn="l" rtl="0">
              <a:spcBef>
                <a:spcPts val="1000"/>
              </a:spcBef>
              <a:spcAft>
                <a:spcPts val="0"/>
              </a:spcAft>
              <a:buClr>
                <a:schemeClr val="dk1"/>
              </a:buClr>
              <a:buSzPts val="1000"/>
              <a:buNone/>
            </a:pPr>
            <a:r>
              <a:rPr lang="en-US" b="0" i="0"/>
              <a:t>PERTZYE	1300	900	1200	1200	1300	900</a:t>
            </a:r>
          </a:p>
          <a:p>
            <a:pPr marL="0" lvl="0" indent="0" algn="l" rtl="0">
              <a:spcBef>
                <a:spcPts val="1000"/>
              </a:spcBef>
              <a:spcAft>
                <a:spcPts val="0"/>
              </a:spcAft>
              <a:buClr>
                <a:schemeClr val="dk1"/>
              </a:buClr>
              <a:buSzPts val="1000"/>
              <a:buNone/>
            </a:pPr>
            <a:r>
              <a:rPr lang="en-US" b="0" i="0"/>
              <a:t>ZENPEP	4000	3900	4500	4900	4500	4100</a:t>
            </a:r>
          </a:p>
          <a:p>
            <a:pPr marL="0" lvl="0" indent="0" algn="l" rtl="0">
              <a:spcBef>
                <a:spcPts val="1000"/>
              </a:spcBef>
              <a:spcAft>
                <a:spcPts val="0"/>
              </a:spcAft>
              <a:buClr>
                <a:schemeClr val="dk1"/>
              </a:buClr>
              <a:buSzPts val="1000"/>
              <a:buNone/>
            </a:pPr>
            <a:r>
              <a:rPr lang="en-US" b="0" i="0"/>
              <a:t>	</a:t>
            </a: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50</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63271105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
          <a:extLst>
            <a:ext uri="{FF2B5EF4-FFF2-40B4-BE49-F238E27FC236}">
              <a16:creationId xmlns:a16="http://schemas.microsoft.com/office/drawing/2014/main" id="{B0EE9C14-6ED5-2FA5-BB0A-F7006EEC8330}"/>
            </a:ext>
          </a:extLst>
        </p:cNvPr>
        <p:cNvGrpSpPr/>
        <p:nvPr/>
      </p:nvGrpSpPr>
      <p:grpSpPr>
        <a:xfrm>
          <a:off x="0" y="0"/>
          <a:ext cx="0" cy="0"/>
          <a:chOff x="0" y="0"/>
          <a:chExt cx="0" cy="0"/>
        </a:xfrm>
      </p:grpSpPr>
      <p:sp>
        <p:nvSpPr>
          <p:cNvPr id="1319" name="Google Shape;1319;p31:notes">
            <a:extLst>
              <a:ext uri="{FF2B5EF4-FFF2-40B4-BE49-F238E27FC236}">
                <a16:creationId xmlns:a16="http://schemas.microsoft.com/office/drawing/2014/main" id="{975DAB1A-FEC0-64F6-D6BC-DFE0DC50BF3F}"/>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IN"/>
          </a:p>
        </p:txBody>
      </p:sp>
      <p:sp>
        <p:nvSpPr>
          <p:cNvPr id="1320" name="Google Shape;1320;p31:notes">
            <a:extLst>
              <a:ext uri="{FF2B5EF4-FFF2-40B4-BE49-F238E27FC236}">
                <a16:creationId xmlns:a16="http://schemas.microsoft.com/office/drawing/2014/main" id="{FA42F63E-6F95-08B6-E218-73369C15BFCE}"/>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1800"/>
              </a:spcBef>
              <a:spcAft>
                <a:spcPts val="0"/>
              </a:spcAft>
              <a:buClr>
                <a:srgbClr val="262626"/>
              </a:buClr>
              <a:buSzPts val="1800"/>
              <a:buNone/>
            </a:pPr>
            <a:r>
              <a:rPr lang="en-US" sz="1800">
                <a:solidFill>
                  <a:srgbClr val="262626"/>
                </a:solidFill>
                <a:latin typeface="Calibri"/>
                <a:ea typeface="Calibri"/>
                <a:cs typeface="Calibri"/>
                <a:sym typeface="Calibri"/>
              </a:rPr>
              <a:t>Q4_20C1_CR You indicated that your patients transitioned to CREON from a different EPI treatment. Please describe the primary reasons for this switch in as much detail as possible.</a:t>
            </a:r>
            <a:br>
              <a:rPr lang="en-US" sz="1800">
                <a:solidFill>
                  <a:srgbClr val="262626"/>
                </a:solidFill>
                <a:latin typeface="Calibri"/>
                <a:ea typeface="Calibri"/>
                <a:cs typeface="Calibri"/>
                <a:sym typeface="Calibri"/>
              </a:rPr>
            </a:br>
            <a:r>
              <a:rPr lang="en-US" sz="1800">
                <a:solidFill>
                  <a:srgbClr val="262626"/>
                </a:solidFill>
                <a:latin typeface="Calibri"/>
                <a:ea typeface="Calibri"/>
                <a:cs typeface="Calibri"/>
                <a:sym typeface="Calibri"/>
              </a:rPr>
              <a:t>Q4_20C1_ZP You indicated that your patients transitioned to ZENPEP from a different EPI treatment. Please describe the primary reasons for this switch in as much detail as possible.</a:t>
            </a:r>
            <a:br>
              <a:rPr lang="en-US" sz="1800">
                <a:solidFill>
                  <a:srgbClr val="262626"/>
                </a:solidFill>
                <a:latin typeface="Calibri"/>
                <a:ea typeface="Calibri"/>
                <a:cs typeface="Calibri"/>
                <a:sym typeface="Calibri"/>
              </a:rPr>
            </a:br>
            <a:br>
              <a:rPr lang="en-US" sz="1800">
                <a:solidFill>
                  <a:srgbClr val="262626"/>
                </a:solidFill>
                <a:latin typeface="Calibri"/>
                <a:ea typeface="Calibri"/>
                <a:cs typeface="Calibri"/>
                <a:sym typeface="Calibri"/>
              </a:rPr>
            </a:br>
            <a:endParaRPr b="1" i="1"/>
          </a:p>
        </p:txBody>
      </p:sp>
      <p:sp>
        <p:nvSpPr>
          <p:cNvPr id="1321" name="Google Shape;1321;p31:notes">
            <a:extLst>
              <a:ext uri="{FF2B5EF4-FFF2-40B4-BE49-F238E27FC236}">
                <a16:creationId xmlns:a16="http://schemas.microsoft.com/office/drawing/2014/main" id="{3F7A7B80-72F0-567D-96DA-C216A941569C}"/>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51</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33005166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4">
          <a:extLst>
            <a:ext uri="{FF2B5EF4-FFF2-40B4-BE49-F238E27FC236}">
              <a16:creationId xmlns:a16="http://schemas.microsoft.com/office/drawing/2014/main" id="{3AE339F2-92C9-6D9E-B3A3-BE95A71E6633}"/>
            </a:ext>
          </a:extLst>
        </p:cNvPr>
        <p:cNvGrpSpPr/>
        <p:nvPr/>
      </p:nvGrpSpPr>
      <p:grpSpPr>
        <a:xfrm>
          <a:off x="0" y="0"/>
          <a:ext cx="0" cy="0"/>
          <a:chOff x="0" y="0"/>
          <a:chExt cx="0" cy="0"/>
        </a:xfrm>
      </p:grpSpPr>
      <p:sp>
        <p:nvSpPr>
          <p:cNvPr id="2435" name="Google Shape;2435;p63:notes">
            <a:extLst>
              <a:ext uri="{FF2B5EF4-FFF2-40B4-BE49-F238E27FC236}">
                <a16:creationId xmlns:a16="http://schemas.microsoft.com/office/drawing/2014/main" id="{7C64A8CD-46F8-B0EE-1BF3-85346FBBD9A8}"/>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2436" name="Google Shape;2436;p63:notes">
            <a:extLst>
              <a:ext uri="{FF2B5EF4-FFF2-40B4-BE49-F238E27FC236}">
                <a16:creationId xmlns:a16="http://schemas.microsoft.com/office/drawing/2014/main" id="{9FE988DE-63F4-C604-F364-579E063C2A13}"/>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b="0" i="0">
                <a:solidFill>
                  <a:srgbClr val="000000"/>
                </a:solidFill>
                <a:effectLst/>
                <a:highlight>
                  <a:srgbClr val="FFFFFF"/>
                </a:highlight>
                <a:latin typeface="Calibri" panose="020F0502020204030204" pitchFamily="34" charset="0"/>
              </a:rPr>
              <a:t>S0.74 Which of the following specific dosing options of </a:t>
            </a:r>
            <a:r>
              <a:rPr lang="en-US" sz="1800" b="0" i="0">
                <a:solidFill>
                  <a:srgbClr val="000000"/>
                </a:solidFill>
                <a:effectLst/>
                <a:highlight>
                  <a:srgbClr val="C0C0C0"/>
                </a:highlight>
                <a:latin typeface="Calibri" panose="020F0502020204030204" pitchFamily="34" charset="0"/>
              </a:rPr>
              <a:t>[</a:t>
            </a:r>
            <a:r>
              <a:rPr lang="en-US" sz="1800" b="0" i="0">
                <a:solidFill>
                  <a:srgbClr val="262626"/>
                </a:solidFill>
                <a:effectLst/>
                <a:highlight>
                  <a:srgbClr val="C0C0C0"/>
                </a:highlight>
                <a:latin typeface="Calibri" panose="020F0502020204030204" pitchFamily="34" charset="0"/>
              </a:rPr>
              <a:t>PRODUCT]</a:t>
            </a:r>
            <a:r>
              <a:rPr lang="en-US" sz="1800" b="0" i="0">
                <a:solidFill>
                  <a:srgbClr val="262626"/>
                </a:solidFill>
                <a:effectLst/>
                <a:highlight>
                  <a:srgbClr val="FFFFFF"/>
                </a:highlight>
                <a:latin typeface="Calibri" panose="020F0502020204030204" pitchFamily="34" charset="0"/>
              </a:rPr>
              <a:t> </a:t>
            </a:r>
            <a:r>
              <a:rPr lang="en-US" sz="1800" b="0" i="0">
                <a:solidFill>
                  <a:srgbClr val="000000"/>
                </a:solidFill>
                <a:effectLst/>
                <a:highlight>
                  <a:srgbClr val="FFFFFF"/>
                </a:highlight>
                <a:latin typeface="Calibri" panose="020F0502020204030204" pitchFamily="34" charset="0"/>
              </a:rPr>
              <a:t>are you aware of? Please select all that apply. </a:t>
            </a:r>
            <a:endParaRPr lang="en-US" sz="4000">
              <a:effectLst/>
            </a:endParaRPr>
          </a:p>
        </p:txBody>
      </p:sp>
      <p:sp>
        <p:nvSpPr>
          <p:cNvPr id="2437" name="Google Shape;2437;p63:notes">
            <a:extLst>
              <a:ext uri="{FF2B5EF4-FFF2-40B4-BE49-F238E27FC236}">
                <a16:creationId xmlns:a16="http://schemas.microsoft.com/office/drawing/2014/main" id="{AE18D92A-6B50-7094-C7FF-EBCF2FC2F8C5}"/>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52</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79200129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4"/>
        <p:cNvGrpSpPr/>
        <p:nvPr/>
      </p:nvGrpSpPr>
      <p:grpSpPr>
        <a:xfrm>
          <a:off x="0" y="0"/>
          <a:ext cx="0" cy="0"/>
          <a:chOff x="0" y="0"/>
          <a:chExt cx="0" cy="0"/>
        </a:xfrm>
      </p:grpSpPr>
      <p:sp>
        <p:nvSpPr>
          <p:cNvPr id="2435" name="Google Shape;2435;p6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2436" name="Google Shape;2436;p6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4000">
                <a:effectLst/>
              </a:rPr>
              <a:t>Q2.211A. You indicated that you discussed dosing during your most recent [PRODUCT] interaction. Which of the following specific dosing options of [PRODUCT] were discussed? Please select all that apply.</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4000">
                <a:effectLst/>
              </a:rPr>
              <a:t>Q2.21A1. You indicated that you discussed dosing during your most recent [PRODUCT] interaction. Please describe what you discussed with the [PRODUCT] rep regarding dosing. Please be as detailed as possible (including specific doses discussed).</a:t>
            </a:r>
            <a:endParaRPr lang="en-US" sz="4000" b="1" i="1"/>
          </a:p>
        </p:txBody>
      </p:sp>
      <p:sp>
        <p:nvSpPr>
          <p:cNvPr id="2437" name="Google Shape;2437;p6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53</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67409310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
        <p:cNvGrpSpPr/>
        <p:nvPr/>
      </p:nvGrpSpPr>
      <p:grpSpPr>
        <a:xfrm>
          <a:off x="0" y="0"/>
          <a:ext cx="0" cy="0"/>
          <a:chOff x="0" y="0"/>
          <a:chExt cx="0" cy="0"/>
        </a:xfrm>
      </p:grpSpPr>
      <p:sp>
        <p:nvSpPr>
          <p:cNvPr id="174" name="Google Shape;174;p4: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177800" lvl="0" indent="-114300" algn="l" rtl="0">
              <a:spcBef>
                <a:spcPts val="0"/>
              </a:spcBef>
              <a:spcAft>
                <a:spcPts val="0"/>
              </a:spcAft>
              <a:buClr>
                <a:schemeClr val="dk1"/>
              </a:buClr>
              <a:buSzPts val="1000"/>
              <a:buNone/>
            </a:pPr>
            <a:r>
              <a:rPr lang="en-US" sz="1000" b="1" u="sng">
                <a:latin typeface="Calibri"/>
                <a:ea typeface="Calibri"/>
                <a:cs typeface="Calibri"/>
                <a:sym typeface="Calibri"/>
              </a:rPr>
              <a:t>Channel Grouping</a:t>
            </a:r>
            <a:r>
              <a:rPr lang="en-US" sz="1000" b="1">
                <a:latin typeface="Calibri"/>
                <a:ea typeface="Calibri"/>
                <a:cs typeface="Calibri"/>
                <a:sym typeface="Calibri"/>
              </a:rPr>
              <a:t>:</a:t>
            </a:r>
            <a:endParaRPr lang="en-US" sz="1000"/>
          </a:p>
          <a:p>
            <a:pPr marL="177800" lvl="0" indent="-114300" algn="l" rtl="0">
              <a:spcBef>
                <a:spcPts val="1000"/>
              </a:spcBef>
              <a:spcAft>
                <a:spcPts val="0"/>
              </a:spcAft>
              <a:buClr>
                <a:schemeClr val="dk1"/>
              </a:buClr>
              <a:buSzPts val="1000"/>
              <a:buNone/>
            </a:pPr>
            <a:endParaRPr lang="en-US" sz="1000" b="1">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000" b="1" u="sng">
                <a:latin typeface="Calibri"/>
                <a:ea typeface="Calibri"/>
                <a:cs typeface="Calibri"/>
                <a:sym typeface="Calibri"/>
              </a:rPr>
              <a:t>Overall</a:t>
            </a:r>
            <a:r>
              <a:rPr lang="en-US" sz="1000" b="0" u="sng">
                <a:latin typeface="Calibri"/>
                <a:ea typeface="Calibri"/>
                <a:cs typeface="Calibri"/>
                <a:sym typeface="Calibri"/>
              </a:rPr>
              <a:t> </a:t>
            </a:r>
            <a:r>
              <a:rPr lang="en-US" sz="1000" b="0">
                <a:latin typeface="Calibri"/>
                <a:ea typeface="Calibri"/>
                <a:cs typeface="Calibri"/>
                <a:sym typeface="Calibri"/>
              </a:rPr>
              <a:t> </a:t>
            </a:r>
            <a:endParaRPr lang="en-US" sz="1000"/>
          </a:p>
          <a:p>
            <a:pPr marL="177800" lvl="0" indent="-114300" algn="l" rtl="0">
              <a:spcBef>
                <a:spcPts val="1000"/>
              </a:spcBef>
              <a:spcAft>
                <a:spcPts val="0"/>
              </a:spcAft>
              <a:buClr>
                <a:schemeClr val="dk1"/>
              </a:buClr>
              <a:buSzPts val="1000"/>
              <a:buNone/>
            </a:pPr>
            <a:r>
              <a:rPr lang="en-US" sz="1000" b="0">
                <a:latin typeface="Calibri"/>
                <a:ea typeface="Calibri"/>
                <a:cs typeface="Calibri"/>
                <a:sym typeface="Calibri"/>
              </a:rPr>
              <a:t>Personal and Non-Personal Promotions</a:t>
            </a:r>
            <a:endParaRPr lang="en-US" sz="1000"/>
          </a:p>
          <a:p>
            <a:pPr marL="177800" lvl="0" indent="-114300" algn="l" rtl="0">
              <a:spcBef>
                <a:spcPts val="1000"/>
              </a:spcBef>
              <a:spcAft>
                <a:spcPts val="0"/>
              </a:spcAft>
              <a:buClr>
                <a:schemeClr val="dk1"/>
              </a:buClr>
              <a:buSzPts val="1000"/>
              <a:buNone/>
            </a:pPr>
            <a:endParaRPr lang="en-US" sz="1000" b="1" u="sng">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000" b="1" u="sng">
                <a:latin typeface="Calibri"/>
                <a:ea typeface="Calibri"/>
                <a:cs typeface="Calibri"/>
                <a:sym typeface="Calibri"/>
              </a:rPr>
              <a:t>Personal promotions</a:t>
            </a:r>
            <a:endParaRPr lang="en-US" sz="1000"/>
          </a:p>
          <a:p>
            <a:pPr marL="177800" lvl="0" indent="-114300" algn="l" rtl="0">
              <a:spcBef>
                <a:spcPts val="1000"/>
              </a:spcBef>
              <a:spcAft>
                <a:spcPts val="0"/>
              </a:spcAft>
              <a:buClr>
                <a:schemeClr val="dk1"/>
              </a:buClr>
              <a:buSzPts val="1000"/>
              <a:buNone/>
            </a:pPr>
            <a:r>
              <a:rPr lang="en-US" sz="1000" b="0">
                <a:latin typeface="Calibri"/>
                <a:ea typeface="Calibri"/>
                <a:cs typeface="Calibri"/>
                <a:sym typeface="Calibri"/>
              </a:rPr>
              <a:t>In-Person/Video/Phone call rep detail, In-Person/Virtual lunch and learn, In-Person/Virtual Speaker Program, Live dinner, Email/Text from rep</a:t>
            </a:r>
            <a:endParaRPr lang="en-US" sz="1000"/>
          </a:p>
          <a:p>
            <a:pPr marL="177800" lvl="0" indent="-114300" algn="l" rtl="0">
              <a:spcBef>
                <a:spcPts val="1000"/>
              </a:spcBef>
              <a:spcAft>
                <a:spcPts val="0"/>
              </a:spcAft>
              <a:buClr>
                <a:schemeClr val="dk1"/>
              </a:buClr>
              <a:buSzPts val="1000"/>
              <a:buNone/>
            </a:pPr>
            <a:endParaRPr lang="en-US" sz="1000" b="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000" b="1" u="sng">
                <a:latin typeface="Calibri"/>
                <a:ea typeface="Calibri"/>
                <a:cs typeface="Calibri"/>
                <a:sym typeface="Calibri"/>
              </a:rPr>
              <a:t>Non-personal promotions</a:t>
            </a:r>
            <a:endParaRPr lang="en-US" sz="1000"/>
          </a:p>
          <a:p>
            <a:pPr marL="177800" lvl="0" indent="-114300" algn="l" rtl="0">
              <a:spcBef>
                <a:spcPts val="1000"/>
              </a:spcBef>
              <a:spcAft>
                <a:spcPts val="0"/>
              </a:spcAft>
              <a:buClr>
                <a:schemeClr val="dk1"/>
              </a:buClr>
              <a:buSzPts val="1000"/>
              <a:buNone/>
            </a:pPr>
            <a:r>
              <a:rPr lang="en-US" sz="1000" b="0">
                <a:latin typeface="Calibri"/>
                <a:ea typeface="Calibri"/>
                <a:cs typeface="Calibri"/>
                <a:sym typeface="Calibri"/>
              </a:rPr>
              <a:t>Drug Samples, Print/Digital Aids, Emails from manufacturer, In-Person/Virtual Conventions, Websites, Social media posts</a:t>
            </a:r>
            <a:endParaRPr lang="en-US" sz="1000"/>
          </a:p>
          <a:p>
            <a:pPr marL="0" lvl="0" indent="0" algn="l" rtl="0">
              <a:spcBef>
                <a:spcPts val="1800"/>
              </a:spcBef>
              <a:spcAft>
                <a:spcPts val="0"/>
              </a:spcAft>
              <a:buClr>
                <a:schemeClr val="dk1"/>
              </a:buClr>
              <a:buSzPts val="1800"/>
              <a:buNone/>
            </a:pPr>
            <a:endParaRPr lang="en-US" sz="1000">
              <a:latin typeface="Calibri"/>
              <a:ea typeface="Calibri"/>
              <a:cs typeface="Calibri"/>
              <a:sym typeface="Calibri"/>
            </a:endParaRPr>
          </a:p>
          <a:p>
            <a:pPr marL="177800" lvl="0" indent="-114300" algn="l" rtl="0">
              <a:spcBef>
                <a:spcPts val="1000"/>
              </a:spcBef>
              <a:spcAft>
                <a:spcPts val="0"/>
              </a:spcAft>
              <a:buClr>
                <a:schemeClr val="dk1"/>
              </a:buClr>
              <a:buSzPts val="1000"/>
              <a:buNone/>
            </a:pPr>
            <a:r>
              <a:rPr lang="en-US" sz="1000" b="1" u="sng">
                <a:latin typeface="Calibri"/>
                <a:ea typeface="Calibri"/>
                <a:cs typeface="Calibri"/>
                <a:sym typeface="Calibri"/>
              </a:rPr>
              <a:t>Consumer Tactics</a:t>
            </a:r>
            <a:endParaRPr lang="en-US" sz="1000"/>
          </a:p>
          <a:p>
            <a:pPr marL="177800" lvl="0" indent="-114300" algn="l" rtl="0">
              <a:spcBef>
                <a:spcPts val="1000"/>
              </a:spcBef>
              <a:spcAft>
                <a:spcPts val="0"/>
              </a:spcAft>
              <a:buClr>
                <a:schemeClr val="dk1"/>
              </a:buClr>
              <a:buSzPts val="1000"/>
              <a:buNone/>
            </a:pPr>
            <a:r>
              <a:rPr lang="en-US" sz="1000" b="0">
                <a:latin typeface="Calibri"/>
                <a:ea typeface="Calibri"/>
                <a:cs typeface="Calibri"/>
                <a:sym typeface="Calibri"/>
              </a:rPr>
              <a:t>In-office advertising to patients, TV ads</a:t>
            </a:r>
            <a:endParaRPr/>
          </a:p>
        </p:txBody>
      </p:sp>
      <p:sp>
        <p:nvSpPr>
          <p:cNvPr id="175" name="Google Shape;175;p4: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56D12D-B56F-7E69-D435-76F6024A1C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202823-2055-2602-B7C5-2A9DDF783B88}"/>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DEECF94E-A762-2BCD-1D26-9B1504B6C8F6}"/>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A17D1CCA-775A-8C56-EBFA-AB3E8A7C164F}"/>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56</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22318586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p10: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a:p>
        </p:txBody>
      </p:sp>
      <p:sp>
        <p:nvSpPr>
          <p:cNvPr id="339" name="Google Shape;339;p10: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381582925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p10:notes"/>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a:p>
        </p:txBody>
      </p:sp>
      <p:sp>
        <p:nvSpPr>
          <p:cNvPr id="339" name="Google Shape;339;p10: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25654005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Q4.10 Please consider the following [</a:t>
            </a:r>
            <a:r>
              <a:rPr lang="en-US" sz="1800">
                <a:highlight>
                  <a:srgbClr val="D3D3D3"/>
                </a:highlight>
                <a:latin typeface="Calibri"/>
                <a:ea typeface="Calibri"/>
                <a:cs typeface="Calibri"/>
                <a:sym typeface="Calibri"/>
              </a:rPr>
              <a:t>PRODUCT</a:t>
            </a:r>
            <a:r>
              <a:rPr lang="en-US" sz="1800">
                <a:latin typeface="Calibri"/>
                <a:ea typeface="Calibri"/>
                <a:cs typeface="Calibri"/>
                <a:sym typeface="Calibri"/>
              </a:rPr>
              <a:t>] sales messages below. Now, using a scale from 1 to 7, where 1 means “Not at all” and a 7 means “Extremely”, please indicate:</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 </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A. How </a:t>
            </a:r>
            <a:r>
              <a:rPr lang="en-US" sz="1800" b="1">
                <a:latin typeface="Calibri"/>
                <a:ea typeface="Calibri"/>
                <a:cs typeface="Calibri"/>
                <a:sym typeface="Calibri"/>
              </a:rPr>
              <a:t>differentiated </a:t>
            </a:r>
            <a:r>
              <a:rPr lang="en-US" sz="1800">
                <a:latin typeface="Calibri"/>
                <a:ea typeface="Calibri"/>
                <a:cs typeface="Calibri"/>
                <a:sym typeface="Calibri"/>
              </a:rPr>
              <a:t>you feel each message is compared to messages about competing products</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B. How </a:t>
            </a:r>
            <a:r>
              <a:rPr lang="en-US" sz="1800" b="1">
                <a:latin typeface="Calibri"/>
                <a:ea typeface="Calibri"/>
                <a:cs typeface="Calibri"/>
                <a:sym typeface="Calibri"/>
              </a:rPr>
              <a:t>believable </a:t>
            </a:r>
            <a:r>
              <a:rPr lang="en-US" sz="1800">
                <a:latin typeface="Calibri"/>
                <a:ea typeface="Calibri"/>
                <a:cs typeface="Calibri"/>
                <a:sym typeface="Calibri"/>
              </a:rPr>
              <a:t>each message is in conveying a benefit of the product</a:t>
            </a:r>
            <a:endParaRPr lang="en-US" sz="1800">
              <a:latin typeface="Arial"/>
              <a:ea typeface="Arial"/>
              <a:cs typeface="Arial"/>
              <a:sym typeface="Arial"/>
            </a:endParaRPr>
          </a:p>
          <a:p>
            <a:pPr marL="0" lvl="0" indent="0" algn="l" rtl="0">
              <a:spcBef>
                <a:spcPts val="1000"/>
              </a:spcBef>
              <a:spcAft>
                <a:spcPts val="0"/>
              </a:spcAft>
              <a:buClr>
                <a:schemeClr val="dk1"/>
              </a:buClr>
              <a:buSzPts val="1000"/>
              <a:buNone/>
            </a:pPr>
            <a:r>
              <a:rPr lang="en-US" sz="1800">
                <a:latin typeface="Calibri"/>
                <a:ea typeface="Calibri"/>
                <a:cs typeface="Calibri"/>
                <a:sym typeface="Calibri"/>
              </a:rPr>
              <a:t>C. How </a:t>
            </a:r>
            <a:r>
              <a:rPr lang="en-US" sz="1800" b="1">
                <a:latin typeface="Calibri"/>
                <a:ea typeface="Calibri"/>
                <a:cs typeface="Calibri"/>
                <a:sym typeface="Calibri"/>
              </a:rPr>
              <a:t>motivating </a:t>
            </a:r>
            <a:r>
              <a:rPr lang="en-US" sz="1800">
                <a:latin typeface="Calibri"/>
                <a:ea typeface="Calibri"/>
                <a:cs typeface="Calibri"/>
                <a:sym typeface="Calibri"/>
              </a:rPr>
              <a:t>the conveyed message is in terms of your intent to prescribe the product</a:t>
            </a:r>
            <a:endParaRPr lang="en-US" sz="1800" b="1" i="1"/>
          </a:p>
          <a:p>
            <a:pPr marL="0" lvl="0" indent="0" algn="l" rtl="0">
              <a:spcBef>
                <a:spcPts val="1800"/>
              </a:spcBef>
              <a:spcAft>
                <a:spcPts val="0"/>
              </a:spcAft>
              <a:buClr>
                <a:srgbClr val="262626"/>
              </a:buClr>
              <a:buSzPts val="1800"/>
              <a:buNone/>
            </a:pPr>
            <a:endParaRPr lang="en-US" b="1" i="1"/>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60</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4671941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622300" lvl="1" indent="0" algn="l" rtl="0" fontAlgn="t">
              <a:spcBef>
                <a:spcPts val="0"/>
              </a:spcBef>
              <a:spcAft>
                <a:spcPts val="0"/>
              </a:spcAft>
              <a:buNone/>
            </a:pPr>
            <a:br>
              <a:rPr lang="en-US" sz="1000" b="0" i="0" u="none" strike="noStrike">
                <a:solidFill>
                  <a:srgbClr val="000000"/>
                </a:solidFill>
                <a:effectLst/>
                <a:latin typeface="Calibri" panose="020F0502020204030204" pitchFamily="34" charset="0"/>
              </a:rPr>
            </a:br>
            <a:endParaRPr lang="en-US" sz="10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Q4.10 Please consider the following [</a:t>
            </a:r>
            <a:r>
              <a:rPr lang="en-US" sz="1800">
                <a:highlight>
                  <a:srgbClr val="D3D3D3"/>
                </a:highlight>
                <a:latin typeface="Calibri"/>
                <a:ea typeface="Calibri"/>
                <a:cs typeface="Calibri"/>
                <a:sym typeface="Calibri"/>
              </a:rPr>
              <a:t>PRODUCT</a:t>
            </a:r>
            <a:r>
              <a:rPr lang="en-US" sz="1800">
                <a:latin typeface="Calibri"/>
                <a:ea typeface="Calibri"/>
                <a:cs typeface="Calibri"/>
                <a:sym typeface="Calibri"/>
              </a:rPr>
              <a:t>] sales messages below. Now, using a scale from 1 to 7, where 1 means “Not at all” and a 7 means “Extremely”, please indicate:</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 </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A. How </a:t>
            </a:r>
            <a:r>
              <a:rPr lang="en-US" sz="1800" b="1">
                <a:latin typeface="Calibri"/>
                <a:ea typeface="Calibri"/>
                <a:cs typeface="Calibri"/>
                <a:sym typeface="Calibri"/>
              </a:rPr>
              <a:t>differentiated </a:t>
            </a:r>
            <a:r>
              <a:rPr lang="en-US" sz="1800">
                <a:latin typeface="Calibri"/>
                <a:ea typeface="Calibri"/>
                <a:cs typeface="Calibri"/>
                <a:sym typeface="Calibri"/>
              </a:rPr>
              <a:t>you feel each message is compared to messages about competing products</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B. How </a:t>
            </a:r>
            <a:r>
              <a:rPr lang="en-US" sz="1800" b="1">
                <a:latin typeface="Calibri"/>
                <a:ea typeface="Calibri"/>
                <a:cs typeface="Calibri"/>
                <a:sym typeface="Calibri"/>
              </a:rPr>
              <a:t>believable </a:t>
            </a:r>
            <a:r>
              <a:rPr lang="en-US" sz="1800">
                <a:latin typeface="Calibri"/>
                <a:ea typeface="Calibri"/>
                <a:cs typeface="Calibri"/>
                <a:sym typeface="Calibri"/>
              </a:rPr>
              <a:t>each message is in conveying a benefit of the product</a:t>
            </a:r>
            <a:endParaRPr lang="en-US" sz="1800">
              <a:latin typeface="Arial"/>
              <a:ea typeface="Arial"/>
              <a:cs typeface="Arial"/>
              <a:sym typeface="Arial"/>
            </a:endParaRPr>
          </a:p>
          <a:p>
            <a:pPr marL="0" lvl="0" indent="0" algn="l" rtl="0">
              <a:spcBef>
                <a:spcPts val="1000"/>
              </a:spcBef>
              <a:spcAft>
                <a:spcPts val="0"/>
              </a:spcAft>
              <a:buClr>
                <a:schemeClr val="dk1"/>
              </a:buClr>
              <a:buSzPts val="1000"/>
              <a:buNone/>
            </a:pPr>
            <a:r>
              <a:rPr lang="en-US" sz="1800">
                <a:latin typeface="Calibri"/>
                <a:ea typeface="Calibri"/>
                <a:cs typeface="Calibri"/>
                <a:sym typeface="Calibri"/>
              </a:rPr>
              <a:t>C. How </a:t>
            </a:r>
            <a:r>
              <a:rPr lang="en-US" sz="1800" b="1">
                <a:latin typeface="Calibri"/>
                <a:ea typeface="Calibri"/>
                <a:cs typeface="Calibri"/>
                <a:sym typeface="Calibri"/>
              </a:rPr>
              <a:t>motivating </a:t>
            </a:r>
            <a:r>
              <a:rPr lang="en-US" sz="1800">
                <a:latin typeface="Calibri"/>
                <a:ea typeface="Calibri"/>
                <a:cs typeface="Calibri"/>
                <a:sym typeface="Calibri"/>
              </a:rPr>
              <a:t>the conveyed message is in terms of your intent to prescribe the product</a:t>
            </a:r>
            <a:endParaRPr lang="en-US" sz="1800" b="1" i="1"/>
          </a:p>
          <a:p>
            <a:pPr marL="0" lvl="0" indent="0" algn="l" rtl="0">
              <a:spcBef>
                <a:spcPts val="1800"/>
              </a:spcBef>
              <a:spcAft>
                <a:spcPts val="0"/>
              </a:spcAft>
              <a:buClr>
                <a:srgbClr val="262626"/>
              </a:buClr>
              <a:buSzPts val="1800"/>
              <a:buNone/>
            </a:pPr>
            <a:endParaRPr lang="en-US" b="1" i="1"/>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61</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8401921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9D91028F-5ECE-A82C-E6D4-35E2033781FC}"/>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FB19A261-5472-08E5-2055-445998213448}"/>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5E1434D5-2439-3482-BF68-9A722C103DEB}"/>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622300" lvl="1" indent="0" algn="l" rtl="0" fontAlgn="t">
              <a:spcBef>
                <a:spcPts val="0"/>
              </a:spcBef>
              <a:spcAft>
                <a:spcPts val="0"/>
              </a:spcAft>
              <a:buNone/>
            </a:pPr>
            <a:br>
              <a:rPr lang="en-US" sz="1000" b="0" i="0" u="none" strike="noStrike">
                <a:solidFill>
                  <a:srgbClr val="000000"/>
                </a:solidFill>
                <a:effectLst/>
                <a:latin typeface="Calibri" panose="020F0502020204030204" pitchFamily="34" charset="0"/>
              </a:rPr>
            </a:br>
            <a:endParaRPr lang="en-US" sz="10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Q4.10 Please consider the following [</a:t>
            </a:r>
            <a:r>
              <a:rPr lang="en-US" sz="1800">
                <a:highlight>
                  <a:srgbClr val="D3D3D3"/>
                </a:highlight>
                <a:latin typeface="Calibri"/>
                <a:ea typeface="Calibri"/>
                <a:cs typeface="Calibri"/>
                <a:sym typeface="Calibri"/>
              </a:rPr>
              <a:t>PRODUCT</a:t>
            </a:r>
            <a:r>
              <a:rPr lang="en-US" sz="1800">
                <a:latin typeface="Calibri"/>
                <a:ea typeface="Calibri"/>
                <a:cs typeface="Calibri"/>
                <a:sym typeface="Calibri"/>
              </a:rPr>
              <a:t>] sales messages below. Now, using a scale from 1 to 7, where 1 means “Not at all” and a 7 means “Extremely”, please indicate:</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 </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A. How </a:t>
            </a:r>
            <a:r>
              <a:rPr lang="en-US" sz="1800" b="1">
                <a:latin typeface="Calibri"/>
                <a:ea typeface="Calibri"/>
                <a:cs typeface="Calibri"/>
                <a:sym typeface="Calibri"/>
              </a:rPr>
              <a:t>differentiated </a:t>
            </a:r>
            <a:r>
              <a:rPr lang="en-US" sz="1800">
                <a:latin typeface="Calibri"/>
                <a:ea typeface="Calibri"/>
                <a:cs typeface="Calibri"/>
                <a:sym typeface="Calibri"/>
              </a:rPr>
              <a:t>you feel each message is compared to messages about competing products</a:t>
            </a:r>
            <a:endParaRPr lang="en-US" sz="18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800">
                <a:latin typeface="Calibri"/>
                <a:ea typeface="Calibri"/>
                <a:cs typeface="Calibri"/>
                <a:sym typeface="Calibri"/>
              </a:rPr>
              <a:t>B. How </a:t>
            </a:r>
            <a:r>
              <a:rPr lang="en-US" sz="1800" b="1">
                <a:latin typeface="Calibri"/>
                <a:ea typeface="Calibri"/>
                <a:cs typeface="Calibri"/>
                <a:sym typeface="Calibri"/>
              </a:rPr>
              <a:t>believable </a:t>
            </a:r>
            <a:r>
              <a:rPr lang="en-US" sz="1800">
                <a:latin typeface="Calibri"/>
                <a:ea typeface="Calibri"/>
                <a:cs typeface="Calibri"/>
                <a:sym typeface="Calibri"/>
              </a:rPr>
              <a:t>each message is in conveying a benefit of the product</a:t>
            </a:r>
            <a:endParaRPr lang="en-US" sz="1800">
              <a:latin typeface="Arial"/>
              <a:ea typeface="Arial"/>
              <a:cs typeface="Arial"/>
              <a:sym typeface="Arial"/>
            </a:endParaRPr>
          </a:p>
          <a:p>
            <a:pPr marL="0" lvl="0" indent="0" algn="l" rtl="0">
              <a:spcBef>
                <a:spcPts val="1000"/>
              </a:spcBef>
              <a:spcAft>
                <a:spcPts val="0"/>
              </a:spcAft>
              <a:buClr>
                <a:schemeClr val="dk1"/>
              </a:buClr>
              <a:buSzPts val="1000"/>
              <a:buNone/>
            </a:pPr>
            <a:r>
              <a:rPr lang="en-US" sz="1800">
                <a:latin typeface="Calibri"/>
                <a:ea typeface="Calibri"/>
                <a:cs typeface="Calibri"/>
                <a:sym typeface="Calibri"/>
              </a:rPr>
              <a:t>C. How </a:t>
            </a:r>
            <a:r>
              <a:rPr lang="en-US" sz="1800" b="1">
                <a:latin typeface="Calibri"/>
                <a:ea typeface="Calibri"/>
                <a:cs typeface="Calibri"/>
                <a:sym typeface="Calibri"/>
              </a:rPr>
              <a:t>motivating </a:t>
            </a:r>
            <a:r>
              <a:rPr lang="en-US" sz="1800">
                <a:latin typeface="Calibri"/>
                <a:ea typeface="Calibri"/>
                <a:cs typeface="Calibri"/>
                <a:sym typeface="Calibri"/>
              </a:rPr>
              <a:t>the conveyed message is in terms of your intent to prescribe the product</a:t>
            </a:r>
            <a:endParaRPr lang="en-US" sz="1800" b="1" i="1"/>
          </a:p>
          <a:p>
            <a:pPr marL="0" lvl="0" indent="0" algn="l" rtl="0">
              <a:spcBef>
                <a:spcPts val="1800"/>
              </a:spcBef>
              <a:spcAft>
                <a:spcPts val="0"/>
              </a:spcAft>
              <a:buClr>
                <a:srgbClr val="262626"/>
              </a:buClr>
              <a:buSzPts val="1800"/>
              <a:buNone/>
            </a:pPr>
            <a:endParaRPr lang="en-US" b="1" i="1"/>
          </a:p>
        </p:txBody>
      </p:sp>
      <p:sp>
        <p:nvSpPr>
          <p:cNvPr id="1356" name="Google Shape;1356;p33:notes">
            <a:extLst>
              <a:ext uri="{FF2B5EF4-FFF2-40B4-BE49-F238E27FC236}">
                <a16:creationId xmlns:a16="http://schemas.microsoft.com/office/drawing/2014/main" id="{C172873C-CA46-7ACF-C13F-93CDB357370C}"/>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62</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0078615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lang="en-US" sz="1000" b="1" i="1"/>
          </a:p>
          <a:p>
            <a:pPr marL="0" lvl="0" indent="0" algn="l" rtl="0">
              <a:spcBef>
                <a:spcPts val="0"/>
              </a:spcBef>
              <a:spcAft>
                <a:spcPts val="0"/>
              </a:spcAft>
              <a:buClr>
                <a:srgbClr val="262626"/>
              </a:buClr>
              <a:buSzPts val="1800"/>
              <a:buNone/>
            </a:pP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63</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5687392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p:cNvGrpSpPr/>
        <p:nvPr/>
      </p:nvGrpSpPr>
      <p:grpSpPr>
        <a:xfrm>
          <a:off x="0" y="0"/>
          <a:ext cx="0" cy="0"/>
          <a:chOff x="0" y="0"/>
          <a:chExt cx="0" cy="0"/>
        </a:xfrm>
      </p:grpSpPr>
      <p:sp>
        <p:nvSpPr>
          <p:cNvPr id="1354" name="Google Shape;1354;p3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a:p>
          <a:p>
            <a:pPr marL="0" lvl="0" indent="0" algn="l" rtl="0">
              <a:spcBef>
                <a:spcPts val="1800"/>
              </a:spcBef>
              <a:spcAft>
                <a:spcPts val="0"/>
              </a:spcAft>
              <a:buClr>
                <a:schemeClr val="dk1"/>
              </a:buClr>
              <a:buSzPts val="1800"/>
              <a:buNone/>
            </a:pPr>
            <a:endParaRPr sz="1800" b="1" i="1">
              <a:solidFill>
                <a:srgbClr val="262626"/>
              </a:solidFill>
              <a:latin typeface="Calibri"/>
              <a:ea typeface="Calibri"/>
              <a:cs typeface="Calibri"/>
              <a:sym typeface="Calibri"/>
            </a:endParaRPr>
          </a:p>
          <a:p>
            <a:pPr marL="0" lvl="0" indent="0" algn="l" rtl="0">
              <a:spcBef>
                <a:spcPts val="1800"/>
              </a:spcBef>
              <a:spcAft>
                <a:spcPts val="0"/>
              </a:spcAft>
              <a:buClr>
                <a:srgbClr val="262626"/>
              </a:buClr>
              <a:buSzPts val="1800"/>
              <a:buNone/>
            </a:pPr>
            <a:r>
              <a:rPr lang="en-US" sz="1800">
                <a:solidFill>
                  <a:srgbClr val="262626"/>
                </a:solidFill>
                <a:latin typeface="Calibri"/>
                <a:ea typeface="Calibri"/>
                <a:cs typeface="Calibri"/>
                <a:sym typeface="Calibri"/>
              </a:rPr>
              <a:t>Q2.30A You mentioned hearing the following messages about [</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 Please indicate which of the following messages that you heard was the </a:t>
            </a:r>
            <a:r>
              <a:rPr lang="en-US" sz="1800" b="1">
                <a:solidFill>
                  <a:srgbClr val="262626"/>
                </a:solidFill>
                <a:latin typeface="Calibri"/>
                <a:ea typeface="Calibri"/>
                <a:cs typeface="Calibri"/>
                <a:sym typeface="Calibri"/>
              </a:rPr>
              <a:t>primary message </a:t>
            </a:r>
            <a:r>
              <a:rPr lang="en-US" sz="1800">
                <a:solidFill>
                  <a:srgbClr val="262626"/>
                </a:solidFill>
                <a:latin typeface="Calibri"/>
                <a:ea typeface="Calibri"/>
                <a:cs typeface="Calibri"/>
                <a:sym typeface="Calibri"/>
              </a:rPr>
              <a:t>discussed during your most recent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with the [</a:t>
            </a:r>
            <a:r>
              <a:rPr lang="en-US" sz="1800">
                <a:solidFill>
                  <a:srgbClr val="262626"/>
                </a:solidFill>
                <a:highlight>
                  <a:srgbClr val="D3D3D3"/>
                </a:highlight>
                <a:latin typeface="Calibri"/>
                <a:ea typeface="Calibri"/>
                <a:cs typeface="Calibri"/>
                <a:sym typeface="Calibri"/>
              </a:rPr>
              <a:t>COMPANY</a:t>
            </a:r>
            <a:r>
              <a:rPr lang="en-US" sz="1800">
                <a:solidFill>
                  <a:srgbClr val="262626"/>
                </a:solidFill>
                <a:latin typeface="Calibri"/>
                <a:ea typeface="Calibri"/>
                <a:cs typeface="Calibri"/>
                <a:sym typeface="Calibri"/>
              </a:rPr>
              <a:t>] rep? </a:t>
            </a:r>
            <a:endParaRPr b="1" i="1"/>
          </a:p>
        </p:txBody>
      </p:sp>
      <p:sp>
        <p:nvSpPr>
          <p:cNvPr id="1356" name="Google Shape;1356;p3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64</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71406236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10D54F58-8E97-4DFF-A0AE-8417E5100066}"/>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59FDABAE-D05B-3460-6E0A-F95502A0784E}"/>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6210A1C2-B0F4-E725-2A61-870E58E75D7F}"/>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a:p>
          <a:p>
            <a:pPr marL="0" lvl="0" indent="0" algn="l" rtl="0">
              <a:spcBef>
                <a:spcPts val="1800"/>
              </a:spcBef>
              <a:spcAft>
                <a:spcPts val="0"/>
              </a:spcAft>
              <a:buClr>
                <a:schemeClr val="dk1"/>
              </a:buClr>
              <a:buSzPts val="1800"/>
              <a:buNone/>
            </a:pPr>
            <a:endParaRPr sz="1800" b="1" i="1">
              <a:solidFill>
                <a:srgbClr val="262626"/>
              </a:solidFill>
              <a:latin typeface="Calibri"/>
              <a:ea typeface="Calibri"/>
              <a:cs typeface="Calibri"/>
              <a:sym typeface="Calibri"/>
            </a:endParaRPr>
          </a:p>
          <a:p>
            <a:pPr marL="0" lvl="0" indent="0" algn="l" rtl="0">
              <a:spcBef>
                <a:spcPts val="1800"/>
              </a:spcBef>
              <a:spcAft>
                <a:spcPts val="0"/>
              </a:spcAft>
              <a:buClr>
                <a:srgbClr val="262626"/>
              </a:buClr>
              <a:buSzPts val="1800"/>
              <a:buNone/>
            </a:pPr>
            <a:r>
              <a:rPr lang="en-US" sz="1800">
                <a:solidFill>
                  <a:srgbClr val="262626"/>
                </a:solidFill>
                <a:latin typeface="Calibri"/>
                <a:ea typeface="Calibri"/>
                <a:cs typeface="Calibri"/>
                <a:sym typeface="Calibri"/>
              </a:rPr>
              <a:t>Q2.30A You mentioned hearing the following messages about [</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 Please indicate which of the following messages that you heard was the </a:t>
            </a:r>
            <a:r>
              <a:rPr lang="en-US" sz="1800" b="1">
                <a:solidFill>
                  <a:srgbClr val="262626"/>
                </a:solidFill>
                <a:latin typeface="Calibri"/>
                <a:ea typeface="Calibri"/>
                <a:cs typeface="Calibri"/>
                <a:sym typeface="Calibri"/>
              </a:rPr>
              <a:t>primary message </a:t>
            </a:r>
            <a:r>
              <a:rPr lang="en-US" sz="1800">
                <a:solidFill>
                  <a:srgbClr val="262626"/>
                </a:solidFill>
                <a:latin typeface="Calibri"/>
                <a:ea typeface="Calibri"/>
                <a:cs typeface="Calibri"/>
                <a:sym typeface="Calibri"/>
              </a:rPr>
              <a:t>discussed during your most recent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with the [</a:t>
            </a:r>
            <a:r>
              <a:rPr lang="en-US" sz="1800">
                <a:solidFill>
                  <a:srgbClr val="262626"/>
                </a:solidFill>
                <a:highlight>
                  <a:srgbClr val="D3D3D3"/>
                </a:highlight>
                <a:latin typeface="Calibri"/>
                <a:ea typeface="Calibri"/>
                <a:cs typeface="Calibri"/>
                <a:sym typeface="Calibri"/>
              </a:rPr>
              <a:t>COMPANY</a:t>
            </a:r>
            <a:r>
              <a:rPr lang="en-US" sz="1800">
                <a:solidFill>
                  <a:srgbClr val="262626"/>
                </a:solidFill>
                <a:latin typeface="Calibri"/>
                <a:ea typeface="Calibri"/>
                <a:cs typeface="Calibri"/>
                <a:sym typeface="Calibri"/>
              </a:rPr>
              <a:t>] rep? </a:t>
            </a:r>
            <a:endParaRPr b="1" i="1"/>
          </a:p>
        </p:txBody>
      </p:sp>
      <p:sp>
        <p:nvSpPr>
          <p:cNvPr id="1356" name="Google Shape;1356;p33:notes">
            <a:extLst>
              <a:ext uri="{FF2B5EF4-FFF2-40B4-BE49-F238E27FC236}">
                <a16:creationId xmlns:a16="http://schemas.microsoft.com/office/drawing/2014/main" id="{A425CBC2-8EF5-D248-E831-0FCD87881C8A}"/>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65</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49220961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
          <a:extLst>
            <a:ext uri="{FF2B5EF4-FFF2-40B4-BE49-F238E27FC236}">
              <a16:creationId xmlns:a16="http://schemas.microsoft.com/office/drawing/2014/main" id="{6F18F412-7DAC-C9D0-684A-870BA992AD9E}"/>
            </a:ext>
          </a:extLst>
        </p:cNvPr>
        <p:cNvGrpSpPr/>
        <p:nvPr/>
      </p:nvGrpSpPr>
      <p:grpSpPr>
        <a:xfrm>
          <a:off x="0" y="0"/>
          <a:ext cx="0" cy="0"/>
          <a:chOff x="0" y="0"/>
          <a:chExt cx="0" cy="0"/>
        </a:xfrm>
      </p:grpSpPr>
      <p:sp>
        <p:nvSpPr>
          <p:cNvPr id="1411" name="Google Shape;1411;p35:notes">
            <a:extLst>
              <a:ext uri="{FF2B5EF4-FFF2-40B4-BE49-F238E27FC236}">
                <a16:creationId xmlns:a16="http://schemas.microsoft.com/office/drawing/2014/main" id="{C35B373C-769D-5B0D-4091-C635188FFFB9}"/>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12" name="Google Shape;1412;p35:notes">
            <a:extLst>
              <a:ext uri="{FF2B5EF4-FFF2-40B4-BE49-F238E27FC236}">
                <a16:creationId xmlns:a16="http://schemas.microsoft.com/office/drawing/2014/main" id="{DD3C3EBF-0BA9-9788-984E-9BC0055D390F}"/>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b="1" i="1"/>
          </a:p>
          <a:p>
            <a:pPr marL="0" lvl="0" indent="0" algn="l" rtl="0">
              <a:spcBef>
                <a:spcPts val="1000"/>
              </a:spcBef>
              <a:spcAft>
                <a:spcPts val="0"/>
              </a:spcAft>
              <a:buClr>
                <a:schemeClr val="dk1"/>
              </a:buClr>
              <a:buSzPts val="1000"/>
              <a:buNone/>
            </a:pPr>
            <a:endParaRPr b="1" i="1"/>
          </a:p>
        </p:txBody>
      </p:sp>
      <p:sp>
        <p:nvSpPr>
          <p:cNvPr id="1413" name="Google Shape;1413;p35:notes">
            <a:extLst>
              <a:ext uri="{FF2B5EF4-FFF2-40B4-BE49-F238E27FC236}">
                <a16:creationId xmlns:a16="http://schemas.microsoft.com/office/drawing/2014/main" id="{D37723BB-8CDB-549F-693B-8FF1F6E815B4}"/>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66</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80328982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
          <a:extLst>
            <a:ext uri="{FF2B5EF4-FFF2-40B4-BE49-F238E27FC236}">
              <a16:creationId xmlns:a16="http://schemas.microsoft.com/office/drawing/2014/main" id="{BF1C191E-08EB-E10F-E0EA-4085652B461D}"/>
            </a:ext>
          </a:extLst>
        </p:cNvPr>
        <p:cNvGrpSpPr/>
        <p:nvPr/>
      </p:nvGrpSpPr>
      <p:grpSpPr>
        <a:xfrm>
          <a:off x="0" y="0"/>
          <a:ext cx="0" cy="0"/>
          <a:chOff x="0" y="0"/>
          <a:chExt cx="0" cy="0"/>
        </a:xfrm>
      </p:grpSpPr>
      <p:sp>
        <p:nvSpPr>
          <p:cNvPr id="1411" name="Google Shape;1411;p35:notes">
            <a:extLst>
              <a:ext uri="{FF2B5EF4-FFF2-40B4-BE49-F238E27FC236}">
                <a16:creationId xmlns:a16="http://schemas.microsoft.com/office/drawing/2014/main" id="{94B31A7B-B884-2D68-6F70-6F5610E73158}"/>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12" name="Google Shape;1412;p35:notes">
            <a:extLst>
              <a:ext uri="{FF2B5EF4-FFF2-40B4-BE49-F238E27FC236}">
                <a16:creationId xmlns:a16="http://schemas.microsoft.com/office/drawing/2014/main" id="{80865E67-0CDB-59A1-F597-2096C1761F2C}"/>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C7</a:t>
            </a:r>
            <a:r>
              <a:rPr lang="en-US" sz="7200">
                <a:effectLst/>
              </a:rPr>
              <a:t> </a:t>
            </a:r>
            <a:r>
              <a:rPr lang="en-US" sz="1800" b="0" i="0" u="none" strike="noStrike" cap="none">
                <a:solidFill>
                  <a:schemeClr val="dk1"/>
                </a:solidFill>
                <a:effectLst/>
                <a:latin typeface="Arial"/>
                <a:ea typeface="Arial"/>
                <a:cs typeface="Arial"/>
                <a:sym typeface="Arial"/>
              </a:rPr>
              <a:t>CREON 36K capsules can be an appropriate dose for many adults.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C6</a:t>
            </a:r>
            <a:r>
              <a:rPr lang="en-US" sz="7200">
                <a:effectLst/>
              </a:rPr>
              <a:t> </a:t>
            </a:r>
            <a:r>
              <a:rPr lang="en-US" sz="1800" b="0" i="0" u="none" strike="noStrike" cap="none">
                <a:solidFill>
                  <a:schemeClr val="dk1"/>
                </a:solidFill>
                <a:effectLst/>
                <a:latin typeface="Arial"/>
                <a:ea typeface="Arial"/>
                <a:cs typeface="Arial"/>
                <a:sym typeface="Arial"/>
              </a:rPr>
              <a:t>Take CREON every meal, every snack, every day.</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C11</a:t>
            </a:r>
            <a:r>
              <a:rPr lang="en-US" sz="7200">
                <a:effectLst/>
              </a:rPr>
              <a:t> </a:t>
            </a:r>
            <a:r>
              <a:rPr lang="en-US"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C10</a:t>
            </a:r>
            <a:r>
              <a:rPr lang="en-US" sz="7200">
                <a:effectLst/>
              </a:rPr>
              <a:t> </a:t>
            </a:r>
            <a:r>
              <a:rPr lang="en-US"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C3</a:t>
            </a:r>
            <a:r>
              <a:rPr lang="en-US" sz="7200">
                <a:effectLst/>
              </a:rPr>
              <a:t> </a:t>
            </a:r>
            <a:r>
              <a:rPr lang="en-US"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C4</a:t>
            </a:r>
            <a:r>
              <a:rPr lang="en-US" sz="7200">
                <a:effectLst/>
              </a:rPr>
              <a:t> </a:t>
            </a:r>
            <a:r>
              <a:rPr lang="en-US"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a:t>
            </a:r>
            <a:r>
              <a:rPr lang="en-US" sz="7200">
                <a:effectLst/>
              </a:rPr>
              <a:t> </a:t>
            </a:r>
            <a:r>
              <a:rPr lang="en-US"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C9</a:t>
            </a:r>
            <a:r>
              <a:rPr lang="en-US" sz="7200">
                <a:effectLst/>
              </a:rPr>
              <a:t> </a:t>
            </a:r>
            <a:r>
              <a:rPr lang="en-US"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US" sz="7200">
                <a:effectLst/>
              </a:rPr>
              <a:t> </a:t>
            </a:r>
            <a:r>
              <a:rPr lang="en-US" sz="1800" b="1" i="0" u="none" strike="noStrike" cap="none">
                <a:solidFill>
                  <a:schemeClr val="dk1"/>
                </a:solidFill>
                <a:effectLst/>
                <a:latin typeface="Arial"/>
                <a:ea typeface="Arial"/>
                <a:cs typeface="Arial"/>
                <a:sym typeface="Arial"/>
              </a:rPr>
              <a:t>C22</a:t>
            </a:r>
            <a:r>
              <a:rPr lang="en-US" sz="7200">
                <a:effectLst/>
              </a:rPr>
              <a:t> </a:t>
            </a:r>
            <a:r>
              <a:rPr lang="en-US" sz="1800" b="0" i="0" u="none" strike="noStrike" cap="none">
                <a:solidFill>
                  <a:schemeClr val="dk1"/>
                </a:solidFill>
                <a:effectLst/>
                <a:latin typeface="Arial"/>
                <a:ea typeface="Arial"/>
                <a:cs typeface="Arial"/>
                <a:sym typeface="Arial"/>
              </a:rPr>
              <a:t>71% of CREON Medicare Part D patients paid less than $30 in 2024.</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C20</a:t>
            </a:r>
            <a:r>
              <a:rPr lang="en-US" sz="7200">
                <a:effectLst/>
              </a:rPr>
              <a:t> </a:t>
            </a:r>
            <a:r>
              <a:rPr lang="en-US"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US" sz="1800" b="0" i="0" u="none" strike="noStrike" cap="none" err="1">
                <a:solidFill>
                  <a:schemeClr val="dk1"/>
                </a:solidFill>
                <a:effectLst/>
                <a:latin typeface="Arial"/>
                <a:ea typeface="Arial"/>
                <a:cs typeface="Arial"/>
                <a:sym typeface="Arial"/>
              </a:rPr>
              <a:t>EPl</a:t>
            </a:r>
            <a:r>
              <a:rPr lang="en-US" sz="1800" b="0" i="0" u="none" strike="noStrike" cap="none">
                <a:solidFill>
                  <a:schemeClr val="dk1"/>
                </a:solidFill>
                <a:effectLst/>
                <a:latin typeface="Arial"/>
                <a:ea typeface="Arial"/>
                <a:cs typeface="Arial"/>
                <a:sym typeface="Arial"/>
              </a:rPr>
              <a:t>.</a:t>
            </a:r>
            <a:r>
              <a:rPr lang="en-US" sz="7200">
                <a:effectLst/>
              </a:rPr>
              <a:t> </a:t>
            </a:r>
            <a:r>
              <a:rPr lang="en-US" sz="1800" b="1" i="0" u="none" strike="noStrike" cap="none">
                <a:solidFill>
                  <a:schemeClr val="dk1"/>
                </a:solidFill>
                <a:effectLst/>
                <a:latin typeface="Arial"/>
                <a:ea typeface="Arial"/>
                <a:cs typeface="Arial"/>
                <a:sym typeface="Arial"/>
              </a:rPr>
              <a:t>C21</a:t>
            </a:r>
            <a:r>
              <a:rPr lang="en-US" sz="7200">
                <a:effectLst/>
              </a:rPr>
              <a:t> </a:t>
            </a:r>
            <a:r>
              <a:rPr lang="en-US" sz="1800" b="0" i="0" u="none" strike="noStrike" cap="none">
                <a:solidFill>
                  <a:schemeClr val="dk1"/>
                </a:solidFill>
                <a:effectLst/>
                <a:latin typeface="Arial"/>
                <a:ea typeface="Arial"/>
                <a:cs typeface="Arial"/>
                <a:sym typeface="Arial"/>
              </a:rPr>
              <a:t>CREON Complete may help patients start and stay on track with their treatment.</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C19</a:t>
            </a:r>
            <a:r>
              <a:rPr lang="en-US" sz="7200">
                <a:effectLst/>
              </a:rPr>
              <a:t> </a:t>
            </a:r>
            <a:r>
              <a:rPr lang="en-US"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C17</a:t>
            </a:r>
            <a:r>
              <a:rPr lang="en-US" sz="7200">
                <a:effectLst/>
              </a:rPr>
              <a:t> </a:t>
            </a:r>
            <a:r>
              <a:rPr lang="en-US" sz="1800" b="0" i="0" u="none" strike="noStrike" cap="none">
                <a:solidFill>
                  <a:schemeClr val="dk1"/>
                </a:solidFill>
                <a:effectLst/>
                <a:latin typeface="Arial"/>
                <a:ea typeface="Arial"/>
                <a:cs typeface="Arial"/>
                <a:sym typeface="Arial"/>
              </a:rPr>
              <a:t>More than 8 out of 10 GEs and PCPs prescribe CREON more than other PERTs</a:t>
            </a:r>
            <a:r>
              <a:rPr lang="en-US" sz="7200">
                <a:effectLst/>
              </a:rPr>
              <a:t> </a:t>
            </a:r>
            <a:endParaRPr lang="en-US" sz="1800" b="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lang="en-US" sz="1800" b="1" i="1"/>
          </a:p>
          <a:p>
            <a:pPr marL="0" lvl="0" indent="0" algn="l" rtl="0">
              <a:spcBef>
                <a:spcPts val="1000"/>
              </a:spcBef>
              <a:spcAft>
                <a:spcPts val="0"/>
              </a:spcAft>
              <a:buClr>
                <a:schemeClr val="dk1"/>
              </a:buClr>
              <a:buSzPts val="1000"/>
              <a:buNone/>
            </a:pPr>
            <a:endParaRPr lang="en-US" sz="1800" b="1" i="1"/>
          </a:p>
        </p:txBody>
      </p:sp>
      <p:sp>
        <p:nvSpPr>
          <p:cNvPr id="1413" name="Google Shape;1413;p35:notes">
            <a:extLst>
              <a:ext uri="{FF2B5EF4-FFF2-40B4-BE49-F238E27FC236}">
                <a16:creationId xmlns:a16="http://schemas.microsoft.com/office/drawing/2014/main" id="{5CBF81D3-1067-564B-0F10-CD6BB777C444}"/>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67</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58887684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
          <a:extLst>
            <a:ext uri="{FF2B5EF4-FFF2-40B4-BE49-F238E27FC236}">
              <a16:creationId xmlns:a16="http://schemas.microsoft.com/office/drawing/2014/main" id="{E9CD224A-B42E-F258-1BB4-14808E3FA2C4}"/>
            </a:ext>
          </a:extLst>
        </p:cNvPr>
        <p:cNvGrpSpPr/>
        <p:nvPr/>
      </p:nvGrpSpPr>
      <p:grpSpPr>
        <a:xfrm>
          <a:off x="0" y="0"/>
          <a:ext cx="0" cy="0"/>
          <a:chOff x="0" y="0"/>
          <a:chExt cx="0" cy="0"/>
        </a:xfrm>
      </p:grpSpPr>
      <p:sp>
        <p:nvSpPr>
          <p:cNvPr id="1411" name="Google Shape;1411;p35:notes">
            <a:extLst>
              <a:ext uri="{FF2B5EF4-FFF2-40B4-BE49-F238E27FC236}">
                <a16:creationId xmlns:a16="http://schemas.microsoft.com/office/drawing/2014/main" id="{2D4DC69E-BD4B-BD91-8292-81B88A4B5283}"/>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12" name="Google Shape;1412;p35:notes">
            <a:extLst>
              <a:ext uri="{FF2B5EF4-FFF2-40B4-BE49-F238E27FC236}">
                <a16:creationId xmlns:a16="http://schemas.microsoft.com/office/drawing/2014/main" id="{AFE8EC18-0920-2C1E-C792-A65C9E57D050}"/>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C7</a:t>
            </a:r>
            <a:r>
              <a:rPr lang="en-US" sz="7200">
                <a:effectLst/>
              </a:rPr>
              <a:t> </a:t>
            </a:r>
            <a:r>
              <a:rPr lang="en-US" sz="1800" b="0" i="0" u="none" strike="noStrike" cap="none">
                <a:solidFill>
                  <a:schemeClr val="dk1"/>
                </a:solidFill>
                <a:effectLst/>
                <a:latin typeface="Arial"/>
                <a:ea typeface="Arial"/>
                <a:cs typeface="Arial"/>
                <a:sym typeface="Arial"/>
              </a:rPr>
              <a:t>CREON 36K capsules can be an appropriate dose for many adults.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C6</a:t>
            </a:r>
            <a:r>
              <a:rPr lang="en-US" sz="7200">
                <a:effectLst/>
              </a:rPr>
              <a:t> </a:t>
            </a:r>
            <a:r>
              <a:rPr lang="en-US" sz="1800" b="0" i="0" u="none" strike="noStrike" cap="none">
                <a:solidFill>
                  <a:schemeClr val="dk1"/>
                </a:solidFill>
                <a:effectLst/>
                <a:latin typeface="Arial"/>
                <a:ea typeface="Arial"/>
                <a:cs typeface="Arial"/>
                <a:sym typeface="Arial"/>
              </a:rPr>
              <a:t>Take CREON every meal, every snack, every day.</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C11</a:t>
            </a:r>
            <a:r>
              <a:rPr lang="en-US" sz="7200">
                <a:effectLst/>
              </a:rPr>
              <a:t> </a:t>
            </a:r>
            <a:r>
              <a:rPr lang="en-US"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C10</a:t>
            </a:r>
            <a:r>
              <a:rPr lang="en-US" sz="7200">
                <a:effectLst/>
              </a:rPr>
              <a:t> </a:t>
            </a:r>
            <a:r>
              <a:rPr lang="en-US"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C3</a:t>
            </a:r>
            <a:r>
              <a:rPr lang="en-US" sz="7200">
                <a:effectLst/>
              </a:rPr>
              <a:t> </a:t>
            </a:r>
            <a:r>
              <a:rPr lang="en-US"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C4</a:t>
            </a:r>
            <a:r>
              <a:rPr lang="en-US" sz="7200">
                <a:effectLst/>
              </a:rPr>
              <a:t> </a:t>
            </a:r>
            <a:r>
              <a:rPr lang="en-US"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a:t>
            </a:r>
            <a:r>
              <a:rPr lang="en-US" sz="7200">
                <a:effectLst/>
              </a:rPr>
              <a:t> </a:t>
            </a:r>
            <a:r>
              <a:rPr lang="en-US"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C9</a:t>
            </a:r>
            <a:r>
              <a:rPr lang="en-US" sz="7200">
                <a:effectLst/>
              </a:rPr>
              <a:t> </a:t>
            </a:r>
            <a:r>
              <a:rPr lang="en-US"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US" sz="7200">
                <a:effectLst/>
              </a:rPr>
              <a:t> </a:t>
            </a:r>
            <a:r>
              <a:rPr lang="en-US" sz="1800" b="1" i="0" u="none" strike="noStrike" cap="none">
                <a:solidFill>
                  <a:schemeClr val="dk1"/>
                </a:solidFill>
                <a:effectLst/>
                <a:latin typeface="Arial"/>
                <a:ea typeface="Arial"/>
                <a:cs typeface="Arial"/>
                <a:sym typeface="Arial"/>
              </a:rPr>
              <a:t>C22</a:t>
            </a:r>
            <a:r>
              <a:rPr lang="en-US" sz="7200">
                <a:effectLst/>
              </a:rPr>
              <a:t> </a:t>
            </a:r>
            <a:r>
              <a:rPr lang="en-US" sz="1800" b="0" i="0" u="none" strike="noStrike" cap="none">
                <a:solidFill>
                  <a:schemeClr val="dk1"/>
                </a:solidFill>
                <a:effectLst/>
                <a:latin typeface="Arial"/>
                <a:ea typeface="Arial"/>
                <a:cs typeface="Arial"/>
                <a:sym typeface="Arial"/>
              </a:rPr>
              <a:t>71% of CREON Medicare Part D patients paid less than $30 in 2024.</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C20</a:t>
            </a:r>
            <a:r>
              <a:rPr lang="en-US" sz="7200">
                <a:effectLst/>
              </a:rPr>
              <a:t> </a:t>
            </a:r>
            <a:r>
              <a:rPr lang="en-US"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US" sz="1800" b="0" i="0" u="none" strike="noStrike" cap="none" err="1">
                <a:solidFill>
                  <a:schemeClr val="dk1"/>
                </a:solidFill>
                <a:effectLst/>
                <a:latin typeface="Arial"/>
                <a:ea typeface="Arial"/>
                <a:cs typeface="Arial"/>
                <a:sym typeface="Arial"/>
              </a:rPr>
              <a:t>EPl</a:t>
            </a:r>
            <a:r>
              <a:rPr lang="en-US" sz="1800" b="0" i="0" u="none" strike="noStrike" cap="none">
                <a:solidFill>
                  <a:schemeClr val="dk1"/>
                </a:solidFill>
                <a:effectLst/>
                <a:latin typeface="Arial"/>
                <a:ea typeface="Arial"/>
                <a:cs typeface="Arial"/>
                <a:sym typeface="Arial"/>
              </a:rPr>
              <a:t>.</a:t>
            </a:r>
            <a:r>
              <a:rPr lang="en-US" sz="7200">
                <a:effectLst/>
              </a:rPr>
              <a:t> </a:t>
            </a:r>
            <a:r>
              <a:rPr lang="en-US" sz="1800" b="1" i="0" u="none" strike="noStrike" cap="none">
                <a:solidFill>
                  <a:schemeClr val="dk1"/>
                </a:solidFill>
                <a:effectLst/>
                <a:latin typeface="Arial"/>
                <a:ea typeface="Arial"/>
                <a:cs typeface="Arial"/>
                <a:sym typeface="Arial"/>
              </a:rPr>
              <a:t>C21</a:t>
            </a:r>
            <a:r>
              <a:rPr lang="en-US" sz="7200">
                <a:effectLst/>
              </a:rPr>
              <a:t> </a:t>
            </a:r>
            <a:r>
              <a:rPr lang="en-US" sz="1800" b="0" i="0" u="none" strike="noStrike" cap="none">
                <a:solidFill>
                  <a:schemeClr val="dk1"/>
                </a:solidFill>
                <a:effectLst/>
                <a:latin typeface="Arial"/>
                <a:ea typeface="Arial"/>
                <a:cs typeface="Arial"/>
                <a:sym typeface="Arial"/>
              </a:rPr>
              <a:t>CREON Complete may help patients start and stay on track with their treatment.</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C19</a:t>
            </a:r>
            <a:r>
              <a:rPr lang="en-US" sz="7200">
                <a:effectLst/>
              </a:rPr>
              <a:t> </a:t>
            </a:r>
            <a:r>
              <a:rPr lang="en-US"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US" sz="7200">
                <a:effectLst/>
              </a:rPr>
              <a:t> </a:t>
            </a:r>
          </a:p>
          <a:p>
            <a:pPr marL="165100" indent="0" algn="l" rtl="0" fontAlgn="t">
              <a:spcBef>
                <a:spcPts val="0"/>
              </a:spcBef>
              <a:spcAft>
                <a:spcPts val="0"/>
              </a:spcAft>
              <a:buNone/>
            </a:pPr>
            <a:r>
              <a:rPr lang="en-US" sz="1800" b="1" i="0" u="none" strike="noStrike" cap="none">
                <a:solidFill>
                  <a:schemeClr val="dk1"/>
                </a:solidFill>
                <a:effectLst/>
                <a:latin typeface="Arial"/>
                <a:ea typeface="Arial"/>
                <a:cs typeface="Arial"/>
                <a:sym typeface="Arial"/>
              </a:rPr>
              <a:t>C17</a:t>
            </a:r>
            <a:r>
              <a:rPr lang="en-US" sz="7200">
                <a:effectLst/>
              </a:rPr>
              <a:t> </a:t>
            </a:r>
            <a:r>
              <a:rPr lang="en-US" sz="1800" b="0" i="0" u="none" strike="noStrike" cap="none">
                <a:solidFill>
                  <a:schemeClr val="dk1"/>
                </a:solidFill>
                <a:effectLst/>
                <a:latin typeface="Arial"/>
                <a:ea typeface="Arial"/>
                <a:cs typeface="Arial"/>
                <a:sym typeface="Arial"/>
              </a:rPr>
              <a:t>More than 8 out of 10 GEs and PCPs prescribe CREON more than other PERTs</a:t>
            </a:r>
            <a:r>
              <a:rPr lang="en-US" sz="7200">
                <a:effectLst/>
              </a:rPr>
              <a:t> </a:t>
            </a:r>
            <a:endParaRPr lang="en-US" sz="1800" b="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endParaRPr lang="en-US" sz="1000">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lang="en-US" sz="1800" b="1" i="1"/>
          </a:p>
          <a:p>
            <a:pPr marL="0" lvl="0" indent="0" algn="l" rtl="0">
              <a:spcBef>
                <a:spcPts val="1000"/>
              </a:spcBef>
              <a:spcAft>
                <a:spcPts val="0"/>
              </a:spcAft>
              <a:buClr>
                <a:schemeClr val="dk1"/>
              </a:buClr>
              <a:buSzPts val="1000"/>
              <a:buNone/>
            </a:pPr>
            <a:endParaRPr lang="en-US" sz="1800" b="1" i="1"/>
          </a:p>
        </p:txBody>
      </p:sp>
      <p:sp>
        <p:nvSpPr>
          <p:cNvPr id="1413" name="Google Shape;1413;p35:notes">
            <a:extLst>
              <a:ext uri="{FF2B5EF4-FFF2-40B4-BE49-F238E27FC236}">
                <a16:creationId xmlns:a16="http://schemas.microsoft.com/office/drawing/2014/main" id="{90F21770-737D-880A-408F-FA5376C604FF}"/>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68</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57379142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p:cNvGrpSpPr/>
        <p:nvPr/>
      </p:nvGrpSpPr>
      <p:grpSpPr>
        <a:xfrm>
          <a:off x="0" y="0"/>
          <a:ext cx="0" cy="0"/>
          <a:chOff x="0" y="0"/>
          <a:chExt cx="0" cy="0"/>
        </a:xfrm>
      </p:grpSpPr>
      <p:sp>
        <p:nvSpPr>
          <p:cNvPr id="1439" name="Google Shape;1439;p36: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40" name="Google Shape;1440;p36: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1800" b="1">
              <a:solidFill>
                <a:srgbClr val="262626"/>
              </a:solidFill>
              <a:latin typeface="Calibri"/>
              <a:ea typeface="Calibri"/>
              <a:cs typeface="Calibri"/>
              <a:sym typeface="Calibri"/>
            </a:endParaRPr>
          </a:p>
          <a:p>
            <a:pPr marL="457200" lvl="1" indent="0" algn="l" rtl="0" fontAlgn="t">
              <a:spcBef>
                <a:spcPts val="0"/>
              </a:spcBef>
              <a:spcAft>
                <a:spcPts val="0"/>
              </a:spcAft>
              <a:buNone/>
            </a:pPr>
            <a:endParaRPr lang="en-US" sz="4000" b="0">
              <a:effectLst/>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b="1" i="1"/>
          </a:p>
          <a:p>
            <a:pPr marL="0" lvl="0" indent="0" algn="l" rtl="0">
              <a:spcBef>
                <a:spcPts val="1000"/>
              </a:spcBef>
              <a:spcAft>
                <a:spcPts val="0"/>
              </a:spcAft>
              <a:buClr>
                <a:schemeClr val="dk1"/>
              </a:buClr>
              <a:buSzPts val="1000"/>
              <a:buNone/>
            </a:pPr>
            <a:endParaRPr b="1" i="1"/>
          </a:p>
        </p:txBody>
      </p:sp>
      <p:sp>
        <p:nvSpPr>
          <p:cNvPr id="1441" name="Google Shape;1441;p36: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69</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655475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a:extLst>
            <a:ext uri="{FF2B5EF4-FFF2-40B4-BE49-F238E27FC236}">
              <a16:creationId xmlns:a16="http://schemas.microsoft.com/office/drawing/2014/main" id="{55430A54-A548-C108-AB38-8B4155628E89}"/>
            </a:ext>
          </a:extLst>
        </p:cNvPr>
        <p:cNvGrpSpPr/>
        <p:nvPr/>
      </p:nvGrpSpPr>
      <p:grpSpPr>
        <a:xfrm>
          <a:off x="0" y="0"/>
          <a:ext cx="0" cy="0"/>
          <a:chOff x="0" y="0"/>
          <a:chExt cx="0" cy="0"/>
        </a:xfrm>
      </p:grpSpPr>
      <p:sp>
        <p:nvSpPr>
          <p:cNvPr id="1439" name="Google Shape;1439;p36:notes">
            <a:extLst>
              <a:ext uri="{FF2B5EF4-FFF2-40B4-BE49-F238E27FC236}">
                <a16:creationId xmlns:a16="http://schemas.microsoft.com/office/drawing/2014/main" id="{D2B1B7D1-FF4F-0705-5439-F2C6AEDBC6BD}"/>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40" name="Google Shape;1440;p36:notes">
            <a:extLst>
              <a:ext uri="{FF2B5EF4-FFF2-40B4-BE49-F238E27FC236}">
                <a16:creationId xmlns:a16="http://schemas.microsoft.com/office/drawing/2014/main" id="{FCD0D0C1-701D-5FF7-E909-328DCE2A8283}"/>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Z17</a:t>
            </a:r>
            <a:r>
              <a:rPr lang="en-US" sz="4000">
                <a:effectLst/>
              </a:rPr>
              <a:t> </a:t>
            </a:r>
            <a:r>
              <a:rPr lang="en-US"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Z16</a:t>
            </a:r>
            <a:r>
              <a:rPr lang="en-US" sz="4000">
                <a:effectLst/>
              </a:rPr>
              <a:t> </a:t>
            </a:r>
            <a:r>
              <a:rPr lang="en-US" sz="1800" b="0" i="0" u="none" strike="noStrike" cap="none">
                <a:solidFill>
                  <a:schemeClr val="dk1"/>
                </a:solidFill>
                <a:effectLst/>
                <a:latin typeface="Arial"/>
                <a:ea typeface="Arial"/>
                <a:cs typeface="Arial"/>
                <a:sym typeface="Arial"/>
              </a:rPr>
              <a:t>ZENPEP offers a single-capsule starting dose for almost all adult patients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Z11</a:t>
            </a:r>
            <a:r>
              <a:rPr lang="en-US" sz="4000">
                <a:effectLst/>
              </a:rPr>
              <a:t> </a:t>
            </a:r>
            <a:r>
              <a:rPr lang="en-US"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Z15</a:t>
            </a:r>
            <a:r>
              <a:rPr lang="en-US" sz="4000">
                <a:effectLst/>
              </a:rPr>
              <a:t> </a:t>
            </a:r>
            <a:r>
              <a:rPr lang="en-US"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Z7</a:t>
            </a:r>
            <a:r>
              <a:rPr lang="en-US" sz="4000">
                <a:effectLst/>
              </a:rPr>
              <a:t> </a:t>
            </a:r>
            <a:r>
              <a:rPr lang="en-US"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Z19</a:t>
            </a:r>
            <a:r>
              <a:rPr lang="en-US" sz="4000">
                <a:effectLst/>
              </a:rPr>
              <a:t> </a:t>
            </a:r>
            <a:r>
              <a:rPr lang="en-US" sz="1800" b="0" i="0" u="none" strike="noStrike" cap="none">
                <a:solidFill>
                  <a:schemeClr val="dk1"/>
                </a:solidFill>
                <a:effectLst/>
                <a:latin typeface="Arial"/>
                <a:ea typeface="Arial"/>
                <a:cs typeface="Arial"/>
                <a:sym typeface="Arial"/>
              </a:rPr>
              <a:t>Meets the ACG guideline for EPI and CP in a single capsule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Z21</a:t>
            </a:r>
            <a:r>
              <a:rPr lang="en-US" sz="4000">
                <a:effectLst/>
              </a:rPr>
              <a:t> </a:t>
            </a:r>
            <a:r>
              <a:rPr lang="en-US"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Z23</a:t>
            </a:r>
            <a:r>
              <a:rPr lang="en-US" sz="4000">
                <a:effectLst/>
              </a:rPr>
              <a:t> </a:t>
            </a:r>
            <a:r>
              <a:rPr lang="en-US" sz="1800" b="0" i="0" u="none" strike="noStrike" cap="none">
                <a:solidFill>
                  <a:schemeClr val="dk1"/>
                </a:solidFill>
                <a:effectLst/>
                <a:latin typeface="Arial"/>
                <a:ea typeface="Arial"/>
                <a:cs typeface="Arial"/>
                <a:sym typeface="Arial"/>
              </a:rPr>
              <a:t>ZENPEP is the most widely covered treatment in its class.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Z24</a:t>
            </a:r>
            <a:r>
              <a:rPr lang="en-US" sz="4000">
                <a:effectLst/>
              </a:rPr>
              <a:t> </a:t>
            </a:r>
            <a:r>
              <a:rPr lang="en-US" sz="1800" b="0" i="0" u="none" strike="noStrike" cap="none">
                <a:solidFill>
                  <a:schemeClr val="dk1"/>
                </a:solidFill>
                <a:effectLst/>
                <a:latin typeface="Arial"/>
                <a:ea typeface="Arial"/>
                <a:cs typeface="Arial"/>
                <a:sym typeface="Arial"/>
              </a:rPr>
              <a:t>ZENPEP is designed to mimic typical exocrine pancreatic function.</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Z18</a:t>
            </a:r>
            <a:r>
              <a:rPr lang="en-US" sz="4000">
                <a:effectLst/>
              </a:rPr>
              <a:t> </a:t>
            </a:r>
            <a:r>
              <a:rPr lang="en-US"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Z20</a:t>
            </a:r>
            <a:r>
              <a:rPr lang="en-US" sz="4000">
                <a:effectLst/>
              </a:rPr>
              <a:t> </a:t>
            </a:r>
            <a:r>
              <a:rPr lang="en-US" sz="1800" b="0" i="0" u="none" strike="noStrike" cap="none">
                <a:solidFill>
                  <a:schemeClr val="dk1"/>
                </a:solidFill>
                <a:effectLst/>
                <a:latin typeface="Arial"/>
                <a:ea typeface="Arial"/>
                <a:cs typeface="Arial"/>
                <a:sym typeface="Arial"/>
              </a:rPr>
              <a:t>91% of patients achieved a CFA of 80% or higher with ZENPEP</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Z22</a:t>
            </a:r>
            <a:r>
              <a:rPr lang="en-US" sz="4000">
                <a:effectLst/>
              </a:rPr>
              <a:t> </a:t>
            </a:r>
            <a:r>
              <a:rPr lang="en-US"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Z8</a:t>
            </a:r>
            <a:r>
              <a:rPr lang="en-US" sz="4000">
                <a:effectLst/>
              </a:rPr>
              <a:t> </a:t>
            </a:r>
            <a:r>
              <a:rPr lang="en-US"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US" sz="4000">
                <a:effectLst/>
              </a:rPr>
              <a:t> </a:t>
            </a:r>
            <a:endParaRPr lang="en-US" sz="1800" b="1">
              <a:solidFill>
                <a:srgbClr val="262626"/>
              </a:solidFill>
              <a:latin typeface="Calibri"/>
              <a:ea typeface="Calibri"/>
              <a:cs typeface="Calibri"/>
              <a:sym typeface="Calibri"/>
            </a:endParaRPr>
          </a:p>
          <a:p>
            <a:pPr marL="457200" lvl="1" indent="0" algn="l" rtl="0" fontAlgn="t">
              <a:spcBef>
                <a:spcPts val="0"/>
              </a:spcBef>
              <a:spcAft>
                <a:spcPts val="0"/>
              </a:spcAft>
              <a:buNone/>
            </a:pPr>
            <a:endParaRPr lang="en-US" sz="4000" b="0">
              <a:effectLst/>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lang="en-US" b="1" i="1"/>
          </a:p>
          <a:p>
            <a:pPr marL="0" lvl="0" indent="0" algn="l" rtl="0">
              <a:spcBef>
                <a:spcPts val="1000"/>
              </a:spcBef>
              <a:spcAft>
                <a:spcPts val="0"/>
              </a:spcAft>
              <a:buClr>
                <a:schemeClr val="dk1"/>
              </a:buClr>
              <a:buSzPts val="1000"/>
              <a:buNone/>
            </a:pPr>
            <a:endParaRPr lang="en-US" b="1" i="1"/>
          </a:p>
        </p:txBody>
      </p:sp>
      <p:sp>
        <p:nvSpPr>
          <p:cNvPr id="1441" name="Google Shape;1441;p36:notes">
            <a:extLst>
              <a:ext uri="{FF2B5EF4-FFF2-40B4-BE49-F238E27FC236}">
                <a16:creationId xmlns:a16="http://schemas.microsoft.com/office/drawing/2014/main" id="{58AD002F-9C80-192F-F92B-B4A2B8A93C03}"/>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70</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72236362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a:extLst>
            <a:ext uri="{FF2B5EF4-FFF2-40B4-BE49-F238E27FC236}">
              <a16:creationId xmlns:a16="http://schemas.microsoft.com/office/drawing/2014/main" id="{F4669D03-5DE3-3AF0-6913-72BCC99D788D}"/>
            </a:ext>
          </a:extLst>
        </p:cNvPr>
        <p:cNvGrpSpPr/>
        <p:nvPr/>
      </p:nvGrpSpPr>
      <p:grpSpPr>
        <a:xfrm>
          <a:off x="0" y="0"/>
          <a:ext cx="0" cy="0"/>
          <a:chOff x="0" y="0"/>
          <a:chExt cx="0" cy="0"/>
        </a:xfrm>
      </p:grpSpPr>
      <p:sp>
        <p:nvSpPr>
          <p:cNvPr id="1439" name="Google Shape;1439;p36:notes">
            <a:extLst>
              <a:ext uri="{FF2B5EF4-FFF2-40B4-BE49-F238E27FC236}">
                <a16:creationId xmlns:a16="http://schemas.microsoft.com/office/drawing/2014/main" id="{68C608F7-1FF7-840F-F88C-E3B85E2D7F52}"/>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440" name="Google Shape;1440;p36:notes">
            <a:extLst>
              <a:ext uri="{FF2B5EF4-FFF2-40B4-BE49-F238E27FC236}">
                <a16:creationId xmlns:a16="http://schemas.microsoft.com/office/drawing/2014/main" id="{14885BD4-00F7-FE4F-EEDF-0FA612FE08A4}"/>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Z17</a:t>
            </a:r>
            <a:r>
              <a:rPr lang="en-US" sz="4000">
                <a:effectLst/>
              </a:rPr>
              <a:t> </a:t>
            </a:r>
            <a:r>
              <a:rPr lang="en-US"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Z16</a:t>
            </a:r>
            <a:r>
              <a:rPr lang="en-US" sz="4000">
                <a:effectLst/>
              </a:rPr>
              <a:t> </a:t>
            </a:r>
            <a:r>
              <a:rPr lang="en-US" sz="1800" b="0" i="0" u="none" strike="noStrike" cap="none">
                <a:solidFill>
                  <a:schemeClr val="dk1"/>
                </a:solidFill>
                <a:effectLst/>
                <a:latin typeface="Arial"/>
                <a:ea typeface="Arial"/>
                <a:cs typeface="Arial"/>
                <a:sym typeface="Arial"/>
              </a:rPr>
              <a:t>ZENPEP offers a single-capsule starting dose for almost all adult patients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Z11</a:t>
            </a:r>
            <a:r>
              <a:rPr lang="en-US" sz="4000">
                <a:effectLst/>
              </a:rPr>
              <a:t> </a:t>
            </a:r>
            <a:r>
              <a:rPr lang="en-US"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Z15</a:t>
            </a:r>
            <a:r>
              <a:rPr lang="en-US" sz="4000">
                <a:effectLst/>
              </a:rPr>
              <a:t> </a:t>
            </a:r>
            <a:r>
              <a:rPr lang="en-US"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Z7</a:t>
            </a:r>
            <a:r>
              <a:rPr lang="en-US" sz="4000">
                <a:effectLst/>
              </a:rPr>
              <a:t> </a:t>
            </a:r>
            <a:r>
              <a:rPr lang="en-US"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Z19</a:t>
            </a:r>
            <a:r>
              <a:rPr lang="en-US" sz="4000">
                <a:effectLst/>
              </a:rPr>
              <a:t> </a:t>
            </a:r>
            <a:r>
              <a:rPr lang="en-US" sz="1800" b="0" i="0" u="none" strike="noStrike" cap="none">
                <a:solidFill>
                  <a:schemeClr val="dk1"/>
                </a:solidFill>
                <a:effectLst/>
                <a:latin typeface="Arial"/>
                <a:ea typeface="Arial"/>
                <a:cs typeface="Arial"/>
                <a:sym typeface="Arial"/>
              </a:rPr>
              <a:t>Meets the ACG guideline for EPI and CP in a single capsule</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Z21</a:t>
            </a:r>
            <a:r>
              <a:rPr lang="en-US" sz="4000">
                <a:effectLst/>
              </a:rPr>
              <a:t> </a:t>
            </a:r>
            <a:r>
              <a:rPr lang="en-US"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Z23</a:t>
            </a:r>
            <a:r>
              <a:rPr lang="en-US" sz="4000">
                <a:effectLst/>
              </a:rPr>
              <a:t> </a:t>
            </a:r>
            <a:r>
              <a:rPr lang="en-US" sz="1800" b="0" i="0" u="none" strike="noStrike" cap="none">
                <a:solidFill>
                  <a:schemeClr val="dk1"/>
                </a:solidFill>
                <a:effectLst/>
                <a:latin typeface="Arial"/>
                <a:ea typeface="Arial"/>
                <a:cs typeface="Arial"/>
                <a:sym typeface="Arial"/>
              </a:rPr>
              <a:t>ZENPEP is the most widely covered treatment in its class.</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Z24</a:t>
            </a:r>
            <a:r>
              <a:rPr lang="en-US" sz="4000">
                <a:effectLst/>
              </a:rPr>
              <a:t> </a:t>
            </a:r>
            <a:r>
              <a:rPr lang="en-US" sz="1800" b="0" i="0" u="none" strike="noStrike" cap="none">
                <a:solidFill>
                  <a:schemeClr val="dk1"/>
                </a:solidFill>
                <a:effectLst/>
                <a:latin typeface="Arial"/>
                <a:ea typeface="Arial"/>
                <a:cs typeface="Arial"/>
                <a:sym typeface="Arial"/>
              </a:rPr>
              <a:t>ZENPEP is designed to mimic typical exocrine pancreatic function.</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Z18</a:t>
            </a:r>
            <a:r>
              <a:rPr lang="en-US" sz="4000">
                <a:effectLst/>
              </a:rPr>
              <a:t> </a:t>
            </a:r>
            <a:r>
              <a:rPr lang="en-US"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Z20</a:t>
            </a:r>
            <a:r>
              <a:rPr lang="en-US" sz="4000">
                <a:effectLst/>
              </a:rPr>
              <a:t> </a:t>
            </a:r>
            <a:r>
              <a:rPr lang="en-US" sz="1800" b="0" i="0" u="none" strike="noStrike" cap="none">
                <a:solidFill>
                  <a:schemeClr val="dk1"/>
                </a:solidFill>
                <a:effectLst/>
                <a:latin typeface="Arial"/>
                <a:ea typeface="Arial"/>
                <a:cs typeface="Arial"/>
                <a:sym typeface="Arial"/>
              </a:rPr>
              <a:t>91% of patients achieved a CFA of 80% or higher with ZENPEP</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Z22</a:t>
            </a:r>
            <a:r>
              <a:rPr lang="en-US" sz="4000">
                <a:effectLst/>
              </a:rPr>
              <a:t> </a:t>
            </a:r>
            <a:r>
              <a:rPr lang="en-US"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US" sz="4000">
                <a:effectLst/>
              </a:rPr>
              <a:t> </a:t>
            </a:r>
          </a:p>
          <a:p>
            <a:pPr marL="0" lvl="0" indent="0" algn="l" rtl="0">
              <a:spcBef>
                <a:spcPts val="0"/>
              </a:spcBef>
              <a:spcAft>
                <a:spcPts val="0"/>
              </a:spcAft>
              <a:buClr>
                <a:srgbClr val="262626"/>
              </a:buClr>
              <a:buSzPts val="1800"/>
              <a:buNone/>
            </a:pPr>
            <a:r>
              <a:rPr lang="en-US" sz="1800" b="1" i="0" u="none" strike="noStrike" cap="none">
                <a:solidFill>
                  <a:schemeClr val="dk1"/>
                </a:solidFill>
                <a:effectLst/>
                <a:latin typeface="Arial"/>
                <a:ea typeface="Arial"/>
                <a:cs typeface="Arial"/>
                <a:sym typeface="Arial"/>
              </a:rPr>
              <a:t>Z8</a:t>
            </a:r>
            <a:r>
              <a:rPr lang="en-US" sz="4000">
                <a:effectLst/>
              </a:rPr>
              <a:t> </a:t>
            </a:r>
            <a:r>
              <a:rPr lang="en-US"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US" sz="4000">
                <a:effectLst/>
              </a:rPr>
              <a:t> </a:t>
            </a:r>
            <a:endParaRPr lang="en-US" sz="1800" b="1">
              <a:solidFill>
                <a:srgbClr val="262626"/>
              </a:solidFill>
              <a:latin typeface="Calibri"/>
              <a:ea typeface="Calibri"/>
              <a:cs typeface="Calibri"/>
              <a:sym typeface="Calibri"/>
            </a:endParaRPr>
          </a:p>
          <a:p>
            <a:pPr marL="457200" lvl="1" indent="0" algn="l" rtl="0" fontAlgn="t">
              <a:spcBef>
                <a:spcPts val="0"/>
              </a:spcBef>
              <a:spcAft>
                <a:spcPts val="0"/>
              </a:spcAft>
              <a:buNone/>
            </a:pPr>
            <a:endParaRPr lang="en-US" sz="4000" b="0">
              <a:effectLst/>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endParaRPr lang="en-US" b="1" i="1"/>
          </a:p>
          <a:p>
            <a:pPr marL="0" lvl="0" indent="0" algn="l" rtl="0">
              <a:spcBef>
                <a:spcPts val="1000"/>
              </a:spcBef>
              <a:spcAft>
                <a:spcPts val="0"/>
              </a:spcAft>
              <a:buClr>
                <a:schemeClr val="dk1"/>
              </a:buClr>
              <a:buSzPts val="1000"/>
              <a:buNone/>
            </a:pPr>
            <a:endParaRPr lang="en-US" b="1" i="1"/>
          </a:p>
        </p:txBody>
      </p:sp>
      <p:sp>
        <p:nvSpPr>
          <p:cNvPr id="1441" name="Google Shape;1441;p36:notes">
            <a:extLst>
              <a:ext uri="{FF2B5EF4-FFF2-40B4-BE49-F238E27FC236}">
                <a16:creationId xmlns:a16="http://schemas.microsoft.com/office/drawing/2014/main" id="{C634F18D-6F09-4551-157D-FB7E168D57C2}"/>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71</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51974197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06973B11-2144-6A71-82AA-5145F464F564}"/>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9A5AD762-462F-046C-8145-FE90BC24BD5E}"/>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BFFCBC15-94AF-6E2F-7F25-FBBC40B708D1}"/>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latin typeface="Calibri"/>
                <a:ea typeface="Calibri"/>
                <a:cs typeface="Calibri"/>
                <a:sym typeface="Calibri"/>
              </a:rPr>
              <a:t>Q2.40B Please rate the [COMPANY] sales rep across each of the following attributes based on your most recent interaction. Please use the scale below: </a:t>
            </a:r>
            <a:r>
              <a:rPr lang="en-US" sz="1800" i="1">
                <a:latin typeface="Calibri"/>
                <a:ea typeface="Calibri"/>
                <a:cs typeface="Calibri"/>
                <a:sym typeface="Calibri"/>
              </a:rPr>
              <a:t>1 = Performed Poorly // 7 = Performed Extremely Well</a:t>
            </a:r>
            <a:endParaRPr lang="en-US" sz="1800" b="1" i="1"/>
          </a:p>
          <a:p>
            <a:pPr marL="0" lvl="0" indent="0" algn="l" rtl="0">
              <a:spcBef>
                <a:spcPts val="1000"/>
              </a:spcBef>
              <a:spcAft>
                <a:spcPts val="0"/>
              </a:spcAft>
              <a:buNone/>
            </a:pPr>
            <a:br>
              <a:rPr lang="en-US" sz="1800"/>
            </a:br>
            <a:r>
              <a:rPr lang="en-US" sz="1800"/>
              <a:t>Sample size : Rep Performance</a:t>
            </a:r>
            <a:br>
              <a:rPr lang="en-US" sz="1800"/>
            </a:br>
            <a:endParaRPr lang="en-US" sz="1800"/>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	                   CREON            </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endParaRPr lang="en-US" sz="1800"/>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Nov’24 – Dec’24	48	</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Jan’25 – Feb’25	46</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Mar’25 – Apr’25	62</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May’25 – Jun’25	48</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Jul’25 – Aug’25	55</a:t>
            </a:r>
          </a:p>
          <a:p>
            <a:pPr marL="0" lvl="0" indent="0" algn="l" rtl="0">
              <a:spcBef>
                <a:spcPts val="1000"/>
              </a:spcBef>
              <a:spcAft>
                <a:spcPts val="0"/>
              </a:spcAft>
              <a:buNone/>
            </a:pPr>
            <a:r>
              <a:rPr lang="en-US" sz="1800"/>
              <a:t>Sep’25 – Oct’25	48</a:t>
            </a:r>
          </a:p>
          <a:p>
            <a:pPr marL="0" lvl="0" indent="0" algn="l" rtl="0">
              <a:spcBef>
                <a:spcPts val="1000"/>
              </a:spcBef>
              <a:spcAft>
                <a:spcPts val="0"/>
              </a:spcAft>
              <a:buNone/>
            </a:pPr>
            <a:r>
              <a:rPr lang="en-US" sz="1800"/>
              <a:t>Nov’25 – Dec’25	53</a:t>
            </a:r>
          </a:p>
        </p:txBody>
      </p:sp>
      <p:sp>
        <p:nvSpPr>
          <p:cNvPr id="1356" name="Google Shape;1356;p33:notes">
            <a:extLst>
              <a:ext uri="{FF2B5EF4-FFF2-40B4-BE49-F238E27FC236}">
                <a16:creationId xmlns:a16="http://schemas.microsoft.com/office/drawing/2014/main" id="{EC70AD33-CE14-33D4-8CAA-B27D7ED3DD8C}"/>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72</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45972800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44B82573-6F66-13AF-B8C6-01506B1C5E67}"/>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0A191B31-4A5D-C3EF-69B4-D4CB36839EC7}"/>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954EF101-484C-C6B9-EE2E-BF80FBA61740}"/>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latin typeface="Calibri"/>
                <a:ea typeface="Calibri"/>
                <a:cs typeface="Calibri"/>
                <a:sym typeface="Calibri"/>
              </a:rPr>
              <a:t>Q2.40B Please rate the [COMPANY] sales rep across each of the following attributes based on your most recent interaction. Please use the scale below: </a:t>
            </a:r>
            <a:r>
              <a:rPr lang="en-US" sz="1800" i="1">
                <a:latin typeface="Calibri"/>
                <a:ea typeface="Calibri"/>
                <a:cs typeface="Calibri"/>
                <a:sym typeface="Calibri"/>
              </a:rPr>
              <a:t>1 = Performed Poorly // 7 = Performed Extremely Well</a:t>
            </a:r>
            <a:endParaRPr lang="en-US" sz="1800" b="1" i="1"/>
          </a:p>
          <a:p>
            <a:pPr marL="0" lvl="0" indent="0" algn="l" rtl="0">
              <a:spcBef>
                <a:spcPts val="1000"/>
              </a:spcBef>
              <a:spcAft>
                <a:spcPts val="0"/>
              </a:spcAft>
              <a:buNone/>
            </a:pPr>
            <a:br>
              <a:rPr lang="en-US" sz="1800"/>
            </a:br>
            <a:r>
              <a:rPr lang="en-US" sz="1800"/>
              <a:t>Sample size : Rep Performance</a:t>
            </a:r>
            <a:br>
              <a:rPr lang="en-US" sz="1800"/>
            </a:br>
            <a:br>
              <a:rPr lang="en-US" sz="1800"/>
            </a:br>
            <a:r>
              <a:rPr lang="en-US" sz="1800"/>
              <a:t>   	                    CREON</a:t>
            </a:r>
          </a:p>
          <a:p>
            <a:pPr marL="0" lvl="0" indent="0" algn="l" rtl="0">
              <a:spcBef>
                <a:spcPts val="1000"/>
              </a:spcBef>
              <a:spcAft>
                <a:spcPts val="0"/>
              </a:spcAft>
              <a:buNone/>
            </a:pPr>
            <a:r>
              <a:rPr lang="en-US" sz="1800"/>
              <a:t>Jan’25 – Feb’25	19*</a:t>
            </a:r>
          </a:p>
          <a:p>
            <a:pPr marL="0" lvl="0" indent="0" algn="l" rtl="0">
              <a:spcBef>
                <a:spcPts val="1000"/>
              </a:spcBef>
              <a:spcAft>
                <a:spcPts val="0"/>
              </a:spcAft>
              <a:buNone/>
            </a:pPr>
            <a:r>
              <a:rPr lang="en-US" sz="1800"/>
              <a:t>Mar’25 – Apr’25	20*</a:t>
            </a:r>
          </a:p>
          <a:p>
            <a:pPr marL="0" lvl="0" indent="0" algn="l" rtl="0">
              <a:spcBef>
                <a:spcPts val="1000"/>
              </a:spcBef>
              <a:spcAft>
                <a:spcPts val="0"/>
              </a:spcAft>
              <a:buNone/>
            </a:pPr>
            <a:r>
              <a:rPr lang="en-US" sz="1800"/>
              <a:t>May’25 – Jun’25	24*</a:t>
            </a:r>
            <a:br>
              <a:rPr lang="en-US" sz="1800"/>
            </a:br>
            <a:r>
              <a:rPr lang="en-US" sz="1800"/>
              <a:t>Jul’25 – Aug’25	21*</a:t>
            </a:r>
          </a:p>
          <a:p>
            <a:pPr marL="0" lvl="0" indent="0" algn="l" rtl="0">
              <a:spcBef>
                <a:spcPts val="1000"/>
              </a:spcBef>
              <a:spcAft>
                <a:spcPts val="0"/>
              </a:spcAft>
              <a:buNone/>
            </a:pPr>
            <a:r>
              <a:rPr lang="en-US" sz="1800"/>
              <a:t>Sep’25 – Oct’25	24*</a:t>
            </a:r>
          </a:p>
          <a:p>
            <a:pPr marL="0" lvl="0" indent="0" algn="l" rtl="0">
              <a:spcBef>
                <a:spcPts val="1000"/>
              </a:spcBef>
              <a:spcAft>
                <a:spcPts val="0"/>
              </a:spcAft>
              <a:buNone/>
            </a:pPr>
            <a:r>
              <a:rPr lang="en-US" sz="1800"/>
              <a:t>Nov’25 – Dec’25	22*</a:t>
            </a:r>
          </a:p>
          <a:p>
            <a:pPr marL="0" lvl="0" indent="0" algn="l" rtl="0">
              <a:spcBef>
                <a:spcPts val="1000"/>
              </a:spcBef>
              <a:spcAft>
                <a:spcPts val="0"/>
              </a:spcAft>
              <a:buNone/>
            </a:pPr>
            <a:endParaRPr lang="en-US" sz="1800"/>
          </a:p>
        </p:txBody>
      </p:sp>
      <p:sp>
        <p:nvSpPr>
          <p:cNvPr id="1356" name="Google Shape;1356;p33:notes">
            <a:extLst>
              <a:ext uri="{FF2B5EF4-FFF2-40B4-BE49-F238E27FC236}">
                <a16:creationId xmlns:a16="http://schemas.microsoft.com/office/drawing/2014/main" id="{6A1932AC-C080-401D-C783-1B838B77858C}"/>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73</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18785350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3">
          <a:extLst>
            <a:ext uri="{FF2B5EF4-FFF2-40B4-BE49-F238E27FC236}">
              <a16:creationId xmlns:a16="http://schemas.microsoft.com/office/drawing/2014/main" id="{5FCA14B6-95BE-C7D4-5902-8CA4773B827A}"/>
            </a:ext>
          </a:extLst>
        </p:cNvPr>
        <p:cNvGrpSpPr/>
        <p:nvPr/>
      </p:nvGrpSpPr>
      <p:grpSpPr>
        <a:xfrm>
          <a:off x="0" y="0"/>
          <a:ext cx="0" cy="0"/>
          <a:chOff x="0" y="0"/>
          <a:chExt cx="0" cy="0"/>
        </a:xfrm>
      </p:grpSpPr>
      <p:sp>
        <p:nvSpPr>
          <p:cNvPr id="1354" name="Google Shape;1354;p33:notes">
            <a:extLst>
              <a:ext uri="{FF2B5EF4-FFF2-40B4-BE49-F238E27FC236}">
                <a16:creationId xmlns:a16="http://schemas.microsoft.com/office/drawing/2014/main" id="{1E7CB9A7-1B46-A784-42BF-983720AFFE47}"/>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1355" name="Google Shape;1355;p33:notes">
            <a:extLst>
              <a:ext uri="{FF2B5EF4-FFF2-40B4-BE49-F238E27FC236}">
                <a16:creationId xmlns:a16="http://schemas.microsoft.com/office/drawing/2014/main" id="{E8A40FB4-1104-9A42-63B1-E747481EE393}"/>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latin typeface="Calibri"/>
                <a:ea typeface="Calibri"/>
                <a:cs typeface="Calibri"/>
                <a:sym typeface="Calibri"/>
              </a:rPr>
              <a:t>Q2.40B Please rate the [COMPANY] sales rep across each of the following attributes based on your most recent interaction. Please use the scale below: </a:t>
            </a:r>
            <a:r>
              <a:rPr lang="en-US" sz="1800" i="1">
                <a:latin typeface="Calibri"/>
                <a:ea typeface="Calibri"/>
                <a:cs typeface="Calibri"/>
                <a:sym typeface="Calibri"/>
              </a:rPr>
              <a:t>1 = Performed Poorly // 7 = Performed Extremely Well</a:t>
            </a:r>
            <a:endParaRPr lang="en-US" sz="1800" b="1" i="1"/>
          </a:p>
          <a:p>
            <a:pPr marL="0" lvl="0" indent="0" algn="l" rtl="0">
              <a:spcBef>
                <a:spcPts val="1000"/>
              </a:spcBef>
              <a:spcAft>
                <a:spcPts val="0"/>
              </a:spcAft>
              <a:buNone/>
            </a:pPr>
            <a:br>
              <a:rPr lang="en-US" sz="1800"/>
            </a:br>
            <a:r>
              <a:rPr lang="en-US" sz="1800"/>
              <a:t>Sample size : Rep Performance</a:t>
            </a:r>
            <a:br>
              <a:rPr lang="en-US" sz="1800"/>
            </a:br>
            <a:endParaRPr lang="en-US" sz="1800"/>
          </a:p>
          <a:p>
            <a:pPr marL="0" lvl="0" indent="0" algn="l" rtl="0">
              <a:spcBef>
                <a:spcPts val="1000"/>
              </a:spcBef>
              <a:spcAft>
                <a:spcPts val="0"/>
              </a:spcAft>
              <a:buNone/>
            </a:pPr>
            <a:r>
              <a:rPr lang="en-US" sz="1800"/>
              <a:t>                                            CREON</a:t>
            </a:r>
          </a:p>
          <a:p>
            <a:pPr marL="0" lvl="0" indent="0" algn="l" rtl="0">
              <a:spcBef>
                <a:spcPts val="1000"/>
              </a:spcBef>
              <a:spcAft>
                <a:spcPts val="0"/>
              </a:spcAft>
              <a:buNone/>
            </a:pPr>
            <a:r>
              <a:rPr lang="en-US" sz="1800"/>
              <a:t>	</a:t>
            </a:r>
          </a:p>
          <a:p>
            <a:pPr marL="0" lvl="0" indent="0" algn="l" rtl="0">
              <a:spcBef>
                <a:spcPts val="1000"/>
              </a:spcBef>
              <a:spcAft>
                <a:spcPts val="0"/>
              </a:spcAft>
              <a:buNone/>
            </a:pPr>
            <a:r>
              <a:rPr lang="en-US" sz="1800"/>
              <a:t>Jan’25 – Feb’25	16*	</a:t>
            </a:r>
          </a:p>
          <a:p>
            <a:pPr marL="0" lvl="0" indent="0" algn="l" rtl="0">
              <a:spcBef>
                <a:spcPts val="1000"/>
              </a:spcBef>
              <a:spcAft>
                <a:spcPts val="0"/>
              </a:spcAft>
              <a:buNone/>
            </a:pPr>
            <a:r>
              <a:rPr lang="en-US" sz="1800"/>
              <a:t>Mar’25 – Apr’25	21*</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May’25 – Jun’25	23*</a:t>
            </a: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800"/>
              <a:t>Jul’25 – Aug’25	28*</a:t>
            </a:r>
          </a:p>
          <a:p>
            <a:pPr marL="0" lvl="0" indent="0" algn="l" rtl="0">
              <a:spcBef>
                <a:spcPts val="1000"/>
              </a:spcBef>
              <a:spcAft>
                <a:spcPts val="0"/>
              </a:spcAft>
              <a:buNone/>
            </a:pPr>
            <a:r>
              <a:rPr lang="en-US" sz="1800"/>
              <a:t>Sep’25 – Oct’25	29*</a:t>
            </a:r>
          </a:p>
          <a:p>
            <a:pPr marL="0" lvl="0" indent="0" algn="l" rtl="0">
              <a:spcBef>
                <a:spcPts val="1000"/>
              </a:spcBef>
              <a:spcAft>
                <a:spcPts val="0"/>
              </a:spcAft>
              <a:buNone/>
            </a:pPr>
            <a:r>
              <a:rPr lang="en-US" sz="1800"/>
              <a:t>Nov’25 – Dec’25	27*</a:t>
            </a:r>
          </a:p>
          <a:p>
            <a:pPr marL="0" lvl="0" indent="0" algn="l" rtl="0">
              <a:spcBef>
                <a:spcPts val="1000"/>
              </a:spcBef>
              <a:spcAft>
                <a:spcPts val="0"/>
              </a:spcAft>
              <a:buNone/>
            </a:pPr>
            <a:endParaRPr lang="en-US" sz="1800"/>
          </a:p>
          <a:p>
            <a:pPr marL="0" lvl="0" indent="0" algn="l" rtl="0">
              <a:spcBef>
                <a:spcPts val="1000"/>
              </a:spcBef>
              <a:spcAft>
                <a:spcPts val="0"/>
              </a:spcAft>
              <a:buNone/>
            </a:pPr>
            <a:endParaRPr lang="en-US" sz="1800"/>
          </a:p>
        </p:txBody>
      </p:sp>
      <p:sp>
        <p:nvSpPr>
          <p:cNvPr id="1356" name="Google Shape;1356;p33:notes">
            <a:extLst>
              <a:ext uri="{FF2B5EF4-FFF2-40B4-BE49-F238E27FC236}">
                <a16:creationId xmlns:a16="http://schemas.microsoft.com/office/drawing/2014/main" id="{07E737C2-2E17-CD05-8650-43BC81299287}"/>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74</a:t>
            </a:fld>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53639973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32E968-51DF-0351-5ED2-29E280D94D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9C09CB-AB05-8827-3E70-D022AD1EE5C8}"/>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6000EB2F-B149-4763-69B0-56A5BE7085CF}"/>
              </a:ext>
            </a:extLst>
          </p:cNvPr>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165100" indent="0">
              <a:buNone/>
            </a:pPr>
            <a:endParaRPr lang="en-IN"/>
          </a:p>
          <a:p>
            <a:pPr marL="165100" indent="0">
              <a:buNone/>
            </a:pPr>
            <a:r>
              <a:rPr lang="en-IN"/>
              <a:t>Message Codes</a:t>
            </a:r>
          </a:p>
          <a:p>
            <a:pPr marL="165100" indent="0">
              <a:buNone/>
            </a:pPr>
            <a:r>
              <a:rPr lang="en-IN"/>
              <a:t>C7	‘36K capsules' </a:t>
            </a:r>
          </a:p>
          <a:p>
            <a:pPr marL="165100" indent="0">
              <a:buNone/>
            </a:pPr>
            <a:r>
              <a:rPr lang="en-IN"/>
              <a:t>C10	‘#1 PERT'</a:t>
            </a:r>
          </a:p>
          <a:p>
            <a:pPr marL="165100" indent="0">
              <a:buNone/>
            </a:pPr>
            <a:r>
              <a:rPr lang="en-IN"/>
              <a:t>C1	‘94% have coverage'</a:t>
            </a:r>
          </a:p>
          <a:p>
            <a:pPr marL="165100" indent="0">
              <a:buNone/>
            </a:pPr>
            <a:r>
              <a:rPr lang="en-IN"/>
              <a:t>C14	‘90% preferred access' </a:t>
            </a:r>
          </a:p>
          <a:p>
            <a:pPr marL="165100" indent="0">
              <a:buNone/>
            </a:pPr>
            <a:r>
              <a:rPr lang="en-IN"/>
              <a:t>C6	‘Meals and Snacks'</a:t>
            </a:r>
          </a:p>
          <a:p>
            <a:pPr marL="165100" indent="0">
              <a:buNone/>
            </a:pPr>
            <a:r>
              <a:rPr lang="en-IN"/>
              <a:t>C11	‘CREON Complete Savings Card’</a:t>
            </a:r>
          </a:p>
          <a:p>
            <a:pPr marL="165100" indent="0">
              <a:buNone/>
            </a:pPr>
            <a:r>
              <a:rPr lang="en-IN"/>
              <a:t>C19	‘Only FDA-approved PERT' </a:t>
            </a:r>
          </a:p>
          <a:p>
            <a:pPr marL="165100" indent="0">
              <a:buNone/>
            </a:pPr>
            <a:r>
              <a:rPr lang="en-IN"/>
              <a:t>C9	‘Fat and Protein Absorption'</a:t>
            </a:r>
          </a:p>
          <a:p>
            <a:pPr marL="165100" indent="0">
              <a:buNone/>
            </a:pPr>
            <a:r>
              <a:rPr lang="en-IN"/>
              <a:t>C4	‘Clinical Diagnosis'</a:t>
            </a:r>
          </a:p>
          <a:p>
            <a:pPr marL="165100" indent="0">
              <a:buNone/>
            </a:pPr>
            <a:r>
              <a:rPr lang="en-IN"/>
              <a:t>C3	‘Nutritional health and quality of life'</a:t>
            </a:r>
          </a:p>
          <a:p>
            <a:pPr marL="165100" indent="0">
              <a:buNone/>
            </a:pPr>
            <a:r>
              <a:rPr lang="en-IN"/>
              <a:t>C18	‘Enteric-coated PERT'</a:t>
            </a:r>
          </a:p>
          <a:p>
            <a:pPr marL="165100" indent="0">
              <a:buNone/>
            </a:pPr>
            <a:r>
              <a:rPr lang="en-IN"/>
              <a:t>C17	‘8 out of 10 GEs'</a:t>
            </a:r>
          </a:p>
          <a:p>
            <a:pPr marL="165100" indent="0">
              <a:buNone/>
            </a:pPr>
            <a:r>
              <a:rPr lang="en-IN"/>
              <a:t>C15	‘No Head-to-Head superiority trials'</a:t>
            </a:r>
          </a:p>
          <a:p>
            <a:pPr marL="165100" indent="0">
              <a:buNone/>
            </a:pPr>
            <a:r>
              <a:rPr lang="en-US"/>
              <a:t>C20	71% of CREON Medicare Part D patients paid less than $30'</a:t>
            </a:r>
          </a:p>
          <a:p>
            <a:pPr marL="165100" indent="0">
              <a:buNone/>
            </a:pPr>
            <a:r>
              <a:rPr lang="en-US"/>
              <a:t>C21	Excellent coverage make CREON a proven partner for patients with </a:t>
            </a:r>
            <a:r>
              <a:rPr lang="en-US" err="1"/>
              <a:t>EPl</a:t>
            </a:r>
            <a:r>
              <a:rPr lang="en-US"/>
              <a:t>.'</a:t>
            </a:r>
          </a:p>
          <a:p>
            <a:pPr marL="165100" indent="0">
              <a:buNone/>
            </a:pPr>
            <a:r>
              <a:rPr lang="en-US"/>
              <a:t>C22	‘CREON Complete help patients start and stay on treatment’</a:t>
            </a:r>
          </a:p>
          <a:p>
            <a:pPr marL="165100" indent="0">
              <a:buNone/>
            </a:pPr>
            <a:endParaRPr lang="en-IN"/>
          </a:p>
        </p:txBody>
      </p:sp>
      <p:sp>
        <p:nvSpPr>
          <p:cNvPr id="4" name="Slide Number Placeholder 3">
            <a:extLst>
              <a:ext uri="{FF2B5EF4-FFF2-40B4-BE49-F238E27FC236}">
                <a16:creationId xmlns:a16="http://schemas.microsoft.com/office/drawing/2014/main" id="{8AE331D7-D270-6B98-66F4-207A67AD0BC1}"/>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76</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71064826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CEBE0-BCD1-1CF7-7474-BBBD18DA4C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438212-FC8E-EBDA-4A6E-9DC8C568E839}"/>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10C52B6E-3168-A1AA-02F9-C6E20F50CE33}"/>
              </a:ext>
            </a:extLst>
          </p:cNvPr>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165100" indent="0">
              <a:buNone/>
            </a:pPr>
            <a:endParaRPr lang="en-IN"/>
          </a:p>
          <a:p>
            <a:pPr marL="165100" indent="0">
              <a:buNone/>
            </a:pPr>
            <a:r>
              <a:rPr lang="en-IN"/>
              <a:t>Message Codes</a:t>
            </a:r>
          </a:p>
          <a:p>
            <a:pPr marL="165100" indent="0">
              <a:buNone/>
            </a:pPr>
            <a:r>
              <a:rPr lang="en-IN"/>
              <a:t>C7	‘36K capsules' </a:t>
            </a:r>
          </a:p>
          <a:p>
            <a:pPr marL="165100" indent="0">
              <a:buNone/>
            </a:pPr>
            <a:r>
              <a:rPr lang="en-IN"/>
              <a:t>C10	‘#1 PERT'</a:t>
            </a:r>
          </a:p>
          <a:p>
            <a:pPr marL="165100" indent="0">
              <a:buNone/>
            </a:pPr>
            <a:r>
              <a:rPr lang="en-IN"/>
              <a:t>C1	‘94% have coverage'</a:t>
            </a:r>
          </a:p>
          <a:p>
            <a:pPr marL="165100" indent="0">
              <a:buNone/>
            </a:pPr>
            <a:r>
              <a:rPr lang="en-IN"/>
              <a:t>C14	‘90% preferred access' </a:t>
            </a:r>
          </a:p>
          <a:p>
            <a:pPr marL="165100" indent="0">
              <a:buNone/>
            </a:pPr>
            <a:r>
              <a:rPr lang="en-IN"/>
              <a:t>C6	‘Meals and Snacks'</a:t>
            </a:r>
          </a:p>
          <a:p>
            <a:pPr marL="165100" indent="0">
              <a:buNone/>
            </a:pPr>
            <a:r>
              <a:rPr lang="en-IN"/>
              <a:t>C11	‘CREON Complete Savings Card’</a:t>
            </a:r>
          </a:p>
          <a:p>
            <a:pPr marL="165100" indent="0">
              <a:buNone/>
            </a:pPr>
            <a:r>
              <a:rPr lang="en-IN"/>
              <a:t>C19	‘Only FDA-approved PERT' </a:t>
            </a:r>
          </a:p>
          <a:p>
            <a:pPr marL="165100" indent="0">
              <a:buNone/>
            </a:pPr>
            <a:r>
              <a:rPr lang="en-IN"/>
              <a:t>C9	‘Fat and Protein Absorption'</a:t>
            </a:r>
          </a:p>
          <a:p>
            <a:pPr marL="165100" indent="0">
              <a:buNone/>
            </a:pPr>
            <a:r>
              <a:rPr lang="en-IN"/>
              <a:t>C4	‘Clinical Diagnosis'</a:t>
            </a:r>
          </a:p>
          <a:p>
            <a:pPr marL="165100" indent="0">
              <a:buNone/>
            </a:pPr>
            <a:r>
              <a:rPr lang="en-IN"/>
              <a:t>C3	‘Nutritional health and quality of life'</a:t>
            </a:r>
          </a:p>
          <a:p>
            <a:pPr marL="165100" indent="0">
              <a:buNone/>
            </a:pPr>
            <a:r>
              <a:rPr lang="en-IN"/>
              <a:t>C18	‘Enteric-coated PERT'</a:t>
            </a:r>
          </a:p>
          <a:p>
            <a:pPr marL="165100" indent="0">
              <a:buNone/>
            </a:pPr>
            <a:r>
              <a:rPr lang="en-IN"/>
              <a:t>C17	‘8 out of 10 GEs'</a:t>
            </a:r>
          </a:p>
          <a:p>
            <a:pPr marL="165100" indent="0">
              <a:buNone/>
            </a:pPr>
            <a:r>
              <a:rPr lang="en-IN"/>
              <a:t>C15	‘No Head-to-Head superiority trials'</a:t>
            </a:r>
          </a:p>
          <a:p>
            <a:pPr marL="165100" indent="0">
              <a:buNone/>
            </a:pPr>
            <a:r>
              <a:rPr lang="en-US"/>
              <a:t>C20	71% of CREON Medicare Part D patients paid less than $30'</a:t>
            </a:r>
          </a:p>
          <a:p>
            <a:pPr marL="165100" indent="0">
              <a:buNone/>
            </a:pPr>
            <a:r>
              <a:rPr lang="en-US"/>
              <a:t>C21	Excellent coverage make CREON a proven partner for patients with </a:t>
            </a:r>
            <a:r>
              <a:rPr lang="en-US" err="1"/>
              <a:t>EPl</a:t>
            </a:r>
            <a:r>
              <a:rPr lang="en-US"/>
              <a:t>.'</a:t>
            </a:r>
          </a:p>
          <a:p>
            <a:pPr marL="165100" indent="0">
              <a:buNone/>
            </a:pPr>
            <a:r>
              <a:rPr lang="en-US"/>
              <a:t>C22	‘CREON Complete help patients start and stay on treatment’</a:t>
            </a:r>
          </a:p>
          <a:p>
            <a:pPr marL="165100" indent="0">
              <a:buNone/>
            </a:pPr>
            <a:endParaRPr lang="en-IN"/>
          </a:p>
        </p:txBody>
      </p:sp>
      <p:sp>
        <p:nvSpPr>
          <p:cNvPr id="4" name="Slide Number Placeholder 3">
            <a:extLst>
              <a:ext uri="{FF2B5EF4-FFF2-40B4-BE49-F238E27FC236}">
                <a16:creationId xmlns:a16="http://schemas.microsoft.com/office/drawing/2014/main" id="{DEDE711C-8644-3714-42F6-2700A391C55A}"/>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77</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13231597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124A5-BCA2-73BF-E16F-E0597B22B0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9E3B07-83B7-4AA7-7BD6-17978EB13D87}"/>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2C48F6F6-E430-885A-8BA2-F4D2A958885E}"/>
              </a:ext>
            </a:extLst>
          </p:cNvPr>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165100" indent="0">
              <a:buNone/>
            </a:pPr>
            <a:endParaRPr lang="en-IN"/>
          </a:p>
          <a:p>
            <a:pPr marL="165100" indent="0">
              <a:buNone/>
            </a:pPr>
            <a:r>
              <a:rPr lang="en-IN"/>
              <a:t>Message Codes</a:t>
            </a:r>
          </a:p>
          <a:p>
            <a:pPr marL="165100" indent="0">
              <a:buNone/>
            </a:pPr>
            <a:r>
              <a:rPr lang="en-IN"/>
              <a:t>C7	‘36K capsules' </a:t>
            </a:r>
          </a:p>
          <a:p>
            <a:pPr marL="165100" indent="0">
              <a:buNone/>
            </a:pPr>
            <a:r>
              <a:rPr lang="en-IN"/>
              <a:t>C10	‘#1 PERT'</a:t>
            </a:r>
          </a:p>
          <a:p>
            <a:pPr marL="165100" indent="0">
              <a:buNone/>
            </a:pPr>
            <a:r>
              <a:rPr lang="en-IN"/>
              <a:t>C1	‘94% have coverage'</a:t>
            </a:r>
          </a:p>
          <a:p>
            <a:pPr marL="165100" indent="0">
              <a:buNone/>
            </a:pPr>
            <a:r>
              <a:rPr lang="en-IN"/>
              <a:t>C14	‘90% preferred access' </a:t>
            </a:r>
          </a:p>
          <a:p>
            <a:pPr marL="165100" indent="0">
              <a:buNone/>
            </a:pPr>
            <a:r>
              <a:rPr lang="en-IN"/>
              <a:t>C6	‘Meals and Snacks'</a:t>
            </a:r>
          </a:p>
          <a:p>
            <a:pPr marL="165100" indent="0">
              <a:buNone/>
            </a:pPr>
            <a:r>
              <a:rPr lang="en-IN"/>
              <a:t>C11	‘CREON Complete Savings Card’</a:t>
            </a:r>
          </a:p>
          <a:p>
            <a:pPr marL="165100" indent="0">
              <a:buNone/>
            </a:pPr>
            <a:r>
              <a:rPr lang="en-IN"/>
              <a:t>C19	‘Only FDA-approved PERT' </a:t>
            </a:r>
          </a:p>
          <a:p>
            <a:pPr marL="165100" indent="0">
              <a:buNone/>
            </a:pPr>
            <a:r>
              <a:rPr lang="en-IN"/>
              <a:t>C9	‘Fat and Protein Absorption'</a:t>
            </a:r>
          </a:p>
          <a:p>
            <a:pPr marL="165100" indent="0">
              <a:buNone/>
            </a:pPr>
            <a:r>
              <a:rPr lang="en-IN"/>
              <a:t>C4	‘Clinical Diagnosis'</a:t>
            </a:r>
          </a:p>
          <a:p>
            <a:pPr marL="165100" indent="0">
              <a:buNone/>
            </a:pPr>
            <a:r>
              <a:rPr lang="en-IN"/>
              <a:t>C3	‘Nutritional health and quality of life'</a:t>
            </a:r>
          </a:p>
          <a:p>
            <a:pPr marL="165100" indent="0">
              <a:buNone/>
            </a:pPr>
            <a:r>
              <a:rPr lang="en-IN"/>
              <a:t>C18	‘Enteric-coated PERT'</a:t>
            </a:r>
          </a:p>
          <a:p>
            <a:pPr marL="165100" indent="0">
              <a:buNone/>
            </a:pPr>
            <a:r>
              <a:rPr lang="en-IN"/>
              <a:t>C17	‘8 out of 10 GEs'</a:t>
            </a:r>
          </a:p>
          <a:p>
            <a:pPr marL="165100" indent="0">
              <a:buNone/>
            </a:pPr>
            <a:r>
              <a:rPr lang="en-IN"/>
              <a:t>C15	‘No Head-to-Head superiority trials'</a:t>
            </a:r>
          </a:p>
          <a:p>
            <a:pPr marL="165100" indent="0">
              <a:buNone/>
            </a:pPr>
            <a:r>
              <a:rPr lang="en-US"/>
              <a:t>C20	71% of CREON Medicare Part D patients paid less than $30'</a:t>
            </a:r>
          </a:p>
          <a:p>
            <a:pPr marL="165100" indent="0">
              <a:buNone/>
            </a:pPr>
            <a:r>
              <a:rPr lang="en-US"/>
              <a:t>C21	Excellent coverage make CREON a proven partner for patients with </a:t>
            </a:r>
            <a:r>
              <a:rPr lang="en-US" err="1"/>
              <a:t>EPl</a:t>
            </a:r>
            <a:r>
              <a:rPr lang="en-US"/>
              <a:t>.'</a:t>
            </a:r>
          </a:p>
          <a:p>
            <a:pPr marL="165100" indent="0">
              <a:buNone/>
            </a:pPr>
            <a:r>
              <a:rPr lang="en-US"/>
              <a:t>C22	‘CREON Complete help patients start and stay on treatment’</a:t>
            </a:r>
          </a:p>
          <a:p>
            <a:pPr marL="165100" indent="0">
              <a:buNone/>
            </a:pPr>
            <a:endParaRPr lang="en-IN"/>
          </a:p>
        </p:txBody>
      </p:sp>
      <p:sp>
        <p:nvSpPr>
          <p:cNvPr id="4" name="Slide Number Placeholder 3">
            <a:extLst>
              <a:ext uri="{FF2B5EF4-FFF2-40B4-BE49-F238E27FC236}">
                <a16:creationId xmlns:a16="http://schemas.microsoft.com/office/drawing/2014/main" id="{75DBAF40-41EE-B122-81F1-B683AB03ED18}"/>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78</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41836024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1F26C-DCAD-E9E4-34B2-ECC8FC39C9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EC35B0-56BA-5542-8696-755F13E17BD2}"/>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FF290468-98D6-0D61-3112-9D24FB37EF1B}"/>
              </a:ext>
            </a:extLst>
          </p:cNvPr>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0" lvl="0" indent="0" algn="l" rtl="0">
              <a:spcBef>
                <a:spcPts val="1000"/>
              </a:spcBef>
              <a:spcAft>
                <a:spcPts val="0"/>
              </a:spcAft>
              <a:buClr>
                <a:schemeClr val="dk1"/>
              </a:buClr>
              <a:buSzPts val="1000"/>
              <a:buNone/>
            </a:pPr>
            <a:endParaRPr lang="en-US" b="1" i="1"/>
          </a:p>
          <a:p>
            <a:pPr marL="165100" indent="0">
              <a:buNone/>
            </a:pPr>
            <a:endParaRPr lang="en-IN"/>
          </a:p>
          <a:p>
            <a:pPr marL="165100" indent="0">
              <a:buNone/>
            </a:pPr>
            <a:r>
              <a:rPr lang="en-IN"/>
              <a:t>Message Codes</a:t>
            </a:r>
          </a:p>
          <a:p>
            <a:pPr marL="165100" indent="0">
              <a:buNone/>
            </a:pPr>
            <a:r>
              <a:rPr lang="en-IN"/>
              <a:t>C7	‘36K capsules' </a:t>
            </a:r>
          </a:p>
          <a:p>
            <a:pPr marL="165100" indent="0">
              <a:buNone/>
            </a:pPr>
            <a:r>
              <a:rPr lang="en-IN"/>
              <a:t>C10	‘#1 PERT'</a:t>
            </a:r>
          </a:p>
          <a:p>
            <a:pPr marL="165100" indent="0">
              <a:buNone/>
            </a:pPr>
            <a:r>
              <a:rPr lang="en-IN"/>
              <a:t>C1	‘94% have coverage'</a:t>
            </a:r>
          </a:p>
          <a:p>
            <a:pPr marL="165100" indent="0">
              <a:buNone/>
            </a:pPr>
            <a:r>
              <a:rPr lang="en-IN"/>
              <a:t>C14	‘90% preferred access' </a:t>
            </a:r>
          </a:p>
          <a:p>
            <a:pPr marL="165100" indent="0">
              <a:buNone/>
            </a:pPr>
            <a:r>
              <a:rPr lang="en-IN"/>
              <a:t>C6	‘Meals and Snacks'</a:t>
            </a:r>
          </a:p>
          <a:p>
            <a:pPr marL="165100" indent="0">
              <a:buNone/>
            </a:pPr>
            <a:r>
              <a:rPr lang="en-IN"/>
              <a:t>C11	‘CREON Complete Savings Card’</a:t>
            </a:r>
          </a:p>
          <a:p>
            <a:pPr marL="165100" indent="0">
              <a:buNone/>
            </a:pPr>
            <a:r>
              <a:rPr lang="en-IN"/>
              <a:t>C19	‘Only FDA-approved PERT' </a:t>
            </a:r>
          </a:p>
          <a:p>
            <a:pPr marL="165100" indent="0">
              <a:buNone/>
            </a:pPr>
            <a:r>
              <a:rPr lang="en-IN"/>
              <a:t>C9	‘Fat and Protein Absorption'</a:t>
            </a:r>
          </a:p>
          <a:p>
            <a:pPr marL="165100" indent="0">
              <a:buNone/>
            </a:pPr>
            <a:r>
              <a:rPr lang="en-IN"/>
              <a:t>C4	‘Clinical Diagnosis'</a:t>
            </a:r>
          </a:p>
          <a:p>
            <a:pPr marL="165100" indent="0">
              <a:buNone/>
            </a:pPr>
            <a:r>
              <a:rPr lang="en-IN"/>
              <a:t>C3	‘Nutritional health and quality of life'</a:t>
            </a:r>
          </a:p>
          <a:p>
            <a:pPr marL="165100" indent="0">
              <a:buNone/>
            </a:pPr>
            <a:r>
              <a:rPr lang="en-IN"/>
              <a:t>C18	‘Enteric-coated PERT'</a:t>
            </a:r>
          </a:p>
          <a:p>
            <a:pPr marL="165100" indent="0">
              <a:buNone/>
            </a:pPr>
            <a:r>
              <a:rPr lang="en-IN"/>
              <a:t>C17	‘8 out of 10 GEs'</a:t>
            </a:r>
          </a:p>
          <a:p>
            <a:pPr marL="165100" indent="0">
              <a:buNone/>
            </a:pPr>
            <a:r>
              <a:rPr lang="en-IN"/>
              <a:t>C15	‘No Head-to-Head superiority trials'</a:t>
            </a:r>
          </a:p>
          <a:p>
            <a:pPr marL="165100" indent="0">
              <a:buNone/>
            </a:pPr>
            <a:r>
              <a:rPr lang="en-US"/>
              <a:t>C20	71% of CREON Medicare Part D patients paid less than $30'</a:t>
            </a:r>
          </a:p>
          <a:p>
            <a:pPr marL="165100" indent="0">
              <a:buNone/>
            </a:pPr>
            <a:r>
              <a:rPr lang="en-US"/>
              <a:t>C21	Excellent coverage make CREON a proven partner for patients with </a:t>
            </a:r>
            <a:r>
              <a:rPr lang="en-US" err="1"/>
              <a:t>EPl</a:t>
            </a:r>
            <a:r>
              <a:rPr lang="en-US"/>
              <a:t>.'</a:t>
            </a:r>
          </a:p>
          <a:p>
            <a:pPr marL="165100" indent="0">
              <a:buNone/>
            </a:pPr>
            <a:r>
              <a:rPr lang="en-US"/>
              <a:t>C22	‘CREON Complete help patients start and stay on treatment’</a:t>
            </a:r>
          </a:p>
          <a:p>
            <a:pPr marL="165100" indent="0">
              <a:buNone/>
            </a:pPr>
            <a:endParaRPr lang="en-IN"/>
          </a:p>
        </p:txBody>
      </p:sp>
      <p:sp>
        <p:nvSpPr>
          <p:cNvPr id="4" name="Slide Number Placeholder 3">
            <a:extLst>
              <a:ext uri="{FF2B5EF4-FFF2-40B4-BE49-F238E27FC236}">
                <a16:creationId xmlns:a16="http://schemas.microsoft.com/office/drawing/2014/main" id="{B3A5101C-2959-0D76-E9A5-122D1DED17A1}"/>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79</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68011765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165100" indent="0">
              <a:buNone/>
            </a:pPr>
            <a:endParaRPr lang="en-US" b="1" i="1"/>
          </a:p>
          <a:p>
            <a:pPr marL="165100" indent="0">
              <a:buNone/>
            </a:pPr>
            <a:r>
              <a:rPr lang="en-IN"/>
              <a:t>Message Codes</a:t>
            </a:r>
          </a:p>
          <a:p>
            <a:pPr marL="165100" indent="0">
              <a:buNone/>
            </a:pPr>
            <a:endParaRPr lang="en-IN"/>
          </a:p>
          <a:p>
            <a:pPr marL="165100" indent="0">
              <a:buNone/>
            </a:pPr>
            <a:r>
              <a:rPr lang="en-IN"/>
              <a:t>Z17	‘ZENPEP's 40K and 60K lipase-unit capsules’</a:t>
            </a:r>
          </a:p>
          <a:p>
            <a:pPr marL="165100" indent="0">
              <a:buNone/>
            </a:pPr>
            <a:r>
              <a:rPr lang="en-IN"/>
              <a:t>Z16	‘Offers a single-capsule starting dose’</a:t>
            </a:r>
          </a:p>
          <a:p>
            <a:pPr marL="165100" indent="0">
              <a:buNone/>
            </a:pPr>
            <a:r>
              <a:rPr lang="en-IN"/>
              <a:t>Z19	‘ACG guideline’</a:t>
            </a:r>
          </a:p>
          <a:p>
            <a:pPr marL="165100" indent="0">
              <a:buNone/>
            </a:pPr>
            <a:r>
              <a:rPr lang="en-IN"/>
              <a:t>Z15	‘One capsule of ZENPEP’</a:t>
            </a:r>
          </a:p>
          <a:p>
            <a:pPr marL="165100" indent="0">
              <a:buNone/>
            </a:pPr>
            <a:r>
              <a:rPr lang="en-IN"/>
              <a:t>Z20	‘CFA’</a:t>
            </a:r>
          </a:p>
          <a:p>
            <a:pPr marL="165100" indent="0">
              <a:buNone/>
            </a:pPr>
            <a:r>
              <a:rPr lang="en-IN"/>
              <a:t>Z21	‘Treat uncomfortable GI symptoms’</a:t>
            </a:r>
          </a:p>
          <a:p>
            <a:pPr marL="165100" indent="0">
              <a:buNone/>
            </a:pPr>
            <a:r>
              <a:rPr lang="en-IN"/>
              <a:t>Z18	‘Clinical trial’</a:t>
            </a:r>
          </a:p>
          <a:p>
            <a:pPr marL="165100" indent="0">
              <a:buNone/>
            </a:pPr>
            <a:r>
              <a:rPr lang="en-IN"/>
              <a:t>Z7	‘Enteric coating’ </a:t>
            </a:r>
          </a:p>
          <a:p>
            <a:pPr marL="165100" indent="0">
              <a:buNone/>
            </a:pPr>
            <a:r>
              <a:rPr lang="en-IN"/>
              <a:t>Z8	‘Fuels nutritional health’</a:t>
            </a:r>
          </a:p>
          <a:p>
            <a:pPr marL="165100" indent="0">
              <a:buNone/>
            </a:pPr>
            <a:r>
              <a:rPr lang="en-IN"/>
              <a:t>Z11	‘Patient Savings Program’</a:t>
            </a:r>
          </a:p>
          <a:p>
            <a:pPr marL="165100" indent="0">
              <a:buNone/>
            </a:pPr>
            <a:r>
              <a:rPr lang="en-IN"/>
              <a:t>Z23	‘Commercial insurance (89%) or Medicare Part D (98%)’</a:t>
            </a:r>
          </a:p>
          <a:p>
            <a:pPr marL="165100" indent="0">
              <a:buNone/>
            </a:pPr>
            <a:r>
              <a:rPr lang="en-IN"/>
              <a:t>Z22	‘SampleCloset’</a:t>
            </a:r>
          </a:p>
          <a:p>
            <a:pPr marL="165100" indent="0">
              <a:buNone/>
            </a:pPr>
            <a:r>
              <a:rPr lang="en-IN"/>
              <a:t>Z24	‘ZENPEP mimics exocrine pancreatic function.’</a:t>
            </a:r>
          </a:p>
          <a:p>
            <a:pPr marL="165100" indent="0">
              <a:buNone/>
            </a:pPr>
            <a:endParaRPr lang="en-IN"/>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80</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84806580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165100" indent="0">
              <a:buNone/>
            </a:pPr>
            <a:endParaRPr lang="en-US" b="1" i="1"/>
          </a:p>
          <a:p>
            <a:pPr marL="165100" indent="0">
              <a:buNone/>
            </a:pPr>
            <a:r>
              <a:rPr lang="en-IN"/>
              <a:t>Message Codes</a:t>
            </a:r>
          </a:p>
          <a:p>
            <a:pPr marL="165100" indent="0">
              <a:buNone/>
            </a:pPr>
            <a:endParaRPr lang="en-IN"/>
          </a:p>
          <a:p>
            <a:pPr marL="165100" indent="0">
              <a:buNone/>
            </a:pPr>
            <a:r>
              <a:rPr lang="en-IN"/>
              <a:t>Z17	‘ZENPEP's 40K and 60K lipase-unit capsules’</a:t>
            </a:r>
          </a:p>
          <a:p>
            <a:pPr marL="165100" indent="0">
              <a:buNone/>
            </a:pPr>
            <a:r>
              <a:rPr lang="en-IN"/>
              <a:t>Z16	‘Offers a single-capsule starting dose’</a:t>
            </a:r>
          </a:p>
          <a:p>
            <a:pPr marL="165100" indent="0">
              <a:buNone/>
            </a:pPr>
            <a:r>
              <a:rPr lang="en-IN"/>
              <a:t>Z19	‘ACG guideline’</a:t>
            </a:r>
          </a:p>
          <a:p>
            <a:pPr marL="165100" indent="0">
              <a:buNone/>
            </a:pPr>
            <a:r>
              <a:rPr lang="en-IN"/>
              <a:t>Z15	‘One capsule of ZENPEP’</a:t>
            </a:r>
          </a:p>
          <a:p>
            <a:pPr marL="165100" indent="0">
              <a:buNone/>
            </a:pPr>
            <a:r>
              <a:rPr lang="en-IN"/>
              <a:t>Z20	‘CFA’</a:t>
            </a:r>
          </a:p>
          <a:p>
            <a:pPr marL="165100" indent="0">
              <a:buNone/>
            </a:pPr>
            <a:r>
              <a:rPr lang="en-IN"/>
              <a:t>Z21	‘Treat uncomfortable GI symptoms’</a:t>
            </a:r>
          </a:p>
          <a:p>
            <a:pPr marL="165100" indent="0">
              <a:buNone/>
            </a:pPr>
            <a:r>
              <a:rPr lang="en-IN"/>
              <a:t>Z18	‘Clinical trial’</a:t>
            </a:r>
          </a:p>
          <a:p>
            <a:pPr marL="165100" indent="0">
              <a:buNone/>
            </a:pPr>
            <a:r>
              <a:rPr lang="en-IN"/>
              <a:t>Z7	‘Enteric coating’ </a:t>
            </a:r>
          </a:p>
          <a:p>
            <a:pPr marL="165100" indent="0">
              <a:buNone/>
            </a:pPr>
            <a:r>
              <a:rPr lang="en-IN"/>
              <a:t>Z8	‘Fuels nutritional health’</a:t>
            </a:r>
          </a:p>
          <a:p>
            <a:pPr marL="165100" indent="0">
              <a:buNone/>
            </a:pPr>
            <a:r>
              <a:rPr lang="en-IN"/>
              <a:t>Z11	‘Patient Savings Program’</a:t>
            </a:r>
          </a:p>
          <a:p>
            <a:pPr marL="165100" indent="0">
              <a:buNone/>
            </a:pPr>
            <a:r>
              <a:rPr lang="en-IN"/>
              <a:t>Z23	‘Commercial insurance (89%) or Medicare Part D (98%)’</a:t>
            </a:r>
          </a:p>
          <a:p>
            <a:pPr marL="165100" indent="0">
              <a:buNone/>
            </a:pPr>
            <a:r>
              <a:rPr lang="en-IN"/>
              <a:t>Z22	‘SampleCloset’</a:t>
            </a:r>
          </a:p>
          <a:p>
            <a:pPr marL="165100" indent="0">
              <a:buNone/>
            </a:pPr>
            <a:r>
              <a:rPr lang="en-IN"/>
              <a:t>Z24	‘ZENPEP mimics exocrine pancreatic function.’</a:t>
            </a:r>
          </a:p>
          <a:p>
            <a:pPr marL="165100" indent="0">
              <a:buNone/>
            </a:pPr>
            <a:endParaRPr lang="en-IN"/>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81</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2215803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54038" y="228600"/>
            <a:ext cx="5641975" cy="4230688"/>
          </a:xfrm>
        </p:spPr>
        <p:txBody>
          <a:bodyPr/>
          <a:lstStyle/>
          <a:p>
            <a:endParaRPr lang="en-US"/>
          </a:p>
        </p:txBody>
      </p:sp>
      <p:sp>
        <p:nvSpPr>
          <p:cNvPr id="3" name="Notes Placeholder 2"/>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165100" indent="0">
              <a:buNone/>
            </a:pPr>
            <a:endParaRPr lang="en-US" b="1" i="1"/>
          </a:p>
          <a:p>
            <a:pPr marL="165100" indent="0">
              <a:buNone/>
            </a:pPr>
            <a:r>
              <a:rPr lang="en-IN"/>
              <a:t>Message Codes</a:t>
            </a:r>
          </a:p>
          <a:p>
            <a:pPr marL="165100" indent="0">
              <a:buNone/>
            </a:pPr>
            <a:endParaRPr lang="en-IN"/>
          </a:p>
          <a:p>
            <a:pPr marL="165100" indent="0">
              <a:buNone/>
            </a:pPr>
            <a:r>
              <a:rPr lang="en-IN"/>
              <a:t>Z17	‘ZENPEP's 40K and 60K lipase-unit capsules’</a:t>
            </a:r>
          </a:p>
          <a:p>
            <a:pPr marL="165100" indent="0">
              <a:buNone/>
            </a:pPr>
            <a:r>
              <a:rPr lang="en-IN"/>
              <a:t>Z16	‘Offers a single-capsule starting dose’</a:t>
            </a:r>
          </a:p>
          <a:p>
            <a:pPr marL="165100" indent="0">
              <a:buNone/>
            </a:pPr>
            <a:r>
              <a:rPr lang="en-IN"/>
              <a:t>Z19	‘ACG guideline’</a:t>
            </a:r>
          </a:p>
          <a:p>
            <a:pPr marL="165100" indent="0">
              <a:buNone/>
            </a:pPr>
            <a:r>
              <a:rPr lang="en-IN"/>
              <a:t>Z15	‘One capsule of ZENPEP’</a:t>
            </a:r>
          </a:p>
          <a:p>
            <a:pPr marL="165100" indent="0">
              <a:buNone/>
            </a:pPr>
            <a:r>
              <a:rPr lang="en-IN"/>
              <a:t>Z20	‘CFA’</a:t>
            </a:r>
          </a:p>
          <a:p>
            <a:pPr marL="165100" indent="0">
              <a:buNone/>
            </a:pPr>
            <a:r>
              <a:rPr lang="en-IN"/>
              <a:t>Z21	‘Treat uncomfortable GI symptoms’</a:t>
            </a:r>
          </a:p>
          <a:p>
            <a:pPr marL="165100" indent="0">
              <a:buNone/>
            </a:pPr>
            <a:r>
              <a:rPr lang="en-IN"/>
              <a:t>Z18	‘Clinical trial’</a:t>
            </a:r>
          </a:p>
          <a:p>
            <a:pPr marL="165100" indent="0">
              <a:buNone/>
            </a:pPr>
            <a:r>
              <a:rPr lang="en-IN"/>
              <a:t>Z7	‘Enteric coating’ </a:t>
            </a:r>
          </a:p>
          <a:p>
            <a:pPr marL="165100" indent="0">
              <a:buNone/>
            </a:pPr>
            <a:r>
              <a:rPr lang="en-IN"/>
              <a:t>Z8	‘Fuels nutritional health’</a:t>
            </a:r>
          </a:p>
          <a:p>
            <a:pPr marL="165100" indent="0">
              <a:buNone/>
            </a:pPr>
            <a:r>
              <a:rPr lang="en-IN"/>
              <a:t>Z11	‘Patient Savings Program’</a:t>
            </a:r>
          </a:p>
          <a:p>
            <a:pPr marL="165100" indent="0">
              <a:buNone/>
            </a:pPr>
            <a:r>
              <a:rPr lang="en-IN"/>
              <a:t>Z23	‘Commercial insurance (89%) or Medicare Part D (98%)’</a:t>
            </a:r>
          </a:p>
          <a:p>
            <a:pPr marL="165100" indent="0">
              <a:buNone/>
            </a:pPr>
            <a:r>
              <a:rPr lang="en-IN"/>
              <a:t>Z22	‘SampleCloset’</a:t>
            </a:r>
          </a:p>
          <a:p>
            <a:pPr marL="165100" indent="0">
              <a:buNone/>
            </a:pPr>
            <a:r>
              <a:rPr lang="en-IN"/>
              <a:t>Z24	‘ZENPEP mimics exocrine pancreatic function.’</a:t>
            </a:r>
          </a:p>
          <a:p>
            <a:pPr marL="165100" indent="0">
              <a:buNone/>
            </a:pPr>
            <a:endParaRPr lang="en-IN"/>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82</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37216267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E8375-BFD0-8715-A87A-F2760B10FA5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3A315A-E0FC-80C5-EEE1-C71A4B2FC49D}"/>
              </a:ext>
            </a:extLst>
          </p:cNvPr>
          <p:cNvSpPr>
            <a:spLocks noGrp="1" noRot="1" noChangeAspect="1"/>
          </p:cNvSpPr>
          <p:nvPr>
            <p:ph type="sldImg"/>
          </p:nvPr>
        </p:nvSpPr>
        <p:spPr>
          <a:xfrm>
            <a:off x="554038" y="228600"/>
            <a:ext cx="5641975" cy="4230688"/>
          </a:xfrm>
        </p:spPr>
        <p:txBody>
          <a:bodyPr/>
          <a:lstStyle/>
          <a:p>
            <a:endParaRPr lang="en-US"/>
          </a:p>
        </p:txBody>
      </p:sp>
      <p:sp>
        <p:nvSpPr>
          <p:cNvPr id="3" name="Notes Placeholder 2">
            <a:extLst>
              <a:ext uri="{FF2B5EF4-FFF2-40B4-BE49-F238E27FC236}">
                <a16:creationId xmlns:a16="http://schemas.microsoft.com/office/drawing/2014/main" id="{C6FC7E7F-C419-9270-DF6A-0EF3B3E19C82}"/>
              </a:ext>
            </a:extLst>
          </p:cNvPr>
          <p:cNvSpPr>
            <a:spLocks noGrp="1"/>
          </p:cNvSpPr>
          <p:nvPr>
            <p:ph type="body" idx="1"/>
          </p:nvPr>
        </p:nvSpPr>
        <p:spPr/>
        <p:txBody>
          <a:bodyPr/>
          <a:lstStyle/>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ea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Q2.20A Which of the following messages do you recall hearing from the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a:t>
            </a:r>
            <a:r>
              <a:rPr lang="en-US" sz="1000">
                <a:latin typeface="Calibri"/>
                <a:ea typeface="Calibri"/>
                <a:cs typeface="Calibri"/>
                <a:sym typeface="Calibri"/>
              </a:rPr>
              <a:t>regarding </a:t>
            </a:r>
            <a:r>
              <a:rPr lang="en-US" sz="1000">
                <a:solidFill>
                  <a:srgbClr val="262626"/>
                </a:solidFill>
                <a:latin typeface="Calibri"/>
                <a:ea typeface="Calibri"/>
                <a:cs typeface="Calibri"/>
                <a:sym typeface="Calibri"/>
              </a:rPr>
              <a:t>[</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a:t>
            </a:r>
            <a:endParaRPr lang="en-US"/>
          </a:p>
          <a:p>
            <a:pPr marL="165100" indent="0">
              <a:buNone/>
            </a:pPr>
            <a:endParaRPr lang="en-US" b="1" i="1"/>
          </a:p>
          <a:p>
            <a:pPr marL="165100" indent="0">
              <a:buNone/>
            </a:pPr>
            <a:r>
              <a:rPr lang="en-IN"/>
              <a:t>Message Codes</a:t>
            </a:r>
          </a:p>
          <a:p>
            <a:pPr marL="165100" indent="0">
              <a:buNone/>
            </a:pPr>
            <a:endParaRPr lang="en-IN"/>
          </a:p>
          <a:p>
            <a:pPr marL="165100" indent="0">
              <a:buNone/>
            </a:pPr>
            <a:r>
              <a:rPr lang="en-IN"/>
              <a:t>Z17	‘ZENPEP's 40K and 60K lipase-unit capsules’</a:t>
            </a:r>
          </a:p>
          <a:p>
            <a:pPr marL="165100" indent="0">
              <a:buNone/>
            </a:pPr>
            <a:r>
              <a:rPr lang="en-IN"/>
              <a:t>Z16	‘Offers a single-capsule starting dose’</a:t>
            </a:r>
          </a:p>
          <a:p>
            <a:pPr marL="165100" indent="0">
              <a:buNone/>
            </a:pPr>
            <a:r>
              <a:rPr lang="en-IN"/>
              <a:t>Z19	‘ACG guideline’</a:t>
            </a:r>
          </a:p>
          <a:p>
            <a:pPr marL="165100" indent="0">
              <a:buNone/>
            </a:pPr>
            <a:r>
              <a:rPr lang="en-IN"/>
              <a:t>Z15	‘One capsule of ZENPEP’</a:t>
            </a:r>
          </a:p>
          <a:p>
            <a:pPr marL="165100" indent="0">
              <a:buNone/>
            </a:pPr>
            <a:r>
              <a:rPr lang="en-IN"/>
              <a:t>Z20	‘CFA’</a:t>
            </a:r>
          </a:p>
          <a:p>
            <a:pPr marL="165100" indent="0">
              <a:buNone/>
            </a:pPr>
            <a:r>
              <a:rPr lang="en-IN"/>
              <a:t>Z21	‘Treat uncomfortable GI symptoms’</a:t>
            </a:r>
          </a:p>
          <a:p>
            <a:pPr marL="165100" indent="0">
              <a:buNone/>
            </a:pPr>
            <a:r>
              <a:rPr lang="en-IN"/>
              <a:t>Z18	‘Clinical trial’</a:t>
            </a:r>
          </a:p>
          <a:p>
            <a:pPr marL="165100" indent="0">
              <a:buNone/>
            </a:pPr>
            <a:r>
              <a:rPr lang="en-IN"/>
              <a:t>Z7	‘Enteric coating’ </a:t>
            </a:r>
          </a:p>
          <a:p>
            <a:pPr marL="165100" indent="0">
              <a:buNone/>
            </a:pPr>
            <a:r>
              <a:rPr lang="en-IN"/>
              <a:t>Z8	‘Fuels nutritional health’</a:t>
            </a:r>
          </a:p>
          <a:p>
            <a:pPr marL="165100" indent="0">
              <a:buNone/>
            </a:pPr>
            <a:r>
              <a:rPr lang="en-IN"/>
              <a:t>Z11	‘Patient Savings Program’</a:t>
            </a:r>
          </a:p>
          <a:p>
            <a:pPr marL="165100" indent="0">
              <a:buNone/>
            </a:pPr>
            <a:r>
              <a:rPr lang="en-IN"/>
              <a:t>Z23	‘Commercial insurance (89%) or Medicare Part D (98%)’</a:t>
            </a:r>
          </a:p>
          <a:p>
            <a:pPr marL="165100" indent="0">
              <a:buNone/>
            </a:pPr>
            <a:r>
              <a:rPr lang="en-IN"/>
              <a:t>Z22	‘SampleCloset’</a:t>
            </a:r>
          </a:p>
          <a:p>
            <a:pPr marL="165100" indent="0">
              <a:buNone/>
            </a:pPr>
            <a:r>
              <a:rPr lang="en-IN"/>
              <a:t>Z24	‘ZENPEP mimics exocrine pancreatic function.’</a:t>
            </a:r>
          </a:p>
          <a:p>
            <a:pPr marL="165100" indent="0">
              <a:buNone/>
            </a:pPr>
            <a:endParaRPr lang="en-IN"/>
          </a:p>
        </p:txBody>
      </p:sp>
      <p:sp>
        <p:nvSpPr>
          <p:cNvPr id="4" name="Slide Number Placeholder 3">
            <a:extLst>
              <a:ext uri="{FF2B5EF4-FFF2-40B4-BE49-F238E27FC236}">
                <a16:creationId xmlns:a16="http://schemas.microsoft.com/office/drawing/2014/main" id="{62CCBDF0-6A3E-E674-8DC9-BD92A6E74ED9}"/>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83</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06858691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4"/>
        <p:cNvGrpSpPr/>
        <p:nvPr/>
      </p:nvGrpSpPr>
      <p:grpSpPr>
        <a:xfrm>
          <a:off x="0" y="0"/>
          <a:ext cx="0" cy="0"/>
          <a:chOff x="0" y="0"/>
          <a:chExt cx="0" cy="0"/>
        </a:xfrm>
      </p:grpSpPr>
      <p:sp>
        <p:nvSpPr>
          <p:cNvPr id="2435" name="Google Shape;2435;p63:notes"/>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2436" name="Google Shape;2436;p63:notes"/>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0" lvl="0" indent="0" algn="l" rtl="0">
              <a:spcBef>
                <a:spcPts val="0"/>
              </a:spcBef>
              <a:spcAft>
                <a:spcPts val="0"/>
              </a:spcAft>
              <a:buClr>
                <a:srgbClr val="262626"/>
              </a:buClr>
              <a:buSzPts val="1800"/>
              <a:buNone/>
            </a:pPr>
            <a:endParaRPr b="1" i="1"/>
          </a:p>
        </p:txBody>
      </p:sp>
      <p:sp>
        <p:nvSpPr>
          <p:cNvPr id="2437" name="Google Shape;2437;p63:notes"/>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84</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13642880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957DF9-C5F1-7484-4A85-2D9BC5EEFD9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5DCA5E-82FC-D4F5-6DC5-2BC7BCF74CAF}"/>
              </a:ext>
            </a:extLst>
          </p:cNvPr>
          <p:cNvSpPr>
            <a:spLocks noGrp="1" noRot="1" noChangeAspect="1"/>
          </p:cNvSpPr>
          <p:nvPr>
            <p:ph type="sldImg"/>
          </p:nvPr>
        </p:nvSpPr>
        <p:spPr>
          <a:xfrm>
            <a:off x="1371600" y="1143000"/>
            <a:ext cx="4114800" cy="3086100"/>
          </a:xfrm>
        </p:spPr>
        <p:txBody>
          <a:bodyPr/>
          <a:lstStyle/>
          <a:p>
            <a:endParaRPr lang="en-US"/>
          </a:p>
        </p:txBody>
      </p:sp>
      <p:sp>
        <p:nvSpPr>
          <p:cNvPr id="3" name="Notes Placeholder 2">
            <a:extLst>
              <a:ext uri="{FF2B5EF4-FFF2-40B4-BE49-F238E27FC236}">
                <a16:creationId xmlns:a16="http://schemas.microsoft.com/office/drawing/2014/main" id="{34C8BA95-69EB-8492-71B1-41F1BE795826}"/>
              </a:ext>
            </a:extLst>
          </p:cNvPr>
          <p:cNvSpPr>
            <a:spLocks noGrp="1"/>
          </p:cNvSpPr>
          <p:nvPr>
            <p:ph type="body" idx="1"/>
          </p:nvPr>
        </p:nvSpPr>
        <p:spPr/>
        <p:txBody>
          <a:bodyPr/>
          <a:lstStyle/>
          <a:p>
            <a:pPr marL="16510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Q4.20. How many total exocrine pancreatic insufficiency (EPI) patients did you treat during the past 3 months?</a:t>
            </a:r>
            <a:br>
              <a:rPr lang="en-US"/>
            </a:br>
            <a:r>
              <a:rPr lang="en-US"/>
              <a:t>Q4.20A. Of the [PIPE Q4.20] exocrine pancreatic insufficiency (EPI) patients you have treated in the past 3 months, please allocate them into the following categories?</a:t>
            </a:r>
            <a:br>
              <a:rPr lang="en-US"/>
            </a:br>
            <a:r>
              <a:rPr lang="en-US"/>
              <a:t>Q4.20B. Of the [PIPE Q4.20.Treatment naïve] Treatment naïve exocrine pancreatic insufficiency (EPI) patients you treated during the past 3 months, how many were treated with the following?</a:t>
            </a:r>
            <a:br>
              <a:rPr lang="en-US"/>
            </a:br>
            <a:r>
              <a:rPr lang="en-US"/>
              <a:t>Q4.20C. Of the [PIPE Q4.20.Switched therapy] exocrine pancreatic insufficiency (EPI) patients who switched therapy you treated during the past 3 months, indicate how many patients fell into each category:</a:t>
            </a:r>
            <a:br>
              <a:rPr lang="en-US"/>
            </a:br>
            <a:r>
              <a:rPr lang="en-US"/>
              <a:t>Q4.20D. Of the [PIPE Q4.20A.Treatment maintenance] exocrine pancreatic insufficiency (EPI) patients who have remained on the same treatment during the past 3 months, how many were treated with the following?</a:t>
            </a:r>
            <a:br>
              <a:rPr lang="en-US"/>
            </a:br>
            <a:r>
              <a:rPr lang="en-US"/>
              <a:t>Q4.41. Of your [PIPE (Q4.20B.CREON + Q4.20C. TO:CREON + Q4.20D.CREON) OR (Q4.20B.ZENPEP + Q4.20C. TO:ZENPEP + Q4.20D.ZENPEP)] patients who you initiated on [PRODUCT] in the past 3 months, to what percent of these patients did you prescribe the following doses?</a:t>
            </a:r>
            <a:endParaRPr lang="en-IN"/>
          </a:p>
          <a:p>
            <a:pPr marL="165100" indent="0">
              <a:buNone/>
            </a:pPr>
            <a:endParaRPr lang="en-IN"/>
          </a:p>
        </p:txBody>
      </p:sp>
      <p:sp>
        <p:nvSpPr>
          <p:cNvPr id="4" name="Slide Number Placeholder 3">
            <a:extLst>
              <a:ext uri="{FF2B5EF4-FFF2-40B4-BE49-F238E27FC236}">
                <a16:creationId xmlns:a16="http://schemas.microsoft.com/office/drawing/2014/main" id="{72533BF7-F9D0-666D-0CDA-AA224FC38D94}"/>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85</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5310171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BC91D4-178A-3198-C866-CAAE0B1C3B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6D5D3F-1E47-05A4-CE78-7BC49CD93406}"/>
              </a:ext>
            </a:extLst>
          </p:cNvPr>
          <p:cNvSpPr>
            <a:spLocks noGrp="1" noRot="1" noChangeAspect="1"/>
          </p:cNvSpPr>
          <p:nvPr>
            <p:ph type="sldImg"/>
          </p:nvPr>
        </p:nvSpPr>
        <p:spPr>
          <a:xfrm>
            <a:off x="1371600" y="1143000"/>
            <a:ext cx="4114800" cy="3086100"/>
          </a:xfrm>
        </p:spPr>
        <p:txBody>
          <a:bodyPr/>
          <a:lstStyle/>
          <a:p>
            <a:endParaRPr lang="en-US"/>
          </a:p>
        </p:txBody>
      </p:sp>
      <p:sp>
        <p:nvSpPr>
          <p:cNvPr id="3" name="Notes Placeholder 2">
            <a:extLst>
              <a:ext uri="{FF2B5EF4-FFF2-40B4-BE49-F238E27FC236}">
                <a16:creationId xmlns:a16="http://schemas.microsoft.com/office/drawing/2014/main" id="{5778B904-9B20-DF0C-FA62-4E04FFF7C913}"/>
              </a:ext>
            </a:extLst>
          </p:cNvPr>
          <p:cNvSpPr>
            <a:spLocks noGrp="1"/>
          </p:cNvSpPr>
          <p:nvPr>
            <p:ph type="body" idx="1"/>
          </p:nvPr>
        </p:nvSpPr>
        <p:spPr/>
        <p:txBody>
          <a:bodyPr/>
          <a:lstStyle/>
          <a:p>
            <a:pPr marL="165100" indent="0">
              <a:buNone/>
            </a:pPr>
            <a:r>
              <a:rPr lang="en-US"/>
              <a:t>Q4.20. How many total exocrine pancreatic insufficiency (EPI) patients did you treat during the past 3 months?</a:t>
            </a:r>
            <a:br>
              <a:rPr lang="en-US"/>
            </a:br>
            <a:r>
              <a:rPr lang="en-US" sz="1400"/>
              <a:t>Q4.20A. Of the [PIPE Q4.20] exocrine pancreatic insufficiency (EPI) patients you have treated in the past 3 months, please allocate them into the following categories?</a:t>
            </a:r>
            <a:br>
              <a:rPr lang="en-US" sz="1400"/>
            </a:br>
            <a:r>
              <a:rPr lang="en-US"/>
              <a:t>Q4.20B. Of the [PIPE Q4.20.Treatment naïve] Treatment naïve exocrine pancreatic insufficiency (EPI) patients you treated during the past 3 months, how many were treated with the following?</a:t>
            </a:r>
            <a:br>
              <a:rPr lang="en-US"/>
            </a:br>
            <a:r>
              <a:rPr lang="en-US"/>
              <a:t>Q4.20C. Of the [PIPE Q4.20.Switched therapy] exocrine pancreatic insufficiency (EPI) patients who switched therapy you treated during the past 3 months, indicate how many patients fell into each category:</a:t>
            </a:r>
            <a:br>
              <a:rPr lang="en-US"/>
            </a:br>
            <a:r>
              <a:rPr lang="en-US"/>
              <a:t>Q4.20D. Of the [PIPE Q4.20A.Treatment maintenance] exocrine pancreatic insufficiency (EPI) patients who have remained on the same treatment during the past 3 months, how many were treated with the following?</a:t>
            </a:r>
            <a:br>
              <a:rPr lang="en-US"/>
            </a:br>
            <a:r>
              <a:rPr lang="en-US"/>
              <a:t>Q4.41. Of your [PIPE (Q4.20B.CREON + Q4.20C. TO:CREON + Q4.20D.CREON) OR (Q4.20B.ZENPEP + Q4.20C. TO:ZENPEP + Q4.20D.ZENPEP)] patients who you initiated on [PRODUCT] in the past 3 months, to what percent of these patients did you prescribe the following doses?</a:t>
            </a:r>
            <a:endParaRPr lang="en-IN"/>
          </a:p>
        </p:txBody>
      </p:sp>
      <p:sp>
        <p:nvSpPr>
          <p:cNvPr id="4" name="Slide Number Placeholder 3">
            <a:extLst>
              <a:ext uri="{FF2B5EF4-FFF2-40B4-BE49-F238E27FC236}">
                <a16:creationId xmlns:a16="http://schemas.microsoft.com/office/drawing/2014/main" id="{46E8057E-2D70-66E4-DA69-8DD2E5CF8260}"/>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86</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75180992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59C3C7-B891-CD0F-6E53-B99BD233327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D9B9D2-FED0-0998-2E6B-52CAEFB8BE6C}"/>
              </a:ext>
            </a:extLst>
          </p:cNvPr>
          <p:cNvSpPr>
            <a:spLocks noGrp="1" noRot="1" noChangeAspect="1"/>
          </p:cNvSpPr>
          <p:nvPr>
            <p:ph type="sldImg"/>
          </p:nvPr>
        </p:nvSpPr>
        <p:spPr>
          <a:xfrm>
            <a:off x="1371600" y="1143000"/>
            <a:ext cx="4114800" cy="3086100"/>
          </a:xfrm>
        </p:spPr>
        <p:txBody>
          <a:bodyPr/>
          <a:lstStyle/>
          <a:p>
            <a:endParaRPr lang="en-US"/>
          </a:p>
        </p:txBody>
      </p:sp>
      <p:sp>
        <p:nvSpPr>
          <p:cNvPr id="3" name="Notes Placeholder 2">
            <a:extLst>
              <a:ext uri="{FF2B5EF4-FFF2-40B4-BE49-F238E27FC236}">
                <a16:creationId xmlns:a16="http://schemas.microsoft.com/office/drawing/2014/main" id="{2811BF6C-4831-9FDC-1A01-1CE745292DA4}"/>
              </a:ext>
            </a:extLst>
          </p:cNvPr>
          <p:cNvSpPr>
            <a:spLocks noGrp="1"/>
          </p:cNvSpPr>
          <p:nvPr>
            <p:ph type="body" idx="1"/>
          </p:nvPr>
        </p:nvSpPr>
        <p:spPr/>
        <p:txBody>
          <a:bodyPr/>
          <a:lstStyle/>
          <a:p>
            <a:pPr marL="165100" indent="0">
              <a:buNone/>
            </a:pPr>
            <a:r>
              <a:rPr lang="en-US"/>
              <a:t>Q4.20. How many total exocrine pancreatic insufficiency (EPI) patients did you treat during the past 3 months?</a:t>
            </a:r>
            <a:br>
              <a:rPr lang="en-US"/>
            </a:br>
            <a:r>
              <a:rPr lang="en-US" sz="1400"/>
              <a:t>Q4.20A. Of the [PIPE Q4.20] exocrine pancreatic insufficiency (EPI) patients you have treated in the past 3 months, please allocate them into the following categories?</a:t>
            </a:r>
            <a:br>
              <a:rPr lang="en-US" sz="1400"/>
            </a:br>
            <a:r>
              <a:rPr lang="en-US"/>
              <a:t>Q4.20B. Of the [PIPE Q4.20.Treatment naïve] Treatment naïve exocrine pancreatic insufficiency (EPI) patients you treated during the past 3 months, how many were treated with the following?</a:t>
            </a:r>
            <a:br>
              <a:rPr lang="en-US"/>
            </a:br>
            <a:r>
              <a:rPr lang="en-US"/>
              <a:t>Q4.20C. Of the [PIPE Q4.20.Switched therapy] exocrine pancreatic insufficiency (EPI) patients who switched therapy you treated during the past 3 months, indicate how many patients fell into each category:</a:t>
            </a:r>
            <a:br>
              <a:rPr lang="en-US"/>
            </a:br>
            <a:r>
              <a:rPr lang="en-US"/>
              <a:t>Q4.20D. Of the [PIPE Q4.20A.Treatment maintenance] exocrine pancreatic insufficiency (EPI) patients who have remained on the same treatment during the past 3 months, how many were treated with the following?</a:t>
            </a:r>
            <a:br>
              <a:rPr lang="en-US"/>
            </a:br>
            <a:r>
              <a:rPr lang="en-US"/>
              <a:t>Q4.41. Of your [PIPE (Q4.20B.CREON + Q4.20C. TO:CREON + Q4.20D.CREON) OR (Q4.20B.ZENPEP + Q4.20C. TO:ZENPEP + Q4.20D.ZENPEP)] patients who you initiated on [PRODUCT] in the past 3 months, to what percent of these patients did you prescribe the following doses?</a:t>
            </a:r>
            <a:endParaRPr lang="en-IN"/>
          </a:p>
        </p:txBody>
      </p:sp>
      <p:sp>
        <p:nvSpPr>
          <p:cNvPr id="4" name="Slide Number Placeholder 3">
            <a:extLst>
              <a:ext uri="{FF2B5EF4-FFF2-40B4-BE49-F238E27FC236}">
                <a16:creationId xmlns:a16="http://schemas.microsoft.com/office/drawing/2014/main" id="{9EE41ED4-A572-6408-99FC-63726CC33D2F}"/>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87</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08005427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C46234-5B7C-15AF-5BFB-E950FE05652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D3FECB-7173-05C4-CAA6-D24B13934C2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AAE0576-6368-0022-7266-2077B3C848E6}"/>
              </a:ext>
            </a:extLst>
          </p:cNvPr>
          <p:cNvSpPr>
            <a:spLocks noGrp="1"/>
          </p:cNvSpPr>
          <p:nvPr>
            <p:ph type="body" idx="1"/>
          </p:nvPr>
        </p:nvSpPr>
        <p:spPr/>
        <p:txBody>
          <a:bodyPr/>
          <a:lstStyle/>
          <a:p>
            <a:pPr marL="16510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a:t>Q4.20. How many total exocrine pancreatic insufficiency (EPI) patients did you treat during the past 3 months?</a:t>
            </a:r>
            <a:br>
              <a:rPr lang="en-US"/>
            </a:br>
            <a:r>
              <a:rPr lang="en-US"/>
              <a:t>Q4.20A. Of the [PIPE Q4.20] exocrine pancreatic insufficiency (EPI) patients you have treated in the past 3 months, please allocate them into the following categories?</a:t>
            </a:r>
            <a:br>
              <a:rPr lang="en-US"/>
            </a:br>
            <a:r>
              <a:rPr lang="en-US"/>
              <a:t>Q4.20B. Of the [PIPE Q4.20.Treatment naïve] Treatment naïve exocrine pancreatic insufficiency (EPI) patients you treated during the past 3 months, how many were treated with the following?</a:t>
            </a:r>
            <a:br>
              <a:rPr lang="en-US"/>
            </a:br>
            <a:r>
              <a:rPr lang="en-US"/>
              <a:t>Q4.20C. Of the [PIPE Q4.20.Switched therapy] exocrine pancreatic insufficiency (EPI) patients who switched therapy you treated during the past 3 months, indicate how many patients fell into each category:</a:t>
            </a:r>
            <a:br>
              <a:rPr lang="en-US"/>
            </a:br>
            <a:r>
              <a:rPr lang="en-US"/>
              <a:t>Q4.20D. Of the [PIPE Q4.20A.Treatment maintenance] exocrine pancreatic insufficiency (EPI) patients who have remained on the same treatment during the past 3 months, how many were treated with the following?</a:t>
            </a:r>
            <a:br>
              <a:rPr lang="en-US"/>
            </a:br>
            <a:r>
              <a:rPr lang="en-US"/>
              <a:t>Q4.41. Of your [PIPE (Q4.20B.CREON + Q4.20C. TO:CREON + Q4.20D.CREON) OR (Q4.20B.ZENPEP + Q4.20C. TO:ZENPEP + Q4.20D.ZENPEP)] patients who you initiated on [PRODUCT] in the past 3 months, to what percent of these patients did you prescribe the following doses?</a:t>
            </a:r>
            <a:endParaRPr lang="en-IN"/>
          </a:p>
          <a:p>
            <a:pPr marL="165100" indent="0">
              <a:buNone/>
            </a:pPr>
            <a:endParaRPr lang="en-IN"/>
          </a:p>
          <a:p>
            <a:endParaRPr lang="en-IN"/>
          </a:p>
        </p:txBody>
      </p:sp>
      <p:sp>
        <p:nvSpPr>
          <p:cNvPr id="4" name="Slide Number Placeholder 3">
            <a:extLst>
              <a:ext uri="{FF2B5EF4-FFF2-40B4-BE49-F238E27FC236}">
                <a16:creationId xmlns:a16="http://schemas.microsoft.com/office/drawing/2014/main" id="{457B2F23-A7B0-4525-8282-CB4FB7482D3F}"/>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fld id="{00000000-1234-1234-1234-123412341234}" type="slidenum">
              <a:rPr kumimoji="0" lang="en-US" sz="8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mo"/>
                <a:buNone/>
                <a:tabLst/>
                <a:defRPr/>
              </a:pPr>
              <a:t>88</a:t>
            </a:fld>
            <a:endParaRPr kumimoji="0" lang="en-US" sz="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87213620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4">
          <a:extLst>
            <a:ext uri="{FF2B5EF4-FFF2-40B4-BE49-F238E27FC236}">
              <a16:creationId xmlns:a16="http://schemas.microsoft.com/office/drawing/2014/main" id="{E7DA7485-7D0A-7BC3-A3EE-443571E60C02}"/>
            </a:ext>
          </a:extLst>
        </p:cNvPr>
        <p:cNvGrpSpPr/>
        <p:nvPr/>
      </p:nvGrpSpPr>
      <p:grpSpPr>
        <a:xfrm>
          <a:off x="0" y="0"/>
          <a:ext cx="0" cy="0"/>
          <a:chOff x="0" y="0"/>
          <a:chExt cx="0" cy="0"/>
        </a:xfrm>
      </p:grpSpPr>
      <p:sp>
        <p:nvSpPr>
          <p:cNvPr id="2435" name="Google Shape;2435;p63:notes">
            <a:extLst>
              <a:ext uri="{FF2B5EF4-FFF2-40B4-BE49-F238E27FC236}">
                <a16:creationId xmlns:a16="http://schemas.microsoft.com/office/drawing/2014/main" id="{85CCAA30-DFF3-7D91-CD68-91B997213E0B}"/>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chemeClr val="dk1"/>
            </a:solidFill>
            <a:prstDash val="solid"/>
            <a:miter lim="800000"/>
            <a:headEnd type="none" w="sm" len="sm"/>
            <a:tailEnd type="none" w="sm" len="sm"/>
          </a:ln>
        </p:spPr>
        <p:txBody>
          <a:bodyPr/>
          <a:lstStyle/>
          <a:p>
            <a:endParaRPr lang="en-US"/>
          </a:p>
        </p:txBody>
      </p:sp>
      <p:sp>
        <p:nvSpPr>
          <p:cNvPr id="2436" name="Google Shape;2436;p63:notes">
            <a:extLst>
              <a:ext uri="{FF2B5EF4-FFF2-40B4-BE49-F238E27FC236}">
                <a16:creationId xmlns:a16="http://schemas.microsoft.com/office/drawing/2014/main" id="{4E023903-199C-40A0-D089-2DBBA3A188F7}"/>
              </a:ext>
            </a:extLst>
          </p:cNvPr>
          <p:cNvSpPr txBox="1">
            <a:spLocks noGrp="1"/>
          </p:cNvSpPr>
          <p:nvPr>
            <p:ph type="body" idx="1"/>
          </p:nvPr>
        </p:nvSpPr>
        <p:spPr>
          <a:xfrm>
            <a:off x="593029" y="4716368"/>
            <a:ext cx="5562941" cy="4896883"/>
          </a:xfrm>
          <a:prstGeom prst="rect">
            <a:avLst/>
          </a:prstGeom>
          <a:noFill/>
          <a:ln>
            <a:noFill/>
          </a:ln>
        </p:spPr>
        <p:txBody>
          <a:bodyPr spcFirstLastPara="1" wrap="square" lIns="93125" tIns="45725" rIns="93125" bIns="45725" anchor="t" anchorCtr="0">
            <a:noAutofit/>
          </a:bodyPr>
          <a:lstStyle/>
          <a:p>
            <a:pPr marL="16510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4000"/>
              <a:t>Q4.20. How many total exocrine pancreatic insufficiency (EPI) patients did you treat during the past 3 months?</a:t>
            </a:r>
            <a:br>
              <a:rPr lang="en-US" sz="4000"/>
            </a:br>
            <a:r>
              <a:rPr lang="en-US" sz="4000"/>
              <a:t>Q4.41. Of your [PIPE (Q4.20B.CREON + Q4.20C. TO:CREON + Q4.20D.CREON) OR (Q4.20B.ZENPEP + Q4.20C. TO:ZENPEP + Q4.20D.ZENPEP)] patients who you initiated on [PRODUCT] in the past 3 months, to what percent of these patients did you prescribe the following doses?</a:t>
            </a:r>
            <a:endParaRPr lang="en-IN" sz="4000"/>
          </a:p>
          <a:p>
            <a:pPr marL="165100" indent="0">
              <a:buNone/>
            </a:pPr>
            <a:endParaRPr lang="en-IN" sz="4000"/>
          </a:p>
          <a:p>
            <a:endParaRPr lang="en-IN" sz="4000"/>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endParaRPr lang="en-US" sz="4000" b="1" i="1"/>
          </a:p>
        </p:txBody>
      </p:sp>
      <p:sp>
        <p:nvSpPr>
          <p:cNvPr id="2437" name="Google Shape;2437;p63:notes">
            <a:extLst>
              <a:ext uri="{FF2B5EF4-FFF2-40B4-BE49-F238E27FC236}">
                <a16:creationId xmlns:a16="http://schemas.microsoft.com/office/drawing/2014/main" id="{28BD6628-E3A9-9DBF-D4F7-7BAC21319728}"/>
              </a:ext>
            </a:extLst>
          </p:cNvPr>
          <p:cNvSpPr txBox="1">
            <a:spLocks noGrp="1"/>
          </p:cNvSpPr>
          <p:nvPr>
            <p:ph type="sldNum" idx="12"/>
          </p:nvPr>
        </p:nvSpPr>
        <p:spPr>
          <a:xfrm>
            <a:off x="6530667" y="9734689"/>
            <a:ext cx="222753" cy="149336"/>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89</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416458925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a:extLst>
            <a:ext uri="{FF2B5EF4-FFF2-40B4-BE49-F238E27FC236}">
              <a16:creationId xmlns:a16="http://schemas.microsoft.com/office/drawing/2014/main" id="{4A333441-CD12-DFF9-8251-67A7D6D0E517}"/>
            </a:ext>
          </a:extLst>
        </p:cNvPr>
        <p:cNvGrpSpPr/>
        <p:nvPr/>
      </p:nvGrpSpPr>
      <p:grpSpPr>
        <a:xfrm>
          <a:off x="0" y="0"/>
          <a:ext cx="0" cy="0"/>
          <a:chOff x="0" y="0"/>
          <a:chExt cx="0" cy="0"/>
        </a:xfrm>
      </p:grpSpPr>
      <p:sp>
        <p:nvSpPr>
          <p:cNvPr id="338" name="Google Shape;338;p10:notes">
            <a:extLst>
              <a:ext uri="{FF2B5EF4-FFF2-40B4-BE49-F238E27FC236}">
                <a16:creationId xmlns:a16="http://schemas.microsoft.com/office/drawing/2014/main" id="{D666C898-D539-3A21-AA3E-1470616BB2E9}"/>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40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(W5)</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95% of commercial and Medicare-D insured patients have unrestricted access to CREON without prior authorization</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C3</a:t>
            </a:r>
            <a:r>
              <a:rPr lang="en-US" sz="1800" b="0" i="0" u="none" strike="noStrike">
                <a:solidFill>
                  <a:srgbClr val="000000"/>
                </a:solidFill>
                <a:effectLst/>
                <a:latin typeface="Calibri" panose="020F0502020204030204" pitchFamily="34" charset="0"/>
              </a:rPr>
              <a:t> Underlying conditions and surgical procedures that can cause EPI include: Cystic Fibrosis, Chronic Pancreatitis, Pancreatic Cancer, Pancreatectomy, Type 1 diabetes, Gastric reaction/bypass, Acute pancreatitis, Crohn’s disease, Celiac Disease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C4</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EPI is largely a clinical diagnosis. Consider EPI in your differential diagnosis if you’re seeing symptoms such as frequent gas and/or bloating, unexplained abdominal pain, and frequent </a:t>
            </a:r>
            <a:r>
              <a:rPr lang="en-GB" sz="1800" b="0" i="0" u="none" strike="noStrike" err="1">
                <a:solidFill>
                  <a:srgbClr val="000000"/>
                </a:solidFill>
                <a:effectLst/>
                <a:latin typeface="Calibri" panose="020F0502020204030204" pitchFamily="34" charset="0"/>
              </a:rPr>
              <a:t>diarrhea</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C7</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36K capsules can be an appropriate strength for many adult EPI patients weighing at least 110 lbs. CREON 36K may help reduce pill burden for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C8</a:t>
            </a:r>
            <a:r>
              <a:rPr lang="en-US" sz="1800" b="0" i="0" u="none" strike="noStrike">
                <a:solidFill>
                  <a:srgbClr val="000000"/>
                </a:solidFill>
                <a:effectLst/>
                <a:latin typeface="Calibri" panose="020F0502020204030204" pitchFamily="34" charset="0"/>
              </a:rPr>
              <a:t> CREON enteric coated capsules allows the spheres to travel beyond the low pH of the stomach to release in the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C10</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is the #1 PERT prescribed by Gastroenterologists, Primary Care Physicians, and Nurse Practitioners and Physician Assistants.</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C11</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makes it easy and convenient for patients with EPI to get financial, multivitamin, and educational support. With CREON on Course, eligible patients may pay as little as $5 a month</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C14</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94% of commercial and Medicare-D insured patients have preferred access to CREON with the lowest branded copay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C15</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There are no head-to-head superiority trials between CREON and any other PERT. CREON is not interchangeable with any </a:t>
            </a:r>
            <a:r>
              <a:rPr lang="en-GB" sz="1800" b="0" i="0" u="none" strike="noStrike" err="1">
                <a:solidFill>
                  <a:srgbClr val="000000"/>
                </a:solidFill>
                <a:effectLst/>
                <a:latin typeface="Calibri" panose="020F0502020204030204" pitchFamily="34" charset="0"/>
              </a:rPr>
              <a:t>pancrelipase</a:t>
            </a:r>
            <a:r>
              <a:rPr lang="en-GB" sz="1800" b="0" i="0" u="none" strike="noStrike">
                <a:solidFill>
                  <a:srgbClr val="000000"/>
                </a:solidFill>
                <a:effectLst/>
                <a:latin typeface="Calibri" panose="020F0502020204030204" pitchFamily="34" charset="0"/>
              </a:rPr>
              <a:t> product.</a:t>
            </a:r>
            <a:endParaRPr lang="en-US" sz="4000" b="0">
              <a:effectLst/>
            </a:endParaRPr>
          </a:p>
          <a:p>
            <a:pPr marL="622300" lvl="1" indent="0" algn="l" rtl="0" fontAlgn="t">
              <a:spcBef>
                <a:spcPts val="0"/>
              </a:spcBef>
              <a:spcAft>
                <a:spcPts val="0"/>
              </a:spcAft>
              <a:buNone/>
            </a:pPr>
            <a:r>
              <a:rPr lang="en-US" sz="4000" b="1" i="0" u="none" strike="noStrike">
                <a:solidFill>
                  <a:srgbClr val="000000"/>
                </a:solidFill>
                <a:effectLst/>
                <a:latin typeface="Calibri" panose="020F0502020204030204" pitchFamily="34" charset="0"/>
              </a:rPr>
              <a:t>C16</a:t>
            </a:r>
            <a:r>
              <a:rPr lang="en-US" sz="4000" b="0" i="0" u="none" strike="noStrike">
                <a:solidFill>
                  <a:srgbClr val="000000"/>
                </a:solidFill>
                <a:effectLst/>
                <a:latin typeface="Calibri" panose="020F0502020204030204" pitchFamily="34" charset="0"/>
              </a:rPr>
              <a:t> </a:t>
            </a:r>
            <a:r>
              <a:rPr lang="en-GB" sz="4000" b="0" i="0" u="none" strike="noStrike">
                <a:solidFill>
                  <a:srgbClr val="000000"/>
                </a:solidFill>
                <a:effectLst/>
                <a:latin typeface="Calibri" panose="020F0502020204030204" pitchFamily="34" charset="0"/>
              </a:rPr>
              <a:t>CREON is the only FDA-approved PERT for patients with EPI due to cystic fibrosis, chronic pancreatitis, pancreatectomy, and other conditions. Based on the FDA-approved label, it has been studied in more </a:t>
            </a:r>
            <a:r>
              <a:rPr lang="en-GB" sz="4000" b="0" i="0" u="none" strike="noStrike" err="1">
                <a:solidFill>
                  <a:srgbClr val="000000"/>
                </a:solidFill>
                <a:effectLst/>
                <a:latin typeface="Calibri" panose="020F0502020204030204" pitchFamily="34" charset="0"/>
              </a:rPr>
              <a:t>etiologies</a:t>
            </a:r>
            <a:r>
              <a:rPr lang="en-GB" sz="4000" b="0" i="0" u="none" strike="noStrike">
                <a:solidFill>
                  <a:srgbClr val="000000"/>
                </a:solidFill>
                <a:effectLst/>
                <a:latin typeface="Calibri" panose="020F0502020204030204" pitchFamily="34" charset="0"/>
              </a:rPr>
              <a:t> than any other PERT.</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CR16</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CR18</a:t>
            </a:r>
            <a:r>
              <a:rPr lang="en-GB"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6223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1800" b="1">
                <a:solidFill>
                  <a:srgbClr val="262626"/>
                </a:solidFill>
                <a:latin typeface="Calibri"/>
                <a:ea typeface="Calibri"/>
                <a:cs typeface="Calibri"/>
                <a:sym typeface="Calibri"/>
              </a:rPr>
              <a:t>CREON Message (Sep’24 – Oct’24)</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a:t>
            </a:r>
            <a:r>
              <a:rPr lang="en-US" sz="4000" b="0" i="0">
                <a:solidFill>
                  <a:srgbClr val="242424"/>
                </a:solidFill>
                <a:effectLst/>
                <a:latin typeface="Aptos Narrow" panose="020B0004020202020204" pitchFamily="34" charset="0"/>
              </a:rPr>
              <a:t>Eligible patients may pay as little as $5 a month per 30- or 90-day prescription with the CREON Complete Savings Card</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(W5)</a:t>
            </a:r>
          </a:p>
          <a:p>
            <a:pPr marL="457200" lvl="1" indent="0" algn="l" rtl="0" fontAlgn="t">
              <a:spcBef>
                <a:spcPts val="0"/>
              </a:spcBef>
              <a:spcAft>
                <a:spcPts val="0"/>
              </a:spcAft>
              <a:buNone/>
            </a:pPr>
            <a:br>
              <a:rPr lang="en-US" sz="4000" b="0">
                <a:effectLst/>
              </a:rPr>
            </a:br>
            <a:r>
              <a:rPr lang="en-US" sz="1800" b="1" i="0" u="none" strike="noStrike">
                <a:solidFill>
                  <a:srgbClr val="000000"/>
                </a:solidFill>
                <a:effectLst/>
                <a:latin typeface="Calibri" panose="020F0502020204030204" pitchFamily="34" charset="0"/>
              </a:rPr>
              <a:t>Z1</a:t>
            </a:r>
            <a:r>
              <a:rPr lang="en-US" sz="1800" b="0" i="0" u="none" strike="noStrike">
                <a:solidFill>
                  <a:srgbClr val="000000"/>
                </a:solidFill>
                <a:effectLst/>
                <a:latin typeface="Calibri" panose="020F0502020204030204" pitchFamily="34" charset="0"/>
              </a:rPr>
              <a:t> ZENPEP combined insurance coverage through commercial and Medicare Part D is 96% for all dosage strengths, with unrestricted access. Coverage is the same for all dosage strengths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Z2</a:t>
            </a:r>
            <a:r>
              <a:rPr lang="en-US" sz="1800" b="0" i="0" u="none" strike="noStrike">
                <a:solidFill>
                  <a:srgbClr val="000000"/>
                </a:solidFill>
                <a:effectLst/>
                <a:latin typeface="Calibri" panose="020F0502020204030204" pitchFamily="34" charset="0"/>
              </a:rPr>
              <a:t> EPI is characterized by deficiencies in the amount or activity of exocrine pancreatic enzymes. This can result in the inability to digest food properly, or maldigestion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Z3</a:t>
            </a:r>
            <a:r>
              <a:rPr lang="en-US" sz="1800" b="0" i="0" u="none" strike="noStrike">
                <a:solidFill>
                  <a:srgbClr val="000000"/>
                </a:solidFill>
                <a:effectLst/>
                <a:latin typeface="Calibri" panose="020F0502020204030204" pitchFamily="34" charset="0"/>
              </a:rPr>
              <a:t> In addition to the treatment of causative factors, there are 2 key goals for managing EPI are improving digestion and absorption of nutrients and relieving GI signs and symptoms of EPI</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Z4</a:t>
            </a:r>
            <a:r>
              <a:rPr lang="en-US" sz="1800" b="0" i="0" u="none" strike="noStrike">
                <a:solidFill>
                  <a:srgbClr val="000000"/>
                </a:solidFill>
                <a:effectLst/>
                <a:latin typeface="Calibri" panose="020F0502020204030204" pitchFamily="34" charset="0"/>
              </a:rPr>
              <a:t> Managing EPI includes lifestyle and dietary modifications, vitamin and nutrient supplementation, and pancreatic enzyme therapy</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Z5</a:t>
            </a:r>
            <a:r>
              <a:rPr lang="en-US" sz="1800" b="0" i="0" u="none" strike="noStrike">
                <a:solidFill>
                  <a:srgbClr val="000000"/>
                </a:solidFill>
                <a:effectLst/>
                <a:latin typeface="Calibri" panose="020F0502020204030204" pitchFamily="34" charset="0"/>
              </a:rPr>
              <a:t> ZENPEP has the widest range of dosing options, including the highest strength available—40,000 lipase units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Z6</a:t>
            </a:r>
            <a:r>
              <a:rPr lang="en-US" sz="1800" b="0" i="0" u="none" strike="noStrike">
                <a:solidFill>
                  <a:srgbClr val="000000"/>
                </a:solidFill>
                <a:effectLst/>
                <a:latin typeface="Calibri" panose="020F0502020204030204" pitchFamily="34" charset="0"/>
              </a:rPr>
              <a:t> ZENPEP offers dosing flexibility that minimizes the number of capsules needed. The ZENPEP dose can be calculated in 3 easy steps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Z9</a:t>
            </a:r>
            <a:r>
              <a:rPr lang="en-US" sz="1800" b="0" i="0" u="none" strike="noStrike">
                <a:solidFill>
                  <a:srgbClr val="000000"/>
                </a:solidFill>
                <a:effectLst/>
                <a:latin typeface="Calibri" panose="020F0502020204030204" pitchFamily="34" charset="0"/>
              </a:rPr>
              <a:t> In a non-inferiority study, ZENPEP was shown to have comparable efficacy to CREON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Z11</a:t>
            </a:r>
            <a:r>
              <a:rPr lang="en-US" sz="1800" b="0" i="0" u="none" strike="noStrike">
                <a:solidFill>
                  <a:srgbClr val="000000"/>
                </a:solidFill>
                <a:effectLst/>
                <a:latin typeface="Calibri" panose="020F0502020204030204" pitchFamily="34" charset="0"/>
              </a:rPr>
              <a:t> Eligible patients may be able to start saving today with the ZENPEP Patient Savings Program, paying as little as $0 out of pocket</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Z13</a:t>
            </a:r>
            <a:r>
              <a:rPr lang="en-US" sz="1800" b="0" i="0" u="none" strike="noStrike">
                <a:solidFill>
                  <a:srgbClr val="000000"/>
                </a:solidFill>
                <a:effectLst/>
                <a:latin typeface="Calibri" panose="020F0502020204030204" pitchFamily="34" charset="0"/>
              </a:rPr>
              <a:t> ZENPEP helps improve digestion and fuel your patients’ nutritional health</a:t>
            </a:r>
          </a:p>
          <a:p>
            <a:pPr marL="4572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4000" b="1" i="0" u="none" strike="noStrike">
                <a:solidFill>
                  <a:srgbClr val="000000"/>
                </a:solidFill>
                <a:effectLst/>
                <a:latin typeface="Calibri" panose="020F0502020204030204" pitchFamily="34" charset="0"/>
              </a:rPr>
              <a:t>Z14</a:t>
            </a:r>
            <a:r>
              <a:rPr lang="en-US" sz="4000" b="0" i="0" u="none" strike="noStrike">
                <a:solidFill>
                  <a:srgbClr val="000000"/>
                </a:solidFill>
                <a:effectLst/>
                <a:latin typeface="Calibri" panose="020F0502020204030204" pitchFamily="34" charset="0"/>
              </a:rPr>
              <a:t> </a:t>
            </a:r>
            <a:r>
              <a:rPr lang="en-GB" sz="7200" b="0" i="0">
                <a:solidFill>
                  <a:srgbClr val="333333"/>
                </a:solidFill>
                <a:effectLst/>
                <a:latin typeface="Roboto" panose="02000000000000000000" pitchFamily="2" charset="0"/>
              </a:rPr>
              <a:t>ZENPEP has excellent coverage, on par with or better than others in the PERT class</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ZP15</a:t>
            </a:r>
            <a:r>
              <a:rPr lang="en-GB"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ZP16</a:t>
            </a:r>
            <a:r>
              <a:rPr lang="en-GB"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ZP17</a:t>
            </a:r>
            <a:r>
              <a:rPr lang="en-GB"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ZP18</a:t>
            </a:r>
            <a:r>
              <a:rPr lang="en-GB"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ZP19</a:t>
            </a:r>
            <a:r>
              <a:rPr lang="en-GB"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Z7</a:t>
            </a:r>
            <a:r>
              <a:rPr lang="en-GB"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ZP20</a:t>
            </a:r>
            <a:r>
              <a:rPr lang="en-GB"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ZP21</a:t>
            </a:r>
            <a:r>
              <a:rPr lang="en-GB"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ZP8</a:t>
            </a:r>
            <a:r>
              <a:rPr lang="en-GB"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ZP22</a:t>
            </a:r>
            <a:r>
              <a:rPr lang="en-GB"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ZP11</a:t>
            </a:r>
            <a:r>
              <a:rPr lang="en-GB"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ZP23</a:t>
            </a:r>
            <a:r>
              <a:rPr lang="en-GB" sz="1800" b="0" i="0" u="none" strike="noStrike">
                <a:solidFill>
                  <a:srgbClr val="000000"/>
                </a:solidFill>
                <a:effectLst/>
                <a:latin typeface="Calibri" panose="020F0502020204030204" pitchFamily="34" charset="0"/>
              </a:rPr>
              <a:t> Almost all patients are covered with either commercial insurance (89%) or Medicare Part D (98%)</a:t>
            </a: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Q2.30A You mentioned hearing the following messages about [</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 Please indicate which of the following messages that you heard was the </a:t>
            </a:r>
            <a:r>
              <a:rPr lang="en-US" sz="1000" b="1">
                <a:solidFill>
                  <a:srgbClr val="262626"/>
                </a:solidFill>
                <a:latin typeface="Calibri"/>
                <a:ea typeface="Calibri"/>
                <a:cs typeface="Calibri"/>
                <a:sym typeface="Calibri"/>
              </a:rPr>
              <a:t>primary message </a:t>
            </a:r>
            <a:r>
              <a:rPr lang="en-US" sz="1000">
                <a:solidFill>
                  <a:srgbClr val="262626"/>
                </a:solidFill>
                <a:latin typeface="Calibri"/>
                <a:ea typeface="Calibri"/>
                <a:cs typeface="Calibri"/>
                <a:sym typeface="Calibri"/>
              </a:rPr>
              <a:t>discussed during your most recent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with the [</a:t>
            </a:r>
            <a:r>
              <a:rPr lang="en-US" sz="1000">
                <a:solidFill>
                  <a:srgbClr val="262626"/>
                </a:solidFill>
                <a:highlight>
                  <a:srgbClr val="D3D3D3"/>
                </a:highlight>
                <a:latin typeface="Calibri"/>
                <a:ea typeface="Calibri"/>
                <a:cs typeface="Calibri"/>
                <a:sym typeface="Calibri"/>
              </a:rPr>
              <a:t>COMPANY</a:t>
            </a:r>
            <a:r>
              <a:rPr lang="en-US" sz="1000">
                <a:solidFill>
                  <a:srgbClr val="262626"/>
                </a:solidFill>
                <a:latin typeface="Calibri"/>
                <a:ea typeface="Calibri"/>
                <a:cs typeface="Calibri"/>
                <a:sym typeface="Calibri"/>
              </a:rPr>
              <a:t>] rep? </a:t>
            </a: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lang="en-US"/>
          </a:p>
        </p:txBody>
      </p:sp>
      <p:sp>
        <p:nvSpPr>
          <p:cNvPr id="339" name="Google Shape;339;p10:notes">
            <a:extLst>
              <a:ext uri="{FF2B5EF4-FFF2-40B4-BE49-F238E27FC236}">
                <a16:creationId xmlns:a16="http://schemas.microsoft.com/office/drawing/2014/main" id="{D385F844-A1C1-1A4B-6A83-47CBAA74A838}"/>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193439734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a:extLst>
            <a:ext uri="{FF2B5EF4-FFF2-40B4-BE49-F238E27FC236}">
              <a16:creationId xmlns:a16="http://schemas.microsoft.com/office/drawing/2014/main" id="{84E5253B-F6C7-D8BB-1C88-F18645A4748B}"/>
            </a:ext>
          </a:extLst>
        </p:cNvPr>
        <p:cNvGrpSpPr/>
        <p:nvPr/>
      </p:nvGrpSpPr>
      <p:grpSpPr>
        <a:xfrm>
          <a:off x="0" y="0"/>
          <a:ext cx="0" cy="0"/>
          <a:chOff x="0" y="0"/>
          <a:chExt cx="0" cy="0"/>
        </a:xfrm>
      </p:grpSpPr>
      <p:sp>
        <p:nvSpPr>
          <p:cNvPr id="338" name="Google Shape;338;p10:notes">
            <a:extLst>
              <a:ext uri="{FF2B5EF4-FFF2-40B4-BE49-F238E27FC236}">
                <a16:creationId xmlns:a16="http://schemas.microsoft.com/office/drawing/2014/main" id="{87F3CE6C-2293-2159-DC62-B00F53B1B3F2}"/>
              </a:ext>
            </a:extLst>
          </p:cNvPr>
          <p:cNvSpPr txBox="1">
            <a:spLocks noGrp="1"/>
          </p:cNvSpPr>
          <p:nvPr>
            <p:ph type="body" idx="1"/>
          </p:nvPr>
        </p:nvSpPr>
        <p:spPr>
          <a:xfrm>
            <a:off x="593029" y="4716368"/>
            <a:ext cx="5562941" cy="4896883"/>
          </a:xfrm>
          <a:prstGeom prst="rect">
            <a:avLst/>
          </a:prstGeom>
        </p:spPr>
        <p:txBody>
          <a:bodyPr spcFirstLastPara="1" wrap="square" lIns="93125" tIns="45725" rIns="93125" bIns="45725" anchor="t" anchorCtr="0">
            <a:noAutofit/>
          </a:bodyPr>
          <a:lstStyle/>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r>
              <a:rPr lang="en-US" sz="1800" b="1">
                <a:solidFill>
                  <a:srgbClr val="262626"/>
                </a:solidFill>
                <a:latin typeface="Calibri"/>
                <a:ea typeface="Calibri"/>
                <a:cs typeface="Calibri"/>
                <a:sym typeface="Calibri"/>
              </a:rPr>
              <a:t>CREON Messages (Wave 32)</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C7</a:t>
            </a:r>
            <a:r>
              <a:rPr lang="en-GB" sz="7200">
                <a:effectLst/>
              </a:rPr>
              <a:t> </a:t>
            </a:r>
            <a:r>
              <a:rPr lang="en-GB" sz="1800" b="0" i="0" u="none" strike="noStrike" cap="none">
                <a:solidFill>
                  <a:schemeClr val="dk1"/>
                </a:solidFill>
                <a:effectLst/>
                <a:latin typeface="Arial"/>
                <a:ea typeface="Arial"/>
                <a:cs typeface="Arial"/>
                <a:sym typeface="Arial"/>
              </a:rPr>
              <a:t>CREON 36K capsules can be an appropriate dose for many adults.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C6</a:t>
            </a:r>
            <a:r>
              <a:rPr lang="en-GB" sz="7200">
                <a:effectLst/>
              </a:rPr>
              <a:t> </a:t>
            </a:r>
            <a:r>
              <a:rPr lang="en-GB" sz="1800" b="0" i="0" u="none" strike="noStrike" cap="none">
                <a:solidFill>
                  <a:schemeClr val="dk1"/>
                </a:solidFill>
                <a:effectLst/>
                <a:latin typeface="Arial"/>
                <a:ea typeface="Arial"/>
                <a:cs typeface="Arial"/>
                <a:sym typeface="Arial"/>
              </a:rPr>
              <a:t>Take CREON every meal, every snack, every day.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C11</a:t>
            </a:r>
            <a:r>
              <a:rPr lang="en-GB" sz="7200">
                <a:effectLst/>
              </a:rPr>
              <a:t> </a:t>
            </a:r>
            <a:r>
              <a:rPr lang="en-GB" sz="1800" b="0" i="0" u="none" strike="noStrike" cap="none">
                <a:solidFill>
                  <a:schemeClr val="dk1"/>
                </a:solidFill>
                <a:effectLst/>
                <a:latin typeface="Arial"/>
                <a:ea typeface="Arial"/>
                <a:cs typeface="Arial"/>
                <a:sym typeface="Arial"/>
              </a:rPr>
              <a:t>95% of commercially eligible patients pay $5 or less for their CREON prescription with the CREON Complete Savings card.</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C10</a:t>
            </a:r>
            <a:r>
              <a:rPr lang="en-GB" sz="7200">
                <a:effectLst/>
              </a:rPr>
              <a:t> </a:t>
            </a:r>
            <a:r>
              <a:rPr lang="en-GB" sz="1800" b="0" i="0" u="none" strike="noStrike" cap="none">
                <a:solidFill>
                  <a:schemeClr val="dk1"/>
                </a:solidFill>
                <a:effectLst/>
                <a:latin typeface="Arial"/>
                <a:ea typeface="Arial"/>
                <a:cs typeface="Arial"/>
                <a:sym typeface="Arial"/>
              </a:rPr>
              <a:t>CREON is the #1 PERT prescribed by Gastroenterologists, Primary Care Physicians, Nurse Practitioners and Physician Assistants.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C3</a:t>
            </a:r>
            <a:r>
              <a:rPr lang="en-GB" sz="7200">
                <a:effectLst/>
              </a:rPr>
              <a:t> </a:t>
            </a:r>
            <a:r>
              <a:rPr lang="en-GB" sz="1800" b="0" i="0" u="none" strike="noStrike" cap="none">
                <a:solidFill>
                  <a:schemeClr val="dk1"/>
                </a:solidFill>
                <a:effectLst/>
                <a:latin typeface="Arial"/>
                <a:ea typeface="Arial"/>
                <a:cs typeface="Arial"/>
                <a:sym typeface="Arial"/>
              </a:rPr>
              <a:t>Exocrine Pancreatic Insufficiency (EPI) is under-recognized and can have an impact on nutritional health and quality of life</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C4</a:t>
            </a:r>
            <a:r>
              <a:rPr lang="en-GB" sz="7200">
                <a:effectLst/>
              </a:rPr>
              <a:t> </a:t>
            </a:r>
            <a:r>
              <a:rPr lang="en-GB" sz="1800" b="0" i="0" u="none" strike="noStrike" cap="none">
                <a:solidFill>
                  <a:schemeClr val="dk1"/>
                </a:solidFill>
                <a:effectLst/>
                <a:latin typeface="Arial"/>
                <a:ea typeface="Arial"/>
                <a:cs typeface="Arial"/>
                <a:sym typeface="Arial"/>
              </a:rPr>
              <a:t>EPI is largely a clinical diagnosis based on signs and symptoms and should be considered as part of the differential diagnosis of GI symptoms.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a:t>
            </a:r>
            <a:r>
              <a:rPr lang="en-GB" sz="7200">
                <a:effectLst/>
              </a:rPr>
              <a:t> </a:t>
            </a:r>
            <a:r>
              <a:rPr lang="en-GB" sz="1800" b="0" i="0" u="none" strike="noStrike" cap="none">
                <a:solidFill>
                  <a:schemeClr val="dk1"/>
                </a:solidFill>
                <a:effectLst/>
                <a:latin typeface="Arial"/>
                <a:ea typeface="Arial"/>
                <a:cs typeface="Arial"/>
                <a:sym typeface="Arial"/>
              </a:rPr>
              <a:t>CREON maintains category leading coverage: 89% of national commercial and Medicare Part D insured lives have preferred access to CREON with the lowest branded copay, without a prior authorization.</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C9</a:t>
            </a:r>
            <a:r>
              <a:rPr lang="en-GB" sz="7200">
                <a:effectLst/>
              </a:rPr>
              <a:t> </a:t>
            </a:r>
            <a:r>
              <a:rPr lang="en-GB" sz="1800" b="0" i="0" u="none" strike="noStrike" cap="none">
                <a:solidFill>
                  <a:schemeClr val="dk1"/>
                </a:solidFill>
                <a:effectLst/>
                <a:latin typeface="Arial"/>
                <a:ea typeface="Arial"/>
                <a:cs typeface="Arial"/>
                <a:sym typeface="Arial"/>
              </a:rPr>
              <a:t>CREON significantly improves fat absorption compared with placebo in randomized clinical trials of patients with EPI due to CF, CP, or pancreatectomy.</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C22</a:t>
            </a:r>
            <a:r>
              <a:rPr lang="en-GB" sz="7200">
                <a:effectLst/>
              </a:rPr>
              <a:t> </a:t>
            </a:r>
            <a:r>
              <a:rPr lang="en-GB" sz="1800" b="0" i="0" u="none" strike="noStrike" cap="none">
                <a:solidFill>
                  <a:schemeClr val="dk1"/>
                </a:solidFill>
                <a:effectLst/>
                <a:latin typeface="Arial"/>
                <a:ea typeface="Arial"/>
                <a:cs typeface="Arial"/>
                <a:sym typeface="Arial"/>
              </a:rPr>
              <a:t>71% of CREON Medicare Part D patients paid less than $30 in 2024.</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C20</a:t>
            </a:r>
            <a:r>
              <a:rPr lang="en-GB" sz="7200">
                <a:effectLst/>
              </a:rPr>
              <a:t> </a:t>
            </a:r>
            <a:r>
              <a:rPr lang="en-GB" sz="1800" b="0" i="0" u="none" strike="noStrike" cap="none">
                <a:solidFill>
                  <a:schemeClr val="dk1"/>
                </a:solidFill>
                <a:effectLst/>
                <a:latin typeface="Arial"/>
                <a:ea typeface="Arial"/>
                <a:cs typeface="Arial"/>
                <a:sym typeface="Arial"/>
              </a:rPr>
              <a:t>Significant experience, exceptional patient support, and excellent coverage make CREON a proven partner for patients with </a:t>
            </a:r>
            <a:r>
              <a:rPr lang="en-GB" sz="1800" b="0" i="0" u="none" strike="noStrike" cap="none" err="1">
                <a:solidFill>
                  <a:schemeClr val="dk1"/>
                </a:solidFill>
                <a:effectLst/>
                <a:latin typeface="Arial"/>
                <a:ea typeface="Arial"/>
                <a:cs typeface="Arial"/>
                <a:sym typeface="Arial"/>
              </a:rPr>
              <a:t>EPl</a:t>
            </a:r>
            <a:r>
              <a:rPr lang="en-GB" sz="1800" b="0" i="0" u="none" strike="noStrike" cap="none">
                <a:solidFill>
                  <a:schemeClr val="dk1"/>
                </a:solidFill>
                <a:effectLst/>
                <a:latin typeface="Arial"/>
                <a:ea typeface="Arial"/>
                <a:cs typeface="Arial"/>
                <a:sym typeface="Arial"/>
              </a:rPr>
              <a: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C21</a:t>
            </a:r>
            <a:r>
              <a:rPr lang="en-GB" sz="7200">
                <a:effectLst/>
              </a:rPr>
              <a:t> </a:t>
            </a:r>
            <a:r>
              <a:rPr lang="en-GB" sz="1800" b="0" i="0" u="none" strike="noStrike" cap="none">
                <a:solidFill>
                  <a:schemeClr val="dk1"/>
                </a:solidFill>
                <a:effectLst/>
                <a:latin typeface="Arial"/>
                <a:ea typeface="Arial"/>
                <a:cs typeface="Arial"/>
                <a:sym typeface="Arial"/>
              </a:rPr>
              <a:t>CREON Complete may help patients start and stay on track with their treatment.</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C19</a:t>
            </a:r>
            <a:r>
              <a:rPr lang="en-GB" sz="7200">
                <a:effectLst/>
              </a:rPr>
              <a:t> </a:t>
            </a:r>
            <a:r>
              <a:rPr lang="en-GB" sz="1800" b="0" i="0" u="none" strike="noStrike" cap="none">
                <a:solidFill>
                  <a:schemeClr val="dk1"/>
                </a:solidFill>
                <a:effectLst/>
                <a:latin typeface="Arial"/>
                <a:ea typeface="Arial"/>
                <a:cs typeface="Arial"/>
                <a:sym typeface="Arial"/>
              </a:rPr>
              <a:t>Based on the FDA-approved label, CREON is the only PERT specifically studied for patients with EPI due to chronic pancreatitis and pancreatectomy, in addition to cystic fibrosis</a:t>
            </a:r>
            <a:r>
              <a:rPr lang="en-GB" sz="7200">
                <a:effectLst/>
              </a:rPr>
              <a:t> </a:t>
            </a:r>
          </a:p>
          <a:p>
            <a:pPr marL="165100" indent="0" algn="l" rtl="0" fontAlgn="t">
              <a:spcBef>
                <a:spcPts val="0"/>
              </a:spcBef>
              <a:spcAft>
                <a:spcPts val="0"/>
              </a:spcAft>
              <a:buNone/>
            </a:pPr>
            <a:r>
              <a:rPr lang="en-GB" sz="1800" b="1" i="0" u="none" strike="noStrike" cap="none">
                <a:solidFill>
                  <a:schemeClr val="dk1"/>
                </a:solidFill>
                <a:effectLst/>
                <a:latin typeface="Arial"/>
                <a:ea typeface="Arial"/>
                <a:cs typeface="Arial"/>
                <a:sym typeface="Arial"/>
              </a:rPr>
              <a:t>C17</a:t>
            </a:r>
            <a:r>
              <a:rPr lang="en-GB" sz="7200">
                <a:effectLst/>
              </a:rPr>
              <a:t> </a:t>
            </a:r>
            <a:r>
              <a:rPr lang="en-GB" sz="1800" b="0" i="0" u="none" strike="noStrike" cap="none">
                <a:solidFill>
                  <a:schemeClr val="dk1"/>
                </a:solidFill>
                <a:effectLst/>
                <a:latin typeface="Arial"/>
                <a:ea typeface="Arial"/>
                <a:cs typeface="Arial"/>
                <a:sym typeface="Arial"/>
              </a:rPr>
              <a:t>More than 8 out of 10 GEs and PCPs prescribe CREON more than other PERTs</a:t>
            </a:r>
            <a:r>
              <a:rPr lang="en-GB" sz="7200">
                <a:effectLst/>
              </a:rPr>
              <a:t> </a:t>
            </a:r>
            <a:endParaRPr lang="en-US" sz="18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ZENPEP Messages (Wave 32)</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Z17</a:t>
            </a:r>
            <a:r>
              <a:rPr lang="en-GB" sz="4000">
                <a:effectLst/>
              </a:rPr>
              <a:t> </a:t>
            </a:r>
            <a:r>
              <a:rPr lang="en-GB" sz="1800" b="0" i="0" u="none" strike="noStrike" cap="none">
                <a:solidFill>
                  <a:schemeClr val="dk1"/>
                </a:solidFill>
                <a:effectLst/>
                <a:latin typeface="Arial"/>
                <a:ea typeface="Arial"/>
                <a:cs typeface="Arial"/>
                <a:sym typeface="Arial"/>
              </a:rPr>
              <a:t>Only ZENPEP offers 40k and 60k lipase-unit capsules, which may help reduce the number of pills your adult patients need to take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Z16</a:t>
            </a:r>
            <a:r>
              <a:rPr lang="en-GB" sz="4000">
                <a:effectLst/>
              </a:rPr>
              <a:t> </a:t>
            </a:r>
            <a:r>
              <a:rPr lang="en-GB" sz="1800" b="0" i="0" u="none" strike="noStrike" cap="none">
                <a:solidFill>
                  <a:schemeClr val="dk1"/>
                </a:solidFill>
                <a:effectLst/>
                <a:latin typeface="Arial"/>
                <a:ea typeface="Arial"/>
                <a:cs typeface="Arial"/>
                <a:sym typeface="Arial"/>
              </a:rPr>
              <a:t>ZENPEP offers a single-capsule starting dose for almost all adult patients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Z11</a:t>
            </a:r>
            <a:r>
              <a:rPr lang="en-GB" sz="4000">
                <a:effectLst/>
              </a:rPr>
              <a:t> </a:t>
            </a:r>
            <a:r>
              <a:rPr lang="en-GB" sz="1800" b="0" i="0" u="none" strike="noStrike" cap="none">
                <a:solidFill>
                  <a:schemeClr val="dk1"/>
                </a:solidFill>
                <a:effectLst/>
                <a:latin typeface="Arial"/>
                <a:ea typeface="Arial"/>
                <a:cs typeface="Arial"/>
                <a:sym typeface="Arial"/>
              </a:rPr>
              <a:t>Eligible patients pay as little as $5 for their first prescription fill and for refills.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Z15</a:t>
            </a:r>
            <a:r>
              <a:rPr lang="en-GB" sz="4000">
                <a:effectLst/>
              </a:rPr>
              <a:t> </a:t>
            </a:r>
            <a:r>
              <a:rPr lang="en-GB" sz="1800" b="0" i="0" u="none" strike="noStrike" cap="none">
                <a:solidFill>
                  <a:schemeClr val="dk1"/>
                </a:solidFill>
                <a:effectLst/>
                <a:latin typeface="Arial"/>
                <a:ea typeface="Arial"/>
                <a:cs typeface="Arial"/>
                <a:sym typeface="Arial"/>
              </a:rPr>
              <a:t>When prescribing PERT to your adult patients with EPI -Start simply with one capsule of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Z7</a:t>
            </a:r>
            <a:r>
              <a:rPr lang="en-GB" sz="4000">
                <a:effectLst/>
              </a:rPr>
              <a:t> </a:t>
            </a:r>
            <a:r>
              <a:rPr lang="en-GB" sz="1800" b="0" i="0" u="none" strike="noStrike" cap="none">
                <a:solidFill>
                  <a:schemeClr val="dk1"/>
                </a:solidFill>
                <a:effectLst/>
                <a:latin typeface="Arial"/>
                <a:ea typeface="Arial"/>
                <a:cs typeface="Arial"/>
                <a:sym typeface="Arial"/>
              </a:rPr>
              <a:t>ZENPEP has an enteric coating that minimizes degradation and targets enzyme release in the small intestine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Z19</a:t>
            </a:r>
            <a:r>
              <a:rPr lang="en-GB" sz="4000">
                <a:effectLst/>
              </a:rPr>
              <a:t> </a:t>
            </a:r>
            <a:r>
              <a:rPr lang="en-GB" sz="1800" b="0" i="0" u="none" strike="noStrike" cap="none">
                <a:solidFill>
                  <a:schemeClr val="dk1"/>
                </a:solidFill>
                <a:effectLst/>
                <a:latin typeface="Arial"/>
                <a:ea typeface="Arial"/>
                <a:cs typeface="Arial"/>
                <a:sym typeface="Arial"/>
              </a:rPr>
              <a:t>Meets the ACG guideline for EPI and CP in a single capsule</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Z21</a:t>
            </a:r>
            <a:r>
              <a:rPr lang="en-GB" sz="4000">
                <a:effectLst/>
              </a:rPr>
              <a:t> </a:t>
            </a:r>
            <a:r>
              <a:rPr lang="en-GB" sz="1800" b="0" i="0" u="none" strike="noStrike" cap="none">
                <a:solidFill>
                  <a:schemeClr val="dk1"/>
                </a:solidFill>
                <a:effectLst/>
                <a:latin typeface="Arial"/>
                <a:ea typeface="Arial"/>
                <a:cs typeface="Arial"/>
                <a:sym typeface="Arial"/>
              </a:rPr>
              <a:t>ZENPEP can help your patients absorb the fat and nutrients they need and treat uncomfortable GI symptoms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Z23</a:t>
            </a:r>
            <a:r>
              <a:rPr lang="en-GB" sz="4000">
                <a:effectLst/>
              </a:rPr>
              <a:t> </a:t>
            </a:r>
            <a:r>
              <a:rPr lang="en-GB" sz="1800" b="0" i="0" u="none" strike="noStrike" cap="none">
                <a:solidFill>
                  <a:schemeClr val="dk1"/>
                </a:solidFill>
                <a:effectLst/>
                <a:latin typeface="Arial"/>
                <a:ea typeface="Arial"/>
                <a:cs typeface="Arial"/>
                <a:sym typeface="Arial"/>
              </a:rPr>
              <a:t>ZENPEP is the most widely covered treatment in its class.</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Z24</a:t>
            </a:r>
            <a:r>
              <a:rPr lang="en-GB" sz="4000">
                <a:effectLst/>
              </a:rPr>
              <a:t> </a:t>
            </a:r>
            <a:r>
              <a:rPr lang="en-GB" sz="1800" b="0" i="0" u="none" strike="noStrike" cap="none">
                <a:solidFill>
                  <a:schemeClr val="dk1"/>
                </a:solidFill>
                <a:effectLst/>
                <a:latin typeface="Arial"/>
                <a:ea typeface="Arial"/>
                <a:cs typeface="Arial"/>
                <a:sym typeface="Arial"/>
              </a:rPr>
              <a:t>ZENPEP is designed to mimic typical exocrine pancreatic function.</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Z18</a:t>
            </a:r>
            <a:r>
              <a:rPr lang="en-GB" sz="4000">
                <a:effectLst/>
              </a:rPr>
              <a:t> </a:t>
            </a:r>
            <a:r>
              <a:rPr lang="en-GB" sz="1800" b="0" i="0" u="none" strike="noStrike" cap="none">
                <a:solidFill>
                  <a:schemeClr val="dk1"/>
                </a:solidFill>
                <a:effectLst/>
                <a:latin typeface="Arial"/>
                <a:ea typeface="Arial"/>
                <a:cs typeface="Arial"/>
                <a:sym typeface="Arial"/>
              </a:rPr>
              <a:t>In a clinical trial, the right dose helped patients absorb nutrients from their food and provided symptom relief</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Z20</a:t>
            </a:r>
            <a:r>
              <a:rPr lang="en-GB" sz="4000">
                <a:effectLst/>
              </a:rPr>
              <a:t> </a:t>
            </a:r>
            <a:r>
              <a:rPr lang="en-GB" sz="1800" b="0" i="0" u="none" strike="noStrike" cap="none">
                <a:solidFill>
                  <a:schemeClr val="dk1"/>
                </a:solidFill>
                <a:effectLst/>
                <a:latin typeface="Arial"/>
                <a:ea typeface="Arial"/>
                <a:cs typeface="Arial"/>
                <a:sym typeface="Arial"/>
              </a:rPr>
              <a:t>91% of patients achieved a CFA of 80% or higher with ZENPEP</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Z22</a:t>
            </a:r>
            <a:r>
              <a:rPr lang="en-GB" sz="4000">
                <a:effectLst/>
              </a:rPr>
              <a:t> </a:t>
            </a:r>
            <a:r>
              <a:rPr lang="en-GB" sz="1800" b="0" i="0" u="none" strike="noStrike" cap="none">
                <a:solidFill>
                  <a:schemeClr val="dk1"/>
                </a:solidFill>
                <a:effectLst/>
                <a:latin typeface="Arial"/>
                <a:ea typeface="Arial"/>
                <a:cs typeface="Arial"/>
                <a:sym typeface="Arial"/>
              </a:rPr>
              <a:t>Through My SampleCloset, practices are able to easily request samples of ZENPEP at any strength</a:t>
            </a:r>
            <a:r>
              <a:rPr lang="en-GB" sz="4000">
                <a:effectLst/>
              </a:rPr>
              <a:t> </a:t>
            </a:r>
          </a:p>
          <a:p>
            <a:pPr marL="0" lvl="0" indent="0" algn="l" rtl="0">
              <a:spcBef>
                <a:spcPts val="0"/>
              </a:spcBef>
              <a:spcAft>
                <a:spcPts val="0"/>
              </a:spcAft>
              <a:buClr>
                <a:srgbClr val="262626"/>
              </a:buClr>
              <a:buSzPts val="1800"/>
              <a:buNone/>
            </a:pPr>
            <a:r>
              <a:rPr lang="en-GB" sz="1800" b="1" i="0" u="none" strike="noStrike" cap="none">
                <a:solidFill>
                  <a:schemeClr val="dk1"/>
                </a:solidFill>
                <a:effectLst/>
                <a:latin typeface="Arial"/>
                <a:ea typeface="Arial"/>
                <a:cs typeface="Arial"/>
                <a:sym typeface="Arial"/>
              </a:rPr>
              <a:t>Z8</a:t>
            </a:r>
            <a:r>
              <a:rPr lang="en-GB" sz="4000">
                <a:effectLst/>
              </a:rPr>
              <a:t> </a:t>
            </a:r>
            <a:r>
              <a:rPr lang="en-GB" sz="1800" b="0" i="0" u="none" strike="noStrike" cap="none">
                <a:solidFill>
                  <a:schemeClr val="dk1"/>
                </a:solidFill>
                <a:effectLst/>
                <a:latin typeface="Arial"/>
                <a:ea typeface="Arial"/>
                <a:cs typeface="Arial"/>
                <a:sym typeface="Arial"/>
              </a:rPr>
              <a:t>ZENPEP helps fuel nutritional health, increasing coefficient of fat absorption (CFA) by 26 percentage points vs placebo</a:t>
            </a:r>
            <a:r>
              <a:rPr lang="en-GB" sz="4000">
                <a:effectLst/>
              </a:rPr>
              <a:t> </a:t>
            </a:r>
            <a:endParaRPr lang="en-US" sz="4000" b="1">
              <a:solidFill>
                <a:srgbClr val="262626"/>
              </a:solidFill>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262626"/>
              </a:buClr>
              <a:buSzPts val="1800"/>
              <a:buFont typeface="Arimo"/>
              <a:buNone/>
              <a:tabLst/>
              <a:defRPr/>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(W5)</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95% of commercial and Medicare-D insured patients have unrestricted access to CREON without prior authorization</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C3</a:t>
            </a:r>
            <a:r>
              <a:rPr lang="en-US" sz="1800" b="0" i="0" u="none" strike="noStrike">
                <a:solidFill>
                  <a:srgbClr val="000000"/>
                </a:solidFill>
                <a:effectLst/>
                <a:latin typeface="Calibri" panose="020F0502020204030204" pitchFamily="34" charset="0"/>
              </a:rPr>
              <a:t> Underlying conditions and surgical procedures that can cause EPI include: Cystic Fibrosis, Chronic Pancreatitis, Pancreatic Cancer, Pancreatectomy, Type 1 diabetes, Gastric reaction/bypass, Acute pancreatitis, Crohn’s disease, Celiac Disease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C4</a:t>
            </a:r>
            <a:r>
              <a:rPr lang="en-US" sz="4000" b="0" i="0" u="none" strike="noStrike">
                <a:solidFill>
                  <a:schemeClr val="dk1"/>
                </a:solidFill>
                <a:effectLst/>
                <a:latin typeface="Arial"/>
              </a:rPr>
              <a:t> </a:t>
            </a:r>
            <a:r>
              <a:rPr lang="en-GB" sz="1800" b="0" i="0" u="none" strike="noStrike">
                <a:solidFill>
                  <a:srgbClr val="000000"/>
                </a:solidFill>
                <a:effectLst/>
                <a:latin typeface="Calibri" panose="020F0502020204030204" pitchFamily="34" charset="0"/>
              </a:rPr>
              <a:t>EPI is largely a clinical diagnosis. Consider EPI in your differential diagnosis if you’re seeing symptoms such as frequent gas and/or bloating, unexplained abdominal pain, and frequent </a:t>
            </a:r>
            <a:r>
              <a:rPr lang="en-GB" sz="1800" b="0" i="0" u="none" strike="noStrike" err="1">
                <a:solidFill>
                  <a:srgbClr val="000000"/>
                </a:solidFill>
                <a:effectLst/>
                <a:latin typeface="Calibri" panose="020F0502020204030204" pitchFamily="34" charset="0"/>
              </a:rPr>
              <a:t>diarrhea</a:t>
            </a:r>
            <a:endParaRPr lang="en-US" sz="4000" b="0">
              <a:effectLst/>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C6</a:t>
            </a:r>
            <a:r>
              <a:rPr lang="en-US"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C7</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36K capsules can be an appropriate strength for many adult EPI patients weighing at least 110 lbs. CREON 36K may help reduce pill burden for patients.</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C8</a:t>
            </a:r>
            <a:r>
              <a:rPr lang="en-US" sz="1800" b="0" i="0" u="none" strike="noStrike">
                <a:solidFill>
                  <a:srgbClr val="000000"/>
                </a:solidFill>
                <a:effectLst/>
                <a:latin typeface="Calibri" panose="020F0502020204030204" pitchFamily="34" charset="0"/>
              </a:rPr>
              <a:t> CREON enteric coated capsules allows the spheres to travel beyond the low pH of the stomach to release in the intestine</a:t>
            </a: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C9</a:t>
            </a:r>
            <a:r>
              <a:rPr lang="en-US"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C10</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is the #1 PERT prescribed by Gastroenterologists, Primary Care Physicians, and Nurse Practitioners and Physician Assistants.</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C11</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CREON makes it easy and convenient for patients with EPI to get financial, multivitamin, and educational support. With CREON on Course, eligible patients may pay as little as $5 a month</a:t>
            </a:r>
            <a:r>
              <a:rPr lang="en-US" sz="1800" b="0" i="0" u="none" strike="noStrike">
                <a:solidFill>
                  <a:srgbClr val="000000"/>
                </a:solidFill>
                <a:effectLst/>
                <a:latin typeface="Calibri" panose="020F0502020204030204" pitchFamily="34" charset="0"/>
              </a:rPr>
              <a:t>.</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C14</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94% of commercial and Medicare-D insured patients have preferred access to CREON with the lowest branded copay</a:t>
            </a:r>
            <a:endParaRPr lang="en-US" sz="4000" b="0" i="0" u="none" strike="noStrike">
              <a:solidFill>
                <a:schemeClr val="dk1"/>
              </a:solidFill>
              <a:effectLst/>
              <a:latin typeface="Arial"/>
            </a:endParaRPr>
          </a:p>
          <a:p>
            <a:pPr marL="6223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C15</a:t>
            </a:r>
            <a:r>
              <a:rPr lang="en-US" sz="1800" b="0" i="0" u="none" strike="noStrike">
                <a:solidFill>
                  <a:srgbClr val="000000"/>
                </a:solidFill>
                <a:effectLst/>
                <a:latin typeface="Calibri" panose="020F0502020204030204" pitchFamily="34" charset="0"/>
              </a:rPr>
              <a:t> </a:t>
            </a:r>
            <a:r>
              <a:rPr lang="en-GB" sz="1800" b="0" i="0" u="none" strike="noStrike">
                <a:solidFill>
                  <a:srgbClr val="000000"/>
                </a:solidFill>
                <a:effectLst/>
                <a:latin typeface="Calibri" panose="020F0502020204030204" pitchFamily="34" charset="0"/>
              </a:rPr>
              <a:t>There are no head-to-head superiority trials between CREON and any other PERT. CREON is not interchangeable with any </a:t>
            </a:r>
            <a:r>
              <a:rPr lang="en-GB" sz="1800" b="0" i="0" u="none" strike="noStrike" err="1">
                <a:solidFill>
                  <a:srgbClr val="000000"/>
                </a:solidFill>
                <a:effectLst/>
                <a:latin typeface="Calibri" panose="020F0502020204030204" pitchFamily="34" charset="0"/>
              </a:rPr>
              <a:t>pancrelipase</a:t>
            </a:r>
            <a:r>
              <a:rPr lang="en-GB" sz="1800" b="0" i="0" u="none" strike="noStrike">
                <a:solidFill>
                  <a:srgbClr val="000000"/>
                </a:solidFill>
                <a:effectLst/>
                <a:latin typeface="Calibri" panose="020F0502020204030204" pitchFamily="34" charset="0"/>
              </a:rPr>
              <a:t> product.</a:t>
            </a:r>
            <a:endParaRPr lang="en-US" sz="4000" b="0">
              <a:effectLst/>
            </a:endParaRPr>
          </a:p>
          <a:p>
            <a:pPr marL="622300" lvl="1" indent="0" algn="l" rtl="0" fontAlgn="t">
              <a:spcBef>
                <a:spcPts val="0"/>
              </a:spcBef>
              <a:spcAft>
                <a:spcPts val="0"/>
              </a:spcAft>
              <a:buNone/>
            </a:pPr>
            <a:r>
              <a:rPr lang="en-US" sz="4000" b="1" i="0" u="none" strike="noStrike">
                <a:solidFill>
                  <a:srgbClr val="000000"/>
                </a:solidFill>
                <a:effectLst/>
                <a:latin typeface="Calibri" panose="020F0502020204030204" pitchFamily="34" charset="0"/>
              </a:rPr>
              <a:t>C16</a:t>
            </a:r>
            <a:r>
              <a:rPr lang="en-US" sz="4000" b="0" i="0" u="none" strike="noStrike">
                <a:solidFill>
                  <a:srgbClr val="000000"/>
                </a:solidFill>
                <a:effectLst/>
                <a:latin typeface="Calibri" panose="020F0502020204030204" pitchFamily="34" charset="0"/>
              </a:rPr>
              <a:t> </a:t>
            </a:r>
            <a:r>
              <a:rPr lang="en-GB" sz="4000" b="0" i="0" u="none" strike="noStrike">
                <a:solidFill>
                  <a:srgbClr val="000000"/>
                </a:solidFill>
                <a:effectLst/>
                <a:latin typeface="Calibri" panose="020F0502020204030204" pitchFamily="34" charset="0"/>
              </a:rPr>
              <a:t>CREON is the only FDA-approved PERT for patients with EPI due to cystic fibrosis, chronic pancreatitis, pancreatectomy, and other conditions. Based on the FDA-approved label, it has been studied in more </a:t>
            </a:r>
            <a:r>
              <a:rPr lang="en-GB" sz="4000" b="0" i="0" u="none" strike="noStrike" err="1">
                <a:solidFill>
                  <a:srgbClr val="000000"/>
                </a:solidFill>
                <a:effectLst/>
                <a:latin typeface="Calibri" panose="020F0502020204030204" pitchFamily="34" charset="0"/>
              </a:rPr>
              <a:t>etiologies</a:t>
            </a:r>
            <a:r>
              <a:rPr lang="en-GB" sz="4000" b="0" i="0" u="none" strike="noStrike">
                <a:solidFill>
                  <a:srgbClr val="000000"/>
                </a:solidFill>
                <a:effectLst/>
                <a:latin typeface="Calibri" panose="020F0502020204030204" pitchFamily="34" charset="0"/>
              </a:rPr>
              <a:t> than any other PERT.</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CREON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With CREON on Course, eligible patients may pay as little as $5 for a 90- or 30-day prescription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CR16</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CR18</a:t>
            </a:r>
            <a:r>
              <a:rPr lang="en-GB" sz="1800" b="0" i="0" u="none" strike="noStrike">
                <a:solidFill>
                  <a:srgbClr val="000000"/>
                </a:solidFill>
                <a:effectLst/>
                <a:latin typeface="Calibri" panose="020F0502020204030204" pitchFamily="34" charset="0"/>
              </a:rPr>
              <a:t> CREON is the only FDA-approved, enteric-coated PERT specifically studied in adult patients with EPI due to CP or PY</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6223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1800" b="1">
                <a:solidFill>
                  <a:srgbClr val="262626"/>
                </a:solidFill>
                <a:latin typeface="Calibri"/>
                <a:ea typeface="Calibri"/>
                <a:cs typeface="Calibri"/>
                <a:sym typeface="Calibri"/>
              </a:rPr>
              <a:t>CREON Message (Sep’24 – Oct’24)</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CR11</a:t>
            </a:r>
            <a:r>
              <a:rPr lang="en-GB" sz="1800" b="0" i="0" u="none" strike="noStrike">
                <a:solidFill>
                  <a:srgbClr val="000000"/>
                </a:solidFill>
                <a:effectLst/>
                <a:latin typeface="Calibri" panose="020F0502020204030204" pitchFamily="34" charset="0"/>
              </a:rPr>
              <a:t> </a:t>
            </a:r>
            <a:r>
              <a:rPr lang="en-US" sz="4000" b="0" i="0">
                <a:solidFill>
                  <a:srgbClr val="242424"/>
                </a:solidFill>
                <a:effectLst/>
                <a:latin typeface="Aptos Narrow" panose="020B0004020202020204" pitchFamily="34" charset="0"/>
              </a:rPr>
              <a:t>Eligible patients may pay as little as $5 a month per 30- or 90-day prescription with the CREON Complete Savings Card</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a:t>
            </a:r>
            <a:r>
              <a:rPr lang="en-GB" sz="1800" b="0" i="0" u="none" strike="noStrike">
                <a:solidFill>
                  <a:srgbClr val="000000"/>
                </a:solidFill>
                <a:effectLst/>
                <a:latin typeface="Calibri" panose="020F0502020204030204" pitchFamily="34" charset="0"/>
              </a:rPr>
              <a:t>	94% of commercial and Medicare-D insured patients have coverage for CREON</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CR3</a:t>
            </a:r>
            <a:r>
              <a:rPr lang="en-GB" sz="1800" b="0" i="0" u="none" strike="noStrike">
                <a:solidFill>
                  <a:srgbClr val="000000"/>
                </a:solidFill>
                <a:effectLst/>
                <a:latin typeface="Calibri" panose="020F0502020204030204" pitchFamily="34" charset="0"/>
              </a:rPr>
              <a:t>	Exocrine Pancreatic Insufficiency (EPI) is under-recognized and can have an impact on nutritional health and quality of life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CR4</a:t>
            </a:r>
            <a:r>
              <a:rPr lang="en-GB" sz="1800" b="0" i="0" u="none" strike="noStrike">
                <a:solidFill>
                  <a:srgbClr val="000000"/>
                </a:solidFill>
                <a:effectLst/>
                <a:latin typeface="Calibri" panose="020F0502020204030204" pitchFamily="34" charset="0"/>
              </a:rPr>
              <a:t>	EPI is largely a clinical diagnosis based on signs and symptoms and should be considered as part of the differential diagnosis of GI symptoms.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CR6</a:t>
            </a:r>
            <a:r>
              <a:rPr lang="en-GB" sz="1800" b="0" i="0" u="none" strike="noStrike">
                <a:solidFill>
                  <a:srgbClr val="000000"/>
                </a:solidFill>
                <a:effectLst/>
                <a:latin typeface="Calibri" panose="020F0502020204030204" pitchFamily="34" charset="0"/>
              </a:rPr>
              <a:t>	CREON should be taken with meals and snacks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CR7</a:t>
            </a:r>
            <a:r>
              <a:rPr lang="en-GB" sz="1800" b="0" i="0" u="none" strike="noStrike">
                <a:solidFill>
                  <a:srgbClr val="000000"/>
                </a:solidFill>
                <a:effectLst/>
                <a:latin typeface="Calibri" panose="020F0502020204030204" pitchFamily="34" charset="0"/>
              </a:rPr>
              <a:t>	CREON 36K capsules can be an appropriate dose for many adults.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CR9</a:t>
            </a:r>
            <a:r>
              <a:rPr lang="en-GB" sz="1800" b="0" i="0" u="none" strike="noStrike">
                <a:solidFill>
                  <a:srgbClr val="000000"/>
                </a:solidFill>
                <a:effectLst/>
                <a:latin typeface="Calibri" panose="020F0502020204030204" pitchFamily="34" charset="0"/>
              </a:rPr>
              <a:t>	CREON significantly improves fat and protein absorption compared with placebo in randomized clinical trials of patients with EPI due to CF, CP, or pancreatectomy. </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CR10</a:t>
            </a:r>
            <a:r>
              <a:rPr lang="en-GB" sz="1800" b="0" i="0" u="none" strike="noStrike">
                <a:solidFill>
                  <a:srgbClr val="000000"/>
                </a:solidFill>
                <a:effectLst/>
                <a:latin typeface="Calibri" panose="020F0502020204030204" pitchFamily="34" charset="0"/>
              </a:rPr>
              <a:t> CREON is the #1 PERT prescribed by Gastroenterologists, Primary Care Physicians, and Nurse Practitioners and Physician Assistants.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CR14</a:t>
            </a:r>
            <a:r>
              <a:rPr lang="en-GB" sz="1800" b="0" i="0" u="none" strike="noStrike">
                <a:solidFill>
                  <a:srgbClr val="000000"/>
                </a:solidFill>
                <a:effectLst/>
                <a:latin typeface="Calibri" panose="020F0502020204030204" pitchFamily="34" charset="0"/>
              </a:rPr>
              <a:t> 90% of commercial and Medicare-D insured patients have preferred access to CREON with the lowest branded co-pay</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CR15</a:t>
            </a:r>
            <a:r>
              <a:rPr lang="en-GB" sz="1800" b="0" i="0" u="none" strike="noStrike">
                <a:solidFill>
                  <a:srgbClr val="000000"/>
                </a:solidFill>
                <a:effectLst/>
                <a:latin typeface="Calibri" panose="020F0502020204030204" pitchFamily="34" charset="0"/>
              </a:rPr>
              <a:t> There are no head-to-head superiority trials between CREON and any other PERT.</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CR19</a:t>
            </a:r>
            <a:r>
              <a:rPr lang="en-GB" sz="1800" b="0" i="0" u="none" strike="noStrike">
                <a:solidFill>
                  <a:srgbClr val="000000"/>
                </a:solidFill>
                <a:effectLst/>
                <a:latin typeface="Calibri" panose="020F0502020204030204" pitchFamily="34" charset="0"/>
              </a:rPr>
              <a:t> Based on the FDA-approved label, CREON is the only PERT specifically studied for patients with EPI due to chronic pancreatitis and pancreatectomy, in addition to cystic fibrosis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CR17</a:t>
            </a:r>
            <a:r>
              <a:rPr lang="en-GB" sz="1800" b="0" i="0" u="none" strike="noStrike">
                <a:solidFill>
                  <a:srgbClr val="000000"/>
                </a:solidFill>
                <a:effectLst/>
                <a:latin typeface="Calibri" panose="020F0502020204030204" pitchFamily="34" charset="0"/>
              </a:rPr>
              <a:t> More than 8 out of 10 GEs and PCPs prescribe CREON more than other PERTs</a:t>
            </a:r>
          </a:p>
          <a:p>
            <a:pPr marL="622300" lvl="1" indent="0" algn="l" rtl="0" fontAlgn="t">
              <a:spcBef>
                <a:spcPts val="0"/>
              </a:spcBef>
              <a:spcAft>
                <a:spcPts val="0"/>
              </a:spcAft>
              <a:buNone/>
            </a:pPr>
            <a:endParaRPr lang="en-GB" sz="1800" b="0" i="0" u="none" strike="noStrike">
              <a:solidFill>
                <a:srgbClr val="000000"/>
              </a:solidFill>
              <a:effectLst/>
              <a:latin typeface="Calibri" panose="020F0502020204030204" pitchFamily="34" charset="0"/>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(W5)</a:t>
            </a:r>
          </a:p>
          <a:p>
            <a:pPr marL="457200" lvl="1" indent="0" algn="l" rtl="0" fontAlgn="t">
              <a:spcBef>
                <a:spcPts val="0"/>
              </a:spcBef>
              <a:spcAft>
                <a:spcPts val="0"/>
              </a:spcAft>
              <a:buNone/>
            </a:pPr>
            <a:br>
              <a:rPr lang="en-US" sz="4000" b="0">
                <a:effectLst/>
              </a:rPr>
            </a:br>
            <a:r>
              <a:rPr lang="en-US" sz="1800" b="1" i="0" u="none" strike="noStrike">
                <a:solidFill>
                  <a:srgbClr val="000000"/>
                </a:solidFill>
                <a:effectLst/>
                <a:latin typeface="Calibri" panose="020F0502020204030204" pitchFamily="34" charset="0"/>
              </a:rPr>
              <a:t>Z1</a:t>
            </a:r>
            <a:r>
              <a:rPr lang="en-US" sz="1800" b="0" i="0" u="none" strike="noStrike">
                <a:solidFill>
                  <a:srgbClr val="000000"/>
                </a:solidFill>
                <a:effectLst/>
                <a:latin typeface="Calibri" panose="020F0502020204030204" pitchFamily="34" charset="0"/>
              </a:rPr>
              <a:t> ZENPEP combined insurance coverage through commercial and Medicare Part D is 96% for all dosage strengths, with unrestricted access. Coverage is the same for all dosage strengths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Z2</a:t>
            </a:r>
            <a:r>
              <a:rPr lang="en-US" sz="1800" b="0" i="0" u="none" strike="noStrike">
                <a:solidFill>
                  <a:srgbClr val="000000"/>
                </a:solidFill>
                <a:effectLst/>
                <a:latin typeface="Calibri" panose="020F0502020204030204" pitchFamily="34" charset="0"/>
              </a:rPr>
              <a:t> EPI is characterized by deficiencies in the amount or activity of exocrine pancreatic enzymes. This can result in the inability to digest food properly, or maldigestion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Z3</a:t>
            </a:r>
            <a:r>
              <a:rPr lang="en-US" sz="1800" b="0" i="0" u="none" strike="noStrike">
                <a:solidFill>
                  <a:srgbClr val="000000"/>
                </a:solidFill>
                <a:effectLst/>
                <a:latin typeface="Calibri" panose="020F0502020204030204" pitchFamily="34" charset="0"/>
              </a:rPr>
              <a:t> In addition to the treatment of causative factors, there are 2 key goals for managing EPI are improving digestion and absorption of nutrients and relieving GI signs and symptoms of EPI</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Z4</a:t>
            </a:r>
            <a:r>
              <a:rPr lang="en-US" sz="1800" b="0" i="0" u="none" strike="noStrike">
                <a:solidFill>
                  <a:srgbClr val="000000"/>
                </a:solidFill>
                <a:effectLst/>
                <a:latin typeface="Calibri" panose="020F0502020204030204" pitchFamily="34" charset="0"/>
              </a:rPr>
              <a:t> Managing EPI includes lifestyle and dietary modifications, vitamin and nutrient supplementation, and pancreatic enzyme therapy</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Z5</a:t>
            </a:r>
            <a:r>
              <a:rPr lang="en-US" sz="1800" b="0" i="0" u="none" strike="noStrike">
                <a:solidFill>
                  <a:srgbClr val="000000"/>
                </a:solidFill>
                <a:effectLst/>
                <a:latin typeface="Calibri" panose="020F0502020204030204" pitchFamily="34" charset="0"/>
              </a:rPr>
              <a:t> ZENPEP has the widest range of dosing options, including the highest strength available—40,000 lipase units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Z6</a:t>
            </a:r>
            <a:r>
              <a:rPr lang="en-US" sz="1800" b="0" i="0" u="none" strike="noStrike">
                <a:solidFill>
                  <a:srgbClr val="000000"/>
                </a:solidFill>
                <a:effectLst/>
                <a:latin typeface="Calibri" panose="020F0502020204030204" pitchFamily="34" charset="0"/>
              </a:rPr>
              <a:t> ZENPEP offers dosing flexibility that minimizes the number of capsules needed. The ZENPEP dose can be calculated in 3 easy steps</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Z7</a:t>
            </a:r>
            <a:r>
              <a:rPr lang="en-US"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Z8</a:t>
            </a:r>
            <a:r>
              <a:rPr lang="en-US"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Z9</a:t>
            </a:r>
            <a:r>
              <a:rPr lang="en-US" sz="1800" b="0" i="0" u="none" strike="noStrike">
                <a:solidFill>
                  <a:srgbClr val="000000"/>
                </a:solidFill>
                <a:effectLst/>
                <a:latin typeface="Calibri" panose="020F0502020204030204" pitchFamily="34" charset="0"/>
              </a:rPr>
              <a:t> In a non-inferiority study, ZENPEP was shown to have comparable efficacy to CREON</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Z11</a:t>
            </a:r>
            <a:r>
              <a:rPr lang="en-US" sz="1800" b="0" i="0" u="none" strike="noStrike">
                <a:solidFill>
                  <a:srgbClr val="000000"/>
                </a:solidFill>
                <a:effectLst/>
                <a:latin typeface="Calibri" panose="020F0502020204030204" pitchFamily="34" charset="0"/>
              </a:rPr>
              <a:t> Eligible patients may be able to start saving today with the ZENPEP Patient Savings Program, paying as little as $0 out of pocket</a:t>
            </a:r>
            <a:endParaRPr lang="en-US" sz="4000" b="0">
              <a:effectLst/>
            </a:endParaRPr>
          </a:p>
          <a:p>
            <a:pPr marL="457200" lvl="1" indent="0" algn="l" rtl="0" fontAlgn="t">
              <a:spcBef>
                <a:spcPts val="0"/>
              </a:spcBef>
              <a:spcAft>
                <a:spcPts val="0"/>
              </a:spcAft>
              <a:buNone/>
            </a:pPr>
            <a:r>
              <a:rPr lang="en-US" sz="1800" b="1" i="0" u="none" strike="noStrike">
                <a:solidFill>
                  <a:srgbClr val="000000"/>
                </a:solidFill>
                <a:effectLst/>
                <a:latin typeface="Calibri" panose="020F0502020204030204" pitchFamily="34" charset="0"/>
              </a:rPr>
              <a:t>Z13</a:t>
            </a:r>
            <a:r>
              <a:rPr lang="en-US" sz="1800" b="0" i="0" u="none" strike="noStrike">
                <a:solidFill>
                  <a:srgbClr val="000000"/>
                </a:solidFill>
                <a:effectLst/>
                <a:latin typeface="Calibri" panose="020F0502020204030204" pitchFamily="34" charset="0"/>
              </a:rPr>
              <a:t> ZENPEP helps improve digestion and fuel your patients’ nutritional health</a:t>
            </a:r>
          </a:p>
          <a:p>
            <a:pPr marL="457200" marR="0" lvl="1" indent="0" algn="l" defTabSz="914400" rtl="0" eaLnBrk="1" fontAlgn="t" latinLnBrk="0" hangingPunct="1">
              <a:lnSpc>
                <a:spcPct val="85000"/>
              </a:lnSpc>
              <a:spcBef>
                <a:spcPts val="0"/>
              </a:spcBef>
              <a:spcAft>
                <a:spcPts val="0"/>
              </a:spcAft>
              <a:buClr>
                <a:schemeClr val="dk1"/>
              </a:buClr>
              <a:buSzPts val="1000"/>
              <a:buFont typeface="Arial"/>
              <a:buNone/>
              <a:tabLst/>
              <a:defRPr/>
            </a:pPr>
            <a:r>
              <a:rPr lang="en-US" sz="4000" b="1" i="0" u="none" strike="noStrike">
                <a:solidFill>
                  <a:srgbClr val="000000"/>
                </a:solidFill>
                <a:effectLst/>
                <a:latin typeface="Calibri" panose="020F0502020204030204" pitchFamily="34" charset="0"/>
              </a:rPr>
              <a:t>Z14</a:t>
            </a:r>
            <a:r>
              <a:rPr lang="en-US" sz="4000" b="0" i="0" u="none" strike="noStrike">
                <a:solidFill>
                  <a:srgbClr val="000000"/>
                </a:solidFill>
                <a:effectLst/>
                <a:latin typeface="Calibri" panose="020F0502020204030204" pitchFamily="34" charset="0"/>
              </a:rPr>
              <a:t> </a:t>
            </a:r>
            <a:r>
              <a:rPr lang="en-GB" sz="7200" b="0" i="0">
                <a:solidFill>
                  <a:srgbClr val="333333"/>
                </a:solidFill>
                <a:effectLst/>
                <a:latin typeface="Roboto" panose="02000000000000000000" pitchFamily="2" charset="0"/>
              </a:rPr>
              <a:t>ZENPEP has excellent coverage, on par with or better than others in the PERT class</a:t>
            </a:r>
            <a:endParaRPr lang="en-US" sz="4000" b="0">
              <a:effectLst/>
            </a:endParaRPr>
          </a:p>
          <a:p>
            <a:pPr marL="0" lvl="0" indent="0" algn="l" rtl="0">
              <a:spcBef>
                <a:spcPts val="0"/>
              </a:spcBef>
              <a:spcAft>
                <a:spcPts val="0"/>
              </a:spcAft>
              <a:buClr>
                <a:srgbClr val="262626"/>
              </a:buClr>
              <a:buSzPts val="1800"/>
              <a:buNone/>
            </a:pPr>
            <a:endParaRPr lang="en-US" sz="1800" b="1">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b="1">
                <a:solidFill>
                  <a:srgbClr val="262626"/>
                </a:solidFill>
                <a:latin typeface="Calibri"/>
                <a:ea typeface="Calibri"/>
                <a:cs typeface="Calibri"/>
                <a:sym typeface="Calibri"/>
              </a:rPr>
              <a:t>ZENPEP Messages (Mar’24 – Apr’24)</a:t>
            </a:r>
          </a:p>
          <a:p>
            <a:pPr marL="165100" indent="0" algn="l" rtl="0" fontAlgn="t">
              <a:spcBef>
                <a:spcPts val="0"/>
              </a:spcBef>
              <a:spcAft>
                <a:spcPts val="0"/>
              </a:spcAft>
              <a:buNone/>
            </a:pPr>
            <a:endParaRPr lang="en-US" sz="4000" b="0" i="0" u="none" strike="noStrike">
              <a:solidFill>
                <a:srgbClr val="000000"/>
              </a:solidFill>
              <a:effectLst/>
              <a:latin typeface="Calibri" panose="020F0502020204030204" pitchFamily="34" charset="0"/>
            </a:endParaRP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ZP15</a:t>
            </a:r>
            <a:r>
              <a:rPr lang="en-GB" sz="1800" b="0" i="0" u="none" strike="noStrike">
                <a:solidFill>
                  <a:srgbClr val="000000"/>
                </a:solidFill>
                <a:effectLst/>
                <a:latin typeface="Calibri" panose="020F0502020204030204" pitchFamily="34" charset="0"/>
              </a:rPr>
              <a:t> When prescribing PERT to your adult patients with EPI -Start simply with one capsule of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ZP16</a:t>
            </a:r>
            <a:r>
              <a:rPr lang="en-GB" sz="1800" b="0" i="0" u="none" strike="noStrike">
                <a:solidFill>
                  <a:srgbClr val="000000"/>
                </a:solidFill>
                <a:effectLst/>
                <a:latin typeface="Calibri" panose="020F0502020204030204" pitchFamily="34" charset="0"/>
              </a:rPr>
              <a:t> ZENPEP offers a single-capsule starting dose for almost all adult patients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ZP17</a:t>
            </a:r>
            <a:r>
              <a:rPr lang="en-GB" sz="1800" b="0" i="0" u="none" strike="noStrike">
                <a:solidFill>
                  <a:srgbClr val="000000"/>
                </a:solidFill>
                <a:effectLst/>
                <a:latin typeface="Calibri" panose="020F0502020204030204" pitchFamily="34" charset="0"/>
              </a:rPr>
              <a:t> Only ZENPEP offers 40K and 60K lipase-unit capsules, which may help reduce the number of pills your adult patients need to take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ZP18</a:t>
            </a:r>
            <a:r>
              <a:rPr lang="en-GB" sz="1800" b="0" i="0" u="none" strike="noStrike">
                <a:solidFill>
                  <a:srgbClr val="000000"/>
                </a:solidFill>
                <a:effectLst/>
                <a:latin typeface="Calibri" panose="020F0502020204030204" pitchFamily="34" charset="0"/>
              </a:rPr>
              <a:t> In a clinical trial, the right dose helped patients absorb nutrients from their food and provided symptom relief</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ZP19</a:t>
            </a:r>
            <a:r>
              <a:rPr lang="en-GB" sz="1800" b="0" i="0" u="none" strike="noStrike">
                <a:solidFill>
                  <a:srgbClr val="000000"/>
                </a:solidFill>
                <a:effectLst/>
                <a:latin typeface="Calibri" panose="020F0502020204030204" pitchFamily="34" charset="0"/>
              </a:rPr>
              <a:t> Meets the ACG guideline for EPI and CP in a single capsule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Z7</a:t>
            </a:r>
            <a:r>
              <a:rPr lang="en-GB" sz="1800" b="0" i="0" u="none" strike="noStrike">
                <a:solidFill>
                  <a:srgbClr val="000000"/>
                </a:solidFill>
                <a:effectLst/>
                <a:latin typeface="Calibri" panose="020F0502020204030204" pitchFamily="34" charset="0"/>
              </a:rPr>
              <a:t>	ZENPEP has an enteric coating that minimizes degradation and targets enzyme release in the small intestine</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ZP20</a:t>
            </a:r>
            <a:r>
              <a:rPr lang="en-GB" sz="1800" b="0" i="0" u="none" strike="noStrike">
                <a:solidFill>
                  <a:srgbClr val="000000"/>
                </a:solidFill>
                <a:effectLst/>
                <a:latin typeface="Calibri" panose="020F0502020204030204" pitchFamily="34" charset="0"/>
              </a:rPr>
              <a:t> 91% of patients achieved a CFA of 80% or higher with ZENPEP</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ZP21</a:t>
            </a:r>
            <a:r>
              <a:rPr lang="en-GB" sz="1800" b="0" i="0" u="none" strike="noStrike">
                <a:solidFill>
                  <a:srgbClr val="000000"/>
                </a:solidFill>
                <a:effectLst/>
                <a:latin typeface="Calibri" panose="020F0502020204030204" pitchFamily="34" charset="0"/>
              </a:rPr>
              <a:t> ZENPEP can help your patients absorb the fat and nutrients they need and treat uncomfortable GI symptoms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ZP8</a:t>
            </a:r>
            <a:r>
              <a:rPr lang="en-GB" sz="1800" b="0" i="0" u="none" strike="noStrike">
                <a:solidFill>
                  <a:srgbClr val="000000"/>
                </a:solidFill>
                <a:effectLst/>
                <a:latin typeface="Calibri" panose="020F0502020204030204" pitchFamily="34" charset="0"/>
              </a:rPr>
              <a:t>	ZENPEP helps fuel nutritional health, increasing coefficient of fat absorption (CFA) by 26 percentage points vs placebo</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ZP22</a:t>
            </a:r>
            <a:r>
              <a:rPr lang="en-GB" sz="1800" b="0" i="0" u="none" strike="noStrike">
                <a:solidFill>
                  <a:srgbClr val="000000"/>
                </a:solidFill>
                <a:effectLst/>
                <a:latin typeface="Calibri" panose="020F0502020204030204" pitchFamily="34" charset="0"/>
              </a:rPr>
              <a:t> Through My SampleCloset, practices are able to easily request samples of ZENPEP at any strength</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ZP11</a:t>
            </a:r>
            <a:r>
              <a:rPr lang="en-GB" sz="1800" b="0" i="0" u="none" strike="noStrike">
                <a:solidFill>
                  <a:srgbClr val="000000"/>
                </a:solidFill>
                <a:effectLst/>
                <a:latin typeface="Calibri" panose="020F0502020204030204" pitchFamily="34" charset="0"/>
              </a:rPr>
              <a:t> Eligible patients pay as little as $0 for their first prescription fill and as little as $30 for refills†</a:t>
            </a:r>
          </a:p>
          <a:p>
            <a:pPr marL="622300" lvl="1" indent="0" algn="l" rtl="0" fontAlgn="t">
              <a:spcBef>
                <a:spcPts val="0"/>
              </a:spcBef>
              <a:spcAft>
                <a:spcPts val="0"/>
              </a:spcAft>
              <a:buNone/>
            </a:pPr>
            <a:r>
              <a:rPr lang="en-GB" sz="1800" b="1" i="0" u="none" strike="noStrike">
                <a:solidFill>
                  <a:srgbClr val="000000"/>
                </a:solidFill>
                <a:effectLst/>
                <a:latin typeface="Calibri" panose="020F0502020204030204" pitchFamily="34" charset="0"/>
              </a:rPr>
              <a:t>ZP23</a:t>
            </a:r>
            <a:r>
              <a:rPr lang="en-GB" sz="1800" b="0" i="0" u="none" strike="noStrike">
                <a:solidFill>
                  <a:srgbClr val="000000"/>
                </a:solidFill>
                <a:effectLst/>
                <a:latin typeface="Calibri" panose="020F0502020204030204" pitchFamily="34" charset="0"/>
              </a:rPr>
              <a:t> Almost all patients are covered with either commercial insurance (89%) or Medicare Part D (98%)</a:t>
            </a: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endParaRPr lang="en-US" sz="1800">
              <a:solidFill>
                <a:srgbClr val="262626"/>
              </a:solidFill>
              <a:latin typeface="Calibri"/>
              <a:ea typeface="Calibri"/>
              <a:cs typeface="Calibri"/>
              <a:sym typeface="Calibri"/>
            </a:endParaRPr>
          </a:p>
          <a:p>
            <a:pPr marL="0" lvl="0" indent="0" algn="l" rtl="0">
              <a:spcBef>
                <a:spcPts val="0"/>
              </a:spcBef>
              <a:spcAft>
                <a:spcPts val="0"/>
              </a:spcAft>
              <a:buClr>
                <a:srgbClr val="262626"/>
              </a:buClr>
              <a:buSzPts val="1800"/>
              <a:buNone/>
            </a:pPr>
            <a:r>
              <a:rPr lang="en-US" sz="1800">
                <a:solidFill>
                  <a:srgbClr val="262626"/>
                </a:solidFill>
                <a:latin typeface="Calibri"/>
                <a:ea typeface="Calibri"/>
                <a:cs typeface="Calibri"/>
                <a:sym typeface="Calibri"/>
              </a:rPr>
              <a:t>Q2.20A Which of the following messages do you recall hearing from the [</a:t>
            </a:r>
            <a:r>
              <a:rPr lang="en-US" sz="1800">
                <a:solidFill>
                  <a:srgbClr val="262626"/>
                </a:solidFill>
                <a:highlight>
                  <a:srgbClr val="D3D3D3"/>
                </a:highlight>
                <a:latin typeface="Calibri"/>
                <a:ea typeface="Calibri"/>
                <a:cs typeface="Calibri"/>
                <a:sym typeface="Calibri"/>
              </a:rPr>
              <a:t>PIPE IN PRIORITY CHANNEL</a:t>
            </a:r>
            <a:r>
              <a:rPr lang="en-US" sz="1800">
                <a:solidFill>
                  <a:srgbClr val="262626"/>
                </a:solidFill>
                <a:latin typeface="Calibri"/>
                <a:ea typeface="Calibri"/>
                <a:cs typeface="Calibri"/>
                <a:sym typeface="Calibri"/>
              </a:rPr>
              <a:t>] </a:t>
            </a:r>
            <a:r>
              <a:rPr lang="en-US" sz="1800">
                <a:latin typeface="Calibri"/>
                <a:ea typeface="Calibri"/>
                <a:cs typeface="Calibri"/>
                <a:sym typeface="Calibri"/>
              </a:rPr>
              <a:t>regarding </a:t>
            </a:r>
            <a:r>
              <a:rPr lang="en-US" sz="1800">
                <a:solidFill>
                  <a:srgbClr val="262626"/>
                </a:solidFill>
                <a:latin typeface="Calibri"/>
                <a:ea typeface="Calibri"/>
                <a:cs typeface="Calibri"/>
                <a:sym typeface="Calibri"/>
              </a:rPr>
              <a:t>[</a:t>
            </a:r>
            <a:r>
              <a:rPr lang="en-US" sz="1800">
                <a:solidFill>
                  <a:srgbClr val="262626"/>
                </a:solidFill>
                <a:highlight>
                  <a:srgbClr val="D3D3D3"/>
                </a:highlight>
                <a:latin typeface="Calibri"/>
                <a:ea typeface="Calibri"/>
                <a:cs typeface="Calibri"/>
                <a:sym typeface="Calibri"/>
              </a:rPr>
              <a:t>EPI COMMUNICATION OR PRODUCT</a:t>
            </a:r>
            <a:r>
              <a:rPr lang="en-US" sz="1800">
                <a:solidFill>
                  <a:srgbClr val="262626"/>
                </a:solidFill>
                <a:latin typeface="Calibri"/>
                <a:ea typeface="Calibri"/>
                <a:cs typeface="Calibri"/>
                <a:sym typeface="Calibri"/>
              </a:rPr>
              <a:t>]?</a:t>
            </a:r>
            <a:endParaRPr lang="en-US"/>
          </a:p>
          <a:p>
            <a:pPr marL="0" lvl="0" indent="0" algn="l" rtl="0">
              <a:spcBef>
                <a:spcPts val="1800"/>
              </a:spcBef>
              <a:spcAft>
                <a:spcPts val="0"/>
              </a:spcAft>
              <a:buClr>
                <a:schemeClr val="dk1"/>
              </a:buClr>
              <a:buSzPts val="1800"/>
              <a:buNone/>
            </a:pPr>
            <a:endParaRPr lang="en-US" sz="1800" b="1" i="1">
              <a:solidFill>
                <a:srgbClr val="262626"/>
              </a:solidFill>
              <a:latin typeface="Calibri"/>
              <a:ea typeface="Calibri"/>
              <a:cs typeface="Calibri"/>
              <a:sym typeface="Calibri"/>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Q4.10 Please consider the following [</a:t>
            </a:r>
            <a:r>
              <a:rPr lang="en-US" sz="1000">
                <a:highlight>
                  <a:srgbClr val="D3D3D3"/>
                </a:highlight>
                <a:latin typeface="Calibri"/>
                <a:ea typeface="Calibri"/>
                <a:cs typeface="Calibri"/>
                <a:sym typeface="Calibri"/>
              </a:rPr>
              <a:t>PRODUCT</a:t>
            </a:r>
            <a:r>
              <a:rPr lang="en-US" sz="1000">
                <a:latin typeface="Calibri"/>
                <a:ea typeface="Calibri"/>
                <a:cs typeface="Calibri"/>
                <a:sym typeface="Calibri"/>
              </a:rPr>
              <a:t>] sales messages below. Now, using a scale from 1 to 7, where 1 means “Not at all” and a 7 means “Extremely”, please indicate:</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 </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A. How </a:t>
            </a:r>
            <a:r>
              <a:rPr lang="en-US" sz="1000" b="1">
                <a:latin typeface="Calibri"/>
                <a:ea typeface="Calibri"/>
                <a:cs typeface="Calibri"/>
                <a:sym typeface="Calibri"/>
              </a:rPr>
              <a:t>differentiated </a:t>
            </a:r>
            <a:r>
              <a:rPr lang="en-US" sz="1000">
                <a:latin typeface="Calibri"/>
                <a:ea typeface="Calibri"/>
                <a:cs typeface="Calibri"/>
                <a:sym typeface="Calibri"/>
              </a:rPr>
              <a:t>you feel each message is compared to messages about competing products</a:t>
            </a:r>
            <a:endParaRPr lang="en-US" sz="1000">
              <a:latin typeface="Arial"/>
              <a:ea typeface="Arial"/>
              <a:cs typeface="Arial"/>
              <a:sym typeface="Arial"/>
            </a:endParaRPr>
          </a:p>
          <a:p>
            <a:pPr marL="0" marR="0" lvl="0" indent="0" algn="l" rtl="0">
              <a:lnSpc>
                <a:spcPct val="115000"/>
              </a:lnSpc>
              <a:spcBef>
                <a:spcPts val="0"/>
              </a:spcBef>
              <a:spcAft>
                <a:spcPts val="0"/>
              </a:spcAft>
              <a:buClr>
                <a:schemeClr val="dk1"/>
              </a:buClr>
              <a:buSzPts val="1000"/>
              <a:buNone/>
            </a:pPr>
            <a:r>
              <a:rPr lang="en-US" sz="1000">
                <a:latin typeface="Calibri"/>
                <a:ea typeface="Calibri"/>
                <a:cs typeface="Calibri"/>
                <a:sym typeface="Calibri"/>
              </a:rPr>
              <a:t>B. How </a:t>
            </a:r>
            <a:r>
              <a:rPr lang="en-US" sz="1000" b="1">
                <a:latin typeface="Calibri"/>
                <a:ea typeface="Calibri"/>
                <a:cs typeface="Calibri"/>
                <a:sym typeface="Calibri"/>
              </a:rPr>
              <a:t>believable </a:t>
            </a:r>
            <a:r>
              <a:rPr lang="en-US" sz="1000">
                <a:latin typeface="Calibri"/>
                <a:ea typeface="Calibri"/>
                <a:cs typeface="Calibri"/>
                <a:sym typeface="Calibri"/>
              </a:rPr>
              <a:t>each message is in conveying a benefit of the product</a:t>
            </a:r>
            <a:endParaRPr lang="en-US" sz="1000">
              <a:latin typeface="Arial"/>
              <a:ea typeface="Arial"/>
              <a:cs typeface="Arial"/>
              <a:sym typeface="Arial"/>
            </a:endParaRPr>
          </a:p>
          <a:p>
            <a:pPr marL="0" lvl="0" indent="0" algn="l" rtl="0">
              <a:spcBef>
                <a:spcPts val="1000"/>
              </a:spcBef>
              <a:spcAft>
                <a:spcPts val="0"/>
              </a:spcAft>
              <a:buClr>
                <a:schemeClr val="dk1"/>
              </a:buClr>
              <a:buSzPts val="1000"/>
              <a:buNone/>
            </a:pPr>
            <a:r>
              <a:rPr lang="en-US" sz="1000">
                <a:latin typeface="Calibri"/>
                <a:ea typeface="Calibri"/>
                <a:cs typeface="Calibri"/>
                <a:sym typeface="Calibri"/>
              </a:rPr>
              <a:t>C. How </a:t>
            </a:r>
            <a:r>
              <a:rPr lang="en-US" sz="1000" b="1">
                <a:latin typeface="Calibri"/>
                <a:ea typeface="Calibri"/>
                <a:cs typeface="Calibri"/>
                <a:sym typeface="Calibri"/>
              </a:rPr>
              <a:t>motivating </a:t>
            </a:r>
            <a:r>
              <a:rPr lang="en-US" sz="1000">
                <a:latin typeface="Calibri"/>
                <a:ea typeface="Calibri"/>
                <a:cs typeface="Calibri"/>
                <a:sym typeface="Calibri"/>
              </a:rPr>
              <a:t>the conveyed message is in terms of your intent to prescribe the product</a:t>
            </a: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lvl="0" indent="0" algn="l" rtl="0">
              <a:spcBef>
                <a:spcPts val="1000"/>
              </a:spcBef>
              <a:spcAft>
                <a:spcPts val="0"/>
              </a:spcAft>
              <a:buClr>
                <a:schemeClr val="dk1"/>
              </a:buClr>
              <a:buSzPts val="1000"/>
              <a:buNone/>
            </a:pPr>
            <a:endParaRPr lang="en-US" sz="1000" b="1" i="1">
              <a:latin typeface="Calibri"/>
              <a:cs typeface="Calibri"/>
              <a:sym typeface="Calibri"/>
            </a:endParaRPr>
          </a:p>
          <a:p>
            <a:pPr marL="0" marR="0" lvl="0" indent="0" algn="l" defTabSz="914400" rtl="0" eaLnBrk="1" fontAlgn="auto" latinLnBrk="0" hangingPunct="1">
              <a:lnSpc>
                <a:spcPct val="100000"/>
              </a:lnSpc>
              <a:spcBef>
                <a:spcPts val="1000"/>
              </a:spcBef>
              <a:spcAft>
                <a:spcPts val="0"/>
              </a:spcAft>
              <a:buClr>
                <a:schemeClr val="dk1"/>
              </a:buClr>
              <a:buSzPts val="1000"/>
              <a:buFont typeface="Arimo"/>
              <a:buNone/>
              <a:tabLst/>
              <a:defRPr/>
            </a:pPr>
            <a:r>
              <a:rPr lang="en-US" sz="1000">
                <a:solidFill>
                  <a:srgbClr val="262626"/>
                </a:solidFill>
                <a:latin typeface="Calibri"/>
                <a:ea typeface="Calibri"/>
                <a:cs typeface="Calibri"/>
                <a:sym typeface="Calibri"/>
              </a:rPr>
              <a:t>Q2.30A You mentioned hearing the following messages about [</a:t>
            </a:r>
            <a:r>
              <a:rPr lang="en-US" sz="1000">
                <a:solidFill>
                  <a:srgbClr val="262626"/>
                </a:solidFill>
                <a:highlight>
                  <a:srgbClr val="D3D3D3"/>
                </a:highlight>
                <a:latin typeface="Calibri"/>
                <a:ea typeface="Calibri"/>
                <a:cs typeface="Calibri"/>
                <a:sym typeface="Calibri"/>
              </a:rPr>
              <a:t>EPI COMMUNICATION OR PRODUCT</a:t>
            </a:r>
            <a:r>
              <a:rPr lang="en-US" sz="1000">
                <a:solidFill>
                  <a:srgbClr val="262626"/>
                </a:solidFill>
                <a:latin typeface="Calibri"/>
                <a:ea typeface="Calibri"/>
                <a:cs typeface="Calibri"/>
                <a:sym typeface="Calibri"/>
              </a:rPr>
              <a:t>]. Please indicate which of the following messages that you heard was the </a:t>
            </a:r>
            <a:r>
              <a:rPr lang="en-US" sz="1000" b="1">
                <a:solidFill>
                  <a:srgbClr val="262626"/>
                </a:solidFill>
                <a:latin typeface="Calibri"/>
                <a:ea typeface="Calibri"/>
                <a:cs typeface="Calibri"/>
                <a:sym typeface="Calibri"/>
              </a:rPr>
              <a:t>primary message </a:t>
            </a:r>
            <a:r>
              <a:rPr lang="en-US" sz="1000">
                <a:solidFill>
                  <a:srgbClr val="262626"/>
                </a:solidFill>
                <a:latin typeface="Calibri"/>
                <a:ea typeface="Calibri"/>
                <a:cs typeface="Calibri"/>
                <a:sym typeface="Calibri"/>
              </a:rPr>
              <a:t>discussed during your most recent [</a:t>
            </a:r>
            <a:r>
              <a:rPr lang="en-US" sz="1000">
                <a:solidFill>
                  <a:srgbClr val="262626"/>
                </a:solidFill>
                <a:highlight>
                  <a:srgbClr val="D3D3D3"/>
                </a:highlight>
                <a:latin typeface="Calibri"/>
                <a:ea typeface="Calibri"/>
                <a:cs typeface="Calibri"/>
                <a:sym typeface="Calibri"/>
              </a:rPr>
              <a:t>PIPE IN PRIORITY CHANNEL</a:t>
            </a:r>
            <a:r>
              <a:rPr lang="en-US" sz="1000">
                <a:solidFill>
                  <a:srgbClr val="262626"/>
                </a:solidFill>
                <a:latin typeface="Calibri"/>
                <a:ea typeface="Calibri"/>
                <a:cs typeface="Calibri"/>
                <a:sym typeface="Calibri"/>
              </a:rPr>
              <a:t>] with the [</a:t>
            </a:r>
            <a:r>
              <a:rPr lang="en-US" sz="1000">
                <a:solidFill>
                  <a:srgbClr val="262626"/>
                </a:solidFill>
                <a:highlight>
                  <a:srgbClr val="D3D3D3"/>
                </a:highlight>
                <a:latin typeface="Calibri"/>
                <a:ea typeface="Calibri"/>
                <a:cs typeface="Calibri"/>
                <a:sym typeface="Calibri"/>
              </a:rPr>
              <a:t>COMPANY</a:t>
            </a:r>
            <a:r>
              <a:rPr lang="en-US" sz="1000">
                <a:solidFill>
                  <a:srgbClr val="262626"/>
                </a:solidFill>
                <a:latin typeface="Calibri"/>
                <a:ea typeface="Calibri"/>
                <a:cs typeface="Calibri"/>
                <a:sym typeface="Calibri"/>
              </a:rPr>
              <a:t>] rep? </a:t>
            </a: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Clr>
                <a:schemeClr val="dk1"/>
              </a:buClr>
              <a:buSzPts val="1000"/>
              <a:buNone/>
            </a:pPr>
            <a:endParaRPr lang="en-US" b="1" i="1"/>
          </a:p>
          <a:p>
            <a:pPr marL="0" lvl="0" indent="0" algn="l" rtl="0">
              <a:spcBef>
                <a:spcPts val="1000"/>
              </a:spcBef>
              <a:spcAft>
                <a:spcPts val="0"/>
              </a:spcAft>
              <a:buNone/>
            </a:pPr>
            <a:endParaRPr lang="en-US"/>
          </a:p>
        </p:txBody>
      </p:sp>
      <p:sp>
        <p:nvSpPr>
          <p:cNvPr id="339" name="Google Shape;339;p10:notes">
            <a:extLst>
              <a:ext uri="{FF2B5EF4-FFF2-40B4-BE49-F238E27FC236}">
                <a16:creationId xmlns:a16="http://schemas.microsoft.com/office/drawing/2014/main" id="{A35C67AC-7F9C-87C5-11C1-9EBFF06DBDFB}"/>
              </a:ext>
            </a:extLst>
          </p:cNvPr>
          <p:cNvSpPr>
            <a:spLocks noGrp="1" noRot="1" noChangeAspect="1"/>
          </p:cNvSpPr>
          <p:nvPr>
            <p:ph type="sldImg" idx="2"/>
          </p:nvPr>
        </p:nvSpPr>
        <p:spPr>
          <a:xfrm>
            <a:off x="554038" y="228600"/>
            <a:ext cx="5641975" cy="4230688"/>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en-US"/>
          </a:p>
        </p:txBody>
      </p:sp>
    </p:spTree>
    <p:extLst>
      <p:ext uri="{BB962C8B-B14F-4D97-AF65-F5344CB8AC3E}">
        <p14:creationId xmlns:p14="http://schemas.microsoft.com/office/powerpoint/2010/main" val="7714842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Main">
    <p:spTree>
      <p:nvGrpSpPr>
        <p:cNvPr id="1" name=""/>
        <p:cNvGrpSpPr/>
        <p:nvPr/>
      </p:nvGrpSpPr>
      <p:grpSpPr>
        <a:xfrm>
          <a:off x="0" y="0"/>
          <a:ext cx="0" cy="0"/>
          <a:chOff x="0" y="0"/>
          <a:chExt cx="0" cy="0"/>
        </a:xfrm>
      </p:grpSpPr>
      <p:pic>
        <p:nvPicPr>
          <p:cNvPr id="12" name="Picture 11" descr="A close-up of a paint splatter&#10;&#10;AI-generated content may be incorrect.">
            <a:extLst>
              <a:ext uri="{FF2B5EF4-FFF2-40B4-BE49-F238E27FC236}">
                <a16:creationId xmlns:a16="http://schemas.microsoft.com/office/drawing/2014/main" id="{C020CB5A-1548-218F-0447-3ED2A1F320E9}"/>
              </a:ext>
            </a:extLst>
          </p:cNvPr>
          <p:cNvPicPr>
            <a:picLocks noChangeAspect="1"/>
          </p:cNvPicPr>
          <p:nvPr/>
        </p:nvPicPr>
        <p:blipFill>
          <a:blip r:embed="rId2"/>
          <a:srcRect r="344"/>
          <a:stretch>
            <a:fillRect/>
          </a:stretch>
        </p:blipFill>
        <p:spPr>
          <a:xfrm>
            <a:off x="1143" y="0"/>
            <a:ext cx="9141714" cy="6858000"/>
          </a:xfrm>
          <a:prstGeom prst="rect">
            <a:avLst/>
          </a:prstGeom>
        </p:spPr>
      </p:pic>
      <p:sp>
        <p:nvSpPr>
          <p:cNvPr id="2" name="Title 1">
            <a:extLst>
              <a:ext uri="{FF2B5EF4-FFF2-40B4-BE49-F238E27FC236}">
                <a16:creationId xmlns:a16="http://schemas.microsoft.com/office/drawing/2014/main" id="{16A545EF-A5ED-A461-E4C8-1CCAAC7DE5FA}"/>
              </a:ext>
            </a:extLst>
          </p:cNvPr>
          <p:cNvSpPr>
            <a:spLocks noGrp="1"/>
          </p:cNvSpPr>
          <p:nvPr>
            <p:ph type="ctrTitle"/>
          </p:nvPr>
        </p:nvSpPr>
        <p:spPr>
          <a:xfrm>
            <a:off x="436877" y="784079"/>
            <a:ext cx="6657079" cy="457048"/>
          </a:xfrm>
        </p:spPr>
        <p:txBody>
          <a:bodyPr wrap="square" tIns="0" bIns="0" anchor="b">
            <a:spAutoFit/>
          </a:bodyPr>
          <a:lstStyle>
            <a:lvl1pPr algn="l">
              <a:defRPr sz="3300"/>
            </a:lvl1pPr>
          </a:lstStyle>
          <a:p>
            <a:r>
              <a:rPr lang="en-US"/>
              <a:t>Click to edit Master title style</a:t>
            </a:r>
          </a:p>
        </p:txBody>
      </p:sp>
      <p:sp>
        <p:nvSpPr>
          <p:cNvPr id="3" name="Subtitle 2">
            <a:extLst>
              <a:ext uri="{FF2B5EF4-FFF2-40B4-BE49-F238E27FC236}">
                <a16:creationId xmlns:a16="http://schemas.microsoft.com/office/drawing/2014/main" id="{90D10431-50E8-6D96-64B6-5818FEEE88BC}"/>
              </a:ext>
            </a:extLst>
          </p:cNvPr>
          <p:cNvSpPr>
            <a:spLocks noGrp="1"/>
          </p:cNvSpPr>
          <p:nvPr>
            <p:ph type="subTitle" idx="1"/>
          </p:nvPr>
        </p:nvSpPr>
        <p:spPr>
          <a:xfrm>
            <a:off x="436877" y="1137992"/>
            <a:ext cx="6657079" cy="276999"/>
          </a:xfrm>
        </p:spPr>
        <p:txBody>
          <a:bodyPr wrap="square" tIns="0">
            <a:spAutoFit/>
          </a:bodyPr>
          <a:lstStyle>
            <a:lvl1pPr marL="0" indent="0" algn="l">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pic>
        <p:nvPicPr>
          <p:cNvPr id="8" name="Picture 7" descr="A colorful text on a black background&#10;&#10;AI-generated content may be incorrect.">
            <a:extLst>
              <a:ext uri="{FF2B5EF4-FFF2-40B4-BE49-F238E27FC236}">
                <a16:creationId xmlns:a16="http://schemas.microsoft.com/office/drawing/2014/main" id="{D2C55055-4335-0A48-A514-47CAFD74CF11}"/>
              </a:ext>
            </a:extLst>
          </p:cNvPr>
          <p:cNvPicPr>
            <a:picLocks noChangeAspect="1"/>
          </p:cNvPicPr>
          <p:nvPr/>
        </p:nvPicPr>
        <p:blipFill>
          <a:blip r:embed="rId3"/>
          <a:stretch>
            <a:fillRect/>
          </a:stretch>
        </p:blipFill>
        <p:spPr>
          <a:xfrm>
            <a:off x="6917728" y="187552"/>
            <a:ext cx="2090036" cy="1304383"/>
          </a:xfrm>
          <a:prstGeom prst="rect">
            <a:avLst/>
          </a:prstGeom>
        </p:spPr>
      </p:pic>
      <p:sp>
        <p:nvSpPr>
          <p:cNvPr id="4" name="Footer Placeholder 4">
            <a:extLst>
              <a:ext uri="{FF2B5EF4-FFF2-40B4-BE49-F238E27FC236}">
                <a16:creationId xmlns:a16="http://schemas.microsoft.com/office/drawing/2014/main" id="{810DC154-CB02-F925-91EC-2C95216283C5}"/>
              </a:ext>
            </a:extLst>
          </p:cNvPr>
          <p:cNvSpPr txBox="1">
            <a:spLocks/>
          </p:cNvSpPr>
          <p:nvPr/>
        </p:nvSpPr>
        <p:spPr bwMode="gray">
          <a:xfrm>
            <a:off x="7116797" y="6537776"/>
            <a:ext cx="1788952" cy="150023"/>
          </a:xfrm>
          <a:prstGeom prst="rect">
            <a:avLst/>
          </a:prstGeom>
          <a:noFill/>
          <a:ln w="9525">
            <a:noFill/>
            <a:miter lim="800000"/>
            <a:headEnd/>
            <a:tailEnd/>
          </a:ln>
        </p:spPr>
        <p:txBody>
          <a:bodyPr vert="horz" wrap="none" lIns="0" tIns="34281" rIns="0" bIns="34281" numCol="1" anchor="ctr" anchorCtr="0" compatLnSpc="1">
            <a:prstTxWarp prst="textNoShape">
              <a:avLst/>
            </a:prstTxWarp>
            <a:spAutoFit/>
          </a:bodyPr>
          <a:lstStyle>
            <a:defPPr>
              <a:defRPr lang="en-US"/>
            </a:defPPr>
            <a:lvl1pPr algn="r" defTabSz="457200" rtl="0" fontAlgn="base">
              <a:lnSpc>
                <a:spcPct val="100000"/>
              </a:lnSpc>
              <a:spcBef>
                <a:spcPct val="0"/>
              </a:spcBef>
              <a:spcAft>
                <a:spcPct val="0"/>
              </a:spcAft>
              <a:defRPr sz="900" kern="1200">
                <a:solidFill>
                  <a:schemeClr val="bg1"/>
                </a:solidFill>
                <a:latin typeface="Calibri" pitchFamily="34" charset="0"/>
                <a:ea typeface="+mn-ea"/>
                <a:cs typeface="+mn-cs"/>
              </a:defRPr>
            </a:lvl1pPr>
            <a:lvl2pPr marL="457200" algn="l" defTabSz="457200" rtl="0" fontAlgn="base">
              <a:spcBef>
                <a:spcPct val="0"/>
              </a:spcBef>
              <a:spcAft>
                <a:spcPct val="0"/>
              </a:spcAft>
              <a:defRPr kern="1200">
                <a:solidFill>
                  <a:schemeClr val="tx1"/>
                </a:solidFill>
                <a:latin typeface="Calibri" pitchFamily="34" charset="0"/>
                <a:ea typeface="+mn-ea"/>
                <a:cs typeface="Arial" charset="0"/>
              </a:defRPr>
            </a:lvl2pPr>
            <a:lvl3pPr marL="914400" algn="l" defTabSz="457200" rtl="0" fontAlgn="base">
              <a:spcBef>
                <a:spcPct val="0"/>
              </a:spcBef>
              <a:spcAft>
                <a:spcPct val="0"/>
              </a:spcAft>
              <a:defRPr kern="1200">
                <a:solidFill>
                  <a:schemeClr val="tx1"/>
                </a:solidFill>
                <a:latin typeface="Calibri" pitchFamily="34" charset="0"/>
                <a:ea typeface="+mn-ea"/>
                <a:cs typeface="Arial" charset="0"/>
              </a:defRPr>
            </a:lvl3pPr>
            <a:lvl4pPr marL="1371600" algn="l" defTabSz="457200" rtl="0" fontAlgn="base">
              <a:spcBef>
                <a:spcPct val="0"/>
              </a:spcBef>
              <a:spcAft>
                <a:spcPct val="0"/>
              </a:spcAft>
              <a:defRPr kern="1200">
                <a:solidFill>
                  <a:schemeClr val="tx1"/>
                </a:solidFill>
                <a:latin typeface="Calibri" pitchFamily="34" charset="0"/>
                <a:ea typeface="+mn-ea"/>
                <a:cs typeface="Arial" charset="0"/>
              </a:defRPr>
            </a:lvl4pPr>
            <a:lvl5pPr marL="1828800" algn="l" defTabSz="457200"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r">
              <a:defRPr/>
            </a:pPr>
            <a:r>
              <a:rPr lang="en-US" sz="525" kern="1200">
                <a:solidFill>
                  <a:schemeClr val="bg1"/>
                </a:solidFill>
                <a:latin typeface="+mn-lt"/>
                <a:ea typeface="Roboto" panose="02000000000000000000" pitchFamily="2" charset="0"/>
                <a:cs typeface="+mn-cs"/>
              </a:rPr>
              <a:t>Presentation Title  |  Company Confidential. © 2025 AbbVie. </a:t>
            </a:r>
          </a:p>
        </p:txBody>
      </p:sp>
    </p:spTree>
    <p:extLst>
      <p:ext uri="{BB962C8B-B14F-4D97-AF65-F5344CB8AC3E}">
        <p14:creationId xmlns:p14="http://schemas.microsoft.com/office/powerpoint/2010/main" val="3434345032"/>
      </p:ext>
    </p:extLst>
  </p:cSld>
  <p:clrMapOvr>
    <a:masterClrMapping/>
  </p:clrMapOvr>
  <p:hf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Divider">
    <p:spTree>
      <p:nvGrpSpPr>
        <p:cNvPr id="1" name=""/>
        <p:cNvGrpSpPr/>
        <p:nvPr/>
      </p:nvGrpSpPr>
      <p:grpSpPr>
        <a:xfrm>
          <a:off x="0" y="0"/>
          <a:ext cx="0" cy="0"/>
          <a:chOff x="0" y="0"/>
          <a:chExt cx="0" cy="0"/>
        </a:xfrm>
      </p:grpSpPr>
      <p:pic>
        <p:nvPicPr>
          <p:cNvPr id="6" name="Picture 5" descr="A colorful painting of a flower&#10;&#10;AI-generated content may be incorrect.">
            <a:extLst>
              <a:ext uri="{FF2B5EF4-FFF2-40B4-BE49-F238E27FC236}">
                <a16:creationId xmlns:a16="http://schemas.microsoft.com/office/drawing/2014/main" id="{F6F55A1A-37E5-DE5C-E3A1-9DECEA881BE5}"/>
              </a:ext>
            </a:extLst>
          </p:cNvPr>
          <p:cNvPicPr>
            <a:picLocks noChangeAspect="1"/>
          </p:cNvPicPr>
          <p:nvPr/>
        </p:nvPicPr>
        <p:blipFill>
          <a:blip r:embed="rId2"/>
          <a:stretch>
            <a:fillRect/>
          </a:stretch>
        </p:blipFill>
        <p:spPr>
          <a:xfrm>
            <a:off x="1143" y="0"/>
            <a:ext cx="9141714" cy="6858000"/>
          </a:xfrm>
          <a:prstGeom prst="rect">
            <a:avLst/>
          </a:prstGeom>
        </p:spPr>
      </p:pic>
      <p:sp>
        <p:nvSpPr>
          <p:cNvPr id="2" name="Title 1">
            <a:extLst>
              <a:ext uri="{FF2B5EF4-FFF2-40B4-BE49-F238E27FC236}">
                <a16:creationId xmlns:a16="http://schemas.microsoft.com/office/drawing/2014/main" id="{0B6C671C-EEAA-0F63-8489-EC23DE85A0AA}"/>
              </a:ext>
            </a:extLst>
          </p:cNvPr>
          <p:cNvSpPr>
            <a:spLocks noGrp="1"/>
          </p:cNvSpPr>
          <p:nvPr>
            <p:ph type="title"/>
          </p:nvPr>
        </p:nvSpPr>
        <p:spPr>
          <a:xfrm>
            <a:off x="420130" y="712949"/>
            <a:ext cx="3703938" cy="731520"/>
          </a:xfrm>
        </p:spPr>
        <p:txBody>
          <a:bodyPr anchor="t" anchorCtr="0"/>
          <a:lstStyle>
            <a:lvl1pPr algn="l">
              <a:defRPr sz="3000"/>
            </a:lvl1pPr>
          </a:lstStyle>
          <a:p>
            <a:r>
              <a:rPr lang="en-US"/>
              <a:t>Click to edit Master title style</a:t>
            </a:r>
          </a:p>
        </p:txBody>
      </p:sp>
      <p:sp>
        <p:nvSpPr>
          <p:cNvPr id="3" name="Footer Placeholder 4">
            <a:extLst>
              <a:ext uri="{FF2B5EF4-FFF2-40B4-BE49-F238E27FC236}">
                <a16:creationId xmlns:a16="http://schemas.microsoft.com/office/drawing/2014/main" id="{E4E1C1C8-45C1-95EF-77F3-424DA7A27A47}"/>
              </a:ext>
            </a:extLst>
          </p:cNvPr>
          <p:cNvSpPr txBox="1">
            <a:spLocks/>
          </p:cNvSpPr>
          <p:nvPr/>
        </p:nvSpPr>
        <p:spPr bwMode="gray">
          <a:xfrm>
            <a:off x="6969320" y="6537776"/>
            <a:ext cx="1936428" cy="150023"/>
          </a:xfrm>
          <a:prstGeom prst="rect">
            <a:avLst/>
          </a:prstGeom>
          <a:noFill/>
          <a:ln w="9525">
            <a:noFill/>
            <a:miter lim="800000"/>
            <a:headEnd/>
            <a:tailEnd/>
          </a:ln>
        </p:spPr>
        <p:txBody>
          <a:bodyPr vert="horz" wrap="none" lIns="0" tIns="34281" rIns="0" bIns="34281" numCol="1" anchor="ctr" anchorCtr="0" compatLnSpc="1">
            <a:prstTxWarp prst="textNoShape">
              <a:avLst/>
            </a:prstTxWarp>
            <a:spAutoFit/>
          </a:bodyPr>
          <a:lstStyle>
            <a:defPPr>
              <a:defRPr lang="en-US"/>
            </a:defPPr>
            <a:lvl1pPr algn="r" defTabSz="457200" rtl="0" fontAlgn="base">
              <a:lnSpc>
                <a:spcPct val="100000"/>
              </a:lnSpc>
              <a:spcBef>
                <a:spcPct val="0"/>
              </a:spcBef>
              <a:spcAft>
                <a:spcPct val="0"/>
              </a:spcAft>
              <a:defRPr sz="900" kern="1200">
                <a:solidFill>
                  <a:schemeClr val="bg1"/>
                </a:solidFill>
                <a:latin typeface="Calibri" pitchFamily="34" charset="0"/>
                <a:ea typeface="+mn-ea"/>
                <a:cs typeface="+mn-cs"/>
              </a:defRPr>
            </a:lvl1pPr>
            <a:lvl2pPr marL="457200" algn="l" defTabSz="457200" rtl="0" fontAlgn="base">
              <a:spcBef>
                <a:spcPct val="0"/>
              </a:spcBef>
              <a:spcAft>
                <a:spcPct val="0"/>
              </a:spcAft>
              <a:defRPr kern="1200">
                <a:solidFill>
                  <a:schemeClr val="tx1"/>
                </a:solidFill>
                <a:latin typeface="Calibri" pitchFamily="34" charset="0"/>
                <a:ea typeface="+mn-ea"/>
                <a:cs typeface="Arial" charset="0"/>
              </a:defRPr>
            </a:lvl2pPr>
            <a:lvl3pPr marL="914400" algn="l" defTabSz="457200" rtl="0" fontAlgn="base">
              <a:spcBef>
                <a:spcPct val="0"/>
              </a:spcBef>
              <a:spcAft>
                <a:spcPct val="0"/>
              </a:spcAft>
              <a:defRPr kern="1200">
                <a:solidFill>
                  <a:schemeClr val="tx1"/>
                </a:solidFill>
                <a:latin typeface="Calibri" pitchFamily="34" charset="0"/>
                <a:ea typeface="+mn-ea"/>
                <a:cs typeface="Arial" charset="0"/>
              </a:defRPr>
            </a:lvl3pPr>
            <a:lvl4pPr marL="1371600" algn="l" defTabSz="457200" rtl="0" fontAlgn="base">
              <a:spcBef>
                <a:spcPct val="0"/>
              </a:spcBef>
              <a:spcAft>
                <a:spcPct val="0"/>
              </a:spcAft>
              <a:defRPr kern="1200">
                <a:solidFill>
                  <a:schemeClr val="tx1"/>
                </a:solidFill>
                <a:latin typeface="Calibri" pitchFamily="34" charset="0"/>
                <a:ea typeface="+mn-ea"/>
                <a:cs typeface="Arial" charset="0"/>
              </a:defRPr>
            </a:lvl4pPr>
            <a:lvl5pPr marL="1828800" algn="l" defTabSz="457200"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r">
              <a:defRPr/>
            </a:pPr>
            <a:r>
              <a:rPr lang="en-US" sz="525" kern="1200">
                <a:solidFill>
                  <a:schemeClr val="bg1"/>
                </a:solidFill>
                <a:latin typeface="+mn-lt"/>
                <a:ea typeface="Roboto" panose="02000000000000000000" pitchFamily="2" charset="0"/>
                <a:cs typeface="+mn-cs"/>
              </a:rPr>
              <a:t>Presentation Title  |  Company Confidential. © 2025 AbbVie.  |  </a:t>
            </a:r>
            <a:fld id="{46A0009C-F711-4867-928A-A4FC23F39790}" type="slidenum">
              <a:rPr lang="en-US" sz="525" kern="1200" smtClean="0">
                <a:solidFill>
                  <a:schemeClr val="bg1"/>
                </a:solidFill>
                <a:latin typeface="+mn-lt"/>
                <a:ea typeface="Roboto" panose="02000000000000000000" pitchFamily="2" charset="0"/>
                <a:cs typeface="+mn-cs"/>
              </a:rPr>
              <a:t>‹#›</a:t>
            </a:fld>
            <a:endParaRPr lang="en-US" sz="525" kern="1200">
              <a:solidFill>
                <a:schemeClr val="bg1"/>
              </a:solidFill>
              <a:latin typeface="+mn-lt"/>
              <a:ea typeface="Roboto" panose="02000000000000000000" pitchFamily="2" charset="0"/>
              <a:cs typeface="+mn-cs"/>
            </a:endParaRPr>
          </a:p>
        </p:txBody>
      </p:sp>
      <p:pic>
        <p:nvPicPr>
          <p:cNvPr id="4" name="Picture 3" descr="A colorful text on a black background&#10;&#10;AI-generated content may be incorrect.">
            <a:extLst>
              <a:ext uri="{FF2B5EF4-FFF2-40B4-BE49-F238E27FC236}">
                <a16:creationId xmlns:a16="http://schemas.microsoft.com/office/drawing/2014/main" id="{1F65C791-9E9D-98EF-9427-B3DD17C69A57}"/>
              </a:ext>
            </a:extLst>
          </p:cNvPr>
          <p:cNvPicPr>
            <a:picLocks noChangeAspect="1"/>
          </p:cNvPicPr>
          <p:nvPr/>
        </p:nvPicPr>
        <p:blipFill>
          <a:blip r:embed="rId3"/>
          <a:stretch>
            <a:fillRect/>
          </a:stretch>
        </p:blipFill>
        <p:spPr>
          <a:xfrm>
            <a:off x="109664" y="6287733"/>
            <a:ext cx="904009" cy="564189"/>
          </a:xfrm>
          <a:prstGeom prst="rect">
            <a:avLst/>
          </a:prstGeom>
        </p:spPr>
      </p:pic>
    </p:spTree>
    <p:extLst>
      <p:ext uri="{BB962C8B-B14F-4D97-AF65-F5344CB8AC3E}">
        <p14:creationId xmlns:p14="http://schemas.microsoft.com/office/powerpoint/2010/main" val="630678709"/>
      </p:ext>
    </p:extLst>
  </p:cSld>
  <p:clrMapOvr>
    <a:masterClrMapping/>
  </p:clrMapOvr>
  <p:hf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F7698FA-5199-1958-53F4-4B43F96CAE09}"/>
              </a:ext>
            </a:extLst>
          </p:cNvPr>
          <p:cNvSpPr>
            <a:spLocks noGrp="1"/>
          </p:cNvSpPr>
          <p:nvPr>
            <p:ph idx="1"/>
          </p:nvPr>
        </p:nvSpPr>
        <p:spPr/>
        <p:txBody>
          <a:bodyPr lIns="0" rIns="0"/>
          <a:lstStyle>
            <a:lvl1pPr>
              <a:defRPr lang="en-US" dirty="0" smtClean="0"/>
            </a:lvl1pPr>
            <a:lvl2pPr>
              <a:defRPr lang="en-US" dirty="0" smtClean="0"/>
            </a:lvl2pPr>
            <a:lvl3pPr>
              <a:defRPr lang="en-US" dirty="0" smtClean="0"/>
            </a:lvl3pPr>
            <a:lvl4pPr>
              <a:defRPr lang="en-US" dirty="0"/>
            </a:lvl4pPr>
          </a:lstStyle>
          <a:p>
            <a:pPr marL="174978" lvl="0" indent="-174978" defTabSz="342815" eaLnBrk="0" fontAlgn="base" hangingPunct="0">
              <a:spcAft>
                <a:spcPts val="450"/>
              </a:spcAft>
              <a:tabLst/>
            </a:pPr>
            <a:r>
              <a:rPr lang="en-US"/>
              <a:t>Click to edit Master text styles</a:t>
            </a:r>
          </a:p>
          <a:p>
            <a:pPr marL="174978" lvl="1" indent="-174978" defTabSz="342815" eaLnBrk="0" fontAlgn="base" hangingPunct="0">
              <a:spcAft>
                <a:spcPts val="450"/>
              </a:spcAft>
              <a:tabLst/>
            </a:pPr>
            <a:r>
              <a:rPr lang="en-US"/>
              <a:t>Second level</a:t>
            </a:r>
          </a:p>
          <a:p>
            <a:pPr marL="174978" lvl="2" indent="-174978" defTabSz="342815" eaLnBrk="0" fontAlgn="base" hangingPunct="0">
              <a:spcAft>
                <a:spcPts val="450"/>
              </a:spcAft>
              <a:tabLst/>
            </a:pPr>
            <a:r>
              <a:rPr lang="en-US"/>
              <a:t>Third level</a:t>
            </a:r>
          </a:p>
          <a:p>
            <a:pPr marL="174978" lvl="3" indent="-174978" defTabSz="342815" eaLnBrk="0" fontAlgn="base" hangingPunct="0">
              <a:spcAft>
                <a:spcPts val="450"/>
              </a:spcAft>
              <a:tabLst/>
            </a:pPr>
            <a:r>
              <a:rPr lang="en-US"/>
              <a:t>Fourth level</a:t>
            </a:r>
          </a:p>
        </p:txBody>
      </p:sp>
      <p:sp>
        <p:nvSpPr>
          <p:cNvPr id="4" name="Title 3">
            <a:extLst>
              <a:ext uri="{FF2B5EF4-FFF2-40B4-BE49-F238E27FC236}">
                <a16:creationId xmlns:a16="http://schemas.microsoft.com/office/drawing/2014/main" id="{8049C170-E087-0634-D135-6C6A9AE8C2EE}"/>
              </a:ext>
            </a:extLst>
          </p:cNvPr>
          <p:cNvSpPr>
            <a:spLocks noGrp="1"/>
          </p:cNvSpPr>
          <p:nvPr>
            <p:ph type="title"/>
          </p:nvPr>
        </p:nvSpPr>
        <p:spPr/>
        <p:txBody>
          <a:bodyPr/>
          <a:lstStyle/>
          <a:p>
            <a:r>
              <a:rPr lang="en-US"/>
              <a:t>Click to edit Master title style</a:t>
            </a:r>
          </a:p>
        </p:txBody>
      </p:sp>
      <p:sp>
        <p:nvSpPr>
          <p:cNvPr id="5" name="Footer Placeholder 4">
            <a:extLst>
              <a:ext uri="{FF2B5EF4-FFF2-40B4-BE49-F238E27FC236}">
                <a16:creationId xmlns:a16="http://schemas.microsoft.com/office/drawing/2014/main" id="{F7D11D0C-A759-22F7-E2E9-A378A4F49A85}"/>
              </a:ext>
            </a:extLst>
          </p:cNvPr>
          <p:cNvSpPr>
            <a:spLocks noGrp="1"/>
          </p:cNvSpPr>
          <p:nvPr>
            <p:ph type="ftr" sz="quarter" idx="10"/>
          </p:nvPr>
        </p:nvSpPr>
        <p:spPr/>
        <p:txBody>
          <a:bodyPr/>
          <a:lstStyle/>
          <a:p>
            <a:endParaRPr lang="en-US"/>
          </a:p>
        </p:txBody>
      </p:sp>
    </p:spTree>
    <p:extLst>
      <p:ext uri="{BB962C8B-B14F-4D97-AF65-F5344CB8AC3E}">
        <p14:creationId xmlns:p14="http://schemas.microsoft.com/office/powerpoint/2010/main" val="3554976850"/>
      </p:ext>
    </p:extLst>
  </p:cSld>
  <p:clrMapOvr>
    <a:masterClrMapping/>
  </p:clrMapOvr>
  <p:hf hdr="0" ftr="0" dt="0"/>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052A30-172C-0BE3-5E0D-5A3A784104AD}"/>
              </a:ext>
            </a:extLst>
          </p:cNvPr>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a16="http://schemas.microsoft.com/office/drawing/2014/main" id="{1965BB71-04FE-1EE7-458D-FBA58E7164DC}"/>
              </a:ext>
            </a:extLst>
          </p:cNvPr>
          <p:cNvSpPr>
            <a:spLocks noGrp="1"/>
          </p:cNvSpPr>
          <p:nvPr>
            <p:ph type="ftr" sz="quarter" idx="10"/>
          </p:nvPr>
        </p:nvSpPr>
        <p:spPr/>
        <p:txBody>
          <a:bodyPr/>
          <a:lstStyle/>
          <a:p>
            <a:endParaRPr lang="en-US"/>
          </a:p>
        </p:txBody>
      </p:sp>
    </p:spTree>
    <p:extLst>
      <p:ext uri="{BB962C8B-B14F-4D97-AF65-F5344CB8AC3E}">
        <p14:creationId xmlns:p14="http://schemas.microsoft.com/office/powerpoint/2010/main" val="1426522829"/>
      </p:ext>
    </p:extLst>
  </p:cSld>
  <p:clrMapOvr>
    <a:masterClrMapping/>
  </p:clrMapOvr>
  <p:hf hdr="0" ftr="0" dt="0"/>
</p:sldLayout>
</file>

<file path=ppt/slideLayouts/slideLayout5.xml><?xml version="1.0" encoding="utf-8"?>
<p:sldLayout xmlns:a="http://schemas.openxmlformats.org/drawingml/2006/main" xmlns:r="http://schemas.openxmlformats.org/officeDocument/2006/relationships" xmlns:p="http://schemas.openxmlformats.org/presentationml/2006/main">
  <p:cSld name="Image + content">
    <p:spTree>
      <p:nvGrpSpPr>
        <p:cNvPr id="1" name=""/>
        <p:cNvGrpSpPr/>
        <p:nvPr/>
      </p:nvGrpSpPr>
      <p:grpSpPr>
        <a:xfrm>
          <a:off x="0" y="0"/>
          <a:ext cx="0" cy="0"/>
          <a:chOff x="0" y="0"/>
          <a:chExt cx="0" cy="0"/>
        </a:xfrm>
      </p:grpSpPr>
      <p:sp>
        <p:nvSpPr>
          <p:cNvPr id="17" name="Title Placeholder 1"/>
          <p:cNvSpPr>
            <a:spLocks noGrp="1"/>
          </p:cNvSpPr>
          <p:nvPr>
            <p:ph type="title"/>
          </p:nvPr>
        </p:nvSpPr>
        <p:spPr bwMode="auto">
          <a:xfrm>
            <a:off x="274393" y="228600"/>
            <a:ext cx="8574733" cy="731520"/>
          </a:xfrm>
          <a:prstGeom prst="rect">
            <a:avLst/>
          </a:prstGeom>
          <a:noFill/>
          <a:ln w="9525">
            <a:noFill/>
            <a:miter lim="800000"/>
            <a:headEnd/>
            <a:tailEnd/>
          </a:ln>
        </p:spPr>
        <p:txBody>
          <a:bodyPr vert="horz" wrap="square" lIns="0" tIns="45720" rIns="0" bIns="45720" numCol="1" anchor="b" anchorCtr="0" compatLnSpc="1">
            <a:prstTxWarp prst="textNoShape">
              <a:avLst/>
            </a:prstTxWarp>
          </a:bodyPr>
          <a:lstStyle>
            <a:lvl1pPr>
              <a:defRPr lang="en-US" dirty="0"/>
            </a:lvl1pPr>
          </a:lstStyle>
          <a:p>
            <a:pPr lvl="0"/>
            <a:r>
              <a:rPr lang="en-US"/>
              <a:t>Click to edit Master title style</a:t>
            </a:r>
          </a:p>
        </p:txBody>
      </p:sp>
      <p:sp>
        <p:nvSpPr>
          <p:cNvPr id="5" name="Picture Placeholder 4">
            <a:extLst>
              <a:ext uri="{FF2B5EF4-FFF2-40B4-BE49-F238E27FC236}">
                <a16:creationId xmlns:a16="http://schemas.microsoft.com/office/drawing/2014/main" id="{3761A2C7-5736-4A67-A5FD-7A367D5A6E69}"/>
              </a:ext>
            </a:extLst>
          </p:cNvPr>
          <p:cNvSpPr>
            <a:spLocks noGrp="1"/>
          </p:cNvSpPr>
          <p:nvPr>
            <p:ph type="pic" sz="quarter" idx="10" hasCustomPrompt="1"/>
          </p:nvPr>
        </p:nvSpPr>
        <p:spPr>
          <a:xfrm>
            <a:off x="274391" y="1645921"/>
            <a:ext cx="2881110" cy="3840480"/>
          </a:xfrm>
          <a:prstGeom prst="rect">
            <a:avLst/>
          </a:prstGeom>
          <a:solidFill>
            <a:schemeClr val="bg1">
              <a:lumMod val="95000"/>
            </a:schemeClr>
          </a:solidFill>
          <a:effectLst>
            <a:outerShdw blurRad="50800" dist="38100" dir="2700000" algn="tl" rotWithShape="0">
              <a:prstClr val="black">
                <a:alpha val="40000"/>
              </a:prstClr>
            </a:outerShdw>
          </a:effectLst>
        </p:spPr>
        <p:txBody>
          <a:bodyPr anchor="t" anchorCtr="0"/>
          <a:lstStyle>
            <a:lvl1pPr algn="l">
              <a:buNone/>
              <a:defRPr sz="1050" b="1">
                <a:latin typeface="Roboto" panose="02000000000000000000" pitchFamily="2" charset="0"/>
                <a:ea typeface="Roboto" panose="02000000000000000000" pitchFamily="2" charset="0"/>
              </a:defRPr>
            </a:lvl1pPr>
          </a:lstStyle>
          <a:p>
            <a:r>
              <a:rPr lang="en-US"/>
              <a:t>Click icon to add image</a:t>
            </a:r>
          </a:p>
        </p:txBody>
      </p:sp>
      <p:sp>
        <p:nvSpPr>
          <p:cNvPr id="7" name="Content Placeholder 4">
            <a:extLst>
              <a:ext uri="{FF2B5EF4-FFF2-40B4-BE49-F238E27FC236}">
                <a16:creationId xmlns:a16="http://schemas.microsoft.com/office/drawing/2014/main" id="{7E607C81-78E5-4AB0-AF66-0824DBDE88D4}"/>
              </a:ext>
            </a:extLst>
          </p:cNvPr>
          <p:cNvSpPr>
            <a:spLocks noGrp="1"/>
          </p:cNvSpPr>
          <p:nvPr>
            <p:ph sz="quarter" idx="11"/>
          </p:nvPr>
        </p:nvSpPr>
        <p:spPr>
          <a:xfrm>
            <a:off x="3405188" y="1645921"/>
            <a:ext cx="5443937" cy="3840480"/>
          </a:xfrm>
          <a:prstGeom prst="rect">
            <a:avLst/>
          </a:prstGeom>
        </p:spPr>
        <p:txBody>
          <a:bodyPr lIns="0" rIns="0"/>
          <a:lstStyle>
            <a:lvl1pPr>
              <a:defRPr lang="en-US" dirty="0"/>
            </a:lvl1pPr>
            <a:lvl2pPr>
              <a:defRPr lang="en-US" dirty="0"/>
            </a:lvl2pPr>
            <a:lvl3pPr>
              <a:defRPr lang="en-US" dirty="0"/>
            </a:lvl3pPr>
          </a:lstStyle>
          <a:p>
            <a:pPr marL="174978" lvl="0" indent="-174978" defTabSz="342815" eaLnBrk="0" fontAlgn="base" hangingPunct="0">
              <a:spcAft>
                <a:spcPts val="450"/>
              </a:spcAft>
              <a:tabLst/>
            </a:pPr>
            <a:r>
              <a:rPr lang="en-US"/>
              <a:t>Click to edit Master text styles</a:t>
            </a:r>
          </a:p>
          <a:p>
            <a:pPr marL="174978" lvl="1" indent="-174978" defTabSz="342815" eaLnBrk="0" fontAlgn="base" hangingPunct="0">
              <a:spcAft>
                <a:spcPts val="450"/>
              </a:spcAft>
              <a:tabLst/>
            </a:pPr>
            <a:r>
              <a:rPr lang="en-US"/>
              <a:t>Second level</a:t>
            </a:r>
          </a:p>
          <a:p>
            <a:pPr marL="174978" lvl="2" indent="-174978" defTabSz="342815" eaLnBrk="0" fontAlgn="base" hangingPunct="0">
              <a:spcAft>
                <a:spcPts val="450"/>
              </a:spcAft>
              <a:tabLst/>
            </a:pPr>
            <a:r>
              <a:rPr lang="en-US"/>
              <a:t>Third level</a:t>
            </a:r>
          </a:p>
        </p:txBody>
      </p:sp>
    </p:spTree>
    <p:extLst>
      <p:ext uri="{BB962C8B-B14F-4D97-AF65-F5344CB8AC3E}">
        <p14:creationId xmlns:p14="http://schemas.microsoft.com/office/powerpoint/2010/main" val="2319128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0DFB97E9-7B99-C5C3-398B-C0B96C9D470E}"/>
              </a:ext>
            </a:extLst>
          </p:cNvPr>
          <p:cNvSpPr>
            <a:spLocks noGrp="1"/>
          </p:cNvSpPr>
          <p:nvPr>
            <p:ph type="ftr" sz="quarter" idx="10"/>
          </p:nvPr>
        </p:nvSpPr>
        <p:spPr/>
        <p:txBody>
          <a:bodyPr/>
          <a:lstStyle/>
          <a:p>
            <a:endParaRPr lang="en-US"/>
          </a:p>
        </p:txBody>
      </p:sp>
    </p:spTree>
    <p:extLst>
      <p:ext uri="{BB962C8B-B14F-4D97-AF65-F5344CB8AC3E}">
        <p14:creationId xmlns:p14="http://schemas.microsoft.com/office/powerpoint/2010/main" val="31412841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cSld name="2_Section Title">
    <p:bg>
      <p:bgPr>
        <a:solidFill>
          <a:schemeClr val="bg1"/>
        </a:solidFill>
        <a:effectLst/>
      </p:bgPr>
    </p:bg>
    <p:spTree>
      <p:nvGrpSpPr>
        <p:cNvPr id="1" name=""/>
        <p:cNvGrpSpPr/>
        <p:nvPr/>
      </p:nvGrpSpPr>
      <p:grpSpPr>
        <a:xfrm>
          <a:off x="0" y="0"/>
          <a:ext cx="0" cy="0"/>
          <a:chOff x="0" y="0"/>
          <a:chExt cx="0" cy="0"/>
        </a:xfrm>
      </p:grpSpPr>
      <p:sp>
        <p:nvSpPr>
          <p:cNvPr id="24" name="Title 1">
            <a:extLst>
              <a:ext uri="{FF2B5EF4-FFF2-40B4-BE49-F238E27FC236}">
                <a16:creationId xmlns:a16="http://schemas.microsoft.com/office/drawing/2014/main" id="{99ECA8DB-6CA6-9949-9A07-F87FAC8C141E}"/>
              </a:ext>
            </a:extLst>
          </p:cNvPr>
          <p:cNvSpPr>
            <a:spLocks noGrp="1"/>
          </p:cNvSpPr>
          <p:nvPr>
            <p:ph type="ctrTitle" hasCustomPrompt="1"/>
          </p:nvPr>
        </p:nvSpPr>
        <p:spPr>
          <a:xfrm>
            <a:off x="411480" y="1765545"/>
            <a:ext cx="6858000" cy="2387600"/>
          </a:xfrm>
        </p:spPr>
        <p:txBody>
          <a:bodyPr wrap="square" lIns="0" anchor="b">
            <a:noAutofit/>
          </a:bodyPr>
          <a:lstStyle>
            <a:lvl1pPr algn="l">
              <a:lnSpc>
                <a:spcPct val="100000"/>
              </a:lnSpc>
              <a:defRPr sz="4051" b="1">
                <a:solidFill>
                  <a:schemeClr val="tx1"/>
                </a:solidFill>
              </a:defRPr>
            </a:lvl1pPr>
          </a:lstStyle>
          <a:p>
            <a:r>
              <a:rPr lang="en-US"/>
              <a:t>Section Title</a:t>
            </a:r>
          </a:p>
        </p:txBody>
      </p:sp>
      <p:sp>
        <p:nvSpPr>
          <p:cNvPr id="25" name="Subtitle 2">
            <a:extLst>
              <a:ext uri="{FF2B5EF4-FFF2-40B4-BE49-F238E27FC236}">
                <a16:creationId xmlns:a16="http://schemas.microsoft.com/office/drawing/2014/main" id="{72127FA9-1204-7F41-98D3-57DA3F8E3DD2}"/>
              </a:ext>
            </a:extLst>
          </p:cNvPr>
          <p:cNvSpPr>
            <a:spLocks noGrp="1"/>
          </p:cNvSpPr>
          <p:nvPr>
            <p:ph type="subTitle" idx="1" hasCustomPrompt="1"/>
          </p:nvPr>
        </p:nvSpPr>
        <p:spPr>
          <a:xfrm>
            <a:off x="411480" y="4246286"/>
            <a:ext cx="6858000" cy="504951"/>
          </a:xfrm>
          <a:prstGeom prst="rect">
            <a:avLst/>
          </a:prstGeom>
        </p:spPr>
        <p:txBody>
          <a:bodyPr wrap="square" lIns="0" anchor="t">
            <a:noAutofit/>
          </a:bodyPr>
          <a:lstStyle>
            <a:lvl1pPr marL="0" indent="0" algn="l">
              <a:buNone/>
              <a:defRPr sz="1600">
                <a:solidFill>
                  <a:schemeClr val="tx1"/>
                </a:solidFill>
              </a:defRPr>
            </a:lvl1pPr>
            <a:lvl2pPr marL="457178" indent="0" algn="ctr">
              <a:buNone/>
              <a:defRPr sz="2000"/>
            </a:lvl2pPr>
            <a:lvl3pPr marL="914356" indent="0" algn="ctr">
              <a:buNone/>
              <a:defRPr sz="1800"/>
            </a:lvl3pPr>
            <a:lvl4pPr marL="1371532" indent="0" algn="ctr">
              <a:buNone/>
              <a:defRPr sz="1600"/>
            </a:lvl4pPr>
            <a:lvl5pPr marL="1828709" indent="0" algn="ctr">
              <a:buNone/>
              <a:defRPr sz="1600"/>
            </a:lvl5pPr>
            <a:lvl6pPr marL="2285886" indent="0" algn="ctr">
              <a:buNone/>
              <a:defRPr sz="1600"/>
            </a:lvl6pPr>
            <a:lvl7pPr marL="2743063" indent="0" algn="ctr">
              <a:buNone/>
              <a:defRPr sz="1600"/>
            </a:lvl7pPr>
            <a:lvl8pPr marL="3200240" indent="0" algn="ctr">
              <a:buNone/>
              <a:defRPr sz="1600"/>
            </a:lvl8pPr>
            <a:lvl9pPr marL="3657418" indent="0" algn="ctr">
              <a:buNone/>
              <a:defRPr sz="1600"/>
            </a:lvl9pPr>
          </a:lstStyle>
          <a:p>
            <a:r>
              <a:rPr lang="en-US"/>
              <a:t>Click To Edit Master Subtitle Style</a:t>
            </a:r>
          </a:p>
        </p:txBody>
      </p:sp>
    </p:spTree>
    <p:extLst>
      <p:ext uri="{BB962C8B-B14F-4D97-AF65-F5344CB8AC3E}">
        <p14:creationId xmlns:p14="http://schemas.microsoft.com/office/powerpoint/2010/main" val="2675808367"/>
      </p:ext>
    </p:extLst>
  </p:cSld>
  <p:clrMapOvr>
    <a:masterClrMapping/>
  </p:clrMapOvr>
  <p:hf hdr="0" dt="0"/>
</p:sldLayout>
</file>

<file path=ppt/slideLayouts/slideLayout8.xml><?xml version="1.0" encoding="utf-8"?>
<p:sldLayout xmlns:a="http://schemas.openxmlformats.org/drawingml/2006/main" xmlns:r="http://schemas.openxmlformats.org/officeDocument/2006/relationships" xmlns:p="http://schemas.openxmlformats.org/presentationml/2006/main">
  <p:cSld name="Content Slide (1 Tab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ABA329-18AC-1040-A57E-877C9DB8AD8F}"/>
              </a:ext>
            </a:extLst>
          </p:cNvPr>
          <p:cNvSpPr>
            <a:spLocks noGrp="1"/>
          </p:cNvSpPr>
          <p:nvPr>
            <p:ph type="title" hasCustomPrompt="1"/>
          </p:nvPr>
        </p:nvSpPr>
        <p:spPr/>
        <p:txBody>
          <a:bodyPr/>
          <a:lstStyle/>
          <a:p>
            <a:r>
              <a:rPr lang="en-US"/>
              <a:t>Content Slide (1 Table)</a:t>
            </a:r>
          </a:p>
        </p:txBody>
      </p:sp>
      <p:sp>
        <p:nvSpPr>
          <p:cNvPr id="4" name="Table Placeholder 3">
            <a:extLst>
              <a:ext uri="{FF2B5EF4-FFF2-40B4-BE49-F238E27FC236}">
                <a16:creationId xmlns:a16="http://schemas.microsoft.com/office/drawing/2014/main" id="{B45F3477-D801-4745-B660-F6E9B0A7ADD6}"/>
              </a:ext>
            </a:extLst>
          </p:cNvPr>
          <p:cNvSpPr>
            <a:spLocks noGrp="1"/>
          </p:cNvSpPr>
          <p:nvPr>
            <p:ph type="tbl" sz="quarter" idx="10"/>
          </p:nvPr>
        </p:nvSpPr>
        <p:spPr>
          <a:xfrm>
            <a:off x="827690" y="1522380"/>
            <a:ext cx="7488621" cy="4205761"/>
          </a:xfrm>
        </p:spPr>
        <p:txBody>
          <a:bodyPr/>
          <a:lstStyle/>
          <a:p>
            <a:r>
              <a:rPr lang="en-US"/>
              <a:t>Click icon to add table</a:t>
            </a:r>
          </a:p>
        </p:txBody>
      </p:sp>
      <p:sp>
        <p:nvSpPr>
          <p:cNvPr id="3" name="Footer Placeholder 2">
            <a:extLst>
              <a:ext uri="{FF2B5EF4-FFF2-40B4-BE49-F238E27FC236}">
                <a16:creationId xmlns:a16="http://schemas.microsoft.com/office/drawing/2014/main" id="{160BC30F-382C-ED32-9CAC-D790886BEA8A}"/>
              </a:ext>
            </a:extLst>
          </p:cNvPr>
          <p:cNvSpPr>
            <a:spLocks noGrp="1"/>
          </p:cNvSpPr>
          <p:nvPr>
            <p:ph type="ftr" sz="quarter" idx="11"/>
          </p:nvPr>
        </p:nvSpPr>
        <p:spPr/>
        <p:txBody>
          <a:bodyPr/>
          <a:lstStyle/>
          <a:p>
            <a:pPr>
              <a:defRPr/>
            </a:pPr>
            <a:r>
              <a:rPr lang="en-US"/>
              <a:t>Title Here (Go to Header &amp; Footer to edit this text)</a:t>
            </a:r>
          </a:p>
        </p:txBody>
      </p:sp>
    </p:spTree>
    <p:extLst>
      <p:ext uri="{BB962C8B-B14F-4D97-AF65-F5344CB8AC3E}">
        <p14:creationId xmlns:p14="http://schemas.microsoft.com/office/powerpoint/2010/main" val="3567743252"/>
      </p:ext>
    </p:extLst>
  </p:cSld>
  <p:clrMapOvr>
    <a:masterClrMapping/>
  </p:clrMapOvr>
  <p:hf hdr="0" dt="0"/>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theme" Target="../theme/theme1.xml"/><Relationship Id="rId10" Type="http://schemas.openxmlformats.org/officeDocument/2006/relationships/image" Target="../media/image1.jpeg"/><Relationship Id="rId11"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8" name="Picture 17" descr="A colorful border with white background&#10;&#10;AI-generated content may be incorrect.">
            <a:extLst>
              <a:ext uri="{FF2B5EF4-FFF2-40B4-BE49-F238E27FC236}">
                <a16:creationId xmlns:a16="http://schemas.microsoft.com/office/drawing/2014/main" id="{CE55CBAE-E697-0C4B-54A1-9D626834F8E6}"/>
              </a:ext>
            </a:extLst>
          </p:cNvPr>
          <p:cNvPicPr>
            <a:picLocks noChangeAspect="1"/>
          </p:cNvPicPr>
          <p:nvPr/>
        </p:nvPicPr>
        <p:blipFill>
          <a:blip r:embed="rId10"/>
          <a:srcRect l="11670" t="-1" b="2268"/>
          <a:stretch>
            <a:fillRect/>
          </a:stretch>
        </p:blipFill>
        <p:spPr>
          <a:xfrm>
            <a:off x="1068049" y="0"/>
            <a:ext cx="8074808" cy="6735580"/>
          </a:xfrm>
          <a:prstGeom prst="rect">
            <a:avLst/>
          </a:prstGeom>
        </p:spPr>
      </p:pic>
      <p:sp>
        <p:nvSpPr>
          <p:cNvPr id="2" name="Title Placeholder 1">
            <a:extLst>
              <a:ext uri="{FF2B5EF4-FFF2-40B4-BE49-F238E27FC236}">
                <a16:creationId xmlns:a16="http://schemas.microsoft.com/office/drawing/2014/main" id="{9326B404-5244-B7E1-CE90-C90A299FE9AB}"/>
              </a:ext>
            </a:extLst>
          </p:cNvPr>
          <p:cNvSpPr>
            <a:spLocks noGrp="1"/>
          </p:cNvSpPr>
          <p:nvPr>
            <p:ph type="title"/>
          </p:nvPr>
        </p:nvSpPr>
        <p:spPr>
          <a:xfrm>
            <a:off x="274320" y="228600"/>
            <a:ext cx="8572500" cy="731520"/>
          </a:xfrm>
          <a:prstGeom prst="rect">
            <a:avLst/>
          </a:prstGeom>
          <a:noFill/>
          <a:ln w="9525">
            <a:noFill/>
            <a:miter lim="800000"/>
            <a:headEnd/>
            <a:tailEnd/>
          </a:ln>
        </p:spPr>
        <p:txBody>
          <a:bodyPr vert="horz" wrap="square" lIns="0" tIns="45720" rIns="0" bIns="45720" numCol="1" anchor="b" anchorCtr="0" compatLnSpc="1">
            <a:prstTxWarp prst="textNoShape">
              <a:avLst/>
            </a:prstTxWarp>
          </a:bodyPr>
          <a:lstStyle/>
          <a:p>
            <a:pPr lvl="0" defTabSz="342815" eaLnBrk="0" fontAlgn="base" hangingPunct="0">
              <a:spcAft>
                <a:spcPct val="0"/>
              </a:spcAft>
            </a:pPr>
            <a:r>
              <a:rPr lang="en-US"/>
              <a:t>Click to edit Master title style</a:t>
            </a:r>
          </a:p>
        </p:txBody>
      </p:sp>
      <p:sp>
        <p:nvSpPr>
          <p:cNvPr id="3" name="Text Placeholder 2">
            <a:extLst>
              <a:ext uri="{FF2B5EF4-FFF2-40B4-BE49-F238E27FC236}">
                <a16:creationId xmlns:a16="http://schemas.microsoft.com/office/drawing/2014/main" id="{4D14D430-40C0-A619-D7AE-7F9E828D0355}"/>
              </a:ext>
            </a:extLst>
          </p:cNvPr>
          <p:cNvSpPr>
            <a:spLocks noGrp="1"/>
          </p:cNvSpPr>
          <p:nvPr>
            <p:ph type="body" idx="1"/>
          </p:nvPr>
        </p:nvSpPr>
        <p:spPr>
          <a:xfrm>
            <a:off x="274320" y="1188720"/>
            <a:ext cx="8572500" cy="5212080"/>
          </a:xfrm>
          <a:prstGeom prst="rect">
            <a:avLst/>
          </a:prstGeom>
        </p:spPr>
        <p:txBody>
          <a:bodyPr lIns="0" rIns="0"/>
          <a:lstStyle/>
          <a:p>
            <a:pPr marL="174978" lvl="0" indent="-174978" defTabSz="342815" eaLnBrk="0" fontAlgn="base" hangingPunct="0">
              <a:spcAft>
                <a:spcPts val="450"/>
              </a:spcAft>
              <a:tabLst/>
            </a:pPr>
            <a:r>
              <a:rPr lang="en-US"/>
              <a:t>Click to edit Master text styles</a:t>
            </a:r>
          </a:p>
          <a:p>
            <a:pPr marL="429816" lvl="1" indent="-173831" defTabSz="342815" eaLnBrk="0" fontAlgn="base" hangingPunct="0">
              <a:spcBef>
                <a:spcPts val="0"/>
              </a:spcBef>
              <a:spcAft>
                <a:spcPts val="450"/>
              </a:spcAft>
              <a:buChar char="–"/>
            </a:pPr>
            <a:r>
              <a:rPr lang="en-US"/>
              <a:t>Second level</a:t>
            </a:r>
          </a:p>
          <a:p>
            <a:pPr marL="598885" lvl="2" indent="-128588" defTabSz="342815" eaLnBrk="0" fontAlgn="base" hangingPunct="0">
              <a:spcBef>
                <a:spcPts val="0"/>
              </a:spcBef>
              <a:spcAft>
                <a:spcPts val="450"/>
              </a:spcAft>
            </a:pPr>
            <a:r>
              <a:rPr lang="en-US"/>
              <a:t>Third level</a:t>
            </a:r>
          </a:p>
          <a:p>
            <a:pPr marL="943930" lvl="3" indent="-174978" defTabSz="342815" eaLnBrk="0" fontAlgn="base" hangingPunct="0">
              <a:spcBef>
                <a:spcPts val="0"/>
              </a:spcBef>
              <a:spcAft>
                <a:spcPts val="450"/>
              </a:spcAft>
              <a:buFont typeface="Arial" charset="0"/>
              <a:buChar char="–"/>
            </a:pPr>
            <a:r>
              <a:rPr lang="en-US"/>
              <a:t>Fourth level</a:t>
            </a:r>
          </a:p>
        </p:txBody>
      </p:sp>
      <p:sp>
        <p:nvSpPr>
          <p:cNvPr id="9" name="Footer Placeholder 4">
            <a:extLst>
              <a:ext uri="{FF2B5EF4-FFF2-40B4-BE49-F238E27FC236}">
                <a16:creationId xmlns:a16="http://schemas.microsoft.com/office/drawing/2014/main" id="{8CC5E8D2-F9D2-6499-AB51-10E531AFC06D}"/>
              </a:ext>
            </a:extLst>
          </p:cNvPr>
          <p:cNvSpPr txBox="1">
            <a:spLocks/>
          </p:cNvSpPr>
          <p:nvPr/>
        </p:nvSpPr>
        <p:spPr bwMode="gray">
          <a:xfrm>
            <a:off x="6969320" y="6537776"/>
            <a:ext cx="1936428" cy="150023"/>
          </a:xfrm>
          <a:prstGeom prst="rect">
            <a:avLst/>
          </a:prstGeom>
          <a:noFill/>
          <a:ln w="9525">
            <a:noFill/>
            <a:miter lim="800000"/>
            <a:headEnd/>
            <a:tailEnd/>
          </a:ln>
        </p:spPr>
        <p:txBody>
          <a:bodyPr vert="horz" wrap="none" lIns="0" tIns="34281" rIns="0" bIns="34281" numCol="1" anchor="ctr" anchorCtr="0" compatLnSpc="1">
            <a:prstTxWarp prst="textNoShape">
              <a:avLst/>
            </a:prstTxWarp>
            <a:spAutoFit/>
          </a:bodyPr>
          <a:lstStyle>
            <a:defPPr>
              <a:defRPr lang="en-US"/>
            </a:defPPr>
            <a:lvl1pPr algn="r" defTabSz="457200" rtl="0" fontAlgn="base">
              <a:lnSpc>
                <a:spcPct val="100000"/>
              </a:lnSpc>
              <a:spcBef>
                <a:spcPct val="0"/>
              </a:spcBef>
              <a:spcAft>
                <a:spcPct val="0"/>
              </a:spcAft>
              <a:defRPr sz="900" kern="1200">
                <a:solidFill>
                  <a:schemeClr val="bg1"/>
                </a:solidFill>
                <a:latin typeface="Calibri" pitchFamily="34" charset="0"/>
                <a:ea typeface="+mn-ea"/>
                <a:cs typeface="+mn-cs"/>
              </a:defRPr>
            </a:lvl1pPr>
            <a:lvl2pPr marL="457200" algn="l" defTabSz="457200" rtl="0" fontAlgn="base">
              <a:spcBef>
                <a:spcPct val="0"/>
              </a:spcBef>
              <a:spcAft>
                <a:spcPct val="0"/>
              </a:spcAft>
              <a:defRPr kern="1200">
                <a:solidFill>
                  <a:schemeClr val="tx1"/>
                </a:solidFill>
                <a:latin typeface="Calibri" pitchFamily="34" charset="0"/>
                <a:ea typeface="+mn-ea"/>
                <a:cs typeface="Arial" charset="0"/>
              </a:defRPr>
            </a:lvl2pPr>
            <a:lvl3pPr marL="914400" algn="l" defTabSz="457200" rtl="0" fontAlgn="base">
              <a:spcBef>
                <a:spcPct val="0"/>
              </a:spcBef>
              <a:spcAft>
                <a:spcPct val="0"/>
              </a:spcAft>
              <a:defRPr kern="1200">
                <a:solidFill>
                  <a:schemeClr val="tx1"/>
                </a:solidFill>
                <a:latin typeface="Calibri" pitchFamily="34" charset="0"/>
                <a:ea typeface="+mn-ea"/>
                <a:cs typeface="Arial" charset="0"/>
              </a:defRPr>
            </a:lvl3pPr>
            <a:lvl4pPr marL="1371600" algn="l" defTabSz="457200" rtl="0" fontAlgn="base">
              <a:spcBef>
                <a:spcPct val="0"/>
              </a:spcBef>
              <a:spcAft>
                <a:spcPct val="0"/>
              </a:spcAft>
              <a:defRPr kern="1200">
                <a:solidFill>
                  <a:schemeClr val="tx1"/>
                </a:solidFill>
                <a:latin typeface="Calibri" pitchFamily="34" charset="0"/>
                <a:ea typeface="+mn-ea"/>
                <a:cs typeface="Arial" charset="0"/>
              </a:defRPr>
            </a:lvl4pPr>
            <a:lvl5pPr marL="1828800" algn="l" defTabSz="457200"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r">
              <a:defRPr/>
            </a:pPr>
            <a:r>
              <a:rPr lang="en-US" sz="525" kern="1200">
                <a:solidFill>
                  <a:schemeClr val="bg1"/>
                </a:solidFill>
                <a:latin typeface="+mn-lt"/>
                <a:ea typeface="Roboto" panose="02000000000000000000" pitchFamily="2" charset="0"/>
                <a:cs typeface="+mn-cs"/>
              </a:rPr>
              <a:t>Presentation Title  |  Company Confidential. © 2025 AbbVie.  |  </a:t>
            </a:r>
            <a:fld id="{46A0009C-F711-4867-928A-A4FC23F39790}" type="slidenum">
              <a:rPr lang="en-US" sz="525" kern="1200" smtClean="0">
                <a:solidFill>
                  <a:schemeClr val="bg1"/>
                </a:solidFill>
                <a:latin typeface="+mn-lt"/>
                <a:ea typeface="Roboto" panose="02000000000000000000" pitchFamily="2" charset="0"/>
                <a:cs typeface="+mn-cs"/>
              </a:rPr>
              <a:t>‹#›</a:t>
            </a:fld>
            <a:endParaRPr lang="en-US" sz="525" kern="1200">
              <a:solidFill>
                <a:schemeClr val="bg1"/>
              </a:solidFill>
              <a:latin typeface="+mn-lt"/>
              <a:ea typeface="Roboto" panose="02000000000000000000" pitchFamily="2" charset="0"/>
              <a:cs typeface="+mn-cs"/>
            </a:endParaRPr>
          </a:p>
        </p:txBody>
      </p:sp>
      <p:pic>
        <p:nvPicPr>
          <p:cNvPr id="16" name="Picture 15" descr="A colorful text on a black background&#10;&#10;AI-generated content may be incorrect.">
            <a:extLst>
              <a:ext uri="{FF2B5EF4-FFF2-40B4-BE49-F238E27FC236}">
                <a16:creationId xmlns:a16="http://schemas.microsoft.com/office/drawing/2014/main" id="{6971F8B3-D306-8C71-DF06-A0E5FCF7201F}"/>
              </a:ext>
            </a:extLst>
          </p:cNvPr>
          <p:cNvPicPr>
            <a:picLocks noChangeAspect="1"/>
          </p:cNvPicPr>
          <p:nvPr/>
        </p:nvPicPr>
        <p:blipFill>
          <a:blip r:embed="rId11"/>
          <a:stretch>
            <a:fillRect/>
          </a:stretch>
        </p:blipFill>
        <p:spPr>
          <a:xfrm>
            <a:off x="109664" y="6287733"/>
            <a:ext cx="904009" cy="564189"/>
          </a:xfrm>
          <a:prstGeom prst="rect">
            <a:avLst/>
          </a:prstGeom>
        </p:spPr>
      </p:pic>
      <p:sp>
        <p:nvSpPr>
          <p:cNvPr id="8" name="Footer Placeholder 7">
            <a:extLst>
              <a:ext uri="{FF2B5EF4-FFF2-40B4-BE49-F238E27FC236}">
                <a16:creationId xmlns:a16="http://schemas.microsoft.com/office/drawing/2014/main" id="{CEAA2441-24B2-BAA5-D059-FCF1A7F36C18}"/>
              </a:ext>
            </a:extLst>
          </p:cNvPr>
          <p:cNvSpPr>
            <a:spLocks noGrp="1"/>
          </p:cNvSpPr>
          <p:nvPr>
            <p:ph type="ftr" sz="quarter" idx="3"/>
          </p:nvPr>
        </p:nvSpPr>
        <p:spPr>
          <a:xfrm>
            <a:off x="205273" y="6035675"/>
            <a:ext cx="8829063"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Footer Placeholder 4">
            <a:extLst>
              <a:ext uri="{FF2B5EF4-FFF2-40B4-BE49-F238E27FC236}">
                <a16:creationId xmlns:a16="http://schemas.microsoft.com/office/drawing/2014/main" id="{85A4FBAB-EB9F-E021-4477-59C756B6E27A}"/>
              </a:ext>
            </a:extLst>
          </p:cNvPr>
          <p:cNvSpPr txBox="1">
            <a:spLocks/>
          </p:cNvSpPr>
          <p:nvPr userDrawn="1"/>
        </p:nvSpPr>
        <p:spPr bwMode="gray">
          <a:xfrm>
            <a:off x="3986971" y="6570466"/>
            <a:ext cx="1124347" cy="161583"/>
          </a:xfrm>
          <a:prstGeom prst="rect">
            <a:avLst/>
          </a:prstGeom>
          <a:noFill/>
          <a:ln w="9525">
            <a:noFill/>
            <a:miter lim="800000"/>
            <a:headEnd/>
            <a:tailEnd/>
          </a:ln>
        </p:spPr>
        <p:txBody>
          <a:bodyPr vert="horz" wrap="none" lIns="68580" tIns="34290" rIns="68580" bIns="34290" numCol="1" anchor="ctr" anchorCtr="0" compatLnSpc="1">
            <a:prstTxWarp prst="textNoShape">
              <a:avLst/>
            </a:prstTxWarp>
            <a:spAutoFit/>
          </a:bodyPr>
          <a:lstStyle>
            <a:defPPr>
              <a:defRPr lang="en-US"/>
            </a:defPPr>
            <a:lvl1pPr algn="r" defTabSz="457200" rtl="0" fontAlgn="base">
              <a:lnSpc>
                <a:spcPct val="100000"/>
              </a:lnSpc>
              <a:spcBef>
                <a:spcPct val="0"/>
              </a:spcBef>
              <a:spcAft>
                <a:spcPct val="0"/>
              </a:spcAft>
              <a:defRPr sz="900" kern="1200">
                <a:solidFill>
                  <a:schemeClr val="bg1"/>
                </a:solidFill>
                <a:latin typeface="Calibri" pitchFamily="34" charset="0"/>
                <a:ea typeface="+mn-ea"/>
                <a:cs typeface="+mn-cs"/>
              </a:defRPr>
            </a:lvl1pPr>
            <a:lvl2pPr marL="457200" algn="l" defTabSz="457200" rtl="0" fontAlgn="base">
              <a:spcBef>
                <a:spcPct val="0"/>
              </a:spcBef>
              <a:spcAft>
                <a:spcPct val="0"/>
              </a:spcAft>
              <a:defRPr kern="1200">
                <a:solidFill>
                  <a:schemeClr val="tx1"/>
                </a:solidFill>
                <a:latin typeface="Calibri" pitchFamily="34" charset="0"/>
                <a:ea typeface="+mn-ea"/>
                <a:cs typeface="Arial" charset="0"/>
              </a:defRPr>
            </a:lvl2pPr>
            <a:lvl3pPr marL="914400" algn="l" defTabSz="457200" rtl="0" fontAlgn="base">
              <a:spcBef>
                <a:spcPct val="0"/>
              </a:spcBef>
              <a:spcAft>
                <a:spcPct val="0"/>
              </a:spcAft>
              <a:defRPr kern="1200">
                <a:solidFill>
                  <a:schemeClr val="tx1"/>
                </a:solidFill>
                <a:latin typeface="Calibri" pitchFamily="34" charset="0"/>
                <a:ea typeface="+mn-ea"/>
                <a:cs typeface="Arial" charset="0"/>
              </a:defRPr>
            </a:lvl3pPr>
            <a:lvl4pPr marL="1371600" algn="l" defTabSz="457200" rtl="0" fontAlgn="base">
              <a:spcBef>
                <a:spcPct val="0"/>
              </a:spcBef>
              <a:spcAft>
                <a:spcPct val="0"/>
              </a:spcAft>
              <a:defRPr kern="1200">
                <a:solidFill>
                  <a:schemeClr val="tx1"/>
                </a:solidFill>
                <a:latin typeface="Calibri" pitchFamily="34" charset="0"/>
                <a:ea typeface="+mn-ea"/>
                <a:cs typeface="Arial" charset="0"/>
              </a:defRPr>
            </a:lvl4pPr>
            <a:lvl5pPr marL="1828800" algn="l" defTabSz="457200"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ctr">
              <a:defRPr/>
            </a:pPr>
            <a:r>
              <a:rPr lang="en-US" sz="600" b="1">
                <a:solidFill>
                  <a:schemeClr val="tx1"/>
                </a:solidFill>
                <a:latin typeface="Arial" panose="020B0604020202020204" pitchFamily="34" charset="0"/>
              </a:rPr>
              <a:t>FOR INTERNAL USE ONLY</a:t>
            </a:r>
          </a:p>
        </p:txBody>
      </p:sp>
    </p:spTree>
    <p:extLst>
      <p:ext uri="{BB962C8B-B14F-4D97-AF65-F5344CB8AC3E}">
        <p14:creationId xmlns:p14="http://schemas.microsoft.com/office/powerpoint/2010/main" val="3149768233"/>
      </p:ext>
    </p:extLst>
  </p:cSld>
  <p:clrMap bg1="lt1" tx1="dk1" bg2="lt2" tx2="dk2" accent1="accent1" accent2="accent2" accent3="accent3" accent4="accent4" accent5="accent5" accent6="accent6" hlink="hlink" folHlink="folHlink"/>
  <p:sldLayoutIdLst>
    <p:sldLayoutId id="2147484370" r:id="rId1"/>
    <p:sldLayoutId id="2147484371" r:id="rId2"/>
    <p:sldLayoutId id="2147484372" r:id="rId3"/>
    <p:sldLayoutId id="2147484373" r:id="rId4"/>
    <p:sldLayoutId id="2147484374" r:id="rId5"/>
    <p:sldLayoutId id="2147484375" r:id="rId6"/>
    <p:sldLayoutId id="2147484376" r:id="rId7"/>
    <p:sldLayoutId id="2147484377" r:id="rId8"/>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685800" rtl="0" eaLnBrk="1" latinLnBrk="0" hangingPunct="1">
        <a:lnSpc>
          <a:spcPct val="90000"/>
        </a:lnSpc>
        <a:spcBef>
          <a:spcPct val="0"/>
        </a:spcBef>
        <a:buNone/>
        <a:defRPr lang="en-US" sz="1800" b="0" kern="1200">
          <a:solidFill>
            <a:schemeClr val="tx1"/>
          </a:solidFill>
          <a:latin typeface="+mj-lt"/>
          <a:ea typeface="+mj-ea"/>
          <a:cs typeface="+mj-cs"/>
        </a:defRPr>
      </a:lvl1pPr>
    </p:titleStyle>
    <p:bodyStyle>
      <a:lvl1pPr marL="171450" indent="-171450" algn="l" defTabSz="685800" rtl="0" eaLnBrk="1" latinLnBrk="0" hangingPunct="1">
        <a:lnSpc>
          <a:spcPct val="100000"/>
        </a:lnSpc>
        <a:spcBef>
          <a:spcPts val="750"/>
        </a:spcBef>
        <a:buFont typeface="Arial" panose="020B0604020202020204" pitchFamily="34" charset="0"/>
        <a:buChar char="•"/>
        <a:defRPr lang="en-US" sz="1200" kern="1200" dirty="0" smtClean="0">
          <a:solidFill>
            <a:schemeClr val="tx1"/>
          </a:solidFill>
          <a:latin typeface="+mn-lt"/>
          <a:ea typeface="Roboto" panose="02000000000000000000" pitchFamily="2" charset="0"/>
          <a:cs typeface="+mn-cs"/>
        </a:defRPr>
      </a:lvl1pPr>
      <a:lvl2pPr marL="514350" indent="-171450" algn="l" defTabSz="685800" rtl="0" eaLnBrk="1" latinLnBrk="0" hangingPunct="1">
        <a:lnSpc>
          <a:spcPct val="100000"/>
        </a:lnSpc>
        <a:spcBef>
          <a:spcPts val="375"/>
        </a:spcBef>
        <a:buFont typeface="Arial" panose="020B0604020202020204" pitchFamily="34" charset="0"/>
        <a:buChar char="•"/>
        <a:defRPr lang="en-US" sz="1050" kern="1200" dirty="0" smtClean="0">
          <a:solidFill>
            <a:schemeClr val="tx1"/>
          </a:solidFill>
          <a:latin typeface="+mn-lt"/>
          <a:ea typeface="Roboto" panose="02000000000000000000" pitchFamily="2" charset="0"/>
          <a:cs typeface="+mn-cs"/>
        </a:defRPr>
      </a:lvl2pPr>
      <a:lvl3pPr marL="857250" indent="-171450" algn="l" defTabSz="685800" rtl="0" eaLnBrk="1" latinLnBrk="0" hangingPunct="1">
        <a:lnSpc>
          <a:spcPct val="100000"/>
        </a:lnSpc>
        <a:spcBef>
          <a:spcPts val="375"/>
        </a:spcBef>
        <a:buFont typeface="Arial" panose="020B0604020202020204" pitchFamily="34" charset="0"/>
        <a:buChar char="•"/>
        <a:defRPr lang="en-US" sz="900" kern="1200" dirty="0" smtClean="0">
          <a:solidFill>
            <a:schemeClr val="tx1"/>
          </a:solidFill>
          <a:latin typeface="+mn-lt"/>
          <a:ea typeface="Roboto" panose="02000000000000000000" pitchFamily="2" charset="0"/>
          <a:cs typeface="+mn-cs"/>
        </a:defRPr>
      </a:lvl3pPr>
      <a:lvl4pPr marL="1200150" indent="-171450" algn="l" defTabSz="685800" rtl="0" eaLnBrk="1" latinLnBrk="0" hangingPunct="1">
        <a:lnSpc>
          <a:spcPct val="100000"/>
        </a:lnSpc>
        <a:spcBef>
          <a:spcPts val="375"/>
        </a:spcBef>
        <a:buFont typeface="Arial" panose="020B0604020202020204" pitchFamily="34" charset="0"/>
        <a:buChar char="•"/>
        <a:defRPr lang="en-US" sz="900" kern="1200" dirty="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lang="en-US"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224">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8.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tags" Target="../tags/tag4.xml"/><Relationship Id="rId3" Type="http://schemas.openxmlformats.org/officeDocument/2006/relationships/tags" Target="../tags/tag5.xml"/><Relationship Id="rId4" Type="http://schemas.openxmlformats.org/officeDocument/2006/relationships/slideLayout" Target="../slideLayouts/slideLayout4.xml"/><Relationship Id="rId5" Type="http://schemas.openxmlformats.org/officeDocument/2006/relationships/notesSlide" Target="../notesSlides/notesSlide3.xml"/><Relationship Id="rId6" Type="http://schemas.openxmlformats.org/officeDocument/2006/relationships/chart" Target="../charts/chart1.xml"/><Relationship Id="rId7" Type="http://schemas.openxmlformats.org/officeDocument/2006/relationships/chart" Target="../charts/chart2.xml"/><Relationship Id="rId8" Type="http://schemas.openxmlformats.org/officeDocument/2006/relationships/image" Target="../media/image5.emf"/><Relationship Id="rId9" Type="http://schemas.openxmlformats.org/officeDocument/2006/relationships/image" Target="../media/image6.emf"/><Relationship Id="rId10" Type="http://schemas.openxmlformats.org/officeDocument/2006/relationships/image" Target="../media/image7.emf"/><Relationship Id="rId11" Type="http://schemas.openxmlformats.org/officeDocument/2006/relationships/image" Target="../media/image8.emf"/><Relationship Id="rId12" Type="http://schemas.openxmlformats.org/officeDocument/2006/relationships/image" Target="../media/image9.emf"/><Relationship Id="rId13" Type="http://schemas.openxmlformats.org/officeDocument/2006/relationships/image" Target="../media/image10.emf"/></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tags" Target="../tags/tag6.xml"/><Relationship Id="rId2" Type="http://schemas.openxmlformats.org/officeDocument/2006/relationships/slideLayout" Target="../slideLayouts/slideLayout8.xml"/><Relationship Id="rId3" Type="http://schemas.openxmlformats.org/officeDocument/2006/relationships/notesSlide" Target="../notesSlides/notesSlide5.xml"/><Relationship Id="rId4" Type="http://schemas.openxmlformats.org/officeDocument/2006/relationships/slide" Target="slide9.xml"/><Relationship Id="rId5" Type="http://schemas.openxmlformats.org/officeDocument/2006/relationships/slide" Target="slide11.xml"/><Relationship Id="rId6" Type="http://schemas.openxmlformats.org/officeDocument/2006/relationships/slide" Target="slide25.xml"/><Relationship Id="rId7" Type="http://schemas.openxmlformats.org/officeDocument/2006/relationships/slide" Target="slide33.xml"/><Relationship Id="rId8" Type="http://schemas.openxmlformats.org/officeDocument/2006/relationships/slide" Target="slide38.xml"/><Relationship Id="rId9" Type="http://schemas.openxmlformats.org/officeDocument/2006/relationships/slide" Target="slide37.xml"/><Relationship Id="rId10" Type="http://schemas.openxmlformats.org/officeDocument/2006/relationships/slide" Target="slide43.xml"/></Relationships>
</file>

<file path=ppt/slides/_rels/slide7.xml.rels><?xml version='1.0' encoding='UTF-8' standalone='yes'?>
<Relationships xmlns="http://schemas.openxmlformats.org/package/2006/relationships"><Relationship Id="rId1" Type="http://schemas.openxmlformats.org/officeDocument/2006/relationships/tags" Target="../tags/tag7.xml"/><Relationship Id="rId2" Type="http://schemas.openxmlformats.org/officeDocument/2006/relationships/slideLayout" Target="../slideLayouts/slideLayout8.xml"/><Relationship Id="rId3" Type="http://schemas.openxmlformats.org/officeDocument/2006/relationships/notesSlide" Target="../notesSlides/notesSlide6.xml"/><Relationship Id="rId4" Type="http://schemas.openxmlformats.org/officeDocument/2006/relationships/slide" Target="slide90.xml"/><Relationship Id="rId5" Type="http://schemas.openxmlformats.org/officeDocument/2006/relationships/slide" Target="slide25.xml"/><Relationship Id="rId6" Type="http://schemas.openxmlformats.org/officeDocument/2006/relationships/slide" Target="slide9.xml"/><Relationship Id="rId7" Type="http://schemas.openxmlformats.org/officeDocument/2006/relationships/slide" Target="slide86.xml"/><Relationship Id="rId8" Type="http://schemas.openxmlformats.org/officeDocument/2006/relationships/slide" Target="slide3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9.xml.rels><?xml version='1.0' encoding='UTF-8' standalone='yes'?>
<Relationships xmlns="http://schemas.openxmlformats.org/package/2006/relationships"><Relationship Id="rId1" Type="http://schemas.openxmlformats.org/officeDocument/2006/relationships/tags" Target="../tags/tag8.xml"/><Relationship Id="rId2" Type="http://schemas.openxmlformats.org/officeDocument/2006/relationships/tags" Target="../tags/tag9.xml"/><Relationship Id="rId3" Type="http://schemas.openxmlformats.org/officeDocument/2006/relationships/tags" Target="../tags/tag10.xml"/><Relationship Id="rId4" Type="http://schemas.openxmlformats.org/officeDocument/2006/relationships/tags" Target="../tags/tag11.xml"/><Relationship Id="rId5" Type="http://schemas.openxmlformats.org/officeDocument/2006/relationships/tags" Target="../tags/tag12.xml"/><Relationship Id="rId6" Type="http://schemas.openxmlformats.org/officeDocument/2006/relationships/tags" Target="../tags/tag13.xml"/><Relationship Id="rId7" Type="http://schemas.openxmlformats.org/officeDocument/2006/relationships/tags" Target="../tags/tag14.xml"/><Relationship Id="rId8" Type="http://schemas.openxmlformats.org/officeDocument/2006/relationships/tags" Target="../tags/tag15.xml"/><Relationship Id="rId9" Type="http://schemas.openxmlformats.org/officeDocument/2006/relationships/tags" Target="../tags/tag16.xml"/><Relationship Id="rId10" Type="http://schemas.openxmlformats.org/officeDocument/2006/relationships/tags" Target="../tags/tag17.xml"/><Relationship Id="rId11" Type="http://schemas.openxmlformats.org/officeDocument/2006/relationships/slideLayout" Target="../slideLayouts/slideLayout6.xml"/><Relationship Id="rId12" Type="http://schemas.openxmlformats.org/officeDocument/2006/relationships/notesSlide" Target="../notesSlides/notesSlide7.xml"/><Relationship Id="rId13" Type="http://schemas.openxmlformats.org/officeDocument/2006/relationships/chart" Target="../charts/chart3.xml"/><Relationship Id="rId14" Type="http://schemas.openxmlformats.org/officeDocument/2006/relationships/chart" Target="../charts/chart4.xml"/><Relationship Id="rId15" Type="http://schemas.openxmlformats.org/officeDocument/2006/relationships/chart" Target="../charts/chart5.xml"/><Relationship Id="rId16" Type="http://schemas.openxmlformats.org/officeDocument/2006/relationships/chart" Target="../charts/chart6.xml"/><Relationship Id="rId17" Type="http://schemas.openxmlformats.org/officeDocument/2006/relationships/chart" Target="../charts/chart7.xml"/><Relationship Id="rId18" Type="http://schemas.openxmlformats.org/officeDocument/2006/relationships/chart" Target="../charts/chart8.xml"/><Relationship Id="rId19" Type="http://schemas.openxmlformats.org/officeDocument/2006/relationships/chart" Target="../charts/chart9.xml"/><Relationship Id="rId20" Type="http://schemas.openxmlformats.org/officeDocument/2006/relationships/chart" Target="../charts/chart10.xml"/><Relationship Id="rId21" Type="http://schemas.openxmlformats.org/officeDocument/2006/relationships/slide" Target="slide6.xml"/></Relationships>
</file>

<file path=ppt/slides/_rels/slide10.xml.rels><?xml version='1.0' encoding='UTF-8' standalone='yes'?>
<Relationships xmlns="http://schemas.openxmlformats.org/package/2006/relationships"><Relationship Id="rId1" Type="http://schemas.openxmlformats.org/officeDocument/2006/relationships/tags" Target="../tags/tag18.xml"/><Relationship Id="rId2" Type="http://schemas.openxmlformats.org/officeDocument/2006/relationships/tags" Target="../tags/tag19.xml"/><Relationship Id="rId3" Type="http://schemas.openxmlformats.org/officeDocument/2006/relationships/tags" Target="../tags/tag20.xml"/><Relationship Id="rId4" Type="http://schemas.openxmlformats.org/officeDocument/2006/relationships/tags" Target="../tags/tag21.xml"/><Relationship Id="rId5" Type="http://schemas.openxmlformats.org/officeDocument/2006/relationships/tags" Target="../tags/tag22.xml"/><Relationship Id="rId6" Type="http://schemas.openxmlformats.org/officeDocument/2006/relationships/tags" Target="../tags/tag23.xml"/><Relationship Id="rId7" Type="http://schemas.openxmlformats.org/officeDocument/2006/relationships/tags" Target="../tags/tag24.xml"/><Relationship Id="rId8" Type="http://schemas.openxmlformats.org/officeDocument/2006/relationships/tags" Target="../tags/tag25.xml"/><Relationship Id="rId9" Type="http://schemas.openxmlformats.org/officeDocument/2006/relationships/tags" Target="../tags/tag26.xml"/><Relationship Id="rId10" Type="http://schemas.openxmlformats.org/officeDocument/2006/relationships/slideLayout" Target="../slideLayouts/slideLayout6.xml"/><Relationship Id="rId11" Type="http://schemas.openxmlformats.org/officeDocument/2006/relationships/notesSlide" Target="../notesSlides/notesSlide8.xml"/><Relationship Id="rId12" Type="http://schemas.openxmlformats.org/officeDocument/2006/relationships/chart" Target="../charts/chart11.xml"/><Relationship Id="rId13" Type="http://schemas.openxmlformats.org/officeDocument/2006/relationships/chart" Target="../charts/chart12.xml"/><Relationship Id="rId14" Type="http://schemas.openxmlformats.org/officeDocument/2006/relationships/chart" Target="../charts/chart13.xml"/><Relationship Id="rId15" Type="http://schemas.openxmlformats.org/officeDocument/2006/relationships/chart" Target="../charts/chart14.xml"/><Relationship Id="rId16" Type="http://schemas.openxmlformats.org/officeDocument/2006/relationships/chart" Target="../charts/chart15.xml"/><Relationship Id="rId17" Type="http://schemas.openxmlformats.org/officeDocument/2006/relationships/chart" Target="../charts/chart16.xml"/><Relationship Id="rId18" Type="http://schemas.openxmlformats.org/officeDocument/2006/relationships/chart" Target="../charts/chart17.xml"/></Relationships>
</file>

<file path=ppt/slides/_rels/slide11.xml.rels><?xml version='1.0' encoding='UTF-8' standalone='yes'?>
<Relationships xmlns="http://schemas.openxmlformats.org/package/2006/relationships"><Relationship Id="rId1" Type="http://schemas.openxmlformats.org/officeDocument/2006/relationships/tags" Target="../tags/tag27.xml"/><Relationship Id="rId2" Type="http://schemas.openxmlformats.org/officeDocument/2006/relationships/tags" Target="../tags/tag28.xml"/><Relationship Id="rId3" Type="http://schemas.openxmlformats.org/officeDocument/2006/relationships/tags" Target="../tags/tag29.xml"/><Relationship Id="rId4" Type="http://schemas.openxmlformats.org/officeDocument/2006/relationships/tags" Target="../tags/tag30.xml"/><Relationship Id="rId5" Type="http://schemas.openxmlformats.org/officeDocument/2006/relationships/tags" Target="../tags/tag31.xml"/><Relationship Id="rId6" Type="http://schemas.openxmlformats.org/officeDocument/2006/relationships/tags" Target="../tags/tag32.xml"/><Relationship Id="rId7" Type="http://schemas.openxmlformats.org/officeDocument/2006/relationships/tags" Target="../tags/tag33.xml"/><Relationship Id="rId8" Type="http://schemas.openxmlformats.org/officeDocument/2006/relationships/tags" Target="../tags/tag34.xml"/><Relationship Id="rId9" Type="http://schemas.openxmlformats.org/officeDocument/2006/relationships/tags" Target="../tags/tag35.xml"/><Relationship Id="rId10" Type="http://schemas.openxmlformats.org/officeDocument/2006/relationships/tags" Target="../tags/tag36.xml"/><Relationship Id="rId11" Type="http://schemas.openxmlformats.org/officeDocument/2006/relationships/tags" Target="../tags/tag37.xml"/><Relationship Id="rId12" Type="http://schemas.openxmlformats.org/officeDocument/2006/relationships/tags" Target="../tags/tag38.xml"/><Relationship Id="rId13" Type="http://schemas.openxmlformats.org/officeDocument/2006/relationships/tags" Target="../tags/tag39.xml"/><Relationship Id="rId14" Type="http://schemas.openxmlformats.org/officeDocument/2006/relationships/tags" Target="../tags/tag40.xml"/><Relationship Id="rId15" Type="http://schemas.openxmlformats.org/officeDocument/2006/relationships/tags" Target="../tags/tag41.xml"/><Relationship Id="rId16" Type="http://schemas.openxmlformats.org/officeDocument/2006/relationships/tags" Target="../tags/tag42.xml"/><Relationship Id="rId17" Type="http://schemas.openxmlformats.org/officeDocument/2006/relationships/tags" Target="../tags/tag43.xml"/><Relationship Id="rId18" Type="http://schemas.openxmlformats.org/officeDocument/2006/relationships/slideLayout" Target="../slideLayouts/slideLayout6.xml"/><Relationship Id="rId19" Type="http://schemas.openxmlformats.org/officeDocument/2006/relationships/notesSlide" Target="../notesSlides/notesSlide9.xml"/><Relationship Id="rId20" Type="http://schemas.microsoft.com/office/2018/10/relationships/comments" Target="../comments/modernComment_2EF5_3E0FB3DA.xml"/><Relationship Id="rId21" Type="http://schemas.openxmlformats.org/officeDocument/2006/relationships/slide" Target="slide6.xml"/><Relationship Id="rId22" Type="http://schemas.openxmlformats.org/officeDocument/2006/relationships/chart" Target="../charts/chart18.xml"/><Relationship Id="rId23" Type="http://schemas.openxmlformats.org/officeDocument/2006/relationships/chart" Target="../charts/chart19.xml"/><Relationship Id="rId24" Type="http://schemas.openxmlformats.org/officeDocument/2006/relationships/chart" Target="../charts/chart20.xml"/><Relationship Id="rId25" Type="http://schemas.openxmlformats.org/officeDocument/2006/relationships/chart" Target="../charts/chart21.xml"/><Relationship Id="rId26" Type="http://schemas.openxmlformats.org/officeDocument/2006/relationships/chart" Target="../charts/chart22.xml"/><Relationship Id="rId27" Type="http://schemas.openxmlformats.org/officeDocument/2006/relationships/chart" Target="../charts/chart23.xml"/><Relationship Id="rId28" Type="http://schemas.openxmlformats.org/officeDocument/2006/relationships/chart" Target="../charts/chart24.xml"/><Relationship Id="rId29" Type="http://schemas.openxmlformats.org/officeDocument/2006/relationships/chart" Target="../charts/chart25.xml"/><Relationship Id="rId30" Type="http://schemas.openxmlformats.org/officeDocument/2006/relationships/chart" Target="../charts/chart26.xml"/><Relationship Id="rId31" Type="http://schemas.openxmlformats.org/officeDocument/2006/relationships/chart" Target="../charts/chart27.xml"/><Relationship Id="rId32" Type="http://schemas.openxmlformats.org/officeDocument/2006/relationships/chart" Target="../charts/chart28.xml"/><Relationship Id="rId33" Type="http://schemas.openxmlformats.org/officeDocument/2006/relationships/chart" Target="../charts/chart29.xml"/><Relationship Id="rId34" Type="http://schemas.openxmlformats.org/officeDocument/2006/relationships/chart" Target="../charts/chart30.xml"/><Relationship Id="rId35" Type="http://schemas.openxmlformats.org/officeDocument/2006/relationships/chart" Target="../charts/chart31.xml"/><Relationship Id="rId36" Type="http://schemas.openxmlformats.org/officeDocument/2006/relationships/chart" Target="../charts/chart32.xml"/></Relationships>
</file>

<file path=ppt/slides/_rels/slide12.xml.rels><?xml version='1.0' encoding='UTF-8' standalone='yes'?>
<Relationships xmlns="http://schemas.openxmlformats.org/package/2006/relationships"><Relationship Id="rId1" Type="http://schemas.openxmlformats.org/officeDocument/2006/relationships/tags" Target="../tags/tag44.xml"/><Relationship Id="rId2" Type="http://schemas.openxmlformats.org/officeDocument/2006/relationships/tags" Target="../tags/tag45.xml"/><Relationship Id="rId3" Type="http://schemas.openxmlformats.org/officeDocument/2006/relationships/tags" Target="../tags/tag46.xml"/><Relationship Id="rId4" Type="http://schemas.openxmlformats.org/officeDocument/2006/relationships/tags" Target="../tags/tag47.xml"/><Relationship Id="rId5" Type="http://schemas.openxmlformats.org/officeDocument/2006/relationships/tags" Target="../tags/tag48.xml"/><Relationship Id="rId6" Type="http://schemas.openxmlformats.org/officeDocument/2006/relationships/tags" Target="../tags/tag49.xml"/><Relationship Id="rId7" Type="http://schemas.openxmlformats.org/officeDocument/2006/relationships/tags" Target="../tags/tag50.xml"/><Relationship Id="rId8" Type="http://schemas.openxmlformats.org/officeDocument/2006/relationships/tags" Target="../tags/tag51.xml"/><Relationship Id="rId9" Type="http://schemas.openxmlformats.org/officeDocument/2006/relationships/tags" Target="../tags/tag52.xml"/><Relationship Id="rId10" Type="http://schemas.openxmlformats.org/officeDocument/2006/relationships/tags" Target="../tags/tag53.xml"/><Relationship Id="rId11" Type="http://schemas.openxmlformats.org/officeDocument/2006/relationships/tags" Target="../tags/tag54.xml"/><Relationship Id="rId12" Type="http://schemas.openxmlformats.org/officeDocument/2006/relationships/tags" Target="../tags/tag55.xml"/><Relationship Id="rId13" Type="http://schemas.openxmlformats.org/officeDocument/2006/relationships/tags" Target="../tags/tag56.xml"/><Relationship Id="rId14" Type="http://schemas.openxmlformats.org/officeDocument/2006/relationships/tags" Target="../tags/tag57.xml"/><Relationship Id="rId15" Type="http://schemas.openxmlformats.org/officeDocument/2006/relationships/tags" Target="../tags/tag58.xml"/><Relationship Id="rId16" Type="http://schemas.openxmlformats.org/officeDocument/2006/relationships/tags" Target="../tags/tag59.xml"/><Relationship Id="rId17" Type="http://schemas.openxmlformats.org/officeDocument/2006/relationships/tags" Target="../tags/tag60.xml"/><Relationship Id="rId18" Type="http://schemas.openxmlformats.org/officeDocument/2006/relationships/slideLayout" Target="../slideLayouts/slideLayout6.xml"/><Relationship Id="rId19" Type="http://schemas.openxmlformats.org/officeDocument/2006/relationships/notesSlide" Target="../notesSlides/notesSlide10.xml"/><Relationship Id="rId20" Type="http://schemas.openxmlformats.org/officeDocument/2006/relationships/chart" Target="../charts/chart33.xml"/><Relationship Id="rId21" Type="http://schemas.openxmlformats.org/officeDocument/2006/relationships/chart" Target="../charts/chart34.xml"/><Relationship Id="rId22" Type="http://schemas.openxmlformats.org/officeDocument/2006/relationships/chart" Target="../charts/chart35.xml"/><Relationship Id="rId23" Type="http://schemas.openxmlformats.org/officeDocument/2006/relationships/chart" Target="../charts/chart36.xml"/><Relationship Id="rId24" Type="http://schemas.openxmlformats.org/officeDocument/2006/relationships/chart" Target="../charts/chart37.xml"/><Relationship Id="rId25" Type="http://schemas.openxmlformats.org/officeDocument/2006/relationships/chart" Target="../charts/chart38.xml"/><Relationship Id="rId26" Type="http://schemas.openxmlformats.org/officeDocument/2006/relationships/chart" Target="../charts/chart39.xml"/><Relationship Id="rId27" Type="http://schemas.openxmlformats.org/officeDocument/2006/relationships/chart" Target="../charts/chart40.xml"/><Relationship Id="rId28" Type="http://schemas.openxmlformats.org/officeDocument/2006/relationships/chart" Target="../charts/chart41.xml"/><Relationship Id="rId29" Type="http://schemas.openxmlformats.org/officeDocument/2006/relationships/chart" Target="../charts/chart42.xml"/><Relationship Id="rId30" Type="http://schemas.openxmlformats.org/officeDocument/2006/relationships/chart" Target="../charts/chart43.xml"/><Relationship Id="rId31" Type="http://schemas.openxmlformats.org/officeDocument/2006/relationships/chart" Target="../charts/chart44.xml"/><Relationship Id="rId32" Type="http://schemas.openxmlformats.org/officeDocument/2006/relationships/chart" Target="../charts/chart45.xml"/><Relationship Id="rId33" Type="http://schemas.openxmlformats.org/officeDocument/2006/relationships/chart" Target="../charts/chart46.xml"/><Relationship Id="rId34" Type="http://schemas.openxmlformats.org/officeDocument/2006/relationships/chart" Target="../charts/chart47.xml"/></Relationships>
</file>

<file path=ppt/slides/_rels/slide13.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tags" Target="../tags/tag62.xml"/><Relationship Id="rId3" Type="http://schemas.openxmlformats.org/officeDocument/2006/relationships/tags" Target="../tags/tag63.xml"/><Relationship Id="rId4" Type="http://schemas.openxmlformats.org/officeDocument/2006/relationships/tags" Target="../tags/tag64.xml"/><Relationship Id="rId5" Type="http://schemas.openxmlformats.org/officeDocument/2006/relationships/tags" Target="../tags/tag65.xml"/><Relationship Id="rId6" Type="http://schemas.openxmlformats.org/officeDocument/2006/relationships/tags" Target="../tags/tag66.xml"/><Relationship Id="rId7" Type="http://schemas.openxmlformats.org/officeDocument/2006/relationships/tags" Target="../tags/tag67.xml"/><Relationship Id="rId8" Type="http://schemas.openxmlformats.org/officeDocument/2006/relationships/tags" Target="../tags/tag68.xml"/><Relationship Id="rId9" Type="http://schemas.openxmlformats.org/officeDocument/2006/relationships/tags" Target="../tags/tag69.xml"/><Relationship Id="rId10" Type="http://schemas.openxmlformats.org/officeDocument/2006/relationships/tags" Target="../tags/tag70.xml"/><Relationship Id="rId11" Type="http://schemas.openxmlformats.org/officeDocument/2006/relationships/tags" Target="../tags/tag71.xml"/><Relationship Id="rId12" Type="http://schemas.openxmlformats.org/officeDocument/2006/relationships/tags" Target="../tags/tag72.xml"/><Relationship Id="rId13" Type="http://schemas.openxmlformats.org/officeDocument/2006/relationships/tags" Target="../tags/tag73.xml"/><Relationship Id="rId14" Type="http://schemas.openxmlformats.org/officeDocument/2006/relationships/tags" Target="../tags/tag74.xml"/><Relationship Id="rId15" Type="http://schemas.openxmlformats.org/officeDocument/2006/relationships/tags" Target="../tags/tag75.xml"/><Relationship Id="rId16" Type="http://schemas.openxmlformats.org/officeDocument/2006/relationships/tags" Target="../tags/tag76.xml"/><Relationship Id="rId17" Type="http://schemas.openxmlformats.org/officeDocument/2006/relationships/tags" Target="../tags/tag77.xml"/><Relationship Id="rId18" Type="http://schemas.openxmlformats.org/officeDocument/2006/relationships/slideLayout" Target="../slideLayouts/slideLayout6.xml"/><Relationship Id="rId19" Type="http://schemas.openxmlformats.org/officeDocument/2006/relationships/notesSlide" Target="../notesSlides/notesSlide11.xml"/><Relationship Id="rId20" Type="http://schemas.openxmlformats.org/officeDocument/2006/relationships/chart" Target="../charts/chart48.xml"/><Relationship Id="rId21" Type="http://schemas.openxmlformats.org/officeDocument/2006/relationships/chart" Target="../charts/chart49.xml"/><Relationship Id="rId22" Type="http://schemas.openxmlformats.org/officeDocument/2006/relationships/chart" Target="../charts/chart50.xml"/><Relationship Id="rId23" Type="http://schemas.openxmlformats.org/officeDocument/2006/relationships/chart" Target="../charts/chart51.xml"/><Relationship Id="rId24" Type="http://schemas.openxmlformats.org/officeDocument/2006/relationships/chart" Target="../charts/chart52.xml"/><Relationship Id="rId25" Type="http://schemas.openxmlformats.org/officeDocument/2006/relationships/chart" Target="../charts/chart53.xml"/><Relationship Id="rId26" Type="http://schemas.openxmlformats.org/officeDocument/2006/relationships/chart" Target="../charts/chart54.xml"/><Relationship Id="rId27" Type="http://schemas.openxmlformats.org/officeDocument/2006/relationships/chart" Target="../charts/chart55.xml"/><Relationship Id="rId28" Type="http://schemas.openxmlformats.org/officeDocument/2006/relationships/chart" Target="../charts/chart56.xml"/><Relationship Id="rId29" Type="http://schemas.openxmlformats.org/officeDocument/2006/relationships/chart" Target="../charts/chart57.xml"/><Relationship Id="rId30" Type="http://schemas.openxmlformats.org/officeDocument/2006/relationships/chart" Target="../charts/chart58.xml"/><Relationship Id="rId31" Type="http://schemas.openxmlformats.org/officeDocument/2006/relationships/chart" Target="../charts/chart59.xml"/><Relationship Id="rId32" Type="http://schemas.openxmlformats.org/officeDocument/2006/relationships/chart" Target="../charts/chart60.xml"/><Relationship Id="rId33" Type="http://schemas.openxmlformats.org/officeDocument/2006/relationships/chart" Target="../charts/chart61.xml"/><Relationship Id="rId34" Type="http://schemas.openxmlformats.org/officeDocument/2006/relationships/chart" Target="../charts/chart6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15.xml.rels><?xml version='1.0' encoding='UTF-8' standalone='yes'?>
<Relationships xmlns="http://schemas.openxmlformats.org/package/2006/relationships"><Relationship Id="rId1" Type="http://schemas.openxmlformats.org/officeDocument/2006/relationships/tags" Target="../tags/tag78.xml"/><Relationship Id="rId2" Type="http://schemas.openxmlformats.org/officeDocument/2006/relationships/tags" Target="../tags/tag79.xml"/><Relationship Id="rId3" Type="http://schemas.openxmlformats.org/officeDocument/2006/relationships/tags" Target="../tags/tag80.xml"/><Relationship Id="rId4" Type="http://schemas.openxmlformats.org/officeDocument/2006/relationships/tags" Target="../tags/tag81.xml"/><Relationship Id="rId5" Type="http://schemas.openxmlformats.org/officeDocument/2006/relationships/tags" Target="../tags/tag82.xml"/><Relationship Id="rId6" Type="http://schemas.openxmlformats.org/officeDocument/2006/relationships/tags" Target="../tags/tag83.xml"/><Relationship Id="rId7" Type="http://schemas.openxmlformats.org/officeDocument/2006/relationships/slideLayout" Target="../slideLayouts/slideLayout6.xml"/><Relationship Id="rId8" Type="http://schemas.openxmlformats.org/officeDocument/2006/relationships/notesSlide" Target="../notesSlides/notesSlide12.xml"/><Relationship Id="rId9" Type="http://schemas.openxmlformats.org/officeDocument/2006/relationships/chart" Target="../charts/chart63.xml"/><Relationship Id="rId10" Type="http://schemas.openxmlformats.org/officeDocument/2006/relationships/chart" Target="../charts/chart64.xml"/><Relationship Id="rId11" Type="http://schemas.openxmlformats.org/officeDocument/2006/relationships/chart" Target="../charts/chart65.xml"/><Relationship Id="rId12" Type="http://schemas.openxmlformats.org/officeDocument/2006/relationships/slide" Target="slide22.xml"/></Relationships>
</file>

<file path=ppt/slides/_rels/slide16.xml.rels><?xml version='1.0' encoding='UTF-8' standalone='yes'?>
<Relationships xmlns="http://schemas.openxmlformats.org/package/2006/relationships"><Relationship Id="rId1" Type="http://schemas.openxmlformats.org/officeDocument/2006/relationships/tags" Target="../tags/tag84.xml"/><Relationship Id="rId2" Type="http://schemas.openxmlformats.org/officeDocument/2006/relationships/tags" Target="../tags/tag85.xml"/><Relationship Id="rId3" Type="http://schemas.openxmlformats.org/officeDocument/2006/relationships/tags" Target="../tags/tag86.xml"/><Relationship Id="rId4" Type="http://schemas.openxmlformats.org/officeDocument/2006/relationships/tags" Target="../tags/tag87.xml"/><Relationship Id="rId5" Type="http://schemas.openxmlformats.org/officeDocument/2006/relationships/tags" Target="../tags/tag88.xml"/><Relationship Id="rId6" Type="http://schemas.openxmlformats.org/officeDocument/2006/relationships/tags" Target="../tags/tag89.xml"/><Relationship Id="rId7" Type="http://schemas.openxmlformats.org/officeDocument/2006/relationships/slideLayout" Target="../slideLayouts/slideLayout6.xml"/><Relationship Id="rId8" Type="http://schemas.openxmlformats.org/officeDocument/2006/relationships/notesSlide" Target="../notesSlides/notesSlide13.xml"/><Relationship Id="rId9" Type="http://schemas.openxmlformats.org/officeDocument/2006/relationships/chart" Target="../charts/chart66.xml"/><Relationship Id="rId10" Type="http://schemas.openxmlformats.org/officeDocument/2006/relationships/chart" Target="../charts/chart67.xml"/><Relationship Id="rId11" Type="http://schemas.openxmlformats.org/officeDocument/2006/relationships/chart" Target="../charts/chart68.xml"/><Relationship Id="rId12" Type="http://schemas.openxmlformats.org/officeDocument/2006/relationships/slide" Target="slide22.xml"/></Relationships>
</file>

<file path=ppt/slides/_rels/slide17.xml.rels><?xml version='1.0' encoding='UTF-8' standalone='yes'?>
<Relationships xmlns="http://schemas.openxmlformats.org/package/2006/relationships"><Relationship Id="rId1" Type="http://schemas.openxmlformats.org/officeDocument/2006/relationships/tags" Target="../tags/tag90.xml"/><Relationship Id="rId2" Type="http://schemas.openxmlformats.org/officeDocument/2006/relationships/tags" Target="../tags/tag91.xml"/><Relationship Id="rId3" Type="http://schemas.openxmlformats.org/officeDocument/2006/relationships/tags" Target="../tags/tag92.xml"/><Relationship Id="rId4" Type="http://schemas.openxmlformats.org/officeDocument/2006/relationships/tags" Target="../tags/tag93.xml"/><Relationship Id="rId5" Type="http://schemas.openxmlformats.org/officeDocument/2006/relationships/tags" Target="../tags/tag94.xml"/><Relationship Id="rId6" Type="http://schemas.openxmlformats.org/officeDocument/2006/relationships/tags" Target="../tags/tag95.xml"/><Relationship Id="rId7" Type="http://schemas.openxmlformats.org/officeDocument/2006/relationships/slideLayout" Target="../slideLayouts/slideLayout6.xml"/><Relationship Id="rId8" Type="http://schemas.openxmlformats.org/officeDocument/2006/relationships/notesSlide" Target="../notesSlides/notesSlide14.xml"/><Relationship Id="rId9" Type="http://schemas.openxmlformats.org/officeDocument/2006/relationships/slide" Target="slide22.xml"/><Relationship Id="rId10" Type="http://schemas.openxmlformats.org/officeDocument/2006/relationships/chart" Target="../charts/chart69.xml"/><Relationship Id="rId11" Type="http://schemas.openxmlformats.org/officeDocument/2006/relationships/chart" Target="../charts/chart70.xml"/><Relationship Id="rId12" Type="http://schemas.openxmlformats.org/officeDocument/2006/relationships/chart" Target="../charts/chart71.xml"/></Relationships>
</file>

<file path=ppt/slides/_rels/slide18.xml.rels><?xml version='1.0' encoding='UTF-8' standalone='yes'?>
<Relationships xmlns="http://schemas.openxmlformats.org/package/2006/relationships"><Relationship Id="rId1" Type="http://schemas.openxmlformats.org/officeDocument/2006/relationships/tags" Target="../tags/tag96.xml"/><Relationship Id="rId2" Type="http://schemas.openxmlformats.org/officeDocument/2006/relationships/tags" Target="../tags/tag97.xml"/><Relationship Id="rId3" Type="http://schemas.openxmlformats.org/officeDocument/2006/relationships/tags" Target="../tags/tag98.xml"/><Relationship Id="rId4" Type="http://schemas.openxmlformats.org/officeDocument/2006/relationships/tags" Target="../tags/tag99.xml"/><Relationship Id="rId5" Type="http://schemas.openxmlformats.org/officeDocument/2006/relationships/tags" Target="../tags/tag100.xml"/><Relationship Id="rId6" Type="http://schemas.openxmlformats.org/officeDocument/2006/relationships/tags" Target="../tags/tag101.xml"/><Relationship Id="rId7" Type="http://schemas.openxmlformats.org/officeDocument/2006/relationships/slideLayout" Target="../slideLayouts/slideLayout6.xml"/><Relationship Id="rId8" Type="http://schemas.openxmlformats.org/officeDocument/2006/relationships/notesSlide" Target="../notesSlides/notesSlide15.xml"/><Relationship Id="rId9" Type="http://schemas.openxmlformats.org/officeDocument/2006/relationships/chart" Target="../charts/chart72.xml"/><Relationship Id="rId10" Type="http://schemas.openxmlformats.org/officeDocument/2006/relationships/chart" Target="../charts/chart73.xml"/><Relationship Id="rId11" Type="http://schemas.openxmlformats.org/officeDocument/2006/relationships/chart" Target="../charts/chart74.xml"/><Relationship Id="rId12" Type="http://schemas.openxmlformats.org/officeDocument/2006/relationships/slide" Target="slide23.xml"/></Relationships>
</file>

<file path=ppt/slides/_rels/slide19.xml.rels><?xml version='1.0' encoding='UTF-8' standalone='yes'?>
<Relationships xmlns="http://schemas.openxmlformats.org/package/2006/relationships"><Relationship Id="rId1" Type="http://schemas.openxmlformats.org/officeDocument/2006/relationships/tags" Target="../tags/tag102.xml"/><Relationship Id="rId2" Type="http://schemas.openxmlformats.org/officeDocument/2006/relationships/tags" Target="../tags/tag103.xml"/><Relationship Id="rId3" Type="http://schemas.openxmlformats.org/officeDocument/2006/relationships/tags" Target="../tags/tag104.xml"/><Relationship Id="rId4" Type="http://schemas.openxmlformats.org/officeDocument/2006/relationships/tags" Target="../tags/tag105.xml"/><Relationship Id="rId5" Type="http://schemas.openxmlformats.org/officeDocument/2006/relationships/tags" Target="../tags/tag106.xml"/><Relationship Id="rId6" Type="http://schemas.openxmlformats.org/officeDocument/2006/relationships/tags" Target="../tags/tag107.xml"/><Relationship Id="rId7" Type="http://schemas.openxmlformats.org/officeDocument/2006/relationships/slideLayout" Target="../slideLayouts/slideLayout6.xml"/><Relationship Id="rId8" Type="http://schemas.openxmlformats.org/officeDocument/2006/relationships/notesSlide" Target="../notesSlides/notesSlide16.xml"/><Relationship Id="rId9" Type="http://schemas.openxmlformats.org/officeDocument/2006/relationships/chart" Target="../charts/chart75.xml"/><Relationship Id="rId10" Type="http://schemas.openxmlformats.org/officeDocument/2006/relationships/chart" Target="../charts/chart76.xml"/><Relationship Id="rId11" Type="http://schemas.openxmlformats.org/officeDocument/2006/relationships/chart" Target="../charts/chart77.xml"/><Relationship Id="rId12" Type="http://schemas.openxmlformats.org/officeDocument/2006/relationships/slide" Target="slide23.xml"/></Relationships>
</file>

<file path=ppt/slides/_rels/slide20.xml.rels><?xml version='1.0' encoding='UTF-8' standalone='yes'?>
<Relationships xmlns="http://schemas.openxmlformats.org/package/2006/relationships"><Relationship Id="rId1" Type="http://schemas.openxmlformats.org/officeDocument/2006/relationships/tags" Target="../tags/tag108.xml"/><Relationship Id="rId2" Type="http://schemas.openxmlformats.org/officeDocument/2006/relationships/tags" Target="../tags/tag109.xml"/><Relationship Id="rId3" Type="http://schemas.openxmlformats.org/officeDocument/2006/relationships/tags" Target="../tags/tag110.xml"/><Relationship Id="rId4" Type="http://schemas.openxmlformats.org/officeDocument/2006/relationships/tags" Target="../tags/tag111.xml"/><Relationship Id="rId5" Type="http://schemas.openxmlformats.org/officeDocument/2006/relationships/tags" Target="../tags/tag112.xml"/><Relationship Id="rId6" Type="http://schemas.openxmlformats.org/officeDocument/2006/relationships/tags" Target="../tags/tag113.xml"/><Relationship Id="rId7" Type="http://schemas.openxmlformats.org/officeDocument/2006/relationships/slideLayout" Target="../slideLayouts/slideLayout6.xml"/><Relationship Id="rId8" Type="http://schemas.openxmlformats.org/officeDocument/2006/relationships/notesSlide" Target="../notesSlides/notesSlide17.xml"/><Relationship Id="rId9" Type="http://schemas.microsoft.com/office/2018/10/relationships/comments" Target="../comments/modernComment_2D58_20A278A2.xml"/><Relationship Id="rId10" Type="http://schemas.openxmlformats.org/officeDocument/2006/relationships/chart" Target="../charts/chart78.xml"/><Relationship Id="rId11" Type="http://schemas.openxmlformats.org/officeDocument/2006/relationships/chart" Target="../charts/chart79.xml"/><Relationship Id="rId12" Type="http://schemas.openxmlformats.org/officeDocument/2006/relationships/chart" Target="../charts/chart80.xml"/><Relationship Id="rId13" Type="http://schemas.openxmlformats.org/officeDocument/2006/relationships/slide" Target="slide23.xml"/></Relationships>
</file>

<file path=ppt/slides/_rels/slide21.xml.rels><?xml version='1.0' encoding='UTF-8' standalone='yes'?>
<Relationships xmlns="http://schemas.openxmlformats.org/package/2006/relationships"><Relationship Id="rId1" Type="http://schemas.openxmlformats.org/officeDocument/2006/relationships/tags" Target="../tags/tag114.xml"/><Relationship Id="rId2" Type="http://schemas.openxmlformats.org/officeDocument/2006/relationships/tags" Target="../tags/tag115.xml"/><Relationship Id="rId3" Type="http://schemas.openxmlformats.org/officeDocument/2006/relationships/tags" Target="../tags/tag116.xml"/><Relationship Id="rId4" Type="http://schemas.openxmlformats.org/officeDocument/2006/relationships/tags" Target="../tags/tag117.xml"/><Relationship Id="rId5" Type="http://schemas.openxmlformats.org/officeDocument/2006/relationships/tags" Target="../tags/tag118.xml"/><Relationship Id="rId6" Type="http://schemas.openxmlformats.org/officeDocument/2006/relationships/tags" Target="../tags/tag119.xml"/><Relationship Id="rId7" Type="http://schemas.openxmlformats.org/officeDocument/2006/relationships/slideLayout" Target="../slideLayouts/slideLayout6.xml"/><Relationship Id="rId8" Type="http://schemas.openxmlformats.org/officeDocument/2006/relationships/notesSlide" Target="../notesSlides/notesSlide18.xml"/><Relationship Id="rId9" Type="http://schemas.openxmlformats.org/officeDocument/2006/relationships/chart" Target="../charts/chart81.xml"/><Relationship Id="rId10" Type="http://schemas.openxmlformats.org/officeDocument/2006/relationships/chart" Target="../charts/chart82.xml"/><Relationship Id="rId11" Type="http://schemas.openxmlformats.org/officeDocument/2006/relationships/chart" Target="../charts/chart83.xml"/></Relationships>
</file>

<file path=ppt/slides/_rels/slide22.xml.rels><?xml version='1.0' encoding='UTF-8' standalone='yes'?>
<Relationships xmlns="http://schemas.openxmlformats.org/package/2006/relationships"><Relationship Id="rId1" Type="http://schemas.openxmlformats.org/officeDocument/2006/relationships/tags" Target="../tags/tag120.xml"/><Relationship Id="rId2" Type="http://schemas.openxmlformats.org/officeDocument/2006/relationships/tags" Target="../tags/tag121.xml"/><Relationship Id="rId3" Type="http://schemas.openxmlformats.org/officeDocument/2006/relationships/tags" Target="../tags/tag122.xml"/><Relationship Id="rId4" Type="http://schemas.openxmlformats.org/officeDocument/2006/relationships/tags" Target="../tags/tag123.xml"/><Relationship Id="rId5" Type="http://schemas.openxmlformats.org/officeDocument/2006/relationships/tags" Target="../tags/tag124.xml"/><Relationship Id="rId6" Type="http://schemas.openxmlformats.org/officeDocument/2006/relationships/tags" Target="../tags/tag125.xml"/><Relationship Id="rId7" Type="http://schemas.openxmlformats.org/officeDocument/2006/relationships/slideLayout" Target="../slideLayouts/slideLayout6.xml"/><Relationship Id="rId8" Type="http://schemas.openxmlformats.org/officeDocument/2006/relationships/notesSlide" Target="../notesSlides/notesSlide19.xml"/><Relationship Id="rId9" Type="http://schemas.openxmlformats.org/officeDocument/2006/relationships/chart" Target="../charts/chart84.xml"/><Relationship Id="rId10" Type="http://schemas.openxmlformats.org/officeDocument/2006/relationships/chart" Target="../charts/chart85.xml"/><Relationship Id="rId11" Type="http://schemas.openxmlformats.org/officeDocument/2006/relationships/chart" Target="../charts/chart86.xml"/></Relationships>
</file>

<file path=ppt/slides/_rels/slide23.xml.rels><?xml version='1.0' encoding='UTF-8' standalone='yes'?>
<Relationships xmlns="http://schemas.openxmlformats.org/package/2006/relationships"><Relationship Id="rId1" Type="http://schemas.openxmlformats.org/officeDocument/2006/relationships/tags" Target="../tags/tag126.xml"/><Relationship Id="rId2" Type="http://schemas.openxmlformats.org/officeDocument/2006/relationships/tags" Target="../tags/tag127.xml"/><Relationship Id="rId3" Type="http://schemas.openxmlformats.org/officeDocument/2006/relationships/tags" Target="../tags/tag128.xml"/><Relationship Id="rId4" Type="http://schemas.openxmlformats.org/officeDocument/2006/relationships/tags" Target="../tags/tag129.xml"/><Relationship Id="rId5" Type="http://schemas.openxmlformats.org/officeDocument/2006/relationships/tags" Target="../tags/tag130.xml"/><Relationship Id="rId6" Type="http://schemas.openxmlformats.org/officeDocument/2006/relationships/tags" Target="../tags/tag131.xml"/><Relationship Id="rId7" Type="http://schemas.openxmlformats.org/officeDocument/2006/relationships/slideLayout" Target="../slideLayouts/slideLayout6.xml"/><Relationship Id="rId8" Type="http://schemas.openxmlformats.org/officeDocument/2006/relationships/notesSlide" Target="../notesSlides/notesSlide20.xml"/><Relationship Id="rId9" Type="http://schemas.openxmlformats.org/officeDocument/2006/relationships/chart" Target="../charts/chart87.xml"/><Relationship Id="rId10" Type="http://schemas.openxmlformats.org/officeDocument/2006/relationships/chart" Target="../charts/chart88.xml"/><Relationship Id="rId11" Type="http://schemas.openxmlformats.org/officeDocument/2006/relationships/chart" Target="../charts/chart8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25.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tags" Target="../tags/tag133.xml"/><Relationship Id="rId3" Type="http://schemas.openxmlformats.org/officeDocument/2006/relationships/tags" Target="../tags/tag134.xml"/><Relationship Id="rId4" Type="http://schemas.openxmlformats.org/officeDocument/2006/relationships/tags" Target="../tags/tag135.xml"/><Relationship Id="rId5" Type="http://schemas.openxmlformats.org/officeDocument/2006/relationships/tags" Target="../tags/tag136.xml"/><Relationship Id="rId6" Type="http://schemas.openxmlformats.org/officeDocument/2006/relationships/slideLayout" Target="../slideLayouts/slideLayout6.xml"/><Relationship Id="rId7" Type="http://schemas.openxmlformats.org/officeDocument/2006/relationships/notesSlide" Target="../notesSlides/notesSlide21.xml"/><Relationship Id="rId8" Type="http://schemas.openxmlformats.org/officeDocument/2006/relationships/chart" Target="../charts/chart90.xml"/><Relationship Id="rId9" Type="http://schemas.openxmlformats.org/officeDocument/2006/relationships/chart" Target="../charts/chart91.xml"/><Relationship Id="rId10" Type="http://schemas.openxmlformats.org/officeDocument/2006/relationships/chart" Target="../charts/chart92.xml"/><Relationship Id="rId11" Type="http://schemas.openxmlformats.org/officeDocument/2006/relationships/chart" Target="../charts/chart93.xml"/><Relationship Id="rId12" Type="http://schemas.openxmlformats.org/officeDocument/2006/relationships/slide" Target="slide7.xml"/></Relationships>
</file>

<file path=ppt/slides/_rels/slide26.xml.rels><?xml version='1.0' encoding='UTF-8' standalone='yes'?>
<Relationships xmlns="http://schemas.openxmlformats.org/package/2006/relationships"><Relationship Id="rId1" Type="http://schemas.openxmlformats.org/officeDocument/2006/relationships/tags" Target="../tags/tag137.xml"/><Relationship Id="rId2" Type="http://schemas.openxmlformats.org/officeDocument/2006/relationships/tags" Target="../tags/tag138.xml"/><Relationship Id="rId3" Type="http://schemas.openxmlformats.org/officeDocument/2006/relationships/tags" Target="../tags/tag139.xml"/><Relationship Id="rId4" Type="http://schemas.openxmlformats.org/officeDocument/2006/relationships/tags" Target="../tags/tag140.xml"/><Relationship Id="rId5" Type="http://schemas.openxmlformats.org/officeDocument/2006/relationships/tags" Target="../tags/tag141.xml"/><Relationship Id="rId6" Type="http://schemas.openxmlformats.org/officeDocument/2006/relationships/slideLayout" Target="../slideLayouts/slideLayout6.xml"/><Relationship Id="rId7" Type="http://schemas.openxmlformats.org/officeDocument/2006/relationships/notesSlide" Target="../notesSlides/notesSlide22.xml"/><Relationship Id="rId8" Type="http://schemas.openxmlformats.org/officeDocument/2006/relationships/chart" Target="../charts/chart94.xml"/><Relationship Id="rId9" Type="http://schemas.openxmlformats.org/officeDocument/2006/relationships/chart" Target="../charts/chart95.xml"/><Relationship Id="rId10" Type="http://schemas.openxmlformats.org/officeDocument/2006/relationships/chart" Target="../charts/chart96.xml"/><Relationship Id="rId11" Type="http://schemas.openxmlformats.org/officeDocument/2006/relationships/chart" Target="../charts/chart97.xml"/></Relationships>
</file>

<file path=ppt/slides/_rels/slide27.xml.rels><?xml version='1.0' encoding='UTF-8' standalone='yes'?>
<Relationships xmlns="http://schemas.openxmlformats.org/package/2006/relationships"><Relationship Id="rId1" Type="http://schemas.openxmlformats.org/officeDocument/2006/relationships/tags" Target="../tags/tag142.xml"/><Relationship Id="rId2" Type="http://schemas.openxmlformats.org/officeDocument/2006/relationships/tags" Target="../tags/tag143.xml"/><Relationship Id="rId3" Type="http://schemas.openxmlformats.org/officeDocument/2006/relationships/slideLayout" Target="../slideLayouts/slideLayout6.xml"/><Relationship Id="rId4" Type="http://schemas.openxmlformats.org/officeDocument/2006/relationships/notesSlide" Target="../notesSlides/notesSlide23.xml"/><Relationship Id="rId5" Type="http://schemas.openxmlformats.org/officeDocument/2006/relationships/image" Target="../media/image12.png"/></Relationships>
</file>

<file path=ppt/slides/_rels/slide28.xml.rels><?xml version='1.0' encoding='UTF-8' standalone='yes'?>
<Relationships xmlns="http://schemas.openxmlformats.org/package/2006/relationships"><Relationship Id="rId1" Type="http://schemas.openxmlformats.org/officeDocument/2006/relationships/tags" Target="../tags/tag144.xml"/><Relationship Id="rId2" Type="http://schemas.openxmlformats.org/officeDocument/2006/relationships/tags" Target="../tags/tag145.xml"/><Relationship Id="rId3" Type="http://schemas.openxmlformats.org/officeDocument/2006/relationships/slideLayout" Target="../slideLayouts/slideLayout6.xml"/><Relationship Id="rId4" Type="http://schemas.openxmlformats.org/officeDocument/2006/relationships/notesSlide" Target="../notesSlides/notesSlide24.xml"/><Relationship Id="rId5" Type="http://schemas.openxmlformats.org/officeDocument/2006/relationships/image" Target="../media/image12.png"/></Relationships>
</file>

<file path=ppt/slides/_rels/slide29.xml.rels><?xml version='1.0' encoding='UTF-8' standalone='yes'?>
<Relationships xmlns="http://schemas.openxmlformats.org/package/2006/relationships"><Relationship Id="rId1" Type="http://schemas.openxmlformats.org/officeDocument/2006/relationships/tags" Target="../tags/tag146.xml"/><Relationship Id="rId2" Type="http://schemas.openxmlformats.org/officeDocument/2006/relationships/tags" Target="../tags/tag147.xml"/><Relationship Id="rId3" Type="http://schemas.openxmlformats.org/officeDocument/2006/relationships/tags" Target="../tags/tag148.xml"/><Relationship Id="rId4" Type="http://schemas.openxmlformats.org/officeDocument/2006/relationships/tags" Target="../tags/tag149.xml"/><Relationship Id="rId5" Type="http://schemas.openxmlformats.org/officeDocument/2006/relationships/tags" Target="../tags/tag150.xml"/><Relationship Id="rId6" Type="http://schemas.openxmlformats.org/officeDocument/2006/relationships/tags" Target="../tags/tag151.xml"/><Relationship Id="rId7" Type="http://schemas.openxmlformats.org/officeDocument/2006/relationships/tags" Target="../tags/tag152.xml"/><Relationship Id="rId8" Type="http://schemas.openxmlformats.org/officeDocument/2006/relationships/tags" Target="../tags/tag153.xml"/><Relationship Id="rId9" Type="http://schemas.openxmlformats.org/officeDocument/2006/relationships/tags" Target="../tags/tag154.xml"/><Relationship Id="rId10" Type="http://schemas.openxmlformats.org/officeDocument/2006/relationships/tags" Target="../tags/tag155.xml"/><Relationship Id="rId11" Type="http://schemas.openxmlformats.org/officeDocument/2006/relationships/tags" Target="../tags/tag156.xml"/><Relationship Id="rId12" Type="http://schemas.openxmlformats.org/officeDocument/2006/relationships/tags" Target="../tags/tag157.xml"/><Relationship Id="rId13" Type="http://schemas.openxmlformats.org/officeDocument/2006/relationships/tags" Target="../tags/tag158.xml"/><Relationship Id="rId14" Type="http://schemas.openxmlformats.org/officeDocument/2006/relationships/tags" Target="../tags/tag159.xml"/><Relationship Id="rId15" Type="http://schemas.openxmlformats.org/officeDocument/2006/relationships/tags" Target="../tags/tag160.xml"/><Relationship Id="rId16" Type="http://schemas.openxmlformats.org/officeDocument/2006/relationships/tags" Target="../tags/tag161.xml"/><Relationship Id="rId17" Type="http://schemas.openxmlformats.org/officeDocument/2006/relationships/tags" Target="../tags/tag162.xml"/><Relationship Id="rId18" Type="http://schemas.openxmlformats.org/officeDocument/2006/relationships/slideLayout" Target="../slideLayouts/slideLayout6.xml"/><Relationship Id="rId19" Type="http://schemas.openxmlformats.org/officeDocument/2006/relationships/notesSlide" Target="../notesSlides/notesSlide25.xml"/><Relationship Id="rId20" Type="http://schemas.openxmlformats.org/officeDocument/2006/relationships/chart" Target="../charts/chart98.xml"/><Relationship Id="rId21" Type="http://schemas.openxmlformats.org/officeDocument/2006/relationships/slide" Target="slide60.xml"/><Relationship Id="rId22" Type="http://schemas.openxmlformats.org/officeDocument/2006/relationships/chart" Target="../charts/chart99.xml"/><Relationship Id="rId23" Type="http://schemas.openxmlformats.org/officeDocument/2006/relationships/chart" Target="../charts/chart100.xml"/><Relationship Id="rId24" Type="http://schemas.openxmlformats.org/officeDocument/2006/relationships/chart" Target="../charts/chart101.xml"/><Relationship Id="rId25" Type="http://schemas.openxmlformats.org/officeDocument/2006/relationships/chart" Target="../charts/chart102.xml"/><Relationship Id="rId26" Type="http://schemas.openxmlformats.org/officeDocument/2006/relationships/chart" Target="../charts/chart103.xml"/><Relationship Id="rId27" Type="http://schemas.openxmlformats.org/officeDocument/2006/relationships/chart" Target="../charts/chart104.xml"/><Relationship Id="rId28" Type="http://schemas.openxmlformats.org/officeDocument/2006/relationships/chart" Target="../charts/chart105.xml"/><Relationship Id="rId29" Type="http://schemas.openxmlformats.org/officeDocument/2006/relationships/chart" Target="../charts/chart106.xml"/><Relationship Id="rId30" Type="http://schemas.openxmlformats.org/officeDocument/2006/relationships/chart" Target="../charts/chart107.xml"/><Relationship Id="rId31" Type="http://schemas.openxmlformats.org/officeDocument/2006/relationships/chart" Target="../charts/chart108.xml"/><Relationship Id="rId32" Type="http://schemas.openxmlformats.org/officeDocument/2006/relationships/chart" Target="../charts/chart109.xml"/><Relationship Id="rId33" Type="http://schemas.openxmlformats.org/officeDocument/2006/relationships/chart" Target="../charts/chart110.xml"/></Relationships>
</file>

<file path=ppt/slides/_rels/slide30.xml.rels><?xml version='1.0' encoding='UTF-8' standalone='yes'?>
<Relationships xmlns="http://schemas.openxmlformats.org/package/2006/relationships"><Relationship Id="rId1" Type="http://schemas.openxmlformats.org/officeDocument/2006/relationships/tags" Target="../tags/tag163.xml"/><Relationship Id="rId2" Type="http://schemas.openxmlformats.org/officeDocument/2006/relationships/tags" Target="../tags/tag164.xml"/><Relationship Id="rId3" Type="http://schemas.openxmlformats.org/officeDocument/2006/relationships/tags" Target="../tags/tag165.xml"/><Relationship Id="rId4" Type="http://schemas.openxmlformats.org/officeDocument/2006/relationships/tags" Target="../tags/tag166.xml"/><Relationship Id="rId5" Type="http://schemas.openxmlformats.org/officeDocument/2006/relationships/tags" Target="../tags/tag167.xml"/><Relationship Id="rId6" Type="http://schemas.openxmlformats.org/officeDocument/2006/relationships/tags" Target="../tags/tag168.xml"/><Relationship Id="rId7" Type="http://schemas.openxmlformats.org/officeDocument/2006/relationships/tags" Target="../tags/tag169.xml"/><Relationship Id="rId8" Type="http://schemas.openxmlformats.org/officeDocument/2006/relationships/tags" Target="../tags/tag170.xml"/><Relationship Id="rId9" Type="http://schemas.openxmlformats.org/officeDocument/2006/relationships/tags" Target="../tags/tag171.xml"/><Relationship Id="rId10" Type="http://schemas.openxmlformats.org/officeDocument/2006/relationships/tags" Target="../tags/tag172.xml"/><Relationship Id="rId11" Type="http://schemas.openxmlformats.org/officeDocument/2006/relationships/tags" Target="../tags/tag173.xml"/><Relationship Id="rId12" Type="http://schemas.openxmlformats.org/officeDocument/2006/relationships/tags" Target="../tags/tag174.xml"/><Relationship Id="rId13" Type="http://schemas.openxmlformats.org/officeDocument/2006/relationships/tags" Target="../tags/tag175.xml"/><Relationship Id="rId14" Type="http://schemas.openxmlformats.org/officeDocument/2006/relationships/tags" Target="../tags/tag176.xml"/><Relationship Id="rId15" Type="http://schemas.openxmlformats.org/officeDocument/2006/relationships/tags" Target="../tags/tag177.xml"/><Relationship Id="rId16" Type="http://schemas.openxmlformats.org/officeDocument/2006/relationships/tags" Target="../tags/tag178.xml"/><Relationship Id="rId17" Type="http://schemas.openxmlformats.org/officeDocument/2006/relationships/tags" Target="../tags/tag179.xml"/><Relationship Id="rId18" Type="http://schemas.openxmlformats.org/officeDocument/2006/relationships/tags" Target="../tags/tag180.xml"/><Relationship Id="rId19" Type="http://schemas.openxmlformats.org/officeDocument/2006/relationships/slideLayout" Target="../slideLayouts/slideLayout6.xml"/><Relationship Id="rId20" Type="http://schemas.openxmlformats.org/officeDocument/2006/relationships/notesSlide" Target="../notesSlides/notesSlide26.xml"/><Relationship Id="rId21" Type="http://schemas.openxmlformats.org/officeDocument/2006/relationships/chart" Target="../charts/chart111.xml"/><Relationship Id="rId22" Type="http://schemas.openxmlformats.org/officeDocument/2006/relationships/slide" Target="slide63.xml"/><Relationship Id="rId23" Type="http://schemas.openxmlformats.org/officeDocument/2006/relationships/chart" Target="../charts/chart112.xml"/><Relationship Id="rId24" Type="http://schemas.openxmlformats.org/officeDocument/2006/relationships/chart" Target="../charts/chart113.xml"/><Relationship Id="rId25" Type="http://schemas.openxmlformats.org/officeDocument/2006/relationships/chart" Target="../charts/chart114.xml"/><Relationship Id="rId26" Type="http://schemas.openxmlformats.org/officeDocument/2006/relationships/chart" Target="../charts/chart115.xml"/><Relationship Id="rId27" Type="http://schemas.openxmlformats.org/officeDocument/2006/relationships/chart" Target="../charts/chart116.xml"/><Relationship Id="rId28" Type="http://schemas.openxmlformats.org/officeDocument/2006/relationships/chart" Target="../charts/chart117.xml"/><Relationship Id="rId29" Type="http://schemas.openxmlformats.org/officeDocument/2006/relationships/chart" Target="../charts/chart118.xml"/><Relationship Id="rId30" Type="http://schemas.openxmlformats.org/officeDocument/2006/relationships/chart" Target="../charts/chart119.xml"/><Relationship Id="rId31" Type="http://schemas.openxmlformats.org/officeDocument/2006/relationships/chart" Target="../charts/chart120.xml"/><Relationship Id="rId32" Type="http://schemas.openxmlformats.org/officeDocument/2006/relationships/chart" Target="../charts/chart121.xml"/><Relationship Id="rId33" Type="http://schemas.openxmlformats.org/officeDocument/2006/relationships/chart" Target="../charts/chart122.xml"/><Relationship Id="rId34" Type="http://schemas.openxmlformats.org/officeDocument/2006/relationships/chart" Target="../charts/chart123.xml"/><Relationship Id="rId35" Type="http://schemas.openxmlformats.org/officeDocument/2006/relationships/chart" Target="../charts/chart124.xml"/></Relationships>
</file>

<file path=ppt/slides/_rels/slide31.xml.rels><?xml version='1.0' encoding='UTF-8' standalone='yes'?>
<Relationships xmlns="http://schemas.openxmlformats.org/package/2006/relationships"><Relationship Id="rId1" Type="http://schemas.openxmlformats.org/officeDocument/2006/relationships/tags" Target="../tags/tag181.xml"/><Relationship Id="rId2" Type="http://schemas.openxmlformats.org/officeDocument/2006/relationships/tags" Target="../tags/tag182.xml"/><Relationship Id="rId3" Type="http://schemas.openxmlformats.org/officeDocument/2006/relationships/tags" Target="../tags/tag183.xml"/><Relationship Id="rId4" Type="http://schemas.openxmlformats.org/officeDocument/2006/relationships/tags" Target="../tags/tag184.xml"/><Relationship Id="rId5" Type="http://schemas.openxmlformats.org/officeDocument/2006/relationships/tags" Target="../tags/tag185.xml"/><Relationship Id="rId6" Type="http://schemas.openxmlformats.org/officeDocument/2006/relationships/tags" Target="../tags/tag186.xml"/><Relationship Id="rId7" Type="http://schemas.openxmlformats.org/officeDocument/2006/relationships/tags" Target="../tags/tag187.xml"/><Relationship Id="rId8" Type="http://schemas.openxmlformats.org/officeDocument/2006/relationships/tags" Target="../tags/tag188.xml"/><Relationship Id="rId9" Type="http://schemas.openxmlformats.org/officeDocument/2006/relationships/tags" Target="../tags/tag189.xml"/><Relationship Id="rId10" Type="http://schemas.openxmlformats.org/officeDocument/2006/relationships/tags" Target="../tags/tag190.xml"/><Relationship Id="rId11" Type="http://schemas.openxmlformats.org/officeDocument/2006/relationships/tags" Target="../tags/tag191.xml"/><Relationship Id="rId12" Type="http://schemas.openxmlformats.org/officeDocument/2006/relationships/tags" Target="../tags/tag192.xml"/><Relationship Id="rId13" Type="http://schemas.openxmlformats.org/officeDocument/2006/relationships/tags" Target="../tags/tag193.xml"/><Relationship Id="rId14" Type="http://schemas.openxmlformats.org/officeDocument/2006/relationships/tags" Target="../tags/tag194.xml"/><Relationship Id="rId15" Type="http://schemas.openxmlformats.org/officeDocument/2006/relationships/tags" Target="../tags/tag195.xml"/><Relationship Id="rId16" Type="http://schemas.openxmlformats.org/officeDocument/2006/relationships/tags" Target="../tags/tag196.xml"/><Relationship Id="rId17" Type="http://schemas.openxmlformats.org/officeDocument/2006/relationships/tags" Target="../tags/tag197.xml"/><Relationship Id="rId18" Type="http://schemas.openxmlformats.org/officeDocument/2006/relationships/slideLayout" Target="../slideLayouts/slideLayout6.xml"/><Relationship Id="rId19" Type="http://schemas.openxmlformats.org/officeDocument/2006/relationships/notesSlide" Target="../notesSlides/notesSlide27.xml"/><Relationship Id="rId20" Type="http://schemas.openxmlformats.org/officeDocument/2006/relationships/chart" Target="../charts/chart125.xml"/><Relationship Id="rId21" Type="http://schemas.openxmlformats.org/officeDocument/2006/relationships/slide" Target="slide66.xml"/><Relationship Id="rId22" Type="http://schemas.openxmlformats.org/officeDocument/2006/relationships/chart" Target="../charts/chart126.xml"/><Relationship Id="rId23" Type="http://schemas.openxmlformats.org/officeDocument/2006/relationships/chart" Target="../charts/chart127.xml"/><Relationship Id="rId24" Type="http://schemas.openxmlformats.org/officeDocument/2006/relationships/chart" Target="../charts/chart128.xml"/><Relationship Id="rId25" Type="http://schemas.openxmlformats.org/officeDocument/2006/relationships/chart" Target="../charts/chart129.xml"/><Relationship Id="rId26" Type="http://schemas.openxmlformats.org/officeDocument/2006/relationships/chart" Target="../charts/chart130.xml"/><Relationship Id="rId27" Type="http://schemas.openxmlformats.org/officeDocument/2006/relationships/chart" Target="../charts/chart131.xml"/><Relationship Id="rId28" Type="http://schemas.openxmlformats.org/officeDocument/2006/relationships/chart" Target="../charts/chart132.xml"/><Relationship Id="rId29" Type="http://schemas.openxmlformats.org/officeDocument/2006/relationships/chart" Target="../charts/chart133.xml"/><Relationship Id="rId30" Type="http://schemas.openxmlformats.org/officeDocument/2006/relationships/chart" Target="../charts/chart134.xml"/><Relationship Id="rId31" Type="http://schemas.openxmlformats.org/officeDocument/2006/relationships/chart" Target="../charts/chart135.xml"/><Relationship Id="rId32" Type="http://schemas.openxmlformats.org/officeDocument/2006/relationships/chart" Target="../charts/chart136.xml"/><Relationship Id="rId33" Type="http://schemas.openxmlformats.org/officeDocument/2006/relationships/chart" Target="../charts/chart137.xml"/></Relationships>
</file>

<file path=ppt/slides/_rels/slide32.xml.rels><?xml version='1.0' encoding='UTF-8' standalone='yes'?>
<Relationships xmlns="http://schemas.openxmlformats.org/package/2006/relationships"><Relationship Id="rId1" Type="http://schemas.openxmlformats.org/officeDocument/2006/relationships/tags" Target="../tags/tag198.xml"/><Relationship Id="rId2" Type="http://schemas.openxmlformats.org/officeDocument/2006/relationships/tags" Target="../tags/tag199.xml"/><Relationship Id="rId3" Type="http://schemas.openxmlformats.org/officeDocument/2006/relationships/tags" Target="../tags/tag200.xml"/><Relationship Id="rId4" Type="http://schemas.openxmlformats.org/officeDocument/2006/relationships/tags" Target="../tags/tag201.xml"/><Relationship Id="rId5" Type="http://schemas.openxmlformats.org/officeDocument/2006/relationships/tags" Target="../tags/tag202.xml"/><Relationship Id="rId6" Type="http://schemas.openxmlformats.org/officeDocument/2006/relationships/tags" Target="../tags/tag203.xml"/><Relationship Id="rId7" Type="http://schemas.openxmlformats.org/officeDocument/2006/relationships/tags" Target="../tags/tag204.xml"/><Relationship Id="rId8" Type="http://schemas.openxmlformats.org/officeDocument/2006/relationships/tags" Target="../tags/tag205.xml"/><Relationship Id="rId9" Type="http://schemas.openxmlformats.org/officeDocument/2006/relationships/tags" Target="../tags/tag206.xml"/><Relationship Id="rId10" Type="http://schemas.openxmlformats.org/officeDocument/2006/relationships/tags" Target="../tags/tag207.xml"/><Relationship Id="rId11" Type="http://schemas.openxmlformats.org/officeDocument/2006/relationships/tags" Target="../tags/tag208.xml"/><Relationship Id="rId12" Type="http://schemas.openxmlformats.org/officeDocument/2006/relationships/tags" Target="../tags/tag209.xml"/><Relationship Id="rId13" Type="http://schemas.openxmlformats.org/officeDocument/2006/relationships/tags" Target="../tags/tag210.xml"/><Relationship Id="rId14" Type="http://schemas.openxmlformats.org/officeDocument/2006/relationships/tags" Target="../tags/tag211.xml"/><Relationship Id="rId15" Type="http://schemas.openxmlformats.org/officeDocument/2006/relationships/tags" Target="../tags/tag212.xml"/><Relationship Id="rId16" Type="http://schemas.openxmlformats.org/officeDocument/2006/relationships/tags" Target="../tags/tag213.xml"/><Relationship Id="rId17" Type="http://schemas.openxmlformats.org/officeDocument/2006/relationships/tags" Target="../tags/tag214.xml"/><Relationship Id="rId18" Type="http://schemas.openxmlformats.org/officeDocument/2006/relationships/tags" Target="../tags/tag215.xml"/><Relationship Id="rId19" Type="http://schemas.openxmlformats.org/officeDocument/2006/relationships/slideLayout" Target="../slideLayouts/slideLayout6.xml"/><Relationship Id="rId20" Type="http://schemas.openxmlformats.org/officeDocument/2006/relationships/notesSlide" Target="../notesSlides/notesSlide28.xml"/><Relationship Id="rId21" Type="http://schemas.openxmlformats.org/officeDocument/2006/relationships/chart" Target="../charts/chart138.xml"/><Relationship Id="rId22" Type="http://schemas.openxmlformats.org/officeDocument/2006/relationships/slide" Target="slide69.xml"/><Relationship Id="rId23" Type="http://schemas.openxmlformats.org/officeDocument/2006/relationships/chart" Target="../charts/chart139.xml"/><Relationship Id="rId24" Type="http://schemas.openxmlformats.org/officeDocument/2006/relationships/chart" Target="../charts/chart140.xml"/><Relationship Id="rId25" Type="http://schemas.openxmlformats.org/officeDocument/2006/relationships/chart" Target="../charts/chart141.xml"/><Relationship Id="rId26" Type="http://schemas.openxmlformats.org/officeDocument/2006/relationships/chart" Target="../charts/chart142.xml"/><Relationship Id="rId27" Type="http://schemas.openxmlformats.org/officeDocument/2006/relationships/chart" Target="../charts/chart143.xml"/><Relationship Id="rId28" Type="http://schemas.openxmlformats.org/officeDocument/2006/relationships/chart" Target="../charts/chart144.xml"/><Relationship Id="rId29" Type="http://schemas.openxmlformats.org/officeDocument/2006/relationships/chart" Target="../charts/chart145.xml"/><Relationship Id="rId30" Type="http://schemas.openxmlformats.org/officeDocument/2006/relationships/chart" Target="../charts/chart146.xml"/><Relationship Id="rId31" Type="http://schemas.openxmlformats.org/officeDocument/2006/relationships/chart" Target="../charts/chart147.xml"/><Relationship Id="rId32" Type="http://schemas.openxmlformats.org/officeDocument/2006/relationships/chart" Target="../charts/chart148.xml"/><Relationship Id="rId33" Type="http://schemas.openxmlformats.org/officeDocument/2006/relationships/chart" Target="../charts/chart149.xml"/><Relationship Id="rId34" Type="http://schemas.openxmlformats.org/officeDocument/2006/relationships/chart" Target="../charts/chart150.xml"/><Relationship Id="rId35" Type="http://schemas.openxmlformats.org/officeDocument/2006/relationships/chart" Target="../charts/chart151.xml"/></Relationships>
</file>

<file path=ppt/slides/_rels/slide33.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slideLayout" Target="../slideLayouts/slideLayout6.xml"/><Relationship Id="rId3" Type="http://schemas.openxmlformats.org/officeDocument/2006/relationships/notesSlide" Target="../notesSlides/notesSlide29.xml"/><Relationship Id="rId4" Type="http://schemas.microsoft.com/office/2018/10/relationships/comments" Target="../comments/modernComment_2E8B_B4795BA3.xml"/><Relationship Id="rId5" Type="http://schemas.openxmlformats.org/officeDocument/2006/relationships/chart" Target="../charts/chart152.xml"/><Relationship Id="rId6" Type="http://schemas.openxmlformats.org/officeDocument/2006/relationships/slide" Target="slide29.xml"/><Relationship Id="rId7" Type="http://schemas.openxmlformats.org/officeDocument/2006/relationships/slide" Target="slide63.xml"/><Relationship Id="rId8" Type="http://schemas.openxmlformats.org/officeDocument/2006/relationships/slide" Target="slide6.xml"/></Relationships>
</file>

<file path=ppt/slides/_rels/slide34.xml.rels><?xml version='1.0' encoding='UTF-8' standalone='yes'?>
<Relationships xmlns="http://schemas.openxmlformats.org/package/2006/relationships"><Relationship Id="rId1" Type="http://schemas.openxmlformats.org/officeDocument/2006/relationships/tags" Target="../tags/tag217.xml"/><Relationship Id="rId2" Type="http://schemas.openxmlformats.org/officeDocument/2006/relationships/tags" Target="../tags/tag218.xml"/><Relationship Id="rId3" Type="http://schemas.openxmlformats.org/officeDocument/2006/relationships/slideLayout" Target="../slideLayouts/slideLayout6.xml"/><Relationship Id="rId4" Type="http://schemas.openxmlformats.org/officeDocument/2006/relationships/notesSlide" Target="../notesSlides/notesSlide30.xml"/><Relationship Id="rId5" Type="http://schemas.openxmlformats.org/officeDocument/2006/relationships/chart" Target="../charts/chart153.xml"/><Relationship Id="rId6" Type="http://schemas.openxmlformats.org/officeDocument/2006/relationships/slide" Target="slide7.xml"/></Relationships>
</file>

<file path=ppt/slides/_rels/slide35.xml.rels><?xml version='1.0' encoding='UTF-8' standalone='yes'?>
<Relationships xmlns="http://schemas.openxmlformats.org/package/2006/relationships"><Relationship Id="rId1" Type="http://schemas.openxmlformats.org/officeDocument/2006/relationships/tags" Target="../tags/tag219.xml"/><Relationship Id="rId2" Type="http://schemas.openxmlformats.org/officeDocument/2006/relationships/tags" Target="../tags/tag220.xml"/><Relationship Id="rId3" Type="http://schemas.openxmlformats.org/officeDocument/2006/relationships/slideLayout" Target="../slideLayouts/slideLayout6.xml"/><Relationship Id="rId4" Type="http://schemas.openxmlformats.org/officeDocument/2006/relationships/notesSlide" Target="../notesSlides/notesSlide31.xml"/><Relationship Id="rId5" Type="http://schemas.openxmlformats.org/officeDocument/2006/relationships/chart" Target="../charts/chart15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37.xml.rels><?xml version='1.0' encoding='UTF-8' standalone='yes'?>
<Relationships xmlns="http://schemas.openxmlformats.org/package/2006/relationships"><Relationship Id="rId1" Type="http://schemas.openxmlformats.org/officeDocument/2006/relationships/tags" Target="../tags/tag221.xml"/><Relationship Id="rId2" Type="http://schemas.openxmlformats.org/officeDocument/2006/relationships/tags" Target="../tags/tag222.xml"/><Relationship Id="rId3" Type="http://schemas.openxmlformats.org/officeDocument/2006/relationships/tags" Target="../tags/tag223.xml"/><Relationship Id="rId4" Type="http://schemas.openxmlformats.org/officeDocument/2006/relationships/tags" Target="../tags/tag224.xml"/><Relationship Id="rId5" Type="http://schemas.openxmlformats.org/officeDocument/2006/relationships/tags" Target="../tags/tag225.xml"/><Relationship Id="rId6" Type="http://schemas.openxmlformats.org/officeDocument/2006/relationships/tags" Target="../tags/tag226.xml"/><Relationship Id="rId7" Type="http://schemas.openxmlformats.org/officeDocument/2006/relationships/tags" Target="../tags/tag227.xml"/><Relationship Id="rId8" Type="http://schemas.openxmlformats.org/officeDocument/2006/relationships/tags" Target="../tags/tag228.xml"/><Relationship Id="rId9" Type="http://schemas.openxmlformats.org/officeDocument/2006/relationships/tags" Target="../tags/tag229.xml"/><Relationship Id="rId10" Type="http://schemas.openxmlformats.org/officeDocument/2006/relationships/tags" Target="../tags/tag230.xml"/><Relationship Id="rId11" Type="http://schemas.openxmlformats.org/officeDocument/2006/relationships/slideLayout" Target="../slideLayouts/slideLayout6.xml"/><Relationship Id="rId12" Type="http://schemas.openxmlformats.org/officeDocument/2006/relationships/notesSlide" Target="../notesSlides/notesSlide32.xml"/><Relationship Id="rId13" Type="http://schemas.openxmlformats.org/officeDocument/2006/relationships/chart" Target="../charts/chart155.xml"/><Relationship Id="rId14" Type="http://schemas.openxmlformats.org/officeDocument/2006/relationships/chart" Target="../charts/chart156.xml"/><Relationship Id="rId15" Type="http://schemas.openxmlformats.org/officeDocument/2006/relationships/chart" Target="../charts/chart157.xml"/><Relationship Id="rId16" Type="http://schemas.openxmlformats.org/officeDocument/2006/relationships/chart" Target="../charts/chart158.xml"/><Relationship Id="rId17" Type="http://schemas.openxmlformats.org/officeDocument/2006/relationships/chart" Target="../charts/chart159.xml"/><Relationship Id="rId18" Type="http://schemas.openxmlformats.org/officeDocument/2006/relationships/chart" Target="../charts/chart160.xml"/><Relationship Id="rId19" Type="http://schemas.openxmlformats.org/officeDocument/2006/relationships/chart" Target="../charts/chart161.xml"/><Relationship Id="rId20" Type="http://schemas.openxmlformats.org/officeDocument/2006/relationships/chart" Target="../charts/chart162.xml"/><Relationship Id="rId21" Type="http://schemas.openxmlformats.org/officeDocument/2006/relationships/slide" Target="slide6.xml"/></Relationships>
</file>

<file path=ppt/slides/_rels/slide38.xml.rels><?xml version='1.0' encoding='UTF-8' standalone='yes'?>
<Relationships xmlns="http://schemas.openxmlformats.org/package/2006/relationships"><Relationship Id="rId1" Type="http://schemas.openxmlformats.org/officeDocument/2006/relationships/tags" Target="../tags/tag231.xml"/><Relationship Id="rId2" Type="http://schemas.openxmlformats.org/officeDocument/2006/relationships/tags" Target="../tags/tag232.xml"/><Relationship Id="rId3" Type="http://schemas.openxmlformats.org/officeDocument/2006/relationships/tags" Target="../tags/tag233.xml"/><Relationship Id="rId4" Type="http://schemas.openxmlformats.org/officeDocument/2006/relationships/tags" Target="../tags/tag234.xml"/><Relationship Id="rId5" Type="http://schemas.openxmlformats.org/officeDocument/2006/relationships/tags" Target="../tags/tag235.xml"/><Relationship Id="rId6" Type="http://schemas.openxmlformats.org/officeDocument/2006/relationships/tags" Target="../tags/tag236.xml"/><Relationship Id="rId7" Type="http://schemas.openxmlformats.org/officeDocument/2006/relationships/tags" Target="../tags/tag237.xml"/><Relationship Id="rId8" Type="http://schemas.openxmlformats.org/officeDocument/2006/relationships/tags" Target="../tags/tag238.xml"/><Relationship Id="rId9" Type="http://schemas.openxmlformats.org/officeDocument/2006/relationships/slideLayout" Target="../slideLayouts/slideLayout6.xml"/><Relationship Id="rId10" Type="http://schemas.openxmlformats.org/officeDocument/2006/relationships/notesSlide" Target="../notesSlides/notesSlide33.xml"/><Relationship Id="rId11" Type="http://schemas.openxmlformats.org/officeDocument/2006/relationships/chart" Target="../charts/chart163.xml"/><Relationship Id="rId12" Type="http://schemas.openxmlformats.org/officeDocument/2006/relationships/chart" Target="../charts/chart164.xml"/><Relationship Id="rId13" Type="http://schemas.openxmlformats.org/officeDocument/2006/relationships/chart" Target="../charts/chart165.xml"/><Relationship Id="rId14" Type="http://schemas.openxmlformats.org/officeDocument/2006/relationships/chart" Target="../charts/chart166.xml"/><Relationship Id="rId15" Type="http://schemas.openxmlformats.org/officeDocument/2006/relationships/chart" Target="../charts/chart167.xml"/><Relationship Id="rId16" Type="http://schemas.openxmlformats.org/officeDocument/2006/relationships/chart" Target="../charts/chart168.xml"/><Relationship Id="rId17" Type="http://schemas.openxmlformats.org/officeDocument/2006/relationships/slide" Target="slide6.xml"/></Relationships>
</file>

<file path=ppt/slides/_rels/slide39.xml.rels><?xml version='1.0' encoding='UTF-8' standalone='yes'?>
<Relationships xmlns="http://schemas.openxmlformats.org/package/2006/relationships"><Relationship Id="rId1" Type="http://schemas.openxmlformats.org/officeDocument/2006/relationships/tags" Target="../tags/tag239.xml"/><Relationship Id="rId2" Type="http://schemas.openxmlformats.org/officeDocument/2006/relationships/tags" Target="../tags/tag240.xml"/><Relationship Id="rId3" Type="http://schemas.openxmlformats.org/officeDocument/2006/relationships/tags" Target="../tags/tag241.xml"/><Relationship Id="rId4" Type="http://schemas.openxmlformats.org/officeDocument/2006/relationships/tags" Target="../tags/tag242.xml"/><Relationship Id="rId5" Type="http://schemas.openxmlformats.org/officeDocument/2006/relationships/tags" Target="../tags/tag243.xml"/><Relationship Id="rId6" Type="http://schemas.openxmlformats.org/officeDocument/2006/relationships/tags" Target="../tags/tag244.xml"/><Relationship Id="rId7" Type="http://schemas.openxmlformats.org/officeDocument/2006/relationships/tags" Target="../tags/tag245.xml"/><Relationship Id="rId8" Type="http://schemas.openxmlformats.org/officeDocument/2006/relationships/tags" Target="../tags/tag246.xml"/><Relationship Id="rId9" Type="http://schemas.openxmlformats.org/officeDocument/2006/relationships/slideLayout" Target="../slideLayouts/slideLayout6.xml"/><Relationship Id="rId10" Type="http://schemas.openxmlformats.org/officeDocument/2006/relationships/notesSlide" Target="../notesSlides/notesSlide34.xml"/><Relationship Id="rId11" Type="http://schemas.openxmlformats.org/officeDocument/2006/relationships/chart" Target="../charts/chart169.xml"/><Relationship Id="rId12" Type="http://schemas.openxmlformats.org/officeDocument/2006/relationships/chart" Target="../charts/chart170.xml"/><Relationship Id="rId13" Type="http://schemas.openxmlformats.org/officeDocument/2006/relationships/chart" Target="../charts/chart171.xml"/><Relationship Id="rId14" Type="http://schemas.openxmlformats.org/officeDocument/2006/relationships/chart" Target="../charts/chart172.xml"/><Relationship Id="rId15" Type="http://schemas.openxmlformats.org/officeDocument/2006/relationships/chart" Target="../charts/chart173.xml"/><Relationship Id="rId16" Type="http://schemas.openxmlformats.org/officeDocument/2006/relationships/chart" Target="../charts/chart174.xml"/></Relationships>
</file>

<file path=ppt/slides/_rels/slide40.xml.rels><?xml version='1.0' encoding='UTF-8' standalone='yes'?>
<Relationships xmlns="http://schemas.openxmlformats.org/package/2006/relationships"><Relationship Id="rId1" Type="http://schemas.openxmlformats.org/officeDocument/2006/relationships/tags" Target="../tags/tag247.xml"/><Relationship Id="rId2" Type="http://schemas.openxmlformats.org/officeDocument/2006/relationships/tags" Target="../tags/tag248.xml"/><Relationship Id="rId3" Type="http://schemas.openxmlformats.org/officeDocument/2006/relationships/tags" Target="../tags/tag249.xml"/><Relationship Id="rId4" Type="http://schemas.openxmlformats.org/officeDocument/2006/relationships/tags" Target="../tags/tag250.xml"/><Relationship Id="rId5" Type="http://schemas.openxmlformats.org/officeDocument/2006/relationships/tags" Target="../tags/tag251.xml"/><Relationship Id="rId6" Type="http://schemas.openxmlformats.org/officeDocument/2006/relationships/tags" Target="../tags/tag252.xml"/><Relationship Id="rId7" Type="http://schemas.openxmlformats.org/officeDocument/2006/relationships/tags" Target="../tags/tag253.xml"/><Relationship Id="rId8" Type="http://schemas.openxmlformats.org/officeDocument/2006/relationships/tags" Target="../tags/tag254.xml"/><Relationship Id="rId9" Type="http://schemas.openxmlformats.org/officeDocument/2006/relationships/slideLayout" Target="../slideLayouts/slideLayout6.xml"/><Relationship Id="rId10" Type="http://schemas.openxmlformats.org/officeDocument/2006/relationships/notesSlide" Target="../notesSlides/notesSlide35.xml"/><Relationship Id="rId11" Type="http://schemas.openxmlformats.org/officeDocument/2006/relationships/chart" Target="../charts/chart175.xml"/><Relationship Id="rId12" Type="http://schemas.openxmlformats.org/officeDocument/2006/relationships/chart" Target="../charts/chart176.xml"/><Relationship Id="rId13" Type="http://schemas.openxmlformats.org/officeDocument/2006/relationships/chart" Target="../charts/chart177.xml"/><Relationship Id="rId14" Type="http://schemas.openxmlformats.org/officeDocument/2006/relationships/chart" Target="../charts/chart178.xml"/><Relationship Id="rId15" Type="http://schemas.openxmlformats.org/officeDocument/2006/relationships/chart" Target="../charts/chart179.xml"/><Relationship Id="rId16" Type="http://schemas.openxmlformats.org/officeDocument/2006/relationships/chart" Target="../charts/chart180.xml"/><Relationship Id="rId17" Type="http://schemas.openxmlformats.org/officeDocument/2006/relationships/slide" Target="slide72.xml"/><Relationship Id="rId18" Type="http://schemas.openxmlformats.org/officeDocument/2006/relationships/slide" Target="slide6.xml"/></Relationships>
</file>

<file path=ppt/slides/_rels/slide41.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tags" Target="../tags/tag256.xml"/><Relationship Id="rId3" Type="http://schemas.openxmlformats.org/officeDocument/2006/relationships/tags" Target="../tags/tag257.xml"/><Relationship Id="rId4" Type="http://schemas.openxmlformats.org/officeDocument/2006/relationships/tags" Target="../tags/tag258.xml"/><Relationship Id="rId5" Type="http://schemas.openxmlformats.org/officeDocument/2006/relationships/tags" Target="../tags/tag259.xml"/><Relationship Id="rId6" Type="http://schemas.openxmlformats.org/officeDocument/2006/relationships/tags" Target="../tags/tag260.xml"/><Relationship Id="rId7" Type="http://schemas.openxmlformats.org/officeDocument/2006/relationships/tags" Target="../tags/tag261.xml"/><Relationship Id="rId8" Type="http://schemas.openxmlformats.org/officeDocument/2006/relationships/tags" Target="../tags/tag262.xml"/><Relationship Id="rId9" Type="http://schemas.openxmlformats.org/officeDocument/2006/relationships/slideLayout" Target="../slideLayouts/slideLayout6.xml"/><Relationship Id="rId10" Type="http://schemas.openxmlformats.org/officeDocument/2006/relationships/notesSlide" Target="../notesSlides/notesSlide36.xml"/><Relationship Id="rId11" Type="http://schemas.openxmlformats.org/officeDocument/2006/relationships/chart" Target="../charts/chart181.xml"/><Relationship Id="rId12" Type="http://schemas.openxmlformats.org/officeDocument/2006/relationships/chart" Target="../charts/chart182.xml"/><Relationship Id="rId13" Type="http://schemas.openxmlformats.org/officeDocument/2006/relationships/chart" Target="../charts/chart183.xml"/><Relationship Id="rId14" Type="http://schemas.openxmlformats.org/officeDocument/2006/relationships/chart" Target="../charts/chart184.xml"/><Relationship Id="rId15" Type="http://schemas.openxmlformats.org/officeDocument/2006/relationships/chart" Target="../charts/chart185.xml"/><Relationship Id="rId16" Type="http://schemas.openxmlformats.org/officeDocument/2006/relationships/chart" Target="../charts/chart186.xml"/><Relationship Id="rId17" Type="http://schemas.openxmlformats.org/officeDocument/2006/relationships/slide" Target="slide73.xml"/></Relationships>
</file>

<file path=ppt/slides/_rels/slide42.xml.rels><?xml version='1.0' encoding='UTF-8' standalone='yes'?>
<Relationships xmlns="http://schemas.openxmlformats.org/package/2006/relationships"><Relationship Id="rId1" Type="http://schemas.openxmlformats.org/officeDocument/2006/relationships/tags" Target="../tags/tag263.xml"/><Relationship Id="rId2" Type="http://schemas.openxmlformats.org/officeDocument/2006/relationships/tags" Target="../tags/tag264.xml"/><Relationship Id="rId3" Type="http://schemas.openxmlformats.org/officeDocument/2006/relationships/tags" Target="../tags/tag265.xml"/><Relationship Id="rId4" Type="http://schemas.openxmlformats.org/officeDocument/2006/relationships/tags" Target="../tags/tag266.xml"/><Relationship Id="rId5" Type="http://schemas.openxmlformats.org/officeDocument/2006/relationships/tags" Target="../tags/tag267.xml"/><Relationship Id="rId6" Type="http://schemas.openxmlformats.org/officeDocument/2006/relationships/tags" Target="../tags/tag268.xml"/><Relationship Id="rId7" Type="http://schemas.openxmlformats.org/officeDocument/2006/relationships/tags" Target="../tags/tag269.xml"/><Relationship Id="rId8" Type="http://schemas.openxmlformats.org/officeDocument/2006/relationships/tags" Target="../tags/tag270.xml"/><Relationship Id="rId9" Type="http://schemas.openxmlformats.org/officeDocument/2006/relationships/slideLayout" Target="../slideLayouts/slideLayout6.xml"/><Relationship Id="rId10" Type="http://schemas.openxmlformats.org/officeDocument/2006/relationships/notesSlide" Target="../notesSlides/notesSlide37.xml"/><Relationship Id="rId11" Type="http://schemas.openxmlformats.org/officeDocument/2006/relationships/chart" Target="../charts/chart187.xml"/><Relationship Id="rId12" Type="http://schemas.openxmlformats.org/officeDocument/2006/relationships/chart" Target="../charts/chart188.xml"/><Relationship Id="rId13" Type="http://schemas.openxmlformats.org/officeDocument/2006/relationships/chart" Target="../charts/chart189.xml"/><Relationship Id="rId14" Type="http://schemas.openxmlformats.org/officeDocument/2006/relationships/chart" Target="../charts/chart190.xml"/><Relationship Id="rId15" Type="http://schemas.openxmlformats.org/officeDocument/2006/relationships/chart" Target="../charts/chart191.xml"/><Relationship Id="rId16" Type="http://schemas.openxmlformats.org/officeDocument/2006/relationships/chart" Target="../charts/chart192.xml"/><Relationship Id="rId17" Type="http://schemas.openxmlformats.org/officeDocument/2006/relationships/slide" Target="slide7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slide" Target="slide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45.xml.rels><?xml version='1.0' encoding='UTF-8' standalone='yes'?>
<Relationships xmlns="http://schemas.openxmlformats.org/package/2006/relationships"><Relationship Id="rId1" Type="http://schemas.openxmlformats.org/officeDocument/2006/relationships/tags" Target="../tags/tag271.xml"/><Relationship Id="rId2" Type="http://schemas.openxmlformats.org/officeDocument/2006/relationships/tags" Target="../tags/tag272.xml"/><Relationship Id="rId3" Type="http://schemas.openxmlformats.org/officeDocument/2006/relationships/slideLayout" Target="../slideLayouts/slideLayout6.xml"/><Relationship Id="rId4" Type="http://schemas.openxmlformats.org/officeDocument/2006/relationships/notesSlide" Target="../notesSlides/notesSlide38.xml"/><Relationship Id="rId5" Type="http://schemas.openxmlformats.org/officeDocument/2006/relationships/chart" Target="../charts/chart193.xml"/></Relationships>
</file>

<file path=ppt/slides/_rels/slide46.xml.rels><?xml version='1.0' encoding='UTF-8' standalone='yes'?>
<Relationships xmlns="http://schemas.openxmlformats.org/package/2006/relationships"><Relationship Id="rId1" Type="http://schemas.openxmlformats.org/officeDocument/2006/relationships/tags" Target="../tags/tag273.xml"/><Relationship Id="rId2" Type="http://schemas.openxmlformats.org/officeDocument/2006/relationships/tags" Target="../tags/tag274.xml"/><Relationship Id="rId3" Type="http://schemas.openxmlformats.org/officeDocument/2006/relationships/tags" Target="../tags/tag275.xml"/><Relationship Id="rId4" Type="http://schemas.openxmlformats.org/officeDocument/2006/relationships/tags" Target="../tags/tag276.xml"/><Relationship Id="rId5" Type="http://schemas.openxmlformats.org/officeDocument/2006/relationships/tags" Target="../tags/tag277.xml"/><Relationship Id="rId6" Type="http://schemas.openxmlformats.org/officeDocument/2006/relationships/tags" Target="../tags/tag278.xml"/><Relationship Id="rId7" Type="http://schemas.openxmlformats.org/officeDocument/2006/relationships/tags" Target="../tags/tag279.xml"/><Relationship Id="rId8" Type="http://schemas.openxmlformats.org/officeDocument/2006/relationships/tags" Target="../tags/tag280.xml"/><Relationship Id="rId9" Type="http://schemas.openxmlformats.org/officeDocument/2006/relationships/slideLayout" Target="../slideLayouts/slideLayout6.xml"/><Relationship Id="rId10" Type="http://schemas.openxmlformats.org/officeDocument/2006/relationships/notesSlide" Target="../notesSlides/notesSlide39.xml"/><Relationship Id="rId11" Type="http://schemas.openxmlformats.org/officeDocument/2006/relationships/chart" Target="../charts/chart194.xml"/><Relationship Id="rId12" Type="http://schemas.openxmlformats.org/officeDocument/2006/relationships/chart" Target="../charts/chart195.xml"/><Relationship Id="rId13" Type="http://schemas.openxmlformats.org/officeDocument/2006/relationships/chart" Target="../charts/chart196.xml"/><Relationship Id="rId14" Type="http://schemas.openxmlformats.org/officeDocument/2006/relationships/chart" Target="../charts/chart197.xml"/><Relationship Id="rId15" Type="http://schemas.openxmlformats.org/officeDocument/2006/relationships/chart" Target="../charts/chart198.xml"/><Relationship Id="rId16" Type="http://schemas.openxmlformats.org/officeDocument/2006/relationships/chart" Target="../charts/chart19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48.xml.rels><?xml version='1.0' encoding='UTF-8' standalone='yes'?>
<Relationships xmlns="http://schemas.openxmlformats.org/package/2006/relationships"><Relationship Id="rId1" Type="http://schemas.openxmlformats.org/officeDocument/2006/relationships/tags" Target="../tags/tag281.xml"/><Relationship Id="rId2" Type="http://schemas.openxmlformats.org/officeDocument/2006/relationships/tags" Target="../tags/tag282.xml"/><Relationship Id="rId3" Type="http://schemas.openxmlformats.org/officeDocument/2006/relationships/slideLayout" Target="../slideLayouts/slideLayout6.xml"/><Relationship Id="rId4" Type="http://schemas.openxmlformats.org/officeDocument/2006/relationships/notesSlide" Target="../notesSlides/notesSlide40.xml"/><Relationship Id="rId5" Type="http://schemas.openxmlformats.org/officeDocument/2006/relationships/chart" Target="../charts/chart200.xml"/></Relationships>
</file>

<file path=ppt/slides/_rels/slide49.xml.rels><?xml version='1.0' encoding='UTF-8' standalone='yes'?>
<Relationships xmlns="http://schemas.openxmlformats.org/package/2006/relationships"><Relationship Id="rId1" Type="http://schemas.openxmlformats.org/officeDocument/2006/relationships/tags" Target="../tags/tag283.xml"/><Relationship Id="rId2" Type="http://schemas.openxmlformats.org/officeDocument/2006/relationships/tags" Target="../tags/tag284.xml"/><Relationship Id="rId3" Type="http://schemas.openxmlformats.org/officeDocument/2006/relationships/tags" Target="../tags/tag285.xml"/><Relationship Id="rId4" Type="http://schemas.openxmlformats.org/officeDocument/2006/relationships/tags" Target="../tags/tag286.xml"/><Relationship Id="rId5" Type="http://schemas.openxmlformats.org/officeDocument/2006/relationships/tags" Target="../tags/tag287.xml"/><Relationship Id="rId6" Type="http://schemas.openxmlformats.org/officeDocument/2006/relationships/tags" Target="../tags/tag288.xml"/><Relationship Id="rId7" Type="http://schemas.openxmlformats.org/officeDocument/2006/relationships/tags" Target="../tags/tag289.xml"/><Relationship Id="rId8" Type="http://schemas.openxmlformats.org/officeDocument/2006/relationships/slideLayout" Target="../slideLayouts/slideLayout6.xml"/><Relationship Id="rId9" Type="http://schemas.openxmlformats.org/officeDocument/2006/relationships/notesSlide" Target="../notesSlides/notesSlide41.xml"/><Relationship Id="rId10" Type="http://schemas.openxmlformats.org/officeDocument/2006/relationships/chart" Target="../charts/chart201.xml"/><Relationship Id="rId11" Type="http://schemas.openxmlformats.org/officeDocument/2006/relationships/chart" Target="../charts/chart202.xml"/><Relationship Id="rId12" Type="http://schemas.openxmlformats.org/officeDocument/2006/relationships/chart" Target="../charts/chart203.xml"/><Relationship Id="rId13" Type="http://schemas.openxmlformats.org/officeDocument/2006/relationships/chart" Target="../charts/chart204.xml"/><Relationship Id="rId14" Type="http://schemas.openxmlformats.org/officeDocument/2006/relationships/chart" Target="../charts/chart205.xml"/></Relationships>
</file>

<file path=ppt/slides/_rels/slide50.xml.rels><?xml version='1.0' encoding='UTF-8' standalone='yes'?>
<Relationships xmlns="http://schemas.openxmlformats.org/package/2006/relationships"><Relationship Id="rId1" Type="http://schemas.openxmlformats.org/officeDocument/2006/relationships/tags" Target="../tags/tag290.xml"/><Relationship Id="rId2" Type="http://schemas.openxmlformats.org/officeDocument/2006/relationships/tags" Target="../tags/tag291.xml"/><Relationship Id="rId3" Type="http://schemas.openxmlformats.org/officeDocument/2006/relationships/tags" Target="../tags/tag292.xml"/><Relationship Id="rId4" Type="http://schemas.openxmlformats.org/officeDocument/2006/relationships/tags" Target="../tags/tag293.xml"/><Relationship Id="rId5" Type="http://schemas.openxmlformats.org/officeDocument/2006/relationships/tags" Target="../tags/tag294.xml"/><Relationship Id="rId6" Type="http://schemas.openxmlformats.org/officeDocument/2006/relationships/tags" Target="../tags/tag295.xml"/><Relationship Id="rId7" Type="http://schemas.openxmlformats.org/officeDocument/2006/relationships/slideLayout" Target="../slideLayouts/slideLayout6.xml"/><Relationship Id="rId8" Type="http://schemas.openxmlformats.org/officeDocument/2006/relationships/notesSlide" Target="../notesSlides/notesSlide42.xml"/><Relationship Id="rId9" Type="http://schemas.openxmlformats.org/officeDocument/2006/relationships/chart" Target="../charts/chart206.xml"/><Relationship Id="rId10" Type="http://schemas.openxmlformats.org/officeDocument/2006/relationships/chart" Target="../charts/chart207.xml"/><Relationship Id="rId11" Type="http://schemas.openxmlformats.org/officeDocument/2006/relationships/chart" Target="../charts/chart208.xml"/></Relationships>
</file>

<file path=ppt/slides/_rels/slide51.xml.rels><?xml version='1.0' encoding='UTF-8' standalone='yes'?>
<Relationships xmlns="http://schemas.openxmlformats.org/package/2006/relationships"><Relationship Id="rId1" Type="http://schemas.openxmlformats.org/officeDocument/2006/relationships/tags" Target="../tags/tag296.xml"/><Relationship Id="rId2" Type="http://schemas.openxmlformats.org/officeDocument/2006/relationships/tags" Target="../tags/tag297.xml"/><Relationship Id="rId3" Type="http://schemas.openxmlformats.org/officeDocument/2006/relationships/slideLayout" Target="../slideLayouts/slideLayout6.xml"/><Relationship Id="rId4" Type="http://schemas.openxmlformats.org/officeDocument/2006/relationships/notesSlide" Target="../notesSlides/notesSlide43.xml"/><Relationship Id="rId5" Type="http://schemas.openxmlformats.org/officeDocument/2006/relationships/image" Target="../media/image12.png"/></Relationships>
</file>

<file path=ppt/slides/_rels/slide52.xml.rels><?xml version='1.0' encoding='UTF-8' standalone='yes'?>
<Relationships xmlns="http://schemas.openxmlformats.org/package/2006/relationships"><Relationship Id="rId1" Type="http://schemas.openxmlformats.org/officeDocument/2006/relationships/tags" Target="../tags/tag298.xml"/><Relationship Id="rId2" Type="http://schemas.openxmlformats.org/officeDocument/2006/relationships/tags" Target="../tags/tag299.xml"/><Relationship Id="rId3" Type="http://schemas.openxmlformats.org/officeDocument/2006/relationships/slideLayout" Target="../slideLayouts/slideLayout6.xml"/><Relationship Id="rId4" Type="http://schemas.openxmlformats.org/officeDocument/2006/relationships/notesSlide" Target="../notesSlides/notesSlide44.xml"/></Relationships>
</file>

<file path=ppt/slides/_rels/slide53.xml.rels><?xml version='1.0' encoding='UTF-8' standalone='yes'?>
<Relationships xmlns="http://schemas.openxmlformats.org/package/2006/relationships"><Relationship Id="rId1" Type="http://schemas.openxmlformats.org/officeDocument/2006/relationships/tags" Target="../tags/tag300.xml"/><Relationship Id="rId2" Type="http://schemas.openxmlformats.org/officeDocument/2006/relationships/tags" Target="../tags/tag301.xml"/><Relationship Id="rId3" Type="http://schemas.openxmlformats.org/officeDocument/2006/relationships/slideLayout" Target="../slideLayouts/slideLayout6.xml"/><Relationship Id="rId4" Type="http://schemas.openxmlformats.org/officeDocument/2006/relationships/notesSlide" Target="../notesSlides/notesSlide45.xml"/><Relationship Id="rId5" Type="http://schemas.openxmlformats.org/officeDocument/2006/relationships/chart" Target="../charts/chart209.xml"/><Relationship Id="rId6" Type="http://schemas.openxmlformats.org/officeDocument/2006/relationships/chart" Target="../charts/chart210.xml"/><Relationship Id="rId7" Type="http://schemas.openxmlformats.org/officeDocument/2006/relationships/image" Target="../media/image12.png"/><Relationship Id="rId8" Type="http://schemas.openxmlformats.org/officeDocument/2006/relationships/slide" Target="slide5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1" Type="http://schemas.openxmlformats.org/officeDocument/2006/relationships/tags" Target="../tags/tag302.xml"/><Relationship Id="rId2" Type="http://schemas.openxmlformats.org/officeDocument/2006/relationships/slideLayout" Target="../slideLayouts/slideLayout6.xml"/><Relationship Id="rId3" Type="http://schemas.openxmlformats.org/officeDocument/2006/relationships/notesSlide" Target="../notesSlides/notesSlide46.xml"/></Relationships>
</file>

<file path=ppt/slides/_rels/slide56.xml.rels><?xml version='1.0' encoding='UTF-8' standalone='yes'?>
<Relationships xmlns="http://schemas.openxmlformats.org/package/2006/relationships"><Relationship Id="rId1" Type="http://schemas.openxmlformats.org/officeDocument/2006/relationships/tags" Target="../tags/tag303.xml"/><Relationship Id="rId2" Type="http://schemas.openxmlformats.org/officeDocument/2006/relationships/slideLayout" Target="../slideLayouts/slideLayout6.xml"/><Relationship Id="rId3" Type="http://schemas.openxmlformats.org/officeDocument/2006/relationships/notesSlide" Target="../notesSlides/notesSlide47.xml"/></Relationships>
</file>

<file path=ppt/slides/_rels/slide57.xml.rels><?xml version='1.0' encoding='UTF-8' standalone='yes'?>
<Relationships xmlns="http://schemas.openxmlformats.org/package/2006/relationships"><Relationship Id="rId1" Type="http://schemas.openxmlformats.org/officeDocument/2006/relationships/tags" Target="../tags/tag304.xml"/><Relationship Id="rId2" Type="http://schemas.openxmlformats.org/officeDocument/2006/relationships/slideLayout" Target="../slideLayouts/slideLayout6.xml"/><Relationship Id="rId3" Type="http://schemas.openxmlformats.org/officeDocument/2006/relationships/notesSlide" Target="../notesSlides/notesSlide48.xml"/><Relationship Id="rId4" Type="http://schemas.openxmlformats.org/officeDocument/2006/relationships/image" Target="../media/image13.emf"/><Relationship Id="rId5" Type="http://schemas.openxmlformats.org/officeDocument/2006/relationships/image" Target="../media/image14.emf"/><Relationship Id="rId6" Type="http://schemas.openxmlformats.org/officeDocument/2006/relationships/image" Target="../media/image15.emf"/></Relationships>
</file>

<file path=ppt/slides/_rels/slide58.xml.rels><?xml version='1.0' encoding='UTF-8' standalone='yes'?>
<Relationships xmlns="http://schemas.openxmlformats.org/package/2006/relationships"><Relationship Id="rId1" Type="http://schemas.openxmlformats.org/officeDocument/2006/relationships/tags" Target="../tags/tag305.xml"/><Relationship Id="rId2" Type="http://schemas.openxmlformats.org/officeDocument/2006/relationships/slideLayout" Target="../slideLayouts/slideLayout6.xml"/><Relationship Id="rId3" Type="http://schemas.openxmlformats.org/officeDocument/2006/relationships/notesSlide" Target="../notesSlides/notesSlide49.xml"/><Relationship Id="rId4" Type="http://schemas.openxmlformats.org/officeDocument/2006/relationships/chart" Target="../charts/chart21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6.png"/><Relationship Id="rId3" Type="http://schemas.openxmlformats.org/officeDocument/2006/relationships/image" Target="../media/image17.png"/><Relationship Id="rId4" Type="http://schemas.openxmlformats.org/officeDocument/2006/relationships/image" Target="../media/image18.png"/></Relationships>
</file>

<file path=ppt/slides/_rels/slide60.xml.rels><?xml version='1.0' encoding='UTF-8' standalone='yes'?>
<Relationships xmlns="http://schemas.openxmlformats.org/package/2006/relationships"><Relationship Id="rId1" Type="http://schemas.openxmlformats.org/officeDocument/2006/relationships/tags" Target="../tags/tag306.xml"/><Relationship Id="rId2" Type="http://schemas.openxmlformats.org/officeDocument/2006/relationships/tags" Target="../tags/tag307.xml"/><Relationship Id="rId3" Type="http://schemas.openxmlformats.org/officeDocument/2006/relationships/tags" Target="../tags/tag308.xml"/><Relationship Id="rId4" Type="http://schemas.openxmlformats.org/officeDocument/2006/relationships/tags" Target="../tags/tag309.xml"/><Relationship Id="rId5" Type="http://schemas.openxmlformats.org/officeDocument/2006/relationships/tags" Target="../tags/tag310.xml"/><Relationship Id="rId6" Type="http://schemas.openxmlformats.org/officeDocument/2006/relationships/tags" Target="../tags/tag311.xml"/><Relationship Id="rId7" Type="http://schemas.openxmlformats.org/officeDocument/2006/relationships/tags" Target="../tags/tag312.xml"/><Relationship Id="rId8" Type="http://schemas.openxmlformats.org/officeDocument/2006/relationships/tags" Target="../tags/tag313.xml"/><Relationship Id="rId9" Type="http://schemas.openxmlformats.org/officeDocument/2006/relationships/tags" Target="../tags/tag314.xml"/><Relationship Id="rId10" Type="http://schemas.openxmlformats.org/officeDocument/2006/relationships/tags" Target="../tags/tag315.xml"/><Relationship Id="rId11" Type="http://schemas.openxmlformats.org/officeDocument/2006/relationships/tags" Target="../tags/tag316.xml"/><Relationship Id="rId12" Type="http://schemas.openxmlformats.org/officeDocument/2006/relationships/tags" Target="../tags/tag317.xml"/><Relationship Id="rId13" Type="http://schemas.openxmlformats.org/officeDocument/2006/relationships/tags" Target="../tags/tag318.xml"/><Relationship Id="rId14" Type="http://schemas.openxmlformats.org/officeDocument/2006/relationships/tags" Target="../tags/tag319.xml"/><Relationship Id="rId15" Type="http://schemas.openxmlformats.org/officeDocument/2006/relationships/tags" Target="../tags/tag320.xml"/><Relationship Id="rId16" Type="http://schemas.openxmlformats.org/officeDocument/2006/relationships/slideLayout" Target="../slideLayouts/slideLayout6.xml"/><Relationship Id="rId17" Type="http://schemas.openxmlformats.org/officeDocument/2006/relationships/notesSlide" Target="../notesSlides/notesSlide50.xml"/><Relationship Id="rId18" Type="http://schemas.openxmlformats.org/officeDocument/2006/relationships/chart" Target="../charts/chart212.xml"/><Relationship Id="rId19" Type="http://schemas.openxmlformats.org/officeDocument/2006/relationships/chart" Target="../charts/chart213.xml"/><Relationship Id="rId20" Type="http://schemas.openxmlformats.org/officeDocument/2006/relationships/chart" Target="../charts/chart214.xml"/><Relationship Id="rId21" Type="http://schemas.openxmlformats.org/officeDocument/2006/relationships/chart" Target="../charts/chart215.xml"/><Relationship Id="rId22" Type="http://schemas.openxmlformats.org/officeDocument/2006/relationships/chart" Target="../charts/chart216.xml"/><Relationship Id="rId23" Type="http://schemas.openxmlformats.org/officeDocument/2006/relationships/chart" Target="../charts/chart217.xml"/><Relationship Id="rId24" Type="http://schemas.openxmlformats.org/officeDocument/2006/relationships/chart" Target="../charts/chart218.xml"/><Relationship Id="rId25" Type="http://schemas.openxmlformats.org/officeDocument/2006/relationships/chart" Target="../charts/chart219.xml"/><Relationship Id="rId26" Type="http://schemas.openxmlformats.org/officeDocument/2006/relationships/chart" Target="../charts/chart220.xml"/><Relationship Id="rId27" Type="http://schemas.openxmlformats.org/officeDocument/2006/relationships/chart" Target="../charts/chart221.xml"/><Relationship Id="rId28" Type="http://schemas.openxmlformats.org/officeDocument/2006/relationships/chart" Target="../charts/chart222.xml"/><Relationship Id="rId29" Type="http://schemas.openxmlformats.org/officeDocument/2006/relationships/chart" Target="../charts/chart223.xml"/><Relationship Id="rId30" Type="http://schemas.openxmlformats.org/officeDocument/2006/relationships/slide" Target="slide29.xml"/><Relationship Id="rId31" Type="http://schemas.openxmlformats.org/officeDocument/2006/relationships/chart" Target="../charts/chart224.xml"/></Relationships>
</file>

<file path=ppt/slides/_rels/slide61.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tags" Target="../tags/tag323.xml"/><Relationship Id="rId4" Type="http://schemas.openxmlformats.org/officeDocument/2006/relationships/tags" Target="../tags/tag324.xml"/><Relationship Id="rId5" Type="http://schemas.openxmlformats.org/officeDocument/2006/relationships/tags" Target="../tags/tag325.xml"/><Relationship Id="rId6" Type="http://schemas.openxmlformats.org/officeDocument/2006/relationships/tags" Target="../tags/tag326.xml"/><Relationship Id="rId7" Type="http://schemas.openxmlformats.org/officeDocument/2006/relationships/tags" Target="../tags/tag327.xml"/><Relationship Id="rId8" Type="http://schemas.openxmlformats.org/officeDocument/2006/relationships/tags" Target="../tags/tag328.xml"/><Relationship Id="rId9" Type="http://schemas.openxmlformats.org/officeDocument/2006/relationships/tags" Target="../tags/tag329.xml"/><Relationship Id="rId10" Type="http://schemas.openxmlformats.org/officeDocument/2006/relationships/tags" Target="../tags/tag330.xml"/><Relationship Id="rId11" Type="http://schemas.openxmlformats.org/officeDocument/2006/relationships/tags" Target="../tags/tag331.xml"/><Relationship Id="rId12" Type="http://schemas.openxmlformats.org/officeDocument/2006/relationships/tags" Target="../tags/tag332.xml"/><Relationship Id="rId13" Type="http://schemas.openxmlformats.org/officeDocument/2006/relationships/tags" Target="../tags/tag333.xml"/><Relationship Id="rId14" Type="http://schemas.openxmlformats.org/officeDocument/2006/relationships/tags" Target="../tags/tag334.xml"/><Relationship Id="rId15" Type="http://schemas.openxmlformats.org/officeDocument/2006/relationships/tags" Target="../tags/tag335.xml"/><Relationship Id="rId16" Type="http://schemas.openxmlformats.org/officeDocument/2006/relationships/slideLayout" Target="../slideLayouts/slideLayout6.xml"/><Relationship Id="rId17" Type="http://schemas.openxmlformats.org/officeDocument/2006/relationships/notesSlide" Target="../notesSlides/notesSlide51.xml"/><Relationship Id="rId18" Type="http://schemas.openxmlformats.org/officeDocument/2006/relationships/chart" Target="../charts/chart225.xml"/><Relationship Id="rId19" Type="http://schemas.openxmlformats.org/officeDocument/2006/relationships/chart" Target="../charts/chart226.xml"/><Relationship Id="rId20" Type="http://schemas.openxmlformats.org/officeDocument/2006/relationships/chart" Target="../charts/chart227.xml"/><Relationship Id="rId21" Type="http://schemas.openxmlformats.org/officeDocument/2006/relationships/chart" Target="../charts/chart228.xml"/><Relationship Id="rId22" Type="http://schemas.openxmlformats.org/officeDocument/2006/relationships/chart" Target="../charts/chart229.xml"/><Relationship Id="rId23" Type="http://schemas.openxmlformats.org/officeDocument/2006/relationships/chart" Target="../charts/chart230.xml"/><Relationship Id="rId24" Type="http://schemas.openxmlformats.org/officeDocument/2006/relationships/chart" Target="../charts/chart231.xml"/><Relationship Id="rId25" Type="http://schemas.openxmlformats.org/officeDocument/2006/relationships/chart" Target="../charts/chart232.xml"/><Relationship Id="rId26" Type="http://schemas.openxmlformats.org/officeDocument/2006/relationships/chart" Target="../charts/chart233.xml"/><Relationship Id="rId27" Type="http://schemas.openxmlformats.org/officeDocument/2006/relationships/chart" Target="../charts/chart234.xml"/><Relationship Id="rId28" Type="http://schemas.openxmlformats.org/officeDocument/2006/relationships/chart" Target="../charts/chart235.xml"/><Relationship Id="rId29" Type="http://schemas.openxmlformats.org/officeDocument/2006/relationships/chart" Target="../charts/chart236.xml"/><Relationship Id="rId30" Type="http://schemas.openxmlformats.org/officeDocument/2006/relationships/chart" Target="../charts/chart237.xml"/></Relationships>
</file>

<file path=ppt/slides/_rels/slide62.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tags" Target="../tags/tag340.xml"/><Relationship Id="rId6" Type="http://schemas.openxmlformats.org/officeDocument/2006/relationships/tags" Target="../tags/tag341.xml"/><Relationship Id="rId7" Type="http://schemas.openxmlformats.org/officeDocument/2006/relationships/tags" Target="../tags/tag342.xml"/><Relationship Id="rId8" Type="http://schemas.openxmlformats.org/officeDocument/2006/relationships/tags" Target="../tags/tag343.xml"/><Relationship Id="rId9" Type="http://schemas.openxmlformats.org/officeDocument/2006/relationships/tags" Target="../tags/tag344.xml"/><Relationship Id="rId10" Type="http://schemas.openxmlformats.org/officeDocument/2006/relationships/tags" Target="../tags/tag345.xml"/><Relationship Id="rId11" Type="http://schemas.openxmlformats.org/officeDocument/2006/relationships/tags" Target="../tags/tag346.xml"/><Relationship Id="rId12" Type="http://schemas.openxmlformats.org/officeDocument/2006/relationships/tags" Target="../tags/tag347.xml"/><Relationship Id="rId13" Type="http://schemas.openxmlformats.org/officeDocument/2006/relationships/tags" Target="../tags/tag348.xml"/><Relationship Id="rId14" Type="http://schemas.openxmlformats.org/officeDocument/2006/relationships/tags" Target="../tags/tag349.xml"/><Relationship Id="rId15" Type="http://schemas.openxmlformats.org/officeDocument/2006/relationships/tags" Target="../tags/tag350.xml"/><Relationship Id="rId16" Type="http://schemas.openxmlformats.org/officeDocument/2006/relationships/slideLayout" Target="../slideLayouts/slideLayout6.xml"/><Relationship Id="rId17" Type="http://schemas.openxmlformats.org/officeDocument/2006/relationships/notesSlide" Target="../notesSlides/notesSlide52.xml"/><Relationship Id="rId18" Type="http://schemas.openxmlformats.org/officeDocument/2006/relationships/chart" Target="../charts/chart238.xml"/><Relationship Id="rId19" Type="http://schemas.openxmlformats.org/officeDocument/2006/relationships/chart" Target="../charts/chart239.xml"/><Relationship Id="rId20" Type="http://schemas.openxmlformats.org/officeDocument/2006/relationships/chart" Target="../charts/chart240.xml"/><Relationship Id="rId21" Type="http://schemas.openxmlformats.org/officeDocument/2006/relationships/chart" Target="../charts/chart241.xml"/><Relationship Id="rId22" Type="http://schemas.openxmlformats.org/officeDocument/2006/relationships/chart" Target="../charts/chart242.xml"/><Relationship Id="rId23" Type="http://schemas.openxmlformats.org/officeDocument/2006/relationships/chart" Target="../charts/chart243.xml"/><Relationship Id="rId24" Type="http://schemas.openxmlformats.org/officeDocument/2006/relationships/chart" Target="../charts/chart244.xml"/><Relationship Id="rId25" Type="http://schemas.openxmlformats.org/officeDocument/2006/relationships/chart" Target="../charts/chart245.xml"/><Relationship Id="rId26" Type="http://schemas.openxmlformats.org/officeDocument/2006/relationships/chart" Target="../charts/chart246.xml"/><Relationship Id="rId27" Type="http://schemas.openxmlformats.org/officeDocument/2006/relationships/chart" Target="../charts/chart247.xml"/><Relationship Id="rId28" Type="http://schemas.openxmlformats.org/officeDocument/2006/relationships/chart" Target="../charts/chart248.xml"/><Relationship Id="rId29" Type="http://schemas.openxmlformats.org/officeDocument/2006/relationships/chart" Target="../charts/chart249.xml"/><Relationship Id="rId30" Type="http://schemas.openxmlformats.org/officeDocument/2006/relationships/chart" Target="../charts/chart250.xml"/></Relationships>
</file>

<file path=ppt/slides/_rels/slide63.xml.rels><?xml version='1.0' encoding='UTF-8' standalone='yes'?>
<Relationships xmlns="http://schemas.openxmlformats.org/package/2006/relationships"><Relationship Id="rId1" Type="http://schemas.openxmlformats.org/officeDocument/2006/relationships/tags" Target="../tags/tag351.xml"/><Relationship Id="rId2" Type="http://schemas.openxmlformats.org/officeDocument/2006/relationships/tags" Target="../tags/tag352.xml"/><Relationship Id="rId3" Type="http://schemas.openxmlformats.org/officeDocument/2006/relationships/tags" Target="../tags/tag353.xml"/><Relationship Id="rId4" Type="http://schemas.openxmlformats.org/officeDocument/2006/relationships/tags" Target="../tags/tag354.xml"/><Relationship Id="rId5" Type="http://schemas.openxmlformats.org/officeDocument/2006/relationships/tags" Target="../tags/tag355.xml"/><Relationship Id="rId6" Type="http://schemas.openxmlformats.org/officeDocument/2006/relationships/tags" Target="../tags/tag356.xml"/><Relationship Id="rId7" Type="http://schemas.openxmlformats.org/officeDocument/2006/relationships/tags" Target="../tags/tag357.xml"/><Relationship Id="rId8" Type="http://schemas.openxmlformats.org/officeDocument/2006/relationships/tags" Target="../tags/tag358.xml"/><Relationship Id="rId9" Type="http://schemas.openxmlformats.org/officeDocument/2006/relationships/tags" Target="../tags/tag359.xml"/><Relationship Id="rId10" Type="http://schemas.openxmlformats.org/officeDocument/2006/relationships/tags" Target="../tags/tag360.xml"/><Relationship Id="rId11" Type="http://schemas.openxmlformats.org/officeDocument/2006/relationships/tags" Target="../tags/tag361.xml"/><Relationship Id="rId12" Type="http://schemas.openxmlformats.org/officeDocument/2006/relationships/tags" Target="../tags/tag362.xml"/><Relationship Id="rId13" Type="http://schemas.openxmlformats.org/officeDocument/2006/relationships/tags" Target="../tags/tag363.xml"/><Relationship Id="rId14" Type="http://schemas.openxmlformats.org/officeDocument/2006/relationships/tags" Target="../tags/tag364.xml"/><Relationship Id="rId15" Type="http://schemas.openxmlformats.org/officeDocument/2006/relationships/tags" Target="../tags/tag365.xml"/><Relationship Id="rId16" Type="http://schemas.openxmlformats.org/officeDocument/2006/relationships/slideLayout" Target="../slideLayouts/slideLayout6.xml"/><Relationship Id="rId17" Type="http://schemas.openxmlformats.org/officeDocument/2006/relationships/notesSlide" Target="../notesSlides/notesSlide53.xml"/><Relationship Id="rId18" Type="http://schemas.openxmlformats.org/officeDocument/2006/relationships/chart" Target="../charts/chart251.xml"/><Relationship Id="rId19" Type="http://schemas.openxmlformats.org/officeDocument/2006/relationships/chart" Target="../charts/chart252.xml"/><Relationship Id="rId20" Type="http://schemas.openxmlformats.org/officeDocument/2006/relationships/chart" Target="../charts/chart253.xml"/><Relationship Id="rId21" Type="http://schemas.openxmlformats.org/officeDocument/2006/relationships/chart" Target="../charts/chart254.xml"/><Relationship Id="rId22" Type="http://schemas.openxmlformats.org/officeDocument/2006/relationships/chart" Target="../charts/chart255.xml"/><Relationship Id="rId23" Type="http://schemas.openxmlformats.org/officeDocument/2006/relationships/chart" Target="../charts/chart256.xml"/><Relationship Id="rId24" Type="http://schemas.openxmlformats.org/officeDocument/2006/relationships/chart" Target="../charts/chart257.xml"/><Relationship Id="rId25" Type="http://schemas.openxmlformats.org/officeDocument/2006/relationships/chart" Target="../charts/chart258.xml"/><Relationship Id="rId26" Type="http://schemas.openxmlformats.org/officeDocument/2006/relationships/chart" Target="../charts/chart259.xml"/><Relationship Id="rId27" Type="http://schemas.openxmlformats.org/officeDocument/2006/relationships/chart" Target="../charts/chart260.xml"/><Relationship Id="rId28" Type="http://schemas.openxmlformats.org/officeDocument/2006/relationships/chart" Target="../charts/chart261.xml"/><Relationship Id="rId29" Type="http://schemas.openxmlformats.org/officeDocument/2006/relationships/chart" Target="../charts/chart262.xml"/><Relationship Id="rId30" Type="http://schemas.openxmlformats.org/officeDocument/2006/relationships/slide" Target="slide30.xml"/><Relationship Id="rId31" Type="http://schemas.openxmlformats.org/officeDocument/2006/relationships/chart" Target="../charts/chart263.xml"/></Relationships>
</file>

<file path=ppt/slides/_rels/slide64.xml.rels><?xml version='1.0' encoding='UTF-8' standalone='yes'?>
<Relationships xmlns="http://schemas.openxmlformats.org/package/2006/relationships"><Relationship Id="rId1" Type="http://schemas.openxmlformats.org/officeDocument/2006/relationships/tags" Target="../tags/tag366.xml"/><Relationship Id="rId2" Type="http://schemas.openxmlformats.org/officeDocument/2006/relationships/tags" Target="../tags/tag367.xml"/><Relationship Id="rId3" Type="http://schemas.openxmlformats.org/officeDocument/2006/relationships/tags" Target="../tags/tag368.xml"/><Relationship Id="rId4" Type="http://schemas.openxmlformats.org/officeDocument/2006/relationships/tags" Target="../tags/tag369.xml"/><Relationship Id="rId5" Type="http://schemas.openxmlformats.org/officeDocument/2006/relationships/tags" Target="../tags/tag370.xml"/><Relationship Id="rId6" Type="http://schemas.openxmlformats.org/officeDocument/2006/relationships/tags" Target="../tags/tag371.xml"/><Relationship Id="rId7" Type="http://schemas.openxmlformats.org/officeDocument/2006/relationships/tags" Target="../tags/tag372.xml"/><Relationship Id="rId8" Type="http://schemas.openxmlformats.org/officeDocument/2006/relationships/tags" Target="../tags/tag373.xml"/><Relationship Id="rId9" Type="http://schemas.openxmlformats.org/officeDocument/2006/relationships/tags" Target="../tags/tag374.xml"/><Relationship Id="rId10" Type="http://schemas.openxmlformats.org/officeDocument/2006/relationships/tags" Target="../tags/tag375.xml"/><Relationship Id="rId11" Type="http://schemas.openxmlformats.org/officeDocument/2006/relationships/tags" Target="../tags/tag376.xml"/><Relationship Id="rId12" Type="http://schemas.openxmlformats.org/officeDocument/2006/relationships/tags" Target="../tags/tag377.xml"/><Relationship Id="rId13" Type="http://schemas.openxmlformats.org/officeDocument/2006/relationships/tags" Target="../tags/tag378.xml"/><Relationship Id="rId14" Type="http://schemas.openxmlformats.org/officeDocument/2006/relationships/tags" Target="../tags/tag379.xml"/><Relationship Id="rId15" Type="http://schemas.openxmlformats.org/officeDocument/2006/relationships/tags" Target="../tags/tag380.xml"/><Relationship Id="rId16" Type="http://schemas.openxmlformats.org/officeDocument/2006/relationships/slideLayout" Target="../slideLayouts/slideLayout6.xml"/><Relationship Id="rId17" Type="http://schemas.openxmlformats.org/officeDocument/2006/relationships/notesSlide" Target="../notesSlides/notesSlide54.xml"/><Relationship Id="rId18" Type="http://schemas.openxmlformats.org/officeDocument/2006/relationships/chart" Target="../charts/chart264.xml"/><Relationship Id="rId19" Type="http://schemas.openxmlformats.org/officeDocument/2006/relationships/chart" Target="../charts/chart265.xml"/><Relationship Id="rId20" Type="http://schemas.openxmlformats.org/officeDocument/2006/relationships/chart" Target="../charts/chart266.xml"/><Relationship Id="rId21" Type="http://schemas.openxmlformats.org/officeDocument/2006/relationships/chart" Target="../charts/chart267.xml"/><Relationship Id="rId22" Type="http://schemas.openxmlformats.org/officeDocument/2006/relationships/chart" Target="../charts/chart268.xml"/><Relationship Id="rId23" Type="http://schemas.openxmlformats.org/officeDocument/2006/relationships/chart" Target="../charts/chart269.xml"/><Relationship Id="rId24" Type="http://schemas.openxmlformats.org/officeDocument/2006/relationships/chart" Target="../charts/chart270.xml"/><Relationship Id="rId25" Type="http://schemas.openxmlformats.org/officeDocument/2006/relationships/chart" Target="../charts/chart271.xml"/><Relationship Id="rId26" Type="http://schemas.openxmlformats.org/officeDocument/2006/relationships/chart" Target="../charts/chart272.xml"/><Relationship Id="rId27" Type="http://schemas.openxmlformats.org/officeDocument/2006/relationships/chart" Target="../charts/chart273.xml"/><Relationship Id="rId28" Type="http://schemas.openxmlformats.org/officeDocument/2006/relationships/chart" Target="../charts/chart274.xml"/><Relationship Id="rId29" Type="http://schemas.openxmlformats.org/officeDocument/2006/relationships/chart" Target="../charts/chart275.xml"/><Relationship Id="rId30" Type="http://schemas.openxmlformats.org/officeDocument/2006/relationships/chart" Target="../charts/chart276.xml"/></Relationships>
</file>

<file path=ppt/slides/_rels/slide65.xml.rels><?xml version='1.0' encoding='UTF-8' standalone='yes'?>
<Relationships xmlns="http://schemas.openxmlformats.org/package/2006/relationships"><Relationship Id="rId1" Type="http://schemas.openxmlformats.org/officeDocument/2006/relationships/tags" Target="../tags/tag381.xml"/><Relationship Id="rId2" Type="http://schemas.openxmlformats.org/officeDocument/2006/relationships/tags" Target="../tags/tag382.xml"/><Relationship Id="rId3" Type="http://schemas.openxmlformats.org/officeDocument/2006/relationships/tags" Target="../tags/tag383.xml"/><Relationship Id="rId4" Type="http://schemas.openxmlformats.org/officeDocument/2006/relationships/tags" Target="../tags/tag384.xml"/><Relationship Id="rId5" Type="http://schemas.openxmlformats.org/officeDocument/2006/relationships/tags" Target="../tags/tag385.xml"/><Relationship Id="rId6" Type="http://schemas.openxmlformats.org/officeDocument/2006/relationships/tags" Target="../tags/tag386.xml"/><Relationship Id="rId7" Type="http://schemas.openxmlformats.org/officeDocument/2006/relationships/tags" Target="../tags/tag387.xml"/><Relationship Id="rId8" Type="http://schemas.openxmlformats.org/officeDocument/2006/relationships/tags" Target="../tags/tag388.xml"/><Relationship Id="rId9" Type="http://schemas.openxmlformats.org/officeDocument/2006/relationships/tags" Target="../tags/tag389.xml"/><Relationship Id="rId10" Type="http://schemas.openxmlformats.org/officeDocument/2006/relationships/tags" Target="../tags/tag390.xml"/><Relationship Id="rId11" Type="http://schemas.openxmlformats.org/officeDocument/2006/relationships/tags" Target="../tags/tag391.xml"/><Relationship Id="rId12" Type="http://schemas.openxmlformats.org/officeDocument/2006/relationships/tags" Target="../tags/tag392.xml"/><Relationship Id="rId13" Type="http://schemas.openxmlformats.org/officeDocument/2006/relationships/tags" Target="../tags/tag393.xml"/><Relationship Id="rId14" Type="http://schemas.openxmlformats.org/officeDocument/2006/relationships/tags" Target="../tags/tag394.xml"/><Relationship Id="rId15" Type="http://schemas.openxmlformats.org/officeDocument/2006/relationships/tags" Target="../tags/tag395.xml"/><Relationship Id="rId16" Type="http://schemas.openxmlformats.org/officeDocument/2006/relationships/slideLayout" Target="../slideLayouts/slideLayout6.xml"/><Relationship Id="rId17" Type="http://schemas.openxmlformats.org/officeDocument/2006/relationships/notesSlide" Target="../notesSlides/notesSlide55.xml"/><Relationship Id="rId18" Type="http://schemas.openxmlformats.org/officeDocument/2006/relationships/chart" Target="../charts/chart277.xml"/><Relationship Id="rId19" Type="http://schemas.openxmlformats.org/officeDocument/2006/relationships/chart" Target="../charts/chart278.xml"/><Relationship Id="rId20" Type="http://schemas.openxmlformats.org/officeDocument/2006/relationships/chart" Target="../charts/chart279.xml"/><Relationship Id="rId21" Type="http://schemas.openxmlformats.org/officeDocument/2006/relationships/chart" Target="../charts/chart280.xml"/><Relationship Id="rId22" Type="http://schemas.openxmlformats.org/officeDocument/2006/relationships/chart" Target="../charts/chart281.xml"/><Relationship Id="rId23" Type="http://schemas.openxmlformats.org/officeDocument/2006/relationships/chart" Target="../charts/chart282.xml"/><Relationship Id="rId24" Type="http://schemas.openxmlformats.org/officeDocument/2006/relationships/chart" Target="../charts/chart283.xml"/><Relationship Id="rId25" Type="http://schemas.openxmlformats.org/officeDocument/2006/relationships/chart" Target="../charts/chart284.xml"/><Relationship Id="rId26" Type="http://schemas.openxmlformats.org/officeDocument/2006/relationships/chart" Target="../charts/chart285.xml"/><Relationship Id="rId27" Type="http://schemas.openxmlformats.org/officeDocument/2006/relationships/chart" Target="../charts/chart286.xml"/><Relationship Id="rId28" Type="http://schemas.openxmlformats.org/officeDocument/2006/relationships/chart" Target="../charts/chart287.xml"/><Relationship Id="rId29" Type="http://schemas.openxmlformats.org/officeDocument/2006/relationships/chart" Target="../charts/chart288.xml"/><Relationship Id="rId30" Type="http://schemas.openxmlformats.org/officeDocument/2006/relationships/chart" Target="../charts/chart289.xml"/></Relationships>
</file>

<file path=ppt/slides/_rels/slide66.xml.rels><?xml version='1.0' encoding='UTF-8' standalone='yes'?>
<Relationships xmlns="http://schemas.openxmlformats.org/package/2006/relationships"><Relationship Id="rId1" Type="http://schemas.openxmlformats.org/officeDocument/2006/relationships/tags" Target="../tags/tag396.xml"/><Relationship Id="rId2" Type="http://schemas.openxmlformats.org/officeDocument/2006/relationships/tags" Target="../tags/tag397.xml"/><Relationship Id="rId3" Type="http://schemas.openxmlformats.org/officeDocument/2006/relationships/tags" Target="../tags/tag398.xml"/><Relationship Id="rId4" Type="http://schemas.openxmlformats.org/officeDocument/2006/relationships/tags" Target="../tags/tag399.xml"/><Relationship Id="rId5" Type="http://schemas.openxmlformats.org/officeDocument/2006/relationships/tags" Target="../tags/tag400.xml"/><Relationship Id="rId6" Type="http://schemas.openxmlformats.org/officeDocument/2006/relationships/tags" Target="../tags/tag401.xml"/><Relationship Id="rId7" Type="http://schemas.openxmlformats.org/officeDocument/2006/relationships/tags" Target="../tags/tag402.xml"/><Relationship Id="rId8" Type="http://schemas.openxmlformats.org/officeDocument/2006/relationships/tags" Target="../tags/tag403.xml"/><Relationship Id="rId9" Type="http://schemas.openxmlformats.org/officeDocument/2006/relationships/tags" Target="../tags/tag404.xml"/><Relationship Id="rId10" Type="http://schemas.openxmlformats.org/officeDocument/2006/relationships/tags" Target="../tags/tag405.xml"/><Relationship Id="rId11" Type="http://schemas.openxmlformats.org/officeDocument/2006/relationships/tags" Target="../tags/tag406.xml"/><Relationship Id="rId12" Type="http://schemas.openxmlformats.org/officeDocument/2006/relationships/tags" Target="../tags/tag407.xml"/><Relationship Id="rId13" Type="http://schemas.openxmlformats.org/officeDocument/2006/relationships/tags" Target="../tags/tag408.xml"/><Relationship Id="rId14" Type="http://schemas.openxmlformats.org/officeDocument/2006/relationships/tags" Target="../tags/tag409.xml"/><Relationship Id="rId15" Type="http://schemas.openxmlformats.org/officeDocument/2006/relationships/tags" Target="../tags/tag410.xml"/><Relationship Id="rId16" Type="http://schemas.openxmlformats.org/officeDocument/2006/relationships/slideLayout" Target="../slideLayouts/slideLayout6.xml"/><Relationship Id="rId17" Type="http://schemas.openxmlformats.org/officeDocument/2006/relationships/notesSlide" Target="../notesSlides/notesSlide56.xml"/><Relationship Id="rId18" Type="http://schemas.openxmlformats.org/officeDocument/2006/relationships/chart" Target="../charts/chart290.xml"/><Relationship Id="rId19" Type="http://schemas.openxmlformats.org/officeDocument/2006/relationships/chart" Target="../charts/chart291.xml"/><Relationship Id="rId20" Type="http://schemas.openxmlformats.org/officeDocument/2006/relationships/chart" Target="../charts/chart292.xml"/><Relationship Id="rId21" Type="http://schemas.openxmlformats.org/officeDocument/2006/relationships/chart" Target="../charts/chart293.xml"/><Relationship Id="rId22" Type="http://schemas.openxmlformats.org/officeDocument/2006/relationships/chart" Target="../charts/chart294.xml"/><Relationship Id="rId23" Type="http://schemas.openxmlformats.org/officeDocument/2006/relationships/chart" Target="../charts/chart295.xml"/><Relationship Id="rId24" Type="http://schemas.openxmlformats.org/officeDocument/2006/relationships/chart" Target="../charts/chart296.xml"/><Relationship Id="rId25" Type="http://schemas.openxmlformats.org/officeDocument/2006/relationships/chart" Target="../charts/chart297.xml"/><Relationship Id="rId26" Type="http://schemas.openxmlformats.org/officeDocument/2006/relationships/chart" Target="../charts/chart298.xml"/><Relationship Id="rId27" Type="http://schemas.openxmlformats.org/officeDocument/2006/relationships/chart" Target="../charts/chart299.xml"/><Relationship Id="rId28" Type="http://schemas.openxmlformats.org/officeDocument/2006/relationships/chart" Target="../charts/chart300.xml"/><Relationship Id="rId29" Type="http://schemas.openxmlformats.org/officeDocument/2006/relationships/chart" Target="../charts/chart301.xml"/><Relationship Id="rId30" Type="http://schemas.openxmlformats.org/officeDocument/2006/relationships/slide" Target="slide31.xml"/><Relationship Id="rId31" Type="http://schemas.openxmlformats.org/officeDocument/2006/relationships/chart" Target="../charts/chart302.xml"/></Relationships>
</file>

<file path=ppt/slides/_rels/slide67.xml.rels><?xml version='1.0' encoding='UTF-8' standalone='yes'?>
<Relationships xmlns="http://schemas.openxmlformats.org/package/2006/relationships"><Relationship Id="rId1" Type="http://schemas.openxmlformats.org/officeDocument/2006/relationships/tags" Target="../tags/tag411.xml"/><Relationship Id="rId2" Type="http://schemas.openxmlformats.org/officeDocument/2006/relationships/tags" Target="../tags/tag412.xml"/><Relationship Id="rId3" Type="http://schemas.openxmlformats.org/officeDocument/2006/relationships/tags" Target="../tags/tag413.xml"/><Relationship Id="rId4" Type="http://schemas.openxmlformats.org/officeDocument/2006/relationships/tags" Target="../tags/tag414.xml"/><Relationship Id="rId5" Type="http://schemas.openxmlformats.org/officeDocument/2006/relationships/tags" Target="../tags/tag415.xml"/><Relationship Id="rId6" Type="http://schemas.openxmlformats.org/officeDocument/2006/relationships/tags" Target="../tags/tag416.xml"/><Relationship Id="rId7" Type="http://schemas.openxmlformats.org/officeDocument/2006/relationships/tags" Target="../tags/tag417.xml"/><Relationship Id="rId8" Type="http://schemas.openxmlformats.org/officeDocument/2006/relationships/tags" Target="../tags/tag418.xml"/><Relationship Id="rId9" Type="http://schemas.openxmlformats.org/officeDocument/2006/relationships/tags" Target="../tags/tag419.xml"/><Relationship Id="rId10" Type="http://schemas.openxmlformats.org/officeDocument/2006/relationships/tags" Target="../tags/tag420.xml"/><Relationship Id="rId11" Type="http://schemas.openxmlformats.org/officeDocument/2006/relationships/tags" Target="../tags/tag421.xml"/><Relationship Id="rId12" Type="http://schemas.openxmlformats.org/officeDocument/2006/relationships/tags" Target="../tags/tag422.xml"/><Relationship Id="rId13" Type="http://schemas.openxmlformats.org/officeDocument/2006/relationships/tags" Target="../tags/tag423.xml"/><Relationship Id="rId14" Type="http://schemas.openxmlformats.org/officeDocument/2006/relationships/tags" Target="../tags/tag424.xml"/><Relationship Id="rId15" Type="http://schemas.openxmlformats.org/officeDocument/2006/relationships/tags" Target="../tags/tag425.xml"/><Relationship Id="rId16" Type="http://schemas.openxmlformats.org/officeDocument/2006/relationships/slideLayout" Target="../slideLayouts/slideLayout6.xml"/><Relationship Id="rId17" Type="http://schemas.openxmlformats.org/officeDocument/2006/relationships/notesSlide" Target="../notesSlides/notesSlide57.xml"/><Relationship Id="rId18" Type="http://schemas.openxmlformats.org/officeDocument/2006/relationships/chart" Target="../charts/chart303.xml"/><Relationship Id="rId19" Type="http://schemas.openxmlformats.org/officeDocument/2006/relationships/chart" Target="../charts/chart304.xml"/><Relationship Id="rId20" Type="http://schemas.openxmlformats.org/officeDocument/2006/relationships/chart" Target="../charts/chart305.xml"/><Relationship Id="rId21" Type="http://schemas.openxmlformats.org/officeDocument/2006/relationships/chart" Target="../charts/chart306.xml"/><Relationship Id="rId22" Type="http://schemas.openxmlformats.org/officeDocument/2006/relationships/chart" Target="../charts/chart307.xml"/><Relationship Id="rId23" Type="http://schemas.openxmlformats.org/officeDocument/2006/relationships/chart" Target="../charts/chart308.xml"/><Relationship Id="rId24" Type="http://schemas.openxmlformats.org/officeDocument/2006/relationships/chart" Target="../charts/chart309.xml"/><Relationship Id="rId25" Type="http://schemas.openxmlformats.org/officeDocument/2006/relationships/chart" Target="../charts/chart310.xml"/><Relationship Id="rId26" Type="http://schemas.openxmlformats.org/officeDocument/2006/relationships/chart" Target="../charts/chart311.xml"/><Relationship Id="rId27" Type="http://schemas.openxmlformats.org/officeDocument/2006/relationships/chart" Target="../charts/chart312.xml"/><Relationship Id="rId28" Type="http://schemas.openxmlformats.org/officeDocument/2006/relationships/chart" Target="../charts/chart313.xml"/><Relationship Id="rId29" Type="http://schemas.openxmlformats.org/officeDocument/2006/relationships/chart" Target="../charts/chart314.xml"/><Relationship Id="rId30" Type="http://schemas.openxmlformats.org/officeDocument/2006/relationships/chart" Target="../charts/chart315.xml"/></Relationships>
</file>

<file path=ppt/slides/_rels/slide68.xml.rels><?xml version='1.0' encoding='UTF-8' standalone='yes'?>
<Relationships xmlns="http://schemas.openxmlformats.org/package/2006/relationships"><Relationship Id="rId1" Type="http://schemas.openxmlformats.org/officeDocument/2006/relationships/tags" Target="../tags/tag426.xml"/><Relationship Id="rId2" Type="http://schemas.openxmlformats.org/officeDocument/2006/relationships/tags" Target="../tags/tag427.xml"/><Relationship Id="rId3" Type="http://schemas.openxmlformats.org/officeDocument/2006/relationships/tags" Target="../tags/tag428.xml"/><Relationship Id="rId4" Type="http://schemas.openxmlformats.org/officeDocument/2006/relationships/tags" Target="../tags/tag429.xml"/><Relationship Id="rId5" Type="http://schemas.openxmlformats.org/officeDocument/2006/relationships/tags" Target="../tags/tag430.xml"/><Relationship Id="rId6" Type="http://schemas.openxmlformats.org/officeDocument/2006/relationships/tags" Target="../tags/tag431.xml"/><Relationship Id="rId7" Type="http://schemas.openxmlformats.org/officeDocument/2006/relationships/tags" Target="../tags/tag432.xml"/><Relationship Id="rId8" Type="http://schemas.openxmlformats.org/officeDocument/2006/relationships/tags" Target="../tags/tag433.xml"/><Relationship Id="rId9" Type="http://schemas.openxmlformats.org/officeDocument/2006/relationships/tags" Target="../tags/tag434.xml"/><Relationship Id="rId10" Type="http://schemas.openxmlformats.org/officeDocument/2006/relationships/tags" Target="../tags/tag435.xml"/><Relationship Id="rId11" Type="http://schemas.openxmlformats.org/officeDocument/2006/relationships/tags" Target="../tags/tag436.xml"/><Relationship Id="rId12" Type="http://schemas.openxmlformats.org/officeDocument/2006/relationships/tags" Target="../tags/tag437.xml"/><Relationship Id="rId13" Type="http://schemas.openxmlformats.org/officeDocument/2006/relationships/tags" Target="../tags/tag438.xml"/><Relationship Id="rId14" Type="http://schemas.openxmlformats.org/officeDocument/2006/relationships/tags" Target="../tags/tag439.xml"/><Relationship Id="rId15" Type="http://schemas.openxmlformats.org/officeDocument/2006/relationships/tags" Target="../tags/tag440.xml"/><Relationship Id="rId16" Type="http://schemas.openxmlformats.org/officeDocument/2006/relationships/slideLayout" Target="../slideLayouts/slideLayout6.xml"/><Relationship Id="rId17" Type="http://schemas.openxmlformats.org/officeDocument/2006/relationships/notesSlide" Target="../notesSlides/notesSlide58.xml"/><Relationship Id="rId18" Type="http://schemas.openxmlformats.org/officeDocument/2006/relationships/chart" Target="../charts/chart316.xml"/><Relationship Id="rId19" Type="http://schemas.openxmlformats.org/officeDocument/2006/relationships/chart" Target="../charts/chart317.xml"/><Relationship Id="rId20" Type="http://schemas.openxmlformats.org/officeDocument/2006/relationships/chart" Target="../charts/chart318.xml"/><Relationship Id="rId21" Type="http://schemas.openxmlformats.org/officeDocument/2006/relationships/chart" Target="../charts/chart319.xml"/><Relationship Id="rId22" Type="http://schemas.openxmlformats.org/officeDocument/2006/relationships/chart" Target="../charts/chart320.xml"/><Relationship Id="rId23" Type="http://schemas.openxmlformats.org/officeDocument/2006/relationships/chart" Target="../charts/chart321.xml"/><Relationship Id="rId24" Type="http://schemas.openxmlformats.org/officeDocument/2006/relationships/chart" Target="../charts/chart322.xml"/><Relationship Id="rId25" Type="http://schemas.openxmlformats.org/officeDocument/2006/relationships/chart" Target="../charts/chart323.xml"/><Relationship Id="rId26" Type="http://schemas.openxmlformats.org/officeDocument/2006/relationships/chart" Target="../charts/chart324.xml"/><Relationship Id="rId27" Type="http://schemas.openxmlformats.org/officeDocument/2006/relationships/chart" Target="../charts/chart325.xml"/><Relationship Id="rId28" Type="http://schemas.openxmlformats.org/officeDocument/2006/relationships/chart" Target="../charts/chart326.xml"/><Relationship Id="rId29" Type="http://schemas.openxmlformats.org/officeDocument/2006/relationships/chart" Target="../charts/chart327.xml"/><Relationship Id="rId30" Type="http://schemas.openxmlformats.org/officeDocument/2006/relationships/chart" Target="../charts/chart328.xml"/></Relationships>
</file>

<file path=ppt/slides/_rels/slide69.xml.rels><?xml version='1.0' encoding='UTF-8' standalone='yes'?>
<Relationships xmlns="http://schemas.openxmlformats.org/package/2006/relationships"><Relationship Id="rId1" Type="http://schemas.openxmlformats.org/officeDocument/2006/relationships/tags" Target="../tags/tag441.xml"/><Relationship Id="rId2" Type="http://schemas.openxmlformats.org/officeDocument/2006/relationships/tags" Target="../tags/tag442.xml"/><Relationship Id="rId3" Type="http://schemas.openxmlformats.org/officeDocument/2006/relationships/tags" Target="../tags/tag443.xml"/><Relationship Id="rId4" Type="http://schemas.openxmlformats.org/officeDocument/2006/relationships/tags" Target="../tags/tag444.xml"/><Relationship Id="rId5" Type="http://schemas.openxmlformats.org/officeDocument/2006/relationships/tags" Target="../tags/tag445.xml"/><Relationship Id="rId6" Type="http://schemas.openxmlformats.org/officeDocument/2006/relationships/tags" Target="../tags/tag446.xml"/><Relationship Id="rId7" Type="http://schemas.openxmlformats.org/officeDocument/2006/relationships/tags" Target="../tags/tag447.xml"/><Relationship Id="rId8" Type="http://schemas.openxmlformats.org/officeDocument/2006/relationships/tags" Target="../tags/tag448.xml"/><Relationship Id="rId9" Type="http://schemas.openxmlformats.org/officeDocument/2006/relationships/tags" Target="../tags/tag449.xml"/><Relationship Id="rId10" Type="http://schemas.openxmlformats.org/officeDocument/2006/relationships/tags" Target="../tags/tag450.xml"/><Relationship Id="rId11" Type="http://schemas.openxmlformats.org/officeDocument/2006/relationships/tags" Target="../tags/tag451.xml"/><Relationship Id="rId12" Type="http://schemas.openxmlformats.org/officeDocument/2006/relationships/tags" Target="../tags/tag452.xml"/><Relationship Id="rId13" Type="http://schemas.openxmlformats.org/officeDocument/2006/relationships/tags" Target="../tags/tag453.xml"/><Relationship Id="rId14" Type="http://schemas.openxmlformats.org/officeDocument/2006/relationships/tags" Target="../tags/tag454.xml"/><Relationship Id="rId15" Type="http://schemas.openxmlformats.org/officeDocument/2006/relationships/tags" Target="../tags/tag455.xml"/><Relationship Id="rId16" Type="http://schemas.openxmlformats.org/officeDocument/2006/relationships/slideLayout" Target="../slideLayouts/slideLayout6.xml"/><Relationship Id="rId17" Type="http://schemas.openxmlformats.org/officeDocument/2006/relationships/notesSlide" Target="../notesSlides/notesSlide59.xml"/><Relationship Id="rId18" Type="http://schemas.openxmlformats.org/officeDocument/2006/relationships/chart" Target="../charts/chart329.xml"/><Relationship Id="rId19" Type="http://schemas.openxmlformats.org/officeDocument/2006/relationships/chart" Target="../charts/chart330.xml"/><Relationship Id="rId20" Type="http://schemas.openxmlformats.org/officeDocument/2006/relationships/chart" Target="../charts/chart331.xml"/><Relationship Id="rId21" Type="http://schemas.openxmlformats.org/officeDocument/2006/relationships/chart" Target="../charts/chart332.xml"/><Relationship Id="rId22" Type="http://schemas.openxmlformats.org/officeDocument/2006/relationships/chart" Target="../charts/chart333.xml"/><Relationship Id="rId23" Type="http://schemas.openxmlformats.org/officeDocument/2006/relationships/chart" Target="../charts/chart334.xml"/><Relationship Id="rId24" Type="http://schemas.openxmlformats.org/officeDocument/2006/relationships/chart" Target="../charts/chart335.xml"/><Relationship Id="rId25" Type="http://schemas.openxmlformats.org/officeDocument/2006/relationships/chart" Target="../charts/chart336.xml"/><Relationship Id="rId26" Type="http://schemas.openxmlformats.org/officeDocument/2006/relationships/chart" Target="../charts/chart337.xml"/><Relationship Id="rId27" Type="http://schemas.openxmlformats.org/officeDocument/2006/relationships/chart" Target="../charts/chart338.xml"/><Relationship Id="rId28" Type="http://schemas.openxmlformats.org/officeDocument/2006/relationships/chart" Target="../charts/chart339.xml"/><Relationship Id="rId29" Type="http://schemas.openxmlformats.org/officeDocument/2006/relationships/chart" Target="../charts/chart340.xml"/><Relationship Id="rId30" Type="http://schemas.openxmlformats.org/officeDocument/2006/relationships/slide" Target="slide32.xml"/><Relationship Id="rId31" Type="http://schemas.openxmlformats.org/officeDocument/2006/relationships/chart" Target="../charts/chart341.xml"/></Relationships>
</file>

<file path=ppt/slides/_rels/slide70.xml.rels><?xml version='1.0' encoding='UTF-8' standalone='yes'?>
<Relationships xmlns="http://schemas.openxmlformats.org/package/2006/relationships"><Relationship Id="rId1" Type="http://schemas.openxmlformats.org/officeDocument/2006/relationships/tags" Target="../tags/tag456.xml"/><Relationship Id="rId2" Type="http://schemas.openxmlformats.org/officeDocument/2006/relationships/tags" Target="../tags/tag457.xml"/><Relationship Id="rId3" Type="http://schemas.openxmlformats.org/officeDocument/2006/relationships/tags" Target="../tags/tag458.xml"/><Relationship Id="rId4" Type="http://schemas.openxmlformats.org/officeDocument/2006/relationships/tags" Target="../tags/tag459.xml"/><Relationship Id="rId5" Type="http://schemas.openxmlformats.org/officeDocument/2006/relationships/tags" Target="../tags/tag460.xml"/><Relationship Id="rId6" Type="http://schemas.openxmlformats.org/officeDocument/2006/relationships/tags" Target="../tags/tag461.xml"/><Relationship Id="rId7" Type="http://schemas.openxmlformats.org/officeDocument/2006/relationships/tags" Target="../tags/tag462.xml"/><Relationship Id="rId8" Type="http://schemas.openxmlformats.org/officeDocument/2006/relationships/tags" Target="../tags/tag463.xml"/><Relationship Id="rId9" Type="http://schemas.openxmlformats.org/officeDocument/2006/relationships/tags" Target="../tags/tag464.xml"/><Relationship Id="rId10" Type="http://schemas.openxmlformats.org/officeDocument/2006/relationships/tags" Target="../tags/tag465.xml"/><Relationship Id="rId11" Type="http://schemas.openxmlformats.org/officeDocument/2006/relationships/tags" Target="../tags/tag466.xml"/><Relationship Id="rId12" Type="http://schemas.openxmlformats.org/officeDocument/2006/relationships/tags" Target="../tags/tag467.xml"/><Relationship Id="rId13" Type="http://schemas.openxmlformats.org/officeDocument/2006/relationships/tags" Target="../tags/tag468.xml"/><Relationship Id="rId14" Type="http://schemas.openxmlformats.org/officeDocument/2006/relationships/tags" Target="../tags/tag469.xml"/><Relationship Id="rId15" Type="http://schemas.openxmlformats.org/officeDocument/2006/relationships/tags" Target="../tags/tag470.xml"/><Relationship Id="rId16" Type="http://schemas.openxmlformats.org/officeDocument/2006/relationships/slideLayout" Target="../slideLayouts/slideLayout6.xml"/><Relationship Id="rId17" Type="http://schemas.openxmlformats.org/officeDocument/2006/relationships/notesSlide" Target="../notesSlides/notesSlide60.xml"/><Relationship Id="rId18" Type="http://schemas.openxmlformats.org/officeDocument/2006/relationships/chart" Target="../charts/chart342.xml"/><Relationship Id="rId19" Type="http://schemas.openxmlformats.org/officeDocument/2006/relationships/chart" Target="../charts/chart343.xml"/><Relationship Id="rId20" Type="http://schemas.openxmlformats.org/officeDocument/2006/relationships/chart" Target="../charts/chart344.xml"/><Relationship Id="rId21" Type="http://schemas.openxmlformats.org/officeDocument/2006/relationships/chart" Target="../charts/chart345.xml"/><Relationship Id="rId22" Type="http://schemas.openxmlformats.org/officeDocument/2006/relationships/chart" Target="../charts/chart346.xml"/><Relationship Id="rId23" Type="http://schemas.openxmlformats.org/officeDocument/2006/relationships/chart" Target="../charts/chart347.xml"/><Relationship Id="rId24" Type="http://schemas.openxmlformats.org/officeDocument/2006/relationships/chart" Target="../charts/chart348.xml"/><Relationship Id="rId25" Type="http://schemas.openxmlformats.org/officeDocument/2006/relationships/chart" Target="../charts/chart349.xml"/><Relationship Id="rId26" Type="http://schemas.openxmlformats.org/officeDocument/2006/relationships/chart" Target="../charts/chart350.xml"/><Relationship Id="rId27" Type="http://schemas.openxmlformats.org/officeDocument/2006/relationships/chart" Target="../charts/chart351.xml"/><Relationship Id="rId28" Type="http://schemas.openxmlformats.org/officeDocument/2006/relationships/chart" Target="../charts/chart352.xml"/><Relationship Id="rId29" Type="http://schemas.openxmlformats.org/officeDocument/2006/relationships/chart" Target="../charts/chart353.xml"/><Relationship Id="rId30" Type="http://schemas.openxmlformats.org/officeDocument/2006/relationships/chart" Target="../charts/chart354.xml"/></Relationships>
</file>

<file path=ppt/slides/_rels/slide71.xml.rels><?xml version='1.0' encoding='UTF-8' standalone='yes'?>
<Relationships xmlns="http://schemas.openxmlformats.org/package/2006/relationships"><Relationship Id="rId1" Type="http://schemas.openxmlformats.org/officeDocument/2006/relationships/tags" Target="../tags/tag471.xml"/><Relationship Id="rId2" Type="http://schemas.openxmlformats.org/officeDocument/2006/relationships/tags" Target="../tags/tag472.xml"/><Relationship Id="rId3" Type="http://schemas.openxmlformats.org/officeDocument/2006/relationships/tags" Target="../tags/tag473.xml"/><Relationship Id="rId4" Type="http://schemas.openxmlformats.org/officeDocument/2006/relationships/tags" Target="../tags/tag474.xml"/><Relationship Id="rId5" Type="http://schemas.openxmlformats.org/officeDocument/2006/relationships/tags" Target="../tags/tag475.xml"/><Relationship Id="rId6" Type="http://schemas.openxmlformats.org/officeDocument/2006/relationships/tags" Target="../tags/tag476.xml"/><Relationship Id="rId7" Type="http://schemas.openxmlformats.org/officeDocument/2006/relationships/tags" Target="../tags/tag477.xml"/><Relationship Id="rId8" Type="http://schemas.openxmlformats.org/officeDocument/2006/relationships/tags" Target="../tags/tag478.xml"/><Relationship Id="rId9" Type="http://schemas.openxmlformats.org/officeDocument/2006/relationships/tags" Target="../tags/tag479.xml"/><Relationship Id="rId10" Type="http://schemas.openxmlformats.org/officeDocument/2006/relationships/tags" Target="../tags/tag480.xml"/><Relationship Id="rId11" Type="http://schemas.openxmlformats.org/officeDocument/2006/relationships/tags" Target="../tags/tag481.xml"/><Relationship Id="rId12" Type="http://schemas.openxmlformats.org/officeDocument/2006/relationships/tags" Target="../tags/tag482.xml"/><Relationship Id="rId13" Type="http://schemas.openxmlformats.org/officeDocument/2006/relationships/tags" Target="../tags/tag483.xml"/><Relationship Id="rId14" Type="http://schemas.openxmlformats.org/officeDocument/2006/relationships/tags" Target="../tags/tag484.xml"/><Relationship Id="rId15" Type="http://schemas.openxmlformats.org/officeDocument/2006/relationships/tags" Target="../tags/tag485.xml"/><Relationship Id="rId16" Type="http://schemas.openxmlformats.org/officeDocument/2006/relationships/slideLayout" Target="../slideLayouts/slideLayout6.xml"/><Relationship Id="rId17" Type="http://schemas.openxmlformats.org/officeDocument/2006/relationships/notesSlide" Target="../notesSlides/notesSlide61.xml"/><Relationship Id="rId18" Type="http://schemas.openxmlformats.org/officeDocument/2006/relationships/chart" Target="../charts/chart355.xml"/><Relationship Id="rId19" Type="http://schemas.openxmlformats.org/officeDocument/2006/relationships/chart" Target="../charts/chart356.xml"/><Relationship Id="rId20" Type="http://schemas.openxmlformats.org/officeDocument/2006/relationships/chart" Target="../charts/chart357.xml"/><Relationship Id="rId21" Type="http://schemas.openxmlformats.org/officeDocument/2006/relationships/chart" Target="../charts/chart358.xml"/><Relationship Id="rId22" Type="http://schemas.openxmlformats.org/officeDocument/2006/relationships/chart" Target="../charts/chart359.xml"/><Relationship Id="rId23" Type="http://schemas.openxmlformats.org/officeDocument/2006/relationships/chart" Target="../charts/chart360.xml"/><Relationship Id="rId24" Type="http://schemas.openxmlformats.org/officeDocument/2006/relationships/chart" Target="../charts/chart361.xml"/><Relationship Id="rId25" Type="http://schemas.openxmlformats.org/officeDocument/2006/relationships/chart" Target="../charts/chart362.xml"/><Relationship Id="rId26" Type="http://schemas.openxmlformats.org/officeDocument/2006/relationships/chart" Target="../charts/chart363.xml"/><Relationship Id="rId27" Type="http://schemas.openxmlformats.org/officeDocument/2006/relationships/chart" Target="../charts/chart364.xml"/><Relationship Id="rId28" Type="http://schemas.openxmlformats.org/officeDocument/2006/relationships/chart" Target="../charts/chart365.xml"/><Relationship Id="rId29" Type="http://schemas.openxmlformats.org/officeDocument/2006/relationships/chart" Target="../charts/chart366.xml"/><Relationship Id="rId30" Type="http://schemas.openxmlformats.org/officeDocument/2006/relationships/chart" Target="../charts/chart367.xml"/></Relationships>
</file>

<file path=ppt/slides/_rels/slide72.xml.rels><?xml version='1.0' encoding='UTF-8' standalone='yes'?>
<Relationships xmlns="http://schemas.openxmlformats.org/package/2006/relationships"><Relationship Id="rId1" Type="http://schemas.openxmlformats.org/officeDocument/2006/relationships/tags" Target="../tags/tag486.xml"/><Relationship Id="rId2" Type="http://schemas.openxmlformats.org/officeDocument/2006/relationships/tags" Target="../tags/tag487.xml"/><Relationship Id="rId3" Type="http://schemas.openxmlformats.org/officeDocument/2006/relationships/tags" Target="../tags/tag488.xml"/><Relationship Id="rId4" Type="http://schemas.openxmlformats.org/officeDocument/2006/relationships/tags" Target="../tags/tag489.xml"/><Relationship Id="rId5" Type="http://schemas.openxmlformats.org/officeDocument/2006/relationships/tags" Target="../tags/tag490.xml"/><Relationship Id="rId6" Type="http://schemas.openxmlformats.org/officeDocument/2006/relationships/tags" Target="../tags/tag491.xml"/><Relationship Id="rId7" Type="http://schemas.openxmlformats.org/officeDocument/2006/relationships/tags" Target="../tags/tag492.xml"/><Relationship Id="rId8" Type="http://schemas.openxmlformats.org/officeDocument/2006/relationships/tags" Target="../tags/tag493.xml"/><Relationship Id="rId9" Type="http://schemas.openxmlformats.org/officeDocument/2006/relationships/slideLayout" Target="../slideLayouts/slideLayout6.xml"/><Relationship Id="rId10" Type="http://schemas.openxmlformats.org/officeDocument/2006/relationships/notesSlide" Target="../notesSlides/notesSlide62.xml"/><Relationship Id="rId11" Type="http://schemas.openxmlformats.org/officeDocument/2006/relationships/slide" Target="slide40.xml"/><Relationship Id="rId12" Type="http://schemas.openxmlformats.org/officeDocument/2006/relationships/chart" Target="../charts/chart368.xml"/><Relationship Id="rId13" Type="http://schemas.openxmlformats.org/officeDocument/2006/relationships/chart" Target="../charts/chart369.xml"/><Relationship Id="rId14" Type="http://schemas.openxmlformats.org/officeDocument/2006/relationships/chart" Target="../charts/chart370.xml"/><Relationship Id="rId15" Type="http://schemas.openxmlformats.org/officeDocument/2006/relationships/chart" Target="../charts/chart371.xml"/><Relationship Id="rId16" Type="http://schemas.openxmlformats.org/officeDocument/2006/relationships/chart" Target="../charts/chart372.xml"/><Relationship Id="rId17" Type="http://schemas.openxmlformats.org/officeDocument/2006/relationships/chart" Target="../charts/chart373.xml"/></Relationships>
</file>

<file path=ppt/slides/_rels/slide73.xml.rels><?xml version='1.0' encoding='UTF-8' standalone='yes'?>
<Relationships xmlns="http://schemas.openxmlformats.org/package/2006/relationships"><Relationship Id="rId1" Type="http://schemas.openxmlformats.org/officeDocument/2006/relationships/tags" Target="../tags/tag494.xml"/><Relationship Id="rId2" Type="http://schemas.openxmlformats.org/officeDocument/2006/relationships/tags" Target="../tags/tag495.xml"/><Relationship Id="rId3" Type="http://schemas.openxmlformats.org/officeDocument/2006/relationships/tags" Target="../tags/tag496.xml"/><Relationship Id="rId4" Type="http://schemas.openxmlformats.org/officeDocument/2006/relationships/tags" Target="../tags/tag497.xml"/><Relationship Id="rId5" Type="http://schemas.openxmlformats.org/officeDocument/2006/relationships/tags" Target="../tags/tag498.xml"/><Relationship Id="rId6" Type="http://schemas.openxmlformats.org/officeDocument/2006/relationships/tags" Target="../tags/tag499.xml"/><Relationship Id="rId7" Type="http://schemas.openxmlformats.org/officeDocument/2006/relationships/tags" Target="../tags/tag500.xml"/><Relationship Id="rId8" Type="http://schemas.openxmlformats.org/officeDocument/2006/relationships/tags" Target="../tags/tag501.xml"/><Relationship Id="rId9" Type="http://schemas.openxmlformats.org/officeDocument/2006/relationships/slideLayout" Target="../slideLayouts/slideLayout6.xml"/><Relationship Id="rId10" Type="http://schemas.openxmlformats.org/officeDocument/2006/relationships/notesSlide" Target="../notesSlides/notesSlide63.xml"/><Relationship Id="rId11" Type="http://schemas.openxmlformats.org/officeDocument/2006/relationships/chart" Target="../charts/chart374.xml"/><Relationship Id="rId12" Type="http://schemas.openxmlformats.org/officeDocument/2006/relationships/slide" Target="slide41.xml"/><Relationship Id="rId13" Type="http://schemas.openxmlformats.org/officeDocument/2006/relationships/chart" Target="../charts/chart375.xml"/><Relationship Id="rId14" Type="http://schemas.openxmlformats.org/officeDocument/2006/relationships/chart" Target="../charts/chart376.xml"/><Relationship Id="rId15" Type="http://schemas.openxmlformats.org/officeDocument/2006/relationships/chart" Target="../charts/chart377.xml"/><Relationship Id="rId16" Type="http://schemas.openxmlformats.org/officeDocument/2006/relationships/chart" Target="../charts/chart378.xml"/><Relationship Id="rId17" Type="http://schemas.openxmlformats.org/officeDocument/2006/relationships/chart" Target="../charts/chart379.xml"/></Relationships>
</file>

<file path=ppt/slides/_rels/slide74.xml.rels><?xml version='1.0' encoding='UTF-8' standalone='yes'?>
<Relationships xmlns="http://schemas.openxmlformats.org/package/2006/relationships"><Relationship Id="rId1" Type="http://schemas.openxmlformats.org/officeDocument/2006/relationships/tags" Target="../tags/tag502.xml"/><Relationship Id="rId2" Type="http://schemas.openxmlformats.org/officeDocument/2006/relationships/tags" Target="../tags/tag503.xml"/><Relationship Id="rId3" Type="http://schemas.openxmlformats.org/officeDocument/2006/relationships/tags" Target="../tags/tag504.xml"/><Relationship Id="rId4" Type="http://schemas.openxmlformats.org/officeDocument/2006/relationships/tags" Target="../tags/tag505.xml"/><Relationship Id="rId5" Type="http://schemas.openxmlformats.org/officeDocument/2006/relationships/tags" Target="../tags/tag506.xml"/><Relationship Id="rId6" Type="http://schemas.openxmlformats.org/officeDocument/2006/relationships/tags" Target="../tags/tag507.xml"/><Relationship Id="rId7" Type="http://schemas.openxmlformats.org/officeDocument/2006/relationships/tags" Target="../tags/tag508.xml"/><Relationship Id="rId8" Type="http://schemas.openxmlformats.org/officeDocument/2006/relationships/tags" Target="../tags/tag509.xml"/><Relationship Id="rId9" Type="http://schemas.openxmlformats.org/officeDocument/2006/relationships/slideLayout" Target="../slideLayouts/slideLayout6.xml"/><Relationship Id="rId10" Type="http://schemas.openxmlformats.org/officeDocument/2006/relationships/notesSlide" Target="../notesSlides/notesSlide64.xml"/><Relationship Id="rId11" Type="http://schemas.openxmlformats.org/officeDocument/2006/relationships/chart" Target="../charts/chart380.xml"/><Relationship Id="rId12" Type="http://schemas.openxmlformats.org/officeDocument/2006/relationships/slide" Target="slide42.xml"/><Relationship Id="rId13" Type="http://schemas.openxmlformats.org/officeDocument/2006/relationships/chart" Target="../charts/chart381.xml"/><Relationship Id="rId14" Type="http://schemas.openxmlformats.org/officeDocument/2006/relationships/chart" Target="../charts/chart382.xml"/><Relationship Id="rId15" Type="http://schemas.openxmlformats.org/officeDocument/2006/relationships/chart" Target="../charts/chart383.xml"/><Relationship Id="rId16" Type="http://schemas.openxmlformats.org/officeDocument/2006/relationships/chart" Target="../charts/chart384.xml"/><Relationship Id="rId17" Type="http://schemas.openxmlformats.org/officeDocument/2006/relationships/chart" Target="../charts/chart385.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1.png"/></Relationships>
</file>

<file path=ppt/slides/_rels/slide76.xml.rels><?xml version='1.0' encoding='UTF-8' standalone='yes'?>
<Relationships xmlns="http://schemas.openxmlformats.org/package/2006/relationships"><Relationship Id="rId1" Type="http://schemas.openxmlformats.org/officeDocument/2006/relationships/tags" Target="../tags/tag510.xml"/><Relationship Id="rId2" Type="http://schemas.openxmlformats.org/officeDocument/2006/relationships/slideLayout" Target="../slideLayouts/slideLayout6.xml"/><Relationship Id="rId3"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tags" Target="../tags/tag511.xml"/><Relationship Id="rId2" Type="http://schemas.openxmlformats.org/officeDocument/2006/relationships/slideLayout" Target="../slideLayouts/slideLayout6.xml"/><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tags" Target="../tags/tag512.xml"/><Relationship Id="rId2" Type="http://schemas.openxmlformats.org/officeDocument/2006/relationships/slideLayout" Target="../slideLayouts/slideLayout6.xml"/><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tags" Target="../tags/tag513.xml"/><Relationship Id="rId2" Type="http://schemas.openxmlformats.org/officeDocument/2006/relationships/slideLayout" Target="../slideLayouts/slideLayout6.xml"/><Relationship Id="rId3" Type="http://schemas.openxmlformats.org/officeDocument/2006/relationships/notesSlide" Target="../notesSlides/notesSlide68.xml"/></Relationships>
</file>

<file path=ppt/slides/_rels/slide80.xml.rels><?xml version='1.0' encoding='UTF-8' standalone='yes'?>
<Relationships xmlns="http://schemas.openxmlformats.org/package/2006/relationships"><Relationship Id="rId1" Type="http://schemas.openxmlformats.org/officeDocument/2006/relationships/tags" Target="../tags/tag514.xml"/><Relationship Id="rId2" Type="http://schemas.openxmlformats.org/officeDocument/2006/relationships/slideLayout" Target="../slideLayouts/slideLayout6.xml"/><Relationship Id="rId3" Type="http://schemas.openxmlformats.org/officeDocument/2006/relationships/notesSlide" Target="../notesSlides/notesSlide69.xml"/></Relationships>
</file>

<file path=ppt/slides/_rels/slide81.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slideLayout" Target="../slideLayouts/slideLayout6.xml"/><Relationship Id="rId3" Type="http://schemas.openxmlformats.org/officeDocument/2006/relationships/notesSlide" Target="../notesSlides/notesSlide70.xml"/></Relationships>
</file>

<file path=ppt/slides/_rels/slide82.xml.rels><?xml version='1.0' encoding='UTF-8' standalone='yes'?>
<Relationships xmlns="http://schemas.openxmlformats.org/package/2006/relationships"><Relationship Id="rId1" Type="http://schemas.openxmlformats.org/officeDocument/2006/relationships/tags" Target="../tags/tag516.xml"/><Relationship Id="rId2" Type="http://schemas.openxmlformats.org/officeDocument/2006/relationships/slideLayout" Target="../slideLayouts/slideLayout6.xml"/><Relationship Id="rId3" Type="http://schemas.openxmlformats.org/officeDocument/2006/relationships/notesSlide" Target="../notesSlides/notesSlide71.xml"/></Relationships>
</file>

<file path=ppt/slides/_rels/slide83.xml.rels><?xml version='1.0' encoding='UTF-8' standalone='yes'?>
<Relationships xmlns="http://schemas.openxmlformats.org/package/2006/relationships"><Relationship Id="rId1" Type="http://schemas.openxmlformats.org/officeDocument/2006/relationships/tags" Target="../tags/tag517.xml"/><Relationship Id="rId2" Type="http://schemas.openxmlformats.org/officeDocument/2006/relationships/slideLayout" Target="../slideLayouts/slideLayout6.xml"/><Relationship Id="rId3" Type="http://schemas.openxmlformats.org/officeDocument/2006/relationships/notesSlide" Target="../notesSlides/notesSlide72.xml"/></Relationships>
</file>

<file path=ppt/slides/_rels/slide84.xml.rels><?xml version='1.0' encoding='UTF-8' standalone='yes'?>
<Relationships xmlns="http://schemas.openxmlformats.org/package/2006/relationships"><Relationship Id="rId1" Type="http://schemas.openxmlformats.org/officeDocument/2006/relationships/tags" Target="../tags/tag518.xml"/><Relationship Id="rId2" Type="http://schemas.openxmlformats.org/officeDocument/2006/relationships/tags" Target="../tags/tag519.xml"/><Relationship Id="rId3" Type="http://schemas.openxmlformats.org/officeDocument/2006/relationships/slideLayout" Target="../slideLayouts/slideLayout6.xml"/><Relationship Id="rId4" Type="http://schemas.openxmlformats.org/officeDocument/2006/relationships/notesSlide" Target="../notesSlides/notesSlide73.xml"/><Relationship Id="rId5" Type="http://schemas.openxmlformats.org/officeDocument/2006/relationships/image" Target="../media/image19.emf"/><Relationship Id="rId6" Type="http://schemas.openxmlformats.org/officeDocument/2006/relationships/image" Target="../media/image20.emf"/><Relationship Id="rId7" Type="http://schemas.openxmlformats.org/officeDocument/2006/relationships/image" Target="../media/image21.emf"/><Relationship Id="rId8" Type="http://schemas.openxmlformats.org/officeDocument/2006/relationships/image" Target="../media/image22.png"/><Relationship Id="rId9" Type="http://schemas.openxmlformats.org/officeDocument/2006/relationships/image" Target="../media/image23.png"/></Relationships>
</file>

<file path=ppt/slides/_rels/slide85.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slideLayout" Target="../slideLayouts/slideLayout6.xml"/><Relationship Id="rId3" Type="http://schemas.openxmlformats.org/officeDocument/2006/relationships/notesSlide" Target="../notesSlides/notesSlide7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5.xml"/><Relationship Id="rId3" Type="http://schemas.openxmlformats.org/officeDocument/2006/relationships/image" Target="../media/image24.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6.xml"/><Relationship Id="rId3" Type="http://schemas.openxmlformats.org/officeDocument/2006/relationships/image" Target="../media/image25.png"/></Relationships>
</file>

<file path=ppt/slides/_rels/slide88.xml.rels><?xml version='1.0' encoding='UTF-8' standalone='yes'?>
<Relationships xmlns="http://schemas.openxmlformats.org/package/2006/relationships"><Relationship Id="rId1" Type="http://schemas.openxmlformats.org/officeDocument/2006/relationships/tags" Target="../tags/tag521.xml"/><Relationship Id="rId2" Type="http://schemas.openxmlformats.org/officeDocument/2006/relationships/tags" Target="../tags/tag522.xml"/><Relationship Id="rId3" Type="http://schemas.openxmlformats.org/officeDocument/2006/relationships/tags" Target="../tags/tag523.xml"/><Relationship Id="rId4" Type="http://schemas.openxmlformats.org/officeDocument/2006/relationships/tags" Target="../tags/tag524.xml"/><Relationship Id="rId5" Type="http://schemas.openxmlformats.org/officeDocument/2006/relationships/tags" Target="../tags/tag525.xml"/><Relationship Id="rId6" Type="http://schemas.openxmlformats.org/officeDocument/2006/relationships/tags" Target="../tags/tag526.xml"/><Relationship Id="rId7" Type="http://schemas.openxmlformats.org/officeDocument/2006/relationships/tags" Target="../tags/tag527.xml"/><Relationship Id="rId8" Type="http://schemas.openxmlformats.org/officeDocument/2006/relationships/tags" Target="../tags/tag528.xml"/><Relationship Id="rId9" Type="http://schemas.openxmlformats.org/officeDocument/2006/relationships/tags" Target="../tags/tag529.xml"/><Relationship Id="rId10" Type="http://schemas.openxmlformats.org/officeDocument/2006/relationships/tags" Target="../tags/tag530.xml"/><Relationship Id="rId11" Type="http://schemas.openxmlformats.org/officeDocument/2006/relationships/tags" Target="../tags/tag531.xml"/><Relationship Id="rId12" Type="http://schemas.openxmlformats.org/officeDocument/2006/relationships/tags" Target="../tags/tag532.xml"/><Relationship Id="rId13" Type="http://schemas.openxmlformats.org/officeDocument/2006/relationships/tags" Target="../tags/tag533.xml"/><Relationship Id="rId14" Type="http://schemas.openxmlformats.org/officeDocument/2006/relationships/tags" Target="../tags/tag534.xml"/><Relationship Id="rId15" Type="http://schemas.openxmlformats.org/officeDocument/2006/relationships/tags" Target="../tags/tag535.xml"/><Relationship Id="rId16" Type="http://schemas.openxmlformats.org/officeDocument/2006/relationships/tags" Target="../tags/tag536.xml"/><Relationship Id="rId17" Type="http://schemas.openxmlformats.org/officeDocument/2006/relationships/slideLayout" Target="../slideLayouts/slideLayout6.xml"/><Relationship Id="rId18" Type="http://schemas.openxmlformats.org/officeDocument/2006/relationships/notesSlide" Target="../notesSlides/notesSlide77.xml"/><Relationship Id="rId19" Type="http://schemas.openxmlformats.org/officeDocument/2006/relationships/chart" Target="../charts/chart386.xml"/><Relationship Id="rId20" Type="http://schemas.openxmlformats.org/officeDocument/2006/relationships/chart" Target="../charts/chart387.xml"/><Relationship Id="rId21" Type="http://schemas.openxmlformats.org/officeDocument/2006/relationships/chart" Target="../charts/chart388.xml"/><Relationship Id="rId22" Type="http://schemas.openxmlformats.org/officeDocument/2006/relationships/chart" Target="../charts/chart389.xml"/><Relationship Id="rId23" Type="http://schemas.openxmlformats.org/officeDocument/2006/relationships/chart" Target="../charts/chart390.xml"/><Relationship Id="rId24" Type="http://schemas.openxmlformats.org/officeDocument/2006/relationships/chart" Target="../charts/chart391.xml"/><Relationship Id="rId25" Type="http://schemas.openxmlformats.org/officeDocument/2006/relationships/chart" Target="../charts/chart392.xml"/><Relationship Id="rId26" Type="http://schemas.openxmlformats.org/officeDocument/2006/relationships/chart" Target="../charts/chart393.xml"/><Relationship Id="rId27" Type="http://schemas.openxmlformats.org/officeDocument/2006/relationships/chart" Target="../charts/chart394.xml"/><Relationship Id="rId28" Type="http://schemas.openxmlformats.org/officeDocument/2006/relationships/chart" Target="../charts/chart395.xml"/><Relationship Id="rId29" Type="http://schemas.openxmlformats.org/officeDocument/2006/relationships/chart" Target="../charts/chart396.xml"/><Relationship Id="rId30" Type="http://schemas.openxmlformats.org/officeDocument/2006/relationships/chart" Target="../charts/chart397.xml"/><Relationship Id="rId31" Type="http://schemas.openxmlformats.org/officeDocument/2006/relationships/chart" Target="../charts/chart398.xml"/><Relationship Id="rId32" Type="http://schemas.openxmlformats.org/officeDocument/2006/relationships/chart" Target="../charts/chart399.xml"/><Relationship Id="rId33" Type="http://schemas.openxmlformats.org/officeDocument/2006/relationships/chart" Target="../charts/chart400.xml"/></Relationships>
</file>

<file path=ppt/slides/_rels/slide8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tags" Target="../tags/tag538.xml"/><Relationship Id="rId3" Type="http://schemas.openxmlformats.org/officeDocument/2006/relationships/slideLayout" Target="../slideLayouts/slideLayout6.xml"/><Relationship Id="rId4" Type="http://schemas.openxmlformats.org/officeDocument/2006/relationships/notesSlide" Target="../notesSlides/notesSlide78.xml"/><Relationship Id="rId5" Type="http://schemas.microsoft.com/office/2018/10/relationships/comments" Target="../comments/modernComment_2EEF_6125F216.xml"/><Relationship Id="rId6" Type="http://schemas.openxmlformats.org/officeDocument/2006/relationships/chart" Target="../charts/chart401.xml"/><Relationship Id="rId7" Type="http://schemas.openxmlformats.org/officeDocument/2006/relationships/chart" Target="../charts/chart402.xml"/><Relationship Id="rId8" Type="http://schemas.openxmlformats.org/officeDocument/2006/relationships/image" Target="../media/image12.png"/></Relationships>
</file>

<file path=ppt/slides/_rels/slide90.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slideLayout" Target="../slideLayouts/slideLayout6.xml"/><Relationship Id="rId3" Type="http://schemas.openxmlformats.org/officeDocument/2006/relationships/notesSlide" Target="../notesSlides/notesSlide79.xml"/><Relationship Id="rId4" Type="http://schemas.microsoft.com/office/2018/10/relationships/comments" Target="../comments/modernComment_2EF9_4DD335CD.xml"/><Relationship Id="rId5" Type="http://schemas.openxmlformats.org/officeDocument/2006/relationships/chart" Target="../charts/chart403.xml"/><Relationship Id="rId6" Type="http://schemas.openxmlformats.org/officeDocument/2006/relationships/slide" Target="slide29.xml"/><Relationship Id="rId7" Type="http://schemas.openxmlformats.org/officeDocument/2006/relationships/slide" Target="slide7.xml"/></Relationships>
</file>

<file path=ppt/slides/_rels/slide91.xml.rels><?xml version='1.0' encoding='UTF-8' standalone='yes'?>
<Relationships xmlns="http://schemas.openxmlformats.org/package/2006/relationships"><Relationship Id="rId1" Type="http://schemas.openxmlformats.org/officeDocument/2006/relationships/tags" Target="../tags/tag540.xml"/><Relationship Id="rId2" Type="http://schemas.openxmlformats.org/officeDocument/2006/relationships/slideLayout" Target="../slideLayouts/slideLayout6.xml"/><Relationship Id="rId3" Type="http://schemas.openxmlformats.org/officeDocument/2006/relationships/notesSlide" Target="../notesSlides/notesSlide80.xml"/><Relationship Id="rId4" Type="http://schemas.microsoft.com/office/2018/10/relationships/comments" Target="../comments/modernComment_2EF8_F31A713.xml"/><Relationship Id="rId5" Type="http://schemas.openxmlformats.org/officeDocument/2006/relationships/chart" Target="../charts/chart404.xml"/><Relationship Id="rId6" Type="http://schemas.openxmlformats.org/officeDocument/2006/relationships/slide" Target="slide63.xml"/><Relationship Id="rId7" Type="http://schemas.openxmlformats.org/officeDocument/2006/relationships/slide" Target="slide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163241-9104-461A-A0BC-A1BD6911165B}"/>
              </a:ext>
            </a:extLst>
          </p:cNvPr>
          <p:cNvSpPr>
            <a:spLocks noGrp="1"/>
          </p:cNvSpPr>
          <p:nvPr>
            <p:ph type="ctrTitle"/>
          </p:nvPr>
        </p:nvSpPr>
        <p:spPr>
          <a:xfrm>
            <a:off x="436877" y="22332"/>
            <a:ext cx="6657079" cy="1218795"/>
          </a:xfrm>
        </p:spPr>
        <p:txBody>
          <a:bodyPr/>
          <a:lstStyle/>
          <a:p>
            <a:r>
              <a:rPr lang="en-US" sz="3200"/>
              <a:t>CREON Share of Voice Study</a:t>
            </a:r>
            <a:br>
              <a:rPr lang="en-US" sz="3200"/>
            </a:br>
            <a:br>
              <a:rPr lang="en-US" sz="3200"/>
            </a:br>
            <a:r>
              <a:rPr lang="en-US" sz="2400"/>
              <a:t>Wave 33 [Jan’26 – Mar’26]</a:t>
            </a:r>
          </a:p>
        </p:txBody>
      </p:sp>
      <p:sp>
        <p:nvSpPr>
          <p:cNvPr id="3" name="Subtitle 2">
            <a:extLst>
              <a:ext uri="{FF2B5EF4-FFF2-40B4-BE49-F238E27FC236}">
                <a16:creationId xmlns:a16="http://schemas.microsoft.com/office/drawing/2014/main" id="{2FE4441E-FEC4-42A8-AE65-634555135E0C}"/>
              </a:ext>
            </a:extLst>
          </p:cNvPr>
          <p:cNvSpPr>
            <a:spLocks noGrp="1"/>
          </p:cNvSpPr>
          <p:nvPr>
            <p:ph type="subTitle" idx="1"/>
          </p:nvPr>
        </p:nvSpPr>
        <p:spPr/>
        <p:txBody>
          <a:bodyPr wrap="square" lIns="0" tIns="45720" rIns="91440" bIns="45720" anchor="t">
            <a:normAutofit fontScale="92500" lnSpcReduction="10000"/>
          </a:bodyPr>
          <a:lstStyle/>
          <a:p>
            <a:r>
              <a:rPr lang="en-US" sz="1400" b="1">
                <a:latin typeface="+mj-lt"/>
              </a:rPr>
              <a:t>Apr 2026</a:t>
            </a:r>
            <a:endParaRPr lang="en-US">
              <a:latin typeface="+mj-lt"/>
            </a:endParaRPr>
          </a:p>
        </p:txBody>
      </p:sp>
    </p:spTree>
    <p:extLst>
      <p:ext uri="{BB962C8B-B14F-4D97-AF65-F5344CB8AC3E}">
        <p14:creationId xmlns:p14="http://schemas.microsoft.com/office/powerpoint/2010/main" val="29933603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564CF5-8CBE-4B7D-ADC9-85FC77679EE9}"/>
              </a:ext>
            </a:extLst>
          </p:cNvPr>
          <p:cNvSpPr>
            <a:spLocks noGrp="1"/>
          </p:cNvSpPr>
          <p:nvPr>
            <p:ph type="ctrTitle"/>
          </p:nvPr>
        </p:nvSpPr>
        <p:spPr/>
        <p:txBody>
          <a:bodyPr/>
          <a:lstStyle/>
          <a:p>
            <a:r>
              <a:rPr lang="en-US"/>
              <a:t>Key Objectives and Study Design</a:t>
            </a:r>
          </a:p>
        </p:txBody>
      </p:sp>
    </p:spTree>
    <p:extLst>
      <p:ext uri="{BB962C8B-B14F-4D97-AF65-F5344CB8AC3E}">
        <p14:creationId xmlns:p14="http://schemas.microsoft.com/office/powerpoint/2010/main" val="424851075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65"/>
        <p:cNvGrpSpPr/>
        <p:nvPr/>
      </p:nvGrpSpPr>
      <p:grpSpPr>
        <a:xfrm>
          <a:off x="0" y="0"/>
          <a:ext cx="0" cy="0"/>
          <a:chOff x="0" y="0"/>
          <a:chExt cx="0" cy="0"/>
        </a:xfrm>
      </p:grpSpPr>
      <p:sp>
        <p:nvSpPr>
          <p:cNvPr id="6" name="Rectangle 5">
            <a:extLst>
              <a:ext uri="{FF2B5EF4-FFF2-40B4-BE49-F238E27FC236}">
                <a16:creationId xmlns:a16="http://schemas.microsoft.com/office/drawing/2014/main" id="{E86898F6-F402-29A9-586C-7E2A0730F626}"/>
              </a:ext>
            </a:extLst>
          </p:cNvPr>
          <p:cNvSpPr/>
          <p:nvPr/>
        </p:nvSpPr>
        <p:spPr>
          <a:xfrm>
            <a:off x="304799" y="1035519"/>
            <a:ext cx="1080000" cy="811175"/>
          </a:xfrm>
          <a:prstGeom prst="rect">
            <a:avLst/>
          </a:prstGeom>
          <a:solidFill>
            <a:srgbClr val="071D4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aphicFrame>
        <p:nvGraphicFramePr>
          <p:cNvPr id="167" name="Google Shape;167;p3"/>
          <p:cNvGraphicFramePr/>
          <p:nvPr>
            <p:custDataLst>
              <p:tags r:id="rId1"/>
            </p:custDataLst>
            <p:extLst>
              <p:ext uri="{D42A27DB-BD31-4B8C-83A1-F6EECF244321}">
                <p14:modId xmlns:p14="http://schemas.microsoft.com/office/powerpoint/2010/main" val="2489551472"/>
              </p:ext>
            </p:extLst>
          </p:nvPr>
        </p:nvGraphicFramePr>
        <p:xfrm>
          <a:off x="304799" y="1901572"/>
          <a:ext cx="8352000" cy="4268160"/>
        </p:xfrm>
        <a:graphic>
          <a:graphicData uri="http://schemas.openxmlformats.org/drawingml/2006/table">
            <a:tbl>
              <a:tblPr firstRow="1" bandRow="1">
                <a:noFill/>
                <a:tableStyleId>{96BACEE3-1A1D-4107-9369-2142449FF59F}</a:tableStyleId>
              </a:tblPr>
              <a:tblGrid>
                <a:gridCol w="1637444">
                  <a:extLst>
                    <a:ext uri="{9D8B030D-6E8A-4147-A177-3AD203B41FA5}">
                      <a16:colId xmlns:a16="http://schemas.microsoft.com/office/drawing/2014/main" val="20000"/>
                    </a:ext>
                  </a:extLst>
                </a:gridCol>
                <a:gridCol w="482905">
                  <a:extLst>
                    <a:ext uri="{9D8B030D-6E8A-4147-A177-3AD203B41FA5}">
                      <a16:colId xmlns:a16="http://schemas.microsoft.com/office/drawing/2014/main" val="20001"/>
                    </a:ext>
                  </a:extLst>
                </a:gridCol>
                <a:gridCol w="6231651">
                  <a:extLst>
                    <a:ext uri="{9D8B030D-6E8A-4147-A177-3AD203B41FA5}">
                      <a16:colId xmlns:a16="http://schemas.microsoft.com/office/drawing/2014/main" val="2536857742"/>
                    </a:ext>
                  </a:extLst>
                </a:gridCol>
              </a:tblGrid>
              <a:tr h="288000">
                <a:tc>
                  <a:txBody>
                    <a:bodyPr/>
                    <a:lstStyle/>
                    <a:p>
                      <a:pPr marL="0" marR="0" lvl="0" indent="0" algn="r" rtl="0">
                        <a:lnSpc>
                          <a:spcPct val="100000"/>
                        </a:lnSpc>
                        <a:spcBef>
                          <a:spcPts val="0"/>
                        </a:spcBef>
                        <a:spcAft>
                          <a:spcPts val="0"/>
                        </a:spcAft>
                        <a:buClr>
                          <a:schemeClr val="dk1"/>
                        </a:buClr>
                        <a:buSzPts val="1200"/>
                        <a:buFont typeface="Calibri"/>
                        <a:buNone/>
                      </a:pPr>
                      <a:endParaRPr lang="en-IN" sz="1200" b="1" i="0" u="none" strike="noStrike" cap="none">
                        <a:solidFill>
                          <a:srgbClr val="071D49"/>
                        </a:solidFill>
                        <a:latin typeface="+mn-lt"/>
                        <a:ea typeface="Calibri"/>
                        <a:cs typeface="Calibri"/>
                        <a:sym typeface="Calibri"/>
                      </a:endParaRPr>
                    </a:p>
                  </a:txBody>
                  <a:tcPr marL="91451" marR="91451"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071D49"/>
                    </a:solidFill>
                  </a:tcPr>
                </a:tc>
                <a:tc gridSpan="2">
                  <a:txBody>
                    <a:bodyPr/>
                    <a:lstStyle/>
                    <a:p>
                      <a:pPr marL="0" marR="0" lvl="0" indent="0" algn="ctr" rtl="0">
                        <a:lnSpc>
                          <a:spcPct val="100000"/>
                        </a:lnSpc>
                        <a:spcBef>
                          <a:spcPts val="0"/>
                        </a:spcBef>
                        <a:spcAft>
                          <a:spcPts val="0"/>
                        </a:spcAft>
                        <a:buClr>
                          <a:schemeClr val="lt1"/>
                        </a:buClr>
                        <a:buSzPts val="1200"/>
                        <a:buFont typeface="Calibri"/>
                        <a:buNone/>
                      </a:pPr>
                      <a:r>
                        <a:rPr lang="en-US" sz="1200" b="1" i="0" u="none" strike="noStrike" cap="none">
                          <a:solidFill>
                            <a:schemeClr val="lt1"/>
                          </a:solidFill>
                          <a:latin typeface="+mn-lt"/>
                          <a:ea typeface="Calibri"/>
                          <a:cs typeface="Calibri"/>
                          <a:sym typeface="Calibri"/>
                        </a:rPr>
                        <a:t>Quantitative Research</a:t>
                      </a:r>
                      <a:endParaRPr lang="en-US" sz="1300">
                        <a:latin typeface="+mn-lt"/>
                      </a:endParaRPr>
                    </a:p>
                  </a:txBody>
                  <a:tcPr marL="36000" marR="36000" marT="36000" marB="3600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071D49"/>
                    </a:solidFill>
                  </a:tcPr>
                </a:tc>
                <a:tc hMerge="1">
                  <a:txBody>
                    <a:bodyPr/>
                    <a:lstStyle/>
                    <a:p>
                      <a:endParaRPr lang="en-IN"/>
                    </a:p>
                  </a:txBody>
                  <a:tcPr/>
                </a:tc>
                <a:extLst>
                  <a:ext uri="{0D108BD9-81ED-4DB2-BD59-A6C34878D82A}">
                    <a16:rowId xmlns:a16="http://schemas.microsoft.com/office/drawing/2014/main" val="10000"/>
                  </a:ext>
                </a:extLst>
              </a:tr>
              <a:tr h="274320">
                <a:tc>
                  <a:txBody>
                    <a:bodyPr/>
                    <a:lstStyle/>
                    <a:p>
                      <a:pPr marL="0" marR="0" lvl="0" indent="0" algn="r" rtl="0">
                        <a:lnSpc>
                          <a:spcPct val="100000"/>
                        </a:lnSpc>
                        <a:spcBef>
                          <a:spcPts val="0"/>
                        </a:spcBef>
                        <a:spcAft>
                          <a:spcPts val="0"/>
                        </a:spcAft>
                        <a:buClr>
                          <a:srgbClr val="071D49"/>
                        </a:buClr>
                        <a:buSzPts val="1200"/>
                        <a:buFont typeface="Calibri"/>
                        <a:buNone/>
                      </a:pPr>
                      <a:r>
                        <a:rPr lang="en-US" sz="1200" b="1" i="0" u="none" strike="noStrike" cap="none">
                          <a:solidFill>
                            <a:srgbClr val="071D49"/>
                          </a:solidFill>
                          <a:latin typeface="+mn-lt"/>
                          <a:ea typeface="Calibri"/>
                          <a:cs typeface="Calibri"/>
                          <a:sym typeface="Calibri"/>
                        </a:rPr>
                        <a:t>Delivery Method</a:t>
                      </a:r>
                      <a:endParaRPr lang="en-US" sz="1300">
                        <a:latin typeface="+mn-lt"/>
                      </a:endParaRPr>
                    </a:p>
                  </a:txBody>
                  <a:tcPr marL="45720" marR="4572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gridSpan="2">
                  <a:txBody>
                    <a:bodyPr/>
                    <a:lstStyle/>
                    <a:p>
                      <a:pPr marL="0" marR="0" lvl="0" indent="0" algn="ctr" rtl="0">
                        <a:lnSpc>
                          <a:spcPct val="100000"/>
                        </a:lnSpc>
                        <a:spcBef>
                          <a:spcPts val="0"/>
                        </a:spcBef>
                        <a:spcAft>
                          <a:spcPts val="0"/>
                        </a:spcAft>
                        <a:buClr>
                          <a:srgbClr val="071D49"/>
                        </a:buClr>
                        <a:buSzPts val="1200"/>
                        <a:buFont typeface="Calibri"/>
                        <a:buNone/>
                      </a:pPr>
                      <a:r>
                        <a:rPr lang="en-US" sz="1200" b="0" i="0" u="none" strike="noStrike" cap="none">
                          <a:solidFill>
                            <a:srgbClr val="071D49"/>
                          </a:solidFill>
                          <a:latin typeface="+mn-lt"/>
                          <a:ea typeface="Calibri"/>
                          <a:cs typeface="Calibri"/>
                          <a:sym typeface="Calibri"/>
                        </a:rPr>
                        <a:t>ZoomRx Mobile and Web Survey Platform</a:t>
                      </a:r>
                      <a:endParaRPr lang="en-US" sz="1300">
                        <a:latin typeface="+mn-lt"/>
                      </a:endParaRPr>
                    </a:p>
                  </a:txBody>
                  <a:tcPr marL="45720" marR="4572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hMerge="1">
                  <a:txBody>
                    <a:bodyPr/>
                    <a:lstStyle/>
                    <a:p>
                      <a:endParaRPr lang="en-IN"/>
                    </a:p>
                  </a:txBody>
                  <a:tcPr/>
                </a:tc>
                <a:extLst>
                  <a:ext uri="{0D108BD9-81ED-4DB2-BD59-A6C34878D82A}">
                    <a16:rowId xmlns:a16="http://schemas.microsoft.com/office/drawing/2014/main" val="10001"/>
                  </a:ext>
                </a:extLst>
              </a:tr>
              <a:tr h="900000">
                <a:tc>
                  <a:txBody>
                    <a:bodyPr/>
                    <a:lstStyle/>
                    <a:p>
                      <a:pPr marL="0" marR="0" lvl="0" indent="0" algn="r" rtl="0">
                        <a:lnSpc>
                          <a:spcPct val="100000"/>
                        </a:lnSpc>
                        <a:spcBef>
                          <a:spcPts val="0"/>
                        </a:spcBef>
                        <a:spcAft>
                          <a:spcPts val="0"/>
                        </a:spcAft>
                        <a:buClr>
                          <a:srgbClr val="071D49"/>
                        </a:buClr>
                        <a:buSzPts val="1200"/>
                        <a:buFont typeface="Calibri"/>
                        <a:buNone/>
                      </a:pPr>
                      <a:r>
                        <a:rPr lang="en-US" sz="1200" b="1" i="0" u="none" strike="noStrike" cap="none">
                          <a:solidFill>
                            <a:srgbClr val="071D49"/>
                          </a:solidFill>
                          <a:latin typeface="+mn-lt"/>
                          <a:ea typeface="Calibri"/>
                          <a:cs typeface="Calibri"/>
                          <a:sym typeface="Calibri"/>
                        </a:rPr>
                        <a:t>Fielding Periods</a:t>
                      </a:r>
                      <a:endParaRPr lang="en-US" sz="1300">
                        <a:latin typeface="+mn-lt"/>
                      </a:endParaRPr>
                    </a:p>
                  </a:txBody>
                  <a:tcPr marL="45720" marR="4572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gridSpan="2">
                  <a:txBody>
                    <a:bodyPr/>
                    <a:lstStyle/>
                    <a:p>
                      <a:pPr marL="0" marR="0" lvl="0" indent="0" algn="ctr" defTabSz="342906" rtl="0" eaLnBrk="1" fontAlgn="auto" latinLnBrk="0" hangingPunct="1">
                        <a:lnSpc>
                          <a:spcPct val="100000"/>
                        </a:lnSpc>
                        <a:spcBef>
                          <a:spcPts val="0"/>
                        </a:spcBef>
                        <a:spcAft>
                          <a:spcPts val="0"/>
                        </a:spcAft>
                        <a:buClr>
                          <a:srgbClr val="071D49"/>
                        </a:buClr>
                        <a:buSzPts val="1200"/>
                        <a:buFont typeface="Calibri"/>
                        <a:buNone/>
                        <a:tabLst/>
                        <a:defRPr/>
                      </a:pPr>
                      <a:r>
                        <a:rPr lang="en-US" sz="900" b="1" i="0" u="none" strike="noStrike" cap="none">
                          <a:solidFill>
                            <a:srgbClr val="071D49"/>
                          </a:solidFill>
                          <a:latin typeface="+mn-lt"/>
                          <a:ea typeface="Calibri"/>
                          <a:cs typeface="Calibri"/>
                          <a:sym typeface="Calibri"/>
                        </a:rPr>
                        <a:t>Jul’21 –  Aug’21 </a:t>
                      </a:r>
                      <a:r>
                        <a:rPr lang="en-US" sz="900" b="0" i="0" u="none" strike="noStrike" cap="none">
                          <a:solidFill>
                            <a:srgbClr val="071D49"/>
                          </a:solidFill>
                          <a:latin typeface="+mn-lt"/>
                          <a:ea typeface="Calibri"/>
                          <a:cs typeface="Calibri"/>
                          <a:sym typeface="Calibri"/>
                        </a:rPr>
                        <a:t>| </a:t>
                      </a:r>
                      <a:r>
                        <a:rPr lang="en-US" sz="900" b="1" i="0" u="none" strike="noStrike" cap="none">
                          <a:solidFill>
                            <a:srgbClr val="071D49"/>
                          </a:solidFill>
                          <a:latin typeface="+mn-lt"/>
                          <a:ea typeface="Calibri"/>
                          <a:cs typeface="Calibri"/>
                          <a:sym typeface="Calibri"/>
                        </a:rPr>
                        <a:t>Sep’21 –  Oct’21</a:t>
                      </a:r>
                      <a:r>
                        <a:rPr lang="en-US" sz="900" b="0" i="0" u="none" strike="noStrike" cap="none">
                          <a:solidFill>
                            <a:srgbClr val="071D49"/>
                          </a:solidFill>
                          <a:latin typeface="+mn-lt"/>
                          <a:ea typeface="Calibri"/>
                          <a:cs typeface="Calibri"/>
                          <a:sym typeface="Calibri"/>
                        </a:rPr>
                        <a:t> | </a:t>
                      </a:r>
                      <a:r>
                        <a:rPr lang="en-US" sz="900" b="1" i="0" u="none" strike="noStrike" cap="none">
                          <a:solidFill>
                            <a:srgbClr val="071D49"/>
                          </a:solidFill>
                          <a:latin typeface="+mn-lt"/>
                          <a:cs typeface="Calibri"/>
                          <a:sym typeface="Arial"/>
                        </a:rPr>
                        <a:t>Nov’21 –  Dec’21</a:t>
                      </a:r>
                      <a:r>
                        <a:rPr lang="en-US" sz="900" b="0" i="0" u="none" strike="noStrike" cap="none">
                          <a:solidFill>
                            <a:srgbClr val="071D49"/>
                          </a:solidFill>
                          <a:latin typeface="+mn-lt"/>
                          <a:cs typeface="Calibri"/>
                          <a:sym typeface="Arial"/>
                        </a:rPr>
                        <a:t> </a:t>
                      </a:r>
                      <a:r>
                        <a:rPr lang="en-US" sz="900" b="0" i="0" u="none" strike="noStrike" cap="none">
                          <a:solidFill>
                            <a:srgbClr val="071D49"/>
                          </a:solidFill>
                          <a:latin typeface="+mn-lt"/>
                          <a:ea typeface="Calibri"/>
                          <a:cs typeface="Calibri"/>
                          <a:sym typeface="Calibri"/>
                        </a:rPr>
                        <a:t>| </a:t>
                      </a:r>
                      <a:r>
                        <a:rPr lang="en-US" sz="900" b="1" i="0" u="none" strike="noStrike" cap="none">
                          <a:solidFill>
                            <a:srgbClr val="071D49"/>
                          </a:solidFill>
                          <a:latin typeface="+mn-lt"/>
                          <a:cs typeface="Calibri"/>
                          <a:sym typeface="Arial"/>
                        </a:rPr>
                        <a:t>Jan'22 – Feb’22</a:t>
                      </a:r>
                      <a:r>
                        <a:rPr lang="en-US" sz="900" b="0" i="0" u="none" strike="noStrike" cap="none">
                          <a:solidFill>
                            <a:srgbClr val="071D49"/>
                          </a:solidFill>
                          <a:latin typeface="+mn-lt"/>
                          <a:cs typeface="Calibri"/>
                          <a:sym typeface="Arial"/>
                        </a:rPr>
                        <a:t> </a:t>
                      </a:r>
                      <a:r>
                        <a:rPr lang="en-US" sz="900" b="0" i="0" u="none" strike="noStrike" cap="none">
                          <a:solidFill>
                            <a:srgbClr val="071D49"/>
                          </a:solidFill>
                          <a:latin typeface="+mn-lt"/>
                          <a:ea typeface="Calibri"/>
                          <a:cs typeface="Calibri"/>
                          <a:sym typeface="Calibri"/>
                        </a:rPr>
                        <a:t>| </a:t>
                      </a:r>
                      <a:r>
                        <a:rPr lang="en-US" sz="900" b="1" i="0" u="none" strike="noStrike" cap="none">
                          <a:solidFill>
                            <a:srgbClr val="071D49"/>
                          </a:solidFill>
                          <a:latin typeface="+mn-lt"/>
                          <a:cs typeface="Calibri"/>
                          <a:sym typeface="Arial"/>
                        </a:rPr>
                        <a:t>Mar'22 – Apr’22 </a:t>
                      </a:r>
                      <a:r>
                        <a:rPr lang="en-US" sz="900" b="1" i="0" u="none" strike="noStrike" kern="1200" cap="none">
                          <a:solidFill>
                            <a:srgbClr val="071D49"/>
                          </a:solidFill>
                          <a:latin typeface="+mn-lt"/>
                          <a:ea typeface="Calibri"/>
                          <a:cs typeface="Calibri"/>
                          <a:sym typeface="Calibri"/>
                        </a:rPr>
                        <a:t>| </a:t>
                      </a:r>
                      <a:r>
                        <a:rPr lang="en-US" sz="900" b="1" i="0" u="none" strike="noStrike" cap="none">
                          <a:solidFill>
                            <a:srgbClr val="071D49"/>
                          </a:solidFill>
                          <a:latin typeface="+mn-lt"/>
                          <a:cs typeface="Calibri"/>
                          <a:sym typeface="Arial"/>
                        </a:rPr>
                        <a:t>May'22 – Jun’22</a:t>
                      </a:r>
                      <a:r>
                        <a:rPr lang="en-US" sz="900" b="0" i="0" u="none" strike="noStrike" cap="none">
                          <a:solidFill>
                            <a:srgbClr val="071D49"/>
                          </a:solidFill>
                          <a:latin typeface="+mn-lt"/>
                          <a:cs typeface="Calibri"/>
                          <a:sym typeface="Arial"/>
                        </a:rPr>
                        <a:t> </a:t>
                      </a:r>
                      <a:r>
                        <a:rPr lang="en-US" sz="900" b="0" i="0" u="none" strike="noStrike" cap="none">
                          <a:solidFill>
                            <a:srgbClr val="071D49"/>
                          </a:solidFill>
                          <a:latin typeface="+mn-lt"/>
                          <a:ea typeface="Calibri"/>
                          <a:cs typeface="Calibri"/>
                          <a:sym typeface="Calibri"/>
                        </a:rPr>
                        <a:t>| </a:t>
                      </a:r>
                      <a:r>
                        <a:rPr lang="en-US" sz="900" b="1" i="0" u="none" strike="noStrike" cap="none">
                          <a:solidFill>
                            <a:srgbClr val="071D49"/>
                          </a:solidFill>
                          <a:latin typeface="+mn-lt"/>
                          <a:cs typeface="Calibri"/>
                          <a:sym typeface="Arial"/>
                        </a:rPr>
                        <a:t>Jul'22 – Aug’22</a:t>
                      </a:r>
                      <a:r>
                        <a:rPr lang="en-US" sz="900" b="0" i="0" u="none" strike="noStrike" cap="none">
                          <a:solidFill>
                            <a:srgbClr val="071D49"/>
                          </a:solidFill>
                          <a:latin typeface="+mn-lt"/>
                          <a:ea typeface="Calibri"/>
                          <a:cs typeface="Calibri"/>
                          <a:sym typeface="Calibri"/>
                        </a:rPr>
                        <a:t> </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Sep'22 – Oct’22</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Calibri"/>
                          <a:cs typeface="Calibri"/>
                          <a:sym typeface="Calibri"/>
                        </a:rPr>
                        <a:t>|</a:t>
                      </a:r>
                      <a:r>
                        <a:rPr lang="en-US" sz="900" b="1" i="0" u="none" strike="noStrike"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Nov'22 – Dec’22</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Jan'23 – Feb’23</a:t>
                      </a:r>
                      <a:r>
                        <a:rPr lang="en-US" sz="900" b="0" i="0" u="none" strike="noStrike" kern="1200" cap="none">
                          <a:solidFill>
                            <a:srgbClr val="071D49"/>
                          </a:solidFill>
                          <a:latin typeface="+mn-lt"/>
                          <a:ea typeface="Calibri"/>
                          <a:cs typeface="Calibri"/>
                          <a:sym typeface="Calibri"/>
                        </a:rPr>
                        <a:t> | </a:t>
                      </a:r>
                      <a:r>
                        <a:rPr lang="en-US" sz="900" b="1" i="0" u="none" strike="noStrike" kern="1200" cap="none">
                          <a:solidFill>
                            <a:srgbClr val="071D49"/>
                          </a:solidFill>
                          <a:latin typeface="+mn-lt"/>
                          <a:ea typeface="Arial"/>
                          <a:cs typeface="Calibri"/>
                          <a:sym typeface="Arial"/>
                        </a:rPr>
                        <a:t>Mar'23 – Apr’23</a:t>
                      </a:r>
                      <a:r>
                        <a:rPr lang="en-US" sz="900" b="0" i="0" u="none" strike="noStrike" kern="1200" cap="none">
                          <a:solidFill>
                            <a:srgbClr val="071D49"/>
                          </a:solidFill>
                          <a:latin typeface="+mn-lt"/>
                          <a:ea typeface="Calibri"/>
                          <a:cs typeface="Calibri"/>
                          <a:sym typeface="Arial"/>
                        </a:rPr>
                        <a:t> </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May'23 – Jun’23</a:t>
                      </a:r>
                      <a:r>
                        <a:rPr lang="en-US" sz="900" b="0" i="0" u="none" strike="noStrike" kern="1200" cap="none">
                          <a:solidFill>
                            <a:srgbClr val="071D49"/>
                          </a:solidFill>
                          <a:latin typeface="+mn-lt"/>
                          <a:ea typeface="Arial"/>
                          <a:cs typeface="Calibri"/>
                          <a:sym typeface="Arial"/>
                        </a:rPr>
                        <a:t> </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Jul'23 – Aug'23</a:t>
                      </a:r>
                      <a:r>
                        <a:rPr lang="en-US" sz="900" b="0" i="0" u="none" strike="noStrike" kern="1200" cap="none">
                          <a:solidFill>
                            <a:srgbClr val="071D49"/>
                          </a:solidFill>
                          <a:latin typeface="+mn-lt"/>
                          <a:ea typeface="Calibri"/>
                          <a:cs typeface="Calibri"/>
                          <a:sym typeface="Calibri"/>
                        </a:rPr>
                        <a:t> | </a:t>
                      </a:r>
                      <a:r>
                        <a:rPr lang="en-US" sz="900" b="1" i="0" u="none" strike="noStrike" kern="1200" cap="none">
                          <a:solidFill>
                            <a:srgbClr val="071D49"/>
                          </a:solidFill>
                          <a:latin typeface="+mn-lt"/>
                          <a:ea typeface="Arial"/>
                          <a:cs typeface="Calibri"/>
                          <a:sym typeface="Arial"/>
                        </a:rPr>
                        <a:t>Sep'23 – Oct'23</a:t>
                      </a:r>
                      <a:r>
                        <a:rPr lang="en-US" sz="900" b="0" i="0" u="none" strike="noStrike" kern="1200" cap="none">
                          <a:solidFill>
                            <a:srgbClr val="071D49"/>
                          </a:solidFill>
                          <a:latin typeface="+mn-lt"/>
                          <a:ea typeface="Calibri"/>
                          <a:cs typeface="Calibri"/>
                          <a:sym typeface="Calibri"/>
                        </a:rPr>
                        <a:t> | </a:t>
                      </a:r>
                      <a:r>
                        <a:rPr lang="en-US" sz="900" b="1" i="0" u="none" strike="noStrike" kern="1200" cap="none">
                          <a:solidFill>
                            <a:srgbClr val="071D49"/>
                          </a:solidFill>
                          <a:latin typeface="+mn-lt"/>
                          <a:ea typeface="Arial"/>
                          <a:cs typeface="Calibri"/>
                          <a:sym typeface="Arial"/>
                        </a:rPr>
                        <a:t>Nov’23 – Dec’23 </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Jan’24 – Feb'24</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Mar’24 – Apr’24 </a:t>
                      </a:r>
                      <a:r>
                        <a:rPr lang="en-US" sz="900" b="0" i="0" u="none" strike="noStrike" kern="1200" cap="none">
                          <a:solidFill>
                            <a:srgbClr val="071D49"/>
                          </a:solidFill>
                          <a:latin typeface="+mn-lt"/>
                          <a:ea typeface="Calibri"/>
                          <a:cs typeface="Calibri"/>
                          <a:sym typeface="Calibri"/>
                        </a:rPr>
                        <a:t>|</a:t>
                      </a:r>
                      <a:r>
                        <a:rPr lang="en-US" sz="900" b="1"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May’24 – Jun’24</a:t>
                      </a:r>
                      <a:r>
                        <a:rPr lang="en-US" sz="900" b="0" i="0" u="none" strike="noStrike" kern="1200" cap="none">
                          <a:solidFill>
                            <a:srgbClr val="071D49"/>
                          </a:solidFill>
                          <a:latin typeface="+mn-lt"/>
                          <a:ea typeface="Calibri"/>
                          <a:cs typeface="Calibri"/>
                          <a:sym typeface="Arial"/>
                        </a:rPr>
                        <a:t> </a:t>
                      </a:r>
                      <a:r>
                        <a:rPr lang="en-US" sz="900" b="1" i="0" u="none" strike="noStrike" kern="1200" cap="none">
                          <a:solidFill>
                            <a:srgbClr val="071D49"/>
                          </a:solidFill>
                          <a:latin typeface="+mn-lt"/>
                          <a:ea typeface="Arial"/>
                          <a:cs typeface="Calibri"/>
                          <a:sym typeface="Arial"/>
                        </a:rPr>
                        <a:t>| Jul’24 – Aug’24</a:t>
                      </a:r>
                      <a:r>
                        <a:rPr lang="en-US" sz="900" b="0" i="0" u="none" strike="noStrike" kern="1200" cap="none">
                          <a:solidFill>
                            <a:srgbClr val="071D49"/>
                          </a:solidFill>
                          <a:latin typeface="+mn-lt"/>
                          <a:ea typeface="Arial"/>
                          <a:cs typeface="Calibri"/>
                          <a:sym typeface="Arial"/>
                        </a:rPr>
                        <a:t> </a:t>
                      </a:r>
                      <a:r>
                        <a:rPr lang="en-US" sz="900" b="1" i="0" u="none" strike="noStrike" kern="1200" cap="none">
                          <a:solidFill>
                            <a:srgbClr val="071D49"/>
                          </a:solidFill>
                          <a:latin typeface="+mn-lt"/>
                          <a:ea typeface="Arial"/>
                          <a:cs typeface="Calibri"/>
                          <a:sym typeface="Arial"/>
                        </a:rPr>
                        <a:t>| Sep’24 – Oct’24 | Nov’24 – Dec’24</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Jan’25 – Feb’25</a:t>
                      </a:r>
                      <a:r>
                        <a:rPr lang="en-US" sz="900" b="0" i="0" u="none" strike="noStrike" kern="1200" cap="none">
                          <a:solidFill>
                            <a:srgbClr val="071D49"/>
                          </a:solidFill>
                          <a:latin typeface="+mn-lt"/>
                          <a:ea typeface="Calibri"/>
                          <a:cs typeface="Calibri"/>
                          <a:sym typeface="Calibri"/>
                        </a:rPr>
                        <a:t> </a:t>
                      </a:r>
                      <a:r>
                        <a:rPr lang="en-US" sz="900" b="1" i="0" u="none" strike="noStrike" kern="1200" cap="none">
                          <a:solidFill>
                            <a:srgbClr val="071D49"/>
                          </a:solidFill>
                          <a:latin typeface="+mn-lt"/>
                          <a:ea typeface="Arial"/>
                          <a:cs typeface="Calibri"/>
                          <a:sym typeface="Arial"/>
                        </a:rPr>
                        <a:t> | Mar’25 – Apr’25</a:t>
                      </a:r>
                      <a:r>
                        <a:rPr lang="en-US" sz="900" b="0" i="0" u="none" strike="noStrike" kern="1200" cap="none">
                          <a:solidFill>
                            <a:srgbClr val="071D49"/>
                          </a:solidFill>
                          <a:latin typeface="+mn-lt"/>
                          <a:ea typeface="Calibri"/>
                          <a:cs typeface="Calibri"/>
                          <a:sym typeface="Arial"/>
                        </a:rPr>
                        <a:t> | </a:t>
                      </a:r>
                      <a:r>
                        <a:rPr lang="en-US" sz="900" b="1" i="0" u="none" strike="noStrike" kern="1200" cap="none">
                          <a:solidFill>
                            <a:srgbClr val="071D49"/>
                          </a:solidFill>
                          <a:latin typeface="+mn-lt"/>
                          <a:ea typeface="Arial"/>
                          <a:cs typeface="Calibri"/>
                          <a:sym typeface="Arial"/>
                        </a:rPr>
                        <a:t>May’25 – Jun’25</a:t>
                      </a:r>
                      <a:r>
                        <a:rPr lang="en-US" sz="900" b="0" i="0" u="none" strike="noStrike" kern="1200" cap="none">
                          <a:solidFill>
                            <a:srgbClr val="071D49"/>
                          </a:solidFill>
                          <a:latin typeface="+mn-lt"/>
                          <a:ea typeface="Calibri"/>
                          <a:cs typeface="Calibri"/>
                          <a:sym typeface="Arial"/>
                        </a:rPr>
                        <a:t> | </a:t>
                      </a:r>
                      <a:r>
                        <a:rPr lang="en-US" sz="900" b="1" i="0" u="none" strike="noStrike" kern="1200" cap="none">
                          <a:solidFill>
                            <a:srgbClr val="071D49"/>
                          </a:solidFill>
                          <a:latin typeface="+mn-lt"/>
                          <a:ea typeface="Arial"/>
                          <a:cs typeface="Calibri"/>
                          <a:sym typeface="Arial"/>
                        </a:rPr>
                        <a:t>Jul’25 – Aug’25</a:t>
                      </a:r>
                      <a:r>
                        <a:rPr lang="en-US" sz="900" b="0" i="0" u="none" strike="noStrike" kern="1200" cap="none">
                          <a:solidFill>
                            <a:srgbClr val="071D49"/>
                          </a:solidFill>
                          <a:latin typeface="+mn-lt"/>
                          <a:ea typeface="Calibri"/>
                          <a:cs typeface="Calibri"/>
                          <a:sym typeface="Arial"/>
                        </a:rPr>
                        <a:t> | </a:t>
                      </a:r>
                      <a:r>
                        <a:rPr lang="en-US" sz="900" b="1" i="0" u="none" strike="noStrike" kern="1200" cap="none">
                          <a:solidFill>
                            <a:srgbClr val="071D49"/>
                          </a:solidFill>
                          <a:latin typeface="+mn-lt"/>
                          <a:ea typeface="Arial"/>
                          <a:cs typeface="Calibri"/>
                          <a:sym typeface="Arial"/>
                        </a:rPr>
                        <a:t>Sep’25 – Oct’25</a:t>
                      </a:r>
                      <a:r>
                        <a:rPr lang="en-US" sz="900" b="0" i="0" u="none" strike="noStrike" kern="1200" cap="none">
                          <a:solidFill>
                            <a:srgbClr val="071D49"/>
                          </a:solidFill>
                          <a:latin typeface="+mn-lt"/>
                          <a:ea typeface="Calibri"/>
                          <a:cs typeface="Calibri"/>
                          <a:sym typeface="Arial"/>
                        </a:rPr>
                        <a:t> </a:t>
                      </a:r>
                      <a:r>
                        <a:rPr lang="en-US" sz="900" b="0" i="0" u="none" strike="noStrike" kern="1200" cap="none">
                          <a:solidFill>
                            <a:srgbClr val="071D49"/>
                          </a:solidFill>
                          <a:latin typeface="Arial"/>
                          <a:ea typeface="Calibri"/>
                          <a:cs typeface="Calibri"/>
                          <a:sym typeface="Arial"/>
                        </a:rPr>
                        <a:t>| </a:t>
                      </a:r>
                      <a:r>
                        <a:rPr lang="en-US" sz="900" b="1" i="0" u="none" strike="noStrike" kern="1200" cap="none">
                          <a:solidFill>
                            <a:srgbClr val="071D49"/>
                          </a:solidFill>
                          <a:latin typeface="Arial"/>
                          <a:ea typeface="Arial"/>
                          <a:cs typeface="Calibri"/>
                          <a:sym typeface="Arial"/>
                        </a:rPr>
                        <a:t>Nov’25 – Dec’25</a:t>
                      </a:r>
                      <a:r>
                        <a:rPr lang="en-US" sz="900" b="0" i="0" u="none" strike="noStrike" kern="1200" cap="none">
                          <a:solidFill>
                            <a:srgbClr val="071D49"/>
                          </a:solidFill>
                          <a:latin typeface="Arial"/>
                          <a:ea typeface="Calibri"/>
                          <a:cs typeface="Calibri"/>
                          <a:sym typeface="Arial"/>
                        </a:rPr>
                        <a:t> | </a:t>
                      </a:r>
                      <a:r>
                        <a:rPr lang="en-US" sz="900" b="1" i="0" u="none" strike="noStrike" kern="1200" cap="none">
                          <a:solidFill>
                            <a:srgbClr val="071D49"/>
                          </a:solidFill>
                          <a:latin typeface="Arial"/>
                          <a:ea typeface="Arial"/>
                          <a:cs typeface="Calibri"/>
                          <a:sym typeface="Arial"/>
                        </a:rPr>
                        <a:t>Jan’25 – Mar’26</a:t>
                      </a:r>
                      <a:r>
                        <a:rPr lang="en-US" sz="900" b="0" i="0" u="none" strike="noStrike" kern="1200" cap="none">
                          <a:solidFill>
                            <a:srgbClr val="071D49"/>
                          </a:solidFill>
                          <a:latin typeface="Arial"/>
                          <a:ea typeface="Calibri"/>
                          <a:cs typeface="Calibri"/>
                          <a:sym typeface="Arial"/>
                        </a:rPr>
                        <a:t> </a:t>
                      </a:r>
                      <a:endParaRPr lang="en-US" sz="900" b="1" i="0" u="none" strike="noStrike" kern="1200" cap="none">
                        <a:solidFill>
                          <a:srgbClr val="071D49"/>
                        </a:solidFill>
                        <a:latin typeface="Arial"/>
                        <a:ea typeface="Calibri"/>
                        <a:cs typeface="Calibri"/>
                        <a:sym typeface="Calibri"/>
                      </a:endParaRPr>
                    </a:p>
                  </a:txBody>
                  <a:tcPr marL="45720" marR="4572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hMerge="1">
                  <a:txBody>
                    <a:bodyPr/>
                    <a:lstStyle/>
                    <a:p>
                      <a:endParaRPr lang="en-IN"/>
                    </a:p>
                  </a:txBody>
                  <a:tcPr/>
                </a:tc>
                <a:extLst>
                  <a:ext uri="{0D108BD9-81ED-4DB2-BD59-A6C34878D82A}">
                    <a16:rowId xmlns:a16="http://schemas.microsoft.com/office/drawing/2014/main" val="10002"/>
                  </a:ext>
                </a:extLst>
              </a:tr>
              <a:tr h="457200">
                <a:tc rowSpan="2">
                  <a:txBody>
                    <a:bodyPr/>
                    <a:lstStyle/>
                    <a:p>
                      <a:pPr marL="0" marR="0" lvl="0" indent="0" algn="r" rtl="0">
                        <a:lnSpc>
                          <a:spcPct val="100000"/>
                        </a:lnSpc>
                        <a:spcBef>
                          <a:spcPts val="0"/>
                        </a:spcBef>
                        <a:spcAft>
                          <a:spcPts val="0"/>
                        </a:spcAft>
                        <a:buClr>
                          <a:srgbClr val="071D49"/>
                        </a:buClr>
                        <a:buSzPts val="1200"/>
                        <a:buFont typeface="Calibri"/>
                        <a:buNone/>
                      </a:pPr>
                      <a:r>
                        <a:rPr lang="en-US" sz="1200" b="1" i="0" u="none" strike="noStrike" cap="none">
                          <a:solidFill>
                            <a:srgbClr val="071D49"/>
                          </a:solidFill>
                          <a:latin typeface="+mn-lt"/>
                          <a:ea typeface="Calibri"/>
                          <a:cs typeface="Calibri"/>
                          <a:sym typeface="Calibri"/>
                        </a:rPr>
                        <a:t>Total # of Respondents </a:t>
                      </a:r>
                      <a:br>
                        <a:rPr lang="en-US" sz="1200" b="1" i="0" u="none" strike="noStrike" cap="none">
                          <a:solidFill>
                            <a:srgbClr val="071D49"/>
                          </a:solidFill>
                          <a:latin typeface="+mn-lt"/>
                          <a:ea typeface="Calibri"/>
                          <a:cs typeface="Calibri"/>
                          <a:sym typeface="Calibri"/>
                        </a:rPr>
                      </a:br>
                      <a:r>
                        <a:rPr lang="en-US" sz="1200" b="1" i="0" u="none" strike="noStrike" cap="none">
                          <a:solidFill>
                            <a:srgbClr val="071D49"/>
                          </a:solidFill>
                          <a:latin typeface="+mn-lt"/>
                          <a:ea typeface="Calibri"/>
                          <a:cs typeface="Calibri"/>
                          <a:sym typeface="Calibri"/>
                        </a:rPr>
                        <a:t>(Jan’25 – Mar’25)</a:t>
                      </a:r>
                      <a:endParaRPr lang="en-US" sz="1300">
                        <a:latin typeface="+mn-lt"/>
                      </a:endParaRPr>
                    </a:p>
                  </a:txBody>
                  <a:tcPr marL="45720" marR="45720"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rtl="0">
                        <a:lnSpc>
                          <a:spcPct val="100000"/>
                        </a:lnSpc>
                        <a:spcBef>
                          <a:spcPts val="0"/>
                        </a:spcBef>
                        <a:spcAft>
                          <a:spcPts val="0"/>
                        </a:spcAft>
                        <a:buClr>
                          <a:srgbClr val="071D49"/>
                        </a:buClr>
                        <a:buSzPts val="1200"/>
                        <a:buFont typeface="Calibri"/>
                        <a:buNone/>
                      </a:pPr>
                      <a:r>
                        <a:rPr lang="en-IN" sz="1200" b="1" i="0" u="none" strike="noStrike" kern="1200" cap="none">
                          <a:solidFill>
                            <a:srgbClr val="071D49"/>
                          </a:solidFill>
                          <a:latin typeface="+mn-lt"/>
                          <a:ea typeface="Calibri"/>
                          <a:cs typeface="Calibri"/>
                        </a:rPr>
                        <a:t>IR</a:t>
                      </a:r>
                    </a:p>
                  </a:txBody>
                  <a:tcPr marL="45720" marR="45720" anchor="ctr">
                    <a:lnL w="9525" cap="flat" cmpd="sng">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228600" marR="0" lvl="0" indent="-228600" algn="l" rtl="0">
                        <a:lnSpc>
                          <a:spcPct val="100000"/>
                        </a:lnSpc>
                        <a:spcBef>
                          <a:spcPts val="0"/>
                        </a:spcBef>
                        <a:spcAft>
                          <a:spcPts val="0"/>
                        </a:spcAft>
                        <a:buClr>
                          <a:srgbClr val="071D49"/>
                        </a:buClr>
                        <a:buSzPts val="1200"/>
                        <a:buFont typeface="Calibri"/>
                        <a:buAutoNum type="arabicPeriod"/>
                      </a:pPr>
                      <a:r>
                        <a:rPr lang="en-IN" sz="1200" b="0" i="0" u="none" strike="noStrike" kern="1200" cap="none">
                          <a:solidFill>
                            <a:srgbClr val="071D49"/>
                          </a:solidFill>
                          <a:latin typeface="+mn-lt"/>
                          <a:ea typeface="Calibri"/>
                          <a:cs typeface="Calibri"/>
                        </a:rPr>
                        <a:t>Activity Screener: 288 Unique completes (121 Gastros, 64 PCPs, &amp; 103 NP/PAs)</a:t>
                      </a:r>
                    </a:p>
                    <a:p>
                      <a:pPr marL="228600" marR="0" lvl="0" indent="-228600" algn="l" rtl="0">
                        <a:lnSpc>
                          <a:spcPct val="100000"/>
                        </a:lnSpc>
                        <a:spcBef>
                          <a:spcPts val="0"/>
                        </a:spcBef>
                        <a:spcAft>
                          <a:spcPts val="0"/>
                        </a:spcAft>
                        <a:buClr>
                          <a:srgbClr val="071D49"/>
                        </a:buClr>
                        <a:buSzPts val="1200"/>
                        <a:buFont typeface="Calibri"/>
                        <a:buAutoNum type="arabicPeriod"/>
                      </a:pPr>
                      <a:r>
                        <a:rPr lang="en-IN" sz="1200" b="0" i="0" u="none" strike="noStrike" kern="1200" cap="none">
                          <a:solidFill>
                            <a:srgbClr val="071D49"/>
                          </a:solidFill>
                          <a:latin typeface="+mn-lt"/>
                          <a:ea typeface="Calibri"/>
                          <a:cs typeface="Calibri"/>
                        </a:rPr>
                        <a:t>Interaction Module: 210 interactions (108 for CREON and 102 for ZENPEP)</a:t>
                      </a: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274320">
                <a:tc vMerge="1">
                  <a:txBody>
                    <a:bodyPr/>
                    <a:lstStyle/>
                    <a:p>
                      <a:endParaRPr lang="en-IN"/>
                    </a:p>
                  </a:txBody>
                  <a:tcPr/>
                </a:tc>
                <a:tc>
                  <a:txBody>
                    <a:bodyPr/>
                    <a:lstStyle/>
                    <a:p>
                      <a:pPr marL="0" marR="0" lvl="0" indent="0" algn="ctr" defTabSz="685800" rtl="0" eaLnBrk="1" fontAlgn="auto" latinLnBrk="0" hangingPunct="1">
                        <a:lnSpc>
                          <a:spcPct val="100000"/>
                        </a:lnSpc>
                        <a:spcBef>
                          <a:spcPts val="0"/>
                        </a:spcBef>
                        <a:spcAft>
                          <a:spcPts val="0"/>
                        </a:spcAft>
                        <a:buClr>
                          <a:srgbClr val="071D49"/>
                        </a:buClr>
                        <a:buSzPts val="1200"/>
                        <a:buFont typeface="Calibri"/>
                        <a:buNone/>
                        <a:tabLst/>
                        <a:defRPr/>
                      </a:pPr>
                      <a:r>
                        <a:rPr lang="en-IN" sz="1200" b="1" i="0" u="none" strike="noStrike" kern="1200" cap="none">
                          <a:solidFill>
                            <a:srgbClr val="071D49"/>
                          </a:solidFill>
                          <a:latin typeface="+mn-lt"/>
                          <a:ea typeface="Calibri"/>
                          <a:cs typeface="Calibri"/>
                        </a:rPr>
                        <a:t>DR</a:t>
                      </a: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71D49"/>
                        </a:buClr>
                        <a:buSzPts val="1200"/>
                        <a:buFont typeface="Calibri"/>
                        <a:buNone/>
                      </a:pPr>
                      <a:r>
                        <a:rPr kumimoji="0" lang="fr-FR" sz="1200" b="0" i="0" u="none" strike="noStrike" kern="1200" cap="none" spc="0" normalizeH="0" baseline="0" noProof="0">
                          <a:ln>
                            <a:noFill/>
                          </a:ln>
                          <a:solidFill>
                            <a:srgbClr val="071D49"/>
                          </a:solidFill>
                          <a:effectLst/>
                          <a:uLnTx/>
                          <a:uFillTx/>
                          <a:latin typeface="+mn-lt"/>
                          <a:ea typeface="Calibri"/>
                          <a:cs typeface="Calibri"/>
                          <a:sym typeface="Calibri"/>
                        </a:rPr>
                        <a:t>Perception Module: 165 unique </a:t>
                      </a:r>
                      <a:r>
                        <a:rPr kumimoji="0" lang="fr-FR" sz="1200" b="0" i="0" u="none" strike="noStrike" kern="1200" cap="none" spc="0" normalizeH="0" baseline="0" noProof="0" err="1">
                          <a:ln>
                            <a:noFill/>
                          </a:ln>
                          <a:solidFill>
                            <a:srgbClr val="071D49"/>
                          </a:solidFill>
                          <a:effectLst/>
                          <a:uLnTx/>
                          <a:uFillTx/>
                          <a:latin typeface="+mn-lt"/>
                          <a:ea typeface="Calibri"/>
                          <a:cs typeface="Calibri"/>
                          <a:sym typeface="Calibri"/>
                        </a:rPr>
                        <a:t>HCPs</a:t>
                      </a:r>
                      <a:endParaRPr lang="fr-FR" sz="1200" b="0" i="0" u="none" strike="noStrike" kern="1200" cap="none">
                        <a:solidFill>
                          <a:srgbClr val="071D49"/>
                        </a:solidFill>
                        <a:latin typeface="+mn-lt"/>
                        <a:ea typeface="Calibri"/>
                        <a:cs typeface="Calibri"/>
                      </a:endParaRP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679186852"/>
                  </a:ext>
                </a:extLst>
              </a:tr>
              <a:tr h="1224000">
                <a:tc>
                  <a:txBody>
                    <a:bodyPr/>
                    <a:lstStyle/>
                    <a:p>
                      <a:pPr marL="0" marR="0" lvl="0" indent="0" algn="r" rtl="0">
                        <a:lnSpc>
                          <a:spcPct val="100000"/>
                        </a:lnSpc>
                        <a:spcBef>
                          <a:spcPts val="0"/>
                        </a:spcBef>
                        <a:spcAft>
                          <a:spcPts val="0"/>
                        </a:spcAft>
                        <a:buClr>
                          <a:srgbClr val="071D49"/>
                        </a:buClr>
                        <a:buSzPts val="1200"/>
                        <a:buFont typeface="Calibri"/>
                        <a:buNone/>
                      </a:pPr>
                      <a:r>
                        <a:rPr lang="en-US" sz="1200" b="1" i="0" u="none" strike="noStrike" kern="1200" cap="none">
                          <a:solidFill>
                            <a:srgbClr val="071D49"/>
                          </a:solidFill>
                          <a:latin typeface="+mn-lt"/>
                          <a:ea typeface="Calibri"/>
                          <a:cs typeface="Calibri"/>
                          <a:sym typeface="Calibri"/>
                        </a:rPr>
                        <a:t>Key Screening Criteria</a:t>
                      </a:r>
                      <a:endParaRPr lang="en-US" sz="1200" b="1" i="0" u="none" strike="noStrike" kern="1200" cap="none">
                        <a:solidFill>
                          <a:srgbClr val="071D49"/>
                        </a:solidFill>
                        <a:latin typeface="+mn-lt"/>
                        <a:ea typeface="Calibri"/>
                        <a:cs typeface="Calibri"/>
                      </a:endParaRPr>
                    </a:p>
                  </a:txBody>
                  <a:tcPr marL="45720" marR="45720" anchor="ctr">
                    <a:lnL w="9525" cap="flat" cmpd="sng">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gridSpan="2">
                  <a:txBody>
                    <a:bodyPr/>
                    <a:lstStyle/>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cap="none">
                          <a:solidFill>
                            <a:srgbClr val="071D49"/>
                          </a:solidFill>
                          <a:latin typeface="+mn-lt"/>
                          <a:ea typeface="Calibri"/>
                          <a:cs typeface="Calibri"/>
                          <a:sym typeface="Calibri"/>
                        </a:rPr>
                        <a:t>HCP must be Board-certified or Board-eligible</a:t>
                      </a:r>
                      <a:endParaRPr lang="en-US" sz="1300">
                        <a:latin typeface="+mn-lt"/>
                      </a:endParaRPr>
                    </a:p>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cap="none">
                          <a:solidFill>
                            <a:srgbClr val="071D49"/>
                          </a:solidFill>
                          <a:latin typeface="+mn-lt"/>
                          <a:ea typeface="Calibri"/>
                          <a:cs typeface="Calibri"/>
                          <a:sym typeface="Calibri"/>
                        </a:rPr>
                        <a:t>Primary practice not located in VT/MN/ME</a:t>
                      </a:r>
                      <a:endParaRPr lang="en-US" sz="1300">
                        <a:latin typeface="+mn-lt"/>
                      </a:endParaRPr>
                    </a:p>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cap="none">
                          <a:solidFill>
                            <a:srgbClr val="071D49"/>
                          </a:solidFill>
                          <a:latin typeface="+mn-lt"/>
                          <a:ea typeface="Calibri"/>
                          <a:cs typeface="Calibri"/>
                          <a:sym typeface="Calibri"/>
                        </a:rPr>
                        <a:t>Years of Practice - More than 2 years but less than 35 years</a:t>
                      </a:r>
                      <a:endParaRPr lang="en-US" sz="1300">
                        <a:latin typeface="+mn-lt"/>
                      </a:endParaRPr>
                    </a:p>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cap="none">
                          <a:solidFill>
                            <a:srgbClr val="071D49"/>
                          </a:solidFill>
                          <a:latin typeface="+mn-lt"/>
                          <a:ea typeface="Calibri"/>
                          <a:cs typeface="Calibri"/>
                          <a:sym typeface="Calibri"/>
                        </a:rPr>
                        <a:t>Not affiliated with or employed by a pharmaceutical company, a government regulatory agency</a:t>
                      </a:r>
                      <a:endParaRPr lang="en-US" sz="1300">
                        <a:latin typeface="+mn-lt"/>
                      </a:endParaRPr>
                    </a:p>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cap="none">
                          <a:solidFill>
                            <a:srgbClr val="071D49"/>
                          </a:solidFill>
                          <a:latin typeface="+mn-lt"/>
                          <a:ea typeface="Calibri"/>
                          <a:cs typeface="Calibri"/>
                          <a:sym typeface="Calibri"/>
                        </a:rPr>
                        <a:t>At least 12 unique adult patients and more than 1 patient diagnosed with EPI managed in a typical month</a:t>
                      </a:r>
                      <a:endParaRPr lang="en-US" sz="1300">
                        <a:latin typeface="+mn-lt"/>
                      </a:endParaRPr>
                    </a:p>
                  </a:txBody>
                  <a:tcPr marL="45720" marR="45720" anchor="ctr">
                    <a:lnL w="9525" cap="flat" cmpd="sng" algn="ctr">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hMerge="1">
                  <a:txBody>
                    <a:bodyPr/>
                    <a:lstStyle/>
                    <a:p>
                      <a:endParaRPr lang="en-IN"/>
                    </a:p>
                  </a:txBody>
                  <a:tcPr/>
                </a:tc>
                <a:extLst>
                  <a:ext uri="{0D108BD9-81ED-4DB2-BD59-A6C34878D82A}">
                    <a16:rowId xmlns:a16="http://schemas.microsoft.com/office/drawing/2014/main" val="10004"/>
                  </a:ext>
                </a:extLst>
              </a:tr>
              <a:tr h="274320">
                <a:tc>
                  <a:txBody>
                    <a:bodyPr/>
                    <a:lstStyle/>
                    <a:p>
                      <a:pPr marL="0" marR="0" lvl="0" indent="0" algn="r" defTabSz="685800" rtl="0" eaLnBrk="1" fontAlgn="auto" latinLnBrk="0" hangingPunct="1">
                        <a:lnSpc>
                          <a:spcPct val="100000"/>
                        </a:lnSpc>
                        <a:spcBef>
                          <a:spcPts val="0"/>
                        </a:spcBef>
                        <a:spcAft>
                          <a:spcPts val="0"/>
                        </a:spcAft>
                        <a:buClr>
                          <a:srgbClr val="071D49"/>
                        </a:buClr>
                        <a:buSzPts val="1200"/>
                        <a:buFont typeface="Calibri"/>
                        <a:buNone/>
                        <a:tabLst/>
                        <a:defRPr/>
                      </a:pPr>
                      <a:r>
                        <a:rPr lang="en-US" sz="1200" b="1" i="0" u="none" strike="noStrike" kern="1200" cap="none" noProof="0">
                          <a:solidFill>
                            <a:srgbClr val="071D49"/>
                          </a:solidFill>
                          <a:latin typeface="+mn-lt"/>
                          <a:ea typeface="Calibri"/>
                          <a:cs typeface="Calibri"/>
                        </a:rPr>
                        <a:t>R3M timeline </a:t>
                      </a:r>
                    </a:p>
                  </a:txBody>
                  <a:tcPr marL="45720" marR="45720" anchor="ctr">
                    <a:lnL w="9525" cap="flat" cmpd="sng">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gridSpan="2">
                  <a:txBody>
                    <a:bodyPr/>
                    <a:lstStyle/>
                    <a:p>
                      <a:pPr marL="171450" marR="0" lvl="0" indent="-171450" algn="l" rtl="0">
                        <a:lnSpc>
                          <a:spcPct val="100000"/>
                        </a:lnSpc>
                        <a:spcBef>
                          <a:spcPts val="0"/>
                        </a:spcBef>
                        <a:spcAft>
                          <a:spcPts val="0"/>
                        </a:spcAft>
                        <a:buClr>
                          <a:srgbClr val="071D49"/>
                        </a:buClr>
                        <a:buSzPts val="1200"/>
                        <a:buFont typeface="Arial"/>
                        <a:buChar char="•"/>
                      </a:pPr>
                      <a:r>
                        <a:rPr lang="en-US" sz="1200" b="0" i="0" u="none" strike="noStrike" kern="1200" cap="none">
                          <a:solidFill>
                            <a:srgbClr val="071D49"/>
                          </a:solidFill>
                          <a:latin typeface="+mn-lt"/>
                          <a:ea typeface="Calibri"/>
                          <a:cs typeface="Calibri"/>
                        </a:rPr>
                        <a:t>Each monthly data point represents the aggregated values of the previous three months.</a:t>
                      </a:r>
                    </a:p>
                  </a:txBody>
                  <a:tcPr marL="45720" marR="45720" anchor="ctr">
                    <a:lnL w="9525" cap="flat" cmpd="sng" algn="ctr">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3514403190"/>
                  </a:ext>
                </a:extLst>
              </a:tr>
              <a:tr h="288000">
                <a:tc rowSpan="2">
                  <a:txBody>
                    <a:bodyPr/>
                    <a:lstStyle/>
                    <a:p>
                      <a:pPr marL="0" marR="0" lvl="0" indent="0" algn="r" rtl="0">
                        <a:lnSpc>
                          <a:spcPct val="100000"/>
                        </a:lnSpc>
                        <a:spcBef>
                          <a:spcPts val="0"/>
                        </a:spcBef>
                        <a:spcAft>
                          <a:spcPts val="0"/>
                        </a:spcAft>
                        <a:buClr>
                          <a:srgbClr val="071D49"/>
                        </a:buClr>
                        <a:buSzPts val="1200"/>
                        <a:buFont typeface="Calibri"/>
                        <a:buNone/>
                      </a:pPr>
                      <a:r>
                        <a:rPr lang="en-US" sz="1200" b="1" i="0" u="none" strike="noStrike" kern="1200" cap="none">
                          <a:solidFill>
                            <a:srgbClr val="071D49"/>
                          </a:solidFill>
                          <a:latin typeface="+mn-lt"/>
                          <a:ea typeface="Calibri"/>
                          <a:cs typeface="Calibri"/>
                          <a:sym typeface="Calibri"/>
                        </a:rPr>
                        <a:t>Survey/Interview Length</a:t>
                      </a:r>
                      <a:endParaRPr lang="en-US" sz="1200" b="1" i="0" u="none" strike="noStrike" kern="1200" cap="none">
                        <a:solidFill>
                          <a:srgbClr val="071D49"/>
                        </a:solidFill>
                        <a:latin typeface="+mn-lt"/>
                        <a:ea typeface="Calibri"/>
                        <a:cs typeface="Calibri"/>
                      </a:endParaRPr>
                    </a:p>
                  </a:txBody>
                  <a:tcPr marL="45720" marR="45720" anchor="ctr">
                    <a:lnL w="9525" cap="flat" cmpd="sng">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defTabSz="685800" rtl="0" eaLnBrk="1" latinLnBrk="0" hangingPunct="1">
                        <a:lnSpc>
                          <a:spcPct val="100000"/>
                        </a:lnSpc>
                        <a:spcBef>
                          <a:spcPts val="0"/>
                        </a:spcBef>
                        <a:spcAft>
                          <a:spcPts val="0"/>
                        </a:spcAft>
                        <a:buClr>
                          <a:srgbClr val="071D49"/>
                        </a:buClr>
                        <a:buSzPts val="1200"/>
                        <a:buFont typeface="Calibri"/>
                        <a:buNone/>
                      </a:pPr>
                      <a:r>
                        <a:rPr lang="en-IN" sz="1200" b="1" i="0" u="none" strike="noStrike" kern="1200" cap="none">
                          <a:solidFill>
                            <a:srgbClr val="071D49"/>
                          </a:solidFill>
                          <a:latin typeface="+mn-lt"/>
                          <a:ea typeface="Calibri"/>
                          <a:cs typeface="Calibri"/>
                        </a:rPr>
                        <a:t>IR</a:t>
                      </a: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r>
                        <a:rPr kumimoji="0" lang="en-US" sz="1200" b="0" i="0" u="none" strike="noStrike" kern="1200" cap="none" spc="0" normalizeH="0" baseline="0" noProof="0">
                          <a:ln>
                            <a:noFill/>
                          </a:ln>
                          <a:solidFill>
                            <a:srgbClr val="071D49"/>
                          </a:solidFill>
                          <a:effectLst/>
                          <a:uLnTx/>
                          <a:uFillTx/>
                          <a:latin typeface="+mn-lt"/>
                          <a:ea typeface="Calibri"/>
                          <a:cs typeface="Calibri"/>
                          <a:sym typeface="Calibri"/>
                        </a:rPr>
                        <a:t>Deep-dive Module: ~10 minutes</a:t>
                      </a:r>
                      <a:endParaRPr lang="en-IN" sz="1300">
                        <a:latin typeface="+mn-lt"/>
                      </a:endParaRPr>
                    </a:p>
                  </a:txBody>
                  <a:tcPr marL="45720" marR="45720" anchor="ctr">
                    <a:lnL w="9525" cap="flat" cmpd="sng" algn="ctr">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5"/>
                  </a:ext>
                </a:extLst>
              </a:tr>
              <a:tr h="288000">
                <a:tc vMerge="1">
                  <a:txBody>
                    <a:bodyPr/>
                    <a:lstStyle/>
                    <a:p>
                      <a:endParaRPr lang="en-IN"/>
                    </a:p>
                  </a:txBody>
                  <a:tcPr/>
                </a:tc>
                <a:tc>
                  <a:txBody>
                    <a:bodyPr/>
                    <a:lstStyle/>
                    <a:p>
                      <a:pPr marL="0" marR="0" lvl="0" indent="0" algn="ctr" defTabSz="685800" rtl="0" eaLnBrk="1" fontAlgn="auto" latinLnBrk="0" hangingPunct="1">
                        <a:lnSpc>
                          <a:spcPct val="100000"/>
                        </a:lnSpc>
                        <a:spcBef>
                          <a:spcPts val="0"/>
                        </a:spcBef>
                        <a:spcAft>
                          <a:spcPts val="0"/>
                        </a:spcAft>
                        <a:buClr>
                          <a:srgbClr val="071D49"/>
                        </a:buClr>
                        <a:buSzPts val="1200"/>
                        <a:buFont typeface="Calibri"/>
                        <a:buNone/>
                        <a:tabLst/>
                        <a:defRPr/>
                      </a:pPr>
                      <a:r>
                        <a:rPr lang="en-IN" sz="1200" b="1" i="0" u="none" strike="noStrike" kern="1200" cap="none">
                          <a:solidFill>
                            <a:srgbClr val="071D49"/>
                          </a:solidFill>
                          <a:latin typeface="+mn-lt"/>
                          <a:ea typeface="Calibri"/>
                          <a:cs typeface="Calibri"/>
                        </a:rPr>
                        <a:t>DR</a:t>
                      </a: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r>
                        <a:rPr kumimoji="0" lang="en-US" sz="1200" b="0" i="0" u="none" strike="noStrike" kern="1200" cap="none" spc="0" normalizeH="0" baseline="0" noProof="0">
                          <a:ln>
                            <a:noFill/>
                          </a:ln>
                          <a:solidFill>
                            <a:srgbClr val="071D49"/>
                          </a:solidFill>
                          <a:effectLst/>
                          <a:uLnTx/>
                          <a:uFillTx/>
                          <a:latin typeface="+mn-lt"/>
                          <a:ea typeface="Calibri"/>
                          <a:cs typeface="Calibri"/>
                          <a:sym typeface="Calibri"/>
                        </a:rPr>
                        <a:t>Perception &amp; Behavior Module: ~10 minutes</a:t>
                      </a:r>
                      <a:endParaRPr lang="en-IN" sz="1300">
                        <a:latin typeface="+mn-lt"/>
                      </a:endParaRPr>
                    </a:p>
                  </a:txBody>
                  <a:tcPr marL="45720" marR="45720"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3291797111"/>
                  </a:ext>
                </a:extLst>
              </a:tr>
            </a:tbl>
          </a:graphicData>
        </a:graphic>
      </p:graphicFrame>
      <p:sp>
        <p:nvSpPr>
          <p:cNvPr id="2" name="Title 1">
            <a:extLst>
              <a:ext uri="{FF2B5EF4-FFF2-40B4-BE49-F238E27FC236}">
                <a16:creationId xmlns:a16="http://schemas.microsoft.com/office/drawing/2014/main" id="{83ADA0CA-0DE0-1D3D-D714-A641395282F6}"/>
              </a:ext>
            </a:extLst>
          </p:cNvPr>
          <p:cNvSpPr>
            <a:spLocks noGrp="1"/>
          </p:cNvSpPr>
          <p:nvPr>
            <p:ph type="title"/>
          </p:nvPr>
        </p:nvSpPr>
        <p:spPr/>
        <p:txBody>
          <a:bodyPr/>
          <a:lstStyle/>
          <a:p>
            <a:r>
              <a:rPr lang="en-US"/>
              <a:t>Key Objectives and Study Design</a:t>
            </a:r>
            <a:br>
              <a:rPr lang="en-US"/>
            </a:br>
            <a:endParaRPr lang="en-IN"/>
          </a:p>
        </p:txBody>
      </p:sp>
      <p:sp>
        <p:nvSpPr>
          <p:cNvPr id="3" name="TextBox 2">
            <a:extLst>
              <a:ext uri="{FF2B5EF4-FFF2-40B4-BE49-F238E27FC236}">
                <a16:creationId xmlns:a16="http://schemas.microsoft.com/office/drawing/2014/main" id="{2E35E8D5-EFD7-D07C-BB71-0FD3E684D9A4}"/>
              </a:ext>
            </a:extLst>
          </p:cNvPr>
          <p:cNvSpPr txBox="1"/>
          <p:nvPr/>
        </p:nvSpPr>
        <p:spPr>
          <a:xfrm>
            <a:off x="330711" y="783485"/>
            <a:ext cx="7517500" cy="215444"/>
          </a:xfrm>
          <a:prstGeom prst="rect">
            <a:avLst/>
          </a:prstGeom>
          <a:noFill/>
        </p:spPr>
        <p:txBody>
          <a:bodyPr wrap="square">
            <a:spAutoFit/>
          </a:bodyPr>
          <a:lstStyle/>
          <a:p>
            <a:r>
              <a:rPr lang="en-US" sz="800" b="1">
                <a:solidFill>
                  <a:srgbClr val="2F2F26"/>
                </a:solidFill>
                <a:latin typeface="+mj-lt"/>
                <a:ea typeface="Calibri"/>
                <a:cs typeface="Calibri"/>
                <a:sym typeface="Calibri"/>
              </a:rPr>
              <a:t>Note: Throughout slides orange vertical line is used to indicate the start of the supply shortage for CREON</a:t>
            </a:r>
          </a:p>
        </p:txBody>
      </p:sp>
      <p:sp>
        <p:nvSpPr>
          <p:cNvPr id="4" name="TextBox 3">
            <a:extLst>
              <a:ext uri="{FF2B5EF4-FFF2-40B4-BE49-F238E27FC236}">
                <a16:creationId xmlns:a16="http://schemas.microsoft.com/office/drawing/2014/main" id="{F52D27C6-C79B-2B06-BDEA-EE5D184DD0F7}"/>
              </a:ext>
            </a:extLst>
          </p:cNvPr>
          <p:cNvSpPr txBox="1"/>
          <p:nvPr/>
        </p:nvSpPr>
        <p:spPr>
          <a:xfrm>
            <a:off x="304799" y="1287949"/>
            <a:ext cx="1080000" cy="307777"/>
          </a:xfrm>
          <a:prstGeom prst="rect">
            <a:avLst/>
          </a:prstGeom>
          <a:solidFill>
            <a:srgbClr val="071D49"/>
          </a:solidFill>
          <a:ln>
            <a:solidFill>
              <a:srgbClr val="071D49"/>
            </a:solidFill>
          </a:ln>
        </p:spPr>
        <p:txBody>
          <a:bodyPr wrap="square" rtlCol="0" anchor="ctr">
            <a:spAutoFit/>
          </a:bodyPr>
          <a:lstStyle/>
          <a:p>
            <a:pPr algn="ctr" defTabSz="685783">
              <a:buClrTx/>
              <a:defRPr/>
            </a:pPr>
            <a:r>
              <a:rPr lang="en-US" b="1" kern="1200">
                <a:solidFill>
                  <a:srgbClr val="FFFFFF"/>
                </a:solidFill>
                <a:latin typeface="+mj-lt"/>
                <a:ea typeface="Calibri"/>
                <a:cs typeface="Calibri"/>
              </a:rPr>
              <a:t>Objectives</a:t>
            </a:r>
            <a:endParaRPr lang="en-US" sz="1351" b="1" kern="1200">
              <a:solidFill>
                <a:srgbClr val="FFFFFF"/>
              </a:solidFill>
              <a:latin typeface="+mj-lt"/>
              <a:ea typeface="Calibri"/>
              <a:cs typeface="Calibri"/>
            </a:endParaRPr>
          </a:p>
        </p:txBody>
      </p:sp>
      <p:sp>
        <p:nvSpPr>
          <p:cNvPr id="5" name="TextBox 4">
            <a:extLst>
              <a:ext uri="{FF2B5EF4-FFF2-40B4-BE49-F238E27FC236}">
                <a16:creationId xmlns:a16="http://schemas.microsoft.com/office/drawing/2014/main" id="{89610913-4760-9032-AB77-37884F0A7973}"/>
              </a:ext>
            </a:extLst>
          </p:cNvPr>
          <p:cNvSpPr txBox="1"/>
          <p:nvPr/>
        </p:nvSpPr>
        <p:spPr>
          <a:xfrm>
            <a:off x="1421375" y="1027838"/>
            <a:ext cx="7235424" cy="828000"/>
          </a:xfrm>
          <a:prstGeom prst="rect">
            <a:avLst/>
          </a:prstGeom>
          <a:noFill/>
          <a:ln>
            <a:solidFill>
              <a:srgbClr val="071D49"/>
            </a:solidFill>
          </a:ln>
        </p:spPr>
        <p:txBody>
          <a:bodyPr wrap="square" rtlCol="0" anchor="ctr">
            <a:spAutoFit/>
          </a:bodyPr>
          <a:lstStyle/>
          <a:p>
            <a:pPr defTabSz="685783">
              <a:lnSpc>
                <a:spcPct val="150000"/>
              </a:lnSpc>
              <a:buClrTx/>
              <a:defRPr/>
            </a:pPr>
            <a:r>
              <a:rPr lang="en-US" sz="1100" b="1" kern="1200">
                <a:solidFill>
                  <a:srgbClr val="002060"/>
                </a:solidFill>
                <a:latin typeface="+mj-lt"/>
                <a:ea typeface="Calibri"/>
                <a:cs typeface="Calibri"/>
                <a:sym typeface="Calibri"/>
              </a:rPr>
              <a:t>1. UNDERSTAND </a:t>
            </a:r>
            <a:r>
              <a:rPr lang="en-US" sz="1100" kern="1200">
                <a:solidFill>
                  <a:srgbClr val="002060"/>
                </a:solidFill>
                <a:latin typeface="+mj-lt"/>
                <a:ea typeface="Calibri"/>
                <a:cs typeface="Calibri"/>
                <a:sym typeface="Calibri"/>
              </a:rPr>
              <a:t>CREON and competitor promotional activity in the EPI market</a:t>
            </a:r>
          </a:p>
          <a:p>
            <a:pPr defTabSz="685783">
              <a:lnSpc>
                <a:spcPct val="150000"/>
              </a:lnSpc>
              <a:buClrTx/>
              <a:defRPr/>
            </a:pPr>
            <a:r>
              <a:rPr lang="en-US" sz="1100" b="1" kern="1200">
                <a:solidFill>
                  <a:srgbClr val="002060"/>
                </a:solidFill>
                <a:latin typeface="+mj-lt"/>
                <a:ea typeface="Calibri"/>
                <a:cs typeface="Calibri"/>
                <a:sym typeface="Calibri"/>
              </a:rPr>
              <a:t>2. MEASURE </a:t>
            </a:r>
            <a:r>
              <a:rPr lang="en-US" sz="1100" kern="1200">
                <a:solidFill>
                  <a:srgbClr val="002060"/>
                </a:solidFill>
                <a:latin typeface="+mj-lt"/>
                <a:ea typeface="Calibri"/>
                <a:cs typeface="Calibri"/>
                <a:sym typeface="Calibri"/>
              </a:rPr>
              <a:t>effectiveness of CREON salesforce efforts vs. ZENPEP</a:t>
            </a:r>
          </a:p>
          <a:p>
            <a:pPr defTabSz="685783">
              <a:lnSpc>
                <a:spcPct val="150000"/>
              </a:lnSpc>
              <a:buClrTx/>
              <a:defRPr/>
            </a:pPr>
            <a:r>
              <a:rPr lang="en-US" sz="1100" b="1" kern="1200">
                <a:solidFill>
                  <a:srgbClr val="002060"/>
                </a:solidFill>
                <a:latin typeface="+mj-lt"/>
                <a:ea typeface="Calibri"/>
                <a:cs typeface="Calibri"/>
                <a:sym typeface="Calibri"/>
              </a:rPr>
              <a:t>3. PROVIDE </a:t>
            </a:r>
            <a:r>
              <a:rPr lang="en-US" sz="1100" kern="1200">
                <a:solidFill>
                  <a:srgbClr val="002060"/>
                </a:solidFill>
                <a:latin typeface="+mj-lt"/>
                <a:ea typeface="Calibri"/>
                <a:cs typeface="Calibri"/>
                <a:sym typeface="Calibri"/>
              </a:rPr>
              <a:t>actionable insights to inform AbbVie’s promotional strategy for CREON</a:t>
            </a:r>
            <a:endParaRPr lang="en-US">
              <a:latin typeface="+mj-lt"/>
            </a:endParaRPr>
          </a:p>
        </p:txBody>
      </p:sp>
    </p:spTree>
    <p:extLst>
      <p:ext uri="{BB962C8B-B14F-4D97-AF65-F5344CB8AC3E}">
        <p14:creationId xmlns:p14="http://schemas.microsoft.com/office/powerpoint/2010/main" val="16710642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202"/>
        <p:cNvGrpSpPr/>
        <p:nvPr/>
      </p:nvGrpSpPr>
      <p:grpSpPr>
        <a:xfrm>
          <a:off x="0" y="0"/>
          <a:ext cx="0" cy="0"/>
          <a:chOff x="0" y="0"/>
          <a:chExt cx="0" cy="0"/>
        </a:xfrm>
      </p:grpSpPr>
      <p:graphicFrame>
        <p:nvGraphicFramePr>
          <p:cNvPr id="18" name="Table 17">
            <a:extLst>
              <a:ext uri="{FF2B5EF4-FFF2-40B4-BE49-F238E27FC236}">
                <a16:creationId xmlns:a16="http://schemas.microsoft.com/office/drawing/2014/main" id="{E7BF91D1-C922-BEA0-B625-35999559D6A0}"/>
              </a:ext>
            </a:extLst>
          </p:cNvPr>
          <p:cNvGraphicFramePr>
            <a:graphicFrameLocks noGrp="1"/>
          </p:cNvGraphicFramePr>
          <p:nvPr>
            <p:custDataLst>
              <p:tags r:id="rId1"/>
            </p:custDataLst>
            <p:extLst>
              <p:ext uri="{D42A27DB-BD31-4B8C-83A1-F6EECF244321}">
                <p14:modId xmlns:p14="http://schemas.microsoft.com/office/powerpoint/2010/main" val="3317297573"/>
              </p:ext>
            </p:extLst>
          </p:nvPr>
        </p:nvGraphicFramePr>
        <p:xfrm>
          <a:off x="2712159" y="1795170"/>
          <a:ext cx="3262545" cy="518160"/>
        </p:xfrm>
        <a:graphic>
          <a:graphicData uri="http://schemas.openxmlformats.org/drawingml/2006/table">
            <a:tbl>
              <a:tblPr firstRow="1" bandRow="1">
                <a:tableStyleId>{96BACEE3-1A1D-4107-9369-2142449FF59F}</a:tableStyleId>
              </a:tblPr>
              <a:tblGrid>
                <a:gridCol w="1087515">
                  <a:extLst>
                    <a:ext uri="{9D8B030D-6E8A-4147-A177-3AD203B41FA5}">
                      <a16:colId xmlns:a16="http://schemas.microsoft.com/office/drawing/2014/main" val="1728215594"/>
                    </a:ext>
                  </a:extLst>
                </a:gridCol>
                <a:gridCol w="1087515">
                  <a:extLst>
                    <a:ext uri="{9D8B030D-6E8A-4147-A177-3AD203B41FA5}">
                      <a16:colId xmlns:a16="http://schemas.microsoft.com/office/drawing/2014/main" val="3737529889"/>
                    </a:ext>
                  </a:extLst>
                </a:gridCol>
                <a:gridCol w="1087515">
                  <a:extLst>
                    <a:ext uri="{9D8B030D-6E8A-4147-A177-3AD203B41FA5}">
                      <a16:colId xmlns:a16="http://schemas.microsoft.com/office/drawing/2014/main" val="2940850611"/>
                    </a:ext>
                  </a:extLst>
                </a:gridCol>
              </a:tblGrid>
              <a:tr h="254000">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extLst>
                  <a:ext uri="{0D108BD9-81ED-4DB2-BD59-A6C34878D82A}">
                    <a16:rowId xmlns:a16="http://schemas.microsoft.com/office/drawing/2014/main" val="2628690959"/>
                  </a:ext>
                </a:extLst>
              </a:tr>
              <a:tr h="254000">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tc>
                  <a:txBody>
                    <a:bodyPr/>
                    <a:lstStyle/>
                    <a:p>
                      <a:endParaRPr lang="en-US" sz="1100"/>
                    </a:p>
                  </a:txBody>
                  <a:tcPr>
                    <a:lnL w="19050" cap="flat" cmpd="sng" algn="ctr">
                      <a:solidFill>
                        <a:schemeClr val="bg1">
                          <a:lumMod val="50000"/>
                        </a:schemeClr>
                      </a:solidFill>
                      <a:prstDash val="sysDash"/>
                      <a:round/>
                      <a:headEnd type="none" w="med" len="med"/>
                      <a:tailEnd type="none" w="med" len="med"/>
                    </a:lnL>
                    <a:lnR w="19050" cap="flat" cmpd="sng" algn="ctr">
                      <a:solidFill>
                        <a:schemeClr val="bg1">
                          <a:lumMod val="50000"/>
                        </a:schemeClr>
                      </a:solidFill>
                      <a:prstDash val="sysDash"/>
                      <a:round/>
                      <a:headEnd type="none" w="med" len="med"/>
                      <a:tailEnd type="none" w="med" len="med"/>
                    </a:lnR>
                    <a:lnT w="19050" cap="flat" cmpd="sng" algn="ctr">
                      <a:solidFill>
                        <a:schemeClr val="bg1">
                          <a:lumMod val="50000"/>
                        </a:schemeClr>
                      </a:solidFill>
                      <a:prstDash val="sysDash"/>
                      <a:round/>
                      <a:headEnd type="none" w="med" len="med"/>
                      <a:tailEnd type="none" w="med" len="med"/>
                    </a:lnT>
                    <a:lnB w="19050" cap="flat" cmpd="sng" algn="ctr">
                      <a:solidFill>
                        <a:schemeClr val="bg1">
                          <a:lumMod val="50000"/>
                        </a:schemeClr>
                      </a:solidFill>
                      <a:prstDash val="sysDash"/>
                      <a:round/>
                      <a:headEnd type="none" w="med" len="med"/>
                      <a:tailEnd type="none" w="med" len="med"/>
                    </a:lnB>
                  </a:tcPr>
                </a:tc>
                <a:extLst>
                  <a:ext uri="{0D108BD9-81ED-4DB2-BD59-A6C34878D82A}">
                    <a16:rowId xmlns:a16="http://schemas.microsoft.com/office/drawing/2014/main" val="1608239099"/>
                  </a:ext>
                </a:extLst>
              </a:tr>
            </a:tbl>
          </a:graphicData>
        </a:graphic>
      </p:graphicFrame>
      <p:graphicFrame>
        <p:nvGraphicFramePr>
          <p:cNvPr id="88" name="PS">
            <a:extLst>
              <a:ext uri="{FF2B5EF4-FFF2-40B4-BE49-F238E27FC236}">
                <a16:creationId xmlns:a16="http://schemas.microsoft.com/office/drawing/2014/main" id="{65C7BF37-CFB2-0CB7-954F-FEB9C365DAA6}"/>
              </a:ext>
            </a:extLst>
          </p:cNvPr>
          <p:cNvGraphicFramePr/>
          <p:nvPr>
            <p:custDataLst>
              <p:tags r:id="rId2"/>
            </p:custDataLst>
            <p:extLst>
              <p:ext uri="{D42A27DB-BD31-4B8C-83A1-F6EECF244321}">
                <p14:modId xmlns:p14="http://schemas.microsoft.com/office/powerpoint/2010/main" val="289170912"/>
              </p:ext>
            </p:extLst>
          </p:nvPr>
        </p:nvGraphicFramePr>
        <p:xfrm>
          <a:off x="6064351" y="1742660"/>
          <a:ext cx="1692000" cy="3924391"/>
        </p:xfrm>
        <a:graphic>
          <a:graphicData uri="http://schemas.openxmlformats.org/drawingml/2006/chart">
            <c:chart xmlns:c="http://schemas.openxmlformats.org/drawingml/2006/chart" xmlns:r="http://schemas.openxmlformats.org/officeDocument/2006/relationships" r:id="rId6"/>
          </a:graphicData>
        </a:graphic>
      </p:graphicFrame>
      <p:sp>
        <p:nvSpPr>
          <p:cNvPr id="2203" name="Google Shape;2203;p59"/>
          <p:cNvSpPr txBox="1"/>
          <p:nvPr/>
        </p:nvSpPr>
        <p:spPr>
          <a:xfrm>
            <a:off x="412751" y="73516"/>
            <a:ext cx="8156448" cy="859536"/>
          </a:xfrm>
          <a:prstGeom prst="rect">
            <a:avLst/>
          </a:prstGeom>
          <a:noFill/>
          <a:ln>
            <a:noFill/>
          </a:ln>
        </p:spPr>
        <p:txBody>
          <a:bodyPr spcFirstLastPara="1" wrap="square" lIns="91425" tIns="45700" rIns="91425" bIns="45700" anchor="ctr" anchorCtr="0">
            <a:noAutofit/>
          </a:bodyPr>
          <a:lstStyle/>
          <a:p>
            <a:pPr>
              <a:lnSpc>
                <a:spcPct val="90000"/>
              </a:lnSpc>
              <a:defRPr/>
            </a:pPr>
            <a:r>
              <a:rPr lang="en-US" sz="1951" b="1">
                <a:solidFill>
                  <a:srgbClr val="071D49"/>
                </a:solidFill>
                <a:latin typeface="+mn-lt"/>
                <a:ea typeface="Calibri"/>
                <a:cs typeface="Calibri"/>
                <a:sym typeface="Calibri"/>
              </a:rPr>
              <a:t>Respondent Demographics</a:t>
            </a:r>
            <a:endParaRPr lang="en-US" sz="1951" b="1">
              <a:latin typeface="+mn-lt"/>
            </a:endParaRPr>
          </a:p>
        </p:txBody>
      </p:sp>
      <p:sp>
        <p:nvSpPr>
          <p:cNvPr id="2206" name="Google Shape;2206;p59"/>
          <p:cNvSpPr/>
          <p:nvPr/>
        </p:nvSpPr>
        <p:spPr>
          <a:xfrm>
            <a:off x="592557" y="752464"/>
            <a:ext cx="7952437" cy="474448"/>
          </a:xfrm>
          <a:prstGeom prst="rect">
            <a:avLst/>
          </a:prstGeom>
          <a:noFill/>
          <a:ln>
            <a:noFill/>
          </a:ln>
        </p:spPr>
        <p:txBody>
          <a:bodyPr spcFirstLastPara="1" wrap="square" lIns="91425" tIns="45700" rIns="91425" bIns="45700" anchor="t" anchorCtr="0">
            <a:spAutoFit/>
          </a:bodyPr>
          <a:lstStyle/>
          <a:p>
            <a:pPr algn="ctr">
              <a:buClr>
                <a:srgbClr val="071D49"/>
              </a:buClr>
              <a:buSzPts val="1400"/>
              <a:defRPr/>
            </a:pPr>
            <a:r>
              <a:rPr lang="pl-PL" b="1" u="sng">
                <a:solidFill>
                  <a:srgbClr val="071D49"/>
                </a:solidFill>
                <a:latin typeface="+mn-lt"/>
                <a:ea typeface="Calibri"/>
                <a:cs typeface="Calibri"/>
                <a:sym typeface="Calibri"/>
              </a:rPr>
              <a:t>Respondent Profile</a:t>
            </a:r>
            <a:endParaRPr lang="pl-PL">
              <a:latin typeface="+mn-lt"/>
            </a:endParaRPr>
          </a:p>
          <a:p>
            <a:pPr algn="ctr">
              <a:spcBef>
                <a:spcPts val="91"/>
              </a:spcBef>
              <a:buClr>
                <a:srgbClr val="071D49"/>
              </a:buClr>
              <a:buSzPts val="900"/>
              <a:defRPr/>
            </a:pPr>
            <a:r>
              <a:rPr lang="pl-PL" sz="1000" u="sng">
                <a:solidFill>
                  <a:srgbClr val="071D49"/>
                </a:solidFill>
                <a:latin typeface="+mn-lt"/>
                <a:ea typeface="Calibri"/>
                <a:cs typeface="Calibri"/>
                <a:sym typeface="Calibri"/>
              </a:rPr>
              <a:t>(</a:t>
            </a:r>
            <a:r>
              <a:rPr lang="en-IN" sz="1000" u="sng">
                <a:solidFill>
                  <a:srgbClr val="071D49"/>
                </a:solidFill>
                <a:latin typeface="+mn-lt"/>
                <a:ea typeface="Calibri"/>
                <a:cs typeface="Calibri"/>
                <a:sym typeface="Calibri"/>
              </a:rPr>
              <a:t>Mar’26 vs. </a:t>
            </a:r>
            <a:r>
              <a:rPr lang="en-US" sz="1000" b="1" u="sng">
                <a:solidFill>
                  <a:srgbClr val="FFFFFF">
                    <a:lumMod val="50000"/>
                  </a:srgbClr>
                </a:solidFill>
                <a:latin typeface="+mn-lt"/>
                <a:ea typeface="Calibri"/>
                <a:cs typeface="Calibri"/>
                <a:sym typeface="Calibri"/>
              </a:rPr>
              <a:t>Feb’26 </a:t>
            </a:r>
            <a:r>
              <a:rPr lang="pl-PL" sz="1000" u="sng">
                <a:solidFill>
                  <a:srgbClr val="071D49"/>
                </a:solidFill>
                <a:latin typeface="+mn-lt"/>
                <a:ea typeface="Calibri"/>
                <a:cs typeface="Calibri"/>
                <a:sym typeface="Calibri"/>
              </a:rPr>
              <a:t>)</a:t>
            </a:r>
            <a:endParaRPr lang="pl-PL" sz="1000" u="sng" baseline="30000">
              <a:solidFill>
                <a:srgbClr val="071D49"/>
              </a:solidFill>
              <a:latin typeface="+mn-lt"/>
              <a:ea typeface="Calibri"/>
              <a:cs typeface="Calibri"/>
              <a:sym typeface="Calibri"/>
            </a:endParaRPr>
          </a:p>
        </p:txBody>
      </p:sp>
      <p:cxnSp>
        <p:nvCxnSpPr>
          <p:cNvPr id="2237" name="Google Shape;2237;p59"/>
          <p:cNvCxnSpPr/>
          <p:nvPr/>
        </p:nvCxnSpPr>
        <p:spPr>
          <a:xfrm>
            <a:off x="6118135" y="1373934"/>
            <a:ext cx="0" cy="4572000"/>
          </a:xfrm>
          <a:prstGeom prst="straightConnector1">
            <a:avLst/>
          </a:prstGeom>
          <a:solidFill>
            <a:schemeClr val="accent1"/>
          </a:solidFill>
          <a:ln w="9525" cap="flat" cmpd="sng">
            <a:solidFill>
              <a:srgbClr val="A5A5A5"/>
            </a:solidFill>
            <a:prstDash val="dash"/>
            <a:round/>
            <a:headEnd type="none" w="sm" len="sm"/>
            <a:tailEnd type="none" w="sm" len="sm"/>
          </a:ln>
        </p:spPr>
      </p:cxnSp>
      <p:graphicFrame>
        <p:nvGraphicFramePr>
          <p:cNvPr id="2272" name="PMS"/>
          <p:cNvGraphicFramePr/>
          <p:nvPr>
            <p:custDataLst>
              <p:tags r:id="rId3"/>
            </p:custDataLst>
            <p:extLst>
              <p:ext uri="{D42A27DB-BD31-4B8C-83A1-F6EECF244321}">
                <p14:modId xmlns:p14="http://schemas.microsoft.com/office/powerpoint/2010/main" val="1672172984"/>
              </p:ext>
            </p:extLst>
          </p:nvPr>
        </p:nvGraphicFramePr>
        <p:xfrm>
          <a:off x="3214670" y="3405202"/>
          <a:ext cx="2835728" cy="996002"/>
        </p:xfrm>
        <a:graphic>
          <a:graphicData uri="http://schemas.openxmlformats.org/drawingml/2006/chart">
            <c:chart xmlns:c="http://schemas.openxmlformats.org/drawingml/2006/chart" xmlns:r="http://schemas.openxmlformats.org/officeDocument/2006/relationships" r:id="rId7"/>
          </a:graphicData>
        </a:graphic>
      </p:graphicFrame>
      <p:grpSp>
        <p:nvGrpSpPr>
          <p:cNvPr id="2274" name="Google Shape;2274;p59"/>
          <p:cNvGrpSpPr/>
          <p:nvPr/>
        </p:nvGrpSpPr>
        <p:grpSpPr>
          <a:xfrm>
            <a:off x="2634132" y="4859874"/>
            <a:ext cx="3250391" cy="604837"/>
            <a:chOff x="2817034" y="4319588"/>
            <a:chExt cx="3250391" cy="604837"/>
          </a:xfrm>
        </p:grpSpPr>
        <p:sp>
          <p:nvSpPr>
            <p:cNvPr id="2275" name="Google Shape;2275;p59"/>
            <p:cNvSpPr/>
            <p:nvPr/>
          </p:nvSpPr>
          <p:spPr>
            <a:xfrm>
              <a:off x="3435931" y="4469575"/>
              <a:ext cx="2631494" cy="454850"/>
            </a:xfrm>
            <a:prstGeom prst="rect">
              <a:avLst/>
            </a:prstGeom>
            <a:solidFill>
              <a:schemeClr val="lt1">
                <a:alpha val="0"/>
              </a:schemeClr>
            </a:solidFill>
            <a:ln w="12700" cap="flat" cmpd="sng">
              <a:solidFill>
                <a:srgbClr val="071D49"/>
              </a:solidFill>
              <a:prstDash val="dash"/>
              <a:round/>
              <a:headEnd type="none" w="sm" len="sm"/>
              <a:tailEnd type="none" w="sm" len="sm"/>
            </a:ln>
          </p:spPr>
          <p:txBody>
            <a:bodyPr spcFirstLastPara="1" wrap="square" lIns="91425" tIns="45700" rIns="91425" bIns="45700" anchor="ctr" anchorCtr="0">
              <a:noAutofit/>
            </a:bodyPr>
            <a:lstStyle/>
            <a:p>
              <a:pPr algn="ctr">
                <a:defRPr/>
              </a:pPr>
              <a:endParaRPr sz="900">
                <a:solidFill>
                  <a:srgbClr val="070605"/>
                </a:solidFill>
                <a:latin typeface="+mn-lt"/>
                <a:ea typeface="Calibri"/>
                <a:cs typeface="Calibri"/>
                <a:sym typeface="Calibri"/>
              </a:endParaRPr>
            </a:p>
          </p:txBody>
        </p:sp>
        <p:grpSp>
          <p:nvGrpSpPr>
            <p:cNvPr id="2276" name="Google Shape;2276;p59"/>
            <p:cNvGrpSpPr/>
            <p:nvPr/>
          </p:nvGrpSpPr>
          <p:grpSpPr>
            <a:xfrm>
              <a:off x="2817034" y="4640650"/>
              <a:ext cx="550055" cy="153888"/>
              <a:chOff x="10265269" y="3907543"/>
              <a:chExt cx="733407" cy="205184"/>
            </a:xfrm>
          </p:grpSpPr>
          <p:sp>
            <p:nvSpPr>
              <p:cNvPr id="2277" name="Google Shape;2277;p59"/>
              <p:cNvSpPr/>
              <p:nvPr/>
            </p:nvSpPr>
            <p:spPr>
              <a:xfrm>
                <a:off x="10265269" y="3982789"/>
                <a:ext cx="91440" cy="91440"/>
              </a:xfrm>
              <a:prstGeom prst="rect">
                <a:avLst/>
              </a:prstGeom>
              <a:solidFill>
                <a:srgbClr val="2E554F"/>
              </a:solidFill>
              <a:ln>
                <a:noFill/>
              </a:ln>
            </p:spPr>
            <p:txBody>
              <a:bodyPr spcFirstLastPara="1" wrap="square" lIns="91425" tIns="45700" rIns="91425" bIns="45700" anchor="ctr" anchorCtr="0">
                <a:noAutofit/>
              </a:bodyPr>
              <a:lstStyle/>
              <a:p>
                <a:pPr algn="ctr">
                  <a:defRPr/>
                </a:pPr>
                <a:endParaRPr sz="1000">
                  <a:solidFill>
                    <a:srgbClr val="070605"/>
                  </a:solidFill>
                  <a:latin typeface="+mn-lt"/>
                  <a:ea typeface="Calibri"/>
                  <a:cs typeface="Calibri"/>
                  <a:sym typeface="Calibri"/>
                </a:endParaRPr>
              </a:p>
            </p:txBody>
          </p:sp>
          <p:sp>
            <p:nvSpPr>
              <p:cNvPr id="2278" name="Google Shape;2278;p59"/>
              <p:cNvSpPr txBox="1"/>
              <p:nvPr/>
            </p:nvSpPr>
            <p:spPr>
              <a:xfrm>
                <a:off x="10437984" y="3907543"/>
                <a:ext cx="560692" cy="205184"/>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b="1">
                    <a:solidFill>
                      <a:srgbClr val="070605"/>
                    </a:solidFill>
                    <a:latin typeface="+mn-lt"/>
                    <a:ea typeface="Calibri"/>
                    <a:cs typeface="Calibri"/>
                    <a:sym typeface="Calibri"/>
                  </a:rPr>
                  <a:t>Gastro</a:t>
                </a:r>
                <a:endParaRPr>
                  <a:latin typeface="+mn-lt"/>
                </a:endParaRPr>
              </a:p>
            </p:txBody>
          </p:sp>
        </p:grpSp>
        <p:grpSp>
          <p:nvGrpSpPr>
            <p:cNvPr id="2279" name="Google Shape;2279;p59"/>
            <p:cNvGrpSpPr/>
            <p:nvPr/>
          </p:nvGrpSpPr>
          <p:grpSpPr>
            <a:xfrm>
              <a:off x="3548805" y="4563727"/>
              <a:ext cx="704562" cy="307777"/>
              <a:chOff x="10329277" y="4136431"/>
              <a:chExt cx="939416" cy="410366"/>
            </a:xfrm>
          </p:grpSpPr>
          <p:sp>
            <p:nvSpPr>
              <p:cNvPr id="2280" name="Google Shape;2280;p59"/>
              <p:cNvSpPr txBox="1"/>
              <p:nvPr/>
            </p:nvSpPr>
            <p:spPr>
              <a:xfrm>
                <a:off x="10501994" y="4136431"/>
                <a:ext cx="766699" cy="410366"/>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Internal Medicine</a:t>
                </a:r>
                <a:endParaRPr>
                  <a:latin typeface="+mn-lt"/>
                </a:endParaRPr>
              </a:p>
            </p:txBody>
          </p:sp>
          <p:sp>
            <p:nvSpPr>
              <p:cNvPr id="2281" name="Google Shape;2281;p59"/>
              <p:cNvSpPr/>
              <p:nvPr/>
            </p:nvSpPr>
            <p:spPr>
              <a:xfrm>
                <a:off x="10329277" y="4304250"/>
                <a:ext cx="91440" cy="91440"/>
              </a:xfrm>
              <a:prstGeom prst="rect">
                <a:avLst/>
              </a:prstGeom>
              <a:solidFill>
                <a:srgbClr val="468177"/>
              </a:solidFill>
              <a:ln>
                <a:noFill/>
              </a:ln>
            </p:spPr>
            <p:txBody>
              <a:bodyPr spcFirstLastPara="1" wrap="square" lIns="91425" tIns="45700" rIns="91425" bIns="45700" anchor="ctr" anchorCtr="0">
                <a:noAutofit/>
              </a:bodyPr>
              <a:lstStyle/>
              <a:p>
                <a:pPr algn="ctr">
                  <a:defRPr/>
                </a:pPr>
                <a:endParaRPr sz="1000">
                  <a:solidFill>
                    <a:srgbClr val="070605"/>
                  </a:solidFill>
                  <a:latin typeface="+mn-lt"/>
                  <a:ea typeface="Calibri"/>
                  <a:cs typeface="Calibri"/>
                  <a:sym typeface="Calibri"/>
                </a:endParaRPr>
              </a:p>
            </p:txBody>
          </p:sp>
        </p:grpSp>
        <p:grpSp>
          <p:nvGrpSpPr>
            <p:cNvPr id="2282" name="Google Shape;2282;p59"/>
            <p:cNvGrpSpPr/>
            <p:nvPr/>
          </p:nvGrpSpPr>
          <p:grpSpPr>
            <a:xfrm>
              <a:off x="4370828" y="4563726"/>
              <a:ext cx="740758" cy="307777"/>
              <a:chOff x="10265269" y="4507410"/>
              <a:chExt cx="987678" cy="410366"/>
            </a:xfrm>
          </p:grpSpPr>
          <p:sp>
            <p:nvSpPr>
              <p:cNvPr id="2283" name="Google Shape;2283;p59"/>
              <p:cNvSpPr txBox="1"/>
              <p:nvPr/>
            </p:nvSpPr>
            <p:spPr>
              <a:xfrm>
                <a:off x="10437984" y="4507410"/>
                <a:ext cx="814963" cy="410366"/>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Family Medicine</a:t>
                </a:r>
                <a:endParaRPr>
                  <a:latin typeface="+mn-lt"/>
                </a:endParaRPr>
              </a:p>
            </p:txBody>
          </p:sp>
          <p:sp>
            <p:nvSpPr>
              <p:cNvPr id="2284" name="Google Shape;2284;p59"/>
              <p:cNvSpPr/>
              <p:nvPr/>
            </p:nvSpPr>
            <p:spPr>
              <a:xfrm>
                <a:off x="10265269" y="4672399"/>
                <a:ext cx="91440" cy="91440"/>
              </a:xfrm>
              <a:prstGeom prst="rect">
                <a:avLst/>
              </a:prstGeom>
              <a:solidFill>
                <a:srgbClr val="BFDDD8"/>
              </a:solidFill>
              <a:ln>
                <a:noFill/>
              </a:ln>
            </p:spPr>
            <p:txBody>
              <a:bodyPr spcFirstLastPara="1" wrap="square" lIns="91425" tIns="45700" rIns="91425" bIns="45700" anchor="ctr" anchorCtr="0">
                <a:noAutofit/>
              </a:bodyPr>
              <a:lstStyle/>
              <a:p>
                <a:pPr algn="ctr">
                  <a:defRPr/>
                </a:pPr>
                <a:endParaRPr sz="1000">
                  <a:solidFill>
                    <a:srgbClr val="070605"/>
                  </a:solidFill>
                  <a:latin typeface="+mn-lt"/>
                  <a:ea typeface="Calibri"/>
                  <a:cs typeface="Calibri"/>
                  <a:sym typeface="Calibri"/>
                </a:endParaRPr>
              </a:p>
            </p:txBody>
          </p:sp>
        </p:grpSp>
        <p:grpSp>
          <p:nvGrpSpPr>
            <p:cNvPr id="2285" name="Google Shape;2285;p59"/>
            <p:cNvGrpSpPr/>
            <p:nvPr/>
          </p:nvGrpSpPr>
          <p:grpSpPr>
            <a:xfrm>
              <a:off x="5293308" y="4563727"/>
              <a:ext cx="702675" cy="307777"/>
              <a:chOff x="10265269" y="4507410"/>
              <a:chExt cx="936902" cy="410366"/>
            </a:xfrm>
          </p:grpSpPr>
          <p:sp>
            <p:nvSpPr>
              <p:cNvPr id="2286" name="Google Shape;2286;p59"/>
              <p:cNvSpPr txBox="1"/>
              <p:nvPr/>
            </p:nvSpPr>
            <p:spPr>
              <a:xfrm>
                <a:off x="10437984" y="4507410"/>
                <a:ext cx="764187" cy="410366"/>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General Medicine</a:t>
                </a:r>
                <a:endParaRPr>
                  <a:latin typeface="+mn-lt"/>
                </a:endParaRPr>
              </a:p>
            </p:txBody>
          </p:sp>
          <p:sp>
            <p:nvSpPr>
              <p:cNvPr id="2287" name="Google Shape;2287;p59"/>
              <p:cNvSpPr/>
              <p:nvPr/>
            </p:nvSpPr>
            <p:spPr>
              <a:xfrm>
                <a:off x="10265269" y="4672399"/>
                <a:ext cx="91440" cy="91440"/>
              </a:xfrm>
              <a:prstGeom prst="rect">
                <a:avLst/>
              </a:prstGeom>
              <a:solidFill>
                <a:srgbClr val="DEEDEA"/>
              </a:solidFill>
              <a:ln>
                <a:noFill/>
              </a:ln>
            </p:spPr>
            <p:txBody>
              <a:bodyPr spcFirstLastPara="1" wrap="square" lIns="91425" tIns="45700" rIns="91425" bIns="45700" anchor="ctr" anchorCtr="0">
                <a:noAutofit/>
              </a:bodyPr>
              <a:lstStyle/>
              <a:p>
                <a:pPr algn="ctr">
                  <a:defRPr/>
                </a:pPr>
                <a:endParaRPr sz="1000">
                  <a:solidFill>
                    <a:srgbClr val="070605"/>
                  </a:solidFill>
                  <a:latin typeface="+mn-lt"/>
                  <a:ea typeface="Calibri"/>
                  <a:cs typeface="Calibri"/>
                  <a:sym typeface="Calibri"/>
                </a:endParaRPr>
              </a:p>
            </p:txBody>
          </p:sp>
        </p:grpSp>
        <p:sp>
          <p:nvSpPr>
            <p:cNvPr id="2288" name="Google Shape;2288;p59"/>
            <p:cNvSpPr/>
            <p:nvPr/>
          </p:nvSpPr>
          <p:spPr>
            <a:xfrm>
              <a:off x="3435932" y="4319588"/>
              <a:ext cx="832116" cy="189201"/>
            </a:xfrm>
            <a:prstGeom prst="rect">
              <a:avLst/>
            </a:prstGeom>
            <a:solidFill>
              <a:schemeClr val="lt1"/>
            </a:solidFill>
            <a:ln w="12700" cap="flat" cmpd="sng">
              <a:solidFill>
                <a:srgbClr val="071D49"/>
              </a:solidFill>
              <a:prstDash val="dash"/>
              <a:round/>
              <a:headEnd type="none" w="sm" len="sm"/>
              <a:tailEnd type="none" w="sm" len="sm"/>
            </a:ln>
          </p:spPr>
          <p:txBody>
            <a:bodyPr spcFirstLastPara="1" wrap="square" lIns="91425" tIns="45700" rIns="91425" bIns="45700" anchor="ctr" anchorCtr="0">
              <a:noAutofit/>
            </a:bodyPr>
            <a:lstStyle/>
            <a:p>
              <a:pPr algn="ctr">
                <a:defRPr/>
              </a:pPr>
              <a:r>
                <a:rPr lang="en-US" sz="1000" b="1">
                  <a:solidFill>
                    <a:srgbClr val="070605"/>
                  </a:solidFill>
                  <a:latin typeface="+mn-lt"/>
                  <a:ea typeface="Calibri"/>
                  <a:cs typeface="Calibri"/>
                  <a:sym typeface="Calibri"/>
                </a:rPr>
                <a:t>PCPs</a:t>
              </a:r>
              <a:endParaRPr sz="751" b="1">
                <a:solidFill>
                  <a:srgbClr val="070605"/>
                </a:solidFill>
                <a:latin typeface="+mn-lt"/>
                <a:ea typeface="Calibri"/>
                <a:cs typeface="Calibri"/>
                <a:sym typeface="Calibri"/>
              </a:endParaRPr>
            </a:p>
          </p:txBody>
        </p:sp>
      </p:grpSp>
      <p:cxnSp>
        <p:nvCxnSpPr>
          <p:cNvPr id="2289" name="Google Shape;2289;p59"/>
          <p:cNvCxnSpPr/>
          <p:nvPr/>
        </p:nvCxnSpPr>
        <p:spPr>
          <a:xfrm>
            <a:off x="2393223" y="1373934"/>
            <a:ext cx="0" cy="457200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2292" name="Google Shape;2292;p59"/>
          <p:cNvSpPr txBox="1"/>
          <p:nvPr/>
        </p:nvSpPr>
        <p:spPr>
          <a:xfrm>
            <a:off x="142878" y="6248946"/>
            <a:ext cx="8763138" cy="215403"/>
          </a:xfrm>
          <a:prstGeom prst="rect">
            <a:avLst/>
          </a:prstGeom>
          <a:noFill/>
          <a:ln>
            <a:noFill/>
          </a:ln>
        </p:spPr>
        <p:txBody>
          <a:bodyPr spcFirstLastPara="1" wrap="square" lIns="91425" tIns="45700" rIns="91425" bIns="45700" anchor="b" anchorCtr="0">
            <a:spAutoFit/>
          </a:bodyPr>
          <a:lstStyle/>
          <a:p>
            <a:pPr>
              <a:defRPr/>
            </a:pPr>
            <a:r>
              <a:rPr lang="en-US" sz="800">
                <a:solidFill>
                  <a:srgbClr val="001D49"/>
                </a:solidFill>
                <a:latin typeface="+mn-lt"/>
                <a:ea typeface="Calibri"/>
                <a:cs typeface="Calibri"/>
                <a:sym typeface="Calibri"/>
              </a:rPr>
              <a:t>Question text in speaker notes | n - No. of HCPs </a:t>
            </a:r>
            <a:r>
              <a:rPr lang="en-US" sz="800">
                <a:solidFill>
                  <a:srgbClr val="001D49"/>
                </a:solidFill>
                <a:latin typeface="+mn-lt"/>
              </a:rPr>
              <a:t>Detailed question text given in speaker notes </a:t>
            </a:r>
          </a:p>
        </p:txBody>
      </p:sp>
      <p:sp>
        <p:nvSpPr>
          <p:cNvPr id="2293" name="Google Shape;2293;p59"/>
          <p:cNvSpPr/>
          <p:nvPr/>
        </p:nvSpPr>
        <p:spPr>
          <a:xfrm>
            <a:off x="4031783" y="4360473"/>
            <a:ext cx="1330975" cy="246221"/>
          </a:xfrm>
          <a:prstGeom prst="rect">
            <a:avLst/>
          </a:prstGeom>
          <a:noFill/>
          <a:ln>
            <a:noFill/>
          </a:ln>
        </p:spPr>
        <p:txBody>
          <a:bodyPr spcFirstLastPara="1" wrap="square" lIns="91425" tIns="45700" rIns="91425" bIns="45700" anchor="t" anchorCtr="0">
            <a:spAutoFit/>
          </a:bodyPr>
          <a:lstStyle/>
          <a:p>
            <a:pPr algn="ctr">
              <a:defRPr/>
            </a:pPr>
            <a:r>
              <a:rPr lang="en-US" sz="1000">
                <a:solidFill>
                  <a:srgbClr val="071D49"/>
                </a:solidFill>
                <a:latin typeface="+mn-lt"/>
                <a:ea typeface="Calibri"/>
                <a:cs typeface="Calibri"/>
                <a:sym typeface="Calibri"/>
              </a:rPr>
              <a:t>% of HCPs</a:t>
            </a:r>
            <a:endParaRPr lang="en-US" b="1" u="sng">
              <a:solidFill>
                <a:srgbClr val="071D49"/>
              </a:solidFill>
              <a:latin typeface="+mn-lt"/>
              <a:ea typeface="Calibri"/>
              <a:cs typeface="Calibri"/>
              <a:sym typeface="Calibri"/>
            </a:endParaRPr>
          </a:p>
        </p:txBody>
      </p:sp>
      <p:sp>
        <p:nvSpPr>
          <p:cNvPr id="2295" name="Google Shape;2295;p59"/>
          <p:cNvSpPr/>
          <p:nvPr/>
        </p:nvSpPr>
        <p:spPr>
          <a:xfrm rot="-5400000">
            <a:off x="5583116" y="3754847"/>
            <a:ext cx="1330975" cy="246221"/>
          </a:xfrm>
          <a:prstGeom prst="rect">
            <a:avLst/>
          </a:prstGeom>
          <a:noFill/>
          <a:ln>
            <a:noFill/>
          </a:ln>
        </p:spPr>
        <p:txBody>
          <a:bodyPr spcFirstLastPara="1" wrap="square" lIns="91425" tIns="45700" rIns="91425" bIns="45700" anchor="t" anchorCtr="0">
            <a:spAutoFit/>
          </a:bodyPr>
          <a:lstStyle/>
          <a:p>
            <a:pPr algn="ctr">
              <a:defRPr/>
            </a:pPr>
            <a:r>
              <a:rPr lang="en-US" sz="1000">
                <a:solidFill>
                  <a:srgbClr val="071D49"/>
                </a:solidFill>
                <a:latin typeface="+mn-lt"/>
                <a:ea typeface="Calibri"/>
                <a:cs typeface="Calibri"/>
                <a:sym typeface="Calibri"/>
              </a:rPr>
              <a:t>% of HCPs</a:t>
            </a:r>
            <a:endParaRPr lang="en-US" b="1" u="sng">
              <a:solidFill>
                <a:srgbClr val="071D49"/>
              </a:solidFill>
              <a:latin typeface="+mn-lt"/>
              <a:ea typeface="Calibri"/>
              <a:cs typeface="Calibri"/>
              <a:sym typeface="Calibri"/>
            </a:endParaRPr>
          </a:p>
        </p:txBody>
      </p:sp>
      <p:grpSp>
        <p:nvGrpSpPr>
          <p:cNvPr id="95" name="Group 94">
            <a:extLst>
              <a:ext uri="{FF2B5EF4-FFF2-40B4-BE49-F238E27FC236}">
                <a16:creationId xmlns:a16="http://schemas.microsoft.com/office/drawing/2014/main" id="{2D858F5E-0220-4AD3-A227-B1BF5A8473ED}"/>
              </a:ext>
            </a:extLst>
          </p:cNvPr>
          <p:cNvGrpSpPr/>
          <p:nvPr/>
        </p:nvGrpSpPr>
        <p:grpSpPr>
          <a:xfrm>
            <a:off x="358638" y="1295528"/>
            <a:ext cx="1728201" cy="518309"/>
            <a:chOff x="518620" y="1652705"/>
            <a:chExt cx="1728201" cy="518310"/>
          </a:xfrm>
        </p:grpSpPr>
        <p:grpSp>
          <p:nvGrpSpPr>
            <p:cNvPr id="96" name="Group 95">
              <a:extLst>
                <a:ext uri="{FF2B5EF4-FFF2-40B4-BE49-F238E27FC236}">
                  <a16:creationId xmlns:a16="http://schemas.microsoft.com/office/drawing/2014/main" id="{60931EBA-F922-44C8-AFF9-E181827B040E}"/>
                </a:ext>
              </a:extLst>
            </p:cNvPr>
            <p:cNvGrpSpPr/>
            <p:nvPr/>
          </p:nvGrpSpPr>
          <p:grpSpPr>
            <a:xfrm>
              <a:off x="1132534" y="1652705"/>
              <a:ext cx="1114287" cy="518310"/>
              <a:chOff x="1636870" y="1954058"/>
              <a:chExt cx="1485716" cy="691079"/>
            </a:xfrm>
          </p:grpSpPr>
          <p:sp>
            <p:nvSpPr>
              <p:cNvPr id="98" name="TextBox 130">
                <a:extLst>
                  <a:ext uri="{FF2B5EF4-FFF2-40B4-BE49-F238E27FC236}">
                    <a16:creationId xmlns:a16="http://schemas.microsoft.com/office/drawing/2014/main" id="{FD905437-CB05-42B5-8441-2DFE3608B194}"/>
                  </a:ext>
                </a:extLst>
              </p:cNvPr>
              <p:cNvSpPr txBox="1"/>
              <p:nvPr/>
            </p:nvSpPr>
            <p:spPr>
              <a:xfrm>
                <a:off x="1636874" y="1954058"/>
                <a:ext cx="1436352" cy="492443"/>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288 </a:t>
                </a:r>
                <a:r>
                  <a:rPr lang="en-US" sz="1400" b="1">
                    <a:solidFill>
                      <a:srgbClr val="FFFFFF">
                        <a:lumMod val="50000"/>
                      </a:srgbClr>
                    </a:solidFill>
                    <a:cs typeface="Calibri" panose="020F0502020204030204" pitchFamily="34" charset="0"/>
                  </a:rPr>
                  <a:t>(256)</a:t>
                </a:r>
                <a:endParaRPr lang="en-US" sz="1600" b="1">
                  <a:solidFill>
                    <a:srgbClr val="FFFFFF">
                      <a:lumMod val="50000"/>
                    </a:srgbClr>
                  </a:solidFill>
                  <a:cs typeface="Calibri" panose="020F0502020204030204" pitchFamily="34" charset="0"/>
                </a:endParaRPr>
              </a:p>
            </p:txBody>
          </p:sp>
          <p:sp>
            <p:nvSpPr>
              <p:cNvPr id="99" name="TextBox 131">
                <a:extLst>
                  <a:ext uri="{FF2B5EF4-FFF2-40B4-BE49-F238E27FC236}">
                    <a16:creationId xmlns:a16="http://schemas.microsoft.com/office/drawing/2014/main" id="{E1BE9F66-6045-4D96-BC81-4ACAA867826A}"/>
                  </a:ext>
                </a:extLst>
              </p:cNvPr>
              <p:cNvSpPr txBox="1"/>
              <p:nvPr/>
            </p:nvSpPr>
            <p:spPr>
              <a:xfrm>
                <a:off x="1636870" y="2316842"/>
                <a:ext cx="1485716" cy="328295"/>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Total HCPs</a:t>
                </a:r>
              </a:p>
            </p:txBody>
          </p:sp>
        </p:grpSp>
        <p:pic>
          <p:nvPicPr>
            <p:cNvPr id="97" name="Picture 96">
              <a:extLst>
                <a:ext uri="{FF2B5EF4-FFF2-40B4-BE49-F238E27FC236}">
                  <a16:creationId xmlns:a16="http://schemas.microsoft.com/office/drawing/2014/main" id="{27FBBF94-4DDB-4B70-AC78-3827E2813DB2}"/>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18620" y="1757044"/>
              <a:ext cx="294813" cy="335759"/>
            </a:xfrm>
            <a:prstGeom prst="rect">
              <a:avLst/>
            </a:prstGeom>
          </p:spPr>
        </p:pic>
      </p:grpSp>
      <p:grpSp>
        <p:nvGrpSpPr>
          <p:cNvPr id="100" name="Group 99">
            <a:extLst>
              <a:ext uri="{FF2B5EF4-FFF2-40B4-BE49-F238E27FC236}">
                <a16:creationId xmlns:a16="http://schemas.microsoft.com/office/drawing/2014/main" id="{FA631D22-5515-43D4-BBC1-612E471EFB1D}"/>
              </a:ext>
            </a:extLst>
          </p:cNvPr>
          <p:cNvGrpSpPr/>
          <p:nvPr/>
        </p:nvGrpSpPr>
        <p:grpSpPr>
          <a:xfrm>
            <a:off x="350449" y="1969258"/>
            <a:ext cx="2001342" cy="672195"/>
            <a:chOff x="510431" y="2284630"/>
            <a:chExt cx="2001342" cy="672195"/>
          </a:xfrm>
        </p:grpSpPr>
        <p:pic>
          <p:nvPicPr>
            <p:cNvPr id="101" name="Picture 100">
              <a:extLst>
                <a:ext uri="{FF2B5EF4-FFF2-40B4-BE49-F238E27FC236}">
                  <a16:creationId xmlns:a16="http://schemas.microsoft.com/office/drawing/2014/main" id="{7CCC04FD-521D-40D1-862E-DD501A5DAE83}"/>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510431" y="2490480"/>
              <a:ext cx="311191" cy="286623"/>
            </a:xfrm>
            <a:prstGeom prst="rect">
              <a:avLst/>
            </a:prstGeom>
          </p:spPr>
        </p:pic>
        <p:grpSp>
          <p:nvGrpSpPr>
            <p:cNvPr id="102" name="Group 101">
              <a:extLst>
                <a:ext uri="{FF2B5EF4-FFF2-40B4-BE49-F238E27FC236}">
                  <a16:creationId xmlns:a16="http://schemas.microsoft.com/office/drawing/2014/main" id="{82DCDE2D-B754-4B73-8354-9A22022B6963}"/>
                </a:ext>
              </a:extLst>
            </p:cNvPr>
            <p:cNvGrpSpPr/>
            <p:nvPr/>
          </p:nvGrpSpPr>
          <p:grpSpPr>
            <a:xfrm>
              <a:off x="1132534" y="2284630"/>
              <a:ext cx="1379239" cy="672195"/>
              <a:chOff x="1636870" y="1954059"/>
              <a:chExt cx="1838986" cy="896259"/>
            </a:xfrm>
          </p:grpSpPr>
          <p:sp>
            <p:nvSpPr>
              <p:cNvPr id="103" name="TextBox 130">
                <a:extLst>
                  <a:ext uri="{FF2B5EF4-FFF2-40B4-BE49-F238E27FC236}">
                    <a16:creationId xmlns:a16="http://schemas.microsoft.com/office/drawing/2014/main" id="{DB8D89FE-3027-483C-9F1D-FEB7189825DC}"/>
                  </a:ext>
                </a:extLst>
              </p:cNvPr>
              <p:cNvSpPr txBox="1"/>
              <p:nvPr/>
            </p:nvSpPr>
            <p:spPr>
              <a:xfrm>
                <a:off x="1636870" y="1954059"/>
                <a:ext cx="1838986" cy="49244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14.9 </a:t>
                </a:r>
                <a:r>
                  <a:rPr lang="en-US" sz="1400" b="1">
                    <a:solidFill>
                      <a:srgbClr val="FFFFFF">
                        <a:lumMod val="50000"/>
                      </a:srgbClr>
                    </a:solidFill>
                    <a:cs typeface="Calibri" panose="020F0502020204030204" pitchFamily="34" charset="0"/>
                  </a:rPr>
                  <a:t>(15.6)</a:t>
                </a:r>
                <a:endParaRPr lang="en-US" sz="1600" b="1">
                  <a:solidFill>
                    <a:srgbClr val="071D49"/>
                  </a:solidFill>
                  <a:cs typeface="Calibri" panose="020F0502020204030204" pitchFamily="34" charset="0"/>
                </a:endParaRPr>
              </a:p>
            </p:txBody>
          </p:sp>
          <p:sp>
            <p:nvSpPr>
              <p:cNvPr id="104" name="TextBox 131">
                <a:extLst>
                  <a:ext uri="{FF2B5EF4-FFF2-40B4-BE49-F238E27FC236}">
                    <a16:creationId xmlns:a16="http://schemas.microsoft.com/office/drawing/2014/main" id="{FFE771AE-8712-4003-99B4-A7B668C43574}"/>
                  </a:ext>
                </a:extLst>
              </p:cNvPr>
              <p:cNvSpPr txBox="1"/>
              <p:nvPr/>
            </p:nvSpPr>
            <p:spPr>
              <a:xfrm>
                <a:off x="1636870" y="2316839"/>
                <a:ext cx="1578595" cy="53347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Avg. Years of Experience</a:t>
                </a:r>
              </a:p>
            </p:txBody>
          </p:sp>
        </p:grpSp>
      </p:grpSp>
      <p:grpSp>
        <p:nvGrpSpPr>
          <p:cNvPr id="105" name="Group 104">
            <a:extLst>
              <a:ext uri="{FF2B5EF4-FFF2-40B4-BE49-F238E27FC236}">
                <a16:creationId xmlns:a16="http://schemas.microsoft.com/office/drawing/2014/main" id="{BB06BB74-F73C-42F8-9160-A8465E15ED66}"/>
              </a:ext>
            </a:extLst>
          </p:cNvPr>
          <p:cNvGrpSpPr/>
          <p:nvPr/>
        </p:nvGrpSpPr>
        <p:grpSpPr>
          <a:xfrm>
            <a:off x="297086" y="2757460"/>
            <a:ext cx="1993035" cy="672196"/>
            <a:chOff x="506336" y="3070443"/>
            <a:chExt cx="1993035" cy="672196"/>
          </a:xfrm>
        </p:grpSpPr>
        <p:pic>
          <p:nvPicPr>
            <p:cNvPr id="106" name="Picture 105">
              <a:extLst>
                <a:ext uri="{FF2B5EF4-FFF2-40B4-BE49-F238E27FC236}">
                  <a16:creationId xmlns:a16="http://schemas.microsoft.com/office/drawing/2014/main" id="{0C21C8D9-0196-45A9-BAD5-81D1AC3FC20A}"/>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506336" y="3259914"/>
              <a:ext cx="319381" cy="319381"/>
            </a:xfrm>
            <a:prstGeom prst="rect">
              <a:avLst/>
            </a:prstGeom>
          </p:spPr>
        </p:pic>
        <p:grpSp>
          <p:nvGrpSpPr>
            <p:cNvPr id="107" name="Group 106">
              <a:extLst>
                <a:ext uri="{FF2B5EF4-FFF2-40B4-BE49-F238E27FC236}">
                  <a16:creationId xmlns:a16="http://schemas.microsoft.com/office/drawing/2014/main" id="{52927C30-9EA4-4973-B307-1F0C029135B3}"/>
                </a:ext>
              </a:extLst>
            </p:cNvPr>
            <p:cNvGrpSpPr/>
            <p:nvPr/>
          </p:nvGrpSpPr>
          <p:grpSpPr>
            <a:xfrm>
              <a:off x="1132534" y="3070443"/>
              <a:ext cx="1366837" cy="672196"/>
              <a:chOff x="1636870" y="1954059"/>
              <a:chExt cx="1822449" cy="896260"/>
            </a:xfrm>
          </p:grpSpPr>
          <p:sp>
            <p:nvSpPr>
              <p:cNvPr id="108" name="TextBox 130">
                <a:extLst>
                  <a:ext uri="{FF2B5EF4-FFF2-40B4-BE49-F238E27FC236}">
                    <a16:creationId xmlns:a16="http://schemas.microsoft.com/office/drawing/2014/main" id="{374A2057-3B05-4EFE-80CE-2A4FACBB9AE6}"/>
                  </a:ext>
                </a:extLst>
              </p:cNvPr>
              <p:cNvSpPr txBox="1"/>
              <p:nvPr/>
            </p:nvSpPr>
            <p:spPr>
              <a:xfrm>
                <a:off x="1636873" y="1954059"/>
                <a:ext cx="1664264" cy="49244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96% </a:t>
                </a:r>
                <a:r>
                  <a:rPr lang="en-US" sz="1400" b="1">
                    <a:solidFill>
                      <a:srgbClr val="FFFFFF">
                        <a:lumMod val="50000"/>
                      </a:srgbClr>
                    </a:solidFill>
                    <a:cs typeface="Calibri" panose="020F0502020204030204" pitchFamily="34" charset="0"/>
                  </a:rPr>
                  <a:t>(96%)</a:t>
                </a:r>
                <a:endParaRPr lang="en-US" sz="1600" b="1">
                  <a:solidFill>
                    <a:srgbClr val="071D49"/>
                  </a:solidFill>
                  <a:cs typeface="Calibri" panose="020F0502020204030204" pitchFamily="34" charset="0"/>
                </a:endParaRPr>
              </a:p>
            </p:txBody>
          </p:sp>
          <p:sp>
            <p:nvSpPr>
              <p:cNvPr id="109" name="TextBox 131">
                <a:extLst>
                  <a:ext uri="{FF2B5EF4-FFF2-40B4-BE49-F238E27FC236}">
                    <a16:creationId xmlns:a16="http://schemas.microsoft.com/office/drawing/2014/main" id="{F58ED8DC-CD7E-4F0A-81D5-A83D7B5D4615}"/>
                  </a:ext>
                </a:extLst>
              </p:cNvPr>
              <p:cNvSpPr txBox="1"/>
              <p:nvPr/>
            </p:nvSpPr>
            <p:spPr>
              <a:xfrm>
                <a:off x="1636870" y="2316839"/>
                <a:ext cx="1822449" cy="53348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Avg. Time Spent on Direct Patient Care</a:t>
                </a:r>
              </a:p>
            </p:txBody>
          </p:sp>
        </p:grpSp>
      </p:grpSp>
      <p:grpSp>
        <p:nvGrpSpPr>
          <p:cNvPr id="110" name="Group 109">
            <a:extLst>
              <a:ext uri="{FF2B5EF4-FFF2-40B4-BE49-F238E27FC236}">
                <a16:creationId xmlns:a16="http://schemas.microsoft.com/office/drawing/2014/main" id="{5536395C-BF1E-4B34-8DB5-2F5225D8EF18}"/>
              </a:ext>
            </a:extLst>
          </p:cNvPr>
          <p:cNvGrpSpPr/>
          <p:nvPr/>
        </p:nvGrpSpPr>
        <p:grpSpPr>
          <a:xfrm>
            <a:off x="297218" y="3624489"/>
            <a:ext cx="1995223" cy="672196"/>
            <a:chOff x="457200" y="3856256"/>
            <a:chExt cx="1995223" cy="672196"/>
          </a:xfrm>
        </p:grpSpPr>
        <p:pic>
          <p:nvPicPr>
            <p:cNvPr id="111" name="Picture 110">
              <a:extLst>
                <a:ext uri="{FF2B5EF4-FFF2-40B4-BE49-F238E27FC236}">
                  <a16:creationId xmlns:a16="http://schemas.microsoft.com/office/drawing/2014/main" id="{8D5E6F67-A4E8-42A0-AB87-AE6FDF1B8040}"/>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457200" y="4062105"/>
              <a:ext cx="417652" cy="286624"/>
            </a:xfrm>
            <a:prstGeom prst="rect">
              <a:avLst/>
            </a:prstGeom>
          </p:spPr>
        </p:pic>
        <p:grpSp>
          <p:nvGrpSpPr>
            <p:cNvPr id="112" name="Group 111">
              <a:extLst>
                <a:ext uri="{FF2B5EF4-FFF2-40B4-BE49-F238E27FC236}">
                  <a16:creationId xmlns:a16="http://schemas.microsoft.com/office/drawing/2014/main" id="{6BCDEECD-5B31-46C6-8F6D-EB1B1544C573}"/>
                </a:ext>
              </a:extLst>
            </p:cNvPr>
            <p:cNvGrpSpPr/>
            <p:nvPr/>
          </p:nvGrpSpPr>
          <p:grpSpPr>
            <a:xfrm>
              <a:off x="1132535" y="3856256"/>
              <a:ext cx="1319888" cy="672196"/>
              <a:chOff x="1636870" y="1954059"/>
              <a:chExt cx="1759850" cy="896260"/>
            </a:xfrm>
          </p:grpSpPr>
          <p:sp>
            <p:nvSpPr>
              <p:cNvPr id="113" name="TextBox 130">
                <a:extLst>
                  <a:ext uri="{FF2B5EF4-FFF2-40B4-BE49-F238E27FC236}">
                    <a16:creationId xmlns:a16="http://schemas.microsoft.com/office/drawing/2014/main" id="{7A8A4F35-1E61-41A5-96E0-9811FB47831D}"/>
                  </a:ext>
                </a:extLst>
              </p:cNvPr>
              <p:cNvSpPr txBox="1"/>
              <p:nvPr/>
            </p:nvSpPr>
            <p:spPr>
              <a:xfrm>
                <a:off x="1636874" y="1954059"/>
                <a:ext cx="1588751" cy="49244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294 </a:t>
                </a:r>
                <a:r>
                  <a:rPr lang="en-US" sz="1400" b="1">
                    <a:solidFill>
                      <a:srgbClr val="FFFFFF">
                        <a:lumMod val="50000"/>
                      </a:srgbClr>
                    </a:solidFill>
                    <a:cs typeface="Calibri" panose="020F0502020204030204" pitchFamily="34" charset="0"/>
                  </a:rPr>
                  <a:t>(299)</a:t>
                </a:r>
                <a:endParaRPr lang="en-US" sz="1600" b="1">
                  <a:solidFill>
                    <a:srgbClr val="071D49"/>
                  </a:solidFill>
                  <a:cs typeface="Calibri" panose="020F0502020204030204" pitchFamily="34" charset="0"/>
                </a:endParaRPr>
              </a:p>
            </p:txBody>
          </p:sp>
          <p:sp>
            <p:nvSpPr>
              <p:cNvPr id="114" name="TextBox 131">
                <a:extLst>
                  <a:ext uri="{FF2B5EF4-FFF2-40B4-BE49-F238E27FC236}">
                    <a16:creationId xmlns:a16="http://schemas.microsoft.com/office/drawing/2014/main" id="{E65FA080-19EE-4F65-A3A2-61BDB7F7F2EC}"/>
                  </a:ext>
                </a:extLst>
              </p:cNvPr>
              <p:cNvSpPr txBox="1"/>
              <p:nvPr/>
            </p:nvSpPr>
            <p:spPr>
              <a:xfrm>
                <a:off x="1636870" y="2316839"/>
                <a:ext cx="1759850" cy="53348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Avg. Patient Load in a Typical Month</a:t>
                </a:r>
                <a:endParaRPr lang="en-US" sz="1000" baseline="30000">
                  <a:solidFill>
                    <a:srgbClr val="070605"/>
                  </a:solidFill>
                  <a:cs typeface="Calibri" panose="020F0502020204030204" pitchFamily="34" charset="0"/>
                </a:endParaRPr>
              </a:p>
            </p:txBody>
          </p:sp>
        </p:grpSp>
      </p:grpSp>
      <p:grpSp>
        <p:nvGrpSpPr>
          <p:cNvPr id="115" name="Group 114">
            <a:extLst>
              <a:ext uri="{FF2B5EF4-FFF2-40B4-BE49-F238E27FC236}">
                <a16:creationId xmlns:a16="http://schemas.microsoft.com/office/drawing/2014/main" id="{8D736287-93F2-440E-AA7C-C9C7DCE99AF2}"/>
              </a:ext>
            </a:extLst>
          </p:cNvPr>
          <p:cNvGrpSpPr/>
          <p:nvPr/>
        </p:nvGrpSpPr>
        <p:grpSpPr>
          <a:xfrm>
            <a:off x="362728" y="4452105"/>
            <a:ext cx="2066736" cy="672196"/>
            <a:chOff x="522714" y="4642069"/>
            <a:chExt cx="2066736" cy="672196"/>
          </a:xfrm>
        </p:grpSpPr>
        <p:pic>
          <p:nvPicPr>
            <p:cNvPr id="116" name="Picture 115">
              <a:extLst>
                <a:ext uri="{FF2B5EF4-FFF2-40B4-BE49-F238E27FC236}">
                  <a16:creationId xmlns:a16="http://schemas.microsoft.com/office/drawing/2014/main" id="{FCD00AC6-362E-464A-8F55-F73D56691880}"/>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522714" y="4847918"/>
              <a:ext cx="286624" cy="286624"/>
            </a:xfrm>
            <a:prstGeom prst="rect">
              <a:avLst/>
            </a:prstGeom>
          </p:spPr>
        </p:pic>
        <p:grpSp>
          <p:nvGrpSpPr>
            <p:cNvPr id="117" name="Group 116">
              <a:extLst>
                <a:ext uri="{FF2B5EF4-FFF2-40B4-BE49-F238E27FC236}">
                  <a16:creationId xmlns:a16="http://schemas.microsoft.com/office/drawing/2014/main" id="{8E57AD32-58B1-480C-A8E8-864C95C5AC5C}"/>
                </a:ext>
              </a:extLst>
            </p:cNvPr>
            <p:cNvGrpSpPr/>
            <p:nvPr/>
          </p:nvGrpSpPr>
          <p:grpSpPr>
            <a:xfrm>
              <a:off x="1132533" y="4642069"/>
              <a:ext cx="1456917" cy="672196"/>
              <a:chOff x="1636869" y="1954059"/>
              <a:chExt cx="1942556" cy="896260"/>
            </a:xfrm>
          </p:grpSpPr>
          <p:sp>
            <p:nvSpPr>
              <p:cNvPr id="118" name="TextBox 130">
                <a:extLst>
                  <a:ext uri="{FF2B5EF4-FFF2-40B4-BE49-F238E27FC236}">
                    <a16:creationId xmlns:a16="http://schemas.microsoft.com/office/drawing/2014/main" id="{C7A58558-96BB-4DDF-8026-B6C1DDAFEBEF}"/>
                  </a:ext>
                </a:extLst>
              </p:cNvPr>
              <p:cNvSpPr txBox="1"/>
              <p:nvPr/>
            </p:nvSpPr>
            <p:spPr>
              <a:xfrm>
                <a:off x="1636873" y="1954059"/>
                <a:ext cx="1260000" cy="492443"/>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22 </a:t>
                </a:r>
                <a:r>
                  <a:rPr lang="en-US" sz="1400" b="1">
                    <a:solidFill>
                      <a:srgbClr val="FFFFFF">
                        <a:lumMod val="50000"/>
                      </a:srgbClr>
                    </a:solidFill>
                    <a:cs typeface="Calibri" panose="020F0502020204030204" pitchFamily="34" charset="0"/>
                  </a:rPr>
                  <a:t>(22)</a:t>
                </a:r>
                <a:endParaRPr lang="en-US" sz="1600" b="1">
                  <a:solidFill>
                    <a:srgbClr val="071D49"/>
                  </a:solidFill>
                  <a:cs typeface="Calibri" panose="020F0502020204030204" pitchFamily="34" charset="0"/>
                </a:endParaRPr>
              </a:p>
            </p:txBody>
          </p:sp>
          <p:sp>
            <p:nvSpPr>
              <p:cNvPr id="119" name="TextBox 131">
                <a:extLst>
                  <a:ext uri="{FF2B5EF4-FFF2-40B4-BE49-F238E27FC236}">
                    <a16:creationId xmlns:a16="http://schemas.microsoft.com/office/drawing/2014/main" id="{5EE9470D-3596-42FB-8445-8E5668B75A64}"/>
                  </a:ext>
                </a:extLst>
              </p:cNvPr>
              <p:cNvSpPr txBox="1"/>
              <p:nvPr/>
            </p:nvSpPr>
            <p:spPr>
              <a:xfrm>
                <a:off x="1636869" y="2316839"/>
                <a:ext cx="1942556" cy="53348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Avg. EPI Patient Load in a Typical Month</a:t>
                </a:r>
              </a:p>
            </p:txBody>
          </p:sp>
        </p:grpSp>
      </p:grpSp>
      <p:grpSp>
        <p:nvGrpSpPr>
          <p:cNvPr id="120" name="Group 119">
            <a:extLst>
              <a:ext uri="{FF2B5EF4-FFF2-40B4-BE49-F238E27FC236}">
                <a16:creationId xmlns:a16="http://schemas.microsoft.com/office/drawing/2014/main" id="{6C4E511E-0AF0-4D9A-B34D-B849C5AEA422}"/>
              </a:ext>
            </a:extLst>
          </p:cNvPr>
          <p:cNvGrpSpPr/>
          <p:nvPr/>
        </p:nvGrpSpPr>
        <p:grpSpPr>
          <a:xfrm>
            <a:off x="387297" y="5279720"/>
            <a:ext cx="1833452" cy="672195"/>
            <a:chOff x="547282" y="5427880"/>
            <a:chExt cx="1833452" cy="672195"/>
          </a:xfrm>
        </p:grpSpPr>
        <p:pic>
          <p:nvPicPr>
            <p:cNvPr id="121" name="Picture 120">
              <a:extLst>
                <a:ext uri="{FF2B5EF4-FFF2-40B4-BE49-F238E27FC236}">
                  <a16:creationId xmlns:a16="http://schemas.microsoft.com/office/drawing/2014/main" id="{D883CE14-9342-4CB9-BED2-08ABA3BD38EE}"/>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547282" y="5629635"/>
              <a:ext cx="237488" cy="294813"/>
            </a:xfrm>
            <a:prstGeom prst="rect">
              <a:avLst/>
            </a:prstGeom>
          </p:spPr>
        </p:pic>
        <p:grpSp>
          <p:nvGrpSpPr>
            <p:cNvPr id="122" name="Group 121">
              <a:extLst>
                <a:ext uri="{FF2B5EF4-FFF2-40B4-BE49-F238E27FC236}">
                  <a16:creationId xmlns:a16="http://schemas.microsoft.com/office/drawing/2014/main" id="{537E6F23-F46B-401E-A125-26B158ABE4B1}"/>
                </a:ext>
              </a:extLst>
            </p:cNvPr>
            <p:cNvGrpSpPr/>
            <p:nvPr/>
          </p:nvGrpSpPr>
          <p:grpSpPr>
            <a:xfrm>
              <a:off x="1132534" y="5427880"/>
              <a:ext cx="1248200" cy="672195"/>
              <a:chOff x="1636870" y="1954059"/>
              <a:chExt cx="1664267" cy="896259"/>
            </a:xfrm>
          </p:grpSpPr>
          <p:sp>
            <p:nvSpPr>
              <p:cNvPr id="123" name="TextBox 130">
                <a:extLst>
                  <a:ext uri="{FF2B5EF4-FFF2-40B4-BE49-F238E27FC236}">
                    <a16:creationId xmlns:a16="http://schemas.microsoft.com/office/drawing/2014/main" id="{E2A17B2B-9E2C-4CE3-BA4D-35A07E1EEFCA}"/>
                  </a:ext>
                </a:extLst>
              </p:cNvPr>
              <p:cNvSpPr txBox="1"/>
              <p:nvPr/>
            </p:nvSpPr>
            <p:spPr>
              <a:xfrm>
                <a:off x="1636874" y="1954059"/>
                <a:ext cx="1260000" cy="49244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b="1">
                    <a:solidFill>
                      <a:srgbClr val="071D49"/>
                    </a:solidFill>
                    <a:cs typeface="Calibri" panose="020F0502020204030204" pitchFamily="34" charset="0"/>
                  </a:rPr>
                  <a:t>19 </a:t>
                </a:r>
                <a:r>
                  <a:rPr lang="en-US" sz="1400" b="1">
                    <a:solidFill>
                      <a:srgbClr val="FFFFFF">
                        <a:lumMod val="50000"/>
                      </a:srgbClr>
                    </a:solidFill>
                    <a:cs typeface="Calibri" panose="020F0502020204030204" pitchFamily="34" charset="0"/>
                  </a:rPr>
                  <a:t>(19)</a:t>
                </a:r>
                <a:endParaRPr lang="en-US" sz="1600" b="1">
                  <a:solidFill>
                    <a:srgbClr val="071D49"/>
                  </a:solidFill>
                  <a:cs typeface="Calibri" panose="020F0502020204030204" pitchFamily="34" charset="0"/>
                </a:endParaRPr>
              </a:p>
            </p:txBody>
          </p:sp>
          <p:sp>
            <p:nvSpPr>
              <p:cNvPr id="124" name="TextBox 131">
                <a:extLst>
                  <a:ext uri="{FF2B5EF4-FFF2-40B4-BE49-F238E27FC236}">
                    <a16:creationId xmlns:a16="http://schemas.microsoft.com/office/drawing/2014/main" id="{BCA1C91A-BD0C-4440-B7D4-7E47D931A524}"/>
                  </a:ext>
                </a:extLst>
              </p:cNvPr>
              <p:cNvSpPr txBox="1"/>
              <p:nvPr/>
            </p:nvSpPr>
            <p:spPr>
              <a:xfrm>
                <a:off x="1636870" y="2316839"/>
                <a:ext cx="1664267" cy="53347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defTabSz="914356" fontAlgn="b">
                  <a:defRPr/>
                </a:pPr>
                <a:r>
                  <a:rPr lang="en-US" sz="1000">
                    <a:solidFill>
                      <a:srgbClr val="070605"/>
                    </a:solidFill>
                    <a:cs typeface="Calibri" panose="020F0502020204030204" pitchFamily="34" charset="0"/>
                  </a:rPr>
                  <a:t>Avg. Monthly EPI Prescriptions</a:t>
                </a:r>
              </a:p>
            </p:txBody>
          </p:sp>
        </p:grpSp>
      </p:grpSp>
      <p:grpSp>
        <p:nvGrpSpPr>
          <p:cNvPr id="13" name="Group 12">
            <a:extLst>
              <a:ext uri="{FF2B5EF4-FFF2-40B4-BE49-F238E27FC236}">
                <a16:creationId xmlns:a16="http://schemas.microsoft.com/office/drawing/2014/main" id="{A9FC7603-7485-186F-AB7B-A1F1BDD08484}"/>
              </a:ext>
            </a:extLst>
          </p:cNvPr>
          <p:cNvGrpSpPr/>
          <p:nvPr/>
        </p:nvGrpSpPr>
        <p:grpSpPr>
          <a:xfrm>
            <a:off x="7694559" y="2484901"/>
            <a:ext cx="1384642" cy="2790972"/>
            <a:chOff x="7694559" y="2484901"/>
            <a:chExt cx="1384642" cy="2790972"/>
          </a:xfrm>
        </p:grpSpPr>
        <p:grpSp>
          <p:nvGrpSpPr>
            <p:cNvPr id="2238" name="Google Shape;2238;p59"/>
            <p:cNvGrpSpPr/>
            <p:nvPr/>
          </p:nvGrpSpPr>
          <p:grpSpPr>
            <a:xfrm>
              <a:off x="7694562" y="2484901"/>
              <a:ext cx="1384639" cy="2426098"/>
              <a:chOff x="7807141" y="2737569"/>
              <a:chExt cx="1384639" cy="2426098"/>
            </a:xfrm>
          </p:grpSpPr>
          <p:grpSp>
            <p:nvGrpSpPr>
              <p:cNvPr id="2239" name="Google Shape;2239;p59"/>
              <p:cNvGrpSpPr/>
              <p:nvPr/>
            </p:nvGrpSpPr>
            <p:grpSpPr>
              <a:xfrm>
                <a:off x="7807141" y="2737569"/>
                <a:ext cx="1070419" cy="307777"/>
                <a:chOff x="10260509" y="3802665"/>
                <a:chExt cx="1427225" cy="410369"/>
              </a:xfrm>
            </p:grpSpPr>
            <p:sp>
              <p:nvSpPr>
                <p:cNvPr id="2240" name="Google Shape;2240;p59"/>
                <p:cNvSpPr/>
                <p:nvPr/>
              </p:nvSpPr>
              <p:spPr>
                <a:xfrm>
                  <a:off x="10260509" y="3962129"/>
                  <a:ext cx="91440" cy="91440"/>
                </a:xfrm>
                <a:prstGeom prst="rect">
                  <a:avLst/>
                </a:prstGeom>
                <a:solidFill>
                  <a:srgbClr val="203864"/>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sp>
              <p:nvSpPr>
                <p:cNvPr id="2241" name="Google Shape;2241;p59"/>
                <p:cNvSpPr txBox="1"/>
                <p:nvPr/>
              </p:nvSpPr>
              <p:spPr>
                <a:xfrm>
                  <a:off x="10437985" y="3802665"/>
                  <a:ext cx="1249749" cy="410369"/>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Private Practice (Group)</a:t>
                  </a:r>
                  <a:endParaRPr>
                    <a:latin typeface="+mn-lt"/>
                  </a:endParaRPr>
                </a:p>
              </p:txBody>
            </p:sp>
          </p:grpSp>
          <p:grpSp>
            <p:nvGrpSpPr>
              <p:cNvPr id="2242" name="Google Shape;2242;p59"/>
              <p:cNvGrpSpPr/>
              <p:nvPr/>
            </p:nvGrpSpPr>
            <p:grpSpPr>
              <a:xfrm>
                <a:off x="7807143" y="4008560"/>
                <a:ext cx="1285695" cy="307777"/>
                <a:chOff x="10324517" y="4138395"/>
                <a:chExt cx="1714259" cy="410369"/>
              </a:xfrm>
            </p:grpSpPr>
            <p:sp>
              <p:nvSpPr>
                <p:cNvPr id="2243" name="Google Shape;2243;p59"/>
                <p:cNvSpPr txBox="1"/>
                <p:nvPr/>
              </p:nvSpPr>
              <p:spPr>
                <a:xfrm>
                  <a:off x="10501992" y="4138395"/>
                  <a:ext cx="1536784" cy="410369"/>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Community hospital (Teaching)</a:t>
                  </a:r>
                </a:p>
              </p:txBody>
            </p:sp>
            <p:sp>
              <p:nvSpPr>
                <p:cNvPr id="2244" name="Google Shape;2244;p59"/>
                <p:cNvSpPr/>
                <p:nvPr/>
              </p:nvSpPr>
              <p:spPr>
                <a:xfrm>
                  <a:off x="10324517" y="4312739"/>
                  <a:ext cx="91440" cy="91440"/>
                </a:xfrm>
                <a:prstGeom prst="rect">
                  <a:avLst/>
                </a:prstGeom>
                <a:solidFill>
                  <a:srgbClr val="B4C7E7"/>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grpSp>
          <p:grpSp>
            <p:nvGrpSpPr>
              <p:cNvPr id="2245" name="Google Shape;2245;p59"/>
              <p:cNvGrpSpPr/>
              <p:nvPr/>
            </p:nvGrpSpPr>
            <p:grpSpPr>
              <a:xfrm>
                <a:off x="7807142" y="4855890"/>
                <a:ext cx="1176251" cy="307777"/>
                <a:chOff x="10260509" y="4507408"/>
                <a:chExt cx="1568334" cy="410369"/>
              </a:xfrm>
            </p:grpSpPr>
            <p:sp>
              <p:nvSpPr>
                <p:cNvPr id="2246" name="Google Shape;2246;p59"/>
                <p:cNvSpPr txBox="1"/>
                <p:nvPr/>
              </p:nvSpPr>
              <p:spPr>
                <a:xfrm>
                  <a:off x="10437985" y="4507408"/>
                  <a:ext cx="1390858" cy="410369"/>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University teaching hospital</a:t>
                  </a:r>
                  <a:endParaRPr lang="en-US" sz="1000">
                    <a:latin typeface="+mn-lt"/>
                  </a:endParaRPr>
                </a:p>
              </p:txBody>
            </p:sp>
            <p:sp>
              <p:nvSpPr>
                <p:cNvPr id="2247" name="Google Shape;2247;p59"/>
                <p:cNvSpPr/>
                <p:nvPr/>
              </p:nvSpPr>
              <p:spPr>
                <a:xfrm>
                  <a:off x="10260509" y="4667636"/>
                  <a:ext cx="91440" cy="91440"/>
                </a:xfrm>
                <a:prstGeom prst="rect">
                  <a:avLst/>
                </a:prstGeom>
                <a:solidFill>
                  <a:srgbClr val="7F7F7F"/>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grpSp>
          <p:grpSp>
            <p:nvGrpSpPr>
              <p:cNvPr id="2248" name="Google Shape;2248;p59"/>
              <p:cNvGrpSpPr/>
              <p:nvPr/>
            </p:nvGrpSpPr>
            <p:grpSpPr>
              <a:xfrm>
                <a:off x="7807142" y="3161232"/>
                <a:ext cx="1118998" cy="307777"/>
                <a:chOff x="10324517" y="4152511"/>
                <a:chExt cx="1491997" cy="410369"/>
              </a:xfrm>
            </p:grpSpPr>
            <p:sp>
              <p:nvSpPr>
                <p:cNvPr id="2249" name="Google Shape;2249;p59"/>
                <p:cNvSpPr txBox="1"/>
                <p:nvPr/>
              </p:nvSpPr>
              <p:spPr>
                <a:xfrm>
                  <a:off x="10501992" y="4152511"/>
                  <a:ext cx="1314522" cy="410369"/>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Private Practice (Solo)</a:t>
                  </a:r>
                  <a:endParaRPr>
                    <a:latin typeface="+mn-lt"/>
                  </a:endParaRPr>
                </a:p>
              </p:txBody>
            </p:sp>
            <p:sp>
              <p:nvSpPr>
                <p:cNvPr id="2250" name="Google Shape;2250;p59"/>
                <p:cNvSpPr/>
                <p:nvPr/>
              </p:nvSpPr>
              <p:spPr>
                <a:xfrm>
                  <a:off x="10324517" y="4312739"/>
                  <a:ext cx="91440" cy="91440"/>
                </a:xfrm>
                <a:prstGeom prst="rect">
                  <a:avLst/>
                </a:prstGeom>
                <a:solidFill>
                  <a:srgbClr val="2F5597"/>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grpSp>
          <p:grpSp>
            <p:nvGrpSpPr>
              <p:cNvPr id="2251" name="Google Shape;2251;p59"/>
              <p:cNvGrpSpPr/>
              <p:nvPr/>
            </p:nvGrpSpPr>
            <p:grpSpPr>
              <a:xfrm>
                <a:off x="7807143" y="3584897"/>
                <a:ext cx="1285695" cy="307777"/>
                <a:chOff x="10260509" y="4507408"/>
                <a:chExt cx="1714259" cy="410369"/>
              </a:xfrm>
            </p:grpSpPr>
            <p:sp>
              <p:nvSpPr>
                <p:cNvPr id="2252" name="Google Shape;2252;p59"/>
                <p:cNvSpPr txBox="1"/>
                <p:nvPr/>
              </p:nvSpPr>
              <p:spPr>
                <a:xfrm>
                  <a:off x="10437984" y="4507408"/>
                  <a:ext cx="1536784" cy="410369"/>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Calibri"/>
                      <a:sym typeface="Calibri"/>
                    </a:rPr>
                    <a:t>Community hospital (Non-Teaching)</a:t>
                  </a:r>
                  <a:endParaRPr kumimoji="0" lang="en-US" sz="1400" b="0" i="0" u="none" strike="noStrike" kern="0" cap="none" spc="0" normalizeH="0" baseline="0" noProof="0">
                    <a:ln>
                      <a:noFill/>
                    </a:ln>
                    <a:solidFill>
                      <a:srgbClr val="000000"/>
                    </a:solidFill>
                    <a:effectLst/>
                    <a:uLnTx/>
                    <a:uFillTx/>
                    <a:latin typeface="+mn-lt"/>
                    <a:sym typeface="Arial"/>
                  </a:endParaRPr>
                </a:p>
              </p:txBody>
            </p:sp>
            <p:sp>
              <p:nvSpPr>
                <p:cNvPr id="2253" name="Google Shape;2253;p59"/>
                <p:cNvSpPr/>
                <p:nvPr/>
              </p:nvSpPr>
              <p:spPr>
                <a:xfrm>
                  <a:off x="10260509" y="4676514"/>
                  <a:ext cx="91440" cy="91440"/>
                </a:xfrm>
                <a:prstGeom prst="rect">
                  <a:avLst/>
                </a:prstGeom>
                <a:solidFill>
                  <a:srgbClr val="8FAADC"/>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grpSp>
          <p:grpSp>
            <p:nvGrpSpPr>
              <p:cNvPr id="2254" name="Google Shape;2254;p59"/>
              <p:cNvGrpSpPr/>
              <p:nvPr/>
            </p:nvGrpSpPr>
            <p:grpSpPr>
              <a:xfrm>
                <a:off x="7807143" y="4432225"/>
                <a:ext cx="1384637" cy="307777"/>
                <a:chOff x="10260509" y="4518812"/>
                <a:chExt cx="1846182" cy="410369"/>
              </a:xfrm>
            </p:grpSpPr>
            <p:sp>
              <p:nvSpPr>
                <p:cNvPr id="2255" name="Google Shape;2255;p59"/>
                <p:cNvSpPr txBox="1"/>
                <p:nvPr/>
              </p:nvSpPr>
              <p:spPr>
                <a:xfrm>
                  <a:off x="10437982" y="4518812"/>
                  <a:ext cx="1668709" cy="410369"/>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Major Academic Center group practice</a:t>
                  </a:r>
                  <a:endParaRPr lang="en-US" sz="1000">
                    <a:latin typeface="+mn-lt"/>
                  </a:endParaRPr>
                </a:p>
              </p:txBody>
            </p:sp>
            <p:sp>
              <p:nvSpPr>
                <p:cNvPr id="2256" name="Google Shape;2256;p59"/>
                <p:cNvSpPr/>
                <p:nvPr/>
              </p:nvSpPr>
              <p:spPr>
                <a:xfrm>
                  <a:off x="10260509" y="4667636"/>
                  <a:ext cx="91440" cy="91440"/>
                </a:xfrm>
                <a:prstGeom prst="rect">
                  <a:avLst/>
                </a:prstGeom>
                <a:solidFill>
                  <a:srgbClr val="A6A6A6"/>
                </a:solidFill>
                <a:ln>
                  <a:noFill/>
                </a:ln>
              </p:spPr>
              <p:txBody>
                <a:bodyPr spcFirstLastPara="1" wrap="square" lIns="91425" tIns="45700" rIns="91425" bIns="45700" anchor="ctr" anchorCtr="0">
                  <a:noAutofit/>
                </a:bodyPr>
                <a:lstStyle/>
                <a:p>
                  <a:pPr algn="ctr">
                    <a:defRPr/>
                  </a:pPr>
                  <a:endParaRPr sz="1500">
                    <a:solidFill>
                      <a:srgbClr val="070605"/>
                    </a:solidFill>
                    <a:latin typeface="+mn-lt"/>
                    <a:ea typeface="Calibri"/>
                    <a:cs typeface="Calibri"/>
                    <a:sym typeface="Calibri"/>
                  </a:endParaRPr>
                </a:p>
              </p:txBody>
            </p:sp>
          </p:grpSp>
        </p:grpSp>
        <p:grpSp>
          <p:nvGrpSpPr>
            <p:cNvPr id="11" name="Group 10">
              <a:extLst>
                <a:ext uri="{FF2B5EF4-FFF2-40B4-BE49-F238E27FC236}">
                  <a16:creationId xmlns:a16="http://schemas.microsoft.com/office/drawing/2014/main" id="{3EACDE0F-1742-6E3C-2478-A29CAA1C093F}"/>
                </a:ext>
              </a:extLst>
            </p:cNvPr>
            <p:cNvGrpSpPr/>
            <p:nvPr/>
          </p:nvGrpSpPr>
          <p:grpSpPr>
            <a:xfrm>
              <a:off x="7694559" y="4968096"/>
              <a:ext cx="1354296" cy="307777"/>
              <a:chOff x="7694559" y="4968096"/>
              <a:chExt cx="1354296" cy="307777"/>
            </a:xfrm>
          </p:grpSpPr>
          <p:sp>
            <p:nvSpPr>
              <p:cNvPr id="126" name="Google Shape;2246;p59">
                <a:extLst>
                  <a:ext uri="{FF2B5EF4-FFF2-40B4-BE49-F238E27FC236}">
                    <a16:creationId xmlns:a16="http://schemas.microsoft.com/office/drawing/2014/main" id="{B7CF5A10-A20C-4FED-9C31-01199137BE8E}"/>
                  </a:ext>
                </a:extLst>
              </p:cNvPr>
              <p:cNvSpPr txBox="1"/>
              <p:nvPr/>
            </p:nvSpPr>
            <p:spPr>
              <a:xfrm>
                <a:off x="7827670" y="4968096"/>
                <a:ext cx="1221185" cy="307777"/>
              </a:xfrm>
              <a:prstGeom prst="rect">
                <a:avLst/>
              </a:prstGeom>
              <a:noFill/>
              <a:ln>
                <a:noFill/>
              </a:ln>
            </p:spPr>
            <p:txBody>
              <a:bodyPr spcFirstLastPara="1" wrap="square" lIns="0" tIns="0" rIns="0" bIns="0" anchor="ctr" anchorCtr="0">
                <a:spAutoFit/>
              </a:bodyPr>
              <a:lstStyle/>
              <a:p>
                <a:pPr>
                  <a:buClr>
                    <a:srgbClr val="0B1F65"/>
                  </a:buClr>
                  <a:buSzPts val="1000"/>
                  <a:defRPr/>
                </a:pPr>
                <a:r>
                  <a:rPr lang="en-US" sz="1000">
                    <a:solidFill>
                      <a:srgbClr val="070605"/>
                    </a:solidFill>
                    <a:latin typeface="+mn-lt"/>
                    <a:ea typeface="Calibri"/>
                    <a:cs typeface="Calibri"/>
                    <a:sym typeface="Calibri"/>
                  </a:rPr>
                  <a:t>Major Academic Center Hospital</a:t>
                </a:r>
                <a:endParaRPr lang="en-US" sz="1000">
                  <a:latin typeface="+mn-lt"/>
                </a:endParaRPr>
              </a:p>
            </p:txBody>
          </p:sp>
          <p:sp>
            <p:nvSpPr>
              <p:cNvPr id="132" name="Google Shape;2247;p59">
                <a:extLst>
                  <a:ext uri="{FF2B5EF4-FFF2-40B4-BE49-F238E27FC236}">
                    <a16:creationId xmlns:a16="http://schemas.microsoft.com/office/drawing/2014/main" id="{0B476100-D23F-4EE4-B9BB-3CD15B5D7CD0}"/>
                  </a:ext>
                </a:extLst>
              </p:cNvPr>
              <p:cNvSpPr/>
              <p:nvPr/>
            </p:nvSpPr>
            <p:spPr>
              <a:xfrm>
                <a:off x="7694559" y="5088264"/>
                <a:ext cx="68580" cy="68580"/>
              </a:xfrm>
              <a:prstGeom prst="rect">
                <a:avLst/>
              </a:prstGeom>
              <a:solidFill>
                <a:srgbClr val="D9D9D9"/>
              </a:solidFill>
              <a:ln>
                <a:noFill/>
              </a:ln>
            </p:spPr>
            <p:txBody>
              <a:bodyPr spcFirstLastPara="1" wrap="square" lIns="91425" tIns="45700" rIns="91425" bIns="45700" anchor="ctr" anchorCtr="0">
                <a:noAutofit/>
              </a:bodyPr>
              <a:lstStyle/>
              <a:p>
                <a:pPr algn="ctr">
                  <a:defRPr/>
                </a:pPr>
                <a:endParaRPr lang="en-US" sz="1500">
                  <a:solidFill>
                    <a:srgbClr val="070605"/>
                  </a:solidFill>
                  <a:latin typeface="+mn-lt"/>
                  <a:ea typeface="Calibri"/>
                  <a:cs typeface="Calibri"/>
                  <a:sym typeface="Calibri"/>
                </a:endParaRPr>
              </a:p>
            </p:txBody>
          </p:sp>
        </p:grpSp>
      </p:grpSp>
      <p:sp>
        <p:nvSpPr>
          <p:cNvPr id="2" name="TextBox 130">
            <a:extLst>
              <a:ext uri="{FF2B5EF4-FFF2-40B4-BE49-F238E27FC236}">
                <a16:creationId xmlns:a16="http://schemas.microsoft.com/office/drawing/2014/main" id="{257E0EAF-52BF-1248-D59D-18C0FD1AEB1D}"/>
              </a:ext>
            </a:extLst>
          </p:cNvPr>
          <p:cNvSpPr txBox="1"/>
          <p:nvPr/>
        </p:nvSpPr>
        <p:spPr>
          <a:xfrm>
            <a:off x="3214670" y="3073970"/>
            <a:ext cx="2457213" cy="27699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ctr" defTabSz="685783">
              <a:buClrTx/>
              <a:defRPr/>
            </a:pPr>
            <a:r>
              <a:rPr kumimoji="0" lang="en-US" sz="1200" b="1">
                <a:solidFill>
                  <a:srgbClr val="071D49"/>
                </a:solidFill>
                <a:ea typeface="Calibri"/>
                <a:cs typeface="Calibri"/>
                <a:sym typeface="Calibri"/>
              </a:rPr>
              <a:t>Primary Medical Specialty</a:t>
            </a:r>
            <a:endParaRPr kumimoji="0" lang="en-US" sz="1200">
              <a:solidFill>
                <a:srgbClr val="071D49"/>
              </a:solidFill>
              <a:ea typeface="Calibri"/>
              <a:cs typeface="Calibri"/>
              <a:sym typeface="Calibri"/>
            </a:endParaRPr>
          </a:p>
        </p:txBody>
      </p:sp>
      <p:sp>
        <p:nvSpPr>
          <p:cNvPr id="4" name="TextBox 130">
            <a:extLst>
              <a:ext uri="{FF2B5EF4-FFF2-40B4-BE49-F238E27FC236}">
                <a16:creationId xmlns:a16="http://schemas.microsoft.com/office/drawing/2014/main" id="{0B997E8E-E419-2B43-15C0-4BB5A62407EE}"/>
              </a:ext>
            </a:extLst>
          </p:cNvPr>
          <p:cNvSpPr txBox="1"/>
          <p:nvPr/>
        </p:nvSpPr>
        <p:spPr>
          <a:xfrm>
            <a:off x="2125323" y="3489404"/>
            <a:ext cx="1156548" cy="338554"/>
          </a:xfrm>
          <a:prstGeom prst="rect">
            <a:avLst/>
          </a:prstGeom>
          <a:noFill/>
        </p:spPr>
        <p:txBody>
          <a:bodyPr wrap="square" rtlCol="0" anchor="ctr">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defTabSz="685783">
              <a:buClr>
                <a:srgbClr val="071D49"/>
              </a:buClr>
              <a:buSzPts val="1000"/>
              <a:defRPr/>
            </a:pPr>
            <a:r>
              <a:rPr kumimoji="0" lang="pt-BR" sz="800">
                <a:solidFill>
                  <a:srgbClr val="071D49"/>
                </a:solidFill>
                <a:ea typeface="Calibri"/>
                <a:cs typeface="Calibri"/>
                <a:sym typeface="Calibri"/>
              </a:rPr>
              <a:t>Mar’26 </a:t>
            </a:r>
          </a:p>
          <a:p>
            <a:pPr algn="r" defTabSz="685783">
              <a:buClr>
                <a:srgbClr val="071D49"/>
              </a:buClr>
              <a:buSzPts val="1000"/>
              <a:defRPr/>
            </a:pPr>
            <a:r>
              <a:rPr kumimoji="0" lang="pt-BR" sz="800">
                <a:solidFill>
                  <a:srgbClr val="071D49"/>
                </a:solidFill>
                <a:ea typeface="Calibri"/>
                <a:cs typeface="Calibri"/>
                <a:sym typeface="Calibri"/>
              </a:rPr>
              <a:t>n = 185</a:t>
            </a:r>
          </a:p>
        </p:txBody>
      </p:sp>
      <p:sp>
        <p:nvSpPr>
          <p:cNvPr id="5" name="TextBox 130">
            <a:extLst>
              <a:ext uri="{FF2B5EF4-FFF2-40B4-BE49-F238E27FC236}">
                <a16:creationId xmlns:a16="http://schemas.microsoft.com/office/drawing/2014/main" id="{C7775CB5-6AD0-6692-1043-AE5E835678FE}"/>
              </a:ext>
            </a:extLst>
          </p:cNvPr>
          <p:cNvSpPr txBox="1"/>
          <p:nvPr/>
        </p:nvSpPr>
        <p:spPr>
          <a:xfrm>
            <a:off x="2126271" y="3978640"/>
            <a:ext cx="1155600" cy="338554"/>
          </a:xfrm>
          <a:prstGeom prst="rect">
            <a:avLst/>
          </a:prstGeom>
          <a:noFill/>
        </p:spPr>
        <p:txBody>
          <a:bodyPr wrap="square" rtlCol="0" anchor="ctr">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defTabSz="685783">
              <a:buClr>
                <a:srgbClr val="071D49"/>
              </a:buClr>
              <a:buSzPts val="1000"/>
              <a:defRPr/>
            </a:pPr>
            <a:r>
              <a:rPr kumimoji="0" lang="en-US" sz="800">
                <a:solidFill>
                  <a:srgbClr val="FFFFFF">
                    <a:lumMod val="50000"/>
                  </a:srgbClr>
                </a:solidFill>
                <a:ea typeface="Calibri"/>
                <a:cs typeface="Calibri"/>
                <a:sym typeface="Calibri"/>
              </a:rPr>
              <a:t>Feb’26 </a:t>
            </a:r>
          </a:p>
          <a:p>
            <a:pPr algn="r" defTabSz="685783">
              <a:buClr>
                <a:srgbClr val="071D49"/>
              </a:buClr>
              <a:buSzPts val="1000"/>
              <a:defRPr/>
            </a:pPr>
            <a:r>
              <a:rPr kumimoji="0" lang="en-US" sz="800">
                <a:solidFill>
                  <a:srgbClr val="FFFFFF">
                    <a:lumMod val="50000"/>
                  </a:srgbClr>
                </a:solidFill>
                <a:ea typeface="Calibri"/>
                <a:cs typeface="Calibri"/>
                <a:sym typeface="Calibri"/>
              </a:rPr>
              <a:t>n = 181</a:t>
            </a:r>
            <a:endParaRPr kumimoji="0" lang="en-US" sz="800">
              <a:solidFill>
                <a:srgbClr val="FFFFFF">
                  <a:lumMod val="50000"/>
                </a:srgbClr>
              </a:solidFill>
              <a:ea typeface="Calibri"/>
              <a:cs typeface="Calibri"/>
            </a:endParaRPr>
          </a:p>
        </p:txBody>
      </p:sp>
      <p:sp>
        <p:nvSpPr>
          <p:cNvPr id="6" name="TextBox 130">
            <a:extLst>
              <a:ext uri="{FF2B5EF4-FFF2-40B4-BE49-F238E27FC236}">
                <a16:creationId xmlns:a16="http://schemas.microsoft.com/office/drawing/2014/main" id="{C440AA4F-6BE5-8B83-1247-F6FCD06BBE6B}"/>
              </a:ext>
            </a:extLst>
          </p:cNvPr>
          <p:cNvSpPr txBox="1"/>
          <p:nvPr/>
        </p:nvSpPr>
        <p:spPr>
          <a:xfrm>
            <a:off x="6235600" y="5551800"/>
            <a:ext cx="701645" cy="338554"/>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ctr" defTabSz="685783">
              <a:buClr>
                <a:srgbClr val="071D49"/>
              </a:buClr>
              <a:buSzPts val="1000"/>
              <a:defRPr/>
            </a:pPr>
            <a:r>
              <a:rPr kumimoji="0" lang="pt-BR" sz="800">
                <a:solidFill>
                  <a:srgbClr val="071D49"/>
                </a:solidFill>
                <a:ea typeface="Calibri"/>
                <a:cs typeface="Calibri"/>
                <a:sym typeface="Calibri"/>
              </a:rPr>
              <a:t>Mar’26 </a:t>
            </a:r>
          </a:p>
          <a:p>
            <a:pPr algn="ctr" defTabSz="685783">
              <a:buClr>
                <a:srgbClr val="071D49"/>
              </a:buClr>
              <a:buSzPts val="1000"/>
              <a:defRPr/>
            </a:pPr>
            <a:r>
              <a:rPr kumimoji="0" lang="pt-BR" sz="800">
                <a:solidFill>
                  <a:srgbClr val="071D49"/>
                </a:solidFill>
                <a:ea typeface="Calibri"/>
                <a:cs typeface="Calibri"/>
                <a:sym typeface="Calibri"/>
              </a:rPr>
              <a:t>n = 288</a:t>
            </a:r>
          </a:p>
        </p:txBody>
      </p:sp>
      <p:sp>
        <p:nvSpPr>
          <p:cNvPr id="7" name="TextBox 130">
            <a:extLst>
              <a:ext uri="{FF2B5EF4-FFF2-40B4-BE49-F238E27FC236}">
                <a16:creationId xmlns:a16="http://schemas.microsoft.com/office/drawing/2014/main" id="{D1873FE3-1DAA-D8F4-116B-655A737DC7DD}"/>
              </a:ext>
            </a:extLst>
          </p:cNvPr>
          <p:cNvSpPr txBox="1"/>
          <p:nvPr/>
        </p:nvSpPr>
        <p:spPr>
          <a:xfrm>
            <a:off x="6919485" y="5569522"/>
            <a:ext cx="701645" cy="338554"/>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ctr">
              <a:buClr>
                <a:srgbClr val="071D49"/>
              </a:buClr>
              <a:buSzPts val="1000"/>
            </a:pPr>
            <a:r>
              <a:rPr lang="pt-BR" sz="800">
                <a:solidFill>
                  <a:srgbClr val="7F7F7F"/>
                </a:solidFill>
                <a:ea typeface="Calibri"/>
                <a:cs typeface="Calibri"/>
                <a:sym typeface="Calibri"/>
              </a:rPr>
              <a:t>Feb’26</a:t>
            </a:r>
          </a:p>
          <a:p>
            <a:pPr algn="ctr">
              <a:buClr>
                <a:srgbClr val="071D49"/>
              </a:buClr>
              <a:buSzPts val="1000"/>
            </a:pPr>
            <a:r>
              <a:rPr lang="pt-BR" sz="800">
                <a:solidFill>
                  <a:srgbClr val="7F7F7F"/>
                </a:solidFill>
                <a:ea typeface="Calibri"/>
                <a:cs typeface="Calibri"/>
                <a:sym typeface="Calibri"/>
              </a:rPr>
              <a:t>n = 254</a:t>
            </a:r>
          </a:p>
        </p:txBody>
      </p:sp>
      <p:sp>
        <p:nvSpPr>
          <p:cNvPr id="12" name="TextBox 130">
            <a:extLst>
              <a:ext uri="{FF2B5EF4-FFF2-40B4-BE49-F238E27FC236}">
                <a16:creationId xmlns:a16="http://schemas.microsoft.com/office/drawing/2014/main" id="{369245F9-408F-8E56-84BC-86E9B0122307}"/>
              </a:ext>
            </a:extLst>
          </p:cNvPr>
          <p:cNvSpPr txBox="1"/>
          <p:nvPr/>
        </p:nvSpPr>
        <p:spPr>
          <a:xfrm>
            <a:off x="3149753" y="1399777"/>
            <a:ext cx="2457213" cy="27699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ctr" defTabSz="685783">
              <a:buClrTx/>
              <a:defRPr/>
            </a:pPr>
            <a:r>
              <a:rPr kumimoji="0" lang="en-US" sz="1200" b="1">
                <a:solidFill>
                  <a:srgbClr val="071D49"/>
                </a:solidFill>
                <a:ea typeface="Calibri"/>
                <a:cs typeface="Calibri"/>
                <a:sym typeface="Calibri"/>
              </a:rPr>
              <a:t># of HCPs by Specialty</a:t>
            </a:r>
            <a:endParaRPr kumimoji="0" lang="en-US" sz="1200">
              <a:solidFill>
                <a:srgbClr val="071D49"/>
              </a:solidFill>
              <a:ea typeface="Calibri"/>
              <a:cs typeface="Calibri"/>
              <a:sym typeface="Calibri"/>
            </a:endParaRPr>
          </a:p>
        </p:txBody>
      </p:sp>
      <p:sp>
        <p:nvSpPr>
          <p:cNvPr id="14" name="TextBox 13">
            <a:extLst>
              <a:ext uri="{FF2B5EF4-FFF2-40B4-BE49-F238E27FC236}">
                <a16:creationId xmlns:a16="http://schemas.microsoft.com/office/drawing/2014/main" id="{8F65D076-C287-8882-35B1-CF63C3E1466C}"/>
              </a:ext>
            </a:extLst>
          </p:cNvPr>
          <p:cNvSpPr txBox="1"/>
          <p:nvPr/>
        </p:nvSpPr>
        <p:spPr>
          <a:xfrm>
            <a:off x="2699609" y="1755149"/>
            <a:ext cx="1034072" cy="525465"/>
          </a:xfrm>
          <a:prstGeom prst="rect">
            <a:avLst/>
          </a:prstGeom>
          <a:noFill/>
        </p:spPr>
        <p:txBody>
          <a:bodyPr wrap="square" rtlCol="0">
            <a:spAutoFit/>
          </a:bodyPr>
          <a:lstStyle/>
          <a:p>
            <a:pPr algn="ctr" defTabSz="685783">
              <a:lnSpc>
                <a:spcPct val="150000"/>
              </a:lnSpc>
              <a:buClrTx/>
              <a:defRPr/>
            </a:pPr>
            <a:r>
              <a:rPr lang="en-IN" sz="1000" kern="1200">
                <a:latin typeface="+mn-lt"/>
              </a:rPr>
              <a:t>Gastros</a:t>
            </a:r>
          </a:p>
          <a:p>
            <a:pPr algn="ctr" defTabSz="685783">
              <a:lnSpc>
                <a:spcPct val="150000"/>
              </a:lnSpc>
              <a:buClrTx/>
              <a:defRPr/>
            </a:pPr>
            <a:r>
              <a:rPr lang="en-IN" sz="1000">
                <a:solidFill>
                  <a:srgbClr val="071D49"/>
                </a:solidFill>
                <a:latin typeface="+mn-lt"/>
                <a:ea typeface="Calibri"/>
                <a:cs typeface="Calibri"/>
              </a:rPr>
              <a:t>121</a:t>
            </a:r>
            <a:r>
              <a:rPr lang="en-IN" sz="1000">
                <a:latin typeface="+mn-lt"/>
              </a:rPr>
              <a:t> (</a:t>
            </a:r>
            <a:r>
              <a:rPr lang="en-IN" sz="1000">
                <a:solidFill>
                  <a:srgbClr val="7F7F7F"/>
                </a:solidFill>
                <a:latin typeface="+mn-lt"/>
                <a:ea typeface="Calibri"/>
                <a:cs typeface="Calibri"/>
              </a:rPr>
              <a:t>129</a:t>
            </a:r>
            <a:r>
              <a:rPr lang="en-IN" sz="1000">
                <a:latin typeface="+mn-lt"/>
              </a:rPr>
              <a:t>)</a:t>
            </a:r>
            <a:endParaRPr lang="en-IN" sz="1000" kern="1200">
              <a:latin typeface="+mn-lt"/>
            </a:endParaRPr>
          </a:p>
        </p:txBody>
      </p:sp>
      <p:sp>
        <p:nvSpPr>
          <p:cNvPr id="15" name="TextBox 14">
            <a:extLst>
              <a:ext uri="{FF2B5EF4-FFF2-40B4-BE49-F238E27FC236}">
                <a16:creationId xmlns:a16="http://schemas.microsoft.com/office/drawing/2014/main" id="{BA883227-7449-ED2C-7E77-0D3CE80196EA}"/>
              </a:ext>
            </a:extLst>
          </p:cNvPr>
          <p:cNvSpPr txBox="1"/>
          <p:nvPr/>
        </p:nvSpPr>
        <p:spPr>
          <a:xfrm>
            <a:off x="3974589" y="1755149"/>
            <a:ext cx="666829" cy="525465"/>
          </a:xfrm>
          <a:prstGeom prst="rect">
            <a:avLst/>
          </a:prstGeom>
          <a:noFill/>
        </p:spPr>
        <p:txBody>
          <a:bodyPr wrap="square" rtlCol="0">
            <a:spAutoFit/>
          </a:bodyPr>
          <a:lstStyle/>
          <a:p>
            <a:pPr algn="ctr" defTabSz="685783">
              <a:lnSpc>
                <a:spcPct val="150000"/>
              </a:lnSpc>
              <a:buClrTx/>
              <a:defRPr/>
            </a:pPr>
            <a:r>
              <a:rPr lang="en-IN" sz="1000" kern="1200">
                <a:latin typeface="+mn-lt"/>
              </a:rPr>
              <a:t>PCPs</a:t>
            </a:r>
          </a:p>
          <a:p>
            <a:pPr algn="ctr" defTabSz="685783">
              <a:lnSpc>
                <a:spcPct val="150000"/>
              </a:lnSpc>
              <a:buClrTx/>
              <a:defRPr/>
            </a:pPr>
            <a:r>
              <a:rPr lang="en-IN" sz="1000">
                <a:solidFill>
                  <a:srgbClr val="071D49"/>
                </a:solidFill>
                <a:latin typeface="+mn-lt"/>
                <a:ea typeface="Calibri"/>
                <a:cs typeface="Calibri"/>
              </a:rPr>
              <a:t>64 (</a:t>
            </a:r>
            <a:r>
              <a:rPr lang="en-IN" sz="1000">
                <a:solidFill>
                  <a:srgbClr val="7F7F7F"/>
                </a:solidFill>
                <a:latin typeface="+mn-lt"/>
                <a:ea typeface="Calibri"/>
                <a:cs typeface="Calibri"/>
              </a:rPr>
              <a:t>43</a:t>
            </a:r>
            <a:r>
              <a:rPr lang="en-IN" sz="1000">
                <a:solidFill>
                  <a:srgbClr val="071D49"/>
                </a:solidFill>
                <a:latin typeface="+mn-lt"/>
                <a:ea typeface="Calibri"/>
                <a:cs typeface="Calibri"/>
              </a:rPr>
              <a:t>)</a:t>
            </a:r>
          </a:p>
        </p:txBody>
      </p:sp>
      <p:sp>
        <p:nvSpPr>
          <p:cNvPr id="16" name="TextBox 15">
            <a:extLst>
              <a:ext uri="{FF2B5EF4-FFF2-40B4-BE49-F238E27FC236}">
                <a16:creationId xmlns:a16="http://schemas.microsoft.com/office/drawing/2014/main" id="{21375772-D762-2A58-A5C1-39008BD1E896}"/>
              </a:ext>
            </a:extLst>
          </p:cNvPr>
          <p:cNvSpPr txBox="1"/>
          <p:nvPr/>
        </p:nvSpPr>
        <p:spPr>
          <a:xfrm>
            <a:off x="5030369" y="1755149"/>
            <a:ext cx="666829" cy="525465"/>
          </a:xfrm>
          <a:prstGeom prst="rect">
            <a:avLst/>
          </a:prstGeom>
          <a:noFill/>
        </p:spPr>
        <p:txBody>
          <a:bodyPr wrap="square" rtlCol="0">
            <a:spAutoFit/>
          </a:bodyPr>
          <a:lstStyle/>
          <a:p>
            <a:pPr algn="ctr" defTabSz="685783">
              <a:lnSpc>
                <a:spcPct val="150000"/>
              </a:lnSpc>
              <a:buClrTx/>
              <a:defRPr/>
            </a:pPr>
            <a:r>
              <a:rPr lang="en-IN" sz="1000" kern="1200">
                <a:latin typeface="+mn-lt"/>
              </a:rPr>
              <a:t>NP/PAs</a:t>
            </a:r>
          </a:p>
          <a:p>
            <a:pPr algn="ctr" defTabSz="685783">
              <a:lnSpc>
                <a:spcPct val="150000"/>
              </a:lnSpc>
              <a:buClrTx/>
              <a:defRPr/>
            </a:pPr>
            <a:r>
              <a:rPr lang="en-IN" sz="1000">
                <a:solidFill>
                  <a:srgbClr val="071D49"/>
                </a:solidFill>
                <a:latin typeface="+mn-lt"/>
                <a:ea typeface="Calibri"/>
                <a:cs typeface="Calibri"/>
              </a:rPr>
              <a:t>53 (</a:t>
            </a:r>
            <a:r>
              <a:rPr lang="en-IN" sz="1000">
                <a:solidFill>
                  <a:srgbClr val="7F7F7F"/>
                </a:solidFill>
                <a:latin typeface="+mn-lt"/>
                <a:ea typeface="Calibri"/>
                <a:cs typeface="Calibri"/>
              </a:rPr>
              <a:t>49</a:t>
            </a:r>
            <a:r>
              <a:rPr lang="en-IN" sz="1000">
                <a:solidFill>
                  <a:srgbClr val="071D49"/>
                </a:solidFill>
                <a:latin typeface="+mn-lt"/>
                <a:ea typeface="Calibri"/>
                <a:cs typeface="Calibri"/>
              </a:rPr>
              <a:t>)</a:t>
            </a:r>
          </a:p>
        </p:txBody>
      </p:sp>
      <p:sp>
        <p:nvSpPr>
          <p:cNvPr id="9" name="TextBox 130">
            <a:extLst>
              <a:ext uri="{FF2B5EF4-FFF2-40B4-BE49-F238E27FC236}">
                <a16:creationId xmlns:a16="http://schemas.microsoft.com/office/drawing/2014/main" id="{5B5EB1A1-981E-40FA-0CA3-1CBB29528F69}"/>
              </a:ext>
            </a:extLst>
          </p:cNvPr>
          <p:cNvSpPr txBox="1"/>
          <p:nvPr/>
        </p:nvSpPr>
        <p:spPr>
          <a:xfrm>
            <a:off x="6465953" y="1428135"/>
            <a:ext cx="2457213" cy="27699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ctr" defTabSz="685783">
              <a:buClrTx/>
              <a:defRPr/>
            </a:pPr>
            <a:r>
              <a:rPr kumimoji="0" lang="en-US" sz="1200" b="1">
                <a:solidFill>
                  <a:srgbClr val="071D49"/>
                </a:solidFill>
                <a:ea typeface="Calibri"/>
                <a:cs typeface="Calibri"/>
                <a:sym typeface="Calibri"/>
              </a:rPr>
              <a:t>Practice Setting</a:t>
            </a:r>
            <a:endParaRPr kumimoji="0" lang="en-US" sz="1200">
              <a:solidFill>
                <a:srgbClr val="071D49"/>
              </a:solidFill>
              <a:ea typeface="Calibri"/>
              <a:cs typeface="Calibri"/>
              <a:sym typeface="Calibri"/>
            </a:endParaRPr>
          </a:p>
        </p:txBody>
      </p:sp>
      <p:sp>
        <p:nvSpPr>
          <p:cNvPr id="8" name="Rectangle 7">
            <a:extLst>
              <a:ext uri="{FF2B5EF4-FFF2-40B4-BE49-F238E27FC236}">
                <a16:creationId xmlns:a16="http://schemas.microsoft.com/office/drawing/2014/main" id="{518E8D1C-7B33-FF67-7F6A-782F78070997}"/>
              </a:ext>
            </a:extLst>
          </p:cNvPr>
          <p:cNvSpPr/>
          <p:nvPr/>
        </p:nvSpPr>
        <p:spPr>
          <a:xfrm>
            <a:off x="7017729" y="1813837"/>
            <a:ext cx="462786" cy="3766635"/>
          </a:xfrm>
          <a:prstGeom prst="rect">
            <a:avLst/>
          </a:prstGeom>
          <a:solidFill>
            <a:srgbClr val="FFFFFF">
              <a:alpha val="4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B956FAC7-9679-118B-306D-FBC757ACDE72}"/>
              </a:ext>
            </a:extLst>
          </p:cNvPr>
          <p:cNvSpPr/>
          <p:nvPr/>
        </p:nvSpPr>
        <p:spPr>
          <a:xfrm>
            <a:off x="3261664" y="3957875"/>
            <a:ext cx="2819208" cy="375129"/>
          </a:xfrm>
          <a:prstGeom prst="rect">
            <a:avLst/>
          </a:prstGeom>
          <a:solidFill>
            <a:srgbClr val="FFFFFF">
              <a:alpha val="4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2431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164"/>
        <p:cNvGrpSpPr/>
        <p:nvPr/>
      </p:nvGrpSpPr>
      <p:grpSpPr>
        <a:xfrm>
          <a:off x="0" y="0"/>
          <a:ext cx="0" cy="0"/>
          <a:chOff x="0" y="0"/>
          <a:chExt cx="0" cy="0"/>
        </a:xfrm>
      </p:grpSpPr>
      <p:sp>
        <p:nvSpPr>
          <p:cNvPr id="1165" name="Google Shape;1165;p92"/>
          <p:cNvSpPr txBox="1">
            <a:spLocks noGrp="1"/>
          </p:cNvSpPr>
          <p:nvPr>
            <p:ph type="ctrTitle"/>
          </p:nvPr>
        </p:nvSpPr>
        <p:spPr>
          <a:prstGeom prst="rect">
            <a:avLst/>
          </a:prstGeom>
          <a:noFill/>
          <a:ln>
            <a:noFill/>
          </a:ln>
        </p:spPr>
        <p:txBody>
          <a:bodyPr spcFirstLastPara="1" wrap="square" lIns="0" tIns="45700" rIns="91425" bIns="45700" anchor="b" anchorCtr="0">
            <a:noAutofit/>
          </a:bodyPr>
          <a:lstStyle/>
          <a:p>
            <a:pPr>
              <a:buSzPts val="4000"/>
            </a:pPr>
            <a:r>
              <a:rPr lang="en-US"/>
              <a:t>Executive Summary</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197">
          <a:extLst>
            <a:ext uri="{FF2B5EF4-FFF2-40B4-BE49-F238E27FC236}">
              <a16:creationId xmlns:a16="http://schemas.microsoft.com/office/drawing/2014/main" id="{84750DE5-0D85-83E8-E7EE-2F5D7CDB593B}"/>
            </a:ext>
          </a:extLst>
        </p:cNvPr>
        <p:cNvGrpSpPr/>
        <p:nvPr/>
      </p:nvGrpSpPr>
      <p:grpSpPr>
        <a:xfrm>
          <a:off x="0" y="0"/>
          <a:ext cx="0" cy="0"/>
          <a:chOff x="0" y="0"/>
          <a:chExt cx="0" cy="0"/>
        </a:xfrm>
      </p:grpSpPr>
      <p:sp>
        <p:nvSpPr>
          <p:cNvPr id="1208" name="Google Shape;1208;p94">
            <a:extLst>
              <a:ext uri="{FF2B5EF4-FFF2-40B4-BE49-F238E27FC236}">
                <a16:creationId xmlns:a16="http://schemas.microsoft.com/office/drawing/2014/main" id="{FCD182AC-A301-4341-DEB7-6A8B4B7D3DD6}"/>
              </a:ext>
            </a:extLst>
          </p:cNvPr>
          <p:cNvSpPr txBox="1">
            <a:spLocks noGrp="1"/>
          </p:cNvSpPr>
          <p:nvPr>
            <p:ph type="title"/>
          </p:nvPr>
        </p:nvSpPr>
        <p:spPr>
          <a:prstGeom prst="rect">
            <a:avLst/>
          </a:prstGeom>
          <a:noFill/>
          <a:ln>
            <a:noFill/>
          </a:ln>
        </p:spPr>
        <p:txBody>
          <a:bodyPr spcFirstLastPara="1" vert="horz" wrap="square" lIns="0" tIns="45700" rIns="91425" bIns="45700" rtlCol="0" anchor="ctr" anchorCtr="0">
            <a:noAutofit/>
          </a:bodyPr>
          <a:lstStyle/>
          <a:p>
            <a:pPr>
              <a:spcBef>
                <a:spcPts val="0"/>
              </a:spcBef>
              <a:buClr>
                <a:schemeClr val="dk1"/>
              </a:buClr>
              <a:buSzPts val="1900"/>
            </a:pPr>
            <a:r>
              <a:rPr lang="en-US">
                <a:solidFill>
                  <a:srgbClr val="002060"/>
                </a:solidFill>
              </a:rPr>
              <a:t>KBQs and Key Findings (1/2)</a:t>
            </a:r>
          </a:p>
        </p:txBody>
      </p:sp>
      <p:sp>
        <p:nvSpPr>
          <p:cNvPr id="2" name="Table Placeholder 1">
            <a:extLst>
              <a:ext uri="{FF2B5EF4-FFF2-40B4-BE49-F238E27FC236}">
                <a16:creationId xmlns:a16="http://schemas.microsoft.com/office/drawing/2014/main" id="{A39AA389-F8F6-EFAB-135D-CF1D7CED51F5}"/>
              </a:ext>
            </a:extLst>
          </p:cNvPr>
          <p:cNvSpPr>
            <a:spLocks noGrp="1"/>
          </p:cNvSpPr>
          <p:nvPr>
            <p:ph type="tbl" sz="quarter" idx="10"/>
          </p:nvPr>
        </p:nvSpPr>
        <p:spPr/>
        <p:txBody>
          <a:bodyPr/>
          <a:lstStyle/>
          <a:p>
            <a:endParaRPr lang="en-US"/>
          </a:p>
        </p:txBody>
      </p:sp>
      <p:graphicFrame>
        <p:nvGraphicFramePr>
          <p:cNvPr id="4" name="Table 3">
            <a:extLst>
              <a:ext uri="{FF2B5EF4-FFF2-40B4-BE49-F238E27FC236}">
                <a16:creationId xmlns:a16="http://schemas.microsoft.com/office/drawing/2014/main" id="{7E38DBD5-2073-54D6-8900-377D67EA873D}"/>
              </a:ext>
            </a:extLst>
          </p:cNvPr>
          <p:cNvGraphicFramePr>
            <a:graphicFrameLocks noGrp="1"/>
          </p:cNvGraphicFramePr>
          <p:nvPr>
            <p:custDataLst>
              <p:tags r:id="rId1"/>
            </p:custDataLst>
            <p:extLst>
              <p:ext uri="{D42A27DB-BD31-4B8C-83A1-F6EECF244321}">
                <p14:modId xmlns:p14="http://schemas.microsoft.com/office/powerpoint/2010/main" val="1889444035"/>
              </p:ext>
            </p:extLst>
          </p:nvPr>
        </p:nvGraphicFramePr>
        <p:xfrm>
          <a:off x="334397" y="971331"/>
          <a:ext cx="8454720" cy="4800441"/>
        </p:xfrm>
        <a:graphic>
          <a:graphicData uri="http://schemas.openxmlformats.org/drawingml/2006/table">
            <a:tbl>
              <a:tblPr firstRow="1" bandRow="1">
                <a:tableStyleId>{96BACEE3-1A1D-4107-9369-2142449FF59F}</a:tableStyleId>
              </a:tblPr>
              <a:tblGrid>
                <a:gridCol w="607435">
                  <a:extLst>
                    <a:ext uri="{9D8B030D-6E8A-4147-A177-3AD203B41FA5}">
                      <a16:colId xmlns:a16="http://schemas.microsoft.com/office/drawing/2014/main" val="402168483"/>
                    </a:ext>
                  </a:extLst>
                </a:gridCol>
                <a:gridCol w="7847285">
                  <a:extLst>
                    <a:ext uri="{9D8B030D-6E8A-4147-A177-3AD203B41FA5}">
                      <a16:colId xmlns:a16="http://schemas.microsoft.com/office/drawing/2014/main" val="3893776607"/>
                    </a:ext>
                  </a:extLst>
                </a:gridCol>
              </a:tblGrid>
              <a:tr h="574921">
                <a:tc>
                  <a:txBody>
                    <a:bodyPr/>
                    <a:lstStyle/>
                    <a:p>
                      <a:pPr algn="ctr"/>
                      <a:r>
                        <a:rPr lang="en-US" sz="1200" b="1" kern="1200">
                          <a:solidFill>
                            <a:srgbClr val="002060"/>
                          </a:solidFill>
                          <a:latin typeface="Arial"/>
                          <a:ea typeface="Calibri"/>
                          <a:cs typeface="Arial"/>
                        </a:rPr>
                        <a:t>1.</a:t>
                      </a:r>
                      <a:endParaRPr lang="en-IN" sz="1200" b="1" kern="1200">
                        <a:solidFill>
                          <a:srgbClr val="002060"/>
                        </a:solidFill>
                        <a:latin typeface="Arial"/>
                        <a:ea typeface="Calibri"/>
                        <a:cs typeface="Arial"/>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l" defTabSz="685800" rtl="0" eaLnBrk="1" fontAlgn="auto" latinLnBrk="0" hangingPunct="1">
                        <a:lnSpc>
                          <a:spcPts val="1600"/>
                        </a:lnSpc>
                        <a:spcBef>
                          <a:spcPts val="0"/>
                        </a:spcBef>
                        <a:spcAft>
                          <a:spcPts val="0"/>
                        </a:spcAft>
                        <a:buClrTx/>
                        <a:buSzTx/>
                        <a:buFontTx/>
                        <a:buNone/>
                        <a:tabLst/>
                        <a:defRPr/>
                      </a:pPr>
                      <a:r>
                        <a:rPr kumimoji="0" lang="en-US" sz="1200" b="1" i="0" u="none" strike="noStrike" kern="0" cap="none" spc="0" normalizeH="0" baseline="0" noProof="0">
                          <a:ln>
                            <a:noFill/>
                          </a:ln>
                          <a:solidFill>
                            <a:srgbClr val="002060"/>
                          </a:solidFill>
                          <a:effectLst/>
                          <a:uLnTx/>
                          <a:uFillTx/>
                          <a:latin typeface="Arial"/>
                          <a:cs typeface="Arial"/>
                          <a:sym typeface="Arial"/>
                        </a:rPr>
                        <a:t>Are HCPs perceptions of access/cost impacting the market? Has recall, effectiveness or underlying measures of relevance, uniqueness, believability of access and/or cost messages shifted over time?</a:t>
                      </a:r>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44432798"/>
                  </a:ext>
                </a:extLst>
              </a:tr>
              <a:tr h="1542555">
                <a:tc>
                  <a:txBody>
                    <a:bodyPr/>
                    <a:lstStyle/>
                    <a:p>
                      <a:pPr algn="ctr"/>
                      <a:endParaRPr lang="en-IN" sz="1200" b="1" kern="1200">
                        <a:solidFill>
                          <a:srgbClr val="002060"/>
                        </a:solidFill>
                        <a:latin typeface="Arial" panose="020B0604020202020204" pitchFamily="34" charset="0"/>
                        <a:ea typeface="Calibri"/>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171450" lvl="0" indent="-171450" defTabSz="685800" eaLnBrk="1" fontAlgn="auto" hangingPunct="1">
                        <a:lnSpc>
                          <a:spcPts val="1400"/>
                        </a:lnSpc>
                        <a:spcBef>
                          <a:spcPts val="600"/>
                        </a:spcBef>
                        <a:spcAft>
                          <a:spcPts val="0"/>
                        </a:spcAft>
                        <a:buFont typeface="Arial" panose="020B0604020202020204" pitchFamily="34" charset="0"/>
                        <a:buChar char="•"/>
                        <a:defRPr/>
                      </a:pPr>
                      <a:r>
                        <a:rPr lang="en-GB" sz="1100" b="1"/>
                        <a:t>CREON maintained its leadership </a:t>
                      </a:r>
                      <a:r>
                        <a:rPr lang="en-GB" sz="1100"/>
                        <a:t>over ZENPEP across all access attributes, consistent with trends observed over the past year, despite both brands experiencing a </a:t>
                      </a:r>
                      <a:r>
                        <a:rPr lang="en-GB" sz="1100" b="1"/>
                        <a:t>decline</a:t>
                      </a:r>
                      <a:r>
                        <a:rPr lang="en-GB" sz="1100"/>
                        <a:t> across access attributes in the current wave</a:t>
                      </a:r>
                      <a:r>
                        <a:rPr lang="en-US" sz="1100" b="0" u="none" kern="1200">
                          <a:solidFill>
                            <a:srgbClr val="002060"/>
                          </a:solidFill>
                          <a:effectLst/>
                          <a:latin typeface="Arial"/>
                          <a:ea typeface="Calibri"/>
                          <a:cs typeface="Arial" panose="020B0604020202020204" pitchFamily="34" charset="0"/>
                          <a:sym typeface="Calibri"/>
                        </a:rPr>
                        <a:t>. (</a:t>
                      </a:r>
                      <a:r>
                        <a:rPr lang="en-US" sz="1100" b="0" i="1" u="none" kern="1200">
                          <a:solidFill>
                            <a:schemeClr val="accent6">
                              <a:lumMod val="60000"/>
                              <a:lumOff val="40000"/>
                            </a:schemeClr>
                          </a:solidFill>
                          <a:effectLst/>
                          <a:latin typeface="Arial"/>
                          <a:ea typeface="Calibri"/>
                          <a:cs typeface="Arial" panose="020B0604020202020204" pitchFamily="34" charset="0"/>
                          <a:sym typeface="Calibri"/>
                          <a:hlinkClick r:id="rId4" action="ppaction://hlinksldjump">
                            <a:extLst>
                              <a:ext uri="{A12FA001-AC4F-418D-AE19-62706E023703}">
                                <ahyp:hlinkClr xmlns:ahyp="http://schemas.microsoft.com/office/drawing/2018/hyperlinkcolor" val="tx"/>
                              </a:ext>
                            </a:extLst>
                          </a:hlinkClick>
                        </a:rPr>
                        <a:t>Product Performance</a:t>
                      </a:r>
                      <a:r>
                        <a:rPr lang="en-US" sz="1100" b="0" u="none" kern="1200">
                          <a:solidFill>
                            <a:srgbClr val="002060"/>
                          </a:solidFill>
                          <a:effectLst/>
                          <a:latin typeface="Arial"/>
                          <a:ea typeface="Calibri"/>
                          <a:cs typeface="Arial" panose="020B0604020202020204" pitchFamily="34" charset="0"/>
                          <a:sym typeface="Calibri"/>
                        </a:rPr>
                        <a:t>)(</a:t>
                      </a:r>
                      <a:r>
                        <a:rPr lang="en-US" sz="1100" b="0" i="1" u="none" kern="1200">
                          <a:solidFill>
                            <a:schemeClr val="accent6">
                              <a:lumMod val="60000"/>
                              <a:lumOff val="40000"/>
                            </a:schemeClr>
                          </a:solidFill>
                          <a:effectLst/>
                          <a:latin typeface="Arial"/>
                          <a:ea typeface="Calibri"/>
                          <a:cs typeface="Arial" panose="020B0604020202020204" pitchFamily="34" charset="0"/>
                          <a:sym typeface="Calibri"/>
                          <a:hlinkClick r:id="rId5" action="ppaction://hlinksldjump">
                            <a:extLst>
                              <a:ext uri="{A12FA001-AC4F-418D-AE19-62706E023703}">
                                <ahyp:hlinkClr xmlns:ahyp="http://schemas.microsoft.com/office/drawing/2018/hyperlinkcolor" val="tx"/>
                              </a:ext>
                            </a:extLst>
                          </a:hlinkClick>
                        </a:rPr>
                        <a:t>Breakdown by Specialty</a:t>
                      </a:r>
                      <a:r>
                        <a:rPr lang="en-US" sz="1100" b="0" u="none" kern="1200">
                          <a:solidFill>
                            <a:srgbClr val="002060"/>
                          </a:solidFill>
                          <a:effectLst/>
                          <a:latin typeface="Arial"/>
                          <a:ea typeface="Calibri"/>
                          <a:cs typeface="Arial" panose="020B0604020202020204" pitchFamily="34" charset="0"/>
                          <a:sym typeface="Calibri"/>
                        </a:rPr>
                        <a:t>)</a:t>
                      </a:r>
                    </a:p>
                    <a:p>
                      <a:pPr marL="171450" lvl="0" indent="-171450" defTabSz="685800" eaLnBrk="1" fontAlgn="auto" hangingPunct="1">
                        <a:lnSpc>
                          <a:spcPts val="1400"/>
                        </a:lnSpc>
                        <a:spcBef>
                          <a:spcPts val="600"/>
                        </a:spcBef>
                        <a:spcAft>
                          <a:spcPts val="0"/>
                        </a:spcAft>
                        <a:buFont typeface="Arial" panose="020B0604020202020204" pitchFamily="34" charset="0"/>
                        <a:buChar char="•"/>
                        <a:defRPr/>
                      </a:pPr>
                      <a:r>
                        <a:rPr lang="en-GB" sz="1100" b="0"/>
                        <a:t>Access messages continue to </a:t>
                      </a:r>
                      <a:r>
                        <a:rPr lang="en-GB" sz="1100" b="1"/>
                        <a:t>score high on motivation but lower on believability</a:t>
                      </a:r>
                      <a:r>
                        <a:rPr lang="en-GB" sz="1100" b="0"/>
                        <a:t>, </a:t>
                      </a:r>
                      <a:r>
                        <a:rPr lang="en-GB" sz="1100"/>
                        <a:t>with the current wave reflecting an impact on HCP perceptions of access attributes</a:t>
                      </a:r>
                      <a:r>
                        <a:rPr lang="en-US" sz="1100" b="0" u="none" kern="1200">
                          <a:solidFill>
                            <a:srgbClr val="002060"/>
                          </a:solidFill>
                          <a:effectLst/>
                          <a:latin typeface="Arial"/>
                          <a:ea typeface="Calibri"/>
                          <a:cs typeface="Arial" panose="020B0604020202020204" pitchFamily="34" charset="0"/>
                          <a:sym typeface="Calibri"/>
                        </a:rPr>
                        <a:t>.  (</a:t>
                      </a:r>
                      <a:r>
                        <a:rPr lang="en-US" sz="1100" b="0" i="1" u="none" kern="1200">
                          <a:solidFill>
                            <a:schemeClr val="accent6">
                              <a:lumMod val="60000"/>
                              <a:lumOff val="40000"/>
                            </a:schemeClr>
                          </a:solidFill>
                          <a:effectLst/>
                          <a:latin typeface="Arial"/>
                          <a:ea typeface="Calibri"/>
                          <a:cs typeface="Arial" panose="020B0604020202020204" pitchFamily="34" charset="0"/>
                          <a:sym typeface="Calibri"/>
                          <a:hlinkClick r:id="rId6" action="ppaction://hlinksldjump">
                            <a:extLst>
                              <a:ext uri="{A12FA001-AC4F-418D-AE19-62706E023703}">
                                <ahyp:hlinkClr xmlns:ahyp="http://schemas.microsoft.com/office/drawing/2018/hyperlinkcolor" val="tx"/>
                              </a:ext>
                            </a:extLst>
                          </a:hlinkClick>
                        </a:rPr>
                        <a:t>Message Recall &amp; Message Effectiveness</a:t>
                      </a:r>
                      <a:r>
                        <a:rPr lang="en-US" sz="1100" b="0" u="none" kern="1200">
                          <a:solidFill>
                            <a:srgbClr val="002060"/>
                          </a:solidFill>
                          <a:effectLst/>
                          <a:latin typeface="Arial"/>
                          <a:ea typeface="Calibri"/>
                          <a:cs typeface="Arial" panose="020B0604020202020204" pitchFamily="34" charset="0"/>
                          <a:sym typeface="Calibri"/>
                        </a:rPr>
                        <a:t>) </a:t>
                      </a:r>
                      <a:r>
                        <a:rPr lang="en-US" sz="1100" b="0" u="none" kern="1200">
                          <a:solidFill>
                            <a:schemeClr val="tx1"/>
                          </a:solidFill>
                          <a:effectLst/>
                          <a:latin typeface="Arial"/>
                          <a:ea typeface="Calibri"/>
                          <a:cs typeface="Arial" panose="020B0604020202020204" pitchFamily="34" charset="0"/>
                          <a:sym typeface="Calibri"/>
                        </a:rPr>
                        <a:t>(</a:t>
                      </a:r>
                      <a:r>
                        <a:rPr lang="en-GB" sz="1100" b="0" i="1" u="none" kern="1200">
                          <a:solidFill>
                            <a:srgbClr val="66C7FF"/>
                          </a:solidFill>
                          <a:effectLst/>
                          <a:latin typeface="Arial"/>
                          <a:ea typeface="Calibri"/>
                          <a:cs typeface="Arial" panose="020B0604020202020204" pitchFamily="34" charset="0"/>
                          <a:sym typeface="Calibri"/>
                          <a:hlinkClick r:id="rId7" action="ppaction://hlinksldjump">
                            <a:extLst>
                              <a:ext uri="{A12FA001-AC4F-418D-AE19-62706E023703}">
                                <ahyp:hlinkClr xmlns:ahyp="http://schemas.microsoft.com/office/drawing/2018/hyperlinkcolor" val="tx"/>
                              </a:ext>
                            </a:extLst>
                          </a:hlinkClick>
                        </a:rPr>
                        <a:t>Recall vs Effectiveness (CREON and ZENPEP)</a:t>
                      </a:r>
                      <a:r>
                        <a:rPr lang="en-US" sz="1100" b="0" i="1" u="none" kern="1200">
                          <a:solidFill>
                            <a:schemeClr val="tx1"/>
                          </a:solidFill>
                          <a:effectLst/>
                          <a:latin typeface="Arial"/>
                          <a:ea typeface="Calibri"/>
                          <a:cs typeface="Arial" panose="020B0604020202020204" pitchFamily="34" charset="0"/>
                          <a:sym typeface="Calibri"/>
                        </a:rPr>
                        <a:t>)</a:t>
                      </a:r>
                      <a:endParaRPr lang="en-US" sz="1100" b="0" u="none" kern="1200">
                        <a:solidFill>
                          <a:schemeClr val="tx1"/>
                        </a:solidFill>
                        <a:effectLst/>
                        <a:latin typeface="Arial"/>
                        <a:ea typeface="Calibri"/>
                        <a:cs typeface="Arial" panose="020B0604020202020204" pitchFamily="34" charset="0"/>
                        <a:sym typeface="Calibri"/>
                      </a:endParaRPr>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5671514"/>
                  </a:ext>
                </a:extLst>
              </a:tr>
              <a:tr h="1034858">
                <a:tc>
                  <a:txBody>
                    <a:bodyPr/>
                    <a:lstStyle/>
                    <a:p>
                      <a:pPr algn="ctr"/>
                      <a:r>
                        <a:rPr lang="en-US" sz="1200" b="1" kern="1200">
                          <a:solidFill>
                            <a:srgbClr val="002060"/>
                          </a:solidFill>
                          <a:latin typeface="Arial"/>
                          <a:ea typeface="Calibri"/>
                          <a:cs typeface="Arial"/>
                        </a:rPr>
                        <a:t>2.</a:t>
                      </a:r>
                      <a:endParaRPr lang="en-IN" sz="1200" b="1" kern="1200">
                        <a:solidFill>
                          <a:srgbClr val="002060"/>
                        </a:solidFill>
                        <a:latin typeface="Arial"/>
                        <a:ea typeface="Calibri"/>
                        <a:cs typeface="Arial"/>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l" defTabSz="685800" rtl="0" eaLnBrk="1" fontAlgn="auto" latinLnBrk="0" hangingPunct="1">
                        <a:lnSpc>
                          <a:spcPts val="1600"/>
                        </a:lnSpc>
                        <a:spcBef>
                          <a:spcPts val="0"/>
                        </a:spcBef>
                        <a:spcAft>
                          <a:spcPts val="0"/>
                        </a:spcAft>
                        <a:buClrTx/>
                        <a:buSzTx/>
                        <a:buFontTx/>
                        <a:buNone/>
                        <a:tabLst/>
                        <a:defRPr/>
                      </a:pPr>
                      <a:r>
                        <a:rPr kumimoji="0" lang="en-US" sz="1200" b="1" i="0" u="none" strike="noStrike" kern="0" cap="none" spc="0" normalizeH="0" baseline="0">
                          <a:ln>
                            <a:noFill/>
                          </a:ln>
                          <a:solidFill>
                            <a:srgbClr val="002060"/>
                          </a:solidFill>
                          <a:effectLst/>
                          <a:uLnTx/>
                          <a:uFillTx/>
                          <a:latin typeface="Arial"/>
                          <a:cs typeface="Arial"/>
                        </a:rPr>
                        <a:t>How do HCPs perceive interactions with CREON representatives compared to ZENPEP representatives? Based on overall sales call quality (OSQ) &amp; likelihood to increase prescription (LTIP) impact analyses, what are the key drivers of rep effectiveness for CREON vs. ZENPEP, and which areas should CREON prioritize to maximize impact in future engagements? </a:t>
                      </a:r>
                      <a:endParaRPr kumimoji="0" lang="en-US" sz="1200" b="1" i="0" u="none" strike="noStrike" kern="0" cap="none" spc="0" normalizeH="0" baseline="0" noProof="0">
                        <a:ln>
                          <a:noFill/>
                        </a:ln>
                        <a:solidFill>
                          <a:srgbClr val="002060"/>
                        </a:solidFill>
                        <a:effectLst/>
                        <a:uLnTx/>
                        <a:uFillTx/>
                        <a:latin typeface="Arial"/>
                        <a:cs typeface="Arial"/>
                      </a:endParaRPr>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06277805"/>
                  </a:ext>
                </a:extLst>
              </a:tr>
              <a:tr h="1648107">
                <a:tc>
                  <a:txBody>
                    <a:bodyPr/>
                    <a:lstStyle/>
                    <a:p>
                      <a:pPr algn="ctr"/>
                      <a:endParaRPr lang="en-IN" sz="1200" b="1" kern="1200">
                        <a:solidFill>
                          <a:srgbClr val="002060"/>
                        </a:solidFill>
                        <a:latin typeface="Arial" panose="020B0604020202020204" pitchFamily="34" charset="0"/>
                        <a:ea typeface="Calibri"/>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171450" lvl="0" indent="-171450" defTabSz="685800" eaLnBrk="1" fontAlgn="auto" hangingPunct="1">
                        <a:lnSpc>
                          <a:spcPts val="1400"/>
                        </a:lnSpc>
                        <a:spcBef>
                          <a:spcPts val="600"/>
                        </a:spcBef>
                        <a:spcAft>
                          <a:spcPts val="0"/>
                        </a:spcAft>
                        <a:buFont typeface="Arial" panose="020B0604020202020204" pitchFamily="34" charset="0"/>
                        <a:buChar char="•"/>
                        <a:defRPr/>
                      </a:pPr>
                      <a:r>
                        <a:rPr lang="en-GB" sz="1100" b="1"/>
                        <a:t>CREON reps improved across most attributes </a:t>
                      </a:r>
                      <a:r>
                        <a:rPr lang="en-GB" sz="1100"/>
                        <a:t>and continued to lead on preparedness and access, while </a:t>
                      </a:r>
                      <a:r>
                        <a:rPr lang="en-GB" sz="1100" b="0"/>
                        <a:t>ZENPEP reps overtook CREON this wave on delivering a compelling reason to prescribe </a:t>
                      </a:r>
                      <a:r>
                        <a:rPr lang="en-US" sz="1100" b="0" u="none" kern="1200">
                          <a:solidFill>
                            <a:srgbClr val="002060"/>
                          </a:solidFill>
                          <a:effectLst/>
                          <a:latin typeface="Arial"/>
                          <a:ea typeface="Calibri"/>
                          <a:cs typeface="Arial" panose="020B0604020202020204" pitchFamily="34" charset="0"/>
                          <a:sym typeface="Calibri"/>
                        </a:rPr>
                        <a:t>(</a:t>
                      </a:r>
                      <a:r>
                        <a:rPr lang="en-US" sz="1100" b="0" i="1" u="none" kern="1200">
                          <a:solidFill>
                            <a:schemeClr val="accent6">
                              <a:lumMod val="60000"/>
                              <a:lumOff val="40000"/>
                            </a:schemeClr>
                          </a:solidFill>
                          <a:effectLst/>
                          <a:latin typeface="Arial"/>
                          <a:ea typeface="Calibri"/>
                          <a:cs typeface="Arial" panose="020B0604020202020204" pitchFamily="34" charset="0"/>
                          <a:sym typeface="Calibri"/>
                          <a:hlinkClick r:id="rId8" action="ppaction://hlinksldjump">
                            <a:extLst>
                              <a:ext uri="{A12FA001-AC4F-418D-AE19-62706E023703}">
                                <ahyp:hlinkClr xmlns:ahyp="http://schemas.microsoft.com/office/drawing/2018/hyperlinkcolor" val="tx"/>
                              </a:ext>
                            </a:extLst>
                          </a:hlinkClick>
                        </a:rPr>
                        <a:t>Rep Performance</a:t>
                      </a:r>
                      <a:r>
                        <a:rPr lang="en-US" sz="1100" b="0" u="none" kern="1200">
                          <a:solidFill>
                            <a:srgbClr val="002060"/>
                          </a:solidFill>
                          <a:effectLst/>
                          <a:latin typeface="Arial"/>
                          <a:ea typeface="Calibri"/>
                          <a:cs typeface="Arial" panose="020B0604020202020204" pitchFamily="34" charset="0"/>
                          <a:sym typeface="Calibri"/>
                        </a:rPr>
                        <a:t>)</a:t>
                      </a:r>
                    </a:p>
                    <a:p>
                      <a:pPr marL="171450" marR="0" lvl="0"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GB" sz="1100" b="1"/>
                        <a:t>OSQ and LTIP</a:t>
                      </a:r>
                      <a:r>
                        <a:rPr lang="en-GB" sz="1100"/>
                        <a:t>, which declined in the previous wave, </a:t>
                      </a:r>
                      <a:r>
                        <a:rPr lang="en-GB" sz="1100" b="1"/>
                        <a:t>rebounded this wave</a:t>
                      </a:r>
                      <a:r>
                        <a:rPr lang="en-GB" sz="1100"/>
                        <a:t>, with the strongest OSQ improvement observed among Gastro’s. The modest increase in CREON LTIP was primarily driven by NP/PAs, while ZENPEP experienced a decline in LTIP largely driven by gastro HCPs </a:t>
                      </a:r>
                      <a:r>
                        <a:rPr lang="en-US" sz="1100" b="0" u="none" kern="1200">
                          <a:solidFill>
                            <a:srgbClr val="002060"/>
                          </a:solidFill>
                          <a:effectLst/>
                          <a:latin typeface="Arial"/>
                          <a:ea typeface="Calibri"/>
                          <a:cs typeface="Arial" panose="020B0604020202020204" pitchFamily="34" charset="0"/>
                          <a:sym typeface="Calibri"/>
                        </a:rPr>
                        <a:t>(</a:t>
                      </a:r>
                      <a:r>
                        <a:rPr lang="en-US" sz="1100" b="0" i="1" u="none" kern="1200">
                          <a:solidFill>
                            <a:srgbClr val="66C7FF"/>
                          </a:solidFill>
                          <a:effectLst/>
                          <a:latin typeface="Arial"/>
                          <a:ea typeface="Calibri"/>
                          <a:cs typeface="Arial" panose="020B0604020202020204" pitchFamily="34" charset="0"/>
                          <a:sym typeface="Calibri"/>
                          <a:hlinkClick r:id="rId9" action="ppaction://hlinksldjump">
                            <a:extLst>
                              <a:ext uri="{A12FA001-AC4F-418D-AE19-62706E023703}">
                                <ahyp:hlinkClr xmlns:ahyp="http://schemas.microsoft.com/office/drawing/2018/hyperlinkcolor" val="tx"/>
                              </a:ext>
                            </a:extLst>
                          </a:hlinkClick>
                        </a:rPr>
                        <a:t>OSQ and LTIP trends</a:t>
                      </a:r>
                      <a:r>
                        <a:rPr lang="en-US" sz="1100" b="0" u="none" kern="1200">
                          <a:solidFill>
                            <a:srgbClr val="002060"/>
                          </a:solidFill>
                          <a:effectLst/>
                          <a:latin typeface="Arial"/>
                          <a:ea typeface="Calibri"/>
                          <a:cs typeface="Arial" panose="020B0604020202020204" pitchFamily="34" charset="0"/>
                          <a:sym typeface="Calibri"/>
                        </a:rPr>
                        <a:t>)</a:t>
                      </a:r>
                    </a:p>
                    <a:p>
                      <a:pPr marL="171450" marR="0" lvl="0"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US" sz="1100" b="0" u="none" kern="1200">
                          <a:solidFill>
                            <a:srgbClr val="000000"/>
                          </a:solidFill>
                          <a:effectLst/>
                          <a:latin typeface="Arial"/>
                          <a:ea typeface="Calibri"/>
                          <a:cs typeface="Arial" panose="020B0604020202020204" pitchFamily="34" charset="0"/>
                          <a:sym typeface="Calibri"/>
                        </a:rPr>
                        <a:t>‘</a:t>
                      </a:r>
                      <a:r>
                        <a:rPr lang="en-US" sz="1100" b="1" u="none" kern="1200">
                          <a:solidFill>
                            <a:srgbClr val="000000"/>
                          </a:solidFill>
                          <a:effectLst/>
                          <a:latin typeface="Arial"/>
                          <a:ea typeface="Calibri"/>
                          <a:cs typeface="Arial" panose="020B0604020202020204" pitchFamily="34" charset="0"/>
                          <a:sym typeface="Calibri"/>
                        </a:rPr>
                        <a:t>Rep’s compelling reason to prescribe</a:t>
                      </a:r>
                      <a:r>
                        <a:rPr lang="en-US" sz="1100" b="0" u="none" kern="1200">
                          <a:solidFill>
                            <a:srgbClr val="000000"/>
                          </a:solidFill>
                          <a:effectLst/>
                          <a:latin typeface="Arial"/>
                          <a:ea typeface="Calibri"/>
                          <a:cs typeface="Arial" panose="020B0604020202020204" pitchFamily="34" charset="0"/>
                          <a:sym typeface="Calibri"/>
                        </a:rPr>
                        <a:t>’ remained CREON’s most influential key metrics in driving positive overall sales quality and LTIP </a:t>
                      </a:r>
                      <a:r>
                        <a:rPr lang="en-US" sz="1100" b="0" u="none" kern="1200">
                          <a:solidFill>
                            <a:srgbClr val="002060"/>
                          </a:solidFill>
                          <a:effectLst/>
                          <a:latin typeface="Arial"/>
                          <a:ea typeface="Calibri"/>
                          <a:cs typeface="Arial" panose="020B0604020202020204" pitchFamily="34" charset="0"/>
                          <a:sym typeface="Calibri"/>
                        </a:rPr>
                        <a:t>(</a:t>
                      </a:r>
                      <a:r>
                        <a:rPr lang="en-US" sz="1100" b="0" i="1" u="none" kern="1200">
                          <a:solidFill>
                            <a:srgbClr val="66C7FF"/>
                          </a:solidFill>
                          <a:effectLst/>
                          <a:latin typeface="Arial"/>
                          <a:ea typeface="Calibri"/>
                          <a:cs typeface="Arial" panose="020B0604020202020204" pitchFamily="34" charset="0"/>
                          <a:sym typeface="Calibri"/>
                          <a:hlinkClick r:id="rId10" action="ppaction://hlinksldjump">
                            <a:extLst>
                              <a:ext uri="{A12FA001-AC4F-418D-AE19-62706E023703}">
                                <ahyp:hlinkClr xmlns:ahyp="http://schemas.microsoft.com/office/drawing/2018/hyperlinkcolor" val="tx"/>
                              </a:ext>
                            </a:extLst>
                          </a:hlinkClick>
                        </a:rPr>
                        <a:t>Impact Analysis</a:t>
                      </a:r>
                      <a:r>
                        <a:rPr lang="en-US" sz="1100" b="0" u="none" kern="1200">
                          <a:solidFill>
                            <a:srgbClr val="002060"/>
                          </a:solidFill>
                          <a:effectLst/>
                          <a:latin typeface="Arial"/>
                          <a:ea typeface="Calibri"/>
                          <a:cs typeface="Arial" panose="020B0604020202020204" pitchFamily="34" charset="0"/>
                          <a:sym typeface="Calibri"/>
                        </a:rPr>
                        <a:t>) </a:t>
                      </a:r>
                      <a:endParaRPr lang="en-GB" sz="1100"/>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3827908"/>
                  </a:ext>
                </a:extLst>
              </a:tr>
            </a:tbl>
          </a:graphicData>
        </a:graphic>
      </p:graphicFrame>
    </p:spTree>
    <p:extLst>
      <p:ext uri="{BB962C8B-B14F-4D97-AF65-F5344CB8AC3E}">
        <p14:creationId xmlns:p14="http://schemas.microsoft.com/office/powerpoint/2010/main" val="393059056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197">
          <a:extLst>
            <a:ext uri="{FF2B5EF4-FFF2-40B4-BE49-F238E27FC236}">
              <a16:creationId xmlns:a16="http://schemas.microsoft.com/office/drawing/2014/main" id="{2F944D2E-961D-3E89-3737-94FE0E745187}"/>
            </a:ext>
          </a:extLst>
        </p:cNvPr>
        <p:cNvGrpSpPr/>
        <p:nvPr/>
      </p:nvGrpSpPr>
      <p:grpSpPr>
        <a:xfrm>
          <a:off x="0" y="0"/>
          <a:ext cx="0" cy="0"/>
          <a:chOff x="0" y="0"/>
          <a:chExt cx="0" cy="0"/>
        </a:xfrm>
      </p:grpSpPr>
      <p:sp>
        <p:nvSpPr>
          <p:cNvPr id="1208" name="Google Shape;1208;p94">
            <a:extLst>
              <a:ext uri="{FF2B5EF4-FFF2-40B4-BE49-F238E27FC236}">
                <a16:creationId xmlns:a16="http://schemas.microsoft.com/office/drawing/2014/main" id="{BCB5E4A9-4E24-531A-0E62-4BDDCC6BB599}"/>
              </a:ext>
            </a:extLst>
          </p:cNvPr>
          <p:cNvSpPr txBox="1">
            <a:spLocks noGrp="1"/>
          </p:cNvSpPr>
          <p:nvPr>
            <p:ph type="title"/>
          </p:nvPr>
        </p:nvSpPr>
        <p:spPr>
          <a:prstGeom prst="rect">
            <a:avLst/>
          </a:prstGeom>
          <a:noFill/>
          <a:ln>
            <a:noFill/>
          </a:ln>
        </p:spPr>
        <p:txBody>
          <a:bodyPr spcFirstLastPara="1" vert="horz" wrap="square" lIns="0" tIns="45700" rIns="91425" bIns="45700" rtlCol="0" anchor="ctr" anchorCtr="0">
            <a:noAutofit/>
          </a:bodyPr>
          <a:lstStyle/>
          <a:p>
            <a:pPr>
              <a:spcBef>
                <a:spcPts val="0"/>
              </a:spcBef>
              <a:buClr>
                <a:schemeClr val="dk1"/>
              </a:buClr>
              <a:buSzPts val="1900"/>
            </a:pPr>
            <a:r>
              <a:rPr lang="en-US">
                <a:solidFill>
                  <a:srgbClr val="002060"/>
                </a:solidFill>
              </a:rPr>
              <a:t>KBQs and Key Findings (2/2)</a:t>
            </a:r>
          </a:p>
        </p:txBody>
      </p:sp>
      <p:graphicFrame>
        <p:nvGraphicFramePr>
          <p:cNvPr id="4" name="Table 3">
            <a:extLst>
              <a:ext uri="{FF2B5EF4-FFF2-40B4-BE49-F238E27FC236}">
                <a16:creationId xmlns:a16="http://schemas.microsoft.com/office/drawing/2014/main" id="{BB7762B2-AC02-84A7-9AAA-9F14FFF0D875}"/>
              </a:ext>
            </a:extLst>
          </p:cNvPr>
          <p:cNvGraphicFramePr>
            <a:graphicFrameLocks noGrp="1"/>
          </p:cNvGraphicFramePr>
          <p:nvPr>
            <p:custDataLst>
              <p:tags r:id="rId1"/>
            </p:custDataLst>
            <p:extLst>
              <p:ext uri="{D42A27DB-BD31-4B8C-83A1-F6EECF244321}">
                <p14:modId xmlns:p14="http://schemas.microsoft.com/office/powerpoint/2010/main" val="3806960290"/>
              </p:ext>
            </p:extLst>
          </p:nvPr>
        </p:nvGraphicFramePr>
        <p:xfrm>
          <a:off x="334397" y="987710"/>
          <a:ext cx="8454720" cy="3714231"/>
        </p:xfrm>
        <a:graphic>
          <a:graphicData uri="http://schemas.openxmlformats.org/drawingml/2006/table">
            <a:tbl>
              <a:tblPr firstRow="1" bandRow="1">
                <a:tableStyleId>{96BACEE3-1A1D-4107-9369-2142449FF59F}</a:tableStyleId>
              </a:tblPr>
              <a:tblGrid>
                <a:gridCol w="607435">
                  <a:extLst>
                    <a:ext uri="{9D8B030D-6E8A-4147-A177-3AD203B41FA5}">
                      <a16:colId xmlns:a16="http://schemas.microsoft.com/office/drawing/2014/main" val="402168483"/>
                    </a:ext>
                  </a:extLst>
                </a:gridCol>
                <a:gridCol w="7847285">
                  <a:extLst>
                    <a:ext uri="{9D8B030D-6E8A-4147-A177-3AD203B41FA5}">
                      <a16:colId xmlns:a16="http://schemas.microsoft.com/office/drawing/2014/main" val="3893776607"/>
                    </a:ext>
                  </a:extLst>
                </a:gridCol>
              </a:tblGrid>
              <a:tr h="879591">
                <a:tc>
                  <a:txBody>
                    <a:bodyPr/>
                    <a:lstStyle/>
                    <a:p>
                      <a:pPr algn="ctr"/>
                      <a:r>
                        <a:rPr lang="en-US" sz="1200" b="1" kern="1200">
                          <a:solidFill>
                            <a:srgbClr val="002060"/>
                          </a:solidFill>
                          <a:latin typeface="Arial"/>
                          <a:ea typeface="Calibri"/>
                          <a:cs typeface="Arial"/>
                        </a:rPr>
                        <a:t>3.</a:t>
                      </a:r>
                      <a:endParaRPr lang="en-IN" sz="1200" b="1" kern="1200">
                        <a:solidFill>
                          <a:srgbClr val="002060"/>
                        </a:solidFill>
                        <a:latin typeface="Arial"/>
                        <a:ea typeface="Calibri"/>
                        <a:cs typeface="Arial"/>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a:ln>
                            <a:noFill/>
                          </a:ln>
                          <a:solidFill>
                            <a:srgbClr val="002060"/>
                          </a:solidFill>
                          <a:effectLst/>
                          <a:uLnTx/>
                          <a:uFillTx/>
                          <a:latin typeface="Arial"/>
                          <a:cs typeface="Arial"/>
                        </a:rPr>
                        <a:t>What messages are most impactful at driving LTIP and is there an opportunity to improve recall of these messages? </a:t>
                      </a:r>
                      <a:r>
                        <a:rPr kumimoji="0" lang="en-US" sz="1200" b="1" i="0" u="none" strike="noStrike" kern="0" cap="none" spc="0" normalizeH="0" baseline="0">
                          <a:ln>
                            <a:noFill/>
                          </a:ln>
                          <a:solidFill>
                            <a:schemeClr val="accent5"/>
                          </a:solidFill>
                          <a:effectLst/>
                          <a:uLnTx/>
                          <a:uFillTx/>
                          <a:latin typeface="Arial"/>
                          <a:cs typeface="Arial"/>
                        </a:rPr>
                        <a:t>What are the most recalled and effective messages, especially with the new/updated messages? (NEW)</a:t>
                      </a:r>
                      <a:endParaRPr kumimoji="0" lang="en-US" sz="1200" b="1" i="0" u="none" strike="noStrike" kern="0" cap="none" spc="0" normalizeH="0" baseline="0" noProof="0">
                        <a:ln>
                          <a:noFill/>
                        </a:ln>
                        <a:solidFill>
                          <a:schemeClr val="accent5"/>
                        </a:solidFill>
                        <a:effectLst/>
                        <a:uLnTx/>
                        <a:uFillTx/>
                        <a:latin typeface="Arial"/>
                        <a:cs typeface="Arial"/>
                      </a:endParaRPr>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05521945"/>
                  </a:ext>
                </a:extLst>
              </a:tr>
              <a:tr h="2834640">
                <a:tc>
                  <a:txBody>
                    <a:bodyPr/>
                    <a:lstStyle/>
                    <a:p>
                      <a:pPr algn="ctr"/>
                      <a:endParaRPr lang="en-IN" sz="1200" b="1" kern="1200">
                        <a:solidFill>
                          <a:srgbClr val="002060"/>
                        </a:solidFill>
                        <a:latin typeface="Arial" panose="020B0604020202020204" pitchFamily="34" charset="0"/>
                        <a:ea typeface="Calibri"/>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171450" marR="0" lvl="0"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GB" sz="1100" b="1"/>
                        <a:t>Newly introduced messages </a:t>
                      </a:r>
                      <a:r>
                        <a:rPr lang="en-GB" sz="1100"/>
                        <a:t>this wave showed comparatively </a:t>
                      </a:r>
                      <a:r>
                        <a:rPr lang="en-GB" sz="1100" b="1"/>
                        <a:t>lower recall and effectiveness </a:t>
                      </a:r>
                      <a:r>
                        <a:rPr lang="en-GB" sz="1100"/>
                        <a:t>for both brands, with no meaningful shift in overall messaging dynamics (</a:t>
                      </a:r>
                      <a:r>
                        <a:rPr lang="en-GB" sz="1100" i="1">
                          <a:solidFill>
                            <a:schemeClr val="accent6">
                              <a:lumMod val="60000"/>
                              <a:lumOff val="40000"/>
                            </a:schemeClr>
                          </a:solidFill>
                          <a:hlinkClick r:id="rId4" action="ppaction://hlinksldjump">
                            <a:extLst>
                              <a:ext uri="{A12FA001-AC4F-418D-AE19-62706E023703}">
                                <ahyp:hlinkClr xmlns:ahyp="http://schemas.microsoft.com/office/drawing/2018/hyperlinkcolor" val="tx"/>
                              </a:ext>
                            </a:extLst>
                          </a:hlinkClick>
                        </a:rPr>
                        <a:t>New and Updated Messages</a:t>
                      </a:r>
                      <a:r>
                        <a:rPr lang="en-GB" sz="1100"/>
                        <a:t>).</a:t>
                      </a:r>
                    </a:p>
                    <a:p>
                      <a:pPr marL="171450" marR="0" lvl="0"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GB" sz="1100"/>
                        <a:t>For both CREON and ZENPEP, </a:t>
                      </a:r>
                      <a:r>
                        <a:rPr lang="en-GB" sz="1100" b="1"/>
                        <a:t>dosing messages remain the most highly recalled</a:t>
                      </a:r>
                      <a:r>
                        <a:rPr lang="en-GB" sz="1100"/>
                        <a:t>. </a:t>
                      </a:r>
                    </a:p>
                    <a:p>
                      <a:pPr marL="514356" marR="0" lvl="1"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GB" sz="1100"/>
                        <a:t>However, while ZENPEP’s dosing </a:t>
                      </a:r>
                      <a:r>
                        <a:rPr lang="en-GB" sz="1100">
                          <a:solidFill>
                            <a:srgbClr val="000000"/>
                          </a:solidFill>
                        </a:rPr>
                        <a:t>messages continued to be the most effective, CREON’s dosing messages were among the least effective </a:t>
                      </a:r>
                      <a:r>
                        <a:rPr lang="en-US" sz="1100" b="0" u="none" kern="1200">
                          <a:solidFill>
                            <a:srgbClr val="000000"/>
                          </a:solidFill>
                          <a:effectLst/>
                          <a:latin typeface="Arial"/>
                          <a:ea typeface="Calibri"/>
                          <a:cs typeface="Arial" panose="020B0604020202020204" pitchFamily="34" charset="0"/>
                          <a:sym typeface="Calibri"/>
                        </a:rPr>
                        <a:t>(</a:t>
                      </a:r>
                      <a:r>
                        <a:rPr lang="en-US" sz="1100" b="0" i="1" u="none" kern="1200">
                          <a:solidFill>
                            <a:srgbClr val="66C7FF"/>
                          </a:solidFill>
                          <a:effectLst/>
                          <a:latin typeface="Arial"/>
                          <a:ea typeface="Calibri"/>
                          <a:cs typeface="Arial" panose="020B0604020202020204" pitchFamily="34" charset="0"/>
                          <a:sym typeface="Calibri"/>
                          <a:hlinkClick r:id="rId5" action="ppaction://hlinksldjump">
                            <a:extLst>
                              <a:ext uri="{A12FA001-AC4F-418D-AE19-62706E023703}">
                                <ahyp:hlinkClr xmlns:ahyp="http://schemas.microsoft.com/office/drawing/2018/hyperlinkcolor" val="tx"/>
                              </a:ext>
                            </a:extLst>
                          </a:hlinkClick>
                        </a:rPr>
                        <a:t>MR and ME</a:t>
                      </a:r>
                      <a:r>
                        <a:rPr lang="en-US" sz="1100" b="0" u="none" kern="1200">
                          <a:solidFill>
                            <a:srgbClr val="000000"/>
                          </a:solidFill>
                          <a:effectLst/>
                          <a:latin typeface="Arial"/>
                          <a:ea typeface="Calibri"/>
                          <a:cs typeface="Arial" panose="020B0604020202020204" pitchFamily="34" charset="0"/>
                          <a:sym typeface="Calibri"/>
                        </a:rPr>
                        <a:t>). </a:t>
                      </a:r>
                    </a:p>
                    <a:p>
                      <a:pPr marL="514356" marR="0" lvl="1"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US" sz="1100" b="0" u="none" kern="1200">
                          <a:solidFill>
                            <a:srgbClr val="000000"/>
                          </a:solidFill>
                          <a:effectLst/>
                          <a:latin typeface="Arial"/>
                          <a:ea typeface="Calibri"/>
                          <a:cs typeface="Arial" panose="020B0604020202020204" pitchFamily="34" charset="0"/>
                          <a:sym typeface="Calibri"/>
                        </a:rPr>
                        <a:t>This gap is clearly reflected in HCP perceptions, with </a:t>
                      </a:r>
                      <a:r>
                        <a:rPr lang="en-US" sz="1100" b="1" u="none" kern="1200">
                          <a:solidFill>
                            <a:srgbClr val="000000"/>
                          </a:solidFill>
                          <a:effectLst/>
                          <a:latin typeface="Arial"/>
                          <a:ea typeface="Calibri"/>
                          <a:cs typeface="Arial" panose="020B0604020202020204" pitchFamily="34" charset="0"/>
                          <a:sym typeface="Calibri"/>
                        </a:rPr>
                        <a:t>ZENPEP significantly outperforming CREON across every dosing attribute </a:t>
                      </a:r>
                      <a:r>
                        <a:rPr lang="en-US" sz="1100" b="0" u="none" kern="1200">
                          <a:solidFill>
                            <a:srgbClr val="000000"/>
                          </a:solidFill>
                          <a:effectLst/>
                          <a:latin typeface="Arial"/>
                          <a:ea typeface="Calibri"/>
                          <a:cs typeface="Arial" panose="020B0604020202020204" pitchFamily="34" charset="0"/>
                          <a:sym typeface="Calibri"/>
                        </a:rPr>
                        <a:t>this wave (</a:t>
                      </a:r>
                      <a:r>
                        <a:rPr lang="en-US" sz="1100" b="0" i="1" u="none" kern="1200">
                          <a:solidFill>
                            <a:srgbClr val="66C7FF"/>
                          </a:solidFill>
                          <a:effectLst/>
                          <a:latin typeface="Arial"/>
                          <a:ea typeface="Calibri"/>
                          <a:cs typeface="Arial" panose="020B0604020202020204" pitchFamily="34" charset="0"/>
                          <a:sym typeface="Calibri"/>
                          <a:hlinkClick r:id="rId6" action="ppaction://hlinksldjump">
                            <a:extLst>
                              <a:ext uri="{A12FA001-AC4F-418D-AE19-62706E023703}">
                                <ahyp:hlinkClr xmlns:ahyp="http://schemas.microsoft.com/office/drawing/2018/hyperlinkcolor" val="tx"/>
                              </a:ext>
                            </a:extLst>
                          </a:hlinkClick>
                        </a:rPr>
                        <a:t>Dosing Product Performance</a:t>
                      </a:r>
                      <a:r>
                        <a:rPr lang="en-US" sz="1100" b="0" u="none" kern="1200">
                          <a:solidFill>
                            <a:srgbClr val="000000"/>
                          </a:solidFill>
                          <a:effectLst/>
                          <a:latin typeface="Arial"/>
                          <a:ea typeface="Calibri"/>
                          <a:cs typeface="Arial" panose="020B0604020202020204" pitchFamily="34" charset="0"/>
                          <a:sym typeface="Calibri"/>
                        </a:rPr>
                        <a:t>). </a:t>
                      </a:r>
                    </a:p>
                    <a:p>
                      <a:pPr marL="514356" marR="0" lvl="1"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US" sz="1100" b="0" u="none" kern="1200">
                          <a:solidFill>
                            <a:srgbClr val="000000"/>
                          </a:solidFill>
                          <a:effectLst/>
                          <a:latin typeface="Arial"/>
                          <a:ea typeface="Calibri"/>
                          <a:cs typeface="Arial" panose="020B0604020202020204" pitchFamily="34" charset="0"/>
                          <a:sym typeface="Calibri"/>
                        </a:rPr>
                        <a:t>Compounding this issue, CREON’s </a:t>
                      </a:r>
                      <a:r>
                        <a:rPr lang="en-US" sz="1100" b="1" u="none" kern="1200">
                          <a:solidFill>
                            <a:srgbClr val="000000"/>
                          </a:solidFill>
                          <a:effectLst/>
                          <a:latin typeface="Arial"/>
                          <a:ea typeface="Calibri"/>
                          <a:cs typeface="Arial" panose="020B0604020202020204" pitchFamily="34" charset="0"/>
                          <a:sym typeface="Calibri"/>
                        </a:rPr>
                        <a:t>36K dosing message</a:t>
                      </a:r>
                      <a:r>
                        <a:rPr lang="en-US" sz="1100" b="0" u="none" kern="1200">
                          <a:solidFill>
                            <a:srgbClr val="000000"/>
                          </a:solidFill>
                          <a:effectLst/>
                          <a:latin typeface="Arial"/>
                          <a:ea typeface="Calibri"/>
                          <a:cs typeface="Arial" panose="020B0604020202020204" pitchFamily="34" charset="0"/>
                          <a:sym typeface="Calibri"/>
                        </a:rPr>
                        <a:t> lost effectiveness, coinciding with a 6-point decline in 36K patient share (</a:t>
                      </a:r>
                      <a:r>
                        <a:rPr lang="en-US" sz="1100" b="0" i="1" u="none" kern="1200">
                          <a:solidFill>
                            <a:srgbClr val="66C7FF"/>
                          </a:solidFill>
                          <a:effectLst/>
                          <a:latin typeface="Arial"/>
                          <a:ea typeface="Calibri"/>
                          <a:cs typeface="Arial" panose="020B0604020202020204" pitchFamily="34" charset="0"/>
                          <a:sym typeface="Calibri"/>
                          <a:hlinkClick r:id="rId7" action="ppaction://hlinksldjump">
                            <a:extLst>
                              <a:ext uri="{A12FA001-AC4F-418D-AE19-62706E023703}">
                                <ahyp:hlinkClr xmlns:ahyp="http://schemas.microsoft.com/office/drawing/2018/hyperlinkcolor" val="tx"/>
                              </a:ext>
                            </a:extLst>
                          </a:hlinkClick>
                        </a:rPr>
                        <a:t>Patient Share</a:t>
                      </a:r>
                      <a:r>
                        <a:rPr lang="en-US" sz="1100" b="0" u="none" kern="1200">
                          <a:solidFill>
                            <a:srgbClr val="000000"/>
                          </a:solidFill>
                          <a:effectLst/>
                          <a:latin typeface="Arial"/>
                          <a:ea typeface="Calibri"/>
                          <a:cs typeface="Arial" panose="020B0604020202020204" pitchFamily="34" charset="0"/>
                          <a:sym typeface="Calibri"/>
                        </a:rPr>
                        <a:t>).</a:t>
                      </a:r>
                    </a:p>
                    <a:p>
                      <a:pPr marL="171450" marR="0" lvl="0"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r>
                        <a:rPr lang="en-GB" sz="1100"/>
                        <a:t>This wave, </a:t>
                      </a:r>
                      <a:r>
                        <a:rPr lang="en-GB" sz="1100" b="1"/>
                        <a:t>only a few CREON messages</a:t>
                      </a:r>
                      <a:r>
                        <a:rPr lang="en-GB" sz="1100"/>
                        <a:t> showed a strong association between </a:t>
                      </a:r>
                      <a:r>
                        <a:rPr lang="en-GB" sz="1100" b="1"/>
                        <a:t>recall and LTIP</a:t>
                      </a:r>
                      <a:r>
                        <a:rPr lang="en-GB" sz="1100"/>
                        <a:t>. In contrast, nearly half of ZENPEP’s messages delivered high LTIP when recalled by HCPs </a:t>
                      </a:r>
                      <a:r>
                        <a:rPr lang="en-US" sz="1100" b="0" u="none" kern="1200">
                          <a:solidFill>
                            <a:srgbClr val="002060"/>
                          </a:solidFill>
                          <a:effectLst/>
                          <a:latin typeface="Arial"/>
                          <a:ea typeface="Calibri"/>
                          <a:cs typeface="Arial" panose="020B0604020202020204" pitchFamily="34" charset="0"/>
                          <a:sym typeface="Calibri"/>
                        </a:rPr>
                        <a:t>(</a:t>
                      </a:r>
                      <a:r>
                        <a:rPr lang="en-GB" sz="1100" b="0" i="1" u="none" kern="1200" noProof="0">
                          <a:solidFill>
                            <a:schemeClr val="accent6">
                              <a:lumMod val="60000"/>
                              <a:lumOff val="40000"/>
                            </a:schemeClr>
                          </a:solidFill>
                          <a:effectLst/>
                          <a:latin typeface="Arial"/>
                          <a:ea typeface="Calibri"/>
                          <a:cs typeface="Arial" panose="020B0604020202020204" pitchFamily="34" charset="0"/>
                          <a:sym typeface="Calibri"/>
                          <a:hlinkClick r:id="rId8" action="ppaction://hlinksldjump">
                            <a:extLst>
                              <a:ext uri="{A12FA001-AC4F-418D-AE19-62706E023703}">
                                <ahyp:hlinkClr xmlns:ahyp="http://schemas.microsoft.com/office/drawing/2018/hyperlinkcolor" val="tx"/>
                              </a:ext>
                            </a:extLst>
                          </a:hlinkClick>
                        </a:rPr>
                        <a:t>Impact of Message Recall on LTIP</a:t>
                      </a:r>
                      <a:r>
                        <a:rPr lang="en-GB" sz="1100" b="0" u="none" kern="1200" noProof="0">
                          <a:solidFill>
                            <a:srgbClr val="002060"/>
                          </a:solidFill>
                          <a:effectLst/>
                          <a:latin typeface="Arial"/>
                          <a:ea typeface="Calibri"/>
                          <a:cs typeface="Arial" panose="020B0604020202020204" pitchFamily="34" charset="0"/>
                          <a:sym typeface="Calibri"/>
                        </a:rPr>
                        <a:t>)</a:t>
                      </a:r>
                      <a:r>
                        <a:rPr lang="en-US" sz="1100" b="0" u="none" kern="1200">
                          <a:solidFill>
                            <a:srgbClr val="002060"/>
                          </a:solidFill>
                          <a:effectLst/>
                          <a:latin typeface="Arial"/>
                          <a:ea typeface="Calibri"/>
                          <a:cs typeface="Arial" panose="020B0604020202020204" pitchFamily="34" charset="0"/>
                          <a:sym typeface="Calibri"/>
                        </a:rPr>
                        <a:t>. </a:t>
                      </a:r>
                    </a:p>
                    <a:p>
                      <a:pPr marL="514356" marR="0" lvl="1" indent="-171450" algn="l" defTabSz="685800" rtl="0" eaLnBrk="1" fontAlgn="auto" latinLnBrk="0" hangingPunct="1">
                        <a:lnSpc>
                          <a:spcPts val="1400"/>
                        </a:lnSpc>
                        <a:spcBef>
                          <a:spcPts val="600"/>
                        </a:spcBef>
                        <a:spcAft>
                          <a:spcPts val="0"/>
                        </a:spcAft>
                        <a:buClrTx/>
                        <a:buSzTx/>
                        <a:buFont typeface="Arial" panose="020B0604020202020204" pitchFamily="34" charset="0"/>
                        <a:buChar char="•"/>
                        <a:tabLst/>
                        <a:defRPr/>
                      </a:pPr>
                      <a:endParaRPr lang="en-GB" sz="1100">
                        <a:solidFill>
                          <a:srgbClr val="000000"/>
                        </a:solidFill>
                      </a:endParaRPr>
                    </a:p>
                  </a:txBody>
                  <a:tcPr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1109946"/>
                  </a:ext>
                </a:extLst>
              </a:tr>
            </a:tbl>
          </a:graphicData>
        </a:graphic>
      </p:graphicFrame>
    </p:spTree>
    <p:extLst>
      <p:ext uri="{BB962C8B-B14F-4D97-AF65-F5344CB8AC3E}">
        <p14:creationId xmlns:p14="http://schemas.microsoft.com/office/powerpoint/2010/main" val="183211665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Product Performance </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3" name="TextBox 2">
            <a:extLst>
              <a:ext uri="{FF2B5EF4-FFF2-40B4-BE49-F238E27FC236}">
                <a16:creationId xmlns:a16="http://schemas.microsoft.com/office/drawing/2014/main" id="{E95499A3-E161-540D-B688-59C86DDC0502}"/>
              </a:ext>
            </a:extLst>
          </p:cNvPr>
          <p:cNvSpPr txBox="1"/>
          <p:nvPr/>
        </p:nvSpPr>
        <p:spPr>
          <a:xfrm>
            <a:off x="396000" y="4320000"/>
            <a:ext cx="7491470" cy="1384995"/>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Access and cost perceptions weakened for both brands </a:t>
            </a:r>
            <a:r>
              <a:rPr kumimoji="0" lang="en-GB" sz="1200" b="0" i="0" u="none" strike="noStrike" kern="0" cap="none" spc="0" normalizeH="0" baseline="0" noProof="0">
                <a:ln>
                  <a:noFill/>
                </a:ln>
                <a:solidFill>
                  <a:srgbClr val="000000"/>
                </a:solidFill>
                <a:effectLst/>
                <a:uLnTx/>
                <a:uFillTx/>
                <a:latin typeface="Arial"/>
                <a:cs typeface="Arial"/>
                <a:sym typeface="Arial"/>
              </a:rPr>
              <a:t>this wave, though CREON continued to lead ZENPEP in all access and cost attributes</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ZENPEP outperformed CREON </a:t>
            </a:r>
            <a:r>
              <a:rPr kumimoji="0" lang="en-GB" sz="1200" b="0" i="0" u="none" strike="noStrike" kern="0" cap="none" spc="0" normalizeH="0" baseline="0" noProof="0">
                <a:ln>
                  <a:noFill/>
                </a:ln>
                <a:solidFill>
                  <a:srgbClr val="000000"/>
                </a:solidFill>
                <a:effectLst/>
                <a:uLnTx/>
                <a:uFillTx/>
                <a:latin typeface="Arial"/>
                <a:cs typeface="Arial"/>
                <a:sym typeface="Arial"/>
              </a:rPr>
              <a:t>on all </a:t>
            </a:r>
            <a:r>
              <a:rPr kumimoji="0" lang="en-GB" sz="1200" b="1" i="0" u="none" strike="noStrike" kern="0" cap="none" spc="0" normalizeH="0" baseline="0" noProof="0">
                <a:ln>
                  <a:noFill/>
                </a:ln>
                <a:solidFill>
                  <a:srgbClr val="000000"/>
                </a:solidFill>
                <a:effectLst/>
                <a:uLnTx/>
                <a:uFillTx/>
                <a:latin typeface="Arial"/>
                <a:cs typeface="Arial"/>
                <a:sym typeface="Arial"/>
              </a:rPr>
              <a:t>dosing attributes </a:t>
            </a:r>
            <a:r>
              <a:rPr kumimoji="0" lang="en-GB" sz="1200" b="0" i="0" u="none" strike="noStrike" kern="0" cap="none" spc="0" normalizeH="0" baseline="0" noProof="0">
                <a:ln>
                  <a:noFill/>
                </a:ln>
                <a:solidFill>
                  <a:srgbClr val="000000"/>
                </a:solidFill>
                <a:effectLst/>
                <a:uLnTx/>
                <a:uFillTx/>
                <a:latin typeface="Arial"/>
                <a:cs typeface="Arial"/>
                <a:sym typeface="Arial"/>
              </a:rPr>
              <a:t>this wave, with 3 out of 4 attributes seeing a significant decline for CREON over the past year</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HCP segment dynamics diverged</a:t>
            </a:r>
            <a:r>
              <a:rPr kumimoji="0" lang="en-GB" sz="1200" b="0" i="0" u="none" strike="noStrike" kern="0" cap="none" spc="0" normalizeH="0" baseline="0" noProof="0">
                <a:ln>
                  <a:noFill/>
                </a:ln>
                <a:solidFill>
                  <a:srgbClr val="000000"/>
                </a:solidFill>
                <a:effectLst/>
                <a:uLnTx/>
                <a:uFillTx/>
                <a:latin typeface="Arial"/>
                <a:cs typeface="Arial"/>
                <a:sym typeface="Arial"/>
              </a:rPr>
              <a:t> as </a:t>
            </a:r>
            <a:r>
              <a:rPr kumimoji="0" lang="en-GB" sz="1200" b="0" i="0" u="none" strike="noStrike" kern="0" cap="none" spc="0" normalizeH="0" baseline="0" noProof="0" err="1">
                <a:ln>
                  <a:noFill/>
                </a:ln>
                <a:solidFill>
                  <a:srgbClr val="000000"/>
                </a:solidFill>
                <a:effectLst/>
                <a:uLnTx/>
                <a:uFillTx/>
                <a:latin typeface="Arial"/>
                <a:cs typeface="Arial"/>
                <a:sym typeface="Arial"/>
              </a:rPr>
              <a:t>Gastros</a:t>
            </a:r>
            <a:r>
              <a:rPr kumimoji="0" lang="en-GB" sz="1200" b="0" i="0" u="none" strike="noStrike" kern="0" cap="none" spc="0" normalizeH="0" baseline="0" noProof="0">
                <a:ln>
                  <a:noFill/>
                </a:ln>
                <a:solidFill>
                  <a:srgbClr val="000000"/>
                </a:solidFill>
                <a:effectLst/>
                <a:uLnTx/>
                <a:uFillTx/>
                <a:latin typeface="Arial"/>
                <a:cs typeface="Arial"/>
                <a:sym typeface="Arial"/>
              </a:rPr>
              <a:t> had access-related declines for CREON but sustained strength in dosing, including a significant increase in “Most Dosing Options,” while PCPs and NP/PAs experienced broad perception declines following last wave’s peak</a:t>
            </a:r>
          </a:p>
        </p:txBody>
      </p:sp>
    </p:spTree>
    <p:extLst>
      <p:ext uri="{BB962C8B-B14F-4D97-AF65-F5344CB8AC3E}">
        <p14:creationId xmlns:p14="http://schemas.microsoft.com/office/powerpoint/2010/main" val="1400993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753"/>
        <p:cNvGrpSpPr/>
        <p:nvPr/>
      </p:nvGrpSpPr>
      <p:grpSpPr>
        <a:xfrm>
          <a:off x="0" y="0"/>
          <a:ext cx="0" cy="0"/>
          <a:chOff x="0" y="0"/>
          <a:chExt cx="0" cy="0"/>
        </a:xfrm>
      </p:grpSpPr>
      <p:graphicFrame>
        <p:nvGraphicFramePr>
          <p:cNvPr id="17" name="wave table OCQ">
            <a:extLst>
              <a:ext uri="{FF2B5EF4-FFF2-40B4-BE49-F238E27FC236}">
                <a16:creationId xmlns:a16="http://schemas.microsoft.com/office/drawing/2014/main" id="{F75C31F7-84DD-9261-0056-DBD652282069}"/>
              </a:ext>
            </a:extLst>
          </p:cNvPr>
          <p:cNvGraphicFramePr>
            <a:graphicFrameLocks noGrp="1"/>
          </p:cNvGraphicFramePr>
          <p:nvPr>
            <p:custDataLst>
              <p:tags r:id="rId1"/>
            </p:custDataLst>
            <p:extLst>
              <p:ext uri="{D42A27DB-BD31-4B8C-83A1-F6EECF244321}">
                <p14:modId xmlns:p14="http://schemas.microsoft.com/office/powerpoint/2010/main" val="1937397192"/>
              </p:ext>
            </p:extLst>
          </p:nvPr>
        </p:nvGraphicFramePr>
        <p:xfrm>
          <a:off x="3209279" y="1399945"/>
          <a:ext cx="4443012" cy="274320"/>
        </p:xfrm>
        <a:graphic>
          <a:graphicData uri="http://schemas.openxmlformats.org/drawingml/2006/table">
            <a:tbl>
              <a:tblPr firstRow="1" bandRow="1">
                <a:tableStyleId>{B301B821-A1FF-4177-AEE7-76D212191A09}</a:tableStyleId>
              </a:tblPr>
              <a:tblGrid>
                <a:gridCol w="740502">
                  <a:extLst>
                    <a:ext uri="{9D8B030D-6E8A-4147-A177-3AD203B41FA5}">
                      <a16:colId xmlns:a16="http://schemas.microsoft.com/office/drawing/2014/main" val="3554599800"/>
                    </a:ext>
                  </a:extLst>
                </a:gridCol>
                <a:gridCol w="740502">
                  <a:extLst>
                    <a:ext uri="{9D8B030D-6E8A-4147-A177-3AD203B41FA5}">
                      <a16:colId xmlns:a16="http://schemas.microsoft.com/office/drawing/2014/main" val="2914776207"/>
                    </a:ext>
                  </a:extLst>
                </a:gridCol>
                <a:gridCol w="740502">
                  <a:extLst>
                    <a:ext uri="{9D8B030D-6E8A-4147-A177-3AD203B41FA5}">
                      <a16:colId xmlns:a16="http://schemas.microsoft.com/office/drawing/2014/main" val="2088702262"/>
                    </a:ext>
                  </a:extLst>
                </a:gridCol>
                <a:gridCol w="740502">
                  <a:extLst>
                    <a:ext uri="{9D8B030D-6E8A-4147-A177-3AD203B41FA5}">
                      <a16:colId xmlns:a16="http://schemas.microsoft.com/office/drawing/2014/main" val="192097877"/>
                    </a:ext>
                  </a:extLst>
                </a:gridCol>
                <a:gridCol w="740502">
                  <a:extLst>
                    <a:ext uri="{9D8B030D-6E8A-4147-A177-3AD203B41FA5}">
                      <a16:colId xmlns:a16="http://schemas.microsoft.com/office/drawing/2014/main" val="1326389649"/>
                    </a:ext>
                  </a:extLst>
                </a:gridCol>
                <a:gridCol w="740502">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1" u="none" strike="noStrike" kern="1200">
                          <a:solidFill>
                            <a:srgbClr val="071D49"/>
                          </a:solidFill>
                          <a:effectLst/>
                          <a:latin typeface="+mn-lt"/>
                          <a:ea typeface="+mn-ea"/>
                          <a:cs typeface="+mn-cs"/>
                        </a:rPr>
                        <a:t>142</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124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150</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132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grpSp>
        <p:nvGrpSpPr>
          <p:cNvPr id="1730" name="Group 1729">
            <a:extLst>
              <a:ext uri="{FF2B5EF4-FFF2-40B4-BE49-F238E27FC236}">
                <a16:creationId xmlns:a16="http://schemas.microsoft.com/office/drawing/2014/main" id="{A7AC1E9B-3DA7-5711-FE84-0748E521E625}"/>
              </a:ext>
            </a:extLst>
          </p:cNvPr>
          <p:cNvGrpSpPr/>
          <p:nvPr/>
        </p:nvGrpSpPr>
        <p:grpSpPr>
          <a:xfrm>
            <a:off x="3037102" y="1399945"/>
            <a:ext cx="367208" cy="274320"/>
            <a:chOff x="3025674" y="1399945"/>
            <a:chExt cx="367208" cy="274320"/>
          </a:xfrm>
        </p:grpSpPr>
        <p:sp>
          <p:nvSpPr>
            <p:cNvPr id="1729" name="Rectangle 1728">
              <a:extLst>
                <a:ext uri="{FF2B5EF4-FFF2-40B4-BE49-F238E27FC236}">
                  <a16:creationId xmlns:a16="http://schemas.microsoft.com/office/drawing/2014/main" id="{5B877829-B0FC-0C42-C301-0F14A7C66E75}"/>
                </a:ext>
              </a:extLst>
            </p:cNvPr>
            <p:cNvSpPr/>
            <p:nvPr/>
          </p:nvSpPr>
          <p:spPr>
            <a:xfrm>
              <a:off x="3025674" y="1544154"/>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n size</a:t>
              </a:r>
            </a:p>
          </p:txBody>
        </p:sp>
        <p:sp>
          <p:nvSpPr>
            <p:cNvPr id="1728" name="Rectangle 1727">
              <a:extLst>
                <a:ext uri="{FF2B5EF4-FFF2-40B4-BE49-F238E27FC236}">
                  <a16:creationId xmlns:a16="http://schemas.microsoft.com/office/drawing/2014/main" id="{31961104-0CC9-87B5-A544-ACC71E8D0F13}"/>
                </a:ext>
              </a:extLst>
            </p:cNvPr>
            <p:cNvSpPr/>
            <p:nvPr/>
          </p:nvSpPr>
          <p:spPr>
            <a:xfrm>
              <a:off x="3025674" y="1399945"/>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R3M</a:t>
              </a:r>
            </a:p>
          </p:txBody>
        </p:sp>
      </p:grpSp>
      <p:graphicFrame>
        <p:nvGraphicFramePr>
          <p:cNvPr id="44" name="Highest efficacy">
            <a:extLst>
              <a:ext uri="{FF2B5EF4-FFF2-40B4-BE49-F238E27FC236}">
                <a16:creationId xmlns:a16="http://schemas.microsoft.com/office/drawing/2014/main" id="{5D85AC2E-B82B-79A2-5333-3A38A0AACC63}"/>
              </a:ext>
            </a:extLst>
          </p:cNvPr>
          <p:cNvGraphicFramePr/>
          <p:nvPr>
            <p:custDataLst>
              <p:tags r:id="rId2"/>
            </p:custDataLst>
            <p:extLst>
              <p:ext uri="{D42A27DB-BD31-4B8C-83A1-F6EECF244321}">
                <p14:modId xmlns:p14="http://schemas.microsoft.com/office/powerpoint/2010/main" val="447868570"/>
              </p:ext>
            </p:extLst>
          </p:nvPr>
        </p:nvGraphicFramePr>
        <p:xfrm>
          <a:off x="2995501" y="2180093"/>
          <a:ext cx="4827600" cy="540000"/>
        </p:xfrm>
        <a:graphic>
          <a:graphicData uri="http://schemas.openxmlformats.org/drawingml/2006/chart">
            <c:chart xmlns:c="http://schemas.openxmlformats.org/drawingml/2006/chart" xmlns:r="http://schemas.openxmlformats.org/officeDocument/2006/relationships" r:id="rId13"/>
          </a:graphicData>
        </a:graphic>
      </p:graphicFrame>
      <p:sp>
        <p:nvSpPr>
          <p:cNvPr id="1755" name="Google Shape;1755;p46"/>
          <p:cNvSpPr/>
          <p:nvPr/>
        </p:nvSpPr>
        <p:spPr>
          <a:xfrm>
            <a:off x="138093" y="728979"/>
            <a:ext cx="8695983"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Arial" panose="020B0604020202020204" pitchFamily="34" charset="0"/>
                <a:sym typeface="Calibri"/>
              </a:rPr>
              <a:t>Product Performance Across Attributes - Overall (1/2)</a:t>
            </a:r>
            <a:endParaRPr kumimoji="0" lang="en-GB"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18" name="Table 17">
            <a:extLst>
              <a:ext uri="{FF2B5EF4-FFF2-40B4-BE49-F238E27FC236}">
                <a16:creationId xmlns:a16="http://schemas.microsoft.com/office/drawing/2014/main" id="{97C84C43-1017-B152-483D-6680163439C3}"/>
              </a:ext>
            </a:extLst>
          </p:cNvPr>
          <p:cNvGraphicFramePr>
            <a:graphicFrameLocks noGrp="1"/>
          </p:cNvGraphicFramePr>
          <p:nvPr>
            <p:custDataLst>
              <p:tags r:id="rId3"/>
            </p:custDataLst>
            <p:extLst>
              <p:ext uri="{D42A27DB-BD31-4B8C-83A1-F6EECF244321}">
                <p14:modId xmlns:p14="http://schemas.microsoft.com/office/powerpoint/2010/main" val="3363068072"/>
              </p:ext>
            </p:extLst>
          </p:nvPr>
        </p:nvGraphicFramePr>
        <p:xfrm>
          <a:off x="138093" y="1686752"/>
          <a:ext cx="2926080" cy="3953428"/>
        </p:xfrm>
        <a:graphic>
          <a:graphicData uri="http://schemas.openxmlformats.org/drawingml/2006/table">
            <a:tbl>
              <a:tblPr/>
              <a:tblGrid>
                <a:gridCol w="914400">
                  <a:extLst>
                    <a:ext uri="{9D8B030D-6E8A-4147-A177-3AD203B41FA5}">
                      <a16:colId xmlns:a16="http://schemas.microsoft.com/office/drawing/2014/main" val="1264311597"/>
                    </a:ext>
                  </a:extLst>
                </a:gridCol>
                <a:gridCol w="2011680">
                  <a:extLst>
                    <a:ext uri="{9D8B030D-6E8A-4147-A177-3AD203B41FA5}">
                      <a16:colId xmlns:a16="http://schemas.microsoft.com/office/drawing/2014/main" val="2404896518"/>
                    </a:ext>
                  </a:extLst>
                </a:gridCol>
              </a:tblGrid>
              <a:tr h="483110">
                <a:tc rowSpan="3">
                  <a:txBody>
                    <a:bodyPr/>
                    <a:lstStyle/>
                    <a:p>
                      <a:pPr algn="ctr" fontAlgn="base"/>
                      <a:r>
                        <a:rPr lang="en-IN" sz="1100" b="1" i="0" u="none" strike="noStrike">
                          <a:solidFill>
                            <a:srgbClr val="071D49"/>
                          </a:solidFill>
                          <a:effectLst/>
                          <a:latin typeface="Arial" panose="020B0604020202020204" pitchFamily="34" charset="0"/>
                        </a:rPr>
                        <a:t>Efficacy</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Improves symptoms</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25557939"/>
                  </a:ext>
                </a:extLst>
              </a:tr>
              <a:tr h="491737">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Highest efficacy</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96491395"/>
                  </a:ext>
                </a:extLst>
              </a:tr>
              <a:tr h="483110">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Benefits patient outcomes beyond symptom relief</a:t>
                      </a:r>
                      <a:r>
                        <a:rPr lang="en-US" sz="1100" b="0" i="0">
                          <a:solidFill>
                            <a:srgbClr val="071D49"/>
                          </a:solidFill>
                          <a:effectLst/>
                          <a:latin typeface="Arial" panose="020B0604020202020204" pitchFamily="34" charset="0"/>
                        </a:rPr>
                        <a:t>​</a:t>
                      </a:r>
                      <a:endParaRPr lang="en-US"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682538732"/>
                  </a:ext>
                </a:extLst>
              </a:tr>
              <a:tr h="483110">
                <a:tc rowSpan="5">
                  <a:txBody>
                    <a:bodyPr/>
                    <a:lstStyle/>
                    <a:p>
                      <a:pPr algn="ctr" fontAlgn="base"/>
                      <a:r>
                        <a:rPr lang="en-IN" sz="1100" b="1" i="0" u="none" strike="noStrike">
                          <a:solidFill>
                            <a:srgbClr val="071D49"/>
                          </a:solidFill>
                          <a:effectLst/>
                          <a:latin typeface="Arial" panose="020B0604020202020204" pitchFamily="34" charset="0"/>
                        </a:rPr>
                        <a:t>Access / Cost</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Best formulary / insurance coverage</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261342604"/>
                  </a:ext>
                </a:extLst>
              </a:tr>
              <a:tr h="554404">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Easiest to prescribe (less impact on practice resources)</a:t>
                      </a:r>
                      <a:r>
                        <a:rPr lang="en-US" sz="1100" b="0" i="0">
                          <a:solidFill>
                            <a:srgbClr val="071D49"/>
                          </a:solidFill>
                          <a:effectLst/>
                          <a:latin typeface="Arial" panose="020B0604020202020204" pitchFamily="34" charset="0"/>
                        </a:rPr>
                        <a:t>​</a:t>
                      </a:r>
                      <a:endParaRPr lang="en-US"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640867762"/>
                  </a:ext>
                </a:extLst>
              </a:tr>
              <a:tr h="491737">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Patient support programs</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835908944"/>
                  </a:ext>
                </a:extLst>
              </a:tr>
              <a:tr h="483110">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Co-pay assistance</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059120990"/>
                  </a:ext>
                </a:extLst>
              </a:tr>
              <a:tr h="483110">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Lowest treatment cost</a:t>
                      </a:r>
                      <a:r>
                        <a:rPr lang="en-US" sz="1100" b="0" i="0">
                          <a:solidFill>
                            <a:srgbClr val="071D49"/>
                          </a:solidFill>
                          <a:effectLst/>
                          <a:latin typeface="Arial" panose="020B0604020202020204" pitchFamily="34" charset="0"/>
                        </a:rPr>
                        <a:t>​</a:t>
                      </a:r>
                      <a:endParaRPr lang="en-US"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558153389"/>
                  </a:ext>
                </a:extLst>
              </a:tr>
            </a:tbl>
          </a:graphicData>
        </a:graphic>
      </p:graphicFrame>
      <p:sp>
        <p:nvSpPr>
          <p:cNvPr id="27" name="Google Shape;1359;p33">
            <a:extLst>
              <a:ext uri="{FF2B5EF4-FFF2-40B4-BE49-F238E27FC236}">
                <a16:creationId xmlns:a16="http://schemas.microsoft.com/office/drawing/2014/main" id="{35340DE7-E41B-46BC-8720-5EE6E0C12E51}"/>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CREON declined across most Efficacy and Access/Cost attributes from rolling Dec ’25 to Feb ’26; ZENPEP also declined from rolling Jan ’26 to Feb ’26; however, CREON continued to outperform ZENPEP across attributes, except for “benefits patient outcomes”</a:t>
            </a:r>
            <a:endParaRPr kumimoji="0" lang="en-IN"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Arial"/>
            </a:endParaRPr>
          </a:p>
        </p:txBody>
      </p:sp>
      <p:sp>
        <p:nvSpPr>
          <p:cNvPr id="21" name="Google Shape;310;p8">
            <a:extLst>
              <a:ext uri="{FF2B5EF4-FFF2-40B4-BE49-F238E27FC236}">
                <a16:creationId xmlns:a16="http://schemas.microsoft.com/office/drawing/2014/main" id="{C096F468-FFE6-45E3-864E-1CBDFCE519CB}"/>
              </a:ext>
            </a:extLst>
          </p:cNvPr>
          <p:cNvSpPr/>
          <p:nvPr/>
        </p:nvSpPr>
        <p:spPr>
          <a:xfrm>
            <a:off x="4442107" y="5702759"/>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graphicFrame>
        <p:nvGraphicFramePr>
          <p:cNvPr id="43" name="Improves symptoms">
            <a:extLst>
              <a:ext uri="{FF2B5EF4-FFF2-40B4-BE49-F238E27FC236}">
                <a16:creationId xmlns:a16="http://schemas.microsoft.com/office/drawing/2014/main" id="{7BC203BD-7A41-FFCF-B0A9-AD511D337637}"/>
              </a:ext>
            </a:extLst>
          </p:cNvPr>
          <p:cNvGraphicFramePr/>
          <p:nvPr>
            <p:custDataLst>
              <p:tags r:id="rId4"/>
            </p:custDataLst>
            <p:extLst>
              <p:ext uri="{D42A27DB-BD31-4B8C-83A1-F6EECF244321}">
                <p14:modId xmlns:p14="http://schemas.microsoft.com/office/powerpoint/2010/main" val="2636169596"/>
              </p:ext>
            </p:extLst>
          </p:nvPr>
        </p:nvGraphicFramePr>
        <p:xfrm>
          <a:off x="2995501" y="1686752"/>
          <a:ext cx="4827600" cy="540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45" name="Benefits patient outcomes beyond symptom relief">
            <a:extLst>
              <a:ext uri="{FF2B5EF4-FFF2-40B4-BE49-F238E27FC236}">
                <a16:creationId xmlns:a16="http://schemas.microsoft.com/office/drawing/2014/main" id="{E820AEEA-4A5D-02E1-80C0-6A358F17C658}"/>
              </a:ext>
            </a:extLst>
          </p:cNvPr>
          <p:cNvGraphicFramePr/>
          <p:nvPr>
            <p:custDataLst>
              <p:tags r:id="rId5"/>
            </p:custDataLst>
            <p:extLst>
              <p:ext uri="{D42A27DB-BD31-4B8C-83A1-F6EECF244321}">
                <p14:modId xmlns:p14="http://schemas.microsoft.com/office/powerpoint/2010/main" val="1426008240"/>
              </p:ext>
            </p:extLst>
          </p:nvPr>
        </p:nvGraphicFramePr>
        <p:xfrm>
          <a:off x="2995501" y="2673434"/>
          <a:ext cx="4827600" cy="540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54" name="Best formulary / insurance coverage">
            <a:extLst>
              <a:ext uri="{FF2B5EF4-FFF2-40B4-BE49-F238E27FC236}">
                <a16:creationId xmlns:a16="http://schemas.microsoft.com/office/drawing/2014/main" id="{30999E03-F9BF-A58C-C3C3-F28AC9674E92}"/>
              </a:ext>
            </a:extLst>
          </p:cNvPr>
          <p:cNvGraphicFramePr/>
          <p:nvPr>
            <p:custDataLst>
              <p:tags r:id="rId6"/>
            </p:custDataLst>
            <p:extLst>
              <p:ext uri="{D42A27DB-BD31-4B8C-83A1-F6EECF244321}">
                <p14:modId xmlns:p14="http://schemas.microsoft.com/office/powerpoint/2010/main" val="1250531935"/>
              </p:ext>
            </p:extLst>
          </p:nvPr>
        </p:nvGraphicFramePr>
        <p:xfrm>
          <a:off x="2995501" y="3166775"/>
          <a:ext cx="4827600" cy="54000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55" name="Easiest to prescribe (less impact on practice resources">
            <a:extLst>
              <a:ext uri="{FF2B5EF4-FFF2-40B4-BE49-F238E27FC236}">
                <a16:creationId xmlns:a16="http://schemas.microsoft.com/office/drawing/2014/main" id="{A15F50D7-77B5-97F0-60CC-EBFA56E5FC33}"/>
              </a:ext>
            </a:extLst>
          </p:cNvPr>
          <p:cNvGraphicFramePr/>
          <p:nvPr>
            <p:custDataLst>
              <p:tags r:id="rId7"/>
            </p:custDataLst>
            <p:extLst>
              <p:ext uri="{D42A27DB-BD31-4B8C-83A1-F6EECF244321}">
                <p14:modId xmlns:p14="http://schemas.microsoft.com/office/powerpoint/2010/main" val="826124462"/>
              </p:ext>
            </p:extLst>
          </p:nvPr>
        </p:nvGraphicFramePr>
        <p:xfrm>
          <a:off x="2995501" y="3660116"/>
          <a:ext cx="4827600" cy="540000"/>
        </p:xfrm>
        <a:graphic>
          <a:graphicData uri="http://schemas.openxmlformats.org/drawingml/2006/chart">
            <c:chart xmlns:c="http://schemas.openxmlformats.org/drawingml/2006/chart" xmlns:r="http://schemas.openxmlformats.org/officeDocument/2006/relationships" r:id="rId17"/>
          </a:graphicData>
        </a:graphic>
      </p:graphicFrame>
      <p:graphicFrame>
        <p:nvGraphicFramePr>
          <p:cNvPr id="56" name="Lowest treatment cost">
            <a:extLst>
              <a:ext uri="{FF2B5EF4-FFF2-40B4-BE49-F238E27FC236}">
                <a16:creationId xmlns:a16="http://schemas.microsoft.com/office/drawing/2014/main" id="{6980B25B-103A-F196-C21E-9734ACA71156}"/>
              </a:ext>
            </a:extLst>
          </p:cNvPr>
          <p:cNvGraphicFramePr/>
          <p:nvPr>
            <p:custDataLst>
              <p:tags r:id="rId8"/>
            </p:custDataLst>
            <p:extLst>
              <p:ext uri="{D42A27DB-BD31-4B8C-83A1-F6EECF244321}">
                <p14:modId xmlns:p14="http://schemas.microsoft.com/office/powerpoint/2010/main" val="1483779618"/>
              </p:ext>
            </p:extLst>
          </p:nvPr>
        </p:nvGraphicFramePr>
        <p:xfrm>
          <a:off x="2995501" y="5140136"/>
          <a:ext cx="4827600" cy="5400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57" name="Co-pay assistance">
            <a:extLst>
              <a:ext uri="{FF2B5EF4-FFF2-40B4-BE49-F238E27FC236}">
                <a16:creationId xmlns:a16="http://schemas.microsoft.com/office/drawing/2014/main" id="{26C90A63-1292-DE52-0C81-6636FC82265E}"/>
              </a:ext>
            </a:extLst>
          </p:cNvPr>
          <p:cNvGraphicFramePr/>
          <p:nvPr>
            <p:custDataLst>
              <p:tags r:id="rId9"/>
            </p:custDataLst>
            <p:extLst>
              <p:ext uri="{D42A27DB-BD31-4B8C-83A1-F6EECF244321}">
                <p14:modId xmlns:p14="http://schemas.microsoft.com/office/powerpoint/2010/main" val="1045333667"/>
              </p:ext>
            </p:extLst>
          </p:nvPr>
        </p:nvGraphicFramePr>
        <p:xfrm>
          <a:off x="2995501" y="4646798"/>
          <a:ext cx="4827600" cy="5400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58" name="Patient Support Programs">
            <a:extLst>
              <a:ext uri="{FF2B5EF4-FFF2-40B4-BE49-F238E27FC236}">
                <a16:creationId xmlns:a16="http://schemas.microsoft.com/office/drawing/2014/main" id="{1D028AFF-47C0-D685-9D71-136587AE3FEA}"/>
              </a:ext>
            </a:extLst>
          </p:cNvPr>
          <p:cNvGraphicFramePr/>
          <p:nvPr>
            <p:custDataLst>
              <p:tags r:id="rId10"/>
            </p:custDataLst>
            <p:extLst>
              <p:ext uri="{D42A27DB-BD31-4B8C-83A1-F6EECF244321}">
                <p14:modId xmlns:p14="http://schemas.microsoft.com/office/powerpoint/2010/main" val="572605855"/>
              </p:ext>
            </p:extLst>
          </p:nvPr>
        </p:nvGraphicFramePr>
        <p:xfrm>
          <a:off x="2995501" y="4153457"/>
          <a:ext cx="4827600" cy="540000"/>
        </p:xfrm>
        <a:graphic>
          <a:graphicData uri="http://schemas.openxmlformats.org/drawingml/2006/chart">
            <c:chart xmlns:c="http://schemas.openxmlformats.org/drawingml/2006/chart" xmlns:r="http://schemas.openxmlformats.org/officeDocument/2006/relationships" r:id="rId20"/>
          </a:graphicData>
        </a:graphic>
      </p:graphicFrame>
      <p:sp>
        <p:nvSpPr>
          <p:cNvPr id="19" name="TextBox 18">
            <a:extLst>
              <a:ext uri="{FF2B5EF4-FFF2-40B4-BE49-F238E27FC236}">
                <a16:creationId xmlns:a16="http://schemas.microsoft.com/office/drawing/2014/main" id="{9FE464D9-49B5-82F6-348E-4A7EEF128F16}"/>
              </a:ext>
            </a:extLst>
          </p:cNvPr>
          <p:cNvSpPr txBox="1"/>
          <p:nvPr/>
        </p:nvSpPr>
        <p:spPr>
          <a:xfrm>
            <a:off x="138095" y="1399945"/>
            <a:ext cx="292607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Attributes</a:t>
            </a:r>
            <a:endParaRPr kumimoji="0" lang="en-US" sz="1200" b="0" i="0" u="none" strike="noStrike" kern="1200" cap="none" spc="0" normalizeH="0" baseline="30000" noProof="0">
              <a:ln>
                <a:noFill/>
              </a:ln>
              <a:solidFill>
                <a:srgbClr val="FFFFFF"/>
              </a:solidFill>
              <a:effectLst/>
              <a:uLnTx/>
              <a:uFillTx/>
              <a:latin typeface="+mn-lt"/>
              <a:ea typeface="Calibri"/>
              <a:cs typeface="Arial" panose="020B0604020202020204" pitchFamily="34" charset="0"/>
              <a:sym typeface="Calibri"/>
            </a:endParaRPr>
          </a:p>
        </p:txBody>
      </p:sp>
      <p:sp>
        <p:nvSpPr>
          <p:cNvPr id="20" name="Google Shape;1785;p46">
            <a:extLst>
              <a:ext uri="{FF2B5EF4-FFF2-40B4-BE49-F238E27FC236}">
                <a16:creationId xmlns:a16="http://schemas.microsoft.com/office/drawing/2014/main" id="{F02022C9-BD37-2A7B-1C66-40895408F2EA}"/>
              </a:ext>
            </a:extLst>
          </p:cNvPr>
          <p:cNvSpPr txBox="1"/>
          <p:nvPr/>
        </p:nvSpPr>
        <p:spPr>
          <a:xfrm>
            <a:off x="263257" y="5975686"/>
            <a:ext cx="863793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Statistically significant (p&lt;.05) difference between CREON &amp; ZENPEP</a:t>
            </a:r>
            <a:b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No statistically significant (p&lt;.05) difference between previous waves </a:t>
            </a:r>
          </a:p>
        </p:txBody>
      </p:sp>
      <p:sp>
        <p:nvSpPr>
          <p:cNvPr id="29" name="Google Shape;561;p14">
            <a:extLst>
              <a:ext uri="{FF2B5EF4-FFF2-40B4-BE49-F238E27FC236}">
                <a16:creationId xmlns:a16="http://schemas.microsoft.com/office/drawing/2014/main" id="{E57B5D48-F706-691A-857C-62CB28A7C2AC}"/>
              </a:ext>
            </a:extLst>
          </p:cNvPr>
          <p:cNvSpPr/>
          <p:nvPr/>
        </p:nvSpPr>
        <p:spPr>
          <a:xfrm>
            <a:off x="2855180" y="604126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13" name="Table 12">
            <a:extLst>
              <a:ext uri="{FF2B5EF4-FFF2-40B4-BE49-F238E27FC236}">
                <a16:creationId xmlns:a16="http://schemas.microsoft.com/office/drawing/2014/main" id="{6DE9AB66-9146-E53F-0890-39E40ECE51F0}"/>
              </a:ext>
            </a:extLst>
          </p:cNvPr>
          <p:cNvGraphicFramePr>
            <a:graphicFrameLocks noGrp="1"/>
          </p:cNvGraphicFramePr>
          <p:nvPr>
            <p:extLst>
              <p:ext uri="{D42A27DB-BD31-4B8C-83A1-F6EECF244321}">
                <p14:modId xmlns:p14="http://schemas.microsoft.com/office/powerpoint/2010/main" val="2434277023"/>
              </p:ext>
            </p:extLst>
          </p:nvPr>
        </p:nvGraphicFramePr>
        <p:xfrm>
          <a:off x="7691700" y="1215762"/>
          <a:ext cx="1187056" cy="4475550"/>
        </p:xfrm>
        <a:graphic>
          <a:graphicData uri="http://schemas.openxmlformats.org/drawingml/2006/table">
            <a:tbl>
              <a:tblPr firstRow="1" bandRow="1">
                <a:tableStyleId>{5C22544A-7EE6-4342-B048-85BDC9FD1C3A}</a:tableStyleId>
              </a:tblPr>
              <a:tblGrid>
                <a:gridCol w="593528">
                  <a:extLst>
                    <a:ext uri="{9D8B030D-6E8A-4147-A177-3AD203B41FA5}">
                      <a16:colId xmlns:a16="http://schemas.microsoft.com/office/drawing/2014/main" val="4175797392"/>
                    </a:ext>
                  </a:extLst>
                </a:gridCol>
                <a:gridCol w="593528">
                  <a:extLst>
                    <a:ext uri="{9D8B030D-6E8A-4147-A177-3AD203B41FA5}">
                      <a16:colId xmlns:a16="http://schemas.microsoft.com/office/drawing/2014/main" val="4071984736"/>
                    </a:ext>
                  </a:extLst>
                </a:gridCol>
              </a:tblGrid>
              <a:tr h="300980">
                <a:tc gridSpan="2">
                  <a:txBody>
                    <a:bodyPr/>
                    <a:lstStyle/>
                    <a:p>
                      <a:pPr algn="ctr"/>
                      <a:r>
                        <a:rPr lang="en-IN" sz="1000">
                          <a:solidFill>
                            <a:schemeClr val="tx1">
                              <a:lumMod val="50000"/>
                            </a:schemeClr>
                          </a:solidFill>
                        </a:rPr>
                        <a:t>CREON</a:t>
                      </a:r>
                    </a:p>
                    <a:p>
                      <a:pPr algn="ctr"/>
                      <a:r>
                        <a:rPr lang="en-IN" sz="900" b="1">
                          <a:solidFill>
                            <a:schemeClr val="tx1">
                              <a:lumMod val="50000"/>
                            </a:schemeClr>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2570">
                <a:tc>
                  <a:txBody>
                    <a:bodyPr/>
                    <a:lstStyle/>
                    <a:p>
                      <a:pPr algn="ctr"/>
                      <a:r>
                        <a:rPr lang="en-IN" sz="900">
                          <a:solidFill>
                            <a:schemeClr val="tx1">
                              <a:lumMod val="50000"/>
                            </a:schemeClr>
                          </a:solidFill>
                        </a:rPr>
                        <a:t>3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900">
                          <a:solidFill>
                            <a:schemeClr val="tx1">
                              <a:lumMod val="50000"/>
                            </a:schemeClr>
                          </a:solidFill>
                        </a:rPr>
                        <a:t>6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610898380"/>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2934625003"/>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504581349"/>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4124772759"/>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458604549"/>
                  </a:ext>
                </a:extLst>
              </a:tr>
              <a:tr h="50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2178276077"/>
                  </a:ext>
                </a:extLst>
              </a:tr>
            </a:tbl>
          </a:graphicData>
        </a:graphic>
      </p:graphicFrame>
      <p:sp>
        <p:nvSpPr>
          <p:cNvPr id="10" name="TextBox 9">
            <a:extLst>
              <a:ext uri="{FF2B5EF4-FFF2-40B4-BE49-F238E27FC236}">
                <a16:creationId xmlns:a16="http://schemas.microsoft.com/office/drawing/2014/main" id="{3D0D8A50-8A5D-B68E-71B7-85A5148EC210}"/>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chemeClr val="bg2">
                    <a:lumMod val="10000"/>
                  </a:schemeClr>
                </a:solidFill>
                <a:effectLst/>
                <a:uLnTx/>
                <a:uFillTx/>
                <a:latin typeface="+mn-lt"/>
                <a:cs typeface="Arial"/>
                <a:sym typeface="Arial"/>
                <a:hlinkClick r:id="rId21" action="ppaction://hlinksldjump">
                  <a:extLst>
                    <a:ext uri="{A12FA001-AC4F-418D-AE19-62706E023703}">
                      <ahyp:hlinkClr xmlns:ahyp="http://schemas.microsoft.com/office/drawing/2018/hyperlinkcolor" val="tx"/>
                    </a:ext>
                  </a:extLst>
                </a:hlinkClick>
              </a:rPr>
              <a:t>Return to KBQ slide</a:t>
            </a:r>
            <a:endParaRPr kumimoji="0" lang="en-GB" sz="1100" b="1" i="1" u="sng" strike="noStrike" kern="1200" cap="none" spc="0" normalizeH="0" baseline="0" noProof="0">
              <a:ln>
                <a:noFill/>
              </a:ln>
              <a:solidFill>
                <a:schemeClr val="bg2">
                  <a:lumMod val="10000"/>
                </a:schemeClr>
              </a:solidFill>
              <a:effectLst/>
              <a:uLnTx/>
              <a:uFillTx/>
              <a:latin typeface="+mn-lt"/>
              <a:cs typeface="Arial"/>
              <a:sym typeface="Arial"/>
            </a:endParaRPr>
          </a:p>
        </p:txBody>
      </p:sp>
      <p:grpSp>
        <p:nvGrpSpPr>
          <p:cNvPr id="28" name="Google Shape;762;p18">
            <a:extLst>
              <a:ext uri="{FF2B5EF4-FFF2-40B4-BE49-F238E27FC236}">
                <a16:creationId xmlns:a16="http://schemas.microsoft.com/office/drawing/2014/main" id="{5B65F415-AF7D-8796-0831-1DE6B770F456}"/>
              </a:ext>
            </a:extLst>
          </p:cNvPr>
          <p:cNvGrpSpPr/>
          <p:nvPr/>
        </p:nvGrpSpPr>
        <p:grpSpPr>
          <a:xfrm>
            <a:off x="7141220" y="731587"/>
            <a:ext cx="1724109" cy="246181"/>
            <a:chOff x="4463437" y="6228283"/>
            <a:chExt cx="1724109" cy="246181"/>
          </a:xfrm>
        </p:grpSpPr>
        <p:sp>
          <p:nvSpPr>
            <p:cNvPr id="34" name="Google Shape;763;p18">
              <a:extLst>
                <a:ext uri="{FF2B5EF4-FFF2-40B4-BE49-F238E27FC236}">
                  <a16:creationId xmlns:a16="http://schemas.microsoft.com/office/drawing/2014/main" id="{DF4142E7-2F1C-B691-5912-530D5572C39B}"/>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CREON</a:t>
              </a:r>
              <a:endParaRPr kumimoji="0" sz="14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36" name="Google Shape;764;p18">
              <a:extLst>
                <a:ext uri="{FF2B5EF4-FFF2-40B4-BE49-F238E27FC236}">
                  <a16:creationId xmlns:a16="http://schemas.microsoft.com/office/drawing/2014/main" id="{4211C0F8-37DA-A7BC-2354-F3815AA3ADED}"/>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37" name="Google Shape;765;p18">
              <a:extLst>
                <a:ext uri="{FF2B5EF4-FFF2-40B4-BE49-F238E27FC236}">
                  <a16:creationId xmlns:a16="http://schemas.microsoft.com/office/drawing/2014/main" id="{B6A4A92D-1031-F2C0-5045-06D04D9985BC}"/>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ZENPEP</a:t>
              </a:r>
              <a:endParaRPr kumimoji="0" sz="14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38" name="Google Shape;766;p18">
              <a:extLst>
                <a:ext uri="{FF2B5EF4-FFF2-40B4-BE49-F238E27FC236}">
                  <a16:creationId xmlns:a16="http://schemas.microsoft.com/office/drawing/2014/main" id="{341B6E72-E396-51B9-9460-CB3564A882BF}"/>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grpSp>
      <p:sp>
        <p:nvSpPr>
          <p:cNvPr id="40" name="Google Shape;561;p14">
            <a:extLst>
              <a:ext uri="{FF2B5EF4-FFF2-40B4-BE49-F238E27FC236}">
                <a16:creationId xmlns:a16="http://schemas.microsoft.com/office/drawing/2014/main" id="{009528EE-5635-2AF6-E420-2BEE78A67F8F}"/>
              </a:ext>
            </a:extLst>
          </p:cNvPr>
          <p:cNvSpPr/>
          <p:nvPr/>
        </p:nvSpPr>
        <p:spPr>
          <a:xfrm>
            <a:off x="3659164" y="321343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1" name="Google Shape;561;p14">
            <a:extLst>
              <a:ext uri="{FF2B5EF4-FFF2-40B4-BE49-F238E27FC236}">
                <a16:creationId xmlns:a16="http://schemas.microsoft.com/office/drawing/2014/main" id="{D85EACDB-591F-3D18-851C-DA978F9E96E5}"/>
              </a:ext>
            </a:extLst>
          </p:cNvPr>
          <p:cNvSpPr/>
          <p:nvPr/>
        </p:nvSpPr>
        <p:spPr>
          <a:xfrm>
            <a:off x="3659164" y="371178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2" name="Google Shape;561;p14">
            <a:extLst>
              <a:ext uri="{FF2B5EF4-FFF2-40B4-BE49-F238E27FC236}">
                <a16:creationId xmlns:a16="http://schemas.microsoft.com/office/drawing/2014/main" id="{AB122088-4CEE-E059-94E7-50BDAE82DBF3}"/>
              </a:ext>
            </a:extLst>
          </p:cNvPr>
          <p:cNvSpPr/>
          <p:nvPr/>
        </p:nvSpPr>
        <p:spPr>
          <a:xfrm>
            <a:off x="3659164" y="4205122"/>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6" name="Google Shape;561;p14">
            <a:extLst>
              <a:ext uri="{FF2B5EF4-FFF2-40B4-BE49-F238E27FC236}">
                <a16:creationId xmlns:a16="http://schemas.microsoft.com/office/drawing/2014/main" id="{7385599A-C975-8AD6-575E-EF5278B7F32A}"/>
              </a:ext>
            </a:extLst>
          </p:cNvPr>
          <p:cNvSpPr/>
          <p:nvPr/>
        </p:nvSpPr>
        <p:spPr>
          <a:xfrm>
            <a:off x="4428301" y="321343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7" name="Google Shape;561;p14">
            <a:extLst>
              <a:ext uri="{FF2B5EF4-FFF2-40B4-BE49-F238E27FC236}">
                <a16:creationId xmlns:a16="http://schemas.microsoft.com/office/drawing/2014/main" id="{7D8E3A53-0F6B-24B5-D082-ED4139623A47}"/>
              </a:ext>
            </a:extLst>
          </p:cNvPr>
          <p:cNvSpPr/>
          <p:nvPr/>
        </p:nvSpPr>
        <p:spPr>
          <a:xfrm>
            <a:off x="4428301" y="371178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8" name="Google Shape;561;p14">
            <a:extLst>
              <a:ext uri="{FF2B5EF4-FFF2-40B4-BE49-F238E27FC236}">
                <a16:creationId xmlns:a16="http://schemas.microsoft.com/office/drawing/2014/main" id="{856BFAD9-7275-A63F-ED69-EFEFDDAFB746}"/>
              </a:ext>
            </a:extLst>
          </p:cNvPr>
          <p:cNvSpPr/>
          <p:nvPr/>
        </p:nvSpPr>
        <p:spPr>
          <a:xfrm>
            <a:off x="4428301" y="4205122"/>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9" name="Google Shape;561;p14">
            <a:extLst>
              <a:ext uri="{FF2B5EF4-FFF2-40B4-BE49-F238E27FC236}">
                <a16:creationId xmlns:a16="http://schemas.microsoft.com/office/drawing/2014/main" id="{1E0364A6-D4FF-D638-7E57-16EF515C0A14}"/>
              </a:ext>
            </a:extLst>
          </p:cNvPr>
          <p:cNvSpPr/>
          <p:nvPr/>
        </p:nvSpPr>
        <p:spPr>
          <a:xfrm>
            <a:off x="4428301" y="520942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0" name="Google Shape;561;p14">
            <a:extLst>
              <a:ext uri="{FF2B5EF4-FFF2-40B4-BE49-F238E27FC236}">
                <a16:creationId xmlns:a16="http://schemas.microsoft.com/office/drawing/2014/main" id="{9B9202EE-A88F-5F02-368B-1635C813CC83}"/>
              </a:ext>
            </a:extLst>
          </p:cNvPr>
          <p:cNvSpPr/>
          <p:nvPr/>
        </p:nvSpPr>
        <p:spPr>
          <a:xfrm>
            <a:off x="5160737" y="321343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1" name="Google Shape;561;p14">
            <a:extLst>
              <a:ext uri="{FF2B5EF4-FFF2-40B4-BE49-F238E27FC236}">
                <a16:creationId xmlns:a16="http://schemas.microsoft.com/office/drawing/2014/main" id="{4BFF0DE4-885F-DEE1-2917-500736F846B8}"/>
              </a:ext>
            </a:extLst>
          </p:cNvPr>
          <p:cNvSpPr/>
          <p:nvPr/>
        </p:nvSpPr>
        <p:spPr>
          <a:xfrm>
            <a:off x="5160737" y="371178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2" name="Google Shape;561;p14">
            <a:extLst>
              <a:ext uri="{FF2B5EF4-FFF2-40B4-BE49-F238E27FC236}">
                <a16:creationId xmlns:a16="http://schemas.microsoft.com/office/drawing/2014/main" id="{9FA83DAA-27F5-9556-AF6C-81EF99F3BD9B}"/>
              </a:ext>
            </a:extLst>
          </p:cNvPr>
          <p:cNvSpPr/>
          <p:nvPr/>
        </p:nvSpPr>
        <p:spPr>
          <a:xfrm>
            <a:off x="5160737" y="4205122"/>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3" name="Google Shape;561;p14">
            <a:extLst>
              <a:ext uri="{FF2B5EF4-FFF2-40B4-BE49-F238E27FC236}">
                <a16:creationId xmlns:a16="http://schemas.microsoft.com/office/drawing/2014/main" id="{11DD70FB-EF22-7796-3C8F-7B12907CACD9}"/>
              </a:ext>
            </a:extLst>
          </p:cNvPr>
          <p:cNvSpPr/>
          <p:nvPr/>
        </p:nvSpPr>
        <p:spPr>
          <a:xfrm>
            <a:off x="5160737" y="520942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9" name="Google Shape;561;p14">
            <a:extLst>
              <a:ext uri="{FF2B5EF4-FFF2-40B4-BE49-F238E27FC236}">
                <a16:creationId xmlns:a16="http://schemas.microsoft.com/office/drawing/2014/main" id="{EB1EC2F5-8BB3-3C8E-933B-D00072B885CF}"/>
              </a:ext>
            </a:extLst>
          </p:cNvPr>
          <p:cNvSpPr/>
          <p:nvPr/>
        </p:nvSpPr>
        <p:spPr>
          <a:xfrm>
            <a:off x="7435093" y="32324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0" name="Google Shape;561;p14">
            <a:extLst>
              <a:ext uri="{FF2B5EF4-FFF2-40B4-BE49-F238E27FC236}">
                <a16:creationId xmlns:a16="http://schemas.microsoft.com/office/drawing/2014/main" id="{A94E332B-B925-A7DF-F2F9-83E4A952488F}"/>
              </a:ext>
            </a:extLst>
          </p:cNvPr>
          <p:cNvSpPr/>
          <p:nvPr/>
        </p:nvSpPr>
        <p:spPr>
          <a:xfrm>
            <a:off x="6702657" y="32324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1" name="Google Shape;561;p14">
            <a:extLst>
              <a:ext uri="{FF2B5EF4-FFF2-40B4-BE49-F238E27FC236}">
                <a16:creationId xmlns:a16="http://schemas.microsoft.com/office/drawing/2014/main" id="{BCA0590F-7685-2B9D-DDBE-3913CC60E651}"/>
              </a:ext>
            </a:extLst>
          </p:cNvPr>
          <p:cNvSpPr/>
          <p:nvPr/>
        </p:nvSpPr>
        <p:spPr>
          <a:xfrm>
            <a:off x="5950639" y="32324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6" name="Table 5">
            <a:extLst>
              <a:ext uri="{FF2B5EF4-FFF2-40B4-BE49-F238E27FC236}">
                <a16:creationId xmlns:a16="http://schemas.microsoft.com/office/drawing/2014/main" id="{3AA00801-02E1-8B34-18B3-99331BCF1C2B}"/>
              </a:ext>
            </a:extLst>
          </p:cNvPr>
          <p:cNvGraphicFramePr>
            <a:graphicFrameLocks noGrp="1"/>
          </p:cNvGraphicFramePr>
          <p:nvPr>
            <p:extLst>
              <p:ext uri="{D42A27DB-BD31-4B8C-83A1-F6EECF244321}">
                <p14:modId xmlns:p14="http://schemas.microsoft.com/office/powerpoint/2010/main" val="1798191821"/>
              </p:ext>
            </p:extLst>
          </p:nvPr>
        </p:nvGraphicFramePr>
        <p:xfrm>
          <a:off x="-2530610" y="679760"/>
          <a:ext cx="2438400" cy="4960420"/>
        </p:xfrm>
        <a:graphic>
          <a:graphicData uri="http://schemas.openxmlformats.org/drawingml/2006/table">
            <a:tbl>
              <a:tblPr/>
              <a:tblGrid>
                <a:gridCol w="609600">
                  <a:extLst>
                    <a:ext uri="{9D8B030D-6E8A-4147-A177-3AD203B41FA5}">
                      <a16:colId xmlns:a16="http://schemas.microsoft.com/office/drawing/2014/main" val="1571241535"/>
                    </a:ext>
                  </a:extLst>
                </a:gridCol>
                <a:gridCol w="609600">
                  <a:extLst>
                    <a:ext uri="{9D8B030D-6E8A-4147-A177-3AD203B41FA5}">
                      <a16:colId xmlns:a16="http://schemas.microsoft.com/office/drawing/2014/main" val="2821055960"/>
                    </a:ext>
                  </a:extLst>
                </a:gridCol>
                <a:gridCol w="609600">
                  <a:extLst>
                    <a:ext uri="{9D8B030D-6E8A-4147-A177-3AD203B41FA5}">
                      <a16:colId xmlns:a16="http://schemas.microsoft.com/office/drawing/2014/main" val="613243030"/>
                    </a:ext>
                  </a:extLst>
                </a:gridCol>
                <a:gridCol w="609600">
                  <a:extLst>
                    <a:ext uri="{9D8B030D-6E8A-4147-A177-3AD203B41FA5}">
                      <a16:colId xmlns:a16="http://schemas.microsoft.com/office/drawing/2014/main" val="87127233"/>
                    </a:ext>
                  </a:extLst>
                </a:gridCol>
              </a:tblGrid>
              <a:tr h="496042">
                <a:tc gridSpan="4">
                  <a:txBody>
                    <a:bodyPr/>
                    <a:lstStyle/>
                    <a:p>
                      <a:pPr algn="ctr" fontAlgn="ctr">
                        <a:buNone/>
                      </a:pPr>
                      <a:r>
                        <a:rPr lang="en-IN" sz="1100" b="1" i="0" u="none" strike="noStrike">
                          <a:solidFill>
                            <a:srgbClr val="000000"/>
                          </a:solidFill>
                          <a:effectLst/>
                          <a:latin typeface="Aptos Narrow" panose="020B0004020202020204" pitchFamily="34" charset="0"/>
                        </a:rPr>
                        <a:t>Delta between Dec’25 – Mar’26</a:t>
                      </a:r>
                    </a:p>
                  </a:txBody>
                  <a:tcPr marL="6350" marR="6350" marT="6350" marB="0" anchor="ctr">
                    <a:lnL>
                      <a:noFill/>
                    </a:lnL>
                    <a:lnR>
                      <a:noFill/>
                    </a:lnR>
                    <a:lnT>
                      <a:noFill/>
                    </a:lnT>
                    <a:lnB>
                      <a:noFill/>
                    </a:lnB>
                    <a:solidFill>
                      <a:schemeClr val="bg1">
                        <a:lumMod val="95000"/>
                      </a:schemeClr>
                    </a:solidFill>
                  </a:tcPr>
                </a:tc>
                <a:tc hMerge="1">
                  <a:txBody>
                    <a:bodyPr/>
                    <a:lstStyle/>
                    <a:p>
                      <a:pPr algn="ctr" fontAlgn="ctr">
                        <a:buNone/>
                      </a:pPr>
                      <a:endParaRPr lang="en-IN" sz="1100" b="1" i="0" u="none" strike="noStrike">
                        <a:solidFill>
                          <a:srgbClr val="000000"/>
                        </a:solidFill>
                        <a:effectLst/>
                        <a:latin typeface="Aptos Narrow" panose="020B0004020202020204" pitchFamily="34" charset="0"/>
                      </a:endParaRPr>
                    </a:p>
                  </a:txBody>
                  <a:tcPr marL="6350" marR="6350" marT="6350" marB="0" anchor="ctr">
                    <a:lnL>
                      <a:noFill/>
                    </a:lnL>
                    <a:lnR>
                      <a:noFill/>
                    </a:lnR>
                    <a:lnT>
                      <a:noFill/>
                    </a:lnT>
                    <a:lnB>
                      <a:noFill/>
                    </a:lnB>
                    <a:solidFill>
                      <a:schemeClr val="bg1">
                        <a:lumMod val="95000"/>
                      </a:schemeClr>
                    </a:solidFill>
                  </a:tcPr>
                </a:tc>
                <a:tc hMerge="1">
                  <a:txBody>
                    <a:bodyPr/>
                    <a:lstStyle/>
                    <a:p>
                      <a:pPr algn="ctr" fontAlgn="ctr">
                        <a:buNone/>
                      </a:pPr>
                      <a:endParaRPr lang="en-IN" sz="1100" b="1" i="0" u="none" strike="noStrike">
                        <a:solidFill>
                          <a:srgbClr val="000000"/>
                        </a:solidFill>
                        <a:effectLst/>
                        <a:latin typeface="Aptos Narrow" panose="020B0004020202020204" pitchFamily="34" charset="0"/>
                      </a:endParaRPr>
                    </a:p>
                  </a:txBody>
                  <a:tcPr marL="6350" marR="6350" marT="6350" marB="0" anchor="ctr">
                    <a:lnL>
                      <a:noFill/>
                    </a:lnL>
                    <a:lnR>
                      <a:noFill/>
                    </a:lnR>
                    <a:lnT>
                      <a:noFill/>
                    </a:lnT>
                    <a:lnB>
                      <a:noFill/>
                    </a:lnB>
                    <a:solidFill>
                      <a:schemeClr val="bg1">
                        <a:lumMod val="95000"/>
                      </a:schemeClr>
                    </a:solidFill>
                  </a:tcPr>
                </a:tc>
                <a:tc hMerge="1">
                  <a:txBody>
                    <a:bodyPr/>
                    <a:lstStyle/>
                    <a:p>
                      <a:pPr algn="ctr" fontAlgn="ctr">
                        <a:buNone/>
                      </a:pPr>
                      <a:endParaRPr lang="en-IN" sz="1100" b="1" i="0" u="none" strike="noStrike">
                        <a:solidFill>
                          <a:srgbClr val="000000"/>
                        </a:solidFill>
                        <a:effectLst/>
                        <a:latin typeface="Aptos Narrow" panose="020B0004020202020204" pitchFamily="34" charset="0"/>
                      </a:endParaRPr>
                    </a:p>
                  </a:txBody>
                  <a:tcPr marL="6350" marR="6350" marT="6350"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3909359633"/>
                  </a:ext>
                </a:extLst>
              </a:tr>
              <a:tr h="496042">
                <a:tc>
                  <a:txBody>
                    <a:bodyPr/>
                    <a:lstStyle/>
                    <a:p>
                      <a:pPr algn="ctr" fontAlgn="ctr">
                        <a:buNone/>
                      </a:pPr>
                      <a:r>
                        <a:rPr lang="en-IN" sz="1100" b="1" i="0" u="none" strike="noStrike">
                          <a:solidFill>
                            <a:srgbClr val="000000"/>
                          </a:solidFill>
                          <a:effectLst/>
                          <a:latin typeface="Aptos Narrow" panose="020B0004020202020204" pitchFamily="34" charset="0"/>
                        </a:rPr>
                        <a:t>Overall</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Gastro</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PCP</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NPPA</a:t>
                      </a:r>
                    </a:p>
                  </a:txBody>
                  <a:tcPr marL="6350" marR="6350" marT="6350"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3173045941"/>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11%</a:t>
                      </a:r>
                    </a:p>
                  </a:txBody>
                  <a:tcPr marL="6350" marR="6350" marT="6350" marB="0" anchor="ctr">
                    <a:lnL>
                      <a:noFill/>
                    </a:lnL>
                    <a:lnR>
                      <a:noFill/>
                    </a:lnR>
                    <a:lnT>
                      <a:noFill/>
                    </a:lnT>
                    <a:lnB>
                      <a:noFill/>
                    </a:lnB>
                    <a:solidFill>
                      <a:srgbClr val="7EC67D"/>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ED880"/>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10%</a:t>
                      </a:r>
                    </a:p>
                  </a:txBody>
                  <a:tcPr marL="6350" marR="6350" marT="6350" marB="0" anchor="ctr">
                    <a:lnL>
                      <a:noFill/>
                    </a:lnL>
                    <a:lnR>
                      <a:noFill/>
                    </a:lnR>
                    <a:lnT>
                      <a:noFill/>
                    </a:lnT>
                    <a:lnB>
                      <a:noFill/>
                    </a:lnB>
                    <a:solidFill>
                      <a:srgbClr val="DAE182"/>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26%</a:t>
                      </a:r>
                    </a:p>
                  </a:txBody>
                  <a:tcPr marL="6350" marR="6350" marT="6350" marB="0" anchor="ctr">
                    <a:lnL>
                      <a:noFill/>
                    </a:lnL>
                    <a:lnR>
                      <a:noFill/>
                    </a:lnR>
                    <a:lnT>
                      <a:noFill/>
                    </a:lnT>
                    <a:lnB>
                      <a:noFill/>
                    </a:lnB>
                    <a:solidFill>
                      <a:srgbClr val="63BE7B"/>
                    </a:solidFill>
                  </a:tcPr>
                </a:tc>
                <a:extLst>
                  <a:ext uri="{0D108BD9-81ED-4DB2-BD59-A6C34878D82A}">
                    <a16:rowId xmlns:a16="http://schemas.microsoft.com/office/drawing/2014/main" val="2585218794"/>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6%</a:t>
                      </a:r>
                    </a:p>
                  </a:txBody>
                  <a:tcPr marL="6350" marR="6350" marT="6350" marB="0" anchor="ctr">
                    <a:lnL>
                      <a:noFill/>
                    </a:lnL>
                    <a:lnR>
                      <a:noFill/>
                    </a:lnR>
                    <a:lnT>
                      <a:noFill/>
                    </a:lnT>
                    <a:lnB>
                      <a:noFill/>
                    </a:lnB>
                    <a:solidFill>
                      <a:srgbClr val="FEEA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CBF7B"/>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CBF7B"/>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22%</a:t>
                      </a:r>
                    </a:p>
                  </a:txBody>
                  <a:tcPr marL="6350" marR="6350" marT="6350" marB="0" anchor="ctr">
                    <a:lnL>
                      <a:noFill/>
                    </a:lnL>
                    <a:lnR>
                      <a:noFill/>
                    </a:lnR>
                    <a:lnT>
                      <a:noFill/>
                    </a:lnT>
                    <a:lnB>
                      <a:noFill/>
                    </a:lnB>
                    <a:solidFill>
                      <a:srgbClr val="81C77D"/>
                    </a:solidFill>
                  </a:tcPr>
                </a:tc>
                <a:extLst>
                  <a:ext uri="{0D108BD9-81ED-4DB2-BD59-A6C34878D82A}">
                    <a16:rowId xmlns:a16="http://schemas.microsoft.com/office/drawing/2014/main" val="1818745329"/>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7%</a:t>
                      </a:r>
                    </a:p>
                  </a:txBody>
                  <a:tcPr marL="6350" marR="6350" marT="6350" marB="0" anchor="ctr">
                    <a:lnL>
                      <a:noFill/>
                    </a:lnL>
                    <a:lnR>
                      <a:noFill/>
                    </a:lnR>
                    <a:lnT>
                      <a:noFill/>
                    </a:lnT>
                    <a:lnB>
                      <a:noFill/>
                    </a:lnB>
                    <a:solidFill>
                      <a:srgbClr val="E6E4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8%</a:t>
                      </a:r>
                    </a:p>
                  </a:txBody>
                  <a:tcPr marL="6350" marR="6350" marT="6350" marB="0" anchor="ctr">
                    <a:lnL>
                      <a:noFill/>
                    </a:lnL>
                    <a:lnR>
                      <a:noFill/>
                    </a:lnR>
                    <a:lnT>
                      <a:noFill/>
                    </a:lnT>
                    <a:lnB>
                      <a:noFill/>
                    </a:lnB>
                    <a:solidFill>
                      <a:srgbClr val="E9E5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8%</a:t>
                      </a:r>
                    </a:p>
                  </a:txBody>
                  <a:tcPr marL="6350" marR="6350" marT="6350" marB="0" anchor="ctr">
                    <a:lnL>
                      <a:noFill/>
                    </a:lnL>
                    <a:lnR>
                      <a:noFill/>
                    </a:lnR>
                    <a:lnT>
                      <a:noFill/>
                    </a:lnT>
                    <a:lnB>
                      <a:noFill/>
                    </a:lnB>
                    <a:solidFill>
                      <a:srgbClr val="E9E5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6%</a:t>
                      </a:r>
                    </a:p>
                  </a:txBody>
                  <a:tcPr marL="6350" marR="6350" marT="6350" marB="0" anchor="ctr">
                    <a:lnL>
                      <a:noFill/>
                    </a:lnL>
                    <a:lnR>
                      <a:noFill/>
                    </a:lnR>
                    <a:lnT>
                      <a:noFill/>
                    </a:lnT>
                    <a:lnB>
                      <a:noFill/>
                    </a:lnB>
                    <a:solidFill>
                      <a:srgbClr val="F8E984"/>
                    </a:solidFill>
                  </a:tcPr>
                </a:tc>
                <a:extLst>
                  <a:ext uri="{0D108BD9-81ED-4DB2-BD59-A6C34878D82A}">
                    <a16:rowId xmlns:a16="http://schemas.microsoft.com/office/drawing/2014/main" val="3739979160"/>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7%</a:t>
                      </a:r>
                    </a:p>
                  </a:txBody>
                  <a:tcPr marL="6350" marR="6350" marT="6350" marB="0" anchor="ctr">
                    <a:lnL>
                      <a:noFill/>
                    </a:lnL>
                    <a:lnR>
                      <a:noFill/>
                    </a:lnR>
                    <a:lnT>
                      <a:noFill/>
                    </a:lnT>
                    <a:lnB>
                      <a:noFill/>
                    </a:lnB>
                    <a:solidFill>
                      <a:srgbClr val="E6E4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3%</a:t>
                      </a:r>
                    </a:p>
                  </a:txBody>
                  <a:tcPr marL="6350" marR="6350" marT="6350" marB="0" anchor="ctr">
                    <a:lnL>
                      <a:noFill/>
                    </a:lnL>
                    <a:lnR>
                      <a:noFill/>
                    </a:lnR>
                    <a:lnT>
                      <a:noFill/>
                    </a:lnT>
                    <a:lnB>
                      <a:noFill/>
                    </a:lnB>
                    <a:solidFill>
                      <a:srgbClr val="FEDE81"/>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D27F"/>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19%</a:t>
                      </a:r>
                    </a:p>
                  </a:txBody>
                  <a:tcPr marL="6350" marR="6350" marT="6350" marB="0" anchor="ctr">
                    <a:lnL>
                      <a:noFill/>
                    </a:lnL>
                    <a:lnR>
                      <a:noFill/>
                    </a:lnR>
                    <a:lnT>
                      <a:noFill/>
                    </a:lnT>
                    <a:lnB>
                      <a:noFill/>
                    </a:lnB>
                    <a:solidFill>
                      <a:srgbClr val="97CD7E"/>
                    </a:solidFill>
                  </a:tcPr>
                </a:tc>
                <a:extLst>
                  <a:ext uri="{0D108BD9-81ED-4DB2-BD59-A6C34878D82A}">
                    <a16:rowId xmlns:a16="http://schemas.microsoft.com/office/drawing/2014/main" val="599550406"/>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8%</a:t>
                      </a:r>
                    </a:p>
                  </a:txBody>
                  <a:tcPr marL="6350" marR="6350" marT="6350" marB="0" anchor="ctr">
                    <a:lnL>
                      <a:noFill/>
                    </a:lnL>
                    <a:lnR>
                      <a:noFill/>
                    </a:lnR>
                    <a:lnT>
                      <a:noFill/>
                    </a:lnT>
                    <a:lnB>
                      <a:noFill/>
                    </a:lnB>
                    <a:solidFill>
                      <a:srgbClr val="CCDD82"/>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-3%</a:t>
                      </a:r>
                    </a:p>
                  </a:txBody>
                  <a:tcPr marL="6350" marR="6350" marT="6350" marB="0" anchor="ctr">
                    <a:lnL>
                      <a:noFill/>
                    </a:lnL>
                    <a:lnR>
                      <a:noFill/>
                    </a:lnR>
                    <a:lnT>
                      <a:noFill/>
                    </a:lnT>
                    <a:lnB>
                      <a:noFill/>
                    </a:lnB>
                    <a:solidFill>
                      <a:srgbClr val="FCB97A"/>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8%</a:t>
                      </a:r>
                    </a:p>
                  </a:txBody>
                  <a:tcPr marL="6350" marR="6350" marT="6350" marB="0" anchor="ctr">
                    <a:lnL>
                      <a:noFill/>
                    </a:lnL>
                    <a:lnR>
                      <a:noFill/>
                    </a:lnR>
                    <a:lnT>
                      <a:noFill/>
                    </a:lnT>
                    <a:lnB>
                      <a:noFill/>
                    </a:lnB>
                    <a:solidFill>
                      <a:srgbClr val="E9E5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25%</a:t>
                      </a:r>
                    </a:p>
                  </a:txBody>
                  <a:tcPr marL="6350" marR="6350" marT="6350" marB="0" anchor="ctr">
                    <a:lnL>
                      <a:noFill/>
                    </a:lnL>
                    <a:lnR>
                      <a:noFill/>
                    </a:lnR>
                    <a:lnT>
                      <a:noFill/>
                    </a:lnT>
                    <a:lnB>
                      <a:noFill/>
                    </a:lnB>
                    <a:solidFill>
                      <a:srgbClr val="6BC17C"/>
                    </a:solidFill>
                  </a:tcPr>
                </a:tc>
                <a:extLst>
                  <a:ext uri="{0D108BD9-81ED-4DB2-BD59-A6C34878D82A}">
                    <a16:rowId xmlns:a16="http://schemas.microsoft.com/office/drawing/2014/main" val="1409547259"/>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6%</a:t>
                      </a:r>
                    </a:p>
                  </a:txBody>
                  <a:tcPr marL="6350" marR="6350" marT="6350" marB="0" anchor="ctr">
                    <a:lnL>
                      <a:noFill/>
                    </a:lnL>
                    <a:lnR>
                      <a:noFill/>
                    </a:lnR>
                    <a:lnT>
                      <a:noFill/>
                    </a:lnT>
                    <a:lnB>
                      <a:noFill/>
                    </a:lnB>
                    <a:solidFill>
                      <a:srgbClr val="FEEA83"/>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11%</a:t>
                      </a:r>
                    </a:p>
                  </a:txBody>
                  <a:tcPr marL="6350" marR="6350" marT="6350" marB="0" anchor="ctr">
                    <a:lnL>
                      <a:noFill/>
                    </a:lnL>
                    <a:lnR>
                      <a:noFill/>
                    </a:lnR>
                    <a:lnT>
                      <a:noFill/>
                    </a:lnT>
                    <a:lnB>
                      <a:noFill/>
                    </a:lnB>
                    <a:solidFill>
                      <a:srgbClr val="D3DF82"/>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-3%</a:t>
                      </a:r>
                    </a:p>
                  </a:txBody>
                  <a:tcPr marL="6350" marR="6350" marT="6350" marB="0" anchor="ctr">
                    <a:lnL>
                      <a:noFill/>
                    </a:lnL>
                    <a:lnR>
                      <a:noFill/>
                    </a:lnR>
                    <a:lnT>
                      <a:noFill/>
                    </a:lnT>
                    <a:lnB>
                      <a:noFill/>
                    </a:lnB>
                    <a:solidFill>
                      <a:srgbClr val="FCB97A"/>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3%</a:t>
                      </a:r>
                    </a:p>
                  </a:txBody>
                  <a:tcPr marL="6350" marR="6350" marT="6350" marB="0" anchor="ctr">
                    <a:lnL>
                      <a:noFill/>
                    </a:lnL>
                    <a:lnR>
                      <a:noFill/>
                    </a:lnR>
                    <a:lnT>
                      <a:noFill/>
                    </a:lnT>
                    <a:lnB>
                      <a:noFill/>
                    </a:lnB>
                    <a:solidFill>
                      <a:srgbClr val="FEDE81"/>
                    </a:solidFill>
                  </a:tcPr>
                </a:tc>
                <a:extLst>
                  <a:ext uri="{0D108BD9-81ED-4DB2-BD59-A6C34878D82A}">
                    <a16:rowId xmlns:a16="http://schemas.microsoft.com/office/drawing/2014/main" val="1439715471"/>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A8E72"/>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ED880"/>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-5%</a:t>
                      </a:r>
                    </a:p>
                  </a:txBody>
                  <a:tcPr marL="6350" marR="6350" marT="6350" marB="0" anchor="ctr">
                    <a:lnL>
                      <a:noFill/>
                    </a:lnL>
                    <a:lnR>
                      <a:noFill/>
                    </a:lnR>
                    <a:lnT>
                      <a:noFill/>
                    </a:lnT>
                    <a:lnB>
                      <a:noFill/>
                    </a:lnB>
                    <a:solidFill>
                      <a:srgbClr val="FBAD78"/>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7%</a:t>
                      </a:r>
                    </a:p>
                  </a:txBody>
                  <a:tcPr marL="6350" marR="6350" marT="6350" marB="0" anchor="ctr">
                    <a:lnL>
                      <a:noFill/>
                    </a:lnL>
                    <a:lnR>
                      <a:noFill/>
                    </a:lnR>
                    <a:lnT>
                      <a:noFill/>
                    </a:lnT>
                    <a:lnB>
                      <a:noFill/>
                    </a:lnB>
                    <a:solidFill>
                      <a:srgbClr val="F1E784"/>
                    </a:solidFill>
                  </a:tcPr>
                </a:tc>
                <a:extLst>
                  <a:ext uri="{0D108BD9-81ED-4DB2-BD59-A6C34878D82A}">
                    <a16:rowId xmlns:a16="http://schemas.microsoft.com/office/drawing/2014/main" val="313260129"/>
                  </a:ext>
                </a:extLst>
              </a:tr>
              <a:tr h="496042">
                <a:tc>
                  <a:txBody>
                    <a:bodyPr/>
                    <a:lstStyle/>
                    <a:p>
                      <a:pPr algn="ctr" fontAlgn="ctr">
                        <a:buNone/>
                      </a:pPr>
                      <a:r>
                        <a:rPr lang="en-IN" sz="1100" b="0" i="0" u="none" strike="noStrike">
                          <a:solidFill>
                            <a:srgbClr val="000000"/>
                          </a:solidFill>
                          <a:effectLst/>
                          <a:latin typeface="Aptos Narrow" panose="020B0004020202020204" pitchFamily="34" charset="0"/>
                        </a:rPr>
                        <a:t>12%</a:t>
                      </a:r>
                    </a:p>
                  </a:txBody>
                  <a:tcPr marL="6350" marR="6350" marT="6350" marB="0" anchor="ctr">
                    <a:lnL>
                      <a:noFill/>
                    </a:lnL>
                    <a:lnR>
                      <a:noFill/>
                    </a:lnR>
                    <a:lnT>
                      <a:noFill/>
                    </a:lnT>
                    <a:lnB>
                      <a:noFill/>
                    </a:lnB>
                    <a:solidFill>
                      <a:srgbClr val="63BE7B"/>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5%</a:t>
                      </a:r>
                    </a:p>
                  </a:txBody>
                  <a:tcPr marL="6350" marR="6350" marT="6350" marB="0" anchor="ctr">
                    <a:lnL>
                      <a:noFill/>
                    </a:lnL>
                    <a:lnR>
                      <a:noFill/>
                    </a:lnR>
                    <a:lnT>
                      <a:noFill/>
                    </a:lnT>
                    <a:lnB>
                      <a:noFill/>
                    </a:lnB>
                    <a:solidFill>
                      <a:srgbClr val="FFEB84"/>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12%</a:t>
                      </a:r>
                    </a:p>
                  </a:txBody>
                  <a:tcPr marL="6350" marR="6350" marT="6350" marB="0" anchor="ctr">
                    <a:lnL>
                      <a:noFill/>
                    </a:lnL>
                    <a:lnR>
                      <a:noFill/>
                    </a:lnR>
                    <a:lnT>
                      <a:noFill/>
                    </a:lnT>
                    <a:lnB>
                      <a:noFill/>
                    </a:lnB>
                    <a:solidFill>
                      <a:srgbClr val="CCDD82"/>
                    </a:solidFill>
                  </a:tcPr>
                </a:tc>
                <a:tc>
                  <a:txBody>
                    <a:bodyPr/>
                    <a:lstStyle/>
                    <a:p>
                      <a:pPr algn="ctr" fontAlgn="ctr">
                        <a:buNone/>
                      </a:pPr>
                      <a:r>
                        <a:rPr lang="en-IN" sz="1100" b="0" i="0" u="none" strike="noStrike">
                          <a:solidFill>
                            <a:srgbClr val="000000"/>
                          </a:solidFill>
                          <a:effectLst/>
                          <a:latin typeface="Aptos Narrow" panose="020B0004020202020204" pitchFamily="34" charset="0"/>
                        </a:rPr>
                        <a:t>22%</a:t>
                      </a:r>
                    </a:p>
                  </a:txBody>
                  <a:tcPr marL="6350" marR="6350" marT="6350" marB="0" anchor="ctr">
                    <a:lnL>
                      <a:noFill/>
                    </a:lnL>
                    <a:lnR>
                      <a:noFill/>
                    </a:lnR>
                    <a:lnT>
                      <a:noFill/>
                    </a:lnT>
                    <a:lnB>
                      <a:noFill/>
                    </a:lnB>
                    <a:solidFill>
                      <a:srgbClr val="81C77D"/>
                    </a:solidFill>
                  </a:tcPr>
                </a:tc>
                <a:extLst>
                  <a:ext uri="{0D108BD9-81ED-4DB2-BD59-A6C34878D82A}">
                    <a16:rowId xmlns:a16="http://schemas.microsoft.com/office/drawing/2014/main" val="2699032286"/>
                  </a:ext>
                </a:extLst>
              </a:tr>
            </a:tbl>
          </a:graphicData>
        </a:graphic>
      </p:graphicFrame>
    </p:spTree>
    <p:extLst>
      <p:ext uri="{BB962C8B-B14F-4D97-AF65-F5344CB8AC3E}">
        <p14:creationId xmlns:p14="http://schemas.microsoft.com/office/powerpoint/2010/main" val="26271686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53"/>
        <p:cNvGrpSpPr/>
        <p:nvPr/>
      </p:nvGrpSpPr>
      <p:grpSpPr>
        <a:xfrm>
          <a:off x="0" y="0"/>
          <a:ext cx="0" cy="0"/>
          <a:chOff x="0" y="0"/>
          <a:chExt cx="0" cy="0"/>
        </a:xfrm>
      </p:grpSpPr>
      <p:graphicFrame>
        <p:nvGraphicFramePr>
          <p:cNvPr id="45" name="Most favorable safety profile">
            <a:extLst>
              <a:ext uri="{FF2B5EF4-FFF2-40B4-BE49-F238E27FC236}">
                <a16:creationId xmlns:a16="http://schemas.microsoft.com/office/drawing/2014/main" id="{64A53C95-86F0-AC94-716B-7AE3C521B2BF}"/>
              </a:ext>
            </a:extLst>
          </p:cNvPr>
          <p:cNvGraphicFramePr/>
          <p:nvPr>
            <p:custDataLst>
              <p:tags r:id="rId1"/>
            </p:custDataLst>
            <p:extLst>
              <p:ext uri="{D42A27DB-BD31-4B8C-83A1-F6EECF244321}">
                <p14:modId xmlns:p14="http://schemas.microsoft.com/office/powerpoint/2010/main" val="2092445887"/>
              </p:ext>
            </p:extLst>
          </p:nvPr>
        </p:nvGraphicFramePr>
        <p:xfrm>
          <a:off x="3035266" y="3836896"/>
          <a:ext cx="4828574" cy="540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42" name="Simplest dosing">
            <a:extLst>
              <a:ext uri="{FF2B5EF4-FFF2-40B4-BE49-F238E27FC236}">
                <a16:creationId xmlns:a16="http://schemas.microsoft.com/office/drawing/2014/main" id="{5CEF0350-ACE9-0FAF-150D-0A364BDCD0B7}"/>
              </a:ext>
            </a:extLst>
          </p:cNvPr>
          <p:cNvGraphicFramePr/>
          <p:nvPr>
            <p:custDataLst>
              <p:tags r:id="rId2"/>
            </p:custDataLst>
            <p:extLst>
              <p:ext uri="{D42A27DB-BD31-4B8C-83A1-F6EECF244321}">
                <p14:modId xmlns:p14="http://schemas.microsoft.com/office/powerpoint/2010/main" val="3242601822"/>
              </p:ext>
            </p:extLst>
          </p:nvPr>
        </p:nvGraphicFramePr>
        <p:xfrm>
          <a:off x="3035266" y="1691640"/>
          <a:ext cx="4828574" cy="540000"/>
        </p:xfrm>
        <a:graphic>
          <a:graphicData uri="http://schemas.openxmlformats.org/drawingml/2006/chart">
            <c:chart xmlns:c="http://schemas.openxmlformats.org/drawingml/2006/chart" xmlns:r="http://schemas.openxmlformats.org/officeDocument/2006/relationships" r:id="rId13"/>
          </a:graphicData>
        </a:graphic>
      </p:graphicFrame>
      <p:sp>
        <p:nvSpPr>
          <p:cNvPr id="27" name="Google Shape;1359;p33">
            <a:extLst>
              <a:ext uri="{FF2B5EF4-FFF2-40B4-BE49-F238E27FC236}">
                <a16:creationId xmlns:a16="http://schemas.microsoft.com/office/drawing/2014/main" id="{35340DE7-E41B-46BC-8720-5EE6E0C12E51}"/>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CREON improved marginally across most dosing attributes over the past three rolling months, except “most dosing options,” while ZENPEP declined; ZENPEP outperformed CREON across all dosing attributes except “dosing flexibility”</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graphicFrame>
        <p:nvGraphicFramePr>
          <p:cNvPr id="43" name="Dosing flexibility">
            <a:extLst>
              <a:ext uri="{FF2B5EF4-FFF2-40B4-BE49-F238E27FC236}">
                <a16:creationId xmlns:a16="http://schemas.microsoft.com/office/drawing/2014/main" id="{E0BDBB3A-A067-0769-7C6E-95851EA15EAA}"/>
              </a:ext>
            </a:extLst>
          </p:cNvPr>
          <p:cNvGraphicFramePr/>
          <p:nvPr>
            <p:custDataLst>
              <p:tags r:id="rId3"/>
            </p:custDataLst>
            <p:extLst>
              <p:ext uri="{D42A27DB-BD31-4B8C-83A1-F6EECF244321}">
                <p14:modId xmlns:p14="http://schemas.microsoft.com/office/powerpoint/2010/main" val="2115805999"/>
              </p:ext>
            </p:extLst>
          </p:nvPr>
        </p:nvGraphicFramePr>
        <p:xfrm>
          <a:off x="3035266" y="2227954"/>
          <a:ext cx="4828574" cy="540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44" name="Patient adherence">
            <a:extLst>
              <a:ext uri="{FF2B5EF4-FFF2-40B4-BE49-F238E27FC236}">
                <a16:creationId xmlns:a16="http://schemas.microsoft.com/office/drawing/2014/main" id="{ECE7059E-1652-30FB-79E5-18F48BCA2090}"/>
              </a:ext>
            </a:extLst>
          </p:cNvPr>
          <p:cNvGraphicFramePr/>
          <p:nvPr>
            <p:custDataLst>
              <p:tags r:id="rId4"/>
            </p:custDataLst>
            <p:extLst>
              <p:ext uri="{D42A27DB-BD31-4B8C-83A1-F6EECF244321}">
                <p14:modId xmlns:p14="http://schemas.microsoft.com/office/powerpoint/2010/main" val="442447514"/>
              </p:ext>
            </p:extLst>
          </p:nvPr>
        </p:nvGraphicFramePr>
        <p:xfrm>
          <a:off x="3035266" y="2764268"/>
          <a:ext cx="4828574" cy="540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54" name="Successful personal experience with treatment">
            <a:extLst>
              <a:ext uri="{FF2B5EF4-FFF2-40B4-BE49-F238E27FC236}">
                <a16:creationId xmlns:a16="http://schemas.microsoft.com/office/drawing/2014/main" id="{9A933987-610A-4633-B46B-63D741A9903D}"/>
              </a:ext>
            </a:extLst>
          </p:cNvPr>
          <p:cNvGraphicFramePr/>
          <p:nvPr>
            <p:custDataLst>
              <p:tags r:id="rId5"/>
            </p:custDataLst>
            <p:extLst>
              <p:ext uri="{D42A27DB-BD31-4B8C-83A1-F6EECF244321}">
                <p14:modId xmlns:p14="http://schemas.microsoft.com/office/powerpoint/2010/main" val="8144817"/>
              </p:ext>
            </p:extLst>
          </p:nvPr>
        </p:nvGraphicFramePr>
        <p:xfrm>
          <a:off x="3035266" y="4373210"/>
          <a:ext cx="4828574" cy="54000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55" name="Treatment is preferred by patients">
            <a:extLst>
              <a:ext uri="{FF2B5EF4-FFF2-40B4-BE49-F238E27FC236}">
                <a16:creationId xmlns:a16="http://schemas.microsoft.com/office/drawing/2014/main" id="{911A8222-5624-FFAB-C65A-9B7D2773102F}"/>
              </a:ext>
            </a:extLst>
          </p:cNvPr>
          <p:cNvGraphicFramePr/>
          <p:nvPr>
            <p:custDataLst>
              <p:tags r:id="rId6"/>
            </p:custDataLst>
            <p:extLst>
              <p:ext uri="{D42A27DB-BD31-4B8C-83A1-F6EECF244321}">
                <p14:modId xmlns:p14="http://schemas.microsoft.com/office/powerpoint/2010/main" val="617719107"/>
              </p:ext>
            </p:extLst>
          </p:nvPr>
        </p:nvGraphicFramePr>
        <p:xfrm>
          <a:off x="3035266" y="4909524"/>
          <a:ext cx="4828574" cy="540000"/>
        </p:xfrm>
        <a:graphic>
          <a:graphicData uri="http://schemas.openxmlformats.org/drawingml/2006/chart">
            <c:chart xmlns:c="http://schemas.openxmlformats.org/drawingml/2006/chart" xmlns:r="http://schemas.openxmlformats.org/officeDocument/2006/relationships" r:id="rId17"/>
          </a:graphicData>
        </a:graphic>
      </p:graphicFrame>
      <p:graphicFrame>
        <p:nvGraphicFramePr>
          <p:cNvPr id="58" name="Most dosing options">
            <a:extLst>
              <a:ext uri="{FF2B5EF4-FFF2-40B4-BE49-F238E27FC236}">
                <a16:creationId xmlns:a16="http://schemas.microsoft.com/office/drawing/2014/main" id="{05AE514B-BA7B-F259-C8AA-BCB77822CA62}"/>
              </a:ext>
            </a:extLst>
          </p:cNvPr>
          <p:cNvGraphicFramePr/>
          <p:nvPr>
            <p:custDataLst>
              <p:tags r:id="rId7"/>
            </p:custDataLst>
            <p:extLst>
              <p:ext uri="{D42A27DB-BD31-4B8C-83A1-F6EECF244321}">
                <p14:modId xmlns:p14="http://schemas.microsoft.com/office/powerpoint/2010/main" val="3748324613"/>
              </p:ext>
            </p:extLst>
          </p:nvPr>
        </p:nvGraphicFramePr>
        <p:xfrm>
          <a:off x="3035266" y="3300582"/>
          <a:ext cx="4828574" cy="540000"/>
        </p:xfrm>
        <a:graphic>
          <a:graphicData uri="http://schemas.openxmlformats.org/drawingml/2006/chart">
            <c:chart xmlns:c="http://schemas.openxmlformats.org/drawingml/2006/chart" xmlns:r="http://schemas.openxmlformats.org/officeDocument/2006/relationships" r:id="rId18"/>
          </a:graphicData>
        </a:graphic>
      </p:graphicFrame>
      <p:grpSp>
        <p:nvGrpSpPr>
          <p:cNvPr id="47" name="Google Shape;762;p18">
            <a:extLst>
              <a:ext uri="{FF2B5EF4-FFF2-40B4-BE49-F238E27FC236}">
                <a16:creationId xmlns:a16="http://schemas.microsoft.com/office/drawing/2014/main" id="{D1EBAE72-FEEF-17DA-206B-E2417D58467A}"/>
              </a:ext>
            </a:extLst>
          </p:cNvPr>
          <p:cNvGrpSpPr/>
          <p:nvPr/>
        </p:nvGrpSpPr>
        <p:grpSpPr>
          <a:xfrm>
            <a:off x="7141220" y="731587"/>
            <a:ext cx="1724109" cy="246181"/>
            <a:chOff x="4463437" y="6228283"/>
            <a:chExt cx="1724109" cy="246181"/>
          </a:xfrm>
        </p:grpSpPr>
        <p:sp>
          <p:nvSpPr>
            <p:cNvPr id="48" name="Google Shape;763;p18">
              <a:extLst>
                <a:ext uri="{FF2B5EF4-FFF2-40B4-BE49-F238E27FC236}">
                  <a16:creationId xmlns:a16="http://schemas.microsoft.com/office/drawing/2014/main" id="{9B7167F7-1F96-32D2-38E1-C14A4CDC8517}"/>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CREON</a:t>
              </a:r>
              <a:endParaRPr kumimoji="0" sz="14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49" name="Google Shape;764;p18">
              <a:extLst>
                <a:ext uri="{FF2B5EF4-FFF2-40B4-BE49-F238E27FC236}">
                  <a16:creationId xmlns:a16="http://schemas.microsoft.com/office/drawing/2014/main" id="{68735DC3-8E4B-1EF9-B78A-3F033E767CA7}"/>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52" name="Google Shape;765;p18">
              <a:extLst>
                <a:ext uri="{FF2B5EF4-FFF2-40B4-BE49-F238E27FC236}">
                  <a16:creationId xmlns:a16="http://schemas.microsoft.com/office/drawing/2014/main" id="{6CAA9437-9C31-47A4-3D8B-209EE7E5AD94}"/>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ZENPEP</a:t>
              </a:r>
              <a:endParaRPr kumimoji="0" sz="14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56" name="Google Shape;766;p18">
              <a:extLst>
                <a:ext uri="{FF2B5EF4-FFF2-40B4-BE49-F238E27FC236}">
                  <a16:creationId xmlns:a16="http://schemas.microsoft.com/office/drawing/2014/main" id="{D8CD2DBC-A809-2758-8001-59B1F5850755}"/>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grpSp>
      <p:graphicFrame>
        <p:nvGraphicFramePr>
          <p:cNvPr id="9" name="Table 8">
            <a:extLst>
              <a:ext uri="{FF2B5EF4-FFF2-40B4-BE49-F238E27FC236}">
                <a16:creationId xmlns:a16="http://schemas.microsoft.com/office/drawing/2014/main" id="{36DBD105-0F69-5C6F-B976-E52123A83066}"/>
              </a:ext>
            </a:extLst>
          </p:cNvPr>
          <p:cNvGraphicFramePr>
            <a:graphicFrameLocks noGrp="1"/>
          </p:cNvGraphicFramePr>
          <p:nvPr>
            <p:custDataLst>
              <p:tags r:id="rId8"/>
            </p:custDataLst>
            <p:extLst>
              <p:ext uri="{D42A27DB-BD31-4B8C-83A1-F6EECF244321}">
                <p14:modId xmlns:p14="http://schemas.microsoft.com/office/powerpoint/2010/main" val="3731036001"/>
              </p:ext>
            </p:extLst>
          </p:nvPr>
        </p:nvGraphicFramePr>
        <p:xfrm>
          <a:off x="137160" y="1691640"/>
          <a:ext cx="2926080" cy="3757887"/>
        </p:xfrm>
        <a:graphic>
          <a:graphicData uri="http://schemas.openxmlformats.org/drawingml/2006/table">
            <a:tbl>
              <a:tblPr/>
              <a:tblGrid>
                <a:gridCol w="914400">
                  <a:extLst>
                    <a:ext uri="{9D8B030D-6E8A-4147-A177-3AD203B41FA5}">
                      <a16:colId xmlns:a16="http://schemas.microsoft.com/office/drawing/2014/main" val="2795119038"/>
                    </a:ext>
                  </a:extLst>
                </a:gridCol>
                <a:gridCol w="2011680">
                  <a:extLst>
                    <a:ext uri="{9D8B030D-6E8A-4147-A177-3AD203B41FA5}">
                      <a16:colId xmlns:a16="http://schemas.microsoft.com/office/drawing/2014/main" val="2921554183"/>
                    </a:ext>
                  </a:extLst>
                </a:gridCol>
              </a:tblGrid>
              <a:tr h="536841">
                <a:tc rowSpan="4">
                  <a:txBody>
                    <a:bodyPr/>
                    <a:lstStyle/>
                    <a:p>
                      <a:pPr algn="ctr" fontAlgn="base"/>
                      <a:r>
                        <a:rPr lang="en-IN" sz="1100" b="1" i="0" u="none" strike="noStrike">
                          <a:solidFill>
                            <a:srgbClr val="071D49"/>
                          </a:solidFill>
                          <a:effectLst/>
                          <a:latin typeface="Arial" panose="020B0604020202020204" pitchFamily="34" charset="0"/>
                        </a:rPr>
                        <a:t>Dosing</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Simplest dosing</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189619374"/>
                  </a:ext>
                </a:extLst>
              </a:tr>
              <a:tr h="536841">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Dosing flexibility</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493219031"/>
                  </a:ext>
                </a:extLst>
              </a:tr>
              <a:tr h="536841">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Patient adherence</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15295096"/>
                  </a:ext>
                </a:extLst>
              </a:tr>
              <a:tr h="536841">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Most dosing options</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961253504"/>
                  </a:ext>
                </a:extLst>
              </a:tr>
              <a:tr h="536841">
                <a:tc>
                  <a:txBody>
                    <a:bodyPr/>
                    <a:lstStyle/>
                    <a:p>
                      <a:pPr algn="ctr" fontAlgn="base"/>
                      <a:r>
                        <a:rPr lang="en-IN" sz="1100" b="1" i="0" u="none" strike="noStrike">
                          <a:solidFill>
                            <a:srgbClr val="071D49"/>
                          </a:solidFill>
                          <a:effectLst/>
                          <a:latin typeface="Arial" panose="020B0604020202020204" pitchFamily="34" charset="0"/>
                        </a:rPr>
                        <a:t>Safety</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a:t>
                      </a:r>
                      <a:r>
                        <a:rPr lang="en-IN" sz="1100" b="0" i="0" u="none" strike="noStrike" err="1">
                          <a:solidFill>
                            <a:srgbClr val="071D49"/>
                          </a:solidFill>
                          <a:effectLst/>
                          <a:latin typeface="Arial" panose="020B0604020202020204" pitchFamily="34" charset="0"/>
                        </a:rPr>
                        <a:t>favorable</a:t>
                      </a:r>
                      <a:r>
                        <a:rPr lang="en-IN" sz="1100" b="0" i="0" u="none" strike="noStrike">
                          <a:solidFill>
                            <a:srgbClr val="071D49"/>
                          </a:solidFill>
                          <a:effectLst/>
                          <a:latin typeface="Arial" panose="020B0604020202020204" pitchFamily="34" charset="0"/>
                        </a:rPr>
                        <a:t> safety profile</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49427244"/>
                  </a:ext>
                </a:extLst>
              </a:tr>
              <a:tr h="536841">
                <a:tc rowSpan="2">
                  <a:txBody>
                    <a:bodyPr/>
                    <a:lstStyle/>
                    <a:p>
                      <a:pPr algn="ctr" fontAlgn="base"/>
                      <a:r>
                        <a:rPr lang="en-IN" sz="1100" b="1" i="0" u="none" strike="noStrike">
                          <a:solidFill>
                            <a:srgbClr val="071D49"/>
                          </a:solidFill>
                          <a:effectLst/>
                          <a:latin typeface="Arial" panose="020B0604020202020204" pitchFamily="34" charset="0"/>
                        </a:rPr>
                        <a:t>Preference / Experience</a:t>
                      </a:r>
                      <a:r>
                        <a:rPr lang="en-IN" sz="1100" b="0" i="0">
                          <a:solidFill>
                            <a:srgbClr val="071D49"/>
                          </a:solidFill>
                          <a:effectLst/>
                          <a:latin typeface="Arial" panose="020B0604020202020204" pitchFamily="34" charset="0"/>
                        </a:rPr>
                        <a:t>​</a:t>
                      </a:r>
                      <a:endParaRPr lang="en-IN" sz="1500" b="0" i="0">
                        <a:solidFill>
                          <a:srgbClr val="000000"/>
                        </a:solidFill>
                        <a:effectLst/>
                      </a:endParaRPr>
                    </a:p>
                  </a:txBody>
                  <a:tcPr marL="0" marR="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Successful personal experience with treatment</a:t>
                      </a:r>
                      <a:r>
                        <a:rPr lang="en-US" sz="1100" b="0" i="0">
                          <a:solidFill>
                            <a:srgbClr val="071D49"/>
                          </a:solidFill>
                          <a:effectLst/>
                          <a:latin typeface="Arial" panose="020B0604020202020204" pitchFamily="34" charset="0"/>
                        </a:rPr>
                        <a:t>​</a:t>
                      </a:r>
                      <a:endParaRPr lang="en-US"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288904164"/>
                  </a:ext>
                </a:extLst>
              </a:tr>
              <a:tr h="536841">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Treatment is preferred by patients</a:t>
                      </a:r>
                      <a:r>
                        <a:rPr lang="en-US" sz="1100" b="0" i="0">
                          <a:solidFill>
                            <a:srgbClr val="071D49"/>
                          </a:solidFill>
                          <a:effectLst/>
                          <a:latin typeface="Arial" panose="020B0604020202020204" pitchFamily="34" charset="0"/>
                        </a:rPr>
                        <a:t>​</a:t>
                      </a:r>
                      <a:endParaRPr lang="en-US"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582829150"/>
                  </a:ext>
                </a:extLst>
              </a:tr>
            </a:tbl>
          </a:graphicData>
        </a:graphic>
      </p:graphicFrame>
      <p:sp>
        <p:nvSpPr>
          <p:cNvPr id="4" name="Google Shape;1755;p46">
            <a:extLst>
              <a:ext uri="{FF2B5EF4-FFF2-40B4-BE49-F238E27FC236}">
                <a16:creationId xmlns:a16="http://schemas.microsoft.com/office/drawing/2014/main" id="{5356054B-E853-7332-0575-761C5005C319}"/>
              </a:ext>
            </a:extLst>
          </p:cNvPr>
          <p:cNvSpPr/>
          <p:nvPr/>
        </p:nvSpPr>
        <p:spPr>
          <a:xfrm>
            <a:off x="138093" y="728979"/>
            <a:ext cx="8695983"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Arial" panose="020B0604020202020204" pitchFamily="34" charset="0"/>
                <a:sym typeface="Calibri"/>
              </a:rPr>
              <a:t>Product Performance Across Attributes - Overall (2/2)</a:t>
            </a:r>
            <a:endParaRPr kumimoji="0" lang="en-GB"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22" name="Google Shape;310;p8">
            <a:extLst>
              <a:ext uri="{FF2B5EF4-FFF2-40B4-BE49-F238E27FC236}">
                <a16:creationId xmlns:a16="http://schemas.microsoft.com/office/drawing/2014/main" id="{33FC8A4D-2370-7831-DFDF-120278390661}"/>
              </a:ext>
            </a:extLst>
          </p:cNvPr>
          <p:cNvSpPr/>
          <p:nvPr/>
        </p:nvSpPr>
        <p:spPr>
          <a:xfrm>
            <a:off x="4442107" y="5702759"/>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18" name="TextBox 17">
            <a:extLst>
              <a:ext uri="{FF2B5EF4-FFF2-40B4-BE49-F238E27FC236}">
                <a16:creationId xmlns:a16="http://schemas.microsoft.com/office/drawing/2014/main" id="{6451A9D7-BEA3-56D2-A2D3-B2903520E4D2}"/>
              </a:ext>
            </a:extLst>
          </p:cNvPr>
          <p:cNvSpPr txBox="1"/>
          <p:nvPr/>
        </p:nvSpPr>
        <p:spPr>
          <a:xfrm>
            <a:off x="138095" y="1399945"/>
            <a:ext cx="2897171"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Attributes</a:t>
            </a:r>
            <a:endParaRPr kumimoji="0" lang="en-US" sz="1200" b="0" i="0" u="none" strike="noStrike" kern="1200" cap="none" spc="0" normalizeH="0" baseline="30000" noProof="0">
              <a:ln>
                <a:noFill/>
              </a:ln>
              <a:solidFill>
                <a:srgbClr val="FFFFFF"/>
              </a:solidFill>
              <a:effectLst/>
              <a:uLnTx/>
              <a:uFillTx/>
              <a:latin typeface="+mn-lt"/>
              <a:ea typeface="Calibri"/>
              <a:cs typeface="Arial" panose="020B0604020202020204" pitchFamily="34" charset="0"/>
              <a:sym typeface="Calibri"/>
            </a:endParaRPr>
          </a:p>
        </p:txBody>
      </p:sp>
      <p:graphicFrame>
        <p:nvGraphicFramePr>
          <p:cNvPr id="30" name="Table 29">
            <a:extLst>
              <a:ext uri="{FF2B5EF4-FFF2-40B4-BE49-F238E27FC236}">
                <a16:creationId xmlns:a16="http://schemas.microsoft.com/office/drawing/2014/main" id="{14D02D70-C5AD-1B54-54D1-79E76DA44202}"/>
              </a:ext>
            </a:extLst>
          </p:cNvPr>
          <p:cNvGraphicFramePr>
            <a:graphicFrameLocks noGrp="1"/>
          </p:cNvGraphicFramePr>
          <p:nvPr>
            <p:extLst>
              <p:ext uri="{D42A27DB-BD31-4B8C-83A1-F6EECF244321}">
                <p14:modId xmlns:p14="http://schemas.microsoft.com/office/powerpoint/2010/main" val="240638135"/>
              </p:ext>
            </p:extLst>
          </p:nvPr>
        </p:nvGraphicFramePr>
        <p:xfrm>
          <a:off x="7691700" y="1215762"/>
          <a:ext cx="1187056" cy="4220022"/>
        </p:xfrm>
        <a:graphic>
          <a:graphicData uri="http://schemas.openxmlformats.org/drawingml/2006/table">
            <a:tbl>
              <a:tblPr firstRow="1" bandRow="1">
                <a:tableStyleId>{5C22544A-7EE6-4342-B048-85BDC9FD1C3A}</a:tableStyleId>
              </a:tblPr>
              <a:tblGrid>
                <a:gridCol w="593528">
                  <a:extLst>
                    <a:ext uri="{9D8B030D-6E8A-4147-A177-3AD203B41FA5}">
                      <a16:colId xmlns:a16="http://schemas.microsoft.com/office/drawing/2014/main" val="4175797392"/>
                    </a:ext>
                  </a:extLst>
                </a:gridCol>
                <a:gridCol w="593528">
                  <a:extLst>
                    <a:ext uri="{9D8B030D-6E8A-4147-A177-3AD203B41FA5}">
                      <a16:colId xmlns:a16="http://schemas.microsoft.com/office/drawing/2014/main" val="4071984736"/>
                    </a:ext>
                  </a:extLst>
                </a:gridCol>
              </a:tblGrid>
              <a:tr h="300980">
                <a:tc gridSpan="2">
                  <a:txBody>
                    <a:bodyPr/>
                    <a:lstStyle/>
                    <a:p>
                      <a:pPr algn="ctr"/>
                      <a:r>
                        <a:rPr lang="en-IN" sz="1000">
                          <a:solidFill>
                            <a:schemeClr val="tx1">
                              <a:lumMod val="50000"/>
                            </a:schemeClr>
                          </a:solidFill>
                        </a:rPr>
                        <a:t>CREON</a:t>
                      </a:r>
                    </a:p>
                    <a:p>
                      <a:pPr algn="ctr"/>
                      <a:r>
                        <a:rPr lang="en-IN" sz="900" b="1">
                          <a:solidFill>
                            <a:schemeClr val="tx1">
                              <a:lumMod val="50000"/>
                            </a:schemeClr>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2570">
                <a:tc>
                  <a:txBody>
                    <a:bodyPr/>
                    <a:lstStyle/>
                    <a:p>
                      <a:pPr algn="ctr"/>
                      <a:r>
                        <a:rPr lang="en-IN" sz="900">
                          <a:solidFill>
                            <a:schemeClr val="tx1">
                              <a:lumMod val="50000"/>
                            </a:schemeClr>
                          </a:solidFill>
                        </a:rPr>
                        <a:t>3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900">
                          <a:solidFill>
                            <a:schemeClr val="tx1">
                              <a:lumMod val="50000"/>
                            </a:schemeClr>
                          </a:solidFill>
                        </a:rPr>
                        <a:t>6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610898380"/>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539496">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458604549"/>
                  </a:ext>
                </a:extLst>
              </a:tr>
            </a:tbl>
          </a:graphicData>
        </a:graphic>
      </p:graphicFrame>
      <p:sp>
        <p:nvSpPr>
          <p:cNvPr id="21" name="Google Shape;561;p14">
            <a:extLst>
              <a:ext uri="{FF2B5EF4-FFF2-40B4-BE49-F238E27FC236}">
                <a16:creationId xmlns:a16="http://schemas.microsoft.com/office/drawing/2014/main" id="{BD0EA4F1-5D6B-8371-FFE8-1735CC96E19C}"/>
              </a:ext>
            </a:extLst>
          </p:cNvPr>
          <p:cNvSpPr/>
          <p:nvPr/>
        </p:nvSpPr>
        <p:spPr>
          <a:xfrm>
            <a:off x="3690938"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29" name="Google Shape;561;p14">
            <a:extLst>
              <a:ext uri="{FF2B5EF4-FFF2-40B4-BE49-F238E27FC236}">
                <a16:creationId xmlns:a16="http://schemas.microsoft.com/office/drawing/2014/main" id="{F500AB22-03B8-DBEC-E174-20BA41C6E239}"/>
              </a:ext>
            </a:extLst>
          </p:cNvPr>
          <p:cNvSpPr/>
          <p:nvPr/>
        </p:nvSpPr>
        <p:spPr>
          <a:xfrm>
            <a:off x="3690938" y="4412593"/>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1" name="Google Shape;561;p14">
            <a:extLst>
              <a:ext uri="{FF2B5EF4-FFF2-40B4-BE49-F238E27FC236}">
                <a16:creationId xmlns:a16="http://schemas.microsoft.com/office/drawing/2014/main" id="{236FF3F2-D361-35BE-0BEE-68F5AB530EB5}"/>
              </a:ext>
            </a:extLst>
          </p:cNvPr>
          <p:cNvSpPr/>
          <p:nvPr/>
        </p:nvSpPr>
        <p:spPr>
          <a:xfrm>
            <a:off x="3690938" y="337508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6" name="Google Shape;561;p14">
            <a:extLst>
              <a:ext uri="{FF2B5EF4-FFF2-40B4-BE49-F238E27FC236}">
                <a16:creationId xmlns:a16="http://schemas.microsoft.com/office/drawing/2014/main" id="{3804137C-C587-FD79-6DD1-6FDA87979124}"/>
              </a:ext>
            </a:extLst>
          </p:cNvPr>
          <p:cNvSpPr/>
          <p:nvPr/>
        </p:nvSpPr>
        <p:spPr>
          <a:xfrm>
            <a:off x="4442107"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7" name="Google Shape;561;p14">
            <a:extLst>
              <a:ext uri="{FF2B5EF4-FFF2-40B4-BE49-F238E27FC236}">
                <a16:creationId xmlns:a16="http://schemas.microsoft.com/office/drawing/2014/main" id="{D8416EFE-1947-E24F-EFA9-59D2BAF8E1BF}"/>
              </a:ext>
            </a:extLst>
          </p:cNvPr>
          <p:cNvSpPr/>
          <p:nvPr/>
        </p:nvSpPr>
        <p:spPr>
          <a:xfrm>
            <a:off x="4442107" y="4412593"/>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8" name="Google Shape;561;p14">
            <a:extLst>
              <a:ext uri="{FF2B5EF4-FFF2-40B4-BE49-F238E27FC236}">
                <a16:creationId xmlns:a16="http://schemas.microsoft.com/office/drawing/2014/main" id="{D80654D5-BE0B-F144-EED4-A8748EEFB2A3}"/>
              </a:ext>
            </a:extLst>
          </p:cNvPr>
          <p:cNvSpPr/>
          <p:nvPr/>
        </p:nvSpPr>
        <p:spPr>
          <a:xfrm>
            <a:off x="5214290"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9" name="Google Shape;561;p14">
            <a:extLst>
              <a:ext uri="{FF2B5EF4-FFF2-40B4-BE49-F238E27FC236}">
                <a16:creationId xmlns:a16="http://schemas.microsoft.com/office/drawing/2014/main" id="{A03B1F0E-DA55-869A-4133-7D852C1A2E7B}"/>
              </a:ext>
            </a:extLst>
          </p:cNvPr>
          <p:cNvSpPr/>
          <p:nvPr/>
        </p:nvSpPr>
        <p:spPr>
          <a:xfrm>
            <a:off x="5214290" y="337508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0" name="Google Shape;561;p14">
            <a:extLst>
              <a:ext uri="{FF2B5EF4-FFF2-40B4-BE49-F238E27FC236}">
                <a16:creationId xmlns:a16="http://schemas.microsoft.com/office/drawing/2014/main" id="{FB619A18-821D-3748-278B-015560F31200}"/>
              </a:ext>
            </a:extLst>
          </p:cNvPr>
          <p:cNvSpPr/>
          <p:nvPr/>
        </p:nvSpPr>
        <p:spPr>
          <a:xfrm>
            <a:off x="7485847"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1" name="Google Shape;561;p14">
            <a:extLst>
              <a:ext uri="{FF2B5EF4-FFF2-40B4-BE49-F238E27FC236}">
                <a16:creationId xmlns:a16="http://schemas.microsoft.com/office/drawing/2014/main" id="{551AFBDE-9FC5-BFE4-F150-25E7F97E8D34}"/>
              </a:ext>
            </a:extLst>
          </p:cNvPr>
          <p:cNvSpPr/>
          <p:nvPr/>
        </p:nvSpPr>
        <p:spPr>
          <a:xfrm>
            <a:off x="7460280" y="4412593"/>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6" name="Google Shape;561;p14">
            <a:extLst>
              <a:ext uri="{FF2B5EF4-FFF2-40B4-BE49-F238E27FC236}">
                <a16:creationId xmlns:a16="http://schemas.microsoft.com/office/drawing/2014/main" id="{5A2E465E-9259-3E50-CBBF-5C0AA519A5BC}"/>
              </a:ext>
            </a:extLst>
          </p:cNvPr>
          <p:cNvSpPr/>
          <p:nvPr/>
        </p:nvSpPr>
        <p:spPr>
          <a:xfrm>
            <a:off x="7460280" y="4991647"/>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0" name="Google Shape;561;p14">
            <a:extLst>
              <a:ext uri="{FF2B5EF4-FFF2-40B4-BE49-F238E27FC236}">
                <a16:creationId xmlns:a16="http://schemas.microsoft.com/office/drawing/2014/main" id="{4B8F7E9E-EF9D-C2C0-8CAE-D7D533CB36A5}"/>
              </a:ext>
            </a:extLst>
          </p:cNvPr>
          <p:cNvSpPr/>
          <p:nvPr/>
        </p:nvSpPr>
        <p:spPr>
          <a:xfrm>
            <a:off x="6742239"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1" name="Google Shape;561;p14">
            <a:extLst>
              <a:ext uri="{FF2B5EF4-FFF2-40B4-BE49-F238E27FC236}">
                <a16:creationId xmlns:a16="http://schemas.microsoft.com/office/drawing/2014/main" id="{0F707B77-9EB4-F16F-F2CF-BFC7A4240A38}"/>
              </a:ext>
            </a:extLst>
          </p:cNvPr>
          <p:cNvSpPr/>
          <p:nvPr/>
        </p:nvSpPr>
        <p:spPr>
          <a:xfrm>
            <a:off x="6742239" y="280873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3" name="Google Shape;561;p14">
            <a:extLst>
              <a:ext uri="{FF2B5EF4-FFF2-40B4-BE49-F238E27FC236}">
                <a16:creationId xmlns:a16="http://schemas.microsoft.com/office/drawing/2014/main" id="{9C45AA5C-7805-C8D1-52D6-C1A6259D9D8F}"/>
              </a:ext>
            </a:extLst>
          </p:cNvPr>
          <p:cNvSpPr/>
          <p:nvPr/>
        </p:nvSpPr>
        <p:spPr>
          <a:xfrm>
            <a:off x="6742239" y="3350907"/>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7" name="Google Shape;561;p14">
            <a:extLst>
              <a:ext uri="{FF2B5EF4-FFF2-40B4-BE49-F238E27FC236}">
                <a16:creationId xmlns:a16="http://schemas.microsoft.com/office/drawing/2014/main" id="{585364FD-AF86-0BAE-899A-84EABA54748E}"/>
              </a:ext>
            </a:extLst>
          </p:cNvPr>
          <p:cNvSpPr/>
          <p:nvPr/>
        </p:nvSpPr>
        <p:spPr>
          <a:xfrm>
            <a:off x="5978264" y="1717084"/>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9" name="Google Shape;561;p14">
            <a:extLst>
              <a:ext uri="{FF2B5EF4-FFF2-40B4-BE49-F238E27FC236}">
                <a16:creationId xmlns:a16="http://schemas.microsoft.com/office/drawing/2014/main" id="{085A5B5A-96F6-BB1B-C628-4F22B015E661}"/>
              </a:ext>
            </a:extLst>
          </p:cNvPr>
          <p:cNvSpPr/>
          <p:nvPr/>
        </p:nvSpPr>
        <p:spPr>
          <a:xfrm>
            <a:off x="5978264" y="280873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0" name="Google Shape;561;p14">
            <a:extLst>
              <a:ext uri="{FF2B5EF4-FFF2-40B4-BE49-F238E27FC236}">
                <a16:creationId xmlns:a16="http://schemas.microsoft.com/office/drawing/2014/main" id="{4C7FE1EE-A5E9-A4F5-33A4-4C45550A3CFF}"/>
              </a:ext>
            </a:extLst>
          </p:cNvPr>
          <p:cNvSpPr/>
          <p:nvPr/>
        </p:nvSpPr>
        <p:spPr>
          <a:xfrm>
            <a:off x="5978264" y="3350907"/>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61" name="wave table OCQ">
            <a:extLst>
              <a:ext uri="{FF2B5EF4-FFF2-40B4-BE49-F238E27FC236}">
                <a16:creationId xmlns:a16="http://schemas.microsoft.com/office/drawing/2014/main" id="{30CF8A00-5406-0DCB-0B62-AE7AE6ED98AB}"/>
              </a:ext>
            </a:extLst>
          </p:cNvPr>
          <p:cNvGraphicFramePr>
            <a:graphicFrameLocks noGrp="1"/>
          </p:cNvGraphicFramePr>
          <p:nvPr>
            <p:custDataLst>
              <p:tags r:id="rId9"/>
            </p:custDataLst>
            <p:extLst>
              <p:ext uri="{D42A27DB-BD31-4B8C-83A1-F6EECF244321}">
                <p14:modId xmlns:p14="http://schemas.microsoft.com/office/powerpoint/2010/main" val="1143625641"/>
              </p:ext>
            </p:extLst>
          </p:nvPr>
        </p:nvGraphicFramePr>
        <p:xfrm>
          <a:off x="3234905" y="1399945"/>
          <a:ext cx="4417386" cy="274320"/>
        </p:xfrm>
        <a:graphic>
          <a:graphicData uri="http://schemas.openxmlformats.org/drawingml/2006/table">
            <a:tbl>
              <a:tblPr firstRow="1" bandRow="1">
                <a:tableStyleId>{B301B821-A1FF-4177-AEE7-76D212191A09}</a:tableStyleId>
              </a:tblPr>
              <a:tblGrid>
                <a:gridCol w="736231">
                  <a:extLst>
                    <a:ext uri="{9D8B030D-6E8A-4147-A177-3AD203B41FA5}">
                      <a16:colId xmlns:a16="http://schemas.microsoft.com/office/drawing/2014/main" val="3554599800"/>
                    </a:ext>
                  </a:extLst>
                </a:gridCol>
                <a:gridCol w="736231">
                  <a:extLst>
                    <a:ext uri="{9D8B030D-6E8A-4147-A177-3AD203B41FA5}">
                      <a16:colId xmlns:a16="http://schemas.microsoft.com/office/drawing/2014/main" val="2914776207"/>
                    </a:ext>
                  </a:extLst>
                </a:gridCol>
                <a:gridCol w="736231">
                  <a:extLst>
                    <a:ext uri="{9D8B030D-6E8A-4147-A177-3AD203B41FA5}">
                      <a16:colId xmlns:a16="http://schemas.microsoft.com/office/drawing/2014/main" val="2088702262"/>
                    </a:ext>
                  </a:extLst>
                </a:gridCol>
                <a:gridCol w="736231">
                  <a:extLst>
                    <a:ext uri="{9D8B030D-6E8A-4147-A177-3AD203B41FA5}">
                      <a16:colId xmlns:a16="http://schemas.microsoft.com/office/drawing/2014/main" val="192097877"/>
                    </a:ext>
                  </a:extLst>
                </a:gridCol>
                <a:gridCol w="736231">
                  <a:extLst>
                    <a:ext uri="{9D8B030D-6E8A-4147-A177-3AD203B41FA5}">
                      <a16:colId xmlns:a16="http://schemas.microsoft.com/office/drawing/2014/main" val="1326389649"/>
                    </a:ext>
                  </a:extLst>
                </a:gridCol>
                <a:gridCol w="736231">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1" u="none" strike="noStrike" kern="1200">
                          <a:solidFill>
                            <a:srgbClr val="071D49"/>
                          </a:solidFill>
                          <a:effectLst/>
                          <a:latin typeface="+mn-lt"/>
                          <a:ea typeface="+mn-ea"/>
                          <a:cs typeface="+mn-cs"/>
                        </a:rPr>
                        <a:t>142</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124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150</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132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grpSp>
        <p:nvGrpSpPr>
          <p:cNvPr id="62" name="Group 61">
            <a:extLst>
              <a:ext uri="{FF2B5EF4-FFF2-40B4-BE49-F238E27FC236}">
                <a16:creationId xmlns:a16="http://schemas.microsoft.com/office/drawing/2014/main" id="{AB496B4B-8AB7-627A-AAE3-9E47BEF2DAF9}"/>
              </a:ext>
            </a:extLst>
          </p:cNvPr>
          <p:cNvGrpSpPr/>
          <p:nvPr/>
        </p:nvGrpSpPr>
        <p:grpSpPr>
          <a:xfrm>
            <a:off x="3040207" y="1399945"/>
            <a:ext cx="367208" cy="274320"/>
            <a:chOff x="3025674" y="1399945"/>
            <a:chExt cx="367208" cy="274320"/>
          </a:xfrm>
        </p:grpSpPr>
        <p:sp>
          <p:nvSpPr>
            <p:cNvPr id="63" name="Rectangle 62">
              <a:extLst>
                <a:ext uri="{FF2B5EF4-FFF2-40B4-BE49-F238E27FC236}">
                  <a16:creationId xmlns:a16="http://schemas.microsoft.com/office/drawing/2014/main" id="{D5BAB15B-48F0-3CBB-68CE-9210186E7C1E}"/>
                </a:ext>
              </a:extLst>
            </p:cNvPr>
            <p:cNvSpPr/>
            <p:nvPr/>
          </p:nvSpPr>
          <p:spPr>
            <a:xfrm>
              <a:off x="3025674" y="1544154"/>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n size</a:t>
              </a:r>
            </a:p>
          </p:txBody>
        </p:sp>
        <p:sp>
          <p:nvSpPr>
            <p:cNvPr id="64" name="Rectangle 63">
              <a:extLst>
                <a:ext uri="{FF2B5EF4-FFF2-40B4-BE49-F238E27FC236}">
                  <a16:creationId xmlns:a16="http://schemas.microsoft.com/office/drawing/2014/main" id="{D63AA8E7-CA97-586F-9242-91866C9FFEEF}"/>
                </a:ext>
              </a:extLst>
            </p:cNvPr>
            <p:cNvSpPr/>
            <p:nvPr/>
          </p:nvSpPr>
          <p:spPr>
            <a:xfrm>
              <a:off x="3025674" y="1399945"/>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R3M</a:t>
              </a:r>
            </a:p>
          </p:txBody>
        </p:sp>
      </p:grpSp>
      <p:sp>
        <p:nvSpPr>
          <p:cNvPr id="3" name="Google Shape;1785;p46">
            <a:extLst>
              <a:ext uri="{FF2B5EF4-FFF2-40B4-BE49-F238E27FC236}">
                <a16:creationId xmlns:a16="http://schemas.microsoft.com/office/drawing/2014/main" id="{623F0399-433D-0D5D-1619-6799F1154372}"/>
              </a:ext>
            </a:extLst>
          </p:cNvPr>
          <p:cNvSpPr txBox="1"/>
          <p:nvPr/>
        </p:nvSpPr>
        <p:spPr>
          <a:xfrm>
            <a:off x="263257" y="5975686"/>
            <a:ext cx="863793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Statistically significant (p&lt;.05) difference between CREON &amp; ZENPEP</a:t>
            </a:r>
            <a:b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No statistically significant (p&lt;.05) difference between previous waves </a:t>
            </a:r>
          </a:p>
        </p:txBody>
      </p:sp>
      <p:sp>
        <p:nvSpPr>
          <p:cNvPr id="5" name="Google Shape;561;p14">
            <a:extLst>
              <a:ext uri="{FF2B5EF4-FFF2-40B4-BE49-F238E27FC236}">
                <a16:creationId xmlns:a16="http://schemas.microsoft.com/office/drawing/2014/main" id="{3AB64609-B66F-D034-4A0B-7824ED50527E}"/>
              </a:ext>
            </a:extLst>
          </p:cNvPr>
          <p:cNvSpPr/>
          <p:nvPr/>
        </p:nvSpPr>
        <p:spPr>
          <a:xfrm>
            <a:off x="2855180" y="604126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7" name="Table 6">
            <a:extLst>
              <a:ext uri="{FF2B5EF4-FFF2-40B4-BE49-F238E27FC236}">
                <a16:creationId xmlns:a16="http://schemas.microsoft.com/office/drawing/2014/main" id="{3A72696C-C61C-8D79-E24A-66C196DBDD93}"/>
              </a:ext>
            </a:extLst>
          </p:cNvPr>
          <p:cNvGraphicFramePr>
            <a:graphicFrameLocks noGrp="1"/>
          </p:cNvGraphicFramePr>
          <p:nvPr>
            <p:extLst>
              <p:ext uri="{D42A27DB-BD31-4B8C-83A1-F6EECF244321}">
                <p14:modId xmlns:p14="http://schemas.microsoft.com/office/powerpoint/2010/main" val="733750557"/>
              </p:ext>
            </p:extLst>
          </p:nvPr>
        </p:nvGraphicFramePr>
        <p:xfrm>
          <a:off x="-2500879" y="1397264"/>
          <a:ext cx="2438400" cy="4073151"/>
        </p:xfrm>
        <a:graphic>
          <a:graphicData uri="http://schemas.openxmlformats.org/drawingml/2006/table">
            <a:tbl>
              <a:tblPr/>
              <a:tblGrid>
                <a:gridCol w="609600">
                  <a:extLst>
                    <a:ext uri="{9D8B030D-6E8A-4147-A177-3AD203B41FA5}">
                      <a16:colId xmlns:a16="http://schemas.microsoft.com/office/drawing/2014/main" val="3423445315"/>
                    </a:ext>
                  </a:extLst>
                </a:gridCol>
                <a:gridCol w="609600">
                  <a:extLst>
                    <a:ext uri="{9D8B030D-6E8A-4147-A177-3AD203B41FA5}">
                      <a16:colId xmlns:a16="http://schemas.microsoft.com/office/drawing/2014/main" val="2282882579"/>
                    </a:ext>
                  </a:extLst>
                </a:gridCol>
                <a:gridCol w="609600">
                  <a:extLst>
                    <a:ext uri="{9D8B030D-6E8A-4147-A177-3AD203B41FA5}">
                      <a16:colId xmlns:a16="http://schemas.microsoft.com/office/drawing/2014/main" val="446146655"/>
                    </a:ext>
                  </a:extLst>
                </a:gridCol>
                <a:gridCol w="609600">
                  <a:extLst>
                    <a:ext uri="{9D8B030D-6E8A-4147-A177-3AD203B41FA5}">
                      <a16:colId xmlns:a16="http://schemas.microsoft.com/office/drawing/2014/main" val="213251803"/>
                    </a:ext>
                  </a:extLst>
                </a:gridCol>
              </a:tblGrid>
              <a:tr h="232671">
                <a:tc>
                  <a:txBody>
                    <a:bodyPr/>
                    <a:lstStyle/>
                    <a:p>
                      <a:pPr algn="ctr" fontAlgn="ctr">
                        <a:buNone/>
                      </a:pPr>
                      <a:r>
                        <a:rPr lang="en-IN" sz="1100" b="1" i="0" u="none" strike="noStrike">
                          <a:solidFill>
                            <a:srgbClr val="000000"/>
                          </a:solidFill>
                          <a:effectLst/>
                          <a:latin typeface="Aptos Narrow" panose="020B0004020202020204" pitchFamily="34" charset="0"/>
                        </a:rPr>
                        <a:t>Overall</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Gastro</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PCP</a:t>
                      </a:r>
                    </a:p>
                  </a:txBody>
                  <a:tcPr marL="6350" marR="6350" marT="6350" marB="0" anchor="ctr">
                    <a:lnL>
                      <a:noFill/>
                    </a:lnL>
                    <a:lnR>
                      <a:noFill/>
                    </a:lnR>
                    <a:lnT>
                      <a:noFill/>
                    </a:lnT>
                    <a:lnB>
                      <a:noFill/>
                    </a:lnB>
                    <a:solidFill>
                      <a:schemeClr val="bg1">
                        <a:lumMod val="95000"/>
                      </a:schemeClr>
                    </a:solidFill>
                  </a:tcPr>
                </a:tc>
                <a:tc>
                  <a:txBody>
                    <a:bodyPr/>
                    <a:lstStyle/>
                    <a:p>
                      <a:pPr algn="ctr" fontAlgn="ctr">
                        <a:buNone/>
                      </a:pPr>
                      <a:r>
                        <a:rPr lang="en-IN" sz="1100" b="1" i="0" u="none" strike="noStrike">
                          <a:solidFill>
                            <a:srgbClr val="000000"/>
                          </a:solidFill>
                          <a:effectLst/>
                          <a:latin typeface="Aptos Narrow" panose="020B0004020202020204" pitchFamily="34" charset="0"/>
                        </a:rPr>
                        <a:t>NPPA</a:t>
                      </a:r>
                    </a:p>
                  </a:txBody>
                  <a:tcPr marL="6350" marR="6350" marT="6350"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3576883459"/>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EEA83"/>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CF7E"/>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CF7E"/>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10%</a:t>
                      </a:r>
                    </a:p>
                  </a:txBody>
                  <a:tcPr marL="6350" marR="6350" marT="6350" marB="0" anchor="ctr">
                    <a:lnL>
                      <a:noFill/>
                    </a:lnL>
                    <a:lnR>
                      <a:noFill/>
                    </a:lnR>
                    <a:lnT>
                      <a:noFill/>
                    </a:lnT>
                    <a:lnB>
                      <a:noFill/>
                    </a:lnB>
                    <a:solidFill>
                      <a:srgbClr val="CEDD82"/>
                    </a:solidFill>
                  </a:tcPr>
                </a:tc>
                <a:extLst>
                  <a:ext uri="{0D108BD9-81ED-4DB2-BD59-A6C34878D82A}">
                    <a16:rowId xmlns:a16="http://schemas.microsoft.com/office/drawing/2014/main" val="1577352330"/>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8696B"/>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CF7E"/>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-12%</a:t>
                      </a:r>
                    </a:p>
                  </a:txBody>
                  <a:tcPr marL="6350" marR="6350" marT="6350" marB="0" anchor="ctr">
                    <a:lnL>
                      <a:noFill/>
                    </a:lnL>
                    <a:lnR>
                      <a:noFill/>
                    </a:lnR>
                    <a:lnT>
                      <a:noFill/>
                    </a:lnT>
                    <a:lnB>
                      <a:noFill/>
                    </a:lnB>
                    <a:solidFill>
                      <a:srgbClr val="F98470"/>
                    </a:solidFill>
                  </a:tcPr>
                </a:tc>
                <a:tc>
                  <a:txBody>
                    <a:bodyPr/>
                    <a:lstStyle/>
                    <a:p>
                      <a:pPr algn="ctr" fontAlgn="b">
                        <a:buNone/>
                      </a:pPr>
                      <a:r>
                        <a:rPr lang="en-IN" sz="1100" b="0" i="0" u="none" strike="noStrike">
                          <a:solidFill>
                            <a:srgbClr val="000000"/>
                          </a:solidFill>
                          <a:effectLst/>
                          <a:latin typeface="Aptos Narrow" panose="020B0004020202020204" pitchFamily="34" charset="0"/>
                        </a:rPr>
                        <a:t>8%</a:t>
                      </a:r>
                    </a:p>
                  </a:txBody>
                  <a:tcPr marL="6350" marR="6350" marT="6350" marB="0" anchor="ctr">
                    <a:lnL>
                      <a:noFill/>
                    </a:lnL>
                    <a:lnR>
                      <a:noFill/>
                    </a:lnR>
                    <a:lnT>
                      <a:noFill/>
                    </a:lnT>
                    <a:lnB>
                      <a:noFill/>
                    </a:lnB>
                    <a:solidFill>
                      <a:srgbClr val="DCE182"/>
                    </a:solidFill>
                  </a:tcPr>
                </a:tc>
                <a:extLst>
                  <a:ext uri="{0D108BD9-81ED-4DB2-BD59-A6C34878D82A}">
                    <a16:rowId xmlns:a16="http://schemas.microsoft.com/office/drawing/2014/main" val="4073745237"/>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FEB84"/>
                    </a:solidFill>
                  </a:tcPr>
                </a:tc>
                <a:tc>
                  <a:txBody>
                    <a:bodyPr/>
                    <a:lstStyle/>
                    <a:p>
                      <a:pPr algn="ctr" fontAlgn="b">
                        <a:buNone/>
                      </a:pPr>
                      <a:r>
                        <a:rPr lang="en-IN" sz="1100" b="0" i="0" u="none" strike="noStrike">
                          <a:solidFill>
                            <a:srgbClr val="000000"/>
                          </a:solidFill>
                          <a:effectLst/>
                          <a:latin typeface="Aptos Narrow" panose="020B0004020202020204" pitchFamily="34" charset="0"/>
                        </a:rPr>
                        <a:t>-4%</a:t>
                      </a:r>
                    </a:p>
                  </a:txBody>
                  <a:tcPr marL="6350" marR="6350" marT="6350" marB="0" anchor="ctr">
                    <a:lnL>
                      <a:noFill/>
                    </a:lnL>
                    <a:lnR>
                      <a:noFill/>
                    </a:lnR>
                    <a:lnT>
                      <a:noFill/>
                    </a:lnT>
                    <a:lnB>
                      <a:noFill/>
                    </a:lnB>
                    <a:solidFill>
                      <a:srgbClr val="FCBB7A"/>
                    </a:solidFill>
                  </a:tcPr>
                </a:tc>
                <a:tc>
                  <a:txBody>
                    <a:bodyPr/>
                    <a:lstStyle/>
                    <a:p>
                      <a:pPr algn="ctr" fontAlgn="b">
                        <a:buNone/>
                      </a:pPr>
                      <a:r>
                        <a:rPr lang="en-IN" sz="1100" b="0" i="0" u="none" strike="noStrike">
                          <a:solidFill>
                            <a:srgbClr val="000000"/>
                          </a:solidFill>
                          <a:effectLst/>
                          <a:latin typeface="Aptos Narrow" panose="020B0004020202020204" pitchFamily="34" charset="0"/>
                        </a:rPr>
                        <a:t>5%</a:t>
                      </a:r>
                    </a:p>
                  </a:txBody>
                  <a:tcPr marL="6350" marR="6350" marT="6350" marB="0" anchor="ctr">
                    <a:lnL>
                      <a:noFill/>
                    </a:lnL>
                    <a:lnR>
                      <a:noFill/>
                    </a:lnR>
                    <a:lnT>
                      <a:noFill/>
                    </a:lnT>
                    <a:lnB>
                      <a:noFill/>
                    </a:lnB>
                    <a:solidFill>
                      <a:srgbClr val="F1E784"/>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10%</a:t>
                      </a:r>
                    </a:p>
                  </a:txBody>
                  <a:tcPr marL="6350" marR="6350" marT="6350" marB="0" anchor="ctr">
                    <a:lnL>
                      <a:noFill/>
                    </a:lnL>
                    <a:lnR>
                      <a:noFill/>
                    </a:lnR>
                    <a:lnT>
                      <a:noFill/>
                    </a:lnT>
                    <a:lnB>
                      <a:noFill/>
                    </a:lnB>
                    <a:solidFill>
                      <a:srgbClr val="CEDD82"/>
                    </a:solidFill>
                  </a:tcPr>
                </a:tc>
                <a:extLst>
                  <a:ext uri="{0D108BD9-81ED-4DB2-BD59-A6C34878D82A}">
                    <a16:rowId xmlns:a16="http://schemas.microsoft.com/office/drawing/2014/main" val="1418342777"/>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10%</a:t>
                      </a:r>
                    </a:p>
                  </a:txBody>
                  <a:tcPr marL="6350" marR="6350" marT="6350" marB="0" anchor="ctr">
                    <a:lnL>
                      <a:noFill/>
                    </a:lnL>
                    <a:lnR>
                      <a:noFill/>
                    </a:lnR>
                    <a:lnT>
                      <a:noFill/>
                    </a:lnT>
                    <a:lnB>
                      <a:noFill/>
                    </a:lnB>
                    <a:solidFill>
                      <a:srgbClr val="63BE7B"/>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13%</a:t>
                      </a:r>
                    </a:p>
                  </a:txBody>
                  <a:tcPr marL="6350" marR="6350" marT="6350" marB="0" anchor="ctr">
                    <a:lnL>
                      <a:noFill/>
                    </a:lnL>
                    <a:lnR>
                      <a:noFill/>
                    </a:lnR>
                    <a:lnT>
                      <a:noFill/>
                    </a:lnT>
                    <a:lnB>
                      <a:noFill/>
                    </a:lnB>
                    <a:solidFill>
                      <a:srgbClr val="B9D780"/>
                    </a:solidFill>
                  </a:tcPr>
                </a:tc>
                <a:tc>
                  <a:txBody>
                    <a:bodyPr/>
                    <a:lstStyle/>
                    <a:p>
                      <a:pPr algn="ctr" fontAlgn="b">
                        <a:buNone/>
                      </a:pPr>
                      <a:r>
                        <a:rPr lang="en-IN" sz="1100" b="0" i="0" u="none" strike="noStrike">
                          <a:solidFill>
                            <a:srgbClr val="000000"/>
                          </a:solidFill>
                          <a:effectLst/>
                          <a:latin typeface="Aptos Narrow" panose="020B0004020202020204" pitchFamily="34" charset="0"/>
                        </a:rPr>
                        <a:t>0%</a:t>
                      </a:r>
                    </a:p>
                  </a:txBody>
                  <a:tcPr marL="6350" marR="6350" marT="6350" marB="0" anchor="ctr">
                    <a:lnL>
                      <a:noFill/>
                    </a:lnL>
                    <a:lnR>
                      <a:noFill/>
                    </a:lnR>
                    <a:lnT>
                      <a:noFill/>
                    </a:lnT>
                    <a:lnB>
                      <a:noFill/>
                    </a:lnB>
                    <a:solidFill>
                      <a:srgbClr val="FDD680"/>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14%</a:t>
                      </a:r>
                    </a:p>
                  </a:txBody>
                  <a:tcPr marL="6350" marR="6350" marT="6350" marB="0" anchor="ctr">
                    <a:lnL>
                      <a:noFill/>
                    </a:lnL>
                    <a:lnR>
                      <a:noFill/>
                    </a:lnR>
                    <a:lnT>
                      <a:noFill/>
                    </a:lnT>
                    <a:lnB>
                      <a:noFill/>
                    </a:lnB>
                    <a:solidFill>
                      <a:srgbClr val="B2D580"/>
                    </a:solidFill>
                  </a:tcPr>
                </a:tc>
                <a:extLst>
                  <a:ext uri="{0D108BD9-81ED-4DB2-BD59-A6C34878D82A}">
                    <a16:rowId xmlns:a16="http://schemas.microsoft.com/office/drawing/2014/main" val="2617611784"/>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9%</a:t>
                      </a:r>
                    </a:p>
                  </a:txBody>
                  <a:tcPr marL="6350" marR="6350" marT="6350" marB="0" anchor="ctr">
                    <a:lnL>
                      <a:noFill/>
                    </a:lnL>
                    <a:lnR>
                      <a:noFill/>
                    </a:lnR>
                    <a:lnT>
                      <a:noFill/>
                    </a:lnT>
                    <a:lnB>
                      <a:noFill/>
                    </a:lnB>
                    <a:solidFill>
                      <a:srgbClr val="77C47D"/>
                    </a:solidFill>
                  </a:tcPr>
                </a:tc>
                <a:tc>
                  <a:txBody>
                    <a:bodyPr/>
                    <a:lstStyle/>
                    <a:p>
                      <a:pPr algn="ctr" fontAlgn="b">
                        <a:buNone/>
                      </a:pPr>
                      <a:r>
                        <a:rPr lang="en-IN" sz="1100" b="0" i="0" u="none" strike="noStrike">
                          <a:solidFill>
                            <a:srgbClr val="000000"/>
                          </a:solidFill>
                          <a:effectLst/>
                          <a:latin typeface="Aptos Narrow" panose="020B0004020202020204" pitchFamily="34" charset="0"/>
                        </a:rPr>
                        <a:t>3%</a:t>
                      </a:r>
                    </a:p>
                  </a:txBody>
                  <a:tcPr marL="6350" marR="6350" marT="6350" marB="0" anchor="ctr">
                    <a:lnL>
                      <a:noFill/>
                    </a:lnL>
                    <a:lnR>
                      <a:noFill/>
                    </a:lnR>
                    <a:lnT>
                      <a:noFill/>
                    </a:lnT>
                    <a:lnB>
                      <a:noFill/>
                    </a:lnB>
                    <a:solidFill>
                      <a:srgbClr val="FFEB84"/>
                    </a:solidFill>
                  </a:tcPr>
                </a:tc>
                <a:tc>
                  <a:txBody>
                    <a:bodyPr/>
                    <a:lstStyle/>
                    <a:p>
                      <a:pPr algn="ctr" fontAlgn="b">
                        <a:buNone/>
                      </a:pPr>
                      <a:r>
                        <a:rPr lang="en-IN" sz="1100" b="0" i="0" u="none" strike="noStrike">
                          <a:solidFill>
                            <a:srgbClr val="000000"/>
                          </a:solidFill>
                          <a:effectLst/>
                          <a:latin typeface="Aptos Narrow" panose="020B0004020202020204" pitchFamily="34" charset="0"/>
                        </a:rPr>
                        <a:t>-2%</a:t>
                      </a:r>
                    </a:p>
                  </a:txBody>
                  <a:tcPr marL="6350" marR="6350" marT="6350" marB="0" anchor="ctr">
                    <a:lnL>
                      <a:noFill/>
                    </a:lnL>
                    <a:lnR>
                      <a:noFill/>
                    </a:lnR>
                    <a:lnT>
                      <a:noFill/>
                    </a:lnT>
                    <a:lnB>
                      <a:noFill/>
                    </a:lnB>
                    <a:solidFill>
                      <a:srgbClr val="FDC87D"/>
                    </a:solidFill>
                  </a:tcPr>
                </a:tc>
                <a:tc>
                  <a:txBody>
                    <a:bodyPr/>
                    <a:lstStyle/>
                    <a:p>
                      <a:pPr algn="ctr" fontAlgn="b">
                        <a:buNone/>
                      </a:pPr>
                      <a:r>
                        <a:rPr lang="en-IN" sz="1100" b="0" i="0" u="none" strike="noStrike">
                          <a:solidFill>
                            <a:srgbClr val="000000"/>
                          </a:solidFill>
                          <a:effectLst/>
                          <a:latin typeface="Aptos Narrow" panose="020B0004020202020204" pitchFamily="34" charset="0"/>
                        </a:rPr>
                        <a:t>25%</a:t>
                      </a:r>
                    </a:p>
                  </a:txBody>
                  <a:tcPr marL="6350" marR="6350" marT="6350" marB="0" anchor="ctr">
                    <a:lnL>
                      <a:noFill/>
                    </a:lnL>
                    <a:lnR>
                      <a:noFill/>
                    </a:lnR>
                    <a:lnT>
                      <a:noFill/>
                    </a:lnT>
                    <a:lnB>
                      <a:noFill/>
                    </a:lnB>
                    <a:solidFill>
                      <a:srgbClr val="63BE7B"/>
                    </a:solidFill>
                  </a:tcPr>
                </a:tc>
                <a:extLst>
                  <a:ext uri="{0D108BD9-81ED-4DB2-BD59-A6C34878D82A}">
                    <a16:rowId xmlns:a16="http://schemas.microsoft.com/office/drawing/2014/main" val="2029117818"/>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6%</a:t>
                      </a:r>
                    </a:p>
                  </a:txBody>
                  <a:tcPr marL="6350" marR="6350" marT="6350" marB="0" anchor="ctr">
                    <a:lnL>
                      <a:noFill/>
                    </a:lnL>
                    <a:lnR>
                      <a:noFill/>
                    </a:lnR>
                    <a:lnT>
                      <a:noFill/>
                    </a:lnT>
                    <a:lnB>
                      <a:noFill/>
                    </a:lnB>
                    <a:solidFill>
                      <a:srgbClr val="B1D580"/>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CF7E"/>
                    </a:solidFill>
                  </a:tcPr>
                </a:tc>
                <a:tc>
                  <a:txBody>
                    <a:bodyPr/>
                    <a:lstStyle/>
                    <a:p>
                      <a:pPr algn="ctr" fontAlgn="b">
                        <a:buNone/>
                      </a:pPr>
                      <a:r>
                        <a:rPr lang="en-IN" sz="1100" b="0" i="0" u="none" strike="noStrike">
                          <a:solidFill>
                            <a:srgbClr val="000000"/>
                          </a:solidFill>
                          <a:effectLst/>
                          <a:latin typeface="Aptos Narrow" panose="020B0004020202020204" pitchFamily="34" charset="0"/>
                        </a:rPr>
                        <a:t>9%</a:t>
                      </a:r>
                    </a:p>
                  </a:txBody>
                  <a:tcPr marL="6350" marR="6350" marT="6350" marB="0" anchor="ctr">
                    <a:lnL>
                      <a:noFill/>
                    </a:lnL>
                    <a:lnR>
                      <a:noFill/>
                    </a:lnR>
                    <a:lnT>
                      <a:noFill/>
                    </a:lnT>
                    <a:lnB>
                      <a:noFill/>
                    </a:lnB>
                    <a:solidFill>
                      <a:srgbClr val="D5DF82"/>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16%</a:t>
                      </a:r>
                    </a:p>
                  </a:txBody>
                  <a:tcPr marL="6350" marR="6350" marT="6350" marB="0" anchor="ctr">
                    <a:lnL>
                      <a:noFill/>
                    </a:lnL>
                    <a:lnR>
                      <a:noFill/>
                    </a:lnR>
                    <a:lnT>
                      <a:noFill/>
                    </a:lnT>
                    <a:lnB>
                      <a:noFill/>
                    </a:lnB>
                    <a:solidFill>
                      <a:srgbClr val="A3D17F"/>
                    </a:solidFill>
                  </a:tcPr>
                </a:tc>
                <a:extLst>
                  <a:ext uri="{0D108BD9-81ED-4DB2-BD59-A6C34878D82A}">
                    <a16:rowId xmlns:a16="http://schemas.microsoft.com/office/drawing/2014/main" val="362791328"/>
                  </a:ext>
                </a:extLst>
              </a:tr>
              <a:tr h="548640">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8696B"/>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a:t>
                      </a:r>
                    </a:p>
                  </a:txBody>
                  <a:tcPr marL="6350" marR="6350" marT="6350" marB="0" anchor="ctr">
                    <a:lnL>
                      <a:noFill/>
                    </a:lnL>
                    <a:lnR>
                      <a:noFill/>
                    </a:lnR>
                    <a:lnT>
                      <a:noFill/>
                    </a:lnT>
                    <a:lnB>
                      <a:noFill/>
                    </a:lnB>
                    <a:solidFill>
                      <a:srgbClr val="FDCF7E"/>
                    </a:solidFill>
                  </a:tcPr>
                </a:tc>
                <a:tc>
                  <a:txBody>
                    <a:bodyPr/>
                    <a:lstStyle/>
                    <a:p>
                      <a:pPr algn="ctr" fontAlgn="b">
                        <a:buNone/>
                      </a:pPr>
                      <a:r>
                        <a:rPr lang="en-IN" sz="1100" b="0" i="0" u="none" strike="noStrike">
                          <a:solidFill>
                            <a:srgbClr val="000000"/>
                          </a:solidFill>
                          <a:effectLst/>
                          <a:latin typeface="Aptos Narrow" panose="020B0004020202020204" pitchFamily="34" charset="0"/>
                        </a:rPr>
                        <a:t>-16%</a:t>
                      </a:r>
                    </a:p>
                  </a:txBody>
                  <a:tcPr marL="6350" marR="6350" marT="6350" marB="0" anchor="ctr">
                    <a:lnL>
                      <a:noFill/>
                    </a:lnL>
                    <a:lnR>
                      <a:noFill/>
                    </a:lnR>
                    <a:lnT>
                      <a:noFill/>
                    </a:lnT>
                    <a:lnB>
                      <a:noFill/>
                    </a:lnB>
                    <a:solidFill>
                      <a:srgbClr val="F8696B"/>
                    </a:solidFill>
                  </a:tcPr>
                </a:tc>
                <a:tc>
                  <a:txBody>
                    <a:bodyPr/>
                    <a:lstStyle/>
                    <a:p>
                      <a:pPr algn="ctr" fontAlgn="b">
                        <a:buNone/>
                      </a:pPr>
                      <a:r>
                        <a:rPr lang="en-IN" sz="1100" b="0" i="0" u="none" strike="noStrike">
                          <a:solidFill>
                            <a:srgbClr val="000000"/>
                          </a:solidFill>
                          <a:effectLst/>
                          <a:latin typeface="Aptos Narrow" panose="020B0004020202020204" pitchFamily="34" charset="0"/>
                        </a:rPr>
                        <a:t>7%</a:t>
                      </a:r>
                    </a:p>
                  </a:txBody>
                  <a:tcPr marL="6350" marR="6350" marT="6350" marB="0" anchor="ctr">
                    <a:lnL>
                      <a:noFill/>
                    </a:lnL>
                    <a:lnR>
                      <a:noFill/>
                    </a:lnR>
                    <a:lnT>
                      <a:noFill/>
                    </a:lnT>
                    <a:lnB>
                      <a:noFill/>
                    </a:lnB>
                    <a:solidFill>
                      <a:srgbClr val="E3E383"/>
                    </a:solidFill>
                  </a:tcPr>
                </a:tc>
                <a:extLst>
                  <a:ext uri="{0D108BD9-81ED-4DB2-BD59-A6C34878D82A}">
                    <a16:rowId xmlns:a16="http://schemas.microsoft.com/office/drawing/2014/main" val="2645959302"/>
                  </a:ext>
                </a:extLst>
              </a:tr>
            </a:tbl>
          </a:graphicData>
        </a:graphic>
      </p:graphicFrame>
    </p:spTree>
    <p:extLst>
      <p:ext uri="{BB962C8B-B14F-4D97-AF65-F5344CB8AC3E}">
        <p14:creationId xmlns:p14="http://schemas.microsoft.com/office/powerpoint/2010/main" val="1249247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1DE1F6F3-0119-E0FA-E3A9-6F57D3DE4C5A}"/>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AF0EA43F-B357-73A0-B1B9-155C9EBB5CED}"/>
              </a:ext>
            </a:extLst>
          </p:cNvPr>
          <p:cNvSpPr txBox="1"/>
          <p:nvPr/>
        </p:nvSpPr>
        <p:spPr>
          <a:xfrm>
            <a:off x="412748" y="-1626472"/>
            <a:ext cx="8462117"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endParaRPr kumimoji="0" lang="en-US" sz="14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10" name="Google Shape;1755;p46">
            <a:extLst>
              <a:ext uri="{FF2B5EF4-FFF2-40B4-BE49-F238E27FC236}">
                <a16:creationId xmlns:a16="http://schemas.microsoft.com/office/drawing/2014/main" id="{C71D7666-A70A-6A60-A5CE-5A539635C1CD}"/>
              </a:ext>
            </a:extLst>
          </p:cNvPr>
          <p:cNvSpPr/>
          <p:nvPr/>
        </p:nvSpPr>
        <p:spPr>
          <a:xfrm>
            <a:off x="361047" y="705266"/>
            <a:ext cx="8049180"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ea typeface="+mn-ea"/>
                <a:cs typeface="Arial" panose="020B0604020202020204" pitchFamily="34" charset="0"/>
                <a:sym typeface="Calibri"/>
              </a:rPr>
              <a:t>CREON Product Performance Across Attributes – Gastros</a:t>
            </a:r>
          </a:p>
        </p:txBody>
      </p:sp>
      <p:graphicFrame>
        <p:nvGraphicFramePr>
          <p:cNvPr id="11" name="Table 10">
            <a:extLst>
              <a:ext uri="{FF2B5EF4-FFF2-40B4-BE49-F238E27FC236}">
                <a16:creationId xmlns:a16="http://schemas.microsoft.com/office/drawing/2014/main" id="{A8EB051F-8565-DE77-7186-F25EAB7D7839}"/>
              </a:ext>
            </a:extLst>
          </p:cNvPr>
          <p:cNvGraphicFramePr>
            <a:graphicFrameLocks noGrp="1"/>
          </p:cNvGraphicFramePr>
          <p:nvPr>
            <p:custDataLst>
              <p:tags r:id="rId1"/>
            </p:custDataLst>
            <p:extLst>
              <p:ext uri="{D42A27DB-BD31-4B8C-83A1-F6EECF244321}">
                <p14:modId xmlns:p14="http://schemas.microsoft.com/office/powerpoint/2010/main" val="3795433669"/>
              </p:ext>
            </p:extLst>
          </p:nvPr>
        </p:nvGraphicFramePr>
        <p:xfrm>
          <a:off x="138093" y="1461594"/>
          <a:ext cx="3310832" cy="4536000"/>
        </p:xfrm>
        <a:graphic>
          <a:graphicData uri="http://schemas.openxmlformats.org/drawingml/2006/table">
            <a:tbl>
              <a:tblPr/>
              <a:tblGrid>
                <a:gridCol w="1024832">
                  <a:extLst>
                    <a:ext uri="{9D8B030D-6E8A-4147-A177-3AD203B41FA5}">
                      <a16:colId xmlns:a16="http://schemas.microsoft.com/office/drawing/2014/main" val="1264311597"/>
                    </a:ext>
                  </a:extLst>
                </a:gridCol>
                <a:gridCol w="2286000">
                  <a:extLst>
                    <a:ext uri="{9D8B030D-6E8A-4147-A177-3AD203B41FA5}">
                      <a16:colId xmlns:a16="http://schemas.microsoft.com/office/drawing/2014/main" val="2404896518"/>
                    </a:ext>
                  </a:extLst>
                </a:gridCol>
              </a:tblGrid>
              <a:tr h="302400">
                <a:tc rowSpan="3">
                  <a:txBody>
                    <a:bodyPr/>
                    <a:lstStyle/>
                    <a:p>
                      <a:pPr algn="ctr" fontAlgn="base"/>
                      <a:r>
                        <a:rPr lang="en-IN" sz="1100" b="1" i="0" u="none" strike="noStrike">
                          <a:solidFill>
                            <a:srgbClr val="071D49"/>
                          </a:solidFill>
                          <a:effectLst/>
                          <a:latin typeface="Arial" panose="020B0604020202020204" pitchFamily="34" charset="0"/>
                        </a:rPr>
                        <a:t>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Improves symptoms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25557939"/>
                  </a:ext>
                </a:extLst>
              </a:tr>
              <a:tr h="302400">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Highest 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96491395"/>
                  </a:ext>
                </a:extLst>
              </a:tr>
              <a:tr h="302400">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Benefits patient outcomes</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682538732"/>
                  </a:ext>
                </a:extLst>
              </a:tr>
              <a:tr h="302400">
                <a:tc rowSpan="5">
                  <a:txBody>
                    <a:bodyPr/>
                    <a:lstStyle/>
                    <a:p>
                      <a:pPr algn="ctr" fontAlgn="base"/>
                      <a:r>
                        <a:rPr lang="en-IN" sz="1100" b="1" i="0" u="none" strike="noStrike">
                          <a:solidFill>
                            <a:srgbClr val="071D49"/>
                          </a:solidFill>
                          <a:effectLst/>
                          <a:latin typeface="Arial" panose="020B0604020202020204" pitchFamily="34" charset="0"/>
                        </a:rPr>
                        <a:t>Access / Cost</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Best formulary / insurance coverage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R="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261342604"/>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Easiest to prescribe</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640867762"/>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support programs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835908944"/>
                  </a:ext>
                </a:extLst>
              </a:tr>
              <a:tr h="302400">
                <a:tc vMerge="1">
                  <a:txBody>
                    <a:bodyPr/>
                    <a:lstStyle/>
                    <a:p>
                      <a:endParaRPr lang="en-IN"/>
                    </a:p>
                  </a:txBody>
                  <a:tcPr/>
                </a:tc>
                <a:tc>
                  <a:txBody>
                    <a:bodyPr/>
                    <a:lstStyle/>
                    <a:p>
                      <a:pPr marL="0" marR="0" lvl="0" indent="0" algn="r" defTabSz="342906" rtl="0" eaLnBrk="1" fontAlgn="base"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71D49"/>
                          </a:solidFill>
                          <a:effectLst/>
                          <a:uLnTx/>
                          <a:uFillTx/>
                          <a:latin typeface="Arial" panose="020B0604020202020204" pitchFamily="34" charset="0"/>
                          <a:ea typeface="+mn-ea"/>
                          <a:cs typeface="+mn-cs"/>
                        </a:rPr>
                        <a:t>Co-pay assistance​</a:t>
                      </a:r>
                      <a:endParaRPr kumimoji="0" lang="en-IN" sz="15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90497247"/>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Lowest treatment cost​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059120990"/>
                  </a:ext>
                </a:extLst>
              </a:tr>
              <a:tr h="302400">
                <a:tc rowSpan="4">
                  <a:txBody>
                    <a:bodyPr/>
                    <a:lstStyle/>
                    <a:p>
                      <a:pPr algn="ctr" fontAlgn="base"/>
                      <a:r>
                        <a:rPr lang="en-IN" sz="1100" b="1" i="0" u="none" strike="noStrike">
                          <a:solidFill>
                            <a:srgbClr val="071D49"/>
                          </a:solidFill>
                          <a:effectLst/>
                          <a:latin typeface="Arial" panose="020B0604020202020204" pitchFamily="34" charset="0"/>
                        </a:rPr>
                        <a:t>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Simplest 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558153389"/>
                  </a:ext>
                </a:extLst>
              </a:tr>
              <a:tr h="302400">
                <a:tc vMerge="1">
                  <a:txBody>
                    <a:bodyPr/>
                    <a:lstStyle/>
                    <a:p>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Dosing flexibility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03662095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adherence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1486126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dosing options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23969247"/>
                  </a:ext>
                </a:extLst>
              </a:tr>
              <a:tr h="302400">
                <a:tc>
                  <a:txBody>
                    <a:bodyPr/>
                    <a:lstStyle/>
                    <a:p>
                      <a:pPr algn="ctr" fontAlgn="base"/>
                      <a:r>
                        <a:rPr lang="en-IN" sz="1100" b="1" i="0" u="none" strike="noStrike">
                          <a:solidFill>
                            <a:srgbClr val="071D49"/>
                          </a:solidFill>
                          <a:effectLst/>
                          <a:latin typeface="Arial" panose="020B0604020202020204" pitchFamily="34" charset="0"/>
                        </a:rPr>
                        <a:t>Safety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a:t>
                      </a:r>
                      <a:r>
                        <a:rPr lang="en-IN" sz="1100" b="0" i="0" u="none" strike="noStrike" err="1">
                          <a:solidFill>
                            <a:srgbClr val="071D49"/>
                          </a:solidFill>
                          <a:effectLst/>
                          <a:latin typeface="Arial" panose="020B0604020202020204" pitchFamily="34" charset="0"/>
                        </a:rPr>
                        <a:t>favorable</a:t>
                      </a:r>
                      <a:r>
                        <a:rPr lang="en-IN" sz="1100" b="0" i="0" u="none" strike="noStrike">
                          <a:solidFill>
                            <a:srgbClr val="071D49"/>
                          </a:solidFill>
                          <a:effectLst/>
                          <a:latin typeface="Arial" panose="020B0604020202020204" pitchFamily="34" charset="0"/>
                        </a:rPr>
                        <a:t> safety profile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714918309"/>
                  </a:ext>
                </a:extLst>
              </a:tr>
              <a:tr h="302400">
                <a:tc rowSpan="2">
                  <a:txBody>
                    <a:bodyPr/>
                    <a:lstStyle/>
                    <a:p>
                      <a:pPr algn="ctr" fontAlgn="base"/>
                      <a:r>
                        <a:rPr lang="en-IN" sz="1100" b="1" i="0" u="none" strike="noStrike">
                          <a:solidFill>
                            <a:srgbClr val="071D49"/>
                          </a:solidFill>
                          <a:effectLst/>
                          <a:latin typeface="Arial" panose="020B0604020202020204" pitchFamily="34" charset="0"/>
                        </a:rPr>
                        <a:t>Preference / Experience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Successful personal experience </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291063373"/>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Treatment is preferred by patients</a:t>
                      </a:r>
                      <a:r>
                        <a:rPr lang="en-US" sz="1100" b="0" i="0">
                          <a:solidFill>
                            <a:srgbClr val="071D49"/>
                          </a:solidFill>
                          <a:effectLst/>
                          <a:latin typeface="Arial" panose="020B0604020202020204" pitchFamily="34" charset="0"/>
                        </a:rPr>
                        <a:t>​</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032889508"/>
                  </a:ext>
                </a:extLst>
              </a:tr>
            </a:tbl>
          </a:graphicData>
        </a:graphic>
      </p:graphicFrame>
      <p:sp>
        <p:nvSpPr>
          <p:cNvPr id="12" name="TextBox 11">
            <a:extLst>
              <a:ext uri="{FF2B5EF4-FFF2-40B4-BE49-F238E27FC236}">
                <a16:creationId xmlns:a16="http://schemas.microsoft.com/office/drawing/2014/main" id="{9E19BEB6-4385-8DE1-64C6-6692E58D1209}"/>
              </a:ext>
            </a:extLst>
          </p:cNvPr>
          <p:cNvSpPr txBox="1"/>
          <p:nvPr/>
        </p:nvSpPr>
        <p:spPr>
          <a:xfrm>
            <a:off x="138095" y="1175743"/>
            <a:ext cx="331083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Attributes</a:t>
            </a:r>
            <a:endParaRPr kumimoji="0" lang="en-US" sz="1200" b="0" i="0" u="none" strike="noStrike" kern="1200" cap="none" spc="0" normalizeH="0" baseline="30000" noProof="0">
              <a:ln>
                <a:noFill/>
              </a:ln>
              <a:solidFill>
                <a:srgbClr val="FFFFFF"/>
              </a:solidFill>
              <a:effectLst/>
              <a:uLnTx/>
              <a:uFillTx/>
              <a:latin typeface="+mn-lt"/>
              <a:ea typeface="Calibri"/>
              <a:cs typeface="Arial" panose="020B0604020202020204" pitchFamily="34" charset="0"/>
              <a:sym typeface="Calibri"/>
            </a:endParaRPr>
          </a:p>
        </p:txBody>
      </p:sp>
      <p:sp>
        <p:nvSpPr>
          <p:cNvPr id="5" name="Google Shape;1359;p33">
            <a:extLst>
              <a:ext uri="{FF2B5EF4-FFF2-40B4-BE49-F238E27FC236}">
                <a16:creationId xmlns:a16="http://schemas.microsoft.com/office/drawing/2014/main" id="{91149809-89D9-14D4-2687-AE8EE07DC72B}"/>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CREON declined across most efficacy and access/cost attributes among Gastros from Jan ‘26 to Feb ‘26, with notable drops in patient outcomes and access-related measures; however, it improved across nearly all attributes from Feb ’26 to Mar ’26</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6" name="Google Shape;1368;p33">
            <a:extLst>
              <a:ext uri="{FF2B5EF4-FFF2-40B4-BE49-F238E27FC236}">
                <a16:creationId xmlns:a16="http://schemas.microsoft.com/office/drawing/2014/main" id="{A7E1E314-08B6-6084-0E3C-9C4D811088E7}"/>
              </a:ext>
            </a:extLst>
          </p:cNvPr>
          <p:cNvSpPr/>
          <p:nvPr/>
        </p:nvSpPr>
        <p:spPr>
          <a:xfrm>
            <a:off x="4731494" y="5932001"/>
            <a:ext cx="2134751"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interactions (Rating 6,7)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3" name="TextBox 2">
            <a:extLst>
              <a:ext uri="{FF2B5EF4-FFF2-40B4-BE49-F238E27FC236}">
                <a16:creationId xmlns:a16="http://schemas.microsoft.com/office/drawing/2014/main" id="{218861A4-F1EC-FB8F-6466-145ECAEB0230}"/>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chemeClr val="bg2">
                    <a:lumMod val="10000"/>
                  </a:schemeClr>
                </a:solidFill>
                <a:effectLst/>
                <a:uLnTx/>
                <a:uFillTx/>
                <a:latin typeface="+mn-lt"/>
                <a:cs typeface="Arial"/>
                <a:sym typeface="Arial"/>
                <a:hlinkClick r:id="rId21" action="ppaction://hlinksldjump">
                  <a:extLst>
                    <a:ext uri="{A12FA001-AC4F-418D-AE19-62706E023703}">
                      <ahyp:hlinkClr xmlns:ahyp="http://schemas.microsoft.com/office/drawing/2018/hyperlinkcolor" val="tx"/>
                    </a:ext>
                  </a:extLst>
                </a:hlinkClick>
              </a:rPr>
              <a:t>Return to KBQ slide</a:t>
            </a:r>
            <a:endParaRPr kumimoji="0" lang="en-GB" sz="1100" b="1" i="1" u="sng" strike="noStrike" kern="1200" cap="none" spc="0" normalizeH="0" baseline="0" noProof="0">
              <a:ln>
                <a:noFill/>
              </a:ln>
              <a:solidFill>
                <a:schemeClr val="bg2">
                  <a:lumMod val="10000"/>
                </a:schemeClr>
              </a:solidFill>
              <a:effectLst/>
              <a:uLnTx/>
              <a:uFillTx/>
              <a:latin typeface="+mn-lt"/>
              <a:cs typeface="Arial"/>
              <a:sym typeface="Arial"/>
            </a:endParaRPr>
          </a:p>
        </p:txBody>
      </p:sp>
      <p:graphicFrame>
        <p:nvGraphicFramePr>
          <p:cNvPr id="8" name="Main chart">
            <a:extLst>
              <a:ext uri="{FF2B5EF4-FFF2-40B4-BE49-F238E27FC236}">
                <a16:creationId xmlns:a16="http://schemas.microsoft.com/office/drawing/2014/main" id="{D195A469-191A-5CAE-A1E3-E4BA784C9CF8}"/>
              </a:ext>
            </a:extLst>
          </p:cNvPr>
          <p:cNvGraphicFramePr/>
          <p:nvPr>
            <p:custDataLst>
              <p:tags r:id="rId2"/>
            </p:custDataLst>
            <p:extLst>
              <p:ext uri="{D42A27DB-BD31-4B8C-83A1-F6EECF244321}">
                <p14:modId xmlns:p14="http://schemas.microsoft.com/office/powerpoint/2010/main" val="1679114381"/>
              </p:ext>
            </p:extLst>
          </p:nvPr>
        </p:nvGraphicFramePr>
        <p:xfrm>
          <a:off x="3453424" y="1461594"/>
          <a:ext cx="4745736" cy="301752"/>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8" name="Main chart">
            <a:extLst>
              <a:ext uri="{FF2B5EF4-FFF2-40B4-BE49-F238E27FC236}">
                <a16:creationId xmlns:a16="http://schemas.microsoft.com/office/drawing/2014/main" id="{21C0C97F-B5F9-A31F-EC15-FC8ADD848B0E}"/>
              </a:ext>
            </a:extLst>
          </p:cNvPr>
          <p:cNvGraphicFramePr/>
          <p:nvPr>
            <p:custDataLst>
              <p:tags r:id="rId3"/>
            </p:custDataLst>
            <p:extLst>
              <p:ext uri="{D42A27DB-BD31-4B8C-83A1-F6EECF244321}">
                <p14:modId xmlns:p14="http://schemas.microsoft.com/office/powerpoint/2010/main" val="2746766214"/>
              </p:ext>
            </p:extLst>
          </p:nvPr>
        </p:nvGraphicFramePr>
        <p:xfrm>
          <a:off x="3453424" y="1764144"/>
          <a:ext cx="4745736" cy="301752"/>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23" name="Main chart">
            <a:extLst>
              <a:ext uri="{FF2B5EF4-FFF2-40B4-BE49-F238E27FC236}">
                <a16:creationId xmlns:a16="http://schemas.microsoft.com/office/drawing/2014/main" id="{2A1140EB-174A-CC49-7D9E-E9D956EA91CD}"/>
              </a:ext>
            </a:extLst>
          </p:cNvPr>
          <p:cNvGraphicFramePr/>
          <p:nvPr>
            <p:custDataLst>
              <p:tags r:id="rId4"/>
            </p:custDataLst>
            <p:extLst>
              <p:ext uri="{D42A27DB-BD31-4B8C-83A1-F6EECF244321}">
                <p14:modId xmlns:p14="http://schemas.microsoft.com/office/powerpoint/2010/main" val="1344872681"/>
              </p:ext>
            </p:extLst>
          </p:nvPr>
        </p:nvGraphicFramePr>
        <p:xfrm>
          <a:off x="3453424" y="2066694"/>
          <a:ext cx="4745736" cy="301752"/>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9" name="Main chart">
            <a:extLst>
              <a:ext uri="{FF2B5EF4-FFF2-40B4-BE49-F238E27FC236}">
                <a16:creationId xmlns:a16="http://schemas.microsoft.com/office/drawing/2014/main" id="{981C377E-9802-7BB4-ED6A-E7201DA399BA}"/>
              </a:ext>
            </a:extLst>
          </p:cNvPr>
          <p:cNvGraphicFramePr/>
          <p:nvPr>
            <p:custDataLst>
              <p:tags r:id="rId5"/>
            </p:custDataLst>
            <p:extLst>
              <p:ext uri="{D42A27DB-BD31-4B8C-83A1-F6EECF244321}">
                <p14:modId xmlns:p14="http://schemas.microsoft.com/office/powerpoint/2010/main" val="1751704249"/>
              </p:ext>
            </p:extLst>
          </p:nvPr>
        </p:nvGraphicFramePr>
        <p:xfrm>
          <a:off x="3453424" y="2369244"/>
          <a:ext cx="4745736" cy="301752"/>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36" name="Main chart">
            <a:extLst>
              <a:ext uri="{FF2B5EF4-FFF2-40B4-BE49-F238E27FC236}">
                <a16:creationId xmlns:a16="http://schemas.microsoft.com/office/drawing/2014/main" id="{25A62985-A54B-79AE-F8A7-93EBB6B2A762}"/>
              </a:ext>
            </a:extLst>
          </p:cNvPr>
          <p:cNvGraphicFramePr/>
          <p:nvPr>
            <p:custDataLst>
              <p:tags r:id="rId6"/>
            </p:custDataLst>
            <p:extLst>
              <p:ext uri="{D42A27DB-BD31-4B8C-83A1-F6EECF244321}">
                <p14:modId xmlns:p14="http://schemas.microsoft.com/office/powerpoint/2010/main" val="3380665665"/>
              </p:ext>
            </p:extLst>
          </p:nvPr>
        </p:nvGraphicFramePr>
        <p:xfrm>
          <a:off x="3453424" y="2671794"/>
          <a:ext cx="4745736" cy="301752"/>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37" name="Main chart">
            <a:extLst>
              <a:ext uri="{FF2B5EF4-FFF2-40B4-BE49-F238E27FC236}">
                <a16:creationId xmlns:a16="http://schemas.microsoft.com/office/drawing/2014/main" id="{B6BDD140-6749-6912-6B49-79701C4C2206}"/>
              </a:ext>
            </a:extLst>
          </p:cNvPr>
          <p:cNvGraphicFramePr/>
          <p:nvPr>
            <p:custDataLst>
              <p:tags r:id="rId7"/>
            </p:custDataLst>
            <p:extLst>
              <p:ext uri="{D42A27DB-BD31-4B8C-83A1-F6EECF244321}">
                <p14:modId xmlns:p14="http://schemas.microsoft.com/office/powerpoint/2010/main" val="3010825928"/>
              </p:ext>
            </p:extLst>
          </p:nvPr>
        </p:nvGraphicFramePr>
        <p:xfrm>
          <a:off x="3453424" y="2974344"/>
          <a:ext cx="4745736" cy="301752"/>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40" name="Main chart">
            <a:extLst>
              <a:ext uri="{FF2B5EF4-FFF2-40B4-BE49-F238E27FC236}">
                <a16:creationId xmlns:a16="http://schemas.microsoft.com/office/drawing/2014/main" id="{5D0F6299-8E9E-9CDA-D588-BE3508E54DF7}"/>
              </a:ext>
            </a:extLst>
          </p:cNvPr>
          <p:cNvGraphicFramePr/>
          <p:nvPr>
            <p:custDataLst>
              <p:tags r:id="rId8"/>
            </p:custDataLst>
            <p:extLst>
              <p:ext uri="{D42A27DB-BD31-4B8C-83A1-F6EECF244321}">
                <p14:modId xmlns:p14="http://schemas.microsoft.com/office/powerpoint/2010/main" val="1966574964"/>
              </p:ext>
            </p:extLst>
          </p:nvPr>
        </p:nvGraphicFramePr>
        <p:xfrm>
          <a:off x="3453424" y="3276894"/>
          <a:ext cx="4745736" cy="301752"/>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41" name="Main chart">
            <a:extLst>
              <a:ext uri="{FF2B5EF4-FFF2-40B4-BE49-F238E27FC236}">
                <a16:creationId xmlns:a16="http://schemas.microsoft.com/office/drawing/2014/main" id="{C90F32C4-3001-14D2-4A49-EFDD077FF1F4}"/>
              </a:ext>
            </a:extLst>
          </p:cNvPr>
          <p:cNvGraphicFramePr/>
          <p:nvPr>
            <p:custDataLst>
              <p:tags r:id="rId9"/>
            </p:custDataLst>
            <p:extLst>
              <p:ext uri="{D42A27DB-BD31-4B8C-83A1-F6EECF244321}">
                <p14:modId xmlns:p14="http://schemas.microsoft.com/office/powerpoint/2010/main" val="3788734201"/>
              </p:ext>
            </p:extLst>
          </p:nvPr>
        </p:nvGraphicFramePr>
        <p:xfrm>
          <a:off x="3453424" y="3579444"/>
          <a:ext cx="4745736" cy="301752"/>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42" name="Main chart">
            <a:extLst>
              <a:ext uri="{FF2B5EF4-FFF2-40B4-BE49-F238E27FC236}">
                <a16:creationId xmlns:a16="http://schemas.microsoft.com/office/drawing/2014/main" id="{E2B749AF-4D26-F9FE-714F-3D3B1EAE3FEB}"/>
              </a:ext>
            </a:extLst>
          </p:cNvPr>
          <p:cNvGraphicFramePr/>
          <p:nvPr>
            <p:custDataLst>
              <p:tags r:id="rId10"/>
            </p:custDataLst>
            <p:extLst>
              <p:ext uri="{D42A27DB-BD31-4B8C-83A1-F6EECF244321}">
                <p14:modId xmlns:p14="http://schemas.microsoft.com/office/powerpoint/2010/main" val="957070000"/>
              </p:ext>
            </p:extLst>
          </p:nvPr>
        </p:nvGraphicFramePr>
        <p:xfrm>
          <a:off x="3453424" y="3881994"/>
          <a:ext cx="4745736" cy="301752"/>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43" name="Main chart">
            <a:extLst>
              <a:ext uri="{FF2B5EF4-FFF2-40B4-BE49-F238E27FC236}">
                <a16:creationId xmlns:a16="http://schemas.microsoft.com/office/drawing/2014/main" id="{B0DCE242-3BC6-8CF6-3B96-144B094C344C}"/>
              </a:ext>
            </a:extLst>
          </p:cNvPr>
          <p:cNvGraphicFramePr/>
          <p:nvPr>
            <p:custDataLst>
              <p:tags r:id="rId11"/>
            </p:custDataLst>
            <p:extLst>
              <p:ext uri="{D42A27DB-BD31-4B8C-83A1-F6EECF244321}">
                <p14:modId xmlns:p14="http://schemas.microsoft.com/office/powerpoint/2010/main" val="3888337580"/>
              </p:ext>
            </p:extLst>
          </p:nvPr>
        </p:nvGraphicFramePr>
        <p:xfrm>
          <a:off x="3453424" y="4184544"/>
          <a:ext cx="4745736" cy="301752"/>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44" name="Main chart">
            <a:extLst>
              <a:ext uri="{FF2B5EF4-FFF2-40B4-BE49-F238E27FC236}">
                <a16:creationId xmlns:a16="http://schemas.microsoft.com/office/drawing/2014/main" id="{94797A51-B501-B824-8C13-E4E4B4749651}"/>
              </a:ext>
            </a:extLst>
          </p:cNvPr>
          <p:cNvGraphicFramePr/>
          <p:nvPr>
            <p:custDataLst>
              <p:tags r:id="rId12"/>
            </p:custDataLst>
            <p:extLst>
              <p:ext uri="{D42A27DB-BD31-4B8C-83A1-F6EECF244321}">
                <p14:modId xmlns:p14="http://schemas.microsoft.com/office/powerpoint/2010/main" val="1900353838"/>
              </p:ext>
            </p:extLst>
          </p:nvPr>
        </p:nvGraphicFramePr>
        <p:xfrm>
          <a:off x="3453424" y="4487094"/>
          <a:ext cx="4745736" cy="301752"/>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45" name="Main chart">
            <a:extLst>
              <a:ext uri="{FF2B5EF4-FFF2-40B4-BE49-F238E27FC236}">
                <a16:creationId xmlns:a16="http://schemas.microsoft.com/office/drawing/2014/main" id="{B841335F-2226-9E25-D991-98111AEE663C}"/>
              </a:ext>
            </a:extLst>
          </p:cNvPr>
          <p:cNvGraphicFramePr/>
          <p:nvPr>
            <p:custDataLst>
              <p:tags r:id="rId13"/>
            </p:custDataLst>
            <p:extLst>
              <p:ext uri="{D42A27DB-BD31-4B8C-83A1-F6EECF244321}">
                <p14:modId xmlns:p14="http://schemas.microsoft.com/office/powerpoint/2010/main" val="1965243699"/>
              </p:ext>
            </p:extLst>
          </p:nvPr>
        </p:nvGraphicFramePr>
        <p:xfrm>
          <a:off x="3453424" y="4789644"/>
          <a:ext cx="4745736" cy="301752"/>
        </p:xfrm>
        <a:graphic>
          <a:graphicData uri="http://schemas.openxmlformats.org/drawingml/2006/chart">
            <c:chart xmlns:c="http://schemas.openxmlformats.org/drawingml/2006/chart" xmlns:r="http://schemas.openxmlformats.org/officeDocument/2006/relationships" r:id="rId33"/>
          </a:graphicData>
        </a:graphic>
      </p:graphicFrame>
      <p:graphicFrame>
        <p:nvGraphicFramePr>
          <p:cNvPr id="46" name="Main chart">
            <a:extLst>
              <a:ext uri="{FF2B5EF4-FFF2-40B4-BE49-F238E27FC236}">
                <a16:creationId xmlns:a16="http://schemas.microsoft.com/office/drawing/2014/main" id="{AEA7CFB8-098B-D607-0675-A3CDB7564C5F}"/>
              </a:ext>
            </a:extLst>
          </p:cNvPr>
          <p:cNvGraphicFramePr/>
          <p:nvPr>
            <p:custDataLst>
              <p:tags r:id="rId14"/>
            </p:custDataLst>
            <p:extLst>
              <p:ext uri="{D42A27DB-BD31-4B8C-83A1-F6EECF244321}">
                <p14:modId xmlns:p14="http://schemas.microsoft.com/office/powerpoint/2010/main" val="3644214641"/>
              </p:ext>
            </p:extLst>
          </p:nvPr>
        </p:nvGraphicFramePr>
        <p:xfrm>
          <a:off x="3453424" y="5092194"/>
          <a:ext cx="4745736" cy="301752"/>
        </p:xfrm>
        <a:graphic>
          <a:graphicData uri="http://schemas.openxmlformats.org/drawingml/2006/chart">
            <c:chart xmlns:c="http://schemas.openxmlformats.org/drawingml/2006/chart" xmlns:r="http://schemas.openxmlformats.org/officeDocument/2006/relationships" r:id="rId34"/>
          </a:graphicData>
        </a:graphic>
      </p:graphicFrame>
      <p:graphicFrame>
        <p:nvGraphicFramePr>
          <p:cNvPr id="47" name="Main chart">
            <a:extLst>
              <a:ext uri="{FF2B5EF4-FFF2-40B4-BE49-F238E27FC236}">
                <a16:creationId xmlns:a16="http://schemas.microsoft.com/office/drawing/2014/main" id="{DA1E4EA2-799F-9309-5732-24E602309D17}"/>
              </a:ext>
            </a:extLst>
          </p:cNvPr>
          <p:cNvGraphicFramePr/>
          <p:nvPr>
            <p:custDataLst>
              <p:tags r:id="rId15"/>
            </p:custDataLst>
            <p:extLst>
              <p:ext uri="{D42A27DB-BD31-4B8C-83A1-F6EECF244321}">
                <p14:modId xmlns:p14="http://schemas.microsoft.com/office/powerpoint/2010/main" val="3045161228"/>
              </p:ext>
            </p:extLst>
          </p:nvPr>
        </p:nvGraphicFramePr>
        <p:xfrm>
          <a:off x="3453424" y="5394744"/>
          <a:ext cx="4745736" cy="301752"/>
        </p:xfrm>
        <a:graphic>
          <a:graphicData uri="http://schemas.openxmlformats.org/drawingml/2006/chart">
            <c:chart xmlns:c="http://schemas.openxmlformats.org/drawingml/2006/chart" xmlns:r="http://schemas.openxmlformats.org/officeDocument/2006/relationships" r:id="rId35"/>
          </a:graphicData>
        </a:graphic>
      </p:graphicFrame>
      <p:graphicFrame>
        <p:nvGraphicFramePr>
          <p:cNvPr id="48" name="Main chart">
            <a:extLst>
              <a:ext uri="{FF2B5EF4-FFF2-40B4-BE49-F238E27FC236}">
                <a16:creationId xmlns:a16="http://schemas.microsoft.com/office/drawing/2014/main" id="{6D4337F9-8C3B-F2AF-15BA-0E41085A0B49}"/>
              </a:ext>
            </a:extLst>
          </p:cNvPr>
          <p:cNvGraphicFramePr/>
          <p:nvPr>
            <p:custDataLst>
              <p:tags r:id="rId16"/>
            </p:custDataLst>
            <p:extLst>
              <p:ext uri="{D42A27DB-BD31-4B8C-83A1-F6EECF244321}">
                <p14:modId xmlns:p14="http://schemas.microsoft.com/office/powerpoint/2010/main" val="443965694"/>
              </p:ext>
            </p:extLst>
          </p:nvPr>
        </p:nvGraphicFramePr>
        <p:xfrm>
          <a:off x="3453424" y="5697288"/>
          <a:ext cx="4745736" cy="301752"/>
        </p:xfrm>
        <a:graphic>
          <a:graphicData uri="http://schemas.openxmlformats.org/drawingml/2006/chart">
            <c:chart xmlns:c="http://schemas.openxmlformats.org/drawingml/2006/chart" xmlns:r="http://schemas.openxmlformats.org/officeDocument/2006/relationships" r:id="rId36"/>
          </a:graphicData>
        </a:graphic>
      </p:graphicFrame>
      <p:graphicFrame>
        <p:nvGraphicFramePr>
          <p:cNvPr id="51" name="wave table OCQ">
            <a:extLst>
              <a:ext uri="{FF2B5EF4-FFF2-40B4-BE49-F238E27FC236}">
                <a16:creationId xmlns:a16="http://schemas.microsoft.com/office/drawing/2014/main" id="{BE2AAC39-2953-42FF-F128-E753E9373027}"/>
              </a:ext>
            </a:extLst>
          </p:cNvPr>
          <p:cNvGraphicFramePr>
            <a:graphicFrameLocks noGrp="1"/>
          </p:cNvGraphicFramePr>
          <p:nvPr>
            <p:custDataLst>
              <p:tags r:id="rId17"/>
            </p:custDataLst>
            <p:extLst>
              <p:ext uri="{D42A27DB-BD31-4B8C-83A1-F6EECF244321}">
                <p14:modId xmlns:p14="http://schemas.microsoft.com/office/powerpoint/2010/main" val="2548617983"/>
              </p:ext>
            </p:extLst>
          </p:nvPr>
        </p:nvGraphicFramePr>
        <p:xfrm>
          <a:off x="3667711" y="1176526"/>
          <a:ext cx="4300656" cy="274320"/>
        </p:xfrm>
        <a:graphic>
          <a:graphicData uri="http://schemas.openxmlformats.org/drawingml/2006/table">
            <a:tbl>
              <a:tblPr firstRow="1" bandRow="1">
                <a:tableStyleId>{B301B821-A1FF-4177-AEE7-76D212191A09}</a:tableStyleId>
              </a:tblPr>
              <a:tblGrid>
                <a:gridCol w="716776">
                  <a:extLst>
                    <a:ext uri="{9D8B030D-6E8A-4147-A177-3AD203B41FA5}">
                      <a16:colId xmlns:a16="http://schemas.microsoft.com/office/drawing/2014/main" val="3554599800"/>
                    </a:ext>
                  </a:extLst>
                </a:gridCol>
                <a:gridCol w="716776">
                  <a:extLst>
                    <a:ext uri="{9D8B030D-6E8A-4147-A177-3AD203B41FA5}">
                      <a16:colId xmlns:a16="http://schemas.microsoft.com/office/drawing/2014/main" val="2914776207"/>
                    </a:ext>
                  </a:extLst>
                </a:gridCol>
                <a:gridCol w="716776">
                  <a:extLst>
                    <a:ext uri="{9D8B030D-6E8A-4147-A177-3AD203B41FA5}">
                      <a16:colId xmlns:a16="http://schemas.microsoft.com/office/drawing/2014/main" val="2088702262"/>
                    </a:ext>
                  </a:extLst>
                </a:gridCol>
                <a:gridCol w="716776">
                  <a:extLst>
                    <a:ext uri="{9D8B030D-6E8A-4147-A177-3AD203B41FA5}">
                      <a16:colId xmlns:a16="http://schemas.microsoft.com/office/drawing/2014/main" val="192097877"/>
                    </a:ext>
                  </a:extLst>
                </a:gridCol>
                <a:gridCol w="716776">
                  <a:extLst>
                    <a:ext uri="{9D8B030D-6E8A-4147-A177-3AD203B41FA5}">
                      <a16:colId xmlns:a16="http://schemas.microsoft.com/office/drawing/2014/main" val="1326389649"/>
                    </a:ext>
                  </a:extLst>
                </a:gridCol>
                <a:gridCol w="716776">
                  <a:extLst>
                    <a:ext uri="{9D8B030D-6E8A-4147-A177-3AD203B41FA5}">
                      <a16:colId xmlns:a16="http://schemas.microsoft.com/office/drawing/2014/main" val="3544539175"/>
                    </a:ext>
                  </a:extLst>
                </a:gridCol>
              </a:tblGrid>
              <a:tr h="13716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72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57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59</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76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grpSp>
        <p:nvGrpSpPr>
          <p:cNvPr id="52" name="Group 51">
            <a:extLst>
              <a:ext uri="{FF2B5EF4-FFF2-40B4-BE49-F238E27FC236}">
                <a16:creationId xmlns:a16="http://schemas.microsoft.com/office/drawing/2014/main" id="{7EAD884C-1E73-2817-7988-6BC38BE3207F}"/>
              </a:ext>
            </a:extLst>
          </p:cNvPr>
          <p:cNvGrpSpPr/>
          <p:nvPr/>
        </p:nvGrpSpPr>
        <p:grpSpPr>
          <a:xfrm>
            <a:off x="3484109" y="1176526"/>
            <a:ext cx="367208" cy="274320"/>
            <a:chOff x="3025674" y="1399945"/>
            <a:chExt cx="367208" cy="274320"/>
          </a:xfrm>
        </p:grpSpPr>
        <p:sp>
          <p:nvSpPr>
            <p:cNvPr id="53" name="Rectangle 52">
              <a:extLst>
                <a:ext uri="{FF2B5EF4-FFF2-40B4-BE49-F238E27FC236}">
                  <a16:creationId xmlns:a16="http://schemas.microsoft.com/office/drawing/2014/main" id="{53585B93-4CB7-E4FE-E5FF-CB85B60964FA}"/>
                </a:ext>
              </a:extLst>
            </p:cNvPr>
            <p:cNvSpPr/>
            <p:nvPr/>
          </p:nvSpPr>
          <p:spPr>
            <a:xfrm>
              <a:off x="3025674" y="1544154"/>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n size</a:t>
              </a:r>
            </a:p>
          </p:txBody>
        </p:sp>
        <p:sp>
          <p:nvSpPr>
            <p:cNvPr id="54" name="Rectangle 53">
              <a:extLst>
                <a:ext uri="{FF2B5EF4-FFF2-40B4-BE49-F238E27FC236}">
                  <a16:creationId xmlns:a16="http://schemas.microsoft.com/office/drawing/2014/main" id="{001EDFF8-BA19-D500-8ADD-2CD9F1682E00}"/>
                </a:ext>
              </a:extLst>
            </p:cNvPr>
            <p:cNvSpPr/>
            <p:nvPr/>
          </p:nvSpPr>
          <p:spPr>
            <a:xfrm>
              <a:off x="3025674" y="1399945"/>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R3M</a:t>
              </a:r>
            </a:p>
          </p:txBody>
        </p:sp>
      </p:grpSp>
      <p:graphicFrame>
        <p:nvGraphicFramePr>
          <p:cNvPr id="2" name="Table 1">
            <a:extLst>
              <a:ext uri="{FF2B5EF4-FFF2-40B4-BE49-F238E27FC236}">
                <a16:creationId xmlns:a16="http://schemas.microsoft.com/office/drawing/2014/main" id="{00455646-80EC-02F6-EB16-71BDDABF8056}"/>
              </a:ext>
            </a:extLst>
          </p:cNvPr>
          <p:cNvGraphicFramePr>
            <a:graphicFrameLocks noGrp="1"/>
          </p:cNvGraphicFramePr>
          <p:nvPr>
            <p:extLst>
              <p:ext uri="{D42A27DB-BD31-4B8C-83A1-F6EECF244321}">
                <p14:modId xmlns:p14="http://schemas.microsoft.com/office/powerpoint/2010/main" val="2663282651"/>
              </p:ext>
            </p:extLst>
          </p:nvPr>
        </p:nvGraphicFramePr>
        <p:xfrm>
          <a:off x="7944885" y="869064"/>
          <a:ext cx="1088554" cy="5105016"/>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288873">
                <a:tc gridSpan="2">
                  <a:txBody>
                    <a:bodyPr/>
                    <a:lstStyle/>
                    <a:p>
                      <a:pPr algn="ctr"/>
                      <a:r>
                        <a:rPr lang="en-IN" sz="1000">
                          <a:solidFill>
                            <a:schemeClr val="tx1"/>
                          </a:solidFill>
                          <a:latin typeface="Arial" panose="020B0604020202020204" pitchFamily="34" charset="0"/>
                        </a:rPr>
                        <a:t>CREON</a:t>
                      </a:r>
                    </a:p>
                    <a:p>
                      <a:pPr algn="ctr"/>
                      <a:r>
                        <a:rPr lang="en-IN" sz="900" b="1">
                          <a:solidFill>
                            <a:schemeClr val="tx1"/>
                          </a:solidFill>
                          <a:latin typeface="Arial" panose="020B0604020202020204" pitchFamily="34" charset="0"/>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289176">
                <a:tc>
                  <a:txBody>
                    <a:bodyPr/>
                    <a:lstStyle/>
                    <a:p>
                      <a:pPr algn="ctr"/>
                      <a:r>
                        <a:rPr lang="en-IN" sz="900">
                          <a:solidFill>
                            <a:schemeClr val="tx1">
                              <a:lumMod val="50000"/>
                            </a:schemeClr>
                          </a:solidFill>
                        </a:rPr>
                        <a:t>3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900">
                          <a:solidFill>
                            <a:schemeClr val="tx1">
                              <a:lumMod val="50000"/>
                            </a:schemeClr>
                          </a:solidFill>
                        </a:rPr>
                        <a:t>6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438046896"/>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62218365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4324521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3105315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8480035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4503228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74221756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70728571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292154125"/>
                  </a:ext>
                </a:extLst>
              </a:tr>
            </a:tbl>
          </a:graphicData>
        </a:graphic>
      </p:graphicFrame>
      <p:sp>
        <p:nvSpPr>
          <p:cNvPr id="14" name="Google Shape;1785;p46">
            <a:extLst>
              <a:ext uri="{FF2B5EF4-FFF2-40B4-BE49-F238E27FC236}">
                <a16:creationId xmlns:a16="http://schemas.microsoft.com/office/drawing/2014/main" id="{90C4E6D0-7561-3A57-3867-33EAD9E4AF23}"/>
              </a:ext>
            </a:extLst>
          </p:cNvPr>
          <p:cNvSpPr txBox="1"/>
          <p:nvPr/>
        </p:nvSpPr>
        <p:spPr>
          <a:xfrm>
            <a:off x="263257" y="6114185"/>
            <a:ext cx="863793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No statistically significant (p&lt;.05) difference between previous waves </a:t>
            </a:r>
          </a:p>
        </p:txBody>
      </p:sp>
    </p:spTree>
    <p:extLst>
      <p:ext uri="{BB962C8B-B14F-4D97-AF65-F5344CB8AC3E}">
        <p14:creationId xmlns:p14="http://schemas.microsoft.com/office/powerpoint/2010/main" val="1041216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20"/>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EF4024C1-D80C-5C6C-7CBE-F6B56C999155}"/>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A49E2387-1D7F-D791-D352-1AC475CEDF67}"/>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r>
              <a:rPr lang="en-GB">
                <a:latin typeface="Arial" panose="020B0604020202020204" pitchFamily="34" charset="0"/>
                <a:cs typeface="Arial" panose="020B0604020202020204" pitchFamily="34" charset="0"/>
              </a:rPr>
              <a:t>Among PCPs, CREON declined across most attributes from Dec ’25 to Jan ’26, but improved from Jan ’26 to Mar ’26 across attributes except “improves symptoms” and “patient experience,” with “dosing flexibility” showing significant improvement over the past three months</a:t>
            </a:r>
          </a:p>
        </p:txBody>
      </p:sp>
      <p:sp>
        <p:nvSpPr>
          <p:cNvPr id="10" name="Google Shape;1755;p46">
            <a:extLst>
              <a:ext uri="{FF2B5EF4-FFF2-40B4-BE49-F238E27FC236}">
                <a16:creationId xmlns:a16="http://schemas.microsoft.com/office/drawing/2014/main" id="{E421101E-4D2A-3E9C-95EE-DD0540CD49C1}"/>
              </a:ext>
            </a:extLst>
          </p:cNvPr>
          <p:cNvSpPr/>
          <p:nvPr/>
        </p:nvSpPr>
        <p:spPr>
          <a:xfrm>
            <a:off x="361047" y="705266"/>
            <a:ext cx="8049180"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Arial" panose="020B0604020202020204" pitchFamily="34" charset="0"/>
                <a:sym typeface="Calibri"/>
              </a:rPr>
              <a:t>CREON </a:t>
            </a:r>
            <a:r>
              <a:rPr kumimoji="0" lang="en-GB" sz="1400" b="1" i="0" u="sng" strike="noStrike" kern="0" cap="none" spc="0" normalizeH="0" baseline="0" noProof="0">
                <a:ln>
                  <a:noFill/>
                </a:ln>
                <a:solidFill>
                  <a:srgbClr val="071D49"/>
                </a:solidFill>
                <a:effectLst/>
                <a:uLnTx/>
                <a:uFillTx/>
                <a:latin typeface="+mn-lt"/>
                <a:ea typeface="+mn-ea"/>
                <a:cs typeface="Arial" panose="020B0604020202020204" pitchFamily="34" charset="0"/>
                <a:sym typeface="Calibri"/>
              </a:rPr>
              <a:t>Product Performance Across Attributes – PCPs</a:t>
            </a:r>
          </a:p>
        </p:txBody>
      </p:sp>
      <p:sp>
        <p:nvSpPr>
          <p:cNvPr id="3" name="Google Shape;1583;p40">
            <a:extLst>
              <a:ext uri="{FF2B5EF4-FFF2-40B4-BE49-F238E27FC236}">
                <a16:creationId xmlns:a16="http://schemas.microsoft.com/office/drawing/2014/main" id="{AF2206F9-8EA3-B551-1923-A572BC1CB8C8}"/>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mn-lt"/>
                <a:ea typeface="Calibri"/>
                <a:cs typeface="Arial" panose="020B0604020202020204" pitchFamily="34" charset="0"/>
                <a:sym typeface="Calibri"/>
              </a:rPr>
              <a:t>* Low Sample Size</a:t>
            </a:r>
            <a:endParaRPr kumimoji="0" lang="en-US" sz="11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11" name="Google Shape;1368;p33">
            <a:extLst>
              <a:ext uri="{FF2B5EF4-FFF2-40B4-BE49-F238E27FC236}">
                <a16:creationId xmlns:a16="http://schemas.microsoft.com/office/drawing/2014/main" id="{55118800-285B-B33F-21CD-F85F700DC13F}"/>
              </a:ext>
            </a:extLst>
          </p:cNvPr>
          <p:cNvSpPr/>
          <p:nvPr/>
        </p:nvSpPr>
        <p:spPr>
          <a:xfrm>
            <a:off x="4713482" y="5855786"/>
            <a:ext cx="2134751"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interactions (Rating 6,7)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graphicFrame>
        <p:nvGraphicFramePr>
          <p:cNvPr id="35" name="Shape_45901900">
            <a:extLst>
              <a:ext uri="{FF2B5EF4-FFF2-40B4-BE49-F238E27FC236}">
                <a16:creationId xmlns:a16="http://schemas.microsoft.com/office/drawing/2014/main" id="{C3598484-BFB2-4A15-EF67-AFAEFC8BE091}"/>
              </a:ext>
            </a:extLst>
          </p:cNvPr>
          <p:cNvGraphicFramePr/>
          <p:nvPr>
            <p:custDataLst>
              <p:tags r:id="rId1"/>
            </p:custDataLst>
            <p:extLst>
              <p:ext uri="{D42A27DB-BD31-4B8C-83A1-F6EECF244321}">
                <p14:modId xmlns:p14="http://schemas.microsoft.com/office/powerpoint/2010/main" val="879749166"/>
              </p:ext>
            </p:extLst>
          </p:nvPr>
        </p:nvGraphicFramePr>
        <p:xfrm>
          <a:off x="3507478" y="1455106"/>
          <a:ext cx="4742904" cy="301752"/>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6" name="Shape_45901900">
            <a:extLst>
              <a:ext uri="{FF2B5EF4-FFF2-40B4-BE49-F238E27FC236}">
                <a16:creationId xmlns:a16="http://schemas.microsoft.com/office/drawing/2014/main" id="{E6BC2C73-E577-7405-792F-5C5174547841}"/>
              </a:ext>
            </a:extLst>
          </p:cNvPr>
          <p:cNvGraphicFramePr/>
          <p:nvPr>
            <p:custDataLst>
              <p:tags r:id="rId2"/>
            </p:custDataLst>
            <p:extLst>
              <p:ext uri="{D42A27DB-BD31-4B8C-83A1-F6EECF244321}">
                <p14:modId xmlns:p14="http://schemas.microsoft.com/office/powerpoint/2010/main" val="33999740"/>
              </p:ext>
            </p:extLst>
          </p:nvPr>
        </p:nvGraphicFramePr>
        <p:xfrm>
          <a:off x="3507478" y="1757552"/>
          <a:ext cx="4742904" cy="301752"/>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7" name="Shape_45901900">
            <a:extLst>
              <a:ext uri="{FF2B5EF4-FFF2-40B4-BE49-F238E27FC236}">
                <a16:creationId xmlns:a16="http://schemas.microsoft.com/office/drawing/2014/main" id="{3F1C69D4-3662-D7C8-1E90-50E40A2F7255}"/>
              </a:ext>
            </a:extLst>
          </p:cNvPr>
          <p:cNvGraphicFramePr/>
          <p:nvPr>
            <p:custDataLst>
              <p:tags r:id="rId3"/>
            </p:custDataLst>
            <p:extLst>
              <p:ext uri="{D42A27DB-BD31-4B8C-83A1-F6EECF244321}">
                <p14:modId xmlns:p14="http://schemas.microsoft.com/office/powerpoint/2010/main" val="633271683"/>
              </p:ext>
            </p:extLst>
          </p:nvPr>
        </p:nvGraphicFramePr>
        <p:xfrm>
          <a:off x="3507478" y="2059998"/>
          <a:ext cx="4742904" cy="301752"/>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9" name="Shape_45901900">
            <a:extLst>
              <a:ext uri="{FF2B5EF4-FFF2-40B4-BE49-F238E27FC236}">
                <a16:creationId xmlns:a16="http://schemas.microsoft.com/office/drawing/2014/main" id="{17569FA7-D79B-B727-2967-7EA8F26D5BF1}"/>
              </a:ext>
            </a:extLst>
          </p:cNvPr>
          <p:cNvGraphicFramePr/>
          <p:nvPr>
            <p:custDataLst>
              <p:tags r:id="rId4"/>
            </p:custDataLst>
            <p:extLst>
              <p:ext uri="{D42A27DB-BD31-4B8C-83A1-F6EECF244321}">
                <p14:modId xmlns:p14="http://schemas.microsoft.com/office/powerpoint/2010/main" val="3890790443"/>
              </p:ext>
            </p:extLst>
          </p:nvPr>
        </p:nvGraphicFramePr>
        <p:xfrm>
          <a:off x="3507478" y="2362444"/>
          <a:ext cx="4742904" cy="301752"/>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3" name="Shape_45901900">
            <a:extLst>
              <a:ext uri="{FF2B5EF4-FFF2-40B4-BE49-F238E27FC236}">
                <a16:creationId xmlns:a16="http://schemas.microsoft.com/office/drawing/2014/main" id="{0EF68CD8-9FA3-69A2-1C00-119F228F18DB}"/>
              </a:ext>
            </a:extLst>
          </p:cNvPr>
          <p:cNvGraphicFramePr/>
          <p:nvPr>
            <p:custDataLst>
              <p:tags r:id="rId5"/>
            </p:custDataLst>
            <p:extLst>
              <p:ext uri="{D42A27DB-BD31-4B8C-83A1-F6EECF244321}">
                <p14:modId xmlns:p14="http://schemas.microsoft.com/office/powerpoint/2010/main" val="656208387"/>
              </p:ext>
            </p:extLst>
          </p:nvPr>
        </p:nvGraphicFramePr>
        <p:xfrm>
          <a:off x="3507478" y="2664890"/>
          <a:ext cx="4742904" cy="301752"/>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4" name="Shape_45901900">
            <a:extLst>
              <a:ext uri="{FF2B5EF4-FFF2-40B4-BE49-F238E27FC236}">
                <a16:creationId xmlns:a16="http://schemas.microsoft.com/office/drawing/2014/main" id="{EC9C13C2-1E6D-2588-1DC5-7C1B8966006D}"/>
              </a:ext>
            </a:extLst>
          </p:cNvPr>
          <p:cNvGraphicFramePr/>
          <p:nvPr>
            <p:custDataLst>
              <p:tags r:id="rId6"/>
            </p:custDataLst>
            <p:extLst>
              <p:ext uri="{D42A27DB-BD31-4B8C-83A1-F6EECF244321}">
                <p14:modId xmlns:p14="http://schemas.microsoft.com/office/powerpoint/2010/main" val="630142107"/>
              </p:ext>
            </p:extLst>
          </p:nvPr>
        </p:nvGraphicFramePr>
        <p:xfrm>
          <a:off x="3507478" y="2967336"/>
          <a:ext cx="4742904" cy="301752"/>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5" name="Shape_45901900">
            <a:extLst>
              <a:ext uri="{FF2B5EF4-FFF2-40B4-BE49-F238E27FC236}">
                <a16:creationId xmlns:a16="http://schemas.microsoft.com/office/drawing/2014/main" id="{B37F5E3A-F4A2-21B4-948A-41D478E86774}"/>
              </a:ext>
            </a:extLst>
          </p:cNvPr>
          <p:cNvGraphicFramePr/>
          <p:nvPr>
            <p:custDataLst>
              <p:tags r:id="rId7"/>
            </p:custDataLst>
            <p:extLst>
              <p:ext uri="{D42A27DB-BD31-4B8C-83A1-F6EECF244321}">
                <p14:modId xmlns:p14="http://schemas.microsoft.com/office/powerpoint/2010/main" val="1955520157"/>
              </p:ext>
            </p:extLst>
          </p:nvPr>
        </p:nvGraphicFramePr>
        <p:xfrm>
          <a:off x="3507478" y="3269782"/>
          <a:ext cx="4742904" cy="301752"/>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8" name="Shape_45901900">
            <a:extLst>
              <a:ext uri="{FF2B5EF4-FFF2-40B4-BE49-F238E27FC236}">
                <a16:creationId xmlns:a16="http://schemas.microsoft.com/office/drawing/2014/main" id="{40E40DFE-77C2-2571-74DC-403D0D02FBB4}"/>
              </a:ext>
            </a:extLst>
          </p:cNvPr>
          <p:cNvGraphicFramePr/>
          <p:nvPr>
            <p:custDataLst>
              <p:tags r:id="rId8"/>
            </p:custDataLst>
            <p:extLst>
              <p:ext uri="{D42A27DB-BD31-4B8C-83A1-F6EECF244321}">
                <p14:modId xmlns:p14="http://schemas.microsoft.com/office/powerpoint/2010/main" val="1153199722"/>
              </p:ext>
            </p:extLst>
          </p:nvPr>
        </p:nvGraphicFramePr>
        <p:xfrm>
          <a:off x="3507478" y="3572228"/>
          <a:ext cx="4742904" cy="301752"/>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3" name="Shape_45901900">
            <a:extLst>
              <a:ext uri="{FF2B5EF4-FFF2-40B4-BE49-F238E27FC236}">
                <a16:creationId xmlns:a16="http://schemas.microsoft.com/office/drawing/2014/main" id="{CEC08805-8067-D32A-F931-54511C538D57}"/>
              </a:ext>
            </a:extLst>
          </p:cNvPr>
          <p:cNvGraphicFramePr/>
          <p:nvPr>
            <p:custDataLst>
              <p:tags r:id="rId9"/>
            </p:custDataLst>
            <p:extLst>
              <p:ext uri="{D42A27DB-BD31-4B8C-83A1-F6EECF244321}">
                <p14:modId xmlns:p14="http://schemas.microsoft.com/office/powerpoint/2010/main" val="4269469331"/>
              </p:ext>
            </p:extLst>
          </p:nvPr>
        </p:nvGraphicFramePr>
        <p:xfrm>
          <a:off x="3507478" y="3874674"/>
          <a:ext cx="4742904" cy="301752"/>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5" name="Shape_45901900">
            <a:extLst>
              <a:ext uri="{FF2B5EF4-FFF2-40B4-BE49-F238E27FC236}">
                <a16:creationId xmlns:a16="http://schemas.microsoft.com/office/drawing/2014/main" id="{709529CD-4130-5B8D-F174-4CBA6293DA79}"/>
              </a:ext>
            </a:extLst>
          </p:cNvPr>
          <p:cNvGraphicFramePr/>
          <p:nvPr>
            <p:custDataLst>
              <p:tags r:id="rId10"/>
            </p:custDataLst>
            <p:extLst>
              <p:ext uri="{D42A27DB-BD31-4B8C-83A1-F6EECF244321}">
                <p14:modId xmlns:p14="http://schemas.microsoft.com/office/powerpoint/2010/main" val="2838622849"/>
              </p:ext>
            </p:extLst>
          </p:nvPr>
        </p:nvGraphicFramePr>
        <p:xfrm>
          <a:off x="3507478" y="4177120"/>
          <a:ext cx="4742904" cy="301752"/>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29" name="Shape_45901900">
            <a:extLst>
              <a:ext uri="{FF2B5EF4-FFF2-40B4-BE49-F238E27FC236}">
                <a16:creationId xmlns:a16="http://schemas.microsoft.com/office/drawing/2014/main" id="{040F86E1-942B-B9D1-08CD-1B50476A1156}"/>
              </a:ext>
            </a:extLst>
          </p:cNvPr>
          <p:cNvGraphicFramePr/>
          <p:nvPr>
            <p:custDataLst>
              <p:tags r:id="rId11"/>
            </p:custDataLst>
            <p:extLst>
              <p:ext uri="{D42A27DB-BD31-4B8C-83A1-F6EECF244321}">
                <p14:modId xmlns:p14="http://schemas.microsoft.com/office/powerpoint/2010/main" val="4219435972"/>
              </p:ext>
            </p:extLst>
          </p:nvPr>
        </p:nvGraphicFramePr>
        <p:xfrm>
          <a:off x="3507478" y="4479566"/>
          <a:ext cx="4742904" cy="301752"/>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36" name="Shape_45901900">
            <a:extLst>
              <a:ext uri="{FF2B5EF4-FFF2-40B4-BE49-F238E27FC236}">
                <a16:creationId xmlns:a16="http://schemas.microsoft.com/office/drawing/2014/main" id="{3B86E8C4-173E-50AF-9820-105BF4FF2FB0}"/>
              </a:ext>
            </a:extLst>
          </p:cNvPr>
          <p:cNvGraphicFramePr/>
          <p:nvPr>
            <p:custDataLst>
              <p:tags r:id="rId12"/>
            </p:custDataLst>
            <p:extLst>
              <p:ext uri="{D42A27DB-BD31-4B8C-83A1-F6EECF244321}">
                <p14:modId xmlns:p14="http://schemas.microsoft.com/office/powerpoint/2010/main" val="1735583306"/>
              </p:ext>
            </p:extLst>
          </p:nvPr>
        </p:nvGraphicFramePr>
        <p:xfrm>
          <a:off x="3507478" y="4782012"/>
          <a:ext cx="4742904" cy="301752"/>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37" name="Shape_45901900">
            <a:extLst>
              <a:ext uri="{FF2B5EF4-FFF2-40B4-BE49-F238E27FC236}">
                <a16:creationId xmlns:a16="http://schemas.microsoft.com/office/drawing/2014/main" id="{F18FEB14-A30B-DE47-BEE5-9E4A24C5F3F2}"/>
              </a:ext>
            </a:extLst>
          </p:cNvPr>
          <p:cNvGraphicFramePr/>
          <p:nvPr>
            <p:custDataLst>
              <p:tags r:id="rId13"/>
            </p:custDataLst>
            <p:extLst>
              <p:ext uri="{D42A27DB-BD31-4B8C-83A1-F6EECF244321}">
                <p14:modId xmlns:p14="http://schemas.microsoft.com/office/powerpoint/2010/main" val="553807478"/>
              </p:ext>
            </p:extLst>
          </p:nvPr>
        </p:nvGraphicFramePr>
        <p:xfrm>
          <a:off x="3507478" y="5084458"/>
          <a:ext cx="4742904" cy="301752"/>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38" name="Shape_45901900">
            <a:extLst>
              <a:ext uri="{FF2B5EF4-FFF2-40B4-BE49-F238E27FC236}">
                <a16:creationId xmlns:a16="http://schemas.microsoft.com/office/drawing/2014/main" id="{0B907FF3-D18F-804C-F073-24825CA4373A}"/>
              </a:ext>
            </a:extLst>
          </p:cNvPr>
          <p:cNvGraphicFramePr/>
          <p:nvPr>
            <p:custDataLst>
              <p:tags r:id="rId14"/>
            </p:custDataLst>
            <p:extLst>
              <p:ext uri="{D42A27DB-BD31-4B8C-83A1-F6EECF244321}">
                <p14:modId xmlns:p14="http://schemas.microsoft.com/office/powerpoint/2010/main" val="2610396539"/>
              </p:ext>
            </p:extLst>
          </p:nvPr>
        </p:nvGraphicFramePr>
        <p:xfrm>
          <a:off x="3507478" y="5386904"/>
          <a:ext cx="4742904" cy="301752"/>
        </p:xfrm>
        <a:graphic>
          <a:graphicData uri="http://schemas.openxmlformats.org/drawingml/2006/chart">
            <c:chart xmlns:c="http://schemas.openxmlformats.org/drawingml/2006/chart" xmlns:r="http://schemas.openxmlformats.org/officeDocument/2006/relationships" r:id="rId33"/>
          </a:graphicData>
        </a:graphic>
      </p:graphicFrame>
      <p:graphicFrame>
        <p:nvGraphicFramePr>
          <p:cNvPr id="39" name="Shape_45901900">
            <a:extLst>
              <a:ext uri="{FF2B5EF4-FFF2-40B4-BE49-F238E27FC236}">
                <a16:creationId xmlns:a16="http://schemas.microsoft.com/office/drawing/2014/main" id="{FED16EAE-D2BA-436F-A0E1-6F2650AC32E1}"/>
              </a:ext>
            </a:extLst>
          </p:cNvPr>
          <p:cNvGraphicFramePr/>
          <p:nvPr>
            <p:custDataLst>
              <p:tags r:id="rId15"/>
            </p:custDataLst>
            <p:extLst>
              <p:ext uri="{D42A27DB-BD31-4B8C-83A1-F6EECF244321}">
                <p14:modId xmlns:p14="http://schemas.microsoft.com/office/powerpoint/2010/main" val="1868880591"/>
              </p:ext>
            </p:extLst>
          </p:nvPr>
        </p:nvGraphicFramePr>
        <p:xfrm>
          <a:off x="3507478" y="5689354"/>
          <a:ext cx="4742904" cy="301752"/>
        </p:xfrm>
        <a:graphic>
          <a:graphicData uri="http://schemas.openxmlformats.org/drawingml/2006/chart">
            <c:chart xmlns:c="http://schemas.openxmlformats.org/drawingml/2006/chart" xmlns:r="http://schemas.openxmlformats.org/officeDocument/2006/relationships" r:id="rId34"/>
          </a:graphicData>
        </a:graphic>
      </p:graphicFrame>
      <p:graphicFrame>
        <p:nvGraphicFramePr>
          <p:cNvPr id="45" name="Table 44">
            <a:extLst>
              <a:ext uri="{FF2B5EF4-FFF2-40B4-BE49-F238E27FC236}">
                <a16:creationId xmlns:a16="http://schemas.microsoft.com/office/drawing/2014/main" id="{2253924D-4A9A-E27D-D0D4-403A69245EB5}"/>
              </a:ext>
            </a:extLst>
          </p:cNvPr>
          <p:cNvGraphicFramePr>
            <a:graphicFrameLocks noGrp="1"/>
          </p:cNvGraphicFramePr>
          <p:nvPr>
            <p:custDataLst>
              <p:tags r:id="rId16"/>
            </p:custDataLst>
            <p:extLst>
              <p:ext uri="{D42A27DB-BD31-4B8C-83A1-F6EECF244321}">
                <p14:modId xmlns:p14="http://schemas.microsoft.com/office/powerpoint/2010/main" val="1038217764"/>
              </p:ext>
            </p:extLst>
          </p:nvPr>
        </p:nvGraphicFramePr>
        <p:xfrm>
          <a:off x="138093" y="1461594"/>
          <a:ext cx="3310832" cy="4536000"/>
        </p:xfrm>
        <a:graphic>
          <a:graphicData uri="http://schemas.openxmlformats.org/drawingml/2006/table">
            <a:tbl>
              <a:tblPr/>
              <a:tblGrid>
                <a:gridCol w="1024832">
                  <a:extLst>
                    <a:ext uri="{9D8B030D-6E8A-4147-A177-3AD203B41FA5}">
                      <a16:colId xmlns:a16="http://schemas.microsoft.com/office/drawing/2014/main" val="1264311597"/>
                    </a:ext>
                  </a:extLst>
                </a:gridCol>
                <a:gridCol w="2286000">
                  <a:extLst>
                    <a:ext uri="{9D8B030D-6E8A-4147-A177-3AD203B41FA5}">
                      <a16:colId xmlns:a16="http://schemas.microsoft.com/office/drawing/2014/main" val="2404896518"/>
                    </a:ext>
                  </a:extLst>
                </a:gridCol>
              </a:tblGrid>
              <a:tr h="302400">
                <a:tc rowSpan="3">
                  <a:txBody>
                    <a:bodyPr/>
                    <a:lstStyle/>
                    <a:p>
                      <a:pPr algn="ctr" fontAlgn="base"/>
                      <a:r>
                        <a:rPr lang="en-IN" sz="1100" b="1" i="0" u="none" strike="noStrike">
                          <a:solidFill>
                            <a:srgbClr val="071D49"/>
                          </a:solidFill>
                          <a:effectLst/>
                          <a:latin typeface="Arial" panose="020B0604020202020204" pitchFamily="34" charset="0"/>
                        </a:rPr>
                        <a:t>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Improves symptoms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25557939"/>
                  </a:ext>
                </a:extLst>
              </a:tr>
              <a:tr h="302400">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Highest 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96491395"/>
                  </a:ext>
                </a:extLst>
              </a:tr>
              <a:tr h="302400">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Benefits patient outcomes</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682538732"/>
                  </a:ext>
                </a:extLst>
              </a:tr>
              <a:tr h="302400">
                <a:tc rowSpan="5">
                  <a:txBody>
                    <a:bodyPr/>
                    <a:lstStyle/>
                    <a:p>
                      <a:pPr algn="ctr" fontAlgn="base"/>
                      <a:r>
                        <a:rPr lang="en-IN" sz="1100" b="1" i="0" u="none" strike="noStrike">
                          <a:solidFill>
                            <a:srgbClr val="071D49"/>
                          </a:solidFill>
                          <a:effectLst/>
                          <a:latin typeface="Arial" panose="020B0604020202020204" pitchFamily="34" charset="0"/>
                        </a:rPr>
                        <a:t>Access / Cost</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Best formulary / insurance coverage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R="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261342604"/>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Easiest to prescribe</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640867762"/>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support programs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835908944"/>
                  </a:ext>
                </a:extLst>
              </a:tr>
              <a:tr h="302400">
                <a:tc vMerge="1">
                  <a:txBody>
                    <a:bodyPr/>
                    <a:lstStyle/>
                    <a:p>
                      <a:endParaRPr lang="en-IN"/>
                    </a:p>
                  </a:txBody>
                  <a:tcPr/>
                </a:tc>
                <a:tc>
                  <a:txBody>
                    <a:bodyPr/>
                    <a:lstStyle/>
                    <a:p>
                      <a:pPr marL="0" marR="0" lvl="0" indent="0" algn="r" defTabSz="342906" rtl="0" eaLnBrk="1" fontAlgn="base"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71D49"/>
                          </a:solidFill>
                          <a:effectLst/>
                          <a:uLnTx/>
                          <a:uFillTx/>
                          <a:latin typeface="Arial" panose="020B0604020202020204" pitchFamily="34" charset="0"/>
                          <a:ea typeface="+mn-ea"/>
                          <a:cs typeface="+mn-cs"/>
                        </a:rPr>
                        <a:t>Co-pay assistance​</a:t>
                      </a:r>
                      <a:endParaRPr kumimoji="0" lang="en-IN" sz="15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90497247"/>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Lowest treatment cost​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059120990"/>
                  </a:ext>
                </a:extLst>
              </a:tr>
              <a:tr h="302400">
                <a:tc rowSpan="4">
                  <a:txBody>
                    <a:bodyPr/>
                    <a:lstStyle/>
                    <a:p>
                      <a:pPr algn="ctr" fontAlgn="base"/>
                      <a:r>
                        <a:rPr lang="en-IN" sz="1100" b="1" i="0" u="none" strike="noStrike">
                          <a:solidFill>
                            <a:srgbClr val="071D49"/>
                          </a:solidFill>
                          <a:effectLst/>
                          <a:latin typeface="Arial" panose="020B0604020202020204" pitchFamily="34" charset="0"/>
                        </a:rPr>
                        <a:t>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Simplest 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558153389"/>
                  </a:ext>
                </a:extLst>
              </a:tr>
              <a:tr h="302400">
                <a:tc vMerge="1">
                  <a:txBody>
                    <a:bodyPr/>
                    <a:lstStyle/>
                    <a:p>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Dosing flexibility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03662095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adherence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1486126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dosing options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23969247"/>
                  </a:ext>
                </a:extLst>
              </a:tr>
              <a:tr h="302400">
                <a:tc>
                  <a:txBody>
                    <a:bodyPr/>
                    <a:lstStyle/>
                    <a:p>
                      <a:pPr algn="ctr" fontAlgn="base"/>
                      <a:r>
                        <a:rPr lang="en-IN" sz="1100" b="1" i="0" u="none" strike="noStrike">
                          <a:solidFill>
                            <a:srgbClr val="071D49"/>
                          </a:solidFill>
                          <a:effectLst/>
                          <a:latin typeface="Arial" panose="020B0604020202020204" pitchFamily="34" charset="0"/>
                        </a:rPr>
                        <a:t>Safety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a:t>
                      </a:r>
                      <a:r>
                        <a:rPr lang="en-IN" sz="1100" b="0" i="0" u="none" strike="noStrike" err="1">
                          <a:solidFill>
                            <a:srgbClr val="071D49"/>
                          </a:solidFill>
                          <a:effectLst/>
                          <a:latin typeface="Arial" panose="020B0604020202020204" pitchFamily="34" charset="0"/>
                        </a:rPr>
                        <a:t>favorable</a:t>
                      </a:r>
                      <a:r>
                        <a:rPr lang="en-IN" sz="1100" b="0" i="0" u="none" strike="noStrike">
                          <a:solidFill>
                            <a:srgbClr val="071D49"/>
                          </a:solidFill>
                          <a:effectLst/>
                          <a:latin typeface="Arial" panose="020B0604020202020204" pitchFamily="34" charset="0"/>
                        </a:rPr>
                        <a:t> safety profile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714918309"/>
                  </a:ext>
                </a:extLst>
              </a:tr>
              <a:tr h="302400">
                <a:tc rowSpan="2">
                  <a:txBody>
                    <a:bodyPr/>
                    <a:lstStyle/>
                    <a:p>
                      <a:pPr algn="ctr" fontAlgn="base"/>
                      <a:r>
                        <a:rPr lang="en-IN" sz="1100" b="1" i="0" u="none" strike="noStrike">
                          <a:solidFill>
                            <a:srgbClr val="071D49"/>
                          </a:solidFill>
                          <a:effectLst/>
                          <a:latin typeface="Arial" panose="020B0604020202020204" pitchFamily="34" charset="0"/>
                        </a:rPr>
                        <a:t>Preference / Experience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Successful personal experience </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291063373"/>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Treatment is preferred by patients</a:t>
                      </a:r>
                      <a:r>
                        <a:rPr lang="en-US" sz="1100" b="0" i="0">
                          <a:solidFill>
                            <a:srgbClr val="071D49"/>
                          </a:solidFill>
                          <a:effectLst/>
                          <a:latin typeface="Arial" panose="020B0604020202020204" pitchFamily="34" charset="0"/>
                        </a:rPr>
                        <a:t>​</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032889508"/>
                  </a:ext>
                </a:extLst>
              </a:tr>
            </a:tbl>
          </a:graphicData>
        </a:graphic>
      </p:graphicFrame>
      <p:sp>
        <p:nvSpPr>
          <p:cNvPr id="46" name="TextBox 45">
            <a:extLst>
              <a:ext uri="{FF2B5EF4-FFF2-40B4-BE49-F238E27FC236}">
                <a16:creationId xmlns:a16="http://schemas.microsoft.com/office/drawing/2014/main" id="{E3EF0834-D1FC-8C17-0C6F-410A40BA2D28}"/>
              </a:ext>
            </a:extLst>
          </p:cNvPr>
          <p:cNvSpPr txBox="1"/>
          <p:nvPr/>
        </p:nvSpPr>
        <p:spPr>
          <a:xfrm>
            <a:off x="138095" y="1175743"/>
            <a:ext cx="331083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Attributes</a:t>
            </a:r>
            <a:endParaRPr kumimoji="0" lang="en-US" sz="1200" b="0" i="0" u="none" strike="noStrike" kern="1200" cap="none" spc="0" normalizeH="0" baseline="30000" noProof="0">
              <a:ln>
                <a:noFill/>
              </a:ln>
              <a:solidFill>
                <a:srgbClr val="FFFFFF"/>
              </a:solidFill>
              <a:effectLst/>
              <a:uLnTx/>
              <a:uFillTx/>
              <a:latin typeface="+mn-lt"/>
              <a:ea typeface="Calibri"/>
              <a:cs typeface="Arial" panose="020B0604020202020204" pitchFamily="34" charset="0"/>
              <a:sym typeface="Calibri"/>
            </a:endParaRPr>
          </a:p>
        </p:txBody>
      </p:sp>
      <p:graphicFrame>
        <p:nvGraphicFramePr>
          <p:cNvPr id="47" name="wave table OCQ">
            <a:extLst>
              <a:ext uri="{FF2B5EF4-FFF2-40B4-BE49-F238E27FC236}">
                <a16:creationId xmlns:a16="http://schemas.microsoft.com/office/drawing/2014/main" id="{B3761B99-E770-CD8E-F6E1-55F0C50668A0}"/>
              </a:ext>
            </a:extLst>
          </p:cNvPr>
          <p:cNvGraphicFramePr>
            <a:graphicFrameLocks noGrp="1"/>
          </p:cNvGraphicFramePr>
          <p:nvPr>
            <p:custDataLst>
              <p:tags r:id="rId17"/>
            </p:custDataLst>
            <p:extLst>
              <p:ext uri="{D42A27DB-BD31-4B8C-83A1-F6EECF244321}">
                <p14:modId xmlns:p14="http://schemas.microsoft.com/office/powerpoint/2010/main" val="3814527037"/>
              </p:ext>
            </p:extLst>
          </p:nvPr>
        </p:nvGraphicFramePr>
        <p:xfrm>
          <a:off x="3667710" y="1176526"/>
          <a:ext cx="4388154" cy="274320"/>
        </p:xfrm>
        <a:graphic>
          <a:graphicData uri="http://schemas.openxmlformats.org/drawingml/2006/table">
            <a:tbl>
              <a:tblPr firstRow="1" bandRow="1">
                <a:tableStyleId>{B301B821-A1FF-4177-AEE7-76D212191A09}</a:tableStyleId>
              </a:tblPr>
              <a:tblGrid>
                <a:gridCol w="731359">
                  <a:extLst>
                    <a:ext uri="{9D8B030D-6E8A-4147-A177-3AD203B41FA5}">
                      <a16:colId xmlns:a16="http://schemas.microsoft.com/office/drawing/2014/main" val="3554599800"/>
                    </a:ext>
                  </a:extLst>
                </a:gridCol>
                <a:gridCol w="731359">
                  <a:extLst>
                    <a:ext uri="{9D8B030D-6E8A-4147-A177-3AD203B41FA5}">
                      <a16:colId xmlns:a16="http://schemas.microsoft.com/office/drawing/2014/main" val="2914776207"/>
                    </a:ext>
                  </a:extLst>
                </a:gridCol>
                <a:gridCol w="731359">
                  <a:extLst>
                    <a:ext uri="{9D8B030D-6E8A-4147-A177-3AD203B41FA5}">
                      <a16:colId xmlns:a16="http://schemas.microsoft.com/office/drawing/2014/main" val="2088702262"/>
                    </a:ext>
                  </a:extLst>
                </a:gridCol>
                <a:gridCol w="731359">
                  <a:extLst>
                    <a:ext uri="{9D8B030D-6E8A-4147-A177-3AD203B41FA5}">
                      <a16:colId xmlns:a16="http://schemas.microsoft.com/office/drawing/2014/main" val="192097877"/>
                    </a:ext>
                  </a:extLst>
                </a:gridCol>
                <a:gridCol w="731359">
                  <a:extLst>
                    <a:ext uri="{9D8B030D-6E8A-4147-A177-3AD203B41FA5}">
                      <a16:colId xmlns:a16="http://schemas.microsoft.com/office/drawing/2014/main" val="1326389649"/>
                    </a:ext>
                  </a:extLst>
                </a:gridCol>
                <a:gridCol w="731359">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29</a:t>
                      </a:r>
                      <a:r>
                        <a:rPr lang="en-IN" sz="800" b="1" i="1" u="none" strike="noStrike" kern="1200">
                          <a:solidFill>
                            <a:srgbClr val="FF0000"/>
                          </a:solidFill>
                          <a:effectLst/>
                          <a:latin typeface="+mn-lt"/>
                          <a:ea typeface="+mn-ea"/>
                          <a:cs typeface="+mn-cs"/>
                        </a:rPr>
                        <a:t>*</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24</a:t>
                      </a:r>
                      <a:r>
                        <a:rPr lang="en-IN" sz="800" b="1" i="1" u="none" strike="noStrike" kern="1200">
                          <a:solidFill>
                            <a:srgbClr val="FF0000"/>
                          </a:solidFill>
                          <a:effectLst/>
                          <a:latin typeface="+mn-lt"/>
                          <a:ea typeface="+mn-ea"/>
                          <a:cs typeface="+mn-cs"/>
                        </a:rPr>
                        <a:t>*</a:t>
                      </a:r>
                      <a:endParaRPr lang="en-IN" sz="800" b="1" i="1" u="none" strike="noStrike" kern="1200">
                        <a:solidFill>
                          <a:srgbClr val="071D49"/>
                        </a:solidFill>
                        <a:effectLst/>
                        <a:latin typeface="+mn-lt"/>
                        <a:ea typeface="+mn-ea"/>
                        <a:cs typeface="+mn-cs"/>
                      </a:endParaRP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38</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32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33</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1" u="none" strike="noStrike" kern="1200">
                          <a:solidFill>
                            <a:srgbClr val="071D49"/>
                          </a:solidFill>
                          <a:effectLst/>
                          <a:latin typeface="+mn-lt"/>
                          <a:ea typeface="+mn-ea"/>
                          <a:cs typeface="+mn-cs"/>
                        </a:rPr>
                        <a:t>41</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grpSp>
        <p:nvGrpSpPr>
          <p:cNvPr id="48" name="Group 47">
            <a:extLst>
              <a:ext uri="{FF2B5EF4-FFF2-40B4-BE49-F238E27FC236}">
                <a16:creationId xmlns:a16="http://schemas.microsoft.com/office/drawing/2014/main" id="{C43ECA5A-DF4A-0027-A702-7CAD669C7F3C}"/>
              </a:ext>
            </a:extLst>
          </p:cNvPr>
          <p:cNvGrpSpPr/>
          <p:nvPr/>
        </p:nvGrpSpPr>
        <p:grpSpPr>
          <a:xfrm>
            <a:off x="3484109" y="1176526"/>
            <a:ext cx="367208" cy="274320"/>
            <a:chOff x="3025674" y="1399945"/>
            <a:chExt cx="367208" cy="274320"/>
          </a:xfrm>
        </p:grpSpPr>
        <p:sp>
          <p:nvSpPr>
            <p:cNvPr id="49" name="Rectangle 48">
              <a:extLst>
                <a:ext uri="{FF2B5EF4-FFF2-40B4-BE49-F238E27FC236}">
                  <a16:creationId xmlns:a16="http://schemas.microsoft.com/office/drawing/2014/main" id="{D31001DC-67BA-C801-D3C6-D84A61C32BF4}"/>
                </a:ext>
              </a:extLst>
            </p:cNvPr>
            <p:cNvSpPr/>
            <p:nvPr/>
          </p:nvSpPr>
          <p:spPr>
            <a:xfrm>
              <a:off x="3025674" y="1544154"/>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n size</a:t>
              </a:r>
            </a:p>
          </p:txBody>
        </p:sp>
        <p:sp>
          <p:nvSpPr>
            <p:cNvPr id="50" name="Rectangle 49">
              <a:extLst>
                <a:ext uri="{FF2B5EF4-FFF2-40B4-BE49-F238E27FC236}">
                  <a16:creationId xmlns:a16="http://schemas.microsoft.com/office/drawing/2014/main" id="{9D840B22-2F1E-4127-5DA8-39498FA009FE}"/>
                </a:ext>
              </a:extLst>
            </p:cNvPr>
            <p:cNvSpPr/>
            <p:nvPr/>
          </p:nvSpPr>
          <p:spPr>
            <a:xfrm>
              <a:off x="3025674" y="1399945"/>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R3M</a:t>
              </a:r>
            </a:p>
          </p:txBody>
        </p:sp>
      </p:grpSp>
      <p:graphicFrame>
        <p:nvGraphicFramePr>
          <p:cNvPr id="4" name="Table 3">
            <a:extLst>
              <a:ext uri="{FF2B5EF4-FFF2-40B4-BE49-F238E27FC236}">
                <a16:creationId xmlns:a16="http://schemas.microsoft.com/office/drawing/2014/main" id="{9594A68F-43B4-4C4D-FF3C-293FCAD8752C}"/>
              </a:ext>
            </a:extLst>
          </p:cNvPr>
          <p:cNvGraphicFramePr>
            <a:graphicFrameLocks noGrp="1"/>
          </p:cNvGraphicFramePr>
          <p:nvPr>
            <p:extLst>
              <p:ext uri="{D42A27DB-BD31-4B8C-83A1-F6EECF244321}">
                <p14:modId xmlns:p14="http://schemas.microsoft.com/office/powerpoint/2010/main" val="2907673518"/>
              </p:ext>
            </p:extLst>
          </p:nvPr>
        </p:nvGraphicFramePr>
        <p:xfrm>
          <a:off x="7944885" y="869064"/>
          <a:ext cx="1088554" cy="5105016"/>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288873">
                <a:tc gridSpan="2">
                  <a:txBody>
                    <a:bodyPr/>
                    <a:lstStyle/>
                    <a:p>
                      <a:pPr algn="ctr"/>
                      <a:r>
                        <a:rPr lang="en-IN" sz="1000">
                          <a:solidFill>
                            <a:schemeClr val="tx1"/>
                          </a:solidFill>
                          <a:latin typeface="Arial" panose="020B0604020202020204" pitchFamily="34" charset="0"/>
                        </a:rPr>
                        <a:t>CREON</a:t>
                      </a:r>
                    </a:p>
                    <a:p>
                      <a:pPr algn="ctr"/>
                      <a:r>
                        <a:rPr lang="en-IN" sz="900" b="1">
                          <a:solidFill>
                            <a:schemeClr val="tx1"/>
                          </a:solidFill>
                          <a:latin typeface="Arial" panose="020B0604020202020204" pitchFamily="34" charset="0"/>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289176">
                <a:tc>
                  <a:txBody>
                    <a:bodyPr/>
                    <a:lstStyle/>
                    <a:p>
                      <a:pPr algn="ctr"/>
                      <a:r>
                        <a:rPr lang="en-IN" sz="900">
                          <a:solidFill>
                            <a:schemeClr val="tx1">
                              <a:lumMod val="50000"/>
                            </a:schemeClr>
                          </a:solidFill>
                        </a:rPr>
                        <a:t>3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900">
                          <a:solidFill>
                            <a:schemeClr val="tx1">
                              <a:lumMod val="50000"/>
                            </a:schemeClr>
                          </a:solidFill>
                        </a:rPr>
                        <a:t>6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438046896"/>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62218365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4324521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3105315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8480035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4503228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74221756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70728571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292154125"/>
                  </a:ext>
                </a:extLst>
              </a:tr>
            </a:tbl>
          </a:graphicData>
        </a:graphic>
      </p:graphicFrame>
      <p:sp>
        <p:nvSpPr>
          <p:cNvPr id="17" name="Google Shape;1785;p46">
            <a:extLst>
              <a:ext uri="{FF2B5EF4-FFF2-40B4-BE49-F238E27FC236}">
                <a16:creationId xmlns:a16="http://schemas.microsoft.com/office/drawing/2014/main" id="{1581B050-C2EE-A56D-D77C-796D4B9C2077}"/>
              </a:ext>
            </a:extLst>
          </p:cNvPr>
          <p:cNvSpPr txBox="1"/>
          <p:nvPr/>
        </p:nvSpPr>
        <p:spPr>
          <a:xfrm>
            <a:off x="263257" y="5975686"/>
            <a:ext cx="863793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No statistically significant (p&lt;.05) difference between previous waves | Stat test was not performed due to low sample size (n&lt;30)</a:t>
            </a:r>
          </a:p>
        </p:txBody>
      </p:sp>
    </p:spTree>
    <p:extLst>
      <p:ext uri="{BB962C8B-B14F-4D97-AF65-F5344CB8AC3E}">
        <p14:creationId xmlns:p14="http://schemas.microsoft.com/office/powerpoint/2010/main" val="1368638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D237A386-371E-4026-A87C-265978911335}"/>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D54CA0D9-5E59-9082-5C31-B89EAE7A4EED}"/>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Among NP/PAs, CREON declined across most attributes over the past three months, with a significant drop in “improves symptoms”; CREON also declined across all attributes over the past six months, with significant decline in most access and safety attributes</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10" name="Google Shape;1755;p46">
            <a:extLst>
              <a:ext uri="{FF2B5EF4-FFF2-40B4-BE49-F238E27FC236}">
                <a16:creationId xmlns:a16="http://schemas.microsoft.com/office/drawing/2014/main" id="{B0745E01-B51D-693C-6AFA-A36A0C1A4A6E}"/>
              </a:ext>
            </a:extLst>
          </p:cNvPr>
          <p:cNvSpPr/>
          <p:nvPr/>
        </p:nvSpPr>
        <p:spPr>
          <a:xfrm>
            <a:off x="361047" y="705266"/>
            <a:ext cx="8049180"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Arial" panose="020B0604020202020204" pitchFamily="34" charset="0"/>
                <a:sym typeface="Calibri"/>
              </a:rPr>
              <a:t>CREON </a:t>
            </a:r>
            <a:r>
              <a:rPr kumimoji="0" lang="en-GB" sz="1400" b="1" i="0" u="sng" strike="noStrike" kern="0" cap="none" spc="0" normalizeH="0" baseline="0" noProof="0">
                <a:ln>
                  <a:noFill/>
                </a:ln>
                <a:solidFill>
                  <a:srgbClr val="071D49"/>
                </a:solidFill>
                <a:effectLst/>
                <a:uLnTx/>
                <a:uFillTx/>
                <a:latin typeface="+mn-lt"/>
                <a:ea typeface="+mn-ea"/>
                <a:cs typeface="Arial" panose="020B0604020202020204" pitchFamily="34" charset="0"/>
                <a:sym typeface="Calibri"/>
              </a:rPr>
              <a:t>Product Performance Across Attributes – NP/PA</a:t>
            </a:r>
          </a:p>
        </p:txBody>
      </p:sp>
      <p:sp>
        <p:nvSpPr>
          <p:cNvPr id="3" name="Google Shape;1583;p40">
            <a:extLst>
              <a:ext uri="{FF2B5EF4-FFF2-40B4-BE49-F238E27FC236}">
                <a16:creationId xmlns:a16="http://schemas.microsoft.com/office/drawing/2014/main" id="{0DB9A497-5F33-70A0-6CBA-7DA99DBD2318}"/>
              </a:ext>
            </a:extLst>
          </p:cNvPr>
          <p:cNvSpPr/>
          <p:nvPr/>
        </p:nvSpPr>
        <p:spPr>
          <a:xfrm>
            <a:off x="3924000" y="6712358"/>
            <a:ext cx="1296000" cy="138499"/>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1" u="none" strike="noStrike" kern="0" cap="none" spc="0" normalizeH="0" baseline="0" noProof="0">
                <a:ln>
                  <a:noFill/>
                </a:ln>
                <a:solidFill>
                  <a:srgbClr val="FF0000"/>
                </a:solidFill>
                <a:effectLst/>
                <a:uLnTx/>
                <a:uFillTx/>
                <a:latin typeface="+mn-lt"/>
                <a:ea typeface="Calibri"/>
                <a:cs typeface="Arial" panose="020B0604020202020204" pitchFamily="34" charset="0"/>
                <a:sym typeface="Calibri"/>
              </a:rPr>
              <a:t>* Low Sample Size</a:t>
            </a:r>
            <a:endParaRPr kumimoji="0" lang="en-US" sz="105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8" name="Google Shape;1368;p33">
            <a:extLst>
              <a:ext uri="{FF2B5EF4-FFF2-40B4-BE49-F238E27FC236}">
                <a16:creationId xmlns:a16="http://schemas.microsoft.com/office/drawing/2014/main" id="{BB0C2429-8A4C-0560-51B6-E714CE5B1409}"/>
              </a:ext>
            </a:extLst>
          </p:cNvPr>
          <p:cNvSpPr/>
          <p:nvPr/>
        </p:nvSpPr>
        <p:spPr>
          <a:xfrm>
            <a:off x="4731494" y="5860087"/>
            <a:ext cx="2134751"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interactions (Rating 6,7)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graphicFrame>
        <p:nvGraphicFramePr>
          <p:cNvPr id="5" name="NPPA Prod pef">
            <a:extLst>
              <a:ext uri="{FF2B5EF4-FFF2-40B4-BE49-F238E27FC236}">
                <a16:creationId xmlns:a16="http://schemas.microsoft.com/office/drawing/2014/main" id="{990CF4DF-DB74-739E-6685-F8B6E5E51890}"/>
              </a:ext>
            </a:extLst>
          </p:cNvPr>
          <p:cNvGraphicFramePr/>
          <p:nvPr>
            <p:custDataLst>
              <p:tags r:id="rId1"/>
            </p:custDataLst>
            <p:extLst>
              <p:ext uri="{D42A27DB-BD31-4B8C-83A1-F6EECF244321}">
                <p14:modId xmlns:p14="http://schemas.microsoft.com/office/powerpoint/2010/main" val="376147637"/>
              </p:ext>
            </p:extLst>
          </p:nvPr>
        </p:nvGraphicFramePr>
        <p:xfrm>
          <a:off x="3588776" y="1455106"/>
          <a:ext cx="4672578" cy="301752"/>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6" name="NPPA Prod pef">
            <a:extLst>
              <a:ext uri="{FF2B5EF4-FFF2-40B4-BE49-F238E27FC236}">
                <a16:creationId xmlns:a16="http://schemas.microsoft.com/office/drawing/2014/main" id="{44D0B6FE-BCBF-770A-4093-B975A25D3F10}"/>
              </a:ext>
            </a:extLst>
          </p:cNvPr>
          <p:cNvGraphicFramePr/>
          <p:nvPr>
            <p:custDataLst>
              <p:tags r:id="rId2"/>
            </p:custDataLst>
            <p:extLst>
              <p:ext uri="{D42A27DB-BD31-4B8C-83A1-F6EECF244321}">
                <p14:modId xmlns:p14="http://schemas.microsoft.com/office/powerpoint/2010/main" val="2304191155"/>
              </p:ext>
            </p:extLst>
          </p:nvPr>
        </p:nvGraphicFramePr>
        <p:xfrm>
          <a:off x="3588776" y="1757552"/>
          <a:ext cx="4672578" cy="301752"/>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 name="NPPA Prod pef">
            <a:extLst>
              <a:ext uri="{FF2B5EF4-FFF2-40B4-BE49-F238E27FC236}">
                <a16:creationId xmlns:a16="http://schemas.microsoft.com/office/drawing/2014/main" id="{859CCE61-E5DB-DB4D-274C-7572B0B2DB86}"/>
              </a:ext>
            </a:extLst>
          </p:cNvPr>
          <p:cNvGraphicFramePr/>
          <p:nvPr>
            <p:custDataLst>
              <p:tags r:id="rId3"/>
            </p:custDataLst>
            <p:extLst>
              <p:ext uri="{D42A27DB-BD31-4B8C-83A1-F6EECF244321}">
                <p14:modId xmlns:p14="http://schemas.microsoft.com/office/powerpoint/2010/main" val="2910272582"/>
              </p:ext>
            </p:extLst>
          </p:nvPr>
        </p:nvGraphicFramePr>
        <p:xfrm>
          <a:off x="3588776" y="2059998"/>
          <a:ext cx="4672578" cy="301752"/>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4" name="NPPA Prod pef">
            <a:extLst>
              <a:ext uri="{FF2B5EF4-FFF2-40B4-BE49-F238E27FC236}">
                <a16:creationId xmlns:a16="http://schemas.microsoft.com/office/drawing/2014/main" id="{23710942-97CA-BB2E-2681-BF0B1463D265}"/>
              </a:ext>
            </a:extLst>
          </p:cNvPr>
          <p:cNvGraphicFramePr/>
          <p:nvPr>
            <p:custDataLst>
              <p:tags r:id="rId4"/>
            </p:custDataLst>
            <p:extLst>
              <p:ext uri="{D42A27DB-BD31-4B8C-83A1-F6EECF244321}">
                <p14:modId xmlns:p14="http://schemas.microsoft.com/office/powerpoint/2010/main" val="1358666886"/>
              </p:ext>
            </p:extLst>
          </p:nvPr>
        </p:nvGraphicFramePr>
        <p:xfrm>
          <a:off x="3588776" y="2362444"/>
          <a:ext cx="4672578" cy="301752"/>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NPPA Prod pef">
            <a:extLst>
              <a:ext uri="{FF2B5EF4-FFF2-40B4-BE49-F238E27FC236}">
                <a16:creationId xmlns:a16="http://schemas.microsoft.com/office/drawing/2014/main" id="{CA8236FB-2027-BCF7-D129-8AF75D6E17EF}"/>
              </a:ext>
            </a:extLst>
          </p:cNvPr>
          <p:cNvGraphicFramePr/>
          <p:nvPr>
            <p:custDataLst>
              <p:tags r:id="rId5"/>
            </p:custDataLst>
            <p:extLst>
              <p:ext uri="{D42A27DB-BD31-4B8C-83A1-F6EECF244321}">
                <p14:modId xmlns:p14="http://schemas.microsoft.com/office/powerpoint/2010/main" val="1305857940"/>
              </p:ext>
            </p:extLst>
          </p:nvPr>
        </p:nvGraphicFramePr>
        <p:xfrm>
          <a:off x="3588776" y="2664890"/>
          <a:ext cx="4672578" cy="301752"/>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6" name="NPPA Prod pef">
            <a:extLst>
              <a:ext uri="{FF2B5EF4-FFF2-40B4-BE49-F238E27FC236}">
                <a16:creationId xmlns:a16="http://schemas.microsoft.com/office/drawing/2014/main" id="{E81EC751-D200-7F9C-FE02-38E08A5D13C2}"/>
              </a:ext>
            </a:extLst>
          </p:cNvPr>
          <p:cNvGraphicFramePr/>
          <p:nvPr>
            <p:custDataLst>
              <p:tags r:id="rId6"/>
            </p:custDataLst>
            <p:extLst>
              <p:ext uri="{D42A27DB-BD31-4B8C-83A1-F6EECF244321}">
                <p14:modId xmlns:p14="http://schemas.microsoft.com/office/powerpoint/2010/main" val="3249280253"/>
              </p:ext>
            </p:extLst>
          </p:nvPr>
        </p:nvGraphicFramePr>
        <p:xfrm>
          <a:off x="3588776" y="2967336"/>
          <a:ext cx="4672578" cy="301752"/>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7" name="NPPA Prod pef">
            <a:extLst>
              <a:ext uri="{FF2B5EF4-FFF2-40B4-BE49-F238E27FC236}">
                <a16:creationId xmlns:a16="http://schemas.microsoft.com/office/drawing/2014/main" id="{B94F776E-0EF6-7A95-BEDA-0C32DB7F6C45}"/>
              </a:ext>
            </a:extLst>
          </p:cNvPr>
          <p:cNvGraphicFramePr/>
          <p:nvPr>
            <p:custDataLst>
              <p:tags r:id="rId7"/>
            </p:custDataLst>
            <p:extLst>
              <p:ext uri="{D42A27DB-BD31-4B8C-83A1-F6EECF244321}">
                <p14:modId xmlns:p14="http://schemas.microsoft.com/office/powerpoint/2010/main" val="1821449894"/>
              </p:ext>
            </p:extLst>
          </p:nvPr>
        </p:nvGraphicFramePr>
        <p:xfrm>
          <a:off x="3588776" y="3269782"/>
          <a:ext cx="4672578" cy="301752"/>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8" name="NPPA Prod pef">
            <a:extLst>
              <a:ext uri="{FF2B5EF4-FFF2-40B4-BE49-F238E27FC236}">
                <a16:creationId xmlns:a16="http://schemas.microsoft.com/office/drawing/2014/main" id="{40FDD2F8-F840-46C3-41C8-35EE7EFECC9D}"/>
              </a:ext>
            </a:extLst>
          </p:cNvPr>
          <p:cNvGraphicFramePr/>
          <p:nvPr>
            <p:custDataLst>
              <p:tags r:id="rId8"/>
            </p:custDataLst>
            <p:extLst>
              <p:ext uri="{D42A27DB-BD31-4B8C-83A1-F6EECF244321}">
                <p14:modId xmlns:p14="http://schemas.microsoft.com/office/powerpoint/2010/main" val="1443552077"/>
              </p:ext>
            </p:extLst>
          </p:nvPr>
        </p:nvGraphicFramePr>
        <p:xfrm>
          <a:off x="3588776" y="3572228"/>
          <a:ext cx="4672578" cy="301752"/>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9" name="NPPA Prod pef">
            <a:extLst>
              <a:ext uri="{FF2B5EF4-FFF2-40B4-BE49-F238E27FC236}">
                <a16:creationId xmlns:a16="http://schemas.microsoft.com/office/drawing/2014/main" id="{F0E5FE4D-0ED3-27DD-A5F3-CA2F733D3DAA}"/>
              </a:ext>
            </a:extLst>
          </p:cNvPr>
          <p:cNvGraphicFramePr/>
          <p:nvPr>
            <p:custDataLst>
              <p:tags r:id="rId9"/>
            </p:custDataLst>
            <p:extLst>
              <p:ext uri="{D42A27DB-BD31-4B8C-83A1-F6EECF244321}">
                <p14:modId xmlns:p14="http://schemas.microsoft.com/office/powerpoint/2010/main" val="2134612779"/>
              </p:ext>
            </p:extLst>
          </p:nvPr>
        </p:nvGraphicFramePr>
        <p:xfrm>
          <a:off x="3588776" y="3874674"/>
          <a:ext cx="4672578" cy="301752"/>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0" name="NPPA Prod pef">
            <a:extLst>
              <a:ext uri="{FF2B5EF4-FFF2-40B4-BE49-F238E27FC236}">
                <a16:creationId xmlns:a16="http://schemas.microsoft.com/office/drawing/2014/main" id="{726AA059-235E-96B0-1471-DE70044AF221}"/>
              </a:ext>
            </a:extLst>
          </p:cNvPr>
          <p:cNvGraphicFramePr/>
          <p:nvPr>
            <p:custDataLst>
              <p:tags r:id="rId10"/>
            </p:custDataLst>
            <p:extLst>
              <p:ext uri="{D42A27DB-BD31-4B8C-83A1-F6EECF244321}">
                <p14:modId xmlns:p14="http://schemas.microsoft.com/office/powerpoint/2010/main" val="2857381449"/>
              </p:ext>
            </p:extLst>
          </p:nvPr>
        </p:nvGraphicFramePr>
        <p:xfrm>
          <a:off x="3588776" y="4177120"/>
          <a:ext cx="4672578" cy="301752"/>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21" name="NPPA Prod pef">
            <a:extLst>
              <a:ext uri="{FF2B5EF4-FFF2-40B4-BE49-F238E27FC236}">
                <a16:creationId xmlns:a16="http://schemas.microsoft.com/office/drawing/2014/main" id="{F29E7C8B-CEE4-CE4E-B294-8785F45FEB31}"/>
              </a:ext>
            </a:extLst>
          </p:cNvPr>
          <p:cNvGraphicFramePr/>
          <p:nvPr>
            <p:custDataLst>
              <p:tags r:id="rId11"/>
            </p:custDataLst>
            <p:extLst>
              <p:ext uri="{D42A27DB-BD31-4B8C-83A1-F6EECF244321}">
                <p14:modId xmlns:p14="http://schemas.microsoft.com/office/powerpoint/2010/main" val="2383240326"/>
              </p:ext>
            </p:extLst>
          </p:nvPr>
        </p:nvGraphicFramePr>
        <p:xfrm>
          <a:off x="3588776" y="4479566"/>
          <a:ext cx="4672578" cy="301752"/>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22" name="NPPA Prod pef">
            <a:extLst>
              <a:ext uri="{FF2B5EF4-FFF2-40B4-BE49-F238E27FC236}">
                <a16:creationId xmlns:a16="http://schemas.microsoft.com/office/drawing/2014/main" id="{911E50CB-609C-C431-A760-D2504EC9D2F7}"/>
              </a:ext>
            </a:extLst>
          </p:cNvPr>
          <p:cNvGraphicFramePr/>
          <p:nvPr>
            <p:custDataLst>
              <p:tags r:id="rId12"/>
            </p:custDataLst>
            <p:extLst>
              <p:ext uri="{D42A27DB-BD31-4B8C-83A1-F6EECF244321}">
                <p14:modId xmlns:p14="http://schemas.microsoft.com/office/powerpoint/2010/main" val="3847682204"/>
              </p:ext>
            </p:extLst>
          </p:nvPr>
        </p:nvGraphicFramePr>
        <p:xfrm>
          <a:off x="3588776" y="4782012"/>
          <a:ext cx="4672578" cy="301752"/>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23" name="NPPA Prod pef">
            <a:extLst>
              <a:ext uri="{FF2B5EF4-FFF2-40B4-BE49-F238E27FC236}">
                <a16:creationId xmlns:a16="http://schemas.microsoft.com/office/drawing/2014/main" id="{43DF7CF4-298B-01FB-DA01-4A5342BCFD3B}"/>
              </a:ext>
            </a:extLst>
          </p:cNvPr>
          <p:cNvGraphicFramePr/>
          <p:nvPr>
            <p:custDataLst>
              <p:tags r:id="rId13"/>
            </p:custDataLst>
            <p:extLst>
              <p:ext uri="{D42A27DB-BD31-4B8C-83A1-F6EECF244321}">
                <p14:modId xmlns:p14="http://schemas.microsoft.com/office/powerpoint/2010/main" val="2380419769"/>
              </p:ext>
            </p:extLst>
          </p:nvPr>
        </p:nvGraphicFramePr>
        <p:xfrm>
          <a:off x="3588776" y="5084458"/>
          <a:ext cx="4672578" cy="301752"/>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24" name="NPPA Prod pef">
            <a:extLst>
              <a:ext uri="{FF2B5EF4-FFF2-40B4-BE49-F238E27FC236}">
                <a16:creationId xmlns:a16="http://schemas.microsoft.com/office/drawing/2014/main" id="{9751F7D9-4FE7-4A51-ABA9-6B6061C1A8C8}"/>
              </a:ext>
            </a:extLst>
          </p:cNvPr>
          <p:cNvGraphicFramePr/>
          <p:nvPr>
            <p:custDataLst>
              <p:tags r:id="rId14"/>
            </p:custDataLst>
            <p:extLst>
              <p:ext uri="{D42A27DB-BD31-4B8C-83A1-F6EECF244321}">
                <p14:modId xmlns:p14="http://schemas.microsoft.com/office/powerpoint/2010/main" val="1457864555"/>
              </p:ext>
            </p:extLst>
          </p:nvPr>
        </p:nvGraphicFramePr>
        <p:xfrm>
          <a:off x="3588776" y="5386904"/>
          <a:ext cx="4672578" cy="301752"/>
        </p:xfrm>
        <a:graphic>
          <a:graphicData uri="http://schemas.openxmlformats.org/drawingml/2006/chart">
            <c:chart xmlns:c="http://schemas.openxmlformats.org/drawingml/2006/chart" xmlns:r="http://schemas.openxmlformats.org/officeDocument/2006/relationships" r:id="rId33"/>
          </a:graphicData>
        </a:graphic>
      </p:graphicFrame>
      <p:graphicFrame>
        <p:nvGraphicFramePr>
          <p:cNvPr id="25" name="NPPA Prod pef">
            <a:extLst>
              <a:ext uri="{FF2B5EF4-FFF2-40B4-BE49-F238E27FC236}">
                <a16:creationId xmlns:a16="http://schemas.microsoft.com/office/drawing/2014/main" id="{2AEEE043-0A4D-32F2-4E02-1133CD7C3606}"/>
              </a:ext>
            </a:extLst>
          </p:cNvPr>
          <p:cNvGraphicFramePr/>
          <p:nvPr>
            <p:custDataLst>
              <p:tags r:id="rId15"/>
            </p:custDataLst>
            <p:extLst>
              <p:ext uri="{D42A27DB-BD31-4B8C-83A1-F6EECF244321}">
                <p14:modId xmlns:p14="http://schemas.microsoft.com/office/powerpoint/2010/main" val="2241914323"/>
              </p:ext>
            </p:extLst>
          </p:nvPr>
        </p:nvGraphicFramePr>
        <p:xfrm>
          <a:off x="3588776" y="5689354"/>
          <a:ext cx="4672578" cy="301752"/>
        </p:xfrm>
        <a:graphic>
          <a:graphicData uri="http://schemas.openxmlformats.org/drawingml/2006/chart">
            <c:chart xmlns:c="http://schemas.openxmlformats.org/drawingml/2006/chart" xmlns:r="http://schemas.openxmlformats.org/officeDocument/2006/relationships" r:id="rId34"/>
          </a:graphicData>
        </a:graphic>
      </p:graphicFrame>
      <p:graphicFrame>
        <p:nvGraphicFramePr>
          <p:cNvPr id="28" name="Table 27">
            <a:extLst>
              <a:ext uri="{FF2B5EF4-FFF2-40B4-BE49-F238E27FC236}">
                <a16:creationId xmlns:a16="http://schemas.microsoft.com/office/drawing/2014/main" id="{BCEDF64F-94D1-C813-538E-42A543FD32B0}"/>
              </a:ext>
            </a:extLst>
          </p:cNvPr>
          <p:cNvGraphicFramePr>
            <a:graphicFrameLocks noGrp="1"/>
          </p:cNvGraphicFramePr>
          <p:nvPr>
            <p:custDataLst>
              <p:tags r:id="rId16"/>
            </p:custDataLst>
            <p:extLst>
              <p:ext uri="{D42A27DB-BD31-4B8C-83A1-F6EECF244321}">
                <p14:modId xmlns:p14="http://schemas.microsoft.com/office/powerpoint/2010/main" val="2831517363"/>
              </p:ext>
            </p:extLst>
          </p:nvPr>
        </p:nvGraphicFramePr>
        <p:xfrm>
          <a:off x="138093" y="1461594"/>
          <a:ext cx="3310832" cy="4536000"/>
        </p:xfrm>
        <a:graphic>
          <a:graphicData uri="http://schemas.openxmlformats.org/drawingml/2006/table">
            <a:tbl>
              <a:tblPr/>
              <a:tblGrid>
                <a:gridCol w="1024832">
                  <a:extLst>
                    <a:ext uri="{9D8B030D-6E8A-4147-A177-3AD203B41FA5}">
                      <a16:colId xmlns:a16="http://schemas.microsoft.com/office/drawing/2014/main" val="1264311597"/>
                    </a:ext>
                  </a:extLst>
                </a:gridCol>
                <a:gridCol w="2286000">
                  <a:extLst>
                    <a:ext uri="{9D8B030D-6E8A-4147-A177-3AD203B41FA5}">
                      <a16:colId xmlns:a16="http://schemas.microsoft.com/office/drawing/2014/main" val="2404896518"/>
                    </a:ext>
                  </a:extLst>
                </a:gridCol>
              </a:tblGrid>
              <a:tr h="302400">
                <a:tc rowSpan="3">
                  <a:txBody>
                    <a:bodyPr/>
                    <a:lstStyle/>
                    <a:p>
                      <a:pPr algn="ctr" fontAlgn="base"/>
                      <a:r>
                        <a:rPr lang="en-IN" sz="1100" b="1" i="0" u="none" strike="noStrike">
                          <a:solidFill>
                            <a:srgbClr val="071D49"/>
                          </a:solidFill>
                          <a:effectLst/>
                          <a:latin typeface="Arial" panose="020B0604020202020204" pitchFamily="34" charset="0"/>
                        </a:rPr>
                        <a:t>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Improves symptoms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25557939"/>
                  </a:ext>
                </a:extLst>
              </a:tr>
              <a:tr h="302400">
                <a:tc vMerge="1">
                  <a:txBody>
                    <a:bodyPr/>
                    <a:lstStyle/>
                    <a:p>
                      <a:endParaRPr lang="en-IN"/>
                    </a:p>
                  </a:txBody>
                  <a:tcPr/>
                </a:tc>
                <a:tc>
                  <a:txBody>
                    <a:bodyPr/>
                    <a:lstStyle/>
                    <a:p>
                      <a:pPr algn="r" fontAlgn="base"/>
                      <a:r>
                        <a:rPr lang="en-IN" sz="1100" b="0" i="0" u="none" strike="noStrike">
                          <a:solidFill>
                            <a:srgbClr val="071D49"/>
                          </a:solidFill>
                          <a:effectLst/>
                          <a:latin typeface="Arial" panose="020B0604020202020204" pitchFamily="34" charset="0"/>
                        </a:rPr>
                        <a:t>Highest efficacy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96491395"/>
                  </a:ext>
                </a:extLst>
              </a:tr>
              <a:tr h="302400">
                <a:tc vMerge="1">
                  <a:txBody>
                    <a:bodyPr/>
                    <a:lstStyle/>
                    <a:p>
                      <a:endParaRPr lang="en-IN"/>
                    </a:p>
                  </a:txBody>
                  <a:tcPr/>
                </a:tc>
                <a:tc>
                  <a:txBody>
                    <a:bodyPr/>
                    <a:lstStyle/>
                    <a:p>
                      <a:pPr algn="r" fontAlgn="base"/>
                      <a:r>
                        <a:rPr lang="en-US" sz="1100" b="0" i="0" u="none" strike="noStrike">
                          <a:solidFill>
                            <a:srgbClr val="071D49"/>
                          </a:solidFill>
                          <a:effectLst/>
                          <a:latin typeface="Arial" panose="020B0604020202020204" pitchFamily="34" charset="0"/>
                        </a:rPr>
                        <a:t>Benefits patient outcomes</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682538732"/>
                  </a:ext>
                </a:extLst>
              </a:tr>
              <a:tr h="302400">
                <a:tc rowSpan="5">
                  <a:txBody>
                    <a:bodyPr/>
                    <a:lstStyle/>
                    <a:p>
                      <a:pPr algn="ctr" fontAlgn="base"/>
                      <a:r>
                        <a:rPr lang="en-IN" sz="1100" b="1" i="0" u="none" strike="noStrike">
                          <a:solidFill>
                            <a:srgbClr val="071D49"/>
                          </a:solidFill>
                          <a:effectLst/>
                          <a:latin typeface="Arial" panose="020B0604020202020204" pitchFamily="34" charset="0"/>
                        </a:rPr>
                        <a:t>Access / Cost</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Best formulary / insurance coverage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R="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261342604"/>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Easiest to prescribe</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640867762"/>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support programs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835908944"/>
                  </a:ext>
                </a:extLst>
              </a:tr>
              <a:tr h="302400">
                <a:tc vMerge="1">
                  <a:txBody>
                    <a:bodyPr/>
                    <a:lstStyle/>
                    <a:p>
                      <a:endParaRPr lang="en-IN"/>
                    </a:p>
                  </a:txBody>
                  <a:tcPr/>
                </a:tc>
                <a:tc>
                  <a:txBody>
                    <a:bodyPr/>
                    <a:lstStyle/>
                    <a:p>
                      <a:pPr marL="0" marR="0" lvl="0" indent="0" algn="r" defTabSz="342906" rtl="0" eaLnBrk="1" fontAlgn="base"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71D49"/>
                          </a:solidFill>
                          <a:effectLst/>
                          <a:uLnTx/>
                          <a:uFillTx/>
                          <a:latin typeface="Arial" panose="020B0604020202020204" pitchFamily="34" charset="0"/>
                          <a:ea typeface="+mn-ea"/>
                          <a:cs typeface="+mn-cs"/>
                        </a:rPr>
                        <a:t>Co-pay assistance​</a:t>
                      </a:r>
                      <a:endParaRPr kumimoji="0" lang="en-IN" sz="15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90497247"/>
                  </a:ext>
                </a:extLst>
              </a:tr>
              <a:tr h="302400">
                <a:tc vMerge="1">
                  <a:txBody>
                    <a:bodyPr/>
                    <a:lstStyle/>
                    <a:p>
                      <a:pPr algn="ctr" fontAlgn="base"/>
                      <a:endParaRPr lang="en-IN" sz="1500" b="0" i="0">
                        <a:solidFill>
                          <a:srgbClr val="000000"/>
                        </a:solidFill>
                        <a:effectLst/>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Lowest treatment cost​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059120990"/>
                  </a:ext>
                </a:extLst>
              </a:tr>
              <a:tr h="302400">
                <a:tc rowSpan="4">
                  <a:txBody>
                    <a:bodyPr/>
                    <a:lstStyle/>
                    <a:p>
                      <a:pPr algn="ctr" fontAlgn="base"/>
                      <a:r>
                        <a:rPr lang="en-IN" sz="1100" b="1" i="0" u="none" strike="noStrike">
                          <a:solidFill>
                            <a:srgbClr val="071D49"/>
                          </a:solidFill>
                          <a:effectLst/>
                          <a:latin typeface="Arial" panose="020B0604020202020204" pitchFamily="34" charset="0"/>
                        </a:rPr>
                        <a:t>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Simplest dosing</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558153389"/>
                  </a:ext>
                </a:extLst>
              </a:tr>
              <a:tr h="302400">
                <a:tc vMerge="1">
                  <a:txBody>
                    <a:bodyPr/>
                    <a:lstStyle/>
                    <a:p>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Dosing flexibility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03662095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Patient adherence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214861265"/>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dosing options</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1723969247"/>
                  </a:ext>
                </a:extLst>
              </a:tr>
              <a:tr h="302400">
                <a:tc>
                  <a:txBody>
                    <a:bodyPr/>
                    <a:lstStyle/>
                    <a:p>
                      <a:pPr algn="ctr" fontAlgn="base"/>
                      <a:r>
                        <a:rPr lang="en-IN" sz="1100" b="1" i="0" u="none" strike="noStrike">
                          <a:solidFill>
                            <a:srgbClr val="071D49"/>
                          </a:solidFill>
                          <a:effectLst/>
                          <a:latin typeface="Arial" panose="020B0604020202020204" pitchFamily="34" charset="0"/>
                        </a:rPr>
                        <a:t>Safety</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IN" sz="1100" b="0" i="0" u="none" strike="noStrike">
                          <a:solidFill>
                            <a:srgbClr val="071D49"/>
                          </a:solidFill>
                          <a:effectLst/>
                          <a:latin typeface="Arial" panose="020B0604020202020204" pitchFamily="34" charset="0"/>
                        </a:rPr>
                        <a:t>Most </a:t>
                      </a:r>
                      <a:r>
                        <a:rPr lang="en-IN" sz="1100" b="0" i="0" u="none" strike="noStrike" err="1">
                          <a:solidFill>
                            <a:srgbClr val="071D49"/>
                          </a:solidFill>
                          <a:effectLst/>
                          <a:latin typeface="Arial" panose="020B0604020202020204" pitchFamily="34" charset="0"/>
                        </a:rPr>
                        <a:t>favorable</a:t>
                      </a:r>
                      <a:r>
                        <a:rPr lang="en-IN" sz="1100" b="0" i="0" u="none" strike="noStrike">
                          <a:solidFill>
                            <a:srgbClr val="071D49"/>
                          </a:solidFill>
                          <a:effectLst/>
                          <a:latin typeface="Arial" panose="020B0604020202020204" pitchFamily="34" charset="0"/>
                        </a:rPr>
                        <a:t> safety profile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3714918309"/>
                  </a:ext>
                </a:extLst>
              </a:tr>
              <a:tr h="302400">
                <a:tc rowSpan="2">
                  <a:txBody>
                    <a:bodyPr/>
                    <a:lstStyle/>
                    <a:p>
                      <a:pPr algn="ctr" fontAlgn="base"/>
                      <a:r>
                        <a:rPr lang="en-IN" sz="1100" b="1" i="0" u="none" strike="noStrike">
                          <a:solidFill>
                            <a:srgbClr val="071D49"/>
                          </a:solidFill>
                          <a:effectLst/>
                          <a:latin typeface="Arial" panose="020B0604020202020204" pitchFamily="34" charset="0"/>
                        </a:rPr>
                        <a:t>Preference / Experience</a:t>
                      </a:r>
                      <a:r>
                        <a:rPr lang="en-IN" sz="1100" b="0" i="0">
                          <a:solidFill>
                            <a:srgbClr val="071D49"/>
                          </a:solidFill>
                          <a:effectLst/>
                          <a:latin typeface="Arial" panose="020B0604020202020204" pitchFamily="34" charset="0"/>
                        </a:rPr>
                        <a:t>​</a:t>
                      </a:r>
                      <a:endParaRPr lang="en-IN" sz="1500" b="0" i="0">
                        <a:solidFill>
                          <a:srgbClr val="000000"/>
                        </a:solidFill>
                        <a:effectLst/>
                        <a:latin typeface="Arial" panose="020B0604020202020204" pitchFamily="34" charset="0"/>
                      </a:endParaRPr>
                    </a:p>
                  </a:txBody>
                  <a:tcPr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Successful personal experience </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4291063373"/>
                  </a:ext>
                </a:extLst>
              </a:tr>
              <a:tr h="302400">
                <a:tc vMerge="1">
                  <a:txBody>
                    <a:bodyPr/>
                    <a:lstStyle/>
                    <a:p>
                      <a:endParaRPr lang="en-IN"/>
                    </a:p>
                  </a:txBody>
                  <a:tcP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D7E0EA"/>
                    </a:solidFill>
                  </a:tcPr>
                </a:tc>
                <a:tc>
                  <a:txBody>
                    <a:bodyPr/>
                    <a:lstStyle/>
                    <a:p>
                      <a:pPr algn="r" fontAlgn="base"/>
                      <a:r>
                        <a:rPr lang="en-US" sz="1100" b="0" i="0" u="none" strike="noStrike">
                          <a:solidFill>
                            <a:srgbClr val="071D49"/>
                          </a:solidFill>
                          <a:effectLst/>
                          <a:latin typeface="Arial" panose="020B0604020202020204" pitchFamily="34" charset="0"/>
                        </a:rPr>
                        <a:t>Treatment is preferred by patients</a:t>
                      </a:r>
                      <a:r>
                        <a:rPr lang="en-US" sz="1100" b="0" i="0">
                          <a:solidFill>
                            <a:srgbClr val="071D49"/>
                          </a:solidFill>
                          <a:effectLst/>
                          <a:latin typeface="Arial" panose="020B0604020202020204" pitchFamily="34" charset="0"/>
                        </a:rPr>
                        <a:t>​</a:t>
                      </a:r>
                      <a:endParaRPr lang="en-US" sz="1500" b="0" i="0">
                        <a:solidFill>
                          <a:srgbClr val="000000"/>
                        </a:solidFill>
                        <a:effectLst/>
                        <a:latin typeface="Arial" panose="020B0604020202020204" pitchFamily="34" charset="0"/>
                      </a:endParaRPr>
                    </a:p>
                  </a:txBody>
                  <a:tcPr marL="0" marT="0" marB="0" anchor="ctr">
                    <a:lnL w="9525" cap="flat" cmpd="sng" algn="ctr">
                      <a:solidFill>
                        <a:srgbClr val="FFFFFF"/>
                      </a:solidFill>
                      <a:prstDash val="solid"/>
                      <a:round/>
                      <a:headEnd type="none" w="med" len="med"/>
                      <a:tailEnd type="none" w="med" len="med"/>
                    </a:lnL>
                    <a:lnR w="9525" cap="flat" cmpd="sng" algn="ctr">
                      <a:solidFill>
                        <a:srgbClr val="FFFFFF"/>
                      </a:solidFill>
                      <a:prstDash val="solid"/>
                      <a:round/>
                      <a:headEnd type="none" w="med" len="med"/>
                      <a:tailEnd type="none" w="med" len="med"/>
                    </a:lnR>
                    <a:lnT w="9525" cap="flat" cmpd="sng" algn="ctr">
                      <a:solidFill>
                        <a:srgbClr val="FFFFFF"/>
                      </a:solidFill>
                      <a:prstDash val="solid"/>
                      <a:round/>
                      <a:headEnd type="none" w="med" len="med"/>
                      <a:tailEnd type="none" w="med" len="med"/>
                    </a:lnT>
                    <a:lnB w="9525" cap="flat" cmpd="sng" algn="ctr">
                      <a:solidFill>
                        <a:srgbClr val="FFFFFF"/>
                      </a:solidFill>
                      <a:prstDash val="solid"/>
                      <a:round/>
                      <a:headEnd type="none" w="med" len="med"/>
                      <a:tailEnd type="none" w="med" len="med"/>
                    </a:lnB>
                    <a:solidFill>
                      <a:srgbClr val="ECF0F5"/>
                    </a:solidFill>
                  </a:tcPr>
                </a:tc>
                <a:extLst>
                  <a:ext uri="{0D108BD9-81ED-4DB2-BD59-A6C34878D82A}">
                    <a16:rowId xmlns:a16="http://schemas.microsoft.com/office/drawing/2014/main" val="2032889508"/>
                  </a:ext>
                </a:extLst>
              </a:tr>
            </a:tbl>
          </a:graphicData>
        </a:graphic>
      </p:graphicFrame>
      <p:sp>
        <p:nvSpPr>
          <p:cNvPr id="29" name="TextBox 28">
            <a:extLst>
              <a:ext uri="{FF2B5EF4-FFF2-40B4-BE49-F238E27FC236}">
                <a16:creationId xmlns:a16="http://schemas.microsoft.com/office/drawing/2014/main" id="{DB4D1044-F657-DCEB-DE31-C19EEE78EE70}"/>
              </a:ext>
            </a:extLst>
          </p:cNvPr>
          <p:cNvSpPr txBox="1"/>
          <p:nvPr/>
        </p:nvSpPr>
        <p:spPr>
          <a:xfrm>
            <a:off x="138095" y="1175743"/>
            <a:ext cx="331083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Attributes</a:t>
            </a:r>
            <a:endParaRPr kumimoji="0" lang="en-US" sz="1200" b="0" i="0" u="none" strike="noStrike" kern="1200" cap="none" spc="0" normalizeH="0" baseline="30000" noProof="0">
              <a:ln>
                <a:noFill/>
              </a:ln>
              <a:solidFill>
                <a:srgbClr val="FFFFFF"/>
              </a:solidFill>
              <a:effectLst/>
              <a:uLnTx/>
              <a:uFillTx/>
              <a:latin typeface="+mn-lt"/>
              <a:ea typeface="Calibri"/>
              <a:cs typeface="Arial" panose="020B0604020202020204" pitchFamily="34" charset="0"/>
              <a:sym typeface="Calibri"/>
            </a:endParaRPr>
          </a:p>
        </p:txBody>
      </p:sp>
      <p:graphicFrame>
        <p:nvGraphicFramePr>
          <p:cNvPr id="4" name="wave table OCQ">
            <a:extLst>
              <a:ext uri="{FF2B5EF4-FFF2-40B4-BE49-F238E27FC236}">
                <a16:creationId xmlns:a16="http://schemas.microsoft.com/office/drawing/2014/main" id="{63213A71-3C29-13D9-709E-115FDDCC5A1E}"/>
              </a:ext>
            </a:extLst>
          </p:cNvPr>
          <p:cNvGraphicFramePr>
            <a:graphicFrameLocks noGrp="1"/>
          </p:cNvGraphicFramePr>
          <p:nvPr>
            <p:custDataLst>
              <p:tags r:id="rId17"/>
            </p:custDataLst>
            <p:extLst>
              <p:ext uri="{D42A27DB-BD31-4B8C-83A1-F6EECF244321}">
                <p14:modId xmlns:p14="http://schemas.microsoft.com/office/powerpoint/2010/main" val="1819003090"/>
              </p:ext>
            </p:extLst>
          </p:nvPr>
        </p:nvGraphicFramePr>
        <p:xfrm>
          <a:off x="3667709" y="1176526"/>
          <a:ext cx="4423866" cy="274320"/>
        </p:xfrm>
        <a:graphic>
          <a:graphicData uri="http://schemas.openxmlformats.org/drawingml/2006/table">
            <a:tbl>
              <a:tblPr firstRow="1" bandRow="1">
                <a:tableStyleId>{B301B821-A1FF-4177-AEE7-76D212191A09}</a:tableStyleId>
              </a:tblPr>
              <a:tblGrid>
                <a:gridCol w="737311">
                  <a:extLst>
                    <a:ext uri="{9D8B030D-6E8A-4147-A177-3AD203B41FA5}">
                      <a16:colId xmlns:a16="http://schemas.microsoft.com/office/drawing/2014/main" val="3554599800"/>
                    </a:ext>
                  </a:extLst>
                </a:gridCol>
                <a:gridCol w="737311">
                  <a:extLst>
                    <a:ext uri="{9D8B030D-6E8A-4147-A177-3AD203B41FA5}">
                      <a16:colId xmlns:a16="http://schemas.microsoft.com/office/drawing/2014/main" val="2914776207"/>
                    </a:ext>
                  </a:extLst>
                </a:gridCol>
                <a:gridCol w="737311">
                  <a:extLst>
                    <a:ext uri="{9D8B030D-6E8A-4147-A177-3AD203B41FA5}">
                      <a16:colId xmlns:a16="http://schemas.microsoft.com/office/drawing/2014/main" val="2088702262"/>
                    </a:ext>
                  </a:extLst>
                </a:gridCol>
                <a:gridCol w="737311">
                  <a:extLst>
                    <a:ext uri="{9D8B030D-6E8A-4147-A177-3AD203B41FA5}">
                      <a16:colId xmlns:a16="http://schemas.microsoft.com/office/drawing/2014/main" val="192097877"/>
                    </a:ext>
                  </a:extLst>
                </a:gridCol>
                <a:gridCol w="737311">
                  <a:extLst>
                    <a:ext uri="{9D8B030D-6E8A-4147-A177-3AD203B41FA5}">
                      <a16:colId xmlns:a16="http://schemas.microsoft.com/office/drawing/2014/main" val="1326389649"/>
                    </a:ext>
                  </a:extLst>
                </a:gridCol>
                <a:gridCol w="737311">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1" u="none" strike="noStrike" kern="1200">
                          <a:solidFill>
                            <a:srgbClr val="071D49"/>
                          </a:solidFill>
                          <a:effectLst/>
                          <a:latin typeface="+mn-lt"/>
                          <a:ea typeface="+mn-ea"/>
                          <a:cs typeface="+mn-cs"/>
                        </a:rPr>
                        <a:t>41</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48</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41</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53</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47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grpSp>
        <p:nvGrpSpPr>
          <p:cNvPr id="9" name="Group 8">
            <a:extLst>
              <a:ext uri="{FF2B5EF4-FFF2-40B4-BE49-F238E27FC236}">
                <a16:creationId xmlns:a16="http://schemas.microsoft.com/office/drawing/2014/main" id="{B0124CAF-8502-1F83-5552-23207269E459}"/>
              </a:ext>
            </a:extLst>
          </p:cNvPr>
          <p:cNvGrpSpPr/>
          <p:nvPr/>
        </p:nvGrpSpPr>
        <p:grpSpPr>
          <a:xfrm>
            <a:off x="3484109" y="1176526"/>
            <a:ext cx="367208" cy="274320"/>
            <a:chOff x="3025674" y="1399945"/>
            <a:chExt cx="367208" cy="274320"/>
          </a:xfrm>
        </p:grpSpPr>
        <p:sp>
          <p:nvSpPr>
            <p:cNvPr id="11" name="Rectangle 10">
              <a:extLst>
                <a:ext uri="{FF2B5EF4-FFF2-40B4-BE49-F238E27FC236}">
                  <a16:creationId xmlns:a16="http://schemas.microsoft.com/office/drawing/2014/main" id="{92D04347-FE35-6C42-1318-4EDFE792B603}"/>
                </a:ext>
              </a:extLst>
            </p:cNvPr>
            <p:cNvSpPr/>
            <p:nvPr/>
          </p:nvSpPr>
          <p:spPr>
            <a:xfrm>
              <a:off x="3025674" y="1544154"/>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n size</a:t>
              </a:r>
            </a:p>
          </p:txBody>
        </p:sp>
        <p:sp>
          <p:nvSpPr>
            <p:cNvPr id="12" name="Rectangle 11">
              <a:extLst>
                <a:ext uri="{FF2B5EF4-FFF2-40B4-BE49-F238E27FC236}">
                  <a16:creationId xmlns:a16="http://schemas.microsoft.com/office/drawing/2014/main" id="{8EF54CF7-2DD0-F150-8CFA-560E9DB862EE}"/>
                </a:ext>
              </a:extLst>
            </p:cNvPr>
            <p:cNvSpPr/>
            <p:nvPr/>
          </p:nvSpPr>
          <p:spPr>
            <a:xfrm>
              <a:off x="3025674" y="1399945"/>
              <a:ext cx="367208" cy="1301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800" b="1" kern="1200">
                  <a:solidFill>
                    <a:srgbClr val="071D49"/>
                  </a:solidFill>
                </a:rPr>
                <a:t>R3M</a:t>
              </a:r>
            </a:p>
          </p:txBody>
        </p:sp>
      </p:grpSp>
      <p:graphicFrame>
        <p:nvGraphicFramePr>
          <p:cNvPr id="26" name="Table 25">
            <a:extLst>
              <a:ext uri="{FF2B5EF4-FFF2-40B4-BE49-F238E27FC236}">
                <a16:creationId xmlns:a16="http://schemas.microsoft.com/office/drawing/2014/main" id="{84AFA09D-FDDC-B84D-D7D0-90E2970E66E7}"/>
              </a:ext>
            </a:extLst>
          </p:cNvPr>
          <p:cNvGraphicFramePr>
            <a:graphicFrameLocks noGrp="1"/>
          </p:cNvGraphicFramePr>
          <p:nvPr>
            <p:extLst>
              <p:ext uri="{D42A27DB-BD31-4B8C-83A1-F6EECF244321}">
                <p14:modId xmlns:p14="http://schemas.microsoft.com/office/powerpoint/2010/main" val="3248167362"/>
              </p:ext>
            </p:extLst>
          </p:nvPr>
        </p:nvGraphicFramePr>
        <p:xfrm>
          <a:off x="7944885" y="869064"/>
          <a:ext cx="1088554" cy="5105016"/>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288873">
                <a:tc gridSpan="2">
                  <a:txBody>
                    <a:bodyPr/>
                    <a:lstStyle/>
                    <a:p>
                      <a:pPr algn="ctr"/>
                      <a:r>
                        <a:rPr lang="en-IN" sz="1000">
                          <a:solidFill>
                            <a:schemeClr val="tx1"/>
                          </a:solidFill>
                          <a:latin typeface="Arial" panose="020B0604020202020204" pitchFamily="34" charset="0"/>
                        </a:rPr>
                        <a:t>CREON</a:t>
                      </a:r>
                    </a:p>
                    <a:p>
                      <a:pPr algn="ctr"/>
                      <a:r>
                        <a:rPr lang="en-IN" sz="900" b="1">
                          <a:solidFill>
                            <a:schemeClr val="tx1"/>
                          </a:solidFill>
                          <a:latin typeface="Arial" panose="020B0604020202020204" pitchFamily="34" charset="0"/>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289176">
                <a:tc>
                  <a:txBody>
                    <a:bodyPr/>
                    <a:lstStyle/>
                    <a:p>
                      <a:pPr algn="ctr"/>
                      <a:r>
                        <a:rPr lang="en-IN" sz="900">
                          <a:solidFill>
                            <a:schemeClr val="tx1">
                              <a:lumMod val="50000"/>
                            </a:schemeClr>
                          </a:solidFill>
                        </a:rPr>
                        <a:t>3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900">
                          <a:solidFill>
                            <a:schemeClr val="tx1">
                              <a:lumMod val="50000"/>
                            </a:schemeClr>
                          </a:solidFill>
                        </a:rPr>
                        <a:t>6 R3M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045813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412477275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315732339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3438046896"/>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3622183652"/>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4324521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31053157"/>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08480035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45032284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2742217569"/>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FFBB"/>
                    </a:solidFill>
                  </a:tcPr>
                </a:tc>
                <a:extLst>
                  <a:ext uri="{0D108BD9-81ED-4DB2-BD59-A6C34878D82A}">
                    <a16:rowId xmlns:a16="http://schemas.microsoft.com/office/drawing/2014/main" val="2707285713"/>
                  </a:ext>
                </a:extLst>
              </a:tr>
              <a:tr h="301752">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pitchFamily="34" charset="0"/>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292154125"/>
                  </a:ext>
                </a:extLst>
              </a:tr>
            </a:tbl>
          </a:graphicData>
        </a:graphic>
      </p:graphicFrame>
      <p:sp>
        <p:nvSpPr>
          <p:cNvPr id="31" name="Google Shape;1785;p46">
            <a:extLst>
              <a:ext uri="{FF2B5EF4-FFF2-40B4-BE49-F238E27FC236}">
                <a16:creationId xmlns:a16="http://schemas.microsoft.com/office/drawing/2014/main" id="{498931E8-1ABF-88AE-6FAE-8A66CDDCA5C9}"/>
              </a:ext>
            </a:extLst>
          </p:cNvPr>
          <p:cNvSpPr txBox="1"/>
          <p:nvPr/>
        </p:nvSpPr>
        <p:spPr>
          <a:xfrm>
            <a:off x="263257" y="5975686"/>
            <a:ext cx="863793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No statistically significant (p&lt;.05) difference between previous waves </a:t>
            </a:r>
          </a:p>
        </p:txBody>
      </p:sp>
    </p:spTree>
    <p:extLst>
      <p:ext uri="{BB962C8B-B14F-4D97-AF65-F5344CB8AC3E}">
        <p14:creationId xmlns:p14="http://schemas.microsoft.com/office/powerpoint/2010/main" val="30622067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Salesforce Activity</a:t>
            </a:r>
          </a:p>
        </p:txBody>
      </p:sp>
      <p:sp>
        <p:nvSpPr>
          <p:cNvPr id="3" name="Subtitle 2">
            <a:extLst>
              <a:ext uri="{FF2B5EF4-FFF2-40B4-BE49-F238E27FC236}">
                <a16:creationId xmlns:a16="http://schemas.microsoft.com/office/drawing/2014/main" id="{69D506F0-65D3-1A4E-862D-D18E8378EC95}"/>
              </a:ext>
            </a:extLst>
          </p:cNvPr>
          <p:cNvSpPr>
            <a:spLocks noGrp="1"/>
          </p:cNvSpPr>
          <p:nvPr>
            <p:ph type="subTitle" idx="4294967295"/>
          </p:nvPr>
        </p:nvSpPr>
        <p:spPr>
          <a:xfrm>
            <a:off x="0" y="4246563"/>
            <a:ext cx="6858000" cy="473075"/>
          </a:xfrm>
        </p:spPr>
        <p:txBody>
          <a:bodyPr/>
          <a:lstStyle/>
          <a:p>
            <a:pPr>
              <a:lnSpc>
                <a:spcPts val="1000"/>
              </a:lnSpc>
              <a:spcBef>
                <a:spcPts val="0"/>
              </a:spcBef>
            </a:pPr>
            <a:r>
              <a:rPr lang="en-US" sz="900" i="1">
                <a:solidFill>
                  <a:schemeClr val="bg1">
                    <a:lumMod val="50000"/>
                  </a:schemeClr>
                </a:solidFill>
              </a:rPr>
              <a:t>In-person / virtual conventions, digital / TV ads, social media post and in-office advertising have been added in W2 </a:t>
            </a:r>
          </a:p>
          <a:p>
            <a:pPr>
              <a:lnSpc>
                <a:spcPts val="1000"/>
              </a:lnSpc>
              <a:spcBef>
                <a:spcPts val="0"/>
              </a:spcBef>
            </a:pPr>
            <a:r>
              <a:rPr lang="en-US" sz="900" i="1">
                <a:solidFill>
                  <a:schemeClr val="bg1">
                    <a:lumMod val="50000"/>
                  </a:schemeClr>
                </a:solidFill>
              </a:rPr>
              <a:t>Samples sizes and Reach, Frequency, and SOV metrics reported will not directly align with the W2 report due to methodology change</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4" name="TextBox 3">
            <a:extLst>
              <a:ext uri="{FF2B5EF4-FFF2-40B4-BE49-F238E27FC236}">
                <a16:creationId xmlns:a16="http://schemas.microsoft.com/office/drawing/2014/main" id="{A08268BE-1674-7014-0B55-A18C6683121B}"/>
              </a:ext>
            </a:extLst>
          </p:cNvPr>
          <p:cNvSpPr txBox="1"/>
          <p:nvPr/>
        </p:nvSpPr>
        <p:spPr>
          <a:xfrm>
            <a:off x="396000" y="4680000"/>
            <a:ext cx="7535537" cy="1307217"/>
          </a:xfrm>
          <a:prstGeom prst="rect">
            <a:avLst/>
          </a:prstGeom>
          <a:noFill/>
        </p:spPr>
        <p:txBody>
          <a:bodyPr wrap="square" rtlCol="0">
            <a:spAutoFit/>
          </a:bodyPr>
          <a:lstStyle/>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0" i="0" u="none" strike="noStrike" kern="0" cap="none" spc="0" normalizeH="0" baseline="0" noProof="0">
                <a:ln>
                  <a:noFill/>
                </a:ln>
                <a:solidFill>
                  <a:srgbClr val="000000"/>
                </a:solidFill>
                <a:effectLst/>
                <a:uLnTx/>
                <a:uFillTx/>
                <a:latin typeface="Arial"/>
                <a:cs typeface="Arial"/>
                <a:sym typeface="Arial"/>
              </a:rPr>
              <a:t>CREON </a:t>
            </a:r>
            <a:r>
              <a:rPr kumimoji="0" lang="en-GB" sz="1200" b="1" i="0" u="none" strike="noStrike" kern="0" cap="none" spc="0" normalizeH="0" baseline="0" noProof="0">
                <a:ln>
                  <a:noFill/>
                </a:ln>
                <a:solidFill>
                  <a:srgbClr val="000000"/>
                </a:solidFill>
                <a:effectLst/>
                <a:uLnTx/>
                <a:uFillTx/>
                <a:latin typeface="Arial"/>
                <a:cs typeface="Arial"/>
                <a:sym typeface="Arial"/>
              </a:rPr>
              <a:t>maintained market leadership in share of voice and reach</a:t>
            </a:r>
            <a:r>
              <a:rPr kumimoji="0" lang="en-GB" sz="1200" b="0" i="0" u="none" strike="noStrike" kern="0" cap="none" spc="0" normalizeH="0" baseline="0" noProof="0">
                <a:ln>
                  <a:noFill/>
                </a:ln>
                <a:solidFill>
                  <a:srgbClr val="000000"/>
                </a:solidFill>
                <a:effectLst/>
                <a:uLnTx/>
                <a:uFillTx/>
                <a:latin typeface="Arial"/>
                <a:cs typeface="Arial"/>
                <a:sym typeface="Arial"/>
              </a:rPr>
              <a:t>, with stable overall presence despite minor SOV softening among Gastros offset by gains among PCPs.</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0" i="0" u="none" strike="noStrike" kern="0" cap="none" spc="0" normalizeH="0" baseline="0" noProof="0">
                <a:ln>
                  <a:noFill/>
                </a:ln>
                <a:solidFill>
                  <a:srgbClr val="000000"/>
                </a:solidFill>
                <a:effectLst/>
                <a:uLnTx/>
                <a:uFillTx/>
                <a:latin typeface="Arial"/>
                <a:cs typeface="Arial"/>
                <a:sym typeface="Arial"/>
              </a:rPr>
              <a:t>Engagement </a:t>
            </a:r>
            <a:r>
              <a:rPr kumimoji="0" lang="en-GB" sz="1200" b="1" i="0" u="none" strike="noStrike" kern="0" cap="none" spc="0" normalizeH="0" baseline="0" noProof="0">
                <a:ln>
                  <a:noFill/>
                </a:ln>
                <a:solidFill>
                  <a:srgbClr val="000000"/>
                </a:solidFill>
                <a:effectLst/>
                <a:uLnTx/>
                <a:uFillTx/>
                <a:latin typeface="Arial"/>
                <a:cs typeface="Arial"/>
                <a:sym typeface="Arial"/>
              </a:rPr>
              <a:t>frequency declined overall </a:t>
            </a:r>
            <a:r>
              <a:rPr kumimoji="0" lang="en-GB" sz="1200" b="0" i="0" u="none" strike="noStrike" kern="0" cap="none" spc="0" normalizeH="0" baseline="0" noProof="0">
                <a:ln>
                  <a:noFill/>
                </a:ln>
                <a:solidFill>
                  <a:srgbClr val="000000"/>
                </a:solidFill>
                <a:effectLst/>
                <a:uLnTx/>
                <a:uFillTx/>
                <a:latin typeface="Arial"/>
                <a:cs typeface="Arial"/>
                <a:sym typeface="Arial"/>
              </a:rPr>
              <a:t>for both CREON and ZENPEP, though CREON continued to lead the market, while ZENPEP saw a modest frequency increase among Gastros.</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Momentum strengthened among NP/PAs </a:t>
            </a:r>
            <a:r>
              <a:rPr kumimoji="0" lang="en-GB" sz="1200" b="0" i="0" u="none" strike="noStrike" kern="0" cap="none" spc="0" normalizeH="0" baseline="0" noProof="0">
                <a:ln>
                  <a:noFill/>
                </a:ln>
                <a:solidFill>
                  <a:srgbClr val="000000"/>
                </a:solidFill>
                <a:effectLst/>
                <a:uLnTx/>
                <a:uFillTx/>
                <a:latin typeface="Arial"/>
                <a:cs typeface="Arial"/>
                <a:sym typeface="Arial"/>
              </a:rPr>
              <a:t>for CREON, with a notable SOV increase, contrasted by meaningful declines in ZENPEP’s SOV and reach in this segment</a:t>
            </a:r>
          </a:p>
        </p:txBody>
      </p:sp>
    </p:spTree>
    <p:extLst>
      <p:ext uri="{BB962C8B-B14F-4D97-AF65-F5344CB8AC3E}">
        <p14:creationId xmlns:p14="http://schemas.microsoft.com/office/powerpoint/2010/main" val="2795606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68">
          <a:extLst>
            <a:ext uri="{FF2B5EF4-FFF2-40B4-BE49-F238E27FC236}">
              <a16:creationId xmlns:a16="http://schemas.microsoft.com/office/drawing/2014/main" id="{79A38846-152D-B949-0EBA-B39BD8996331}"/>
            </a:ext>
          </a:extLst>
        </p:cNvPr>
        <p:cNvGrpSpPr/>
        <p:nvPr/>
      </p:nvGrpSpPr>
      <p:grpSpPr>
        <a:xfrm>
          <a:off x="0" y="0"/>
          <a:ext cx="0" cy="0"/>
          <a:chOff x="0" y="0"/>
          <a:chExt cx="0" cy="0"/>
        </a:xfrm>
      </p:grpSpPr>
      <p:graphicFrame>
        <p:nvGraphicFramePr>
          <p:cNvPr id="91" name="Chart 90">
            <a:extLst>
              <a:ext uri="{FF2B5EF4-FFF2-40B4-BE49-F238E27FC236}">
                <a16:creationId xmlns:a16="http://schemas.microsoft.com/office/drawing/2014/main" id="{BDEFA25E-7980-DE1F-6D37-70F3469E8FD2}"/>
              </a:ext>
            </a:extLst>
          </p:cNvPr>
          <p:cNvGraphicFramePr/>
          <p:nvPr>
            <p:custDataLst>
              <p:tags r:id="rId1"/>
            </p:custDataLst>
            <p:extLst>
              <p:ext uri="{D42A27DB-BD31-4B8C-83A1-F6EECF244321}">
                <p14:modId xmlns:p14="http://schemas.microsoft.com/office/powerpoint/2010/main" val="1993513515"/>
              </p:ext>
            </p:extLst>
          </p:nvPr>
        </p:nvGraphicFramePr>
        <p:xfrm>
          <a:off x="4332136" y="4145173"/>
          <a:ext cx="5148776" cy="177113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3" name="Chart 72">
            <a:extLst>
              <a:ext uri="{FF2B5EF4-FFF2-40B4-BE49-F238E27FC236}">
                <a16:creationId xmlns:a16="http://schemas.microsoft.com/office/drawing/2014/main" id="{AA5C163B-6CE6-E9F7-59F0-607A6FBEBFB4}"/>
              </a:ext>
            </a:extLst>
          </p:cNvPr>
          <p:cNvGraphicFramePr/>
          <p:nvPr>
            <p:custDataLst>
              <p:tags r:id="rId2"/>
            </p:custDataLst>
            <p:extLst>
              <p:ext uri="{D42A27DB-BD31-4B8C-83A1-F6EECF244321}">
                <p14:modId xmlns:p14="http://schemas.microsoft.com/office/powerpoint/2010/main" val="3894370785"/>
              </p:ext>
            </p:extLst>
          </p:nvPr>
        </p:nvGraphicFramePr>
        <p:xfrm>
          <a:off x="-233076" y="1914555"/>
          <a:ext cx="8888201" cy="1771137"/>
        </p:xfrm>
        <a:graphic>
          <a:graphicData uri="http://schemas.openxmlformats.org/drawingml/2006/chart">
            <c:chart xmlns:c="http://schemas.openxmlformats.org/drawingml/2006/chart" xmlns:r="http://schemas.openxmlformats.org/officeDocument/2006/relationships" r:id="rId10"/>
          </a:graphicData>
        </a:graphic>
      </p:graphicFrame>
      <p:sp>
        <p:nvSpPr>
          <p:cNvPr id="2" name="Google Shape;560;p14">
            <a:extLst>
              <a:ext uri="{FF2B5EF4-FFF2-40B4-BE49-F238E27FC236}">
                <a16:creationId xmlns:a16="http://schemas.microsoft.com/office/drawing/2014/main" id="{4ADB679A-C09F-E665-496D-375700909F12}"/>
              </a:ext>
            </a:extLst>
          </p:cNvPr>
          <p:cNvSpPr txBox="1"/>
          <p:nvPr/>
        </p:nvSpPr>
        <p:spPr>
          <a:xfrm>
            <a:off x="263257" y="5975686"/>
            <a:ext cx="8637937" cy="5077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s - No. of Interactions | No statistically significant (p&lt;.05) difference between previous waves</a:t>
            </a:r>
            <a:endParaRPr kumimoji="0" lang="en-US" sz="1400" b="0" i="0" u="none" strike="noStrike" kern="0" cap="none" spc="0" normalizeH="0" baseline="0" noProof="0">
              <a:ln>
                <a:noFill/>
              </a:ln>
              <a:solidFill>
                <a:srgbClr val="001D49"/>
              </a:solidFill>
              <a:effectLst/>
              <a:uLnTx/>
              <a:uFillTx/>
              <a:latin typeface="+mn-lt"/>
              <a:ea typeface="+mn-ea"/>
              <a:cs typeface="Arial" panose="020B0604020202020204" pitchFamily="34"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     Statistically significant (p&lt;.05) difference among other Products | **Local OLs removed</a:t>
            </a:r>
            <a:endParaRPr kumimoji="0" lang="en-US" sz="1400" b="0" i="0" u="none" strike="noStrike" kern="0" cap="none" spc="0" normalizeH="0" baseline="0" noProof="0">
              <a:ln>
                <a:noFill/>
              </a:ln>
              <a:solidFill>
                <a:srgbClr val="001D49"/>
              </a:solidFill>
              <a:effectLst/>
              <a:uLnTx/>
              <a:uFillTx/>
              <a:latin typeface="+mn-lt"/>
              <a:ea typeface="+mn-ea"/>
              <a:cs typeface="Arial" panose="020B0604020202020204" pitchFamily="34" charset="0"/>
              <a:sym typeface="Arial"/>
            </a:endParaRPr>
          </a:p>
        </p:txBody>
      </p:sp>
      <p:graphicFrame>
        <p:nvGraphicFramePr>
          <p:cNvPr id="57" name="Chart 56">
            <a:extLst>
              <a:ext uri="{FF2B5EF4-FFF2-40B4-BE49-F238E27FC236}">
                <a16:creationId xmlns:a16="http://schemas.microsoft.com/office/drawing/2014/main" id="{77BEADD3-4DE2-A460-1ADE-336D94A15C7E}"/>
              </a:ext>
            </a:extLst>
          </p:cNvPr>
          <p:cNvGraphicFramePr/>
          <p:nvPr>
            <p:custDataLst>
              <p:tags r:id="rId3"/>
            </p:custDataLst>
            <p:extLst>
              <p:ext uri="{D42A27DB-BD31-4B8C-83A1-F6EECF244321}">
                <p14:modId xmlns:p14="http://schemas.microsoft.com/office/powerpoint/2010/main" val="2101744475"/>
              </p:ext>
            </p:extLst>
          </p:nvPr>
        </p:nvGraphicFramePr>
        <p:xfrm>
          <a:off x="39731" y="4145173"/>
          <a:ext cx="5148776" cy="1771137"/>
        </p:xfrm>
        <a:graphic>
          <a:graphicData uri="http://schemas.openxmlformats.org/drawingml/2006/chart">
            <c:chart xmlns:c="http://schemas.openxmlformats.org/drawingml/2006/chart" xmlns:r="http://schemas.openxmlformats.org/officeDocument/2006/relationships" r:id="rId11"/>
          </a:graphicData>
        </a:graphic>
      </p:graphicFrame>
      <p:sp>
        <p:nvSpPr>
          <p:cNvPr id="573" name="Google Shape;573;p15">
            <a:extLst>
              <a:ext uri="{FF2B5EF4-FFF2-40B4-BE49-F238E27FC236}">
                <a16:creationId xmlns:a16="http://schemas.microsoft.com/office/drawing/2014/main" id="{CEC346D7-8FC4-305A-D112-28E07116116E}"/>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Share of Voice**</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mn-lt"/>
                <a:ea typeface="Calibri"/>
                <a:cs typeface="Calibri"/>
                <a:sym typeface="Calibri"/>
              </a:rPr>
              <a:t>(Jan’25 – Mar’26)</a:t>
            </a:r>
          </a:p>
        </p:txBody>
      </p:sp>
      <p:sp>
        <p:nvSpPr>
          <p:cNvPr id="574" name="Google Shape;574;p15">
            <a:extLst>
              <a:ext uri="{FF2B5EF4-FFF2-40B4-BE49-F238E27FC236}">
                <a16:creationId xmlns:a16="http://schemas.microsoft.com/office/drawing/2014/main" id="{8A699AC2-F11D-AF23-70D4-E94D918A13C1}"/>
              </a:ext>
            </a:extLst>
          </p:cNvPr>
          <p:cNvSpPr txBox="1"/>
          <p:nvPr/>
        </p:nvSpPr>
        <p:spPr>
          <a:xfrm>
            <a:off x="0" y="0"/>
            <a:ext cx="8901195"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CREON continued to lead the market in overall SOV, with a notable increase among Gastros over the past three months; ZENPEP share declined among Gastros, gains among PCPs offset the decline keeping overall share stable</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55" name="Google Shape;741;p13">
            <a:extLst>
              <a:ext uri="{FF2B5EF4-FFF2-40B4-BE49-F238E27FC236}">
                <a16:creationId xmlns:a16="http://schemas.microsoft.com/office/drawing/2014/main" id="{E8B4C949-E0E5-9E00-4B6C-729809EDBC90}"/>
              </a:ext>
            </a:extLst>
          </p:cNvPr>
          <p:cNvSpPr/>
          <p:nvPr/>
        </p:nvSpPr>
        <p:spPr>
          <a:xfrm>
            <a:off x="1775046" y="388120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9" name="Google Shape;741;p13">
            <a:extLst>
              <a:ext uri="{FF2B5EF4-FFF2-40B4-BE49-F238E27FC236}">
                <a16:creationId xmlns:a16="http://schemas.microsoft.com/office/drawing/2014/main" id="{A056F8A5-F09B-28A7-59B1-4D5DADA9C077}"/>
              </a:ext>
            </a:extLst>
          </p:cNvPr>
          <p:cNvSpPr/>
          <p:nvPr/>
        </p:nvSpPr>
        <p:spPr>
          <a:xfrm>
            <a:off x="6081551" y="388120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3" name="Google Shape;561;p14">
            <a:extLst>
              <a:ext uri="{FF2B5EF4-FFF2-40B4-BE49-F238E27FC236}">
                <a16:creationId xmlns:a16="http://schemas.microsoft.com/office/drawing/2014/main" id="{335DDCAA-3647-A9F5-15BC-741DFD035436}"/>
              </a:ext>
            </a:extLst>
          </p:cNvPr>
          <p:cNvSpPr/>
          <p:nvPr/>
        </p:nvSpPr>
        <p:spPr>
          <a:xfrm>
            <a:off x="357986" y="616814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7" name="Rectangle 86">
            <a:extLst>
              <a:ext uri="{FF2B5EF4-FFF2-40B4-BE49-F238E27FC236}">
                <a16:creationId xmlns:a16="http://schemas.microsoft.com/office/drawing/2014/main" id="{06475E80-D4B0-4A34-DA59-56EBB6D4D75E}"/>
              </a:ext>
            </a:extLst>
          </p:cNvPr>
          <p:cNvSpPr/>
          <p:nvPr/>
        </p:nvSpPr>
        <p:spPr>
          <a:xfrm rot="16200000">
            <a:off x="-196503" y="4723565"/>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Arial" panose="020B060402020202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interactions)</a:t>
            </a:r>
          </a:p>
        </p:txBody>
      </p:sp>
      <p:sp>
        <p:nvSpPr>
          <p:cNvPr id="54" name="Google Shape;741;p13">
            <a:extLst>
              <a:ext uri="{FF2B5EF4-FFF2-40B4-BE49-F238E27FC236}">
                <a16:creationId xmlns:a16="http://schemas.microsoft.com/office/drawing/2014/main" id="{1E85DE8A-BDA1-90D3-8714-2D3190ECD1D9}"/>
              </a:ext>
            </a:extLst>
          </p:cNvPr>
          <p:cNvSpPr/>
          <p:nvPr/>
        </p:nvSpPr>
        <p:spPr>
          <a:xfrm>
            <a:off x="3511571" y="158385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Share of Voice – Overall</a:t>
            </a:r>
            <a:endParaRPr kumimoji="0" lang="en-US" sz="12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6" name="Rectangle 55">
            <a:extLst>
              <a:ext uri="{FF2B5EF4-FFF2-40B4-BE49-F238E27FC236}">
                <a16:creationId xmlns:a16="http://schemas.microsoft.com/office/drawing/2014/main" id="{47A8239D-4B01-2A52-9BF4-512DF77AA5B2}"/>
              </a:ext>
            </a:extLst>
          </p:cNvPr>
          <p:cNvSpPr/>
          <p:nvPr/>
        </p:nvSpPr>
        <p:spPr>
          <a:xfrm rot="16200000">
            <a:off x="-146719" y="2599800"/>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Arial" panose="020B060402020202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interactions)</a:t>
            </a:r>
          </a:p>
        </p:txBody>
      </p:sp>
      <p:sp>
        <p:nvSpPr>
          <p:cNvPr id="86" name="Rectangle 85">
            <a:extLst>
              <a:ext uri="{FF2B5EF4-FFF2-40B4-BE49-F238E27FC236}">
                <a16:creationId xmlns:a16="http://schemas.microsoft.com/office/drawing/2014/main" id="{A52E1E42-BFEE-C64E-2A91-2A78FFA1599E}"/>
              </a:ext>
            </a:extLst>
          </p:cNvPr>
          <p:cNvSpPr/>
          <p:nvPr/>
        </p:nvSpPr>
        <p:spPr>
          <a:xfrm rot="16200000">
            <a:off x="4133001" y="479323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Arial" panose="020B060402020202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interactions)</a:t>
            </a:r>
          </a:p>
        </p:txBody>
      </p:sp>
      <p:cxnSp>
        <p:nvCxnSpPr>
          <p:cNvPr id="96" name="Straight Connector 95">
            <a:extLst>
              <a:ext uri="{FF2B5EF4-FFF2-40B4-BE49-F238E27FC236}">
                <a16:creationId xmlns:a16="http://schemas.microsoft.com/office/drawing/2014/main" id="{98F2329A-7AAF-6C55-D17F-C1864DBEFFA3}"/>
              </a:ext>
            </a:extLst>
          </p:cNvPr>
          <p:cNvCxnSpPr>
            <a:cxnSpLocks/>
          </p:cNvCxnSpPr>
          <p:nvPr/>
        </p:nvCxnSpPr>
        <p:spPr>
          <a:xfrm flipH="1">
            <a:off x="249787" y="3865811"/>
            <a:ext cx="828000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9" name="Table 8">
            <a:extLst>
              <a:ext uri="{FF2B5EF4-FFF2-40B4-BE49-F238E27FC236}">
                <a16:creationId xmlns:a16="http://schemas.microsoft.com/office/drawing/2014/main" id="{9AB10778-A4DA-FB2C-AB4A-16250668B684}"/>
              </a:ext>
            </a:extLst>
          </p:cNvPr>
          <p:cNvGraphicFramePr>
            <a:graphicFrameLocks noGrp="1"/>
          </p:cNvGraphicFramePr>
          <p:nvPr>
            <p:custDataLst>
              <p:tags r:id="rId4"/>
            </p:custDataLst>
            <p:extLst>
              <p:ext uri="{D42A27DB-BD31-4B8C-83A1-F6EECF244321}">
                <p14:modId xmlns:p14="http://schemas.microsoft.com/office/powerpoint/2010/main" val="903097664"/>
              </p:ext>
            </p:extLst>
          </p:nvPr>
        </p:nvGraphicFramePr>
        <p:xfrm>
          <a:off x="461239" y="3450508"/>
          <a:ext cx="8193884" cy="399320"/>
        </p:xfrm>
        <a:graphic>
          <a:graphicData uri="http://schemas.openxmlformats.org/drawingml/2006/table">
            <a:tbl>
              <a:tblPr firstRow="1" bandRow="1">
                <a:tableStyleId>{B301B821-A1FF-4177-AEE7-76D212191A09}</a:tableStyleId>
              </a:tblPr>
              <a:tblGrid>
                <a:gridCol w="396119">
                  <a:extLst>
                    <a:ext uri="{9D8B030D-6E8A-4147-A177-3AD203B41FA5}">
                      <a16:colId xmlns:a16="http://schemas.microsoft.com/office/drawing/2014/main" val="2682733538"/>
                    </a:ext>
                  </a:extLst>
                </a:gridCol>
                <a:gridCol w="519851">
                  <a:extLst>
                    <a:ext uri="{9D8B030D-6E8A-4147-A177-3AD203B41FA5}">
                      <a16:colId xmlns:a16="http://schemas.microsoft.com/office/drawing/2014/main" val="697923106"/>
                    </a:ext>
                  </a:extLst>
                </a:gridCol>
                <a:gridCol w="519851">
                  <a:extLst>
                    <a:ext uri="{9D8B030D-6E8A-4147-A177-3AD203B41FA5}">
                      <a16:colId xmlns:a16="http://schemas.microsoft.com/office/drawing/2014/main" val="153520084"/>
                    </a:ext>
                  </a:extLst>
                </a:gridCol>
                <a:gridCol w="519851">
                  <a:extLst>
                    <a:ext uri="{9D8B030D-6E8A-4147-A177-3AD203B41FA5}">
                      <a16:colId xmlns:a16="http://schemas.microsoft.com/office/drawing/2014/main" val="1675574941"/>
                    </a:ext>
                  </a:extLst>
                </a:gridCol>
                <a:gridCol w="519851">
                  <a:extLst>
                    <a:ext uri="{9D8B030D-6E8A-4147-A177-3AD203B41FA5}">
                      <a16:colId xmlns:a16="http://schemas.microsoft.com/office/drawing/2014/main" val="878418837"/>
                    </a:ext>
                  </a:extLst>
                </a:gridCol>
                <a:gridCol w="519851">
                  <a:extLst>
                    <a:ext uri="{9D8B030D-6E8A-4147-A177-3AD203B41FA5}">
                      <a16:colId xmlns:a16="http://schemas.microsoft.com/office/drawing/2014/main" val="1950270881"/>
                    </a:ext>
                  </a:extLst>
                </a:gridCol>
                <a:gridCol w="519851">
                  <a:extLst>
                    <a:ext uri="{9D8B030D-6E8A-4147-A177-3AD203B41FA5}">
                      <a16:colId xmlns:a16="http://schemas.microsoft.com/office/drawing/2014/main" val="1588492894"/>
                    </a:ext>
                  </a:extLst>
                </a:gridCol>
                <a:gridCol w="519851">
                  <a:extLst>
                    <a:ext uri="{9D8B030D-6E8A-4147-A177-3AD203B41FA5}">
                      <a16:colId xmlns:a16="http://schemas.microsoft.com/office/drawing/2014/main" val="674903761"/>
                    </a:ext>
                  </a:extLst>
                </a:gridCol>
                <a:gridCol w="519851">
                  <a:extLst>
                    <a:ext uri="{9D8B030D-6E8A-4147-A177-3AD203B41FA5}">
                      <a16:colId xmlns:a16="http://schemas.microsoft.com/office/drawing/2014/main" val="2438569604"/>
                    </a:ext>
                  </a:extLst>
                </a:gridCol>
                <a:gridCol w="519851">
                  <a:extLst>
                    <a:ext uri="{9D8B030D-6E8A-4147-A177-3AD203B41FA5}">
                      <a16:colId xmlns:a16="http://schemas.microsoft.com/office/drawing/2014/main" val="3989655059"/>
                    </a:ext>
                  </a:extLst>
                </a:gridCol>
                <a:gridCol w="519851">
                  <a:extLst>
                    <a:ext uri="{9D8B030D-6E8A-4147-A177-3AD203B41FA5}">
                      <a16:colId xmlns:a16="http://schemas.microsoft.com/office/drawing/2014/main" val="794498370"/>
                    </a:ext>
                  </a:extLst>
                </a:gridCol>
                <a:gridCol w="519851">
                  <a:extLst>
                    <a:ext uri="{9D8B030D-6E8A-4147-A177-3AD203B41FA5}">
                      <a16:colId xmlns:a16="http://schemas.microsoft.com/office/drawing/2014/main" val="207620370"/>
                    </a:ext>
                  </a:extLst>
                </a:gridCol>
                <a:gridCol w="519851">
                  <a:extLst>
                    <a:ext uri="{9D8B030D-6E8A-4147-A177-3AD203B41FA5}">
                      <a16:colId xmlns:a16="http://schemas.microsoft.com/office/drawing/2014/main" val="811086921"/>
                    </a:ext>
                  </a:extLst>
                </a:gridCol>
                <a:gridCol w="519851">
                  <a:extLst>
                    <a:ext uri="{9D8B030D-6E8A-4147-A177-3AD203B41FA5}">
                      <a16:colId xmlns:a16="http://schemas.microsoft.com/office/drawing/2014/main" val="175740905"/>
                    </a:ext>
                  </a:extLst>
                </a:gridCol>
                <a:gridCol w="519851">
                  <a:extLst>
                    <a:ext uri="{9D8B030D-6E8A-4147-A177-3AD203B41FA5}">
                      <a16:colId xmlns:a16="http://schemas.microsoft.com/office/drawing/2014/main" val="130736661"/>
                    </a:ext>
                  </a:extLst>
                </a:gridCol>
                <a:gridCol w="519851">
                  <a:extLst>
                    <a:ext uri="{9D8B030D-6E8A-4147-A177-3AD203B41FA5}">
                      <a16:colId xmlns:a16="http://schemas.microsoft.com/office/drawing/2014/main" val="2819635866"/>
                    </a:ext>
                  </a:extLst>
                </a:gridCol>
              </a:tblGrid>
              <a:tr h="252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Jan'25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Feb'25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Apr'25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May'25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Jun'25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Jul'25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Aug'25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Sep'25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0935177"/>
                  </a:ext>
                </a:extLst>
              </a:tr>
              <a:tr h="144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3762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3427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3954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3262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3653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3311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3666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3612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3781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3758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3790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b" latinLnBrk="0" hangingPunct="1">
                        <a:buNone/>
                      </a:pPr>
                      <a:r>
                        <a:rPr lang="en-IN" sz="800" b="1" i="0" u="none" strike="noStrike" kern="1200">
                          <a:solidFill>
                            <a:srgbClr val="071D49"/>
                          </a:solidFill>
                          <a:effectLst/>
                          <a:latin typeface="+mn-lt"/>
                          <a:ea typeface="+mn-ea"/>
                          <a:cs typeface="+mn-cs"/>
                        </a:rPr>
                        <a:t>3694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buNone/>
                      </a:pPr>
                      <a:r>
                        <a:rPr lang="en-IN" sz="800" b="1" i="0" u="none" strike="noStrike" kern="1200">
                          <a:solidFill>
                            <a:srgbClr val="071D49"/>
                          </a:solidFill>
                          <a:effectLst/>
                          <a:latin typeface="+mn-lt"/>
                          <a:ea typeface="+mn-ea"/>
                          <a:cs typeface="+mn-cs"/>
                        </a:rPr>
                        <a:t>3343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buNone/>
                      </a:pPr>
                      <a:r>
                        <a:rPr lang="en-IN" sz="800" b="1" i="0" u="none" strike="noStrike" kern="1200">
                          <a:solidFill>
                            <a:srgbClr val="071D49"/>
                          </a:solidFill>
                          <a:effectLst/>
                          <a:latin typeface="+mn-lt"/>
                          <a:ea typeface="+mn-ea"/>
                          <a:cs typeface="+mn-cs"/>
                        </a:rPr>
                        <a:t>3013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buNone/>
                      </a:pPr>
                      <a:r>
                        <a:rPr lang="en-IN" sz="800" b="1" i="0" u="none" strike="noStrike" kern="1200">
                          <a:solidFill>
                            <a:srgbClr val="071D49"/>
                          </a:solidFill>
                          <a:effectLst/>
                          <a:latin typeface="+mn-lt"/>
                          <a:ea typeface="+mn-ea"/>
                          <a:cs typeface="+mn-cs"/>
                        </a:rPr>
                        <a:t>3038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8742764"/>
                  </a:ext>
                </a:extLst>
              </a:tr>
            </a:tbl>
          </a:graphicData>
        </a:graphic>
      </p:graphicFrame>
      <p:grpSp>
        <p:nvGrpSpPr>
          <p:cNvPr id="6" name="Group 5">
            <a:extLst>
              <a:ext uri="{FF2B5EF4-FFF2-40B4-BE49-F238E27FC236}">
                <a16:creationId xmlns:a16="http://schemas.microsoft.com/office/drawing/2014/main" id="{5442F678-D337-F513-9D15-5A3461A85DFE}"/>
              </a:ext>
            </a:extLst>
          </p:cNvPr>
          <p:cNvGrpSpPr/>
          <p:nvPr/>
        </p:nvGrpSpPr>
        <p:grpSpPr>
          <a:xfrm>
            <a:off x="6490550" y="1130339"/>
            <a:ext cx="2553649" cy="658701"/>
            <a:chOff x="6490547" y="1130338"/>
            <a:chExt cx="2553649" cy="658701"/>
          </a:xfrm>
        </p:grpSpPr>
        <p:grpSp>
          <p:nvGrpSpPr>
            <p:cNvPr id="10" name="Group 9">
              <a:extLst>
                <a:ext uri="{FF2B5EF4-FFF2-40B4-BE49-F238E27FC236}">
                  <a16:creationId xmlns:a16="http://schemas.microsoft.com/office/drawing/2014/main" id="{F8D31701-4F98-23B6-59C2-8EA57DE30F8A}"/>
                </a:ext>
              </a:extLst>
            </p:cNvPr>
            <p:cNvGrpSpPr/>
            <p:nvPr/>
          </p:nvGrpSpPr>
          <p:grpSpPr>
            <a:xfrm>
              <a:off x="6704982" y="1178481"/>
              <a:ext cx="1548909" cy="246181"/>
              <a:chOff x="6463878" y="5263238"/>
              <a:chExt cx="1548909" cy="246181"/>
            </a:xfrm>
          </p:grpSpPr>
          <p:sp>
            <p:nvSpPr>
              <p:cNvPr id="37" name="Google Shape;763;p18">
                <a:extLst>
                  <a:ext uri="{FF2B5EF4-FFF2-40B4-BE49-F238E27FC236}">
                    <a16:creationId xmlns:a16="http://schemas.microsoft.com/office/drawing/2014/main" id="{8F0B12A4-4DBA-EC6E-8F8A-F023C9600ABB}"/>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sp>
            <p:nvSpPr>
              <p:cNvPr id="49" name="Google Shape;764;p18">
                <a:extLst>
                  <a:ext uri="{FF2B5EF4-FFF2-40B4-BE49-F238E27FC236}">
                    <a16:creationId xmlns:a16="http://schemas.microsoft.com/office/drawing/2014/main" id="{62875A58-632B-47C0-4720-80C7881047F8}"/>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grpSp>
        <p:grpSp>
          <p:nvGrpSpPr>
            <p:cNvPr id="26" name="Group 25">
              <a:extLst>
                <a:ext uri="{FF2B5EF4-FFF2-40B4-BE49-F238E27FC236}">
                  <a16:creationId xmlns:a16="http://schemas.microsoft.com/office/drawing/2014/main" id="{49A0CA63-2394-02E0-6B9A-714F978D1369}"/>
                </a:ext>
              </a:extLst>
            </p:cNvPr>
            <p:cNvGrpSpPr/>
            <p:nvPr/>
          </p:nvGrpSpPr>
          <p:grpSpPr>
            <a:xfrm>
              <a:off x="6704982" y="1459847"/>
              <a:ext cx="1548909" cy="246181"/>
              <a:chOff x="6463878" y="5569382"/>
              <a:chExt cx="1548909" cy="246181"/>
            </a:xfrm>
          </p:grpSpPr>
          <p:sp>
            <p:nvSpPr>
              <p:cNvPr id="35" name="Google Shape;764;p18">
                <a:extLst>
                  <a:ext uri="{FF2B5EF4-FFF2-40B4-BE49-F238E27FC236}">
                    <a16:creationId xmlns:a16="http://schemas.microsoft.com/office/drawing/2014/main" id="{686186B8-6AC6-7AB3-BE63-0A414D92D1A9}"/>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sp>
            <p:nvSpPr>
              <p:cNvPr id="36" name="Google Shape;763;p18">
                <a:extLst>
                  <a:ext uri="{FF2B5EF4-FFF2-40B4-BE49-F238E27FC236}">
                    <a16:creationId xmlns:a16="http://schemas.microsoft.com/office/drawing/2014/main" id="{50DD6488-438E-424E-8AFA-1C03E4BDD738}"/>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grpSp>
        <p:grpSp>
          <p:nvGrpSpPr>
            <p:cNvPr id="28" name="Group 27">
              <a:extLst>
                <a:ext uri="{FF2B5EF4-FFF2-40B4-BE49-F238E27FC236}">
                  <a16:creationId xmlns:a16="http://schemas.microsoft.com/office/drawing/2014/main" id="{08684473-6F39-8E5C-DA88-395D1829909A}"/>
                </a:ext>
              </a:extLst>
            </p:cNvPr>
            <p:cNvGrpSpPr/>
            <p:nvPr/>
          </p:nvGrpSpPr>
          <p:grpSpPr>
            <a:xfrm>
              <a:off x="7833585" y="1178324"/>
              <a:ext cx="1210611" cy="246181"/>
              <a:chOff x="7592481" y="5287523"/>
              <a:chExt cx="1210611" cy="246181"/>
            </a:xfrm>
          </p:grpSpPr>
          <p:sp>
            <p:nvSpPr>
              <p:cNvPr id="33" name="Google Shape;764;p18">
                <a:extLst>
                  <a:ext uri="{FF2B5EF4-FFF2-40B4-BE49-F238E27FC236}">
                    <a16:creationId xmlns:a16="http://schemas.microsoft.com/office/drawing/2014/main" id="{B75F38E2-73D2-B654-452C-A9F36B88C5B0}"/>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sp>
            <p:nvSpPr>
              <p:cNvPr id="34" name="Google Shape;763;p18">
                <a:extLst>
                  <a:ext uri="{FF2B5EF4-FFF2-40B4-BE49-F238E27FC236}">
                    <a16:creationId xmlns:a16="http://schemas.microsoft.com/office/drawing/2014/main" id="{1DD97C2E-A62A-9595-470B-2F47ABDAF253}"/>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grpSp>
        <p:grpSp>
          <p:nvGrpSpPr>
            <p:cNvPr id="29" name="Group 28">
              <a:extLst>
                <a:ext uri="{FF2B5EF4-FFF2-40B4-BE49-F238E27FC236}">
                  <a16:creationId xmlns:a16="http://schemas.microsoft.com/office/drawing/2014/main" id="{EDC14161-C3B8-1E66-95B5-B6CDA4BE96D8}"/>
                </a:ext>
              </a:extLst>
            </p:cNvPr>
            <p:cNvGrpSpPr/>
            <p:nvPr/>
          </p:nvGrpSpPr>
          <p:grpSpPr>
            <a:xfrm>
              <a:off x="7833585" y="1459689"/>
              <a:ext cx="1067607" cy="246181"/>
              <a:chOff x="7592481" y="5544446"/>
              <a:chExt cx="1067607" cy="246181"/>
            </a:xfrm>
          </p:grpSpPr>
          <p:sp>
            <p:nvSpPr>
              <p:cNvPr id="31" name="Google Shape;764;p18">
                <a:extLst>
                  <a:ext uri="{FF2B5EF4-FFF2-40B4-BE49-F238E27FC236}">
                    <a16:creationId xmlns:a16="http://schemas.microsoft.com/office/drawing/2014/main" id="{C3F81429-A347-2D89-F7C1-5DB757B86DDB}"/>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sp>
            <p:nvSpPr>
              <p:cNvPr id="32" name="Google Shape;763;p18">
                <a:extLst>
                  <a:ext uri="{FF2B5EF4-FFF2-40B4-BE49-F238E27FC236}">
                    <a16:creationId xmlns:a16="http://schemas.microsoft.com/office/drawing/2014/main" id="{D78B6843-910A-223C-307D-17C8C37B5E0F}"/>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grpSp>
        <p:sp>
          <p:nvSpPr>
            <p:cNvPr id="30" name="Rectangle 29">
              <a:extLst>
                <a:ext uri="{FF2B5EF4-FFF2-40B4-BE49-F238E27FC236}">
                  <a16:creationId xmlns:a16="http://schemas.microsoft.com/office/drawing/2014/main" id="{2CA64AFC-1F45-D702-9C44-DE79F402C66A}"/>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Arial" panose="020B0604020202020204" pitchFamily="34" charset="0"/>
                <a:sym typeface="Arial"/>
              </a:endParaRPr>
            </a:p>
          </p:txBody>
        </p:sp>
      </p:grpSp>
      <p:sp>
        <p:nvSpPr>
          <p:cNvPr id="3" name="TextBox 2">
            <a:extLst>
              <a:ext uri="{FF2B5EF4-FFF2-40B4-BE49-F238E27FC236}">
                <a16:creationId xmlns:a16="http://schemas.microsoft.com/office/drawing/2014/main" id="{88AF5DA4-E8EB-05E9-E55F-C2EF1F2E85AB}"/>
              </a:ext>
            </a:extLst>
          </p:cNvPr>
          <p:cNvSpPr txBox="1"/>
          <p:nvPr/>
        </p:nvSpPr>
        <p:spPr>
          <a:xfrm>
            <a:off x="7251192" y="715460"/>
            <a:ext cx="165000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panose="020B0604020202020204" pitchFamily="34" charset="0"/>
                <a:sym typeface="Arial"/>
                <a:hlinkClick r:id="rId12" action="ppaction://hlinksldjump">
                  <a:extLst>
                    <a:ext uri="{A12FA001-AC4F-418D-AE19-62706E023703}">
                      <ahyp:hlinkClr xmlns:ahyp="http://schemas.microsoft.com/office/drawing/2018/hyperlinkcolor" val="tx"/>
                    </a:ext>
                  </a:extLst>
                </a:hlinkClick>
              </a:rPr>
              <a:t>Overall - NP/PA data</a:t>
            </a:r>
            <a:endParaRPr kumimoji="0" lang="en-US" sz="1000" b="0" i="0" u="sng" strike="noStrike" kern="0" cap="none" spc="0" normalizeH="0" baseline="0" noProof="0">
              <a:ln>
                <a:noFill/>
              </a:ln>
              <a:solidFill>
                <a:schemeClr val="accent1"/>
              </a:solidFill>
              <a:effectLst/>
              <a:uLnTx/>
              <a:uFillTx/>
              <a:latin typeface="+mn-lt"/>
              <a:cs typeface="Arial" panose="020B0604020202020204" pitchFamily="34" charset="0"/>
              <a:sym typeface="Arial"/>
            </a:endParaRPr>
          </a:p>
        </p:txBody>
      </p:sp>
      <p:sp>
        <p:nvSpPr>
          <p:cNvPr id="46" name="Google Shape;561;p14">
            <a:extLst>
              <a:ext uri="{FF2B5EF4-FFF2-40B4-BE49-F238E27FC236}">
                <a16:creationId xmlns:a16="http://schemas.microsoft.com/office/drawing/2014/main" id="{BE2DC107-0582-231F-9A19-401924581DAD}"/>
              </a:ext>
            </a:extLst>
          </p:cNvPr>
          <p:cNvSpPr/>
          <p:nvPr/>
        </p:nvSpPr>
        <p:spPr>
          <a:xfrm>
            <a:off x="1099434" y="42750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1" name="Google Shape;561;p14">
            <a:extLst>
              <a:ext uri="{FF2B5EF4-FFF2-40B4-BE49-F238E27FC236}">
                <a16:creationId xmlns:a16="http://schemas.microsoft.com/office/drawing/2014/main" id="{E53B92DC-2502-2C67-632F-6FD6A69790C9}"/>
              </a:ext>
            </a:extLst>
          </p:cNvPr>
          <p:cNvSpPr/>
          <p:nvPr/>
        </p:nvSpPr>
        <p:spPr>
          <a:xfrm>
            <a:off x="5435564" y="425660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3" name="Google Shape;561;p14">
            <a:extLst>
              <a:ext uri="{FF2B5EF4-FFF2-40B4-BE49-F238E27FC236}">
                <a16:creationId xmlns:a16="http://schemas.microsoft.com/office/drawing/2014/main" id="{708DD0E3-3F0D-5443-FBF9-64120AE2C2B7}"/>
              </a:ext>
            </a:extLst>
          </p:cNvPr>
          <p:cNvSpPr/>
          <p:nvPr/>
        </p:nvSpPr>
        <p:spPr>
          <a:xfrm>
            <a:off x="1768570" y="43082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8" name="Google Shape;561;p14">
            <a:extLst>
              <a:ext uri="{FF2B5EF4-FFF2-40B4-BE49-F238E27FC236}">
                <a16:creationId xmlns:a16="http://schemas.microsoft.com/office/drawing/2014/main" id="{07B65878-EDD3-B635-A99A-4ACF65F8EC8B}"/>
              </a:ext>
            </a:extLst>
          </p:cNvPr>
          <p:cNvSpPr/>
          <p:nvPr/>
        </p:nvSpPr>
        <p:spPr>
          <a:xfrm>
            <a:off x="6141641" y="420080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20" name="Highlight#32">
            <a:extLst>
              <a:ext uri="{FF2B5EF4-FFF2-40B4-BE49-F238E27FC236}">
                <a16:creationId xmlns:a16="http://schemas.microsoft.com/office/drawing/2014/main" id="{7F796B5C-8A97-3D6C-1672-DE28D5D0B741}"/>
              </a:ext>
            </a:extLst>
          </p:cNvPr>
          <p:cNvSpPr txBox="1"/>
          <p:nvPr/>
        </p:nvSpPr>
        <p:spPr>
          <a:xfrm>
            <a:off x="6667017" y="1860145"/>
            <a:ext cx="2067977" cy="794221"/>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4" name="Google Shape;561;p14">
            <a:extLst>
              <a:ext uri="{FF2B5EF4-FFF2-40B4-BE49-F238E27FC236}">
                <a16:creationId xmlns:a16="http://schemas.microsoft.com/office/drawing/2014/main" id="{C46C8852-3369-40E9-0256-8003B6C74C15}"/>
              </a:ext>
            </a:extLst>
          </p:cNvPr>
          <p:cNvSpPr/>
          <p:nvPr/>
        </p:nvSpPr>
        <p:spPr>
          <a:xfrm>
            <a:off x="2437706" y="432529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5" name="Google Shape;561;p14">
            <a:extLst>
              <a:ext uri="{FF2B5EF4-FFF2-40B4-BE49-F238E27FC236}">
                <a16:creationId xmlns:a16="http://schemas.microsoft.com/office/drawing/2014/main" id="{883A7D28-AC89-CFA6-5E58-321D9770F5B8}"/>
              </a:ext>
            </a:extLst>
          </p:cNvPr>
          <p:cNvSpPr/>
          <p:nvPr/>
        </p:nvSpPr>
        <p:spPr>
          <a:xfrm>
            <a:off x="6809076" y="429352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6" name="Google Shape;561;p14">
            <a:extLst>
              <a:ext uri="{FF2B5EF4-FFF2-40B4-BE49-F238E27FC236}">
                <a16:creationId xmlns:a16="http://schemas.microsoft.com/office/drawing/2014/main" id="{3C06A1F4-2D36-302B-6B9B-27DC7B036312}"/>
              </a:ext>
            </a:extLst>
          </p:cNvPr>
          <p:cNvSpPr/>
          <p:nvPr/>
        </p:nvSpPr>
        <p:spPr>
          <a:xfrm>
            <a:off x="3106842" y="43070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7" name="Google Shape;561;p14">
            <a:extLst>
              <a:ext uri="{FF2B5EF4-FFF2-40B4-BE49-F238E27FC236}">
                <a16:creationId xmlns:a16="http://schemas.microsoft.com/office/drawing/2014/main" id="{61033E8F-7226-9E57-4359-90236549D2D6}"/>
              </a:ext>
            </a:extLst>
          </p:cNvPr>
          <p:cNvSpPr/>
          <p:nvPr/>
        </p:nvSpPr>
        <p:spPr>
          <a:xfrm>
            <a:off x="7528119" y="43082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2" name="Google Shape;561;p14">
            <a:extLst>
              <a:ext uri="{FF2B5EF4-FFF2-40B4-BE49-F238E27FC236}">
                <a16:creationId xmlns:a16="http://schemas.microsoft.com/office/drawing/2014/main" id="{6090DF98-8C14-3AB0-ABEE-78B4C5326995}"/>
              </a:ext>
            </a:extLst>
          </p:cNvPr>
          <p:cNvSpPr/>
          <p:nvPr/>
        </p:nvSpPr>
        <p:spPr>
          <a:xfrm>
            <a:off x="3775978" y="427995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1" name="Google Shape;561;p14">
            <a:extLst>
              <a:ext uri="{FF2B5EF4-FFF2-40B4-BE49-F238E27FC236}">
                <a16:creationId xmlns:a16="http://schemas.microsoft.com/office/drawing/2014/main" id="{0C03C4F6-BD4C-0ACD-CF04-E794E40E9F47}"/>
              </a:ext>
            </a:extLst>
          </p:cNvPr>
          <p:cNvSpPr/>
          <p:nvPr/>
        </p:nvSpPr>
        <p:spPr>
          <a:xfrm>
            <a:off x="4445115" y="418224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1" name="Google Shape;561;p14">
            <a:extLst>
              <a:ext uri="{FF2B5EF4-FFF2-40B4-BE49-F238E27FC236}">
                <a16:creationId xmlns:a16="http://schemas.microsoft.com/office/drawing/2014/main" id="{5675AA2B-14C2-6A47-7FEA-776F48184FA1}"/>
              </a:ext>
            </a:extLst>
          </p:cNvPr>
          <p:cNvSpPr/>
          <p:nvPr/>
        </p:nvSpPr>
        <p:spPr>
          <a:xfrm>
            <a:off x="8265263" y="427995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2" name="Google Shape;561;p14">
            <a:extLst>
              <a:ext uri="{FF2B5EF4-FFF2-40B4-BE49-F238E27FC236}">
                <a16:creationId xmlns:a16="http://schemas.microsoft.com/office/drawing/2014/main" id="{C16B1733-C671-E9A0-0FA4-82043ABC8052}"/>
              </a:ext>
            </a:extLst>
          </p:cNvPr>
          <p:cNvSpPr/>
          <p:nvPr/>
        </p:nvSpPr>
        <p:spPr>
          <a:xfrm>
            <a:off x="8932698" y="429352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0" name="Google Shape;561;p14">
            <a:extLst>
              <a:ext uri="{FF2B5EF4-FFF2-40B4-BE49-F238E27FC236}">
                <a16:creationId xmlns:a16="http://schemas.microsoft.com/office/drawing/2014/main" id="{ED7B1149-D54E-86EF-41E5-4F22AAE87AB7}"/>
              </a:ext>
            </a:extLst>
          </p:cNvPr>
          <p:cNvSpPr/>
          <p:nvPr/>
        </p:nvSpPr>
        <p:spPr>
          <a:xfrm>
            <a:off x="1224666" y="203406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9" name="Google Shape;561;p14">
            <a:extLst>
              <a:ext uri="{FF2B5EF4-FFF2-40B4-BE49-F238E27FC236}">
                <a16:creationId xmlns:a16="http://schemas.microsoft.com/office/drawing/2014/main" id="{A6EA77A5-8F27-C567-88AF-5384EDA2DA48}"/>
              </a:ext>
            </a:extLst>
          </p:cNvPr>
          <p:cNvSpPr/>
          <p:nvPr/>
        </p:nvSpPr>
        <p:spPr>
          <a:xfrm>
            <a:off x="1720834" y="20745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0" name="Google Shape;561;p14">
            <a:extLst>
              <a:ext uri="{FF2B5EF4-FFF2-40B4-BE49-F238E27FC236}">
                <a16:creationId xmlns:a16="http://schemas.microsoft.com/office/drawing/2014/main" id="{6ECA43E7-14E1-5C3B-C85C-359E2DABA987}"/>
              </a:ext>
            </a:extLst>
          </p:cNvPr>
          <p:cNvSpPr/>
          <p:nvPr/>
        </p:nvSpPr>
        <p:spPr>
          <a:xfrm>
            <a:off x="2259191" y="20745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1" name="Google Shape;561;p14">
            <a:extLst>
              <a:ext uri="{FF2B5EF4-FFF2-40B4-BE49-F238E27FC236}">
                <a16:creationId xmlns:a16="http://schemas.microsoft.com/office/drawing/2014/main" id="{5DFFEB95-02D1-3801-B678-623520D17CCB}"/>
              </a:ext>
            </a:extLst>
          </p:cNvPr>
          <p:cNvSpPr/>
          <p:nvPr/>
        </p:nvSpPr>
        <p:spPr>
          <a:xfrm>
            <a:off x="2762835" y="20745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2" name="Google Shape;561;p14">
            <a:extLst>
              <a:ext uri="{FF2B5EF4-FFF2-40B4-BE49-F238E27FC236}">
                <a16:creationId xmlns:a16="http://schemas.microsoft.com/office/drawing/2014/main" id="{9B9A4F69-5306-E4B2-6461-5410BEC7FEA8}"/>
              </a:ext>
            </a:extLst>
          </p:cNvPr>
          <p:cNvSpPr/>
          <p:nvPr/>
        </p:nvSpPr>
        <p:spPr>
          <a:xfrm>
            <a:off x="3302952" y="20187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6" name="Google Shape;561;p14">
            <a:extLst>
              <a:ext uri="{FF2B5EF4-FFF2-40B4-BE49-F238E27FC236}">
                <a16:creationId xmlns:a16="http://schemas.microsoft.com/office/drawing/2014/main" id="{DA8FAA3C-B388-1D17-4AC2-E249298141FB}"/>
              </a:ext>
            </a:extLst>
          </p:cNvPr>
          <p:cNvSpPr/>
          <p:nvPr/>
        </p:nvSpPr>
        <p:spPr>
          <a:xfrm>
            <a:off x="3805701" y="20187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7" name="Google Shape;561;p14">
            <a:extLst>
              <a:ext uri="{FF2B5EF4-FFF2-40B4-BE49-F238E27FC236}">
                <a16:creationId xmlns:a16="http://schemas.microsoft.com/office/drawing/2014/main" id="{A4D8BACB-C083-638E-6433-B222153CF0E8}"/>
              </a:ext>
            </a:extLst>
          </p:cNvPr>
          <p:cNvSpPr/>
          <p:nvPr/>
        </p:nvSpPr>
        <p:spPr>
          <a:xfrm>
            <a:off x="4344488"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8" name="Google Shape;561;p14">
            <a:extLst>
              <a:ext uri="{FF2B5EF4-FFF2-40B4-BE49-F238E27FC236}">
                <a16:creationId xmlns:a16="http://schemas.microsoft.com/office/drawing/2014/main" id="{2ADDF77A-D16F-6E5C-019E-074603331535}"/>
              </a:ext>
            </a:extLst>
          </p:cNvPr>
          <p:cNvSpPr/>
          <p:nvPr/>
        </p:nvSpPr>
        <p:spPr>
          <a:xfrm>
            <a:off x="4872195"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79" name="Google Shape;561;p14">
            <a:extLst>
              <a:ext uri="{FF2B5EF4-FFF2-40B4-BE49-F238E27FC236}">
                <a16:creationId xmlns:a16="http://schemas.microsoft.com/office/drawing/2014/main" id="{7C133F34-D1B2-70BA-3B19-32E27D68BE1B}"/>
              </a:ext>
            </a:extLst>
          </p:cNvPr>
          <p:cNvSpPr/>
          <p:nvPr/>
        </p:nvSpPr>
        <p:spPr>
          <a:xfrm>
            <a:off x="5406245"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0" name="Google Shape;561;p14">
            <a:extLst>
              <a:ext uri="{FF2B5EF4-FFF2-40B4-BE49-F238E27FC236}">
                <a16:creationId xmlns:a16="http://schemas.microsoft.com/office/drawing/2014/main" id="{263DB9EB-2FC7-0665-9C39-0D954F56CD58}"/>
              </a:ext>
            </a:extLst>
          </p:cNvPr>
          <p:cNvSpPr/>
          <p:nvPr/>
        </p:nvSpPr>
        <p:spPr>
          <a:xfrm>
            <a:off x="5898104"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1" name="Google Shape;561;p14">
            <a:extLst>
              <a:ext uri="{FF2B5EF4-FFF2-40B4-BE49-F238E27FC236}">
                <a16:creationId xmlns:a16="http://schemas.microsoft.com/office/drawing/2014/main" id="{7DA8EAF0-67C3-04FA-B586-506662DDA397}"/>
              </a:ext>
            </a:extLst>
          </p:cNvPr>
          <p:cNvSpPr/>
          <p:nvPr/>
        </p:nvSpPr>
        <p:spPr>
          <a:xfrm>
            <a:off x="6434799"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3" name="Google Shape;561;p14">
            <a:extLst>
              <a:ext uri="{FF2B5EF4-FFF2-40B4-BE49-F238E27FC236}">
                <a16:creationId xmlns:a16="http://schemas.microsoft.com/office/drawing/2014/main" id="{0B7B7E31-F205-CDF8-C7D0-7BD590198F01}"/>
              </a:ext>
            </a:extLst>
          </p:cNvPr>
          <p:cNvSpPr/>
          <p:nvPr/>
        </p:nvSpPr>
        <p:spPr>
          <a:xfrm>
            <a:off x="6942831"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5" name="Google Shape;561;p14">
            <a:extLst>
              <a:ext uri="{FF2B5EF4-FFF2-40B4-BE49-F238E27FC236}">
                <a16:creationId xmlns:a16="http://schemas.microsoft.com/office/drawing/2014/main" id="{2B04541D-04CA-A491-88A8-C13C74DE6E3C}"/>
              </a:ext>
            </a:extLst>
          </p:cNvPr>
          <p:cNvSpPr/>
          <p:nvPr/>
        </p:nvSpPr>
        <p:spPr>
          <a:xfrm>
            <a:off x="7479694"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8" name="Google Shape;561;p14">
            <a:extLst>
              <a:ext uri="{FF2B5EF4-FFF2-40B4-BE49-F238E27FC236}">
                <a16:creationId xmlns:a16="http://schemas.microsoft.com/office/drawing/2014/main" id="{736394FA-0ED3-5D50-5E85-22E0DE2CE71F}"/>
              </a:ext>
            </a:extLst>
          </p:cNvPr>
          <p:cNvSpPr/>
          <p:nvPr/>
        </p:nvSpPr>
        <p:spPr>
          <a:xfrm>
            <a:off x="8001346"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9" name="Google Shape;561;p14">
            <a:extLst>
              <a:ext uri="{FF2B5EF4-FFF2-40B4-BE49-F238E27FC236}">
                <a16:creationId xmlns:a16="http://schemas.microsoft.com/office/drawing/2014/main" id="{17FBD736-3F67-008F-4707-C5702A174A5D}"/>
              </a:ext>
            </a:extLst>
          </p:cNvPr>
          <p:cNvSpPr/>
          <p:nvPr/>
        </p:nvSpPr>
        <p:spPr>
          <a:xfrm>
            <a:off x="8520176"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8" name="Table 7">
            <a:extLst>
              <a:ext uri="{FF2B5EF4-FFF2-40B4-BE49-F238E27FC236}">
                <a16:creationId xmlns:a16="http://schemas.microsoft.com/office/drawing/2014/main" id="{7ADEF06E-06AD-7327-263D-84411917B08E}"/>
              </a:ext>
            </a:extLst>
          </p:cNvPr>
          <p:cNvGraphicFramePr>
            <a:graphicFrameLocks noGrp="1"/>
          </p:cNvGraphicFramePr>
          <p:nvPr>
            <p:custDataLst>
              <p:tags r:id="rId5"/>
            </p:custDataLst>
            <p:extLst>
              <p:ext uri="{D42A27DB-BD31-4B8C-83A1-F6EECF244321}">
                <p14:modId xmlns:p14="http://schemas.microsoft.com/office/powerpoint/2010/main" val="2340622223"/>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2026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1950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1816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1931</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1602</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1347</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90" name="Table 89">
            <a:extLst>
              <a:ext uri="{FF2B5EF4-FFF2-40B4-BE49-F238E27FC236}">
                <a16:creationId xmlns:a16="http://schemas.microsoft.com/office/drawing/2014/main" id="{02437898-B740-0A7A-02C6-D8CFC8AF7425}"/>
              </a:ext>
            </a:extLst>
          </p:cNvPr>
          <p:cNvGraphicFramePr>
            <a:graphicFrameLocks noGrp="1"/>
          </p:cNvGraphicFramePr>
          <p:nvPr>
            <p:custDataLst>
              <p:tags r:id="rId6"/>
            </p:custDataLst>
            <p:extLst>
              <p:ext uri="{D42A27DB-BD31-4B8C-83A1-F6EECF244321}">
                <p14:modId xmlns:p14="http://schemas.microsoft.com/office/powerpoint/2010/main" val="2928455877"/>
              </p:ext>
            </p:extLst>
          </p:nvPr>
        </p:nvGraphicFramePr>
        <p:xfrm>
          <a:off x="4652045" y="5598377"/>
          <a:ext cx="4408933" cy="294640"/>
        </p:xfrm>
        <a:graphic>
          <a:graphicData uri="http://schemas.openxmlformats.org/drawingml/2006/table">
            <a:tbl>
              <a:tblPr firstRow="1" bandRow="1">
                <a:tableStyleId>{B301B821-A1FF-4177-AEE7-76D212191A09}</a:tableStyleId>
              </a:tblPr>
              <a:tblGrid>
                <a:gridCol w="406627">
                  <a:extLst>
                    <a:ext uri="{9D8B030D-6E8A-4147-A177-3AD203B41FA5}">
                      <a16:colId xmlns:a16="http://schemas.microsoft.com/office/drawing/2014/main" val="2682733538"/>
                    </a:ext>
                  </a:extLst>
                </a:gridCol>
                <a:gridCol w="667051">
                  <a:extLst>
                    <a:ext uri="{9D8B030D-6E8A-4147-A177-3AD203B41FA5}">
                      <a16:colId xmlns:a16="http://schemas.microsoft.com/office/drawing/2014/main" val="794498370"/>
                    </a:ext>
                  </a:extLst>
                </a:gridCol>
                <a:gridCol w="667051">
                  <a:extLst>
                    <a:ext uri="{9D8B030D-6E8A-4147-A177-3AD203B41FA5}">
                      <a16:colId xmlns:a16="http://schemas.microsoft.com/office/drawing/2014/main" val="207620370"/>
                    </a:ext>
                  </a:extLst>
                </a:gridCol>
                <a:gridCol w="667051">
                  <a:extLst>
                    <a:ext uri="{9D8B030D-6E8A-4147-A177-3AD203B41FA5}">
                      <a16:colId xmlns:a16="http://schemas.microsoft.com/office/drawing/2014/main" val="811086921"/>
                    </a:ext>
                  </a:extLst>
                </a:gridCol>
                <a:gridCol w="667051">
                  <a:extLst>
                    <a:ext uri="{9D8B030D-6E8A-4147-A177-3AD203B41FA5}">
                      <a16:colId xmlns:a16="http://schemas.microsoft.com/office/drawing/2014/main" val="175740905"/>
                    </a:ext>
                  </a:extLst>
                </a:gridCol>
                <a:gridCol w="667051">
                  <a:extLst>
                    <a:ext uri="{9D8B030D-6E8A-4147-A177-3AD203B41FA5}">
                      <a16:colId xmlns:a16="http://schemas.microsoft.com/office/drawing/2014/main" val="130736661"/>
                    </a:ext>
                  </a:extLst>
                </a:gridCol>
                <a:gridCol w="667051">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599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686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722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529</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503</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IN" sz="800" b="1" i="0" u="none" strike="noStrike" kern="1200">
                          <a:solidFill>
                            <a:srgbClr val="071D49"/>
                          </a:solidFill>
                          <a:effectLst/>
                          <a:latin typeface="+mn-lt"/>
                          <a:ea typeface="+mn-ea"/>
                          <a:cs typeface="+mn-cs"/>
                        </a:rPr>
                        <a:t>666</a:t>
                      </a:r>
                    </a:p>
                  </a:txBody>
                  <a:tcPr marL="0" marR="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sp>
        <p:nvSpPr>
          <p:cNvPr id="5" name="Highlight#32">
            <a:extLst>
              <a:ext uri="{FF2B5EF4-FFF2-40B4-BE49-F238E27FC236}">
                <a16:creationId xmlns:a16="http://schemas.microsoft.com/office/drawing/2014/main" id="{0708D646-97F1-B679-DCC7-CEBB355492DB}"/>
              </a:ext>
            </a:extLst>
          </p:cNvPr>
          <p:cNvSpPr txBox="1"/>
          <p:nvPr/>
        </p:nvSpPr>
        <p:spPr>
          <a:xfrm>
            <a:off x="3362770" y="4136313"/>
            <a:ext cx="1222574" cy="876534"/>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Tree>
    <p:extLst>
      <p:ext uri="{BB962C8B-B14F-4D97-AF65-F5344CB8AC3E}">
        <p14:creationId xmlns:p14="http://schemas.microsoft.com/office/powerpoint/2010/main" val="26070785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graphicFrame>
        <p:nvGraphicFramePr>
          <p:cNvPr id="82" name="Chart 81">
            <a:extLst>
              <a:ext uri="{FF2B5EF4-FFF2-40B4-BE49-F238E27FC236}">
                <a16:creationId xmlns:a16="http://schemas.microsoft.com/office/drawing/2014/main" id="{D2680451-E0B2-E5EE-047A-9EF596E8C09B}"/>
              </a:ext>
            </a:extLst>
          </p:cNvPr>
          <p:cNvGraphicFramePr/>
          <p:nvPr>
            <p:custDataLst>
              <p:tags r:id="rId1"/>
            </p:custDataLst>
            <p:extLst>
              <p:ext uri="{D42A27DB-BD31-4B8C-83A1-F6EECF244321}">
                <p14:modId xmlns:p14="http://schemas.microsoft.com/office/powerpoint/2010/main" val="3081875075"/>
              </p:ext>
            </p:extLst>
          </p:nvPr>
        </p:nvGraphicFramePr>
        <p:xfrm>
          <a:off x="4400239" y="3994097"/>
          <a:ext cx="5148776" cy="1777779"/>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3" name="Chart 72">
            <a:extLst>
              <a:ext uri="{FF2B5EF4-FFF2-40B4-BE49-F238E27FC236}">
                <a16:creationId xmlns:a16="http://schemas.microsoft.com/office/drawing/2014/main" id="{7EFD2B0C-51BC-7C14-5FB0-EA7FC53338C1}"/>
              </a:ext>
            </a:extLst>
          </p:cNvPr>
          <p:cNvGraphicFramePr/>
          <p:nvPr>
            <p:custDataLst>
              <p:tags r:id="rId2"/>
            </p:custDataLst>
            <p:extLst>
              <p:ext uri="{D42A27DB-BD31-4B8C-83A1-F6EECF244321}">
                <p14:modId xmlns:p14="http://schemas.microsoft.com/office/powerpoint/2010/main" val="1903097023"/>
              </p:ext>
            </p:extLst>
          </p:nvPr>
        </p:nvGraphicFramePr>
        <p:xfrm>
          <a:off x="268883" y="1926014"/>
          <a:ext cx="8352741" cy="1771137"/>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7" name="Chart 56">
            <a:extLst>
              <a:ext uri="{FF2B5EF4-FFF2-40B4-BE49-F238E27FC236}">
                <a16:creationId xmlns:a16="http://schemas.microsoft.com/office/drawing/2014/main" id="{BC3570F9-A64F-411C-C0D6-BA1FA08B6E66}"/>
              </a:ext>
            </a:extLst>
          </p:cNvPr>
          <p:cNvGraphicFramePr/>
          <p:nvPr>
            <p:custDataLst>
              <p:tags r:id="rId3"/>
            </p:custDataLst>
            <p:extLst>
              <p:ext uri="{D42A27DB-BD31-4B8C-83A1-F6EECF244321}">
                <p14:modId xmlns:p14="http://schemas.microsoft.com/office/powerpoint/2010/main" val="2028740889"/>
              </p:ext>
            </p:extLst>
          </p:nvPr>
        </p:nvGraphicFramePr>
        <p:xfrm>
          <a:off x="39731" y="4006945"/>
          <a:ext cx="5148776" cy="1771137"/>
        </p:xfrm>
        <a:graphic>
          <a:graphicData uri="http://schemas.openxmlformats.org/drawingml/2006/chart">
            <c:chart xmlns:c="http://schemas.openxmlformats.org/drawingml/2006/chart" xmlns:r="http://schemas.openxmlformats.org/officeDocument/2006/relationships" r:id="rId11"/>
          </a:graphicData>
        </a:graphic>
      </p:graphicFrame>
      <p:sp>
        <p:nvSpPr>
          <p:cNvPr id="573" name="Google Shape;573;p15"/>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a:sym typeface="Calibri"/>
              </a:rPr>
              <a:t>Reach**</a:t>
            </a: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mn-lt"/>
                <a:ea typeface="Calibri"/>
                <a:cs typeface="Calibri"/>
                <a:sym typeface="Calibri"/>
              </a:rPr>
              <a:t>(Jan’25 – Mar’26)</a:t>
            </a:r>
          </a:p>
        </p:txBody>
      </p:sp>
      <p:sp>
        <p:nvSpPr>
          <p:cNvPr id="574" name="Google Shape;574;p15"/>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Reach for both CREON and ZENPEP declined over the last three months, with a steeper decline for ZENPEP; CREON’s reach remained relatively stable among Gastros but was somewhat volatile among PCPs</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97" name="Google Shape;560;p14">
            <a:extLst>
              <a:ext uri="{FF2B5EF4-FFF2-40B4-BE49-F238E27FC236}">
                <a16:creationId xmlns:a16="http://schemas.microsoft.com/office/drawing/2014/main" id="{7BAD9F13-9810-45AE-9ACF-4349583B5ACC}"/>
              </a:ext>
            </a:extLst>
          </p:cNvPr>
          <p:cNvSpPr txBox="1"/>
          <p:nvPr/>
        </p:nvSpPr>
        <p:spPr>
          <a:xfrm>
            <a:off x="263257" y="5975686"/>
            <a:ext cx="8637937"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Question text, channel grouping in speaker notes | s - No. of Interactions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No statistically significant (p&lt;.05) difference between waves</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 </a:t>
            </a:r>
            <a:endParaRPr kumimoji="0" lang="en-GB" sz="1400" b="0" i="0" u="none" strike="noStrike" kern="0" cap="none" spc="0" normalizeH="0" baseline="0" noProof="0">
              <a:ln>
                <a:noFill/>
              </a:ln>
              <a:solidFill>
                <a:srgbClr val="001D49"/>
              </a:solidFill>
              <a:effectLst/>
              <a:uLnTx/>
              <a:uFillTx/>
              <a:latin typeface="+mn-lt"/>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other Products | **Local OLs removed</a:t>
            </a:r>
            <a:endParaRPr kumimoji="0" lang="en-GB" sz="1400" b="0" i="0" u="none" strike="noStrike" kern="0" cap="none" spc="0" normalizeH="0" baseline="0" noProof="0">
              <a:ln>
                <a:noFill/>
              </a:ln>
              <a:solidFill>
                <a:srgbClr val="001D49"/>
              </a:solidFill>
              <a:effectLst/>
              <a:uLnTx/>
              <a:uFillTx/>
              <a:latin typeface="+mn-lt"/>
              <a:sym typeface="Arial"/>
            </a:endParaRPr>
          </a:p>
        </p:txBody>
      </p:sp>
      <p:sp>
        <p:nvSpPr>
          <p:cNvPr id="55" name="Google Shape;741;p13">
            <a:extLst>
              <a:ext uri="{FF2B5EF4-FFF2-40B4-BE49-F238E27FC236}">
                <a16:creationId xmlns:a16="http://schemas.microsoft.com/office/drawing/2014/main" id="{7FE16B3E-1E59-4C20-B927-1B053D9C927F}"/>
              </a:ext>
            </a:extLst>
          </p:cNvPr>
          <p:cNvSpPr/>
          <p:nvPr/>
        </p:nvSpPr>
        <p:spPr>
          <a:xfrm>
            <a:off x="1775046" y="386589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panose="020F0502020204030204" pitchFamily="34" charset="0"/>
                <a:cs typeface="Calibri" panose="020F050202020403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59" name="Google Shape;741;p13">
            <a:extLst>
              <a:ext uri="{FF2B5EF4-FFF2-40B4-BE49-F238E27FC236}">
                <a16:creationId xmlns:a16="http://schemas.microsoft.com/office/drawing/2014/main" id="{AEB48DF3-574C-4722-9533-45C6E44C7BB7}"/>
              </a:ext>
            </a:extLst>
          </p:cNvPr>
          <p:cNvSpPr/>
          <p:nvPr/>
        </p:nvSpPr>
        <p:spPr>
          <a:xfrm>
            <a:off x="5991017" y="386589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panose="020F0502020204030204" pitchFamily="34" charset="0"/>
                <a:cs typeface="Calibri" panose="020F050202020403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grpSp>
        <p:nvGrpSpPr>
          <p:cNvPr id="3" name="Group 2">
            <a:extLst>
              <a:ext uri="{FF2B5EF4-FFF2-40B4-BE49-F238E27FC236}">
                <a16:creationId xmlns:a16="http://schemas.microsoft.com/office/drawing/2014/main" id="{6D639643-0D37-3A12-9AA5-0FA264DA69F9}"/>
              </a:ext>
            </a:extLst>
          </p:cNvPr>
          <p:cNvGrpSpPr/>
          <p:nvPr/>
        </p:nvGrpSpPr>
        <p:grpSpPr>
          <a:xfrm>
            <a:off x="6490550" y="1130341"/>
            <a:ext cx="2553649" cy="658702"/>
            <a:chOff x="6490547" y="1130338"/>
            <a:chExt cx="2553649" cy="658701"/>
          </a:xfrm>
        </p:grpSpPr>
        <p:grpSp>
          <p:nvGrpSpPr>
            <p:cNvPr id="38" name="Group 37">
              <a:extLst>
                <a:ext uri="{FF2B5EF4-FFF2-40B4-BE49-F238E27FC236}">
                  <a16:creationId xmlns:a16="http://schemas.microsoft.com/office/drawing/2014/main" id="{3DD0A9F4-168E-465D-B0BC-AB9CC505E8FC}"/>
                </a:ext>
              </a:extLst>
            </p:cNvPr>
            <p:cNvGrpSpPr/>
            <p:nvPr/>
          </p:nvGrpSpPr>
          <p:grpSpPr>
            <a:xfrm>
              <a:off x="6704982" y="1178481"/>
              <a:ext cx="1548909" cy="246181"/>
              <a:chOff x="6463878" y="5263238"/>
              <a:chExt cx="1548909" cy="246181"/>
            </a:xfrm>
          </p:grpSpPr>
          <p:sp>
            <p:nvSpPr>
              <p:cNvPr id="48" name="Google Shape;763;p18">
                <a:extLst>
                  <a:ext uri="{FF2B5EF4-FFF2-40B4-BE49-F238E27FC236}">
                    <a16:creationId xmlns:a16="http://schemas.microsoft.com/office/drawing/2014/main" id="{05C69999-2519-4D93-A75D-3CF03FD09272}"/>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4;p18">
                <a:extLst>
                  <a:ext uri="{FF2B5EF4-FFF2-40B4-BE49-F238E27FC236}">
                    <a16:creationId xmlns:a16="http://schemas.microsoft.com/office/drawing/2014/main" id="{2A51A48D-8D07-43A6-BB0D-FDA15298D02D}"/>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39" name="Group 38">
              <a:extLst>
                <a:ext uri="{FF2B5EF4-FFF2-40B4-BE49-F238E27FC236}">
                  <a16:creationId xmlns:a16="http://schemas.microsoft.com/office/drawing/2014/main" id="{CD902AFF-79F2-478E-BE20-1C3748423F6D}"/>
                </a:ext>
              </a:extLst>
            </p:cNvPr>
            <p:cNvGrpSpPr/>
            <p:nvPr/>
          </p:nvGrpSpPr>
          <p:grpSpPr>
            <a:xfrm>
              <a:off x="6704982" y="1459847"/>
              <a:ext cx="1548909" cy="246181"/>
              <a:chOff x="6463878" y="5569382"/>
              <a:chExt cx="1548909" cy="246181"/>
            </a:xfrm>
          </p:grpSpPr>
          <p:sp>
            <p:nvSpPr>
              <p:cNvPr id="46" name="Google Shape;764;p18">
                <a:extLst>
                  <a:ext uri="{FF2B5EF4-FFF2-40B4-BE49-F238E27FC236}">
                    <a16:creationId xmlns:a16="http://schemas.microsoft.com/office/drawing/2014/main" id="{FD6FD1C9-6957-4805-992B-1EBC586D6D41}"/>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7" name="Google Shape;763;p18">
                <a:extLst>
                  <a:ext uri="{FF2B5EF4-FFF2-40B4-BE49-F238E27FC236}">
                    <a16:creationId xmlns:a16="http://schemas.microsoft.com/office/drawing/2014/main" id="{4097B5AE-51CA-4890-BB2E-25243A6DCE5D}"/>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0F2FCF66-7190-4632-9472-474A07D3CDCA}"/>
                </a:ext>
              </a:extLst>
            </p:cNvPr>
            <p:cNvGrpSpPr/>
            <p:nvPr/>
          </p:nvGrpSpPr>
          <p:grpSpPr>
            <a:xfrm>
              <a:off x="7833585" y="1178324"/>
              <a:ext cx="1210611" cy="246181"/>
              <a:chOff x="7592481" y="5287523"/>
              <a:chExt cx="1210611" cy="246181"/>
            </a:xfrm>
          </p:grpSpPr>
          <p:sp>
            <p:nvSpPr>
              <p:cNvPr id="44" name="Google Shape;764;p18">
                <a:extLst>
                  <a:ext uri="{FF2B5EF4-FFF2-40B4-BE49-F238E27FC236}">
                    <a16:creationId xmlns:a16="http://schemas.microsoft.com/office/drawing/2014/main" id="{38D55259-73AE-4267-8F8B-F771E25A954F}"/>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5" name="Google Shape;763;p18">
                <a:extLst>
                  <a:ext uri="{FF2B5EF4-FFF2-40B4-BE49-F238E27FC236}">
                    <a16:creationId xmlns:a16="http://schemas.microsoft.com/office/drawing/2014/main" id="{B0EE6A2C-577D-431E-98CE-2062BD15BEF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1" name="Group 40">
              <a:extLst>
                <a:ext uri="{FF2B5EF4-FFF2-40B4-BE49-F238E27FC236}">
                  <a16:creationId xmlns:a16="http://schemas.microsoft.com/office/drawing/2014/main" id="{AC19D7FF-A22C-456B-949D-A513855D72CC}"/>
                </a:ext>
              </a:extLst>
            </p:cNvPr>
            <p:cNvGrpSpPr/>
            <p:nvPr/>
          </p:nvGrpSpPr>
          <p:grpSpPr>
            <a:xfrm>
              <a:off x="7833585" y="1459689"/>
              <a:ext cx="1067607" cy="246181"/>
              <a:chOff x="7592481" y="5544446"/>
              <a:chExt cx="1067607" cy="246181"/>
            </a:xfrm>
          </p:grpSpPr>
          <p:sp>
            <p:nvSpPr>
              <p:cNvPr id="42" name="Google Shape;764;p18">
                <a:extLst>
                  <a:ext uri="{FF2B5EF4-FFF2-40B4-BE49-F238E27FC236}">
                    <a16:creationId xmlns:a16="http://schemas.microsoft.com/office/drawing/2014/main" id="{1CBB2B9D-415A-4FCB-96B9-E3DBD3105D43}"/>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3" name="Google Shape;763;p18">
                <a:extLst>
                  <a:ext uri="{FF2B5EF4-FFF2-40B4-BE49-F238E27FC236}">
                    <a16:creationId xmlns:a16="http://schemas.microsoft.com/office/drawing/2014/main" id="{4F8EDB0B-72AC-4881-B153-83128894FC14}"/>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58" name="Rectangle 57">
              <a:extLst>
                <a:ext uri="{FF2B5EF4-FFF2-40B4-BE49-F238E27FC236}">
                  <a16:creationId xmlns:a16="http://schemas.microsoft.com/office/drawing/2014/main" id="{1DD8BDBD-E70B-4D89-9AE8-4F7CA2D8374C}"/>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87" name="Rectangle 86">
            <a:extLst>
              <a:ext uri="{FF2B5EF4-FFF2-40B4-BE49-F238E27FC236}">
                <a16:creationId xmlns:a16="http://schemas.microsoft.com/office/drawing/2014/main" id="{5B3019BF-3D3B-451D-B68A-EB6F5E653E45}"/>
              </a:ext>
            </a:extLst>
          </p:cNvPr>
          <p:cNvSpPr/>
          <p:nvPr/>
        </p:nvSpPr>
        <p:spPr>
          <a:xfrm rot="16200000">
            <a:off x="-231008" y="474479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54" name="Google Shape;741;p13">
            <a:extLst>
              <a:ext uri="{FF2B5EF4-FFF2-40B4-BE49-F238E27FC236}">
                <a16:creationId xmlns:a16="http://schemas.microsoft.com/office/drawing/2014/main" id="{4DB53D7B-0602-4351-9239-60B5FF2996B0}"/>
              </a:ext>
            </a:extLst>
          </p:cNvPr>
          <p:cNvSpPr/>
          <p:nvPr/>
        </p:nvSpPr>
        <p:spPr>
          <a:xfrm>
            <a:off x="3538015" y="158385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Reach - Overall</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86" name="Rectangle 85">
            <a:extLst>
              <a:ext uri="{FF2B5EF4-FFF2-40B4-BE49-F238E27FC236}">
                <a16:creationId xmlns:a16="http://schemas.microsoft.com/office/drawing/2014/main" id="{69D8D114-D646-CE98-8154-25ECD9B74C98}"/>
              </a:ext>
            </a:extLst>
          </p:cNvPr>
          <p:cNvSpPr/>
          <p:nvPr/>
        </p:nvSpPr>
        <p:spPr>
          <a:xfrm rot="16200000">
            <a:off x="4133001" y="465500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cxnSp>
        <p:nvCxnSpPr>
          <p:cNvPr id="96" name="Straight Connector 95">
            <a:extLst>
              <a:ext uri="{FF2B5EF4-FFF2-40B4-BE49-F238E27FC236}">
                <a16:creationId xmlns:a16="http://schemas.microsoft.com/office/drawing/2014/main" id="{8BA8B2A9-3AAE-B314-C0E7-99BA3FE11F9B}"/>
              </a:ext>
            </a:extLst>
          </p:cNvPr>
          <p:cNvCxnSpPr>
            <a:cxnSpLocks/>
          </p:cNvCxnSpPr>
          <p:nvPr/>
        </p:nvCxnSpPr>
        <p:spPr>
          <a:xfrm flipH="1">
            <a:off x="423919" y="3856667"/>
            <a:ext cx="828000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0D66E284-27F0-4023-BB24-97358D167803}"/>
              </a:ext>
            </a:extLst>
          </p:cNvPr>
          <p:cNvSpPr/>
          <p:nvPr/>
        </p:nvSpPr>
        <p:spPr>
          <a:xfrm rot="16200000">
            <a:off x="-146719" y="2599800"/>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8" name="Google Shape;561;p14">
            <a:extLst>
              <a:ext uri="{FF2B5EF4-FFF2-40B4-BE49-F238E27FC236}">
                <a16:creationId xmlns:a16="http://schemas.microsoft.com/office/drawing/2014/main" id="{EE9B7816-0AB5-70D9-E1A3-DE9B556D14C5}"/>
              </a:ext>
            </a:extLst>
          </p:cNvPr>
          <p:cNvSpPr/>
          <p:nvPr/>
        </p:nvSpPr>
        <p:spPr>
          <a:xfrm>
            <a:off x="1112228"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17" name="Google Shape;561;p14">
            <a:extLst>
              <a:ext uri="{FF2B5EF4-FFF2-40B4-BE49-F238E27FC236}">
                <a16:creationId xmlns:a16="http://schemas.microsoft.com/office/drawing/2014/main" id="{DC72DCBE-4FE3-4A67-76C5-794BA1203609}"/>
              </a:ext>
            </a:extLst>
          </p:cNvPr>
          <p:cNvSpPr/>
          <p:nvPr/>
        </p:nvSpPr>
        <p:spPr>
          <a:xfrm>
            <a:off x="3699800"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 name="Google Shape;561;p14">
            <a:extLst>
              <a:ext uri="{FF2B5EF4-FFF2-40B4-BE49-F238E27FC236}">
                <a16:creationId xmlns:a16="http://schemas.microsoft.com/office/drawing/2014/main" id="{336CFBD3-E088-E628-2892-DC980F2BBA2E}"/>
              </a:ext>
            </a:extLst>
          </p:cNvPr>
          <p:cNvSpPr/>
          <p:nvPr/>
        </p:nvSpPr>
        <p:spPr>
          <a:xfrm>
            <a:off x="4208857"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9" name="Google Shape;561;p14">
            <a:extLst>
              <a:ext uri="{FF2B5EF4-FFF2-40B4-BE49-F238E27FC236}">
                <a16:creationId xmlns:a16="http://schemas.microsoft.com/office/drawing/2014/main" id="{3889254A-BA7A-820C-9005-9BF4484E5B96}"/>
              </a:ext>
            </a:extLst>
          </p:cNvPr>
          <p:cNvSpPr/>
          <p:nvPr/>
        </p:nvSpPr>
        <p:spPr>
          <a:xfrm>
            <a:off x="4739059"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4" name="TextBox 3">
            <a:extLst>
              <a:ext uri="{FF2B5EF4-FFF2-40B4-BE49-F238E27FC236}">
                <a16:creationId xmlns:a16="http://schemas.microsoft.com/office/drawing/2014/main" id="{C4BDC1F9-D267-2059-6EAC-7269B24D71BD}"/>
              </a:ext>
            </a:extLst>
          </p:cNvPr>
          <p:cNvSpPr txBox="1"/>
          <p:nvPr/>
        </p:nvSpPr>
        <p:spPr>
          <a:xfrm>
            <a:off x="7251192" y="715460"/>
            <a:ext cx="165000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a:sym typeface="Arial"/>
                <a:hlinkClick r:id="rId12" action="ppaction://hlinksldjump">
                  <a:extLst>
                    <a:ext uri="{A12FA001-AC4F-418D-AE19-62706E023703}">
                      <ahyp:hlinkClr xmlns:ahyp="http://schemas.microsoft.com/office/drawing/2018/hyperlinkcolor" val="tx"/>
                    </a:ext>
                  </a:extLst>
                </a:hlinkClick>
              </a:rPr>
              <a:t>Overall - NP/PA data</a:t>
            </a:r>
            <a:endParaRPr kumimoji="0" lang="en-US" sz="1000" b="0" i="0" u="sng" strike="noStrike" kern="0" cap="none" spc="0" normalizeH="0" baseline="0" noProof="0">
              <a:ln>
                <a:noFill/>
              </a:ln>
              <a:solidFill>
                <a:schemeClr val="accent1"/>
              </a:solidFill>
              <a:effectLst/>
              <a:uLnTx/>
              <a:uFillTx/>
              <a:latin typeface="+mn-lt"/>
              <a:cs typeface="Arial"/>
              <a:sym typeface="Arial"/>
            </a:endParaRPr>
          </a:p>
        </p:txBody>
      </p:sp>
      <p:sp>
        <p:nvSpPr>
          <p:cNvPr id="29" name="Google Shape;561;p14">
            <a:extLst>
              <a:ext uri="{FF2B5EF4-FFF2-40B4-BE49-F238E27FC236}">
                <a16:creationId xmlns:a16="http://schemas.microsoft.com/office/drawing/2014/main" id="{5039BA5E-5CF4-E842-4916-6E8D9588F9DB}"/>
              </a:ext>
            </a:extLst>
          </p:cNvPr>
          <p:cNvSpPr/>
          <p:nvPr/>
        </p:nvSpPr>
        <p:spPr>
          <a:xfrm>
            <a:off x="5269261"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23" name="Google Shape;561;p14">
            <a:extLst>
              <a:ext uri="{FF2B5EF4-FFF2-40B4-BE49-F238E27FC236}">
                <a16:creationId xmlns:a16="http://schemas.microsoft.com/office/drawing/2014/main" id="{FDFA0A93-0EB2-7BCF-75FF-187A559849C0}"/>
              </a:ext>
            </a:extLst>
          </p:cNvPr>
          <p:cNvSpPr/>
          <p:nvPr/>
        </p:nvSpPr>
        <p:spPr>
          <a:xfrm>
            <a:off x="5799463"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24" name="Google Shape;561;p14">
            <a:extLst>
              <a:ext uri="{FF2B5EF4-FFF2-40B4-BE49-F238E27FC236}">
                <a16:creationId xmlns:a16="http://schemas.microsoft.com/office/drawing/2014/main" id="{6AC90174-9C4A-4D06-7EB7-FC65DD5827D8}"/>
              </a:ext>
            </a:extLst>
          </p:cNvPr>
          <p:cNvSpPr/>
          <p:nvPr/>
        </p:nvSpPr>
        <p:spPr>
          <a:xfrm>
            <a:off x="2406830"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25" name="Google Shape;561;p14">
            <a:extLst>
              <a:ext uri="{FF2B5EF4-FFF2-40B4-BE49-F238E27FC236}">
                <a16:creationId xmlns:a16="http://schemas.microsoft.com/office/drawing/2014/main" id="{ACEA0C90-57CE-4E66-BF67-1F8993EF873B}"/>
              </a:ext>
            </a:extLst>
          </p:cNvPr>
          <p:cNvSpPr/>
          <p:nvPr/>
        </p:nvSpPr>
        <p:spPr>
          <a:xfrm>
            <a:off x="6134358" y="411229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13" name="Google Shape;561;p14">
            <a:extLst>
              <a:ext uri="{FF2B5EF4-FFF2-40B4-BE49-F238E27FC236}">
                <a16:creationId xmlns:a16="http://schemas.microsoft.com/office/drawing/2014/main" id="{31E5499C-A9F3-443E-EE03-6AEEF87A2CD5}"/>
              </a:ext>
            </a:extLst>
          </p:cNvPr>
          <p:cNvSpPr/>
          <p:nvPr/>
        </p:nvSpPr>
        <p:spPr>
          <a:xfrm>
            <a:off x="6329665"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0" name="Google Shape;561;p14">
            <a:extLst>
              <a:ext uri="{FF2B5EF4-FFF2-40B4-BE49-F238E27FC236}">
                <a16:creationId xmlns:a16="http://schemas.microsoft.com/office/drawing/2014/main" id="{9537418E-1370-E6AA-16B9-72EF99205AEC}"/>
              </a:ext>
            </a:extLst>
          </p:cNvPr>
          <p:cNvSpPr/>
          <p:nvPr/>
        </p:nvSpPr>
        <p:spPr>
          <a:xfrm>
            <a:off x="3063044"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1" name="Google Shape;561;p14">
            <a:extLst>
              <a:ext uri="{FF2B5EF4-FFF2-40B4-BE49-F238E27FC236}">
                <a16:creationId xmlns:a16="http://schemas.microsoft.com/office/drawing/2014/main" id="{4DE0881E-6353-195B-D146-A50DFEE2B92D}"/>
              </a:ext>
            </a:extLst>
          </p:cNvPr>
          <p:cNvSpPr/>
          <p:nvPr/>
        </p:nvSpPr>
        <p:spPr>
          <a:xfrm>
            <a:off x="6794473" y="413669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27" name="Google Shape;561;p14">
            <a:extLst>
              <a:ext uri="{FF2B5EF4-FFF2-40B4-BE49-F238E27FC236}">
                <a16:creationId xmlns:a16="http://schemas.microsoft.com/office/drawing/2014/main" id="{FE663D6D-706D-C5AA-BC3E-2BA4B9107B36}"/>
              </a:ext>
            </a:extLst>
          </p:cNvPr>
          <p:cNvSpPr/>
          <p:nvPr/>
        </p:nvSpPr>
        <p:spPr>
          <a:xfrm>
            <a:off x="7390069"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5" name="Google Shape;561;p14">
            <a:extLst>
              <a:ext uri="{FF2B5EF4-FFF2-40B4-BE49-F238E27FC236}">
                <a16:creationId xmlns:a16="http://schemas.microsoft.com/office/drawing/2014/main" id="{16EC1AC2-B8B4-135F-4C43-8D3A67964FA3}"/>
              </a:ext>
            </a:extLst>
          </p:cNvPr>
          <p:cNvSpPr/>
          <p:nvPr/>
        </p:nvSpPr>
        <p:spPr>
          <a:xfrm>
            <a:off x="7414713" y="4120247"/>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49" name="Google Shape;561;p14">
            <a:extLst>
              <a:ext uri="{FF2B5EF4-FFF2-40B4-BE49-F238E27FC236}">
                <a16:creationId xmlns:a16="http://schemas.microsoft.com/office/drawing/2014/main" id="{26A1D12D-935A-C86E-F34E-212EDDCA980C}"/>
              </a:ext>
            </a:extLst>
          </p:cNvPr>
          <p:cNvSpPr/>
          <p:nvPr/>
        </p:nvSpPr>
        <p:spPr>
          <a:xfrm>
            <a:off x="6859867"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0" name="Google Shape;561;p14">
            <a:extLst>
              <a:ext uri="{FF2B5EF4-FFF2-40B4-BE49-F238E27FC236}">
                <a16:creationId xmlns:a16="http://schemas.microsoft.com/office/drawing/2014/main" id="{362FB50B-AB55-664D-FBAC-0C1C52CF2403}"/>
              </a:ext>
            </a:extLst>
          </p:cNvPr>
          <p:cNvSpPr/>
          <p:nvPr/>
        </p:nvSpPr>
        <p:spPr>
          <a:xfrm>
            <a:off x="7848210"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 name="Google Shape;561;p14">
            <a:extLst>
              <a:ext uri="{FF2B5EF4-FFF2-40B4-BE49-F238E27FC236}">
                <a16:creationId xmlns:a16="http://schemas.microsoft.com/office/drawing/2014/main" id="{40AE125F-D7C1-8BA9-50F8-805FB2445A76}"/>
              </a:ext>
            </a:extLst>
          </p:cNvPr>
          <p:cNvSpPr/>
          <p:nvPr/>
        </p:nvSpPr>
        <p:spPr>
          <a:xfrm>
            <a:off x="3178273"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 name="Google Shape;561;p14">
            <a:extLst>
              <a:ext uri="{FF2B5EF4-FFF2-40B4-BE49-F238E27FC236}">
                <a16:creationId xmlns:a16="http://schemas.microsoft.com/office/drawing/2014/main" id="{6E4A36FC-EDEA-BB4B-6420-A07840B5FB06}"/>
              </a:ext>
            </a:extLst>
          </p:cNvPr>
          <p:cNvSpPr/>
          <p:nvPr/>
        </p:nvSpPr>
        <p:spPr>
          <a:xfrm>
            <a:off x="2660542" y="1993019"/>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1" name="Google Shape;561;p14">
            <a:extLst>
              <a:ext uri="{FF2B5EF4-FFF2-40B4-BE49-F238E27FC236}">
                <a16:creationId xmlns:a16="http://schemas.microsoft.com/office/drawing/2014/main" id="{FF9244E9-B22C-4887-CDC2-28E8F634B3BD}"/>
              </a:ext>
            </a:extLst>
          </p:cNvPr>
          <p:cNvSpPr/>
          <p:nvPr/>
        </p:nvSpPr>
        <p:spPr>
          <a:xfrm>
            <a:off x="1642430" y="199344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2" name="Google Shape;561;p14">
            <a:extLst>
              <a:ext uri="{FF2B5EF4-FFF2-40B4-BE49-F238E27FC236}">
                <a16:creationId xmlns:a16="http://schemas.microsoft.com/office/drawing/2014/main" id="{13F95FEF-A6C9-240E-4025-E083BC2BC642}"/>
              </a:ext>
            </a:extLst>
          </p:cNvPr>
          <p:cNvSpPr/>
          <p:nvPr/>
        </p:nvSpPr>
        <p:spPr>
          <a:xfrm>
            <a:off x="2142811"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4" name="Google Shape;561;p14">
            <a:extLst>
              <a:ext uri="{FF2B5EF4-FFF2-40B4-BE49-F238E27FC236}">
                <a16:creationId xmlns:a16="http://schemas.microsoft.com/office/drawing/2014/main" id="{45FB8CF2-1BD8-909A-41A2-0383C3503EC0}"/>
              </a:ext>
            </a:extLst>
          </p:cNvPr>
          <p:cNvSpPr/>
          <p:nvPr/>
        </p:nvSpPr>
        <p:spPr>
          <a:xfrm>
            <a:off x="1094402"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5" name="Google Shape;561;p14">
            <a:extLst>
              <a:ext uri="{FF2B5EF4-FFF2-40B4-BE49-F238E27FC236}">
                <a16:creationId xmlns:a16="http://schemas.microsoft.com/office/drawing/2014/main" id="{73064B01-2AB5-6C89-C5F9-C9A2CDD02D99}"/>
              </a:ext>
            </a:extLst>
          </p:cNvPr>
          <p:cNvSpPr/>
          <p:nvPr/>
        </p:nvSpPr>
        <p:spPr>
          <a:xfrm>
            <a:off x="1750616"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70" name="Google Shape;561;p14">
            <a:extLst>
              <a:ext uri="{FF2B5EF4-FFF2-40B4-BE49-F238E27FC236}">
                <a16:creationId xmlns:a16="http://schemas.microsoft.com/office/drawing/2014/main" id="{0E6D9796-1C60-9197-A779-6589EE738C60}"/>
              </a:ext>
            </a:extLst>
          </p:cNvPr>
          <p:cNvSpPr/>
          <p:nvPr/>
        </p:nvSpPr>
        <p:spPr>
          <a:xfrm>
            <a:off x="5474243" y="418206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21" name="Google Shape;561;p14">
            <a:extLst>
              <a:ext uri="{FF2B5EF4-FFF2-40B4-BE49-F238E27FC236}">
                <a16:creationId xmlns:a16="http://schemas.microsoft.com/office/drawing/2014/main" id="{930B7724-FC06-9921-2230-F8F7806E6686}"/>
              </a:ext>
            </a:extLst>
          </p:cNvPr>
          <p:cNvSpPr/>
          <p:nvPr/>
        </p:nvSpPr>
        <p:spPr>
          <a:xfrm>
            <a:off x="368168" y="616814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7" name="Google Shape;561;p14">
            <a:extLst>
              <a:ext uri="{FF2B5EF4-FFF2-40B4-BE49-F238E27FC236}">
                <a16:creationId xmlns:a16="http://schemas.microsoft.com/office/drawing/2014/main" id="{DB415627-D862-138A-E6E1-5D0A1D43AE6B}"/>
              </a:ext>
            </a:extLst>
          </p:cNvPr>
          <p:cNvSpPr/>
          <p:nvPr/>
        </p:nvSpPr>
        <p:spPr>
          <a:xfrm>
            <a:off x="8074828" y="4197907"/>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11" name="Google Shape;561;p14">
            <a:extLst>
              <a:ext uri="{FF2B5EF4-FFF2-40B4-BE49-F238E27FC236}">
                <a16:creationId xmlns:a16="http://schemas.microsoft.com/office/drawing/2014/main" id="{7383423C-7807-6C2E-84D8-CA5FB2D30773}"/>
              </a:ext>
            </a:extLst>
          </p:cNvPr>
          <p:cNvSpPr/>
          <p:nvPr/>
        </p:nvSpPr>
        <p:spPr>
          <a:xfrm>
            <a:off x="3719258"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12" name="Google Shape;561;p14">
            <a:extLst>
              <a:ext uri="{FF2B5EF4-FFF2-40B4-BE49-F238E27FC236}">
                <a16:creationId xmlns:a16="http://schemas.microsoft.com/office/drawing/2014/main" id="{7737E3D8-5F7B-B14F-3DC4-6E412152397C}"/>
              </a:ext>
            </a:extLst>
          </p:cNvPr>
          <p:cNvSpPr/>
          <p:nvPr/>
        </p:nvSpPr>
        <p:spPr>
          <a:xfrm>
            <a:off x="8734943" y="416386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ea typeface="Calibri" panose="020F0502020204030204" pitchFamily="34" charset="0"/>
                <a:cs typeface="Calibri" panose="020F050202020403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Calibri" panose="020F0502020204030204" pitchFamily="34" charset="0"/>
              <a:cs typeface="Calibri" panose="020F0502020204030204" pitchFamily="34" charset="0"/>
              <a:sym typeface="Arial"/>
            </a:endParaRPr>
          </a:p>
        </p:txBody>
      </p:sp>
      <p:sp>
        <p:nvSpPr>
          <p:cNvPr id="20" name="Google Shape;561;p14">
            <a:extLst>
              <a:ext uri="{FF2B5EF4-FFF2-40B4-BE49-F238E27FC236}">
                <a16:creationId xmlns:a16="http://schemas.microsoft.com/office/drawing/2014/main" id="{64A33CB1-C743-3D78-AB13-E2474C16DF09}"/>
              </a:ext>
            </a:extLst>
          </p:cNvPr>
          <p:cNvSpPr/>
          <p:nvPr/>
        </p:nvSpPr>
        <p:spPr>
          <a:xfrm>
            <a:off x="4375474" y="43022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3" name="Google Shape;561;p14">
            <a:extLst>
              <a:ext uri="{FF2B5EF4-FFF2-40B4-BE49-F238E27FC236}">
                <a16:creationId xmlns:a16="http://schemas.microsoft.com/office/drawing/2014/main" id="{4D41C000-F20D-2B0F-CF9C-C197B786F2F5}"/>
              </a:ext>
            </a:extLst>
          </p:cNvPr>
          <p:cNvSpPr/>
          <p:nvPr/>
        </p:nvSpPr>
        <p:spPr>
          <a:xfrm>
            <a:off x="8370879" y="196887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graphicFrame>
        <p:nvGraphicFramePr>
          <p:cNvPr id="15" name="Table 14">
            <a:extLst>
              <a:ext uri="{FF2B5EF4-FFF2-40B4-BE49-F238E27FC236}">
                <a16:creationId xmlns:a16="http://schemas.microsoft.com/office/drawing/2014/main" id="{69023E59-717F-7442-FD14-3A3B371D4A03}"/>
              </a:ext>
            </a:extLst>
          </p:cNvPr>
          <p:cNvGraphicFramePr>
            <a:graphicFrameLocks noGrp="1"/>
          </p:cNvGraphicFramePr>
          <p:nvPr>
            <p:custDataLst>
              <p:tags r:id="rId4"/>
            </p:custDataLst>
            <p:extLst>
              <p:ext uri="{D42A27DB-BD31-4B8C-83A1-F6EECF244321}">
                <p14:modId xmlns:p14="http://schemas.microsoft.com/office/powerpoint/2010/main" val="864007553"/>
              </p:ext>
            </p:extLst>
          </p:nvPr>
        </p:nvGraphicFramePr>
        <p:xfrm>
          <a:off x="461239" y="3450508"/>
          <a:ext cx="8071145" cy="399320"/>
        </p:xfrm>
        <a:graphic>
          <a:graphicData uri="http://schemas.openxmlformats.org/drawingml/2006/table">
            <a:tbl>
              <a:tblPr firstRow="1" bandRow="1">
                <a:tableStyleId>{B301B821-A1FF-4177-AEE7-76D212191A09}</a:tableStyleId>
              </a:tblPr>
              <a:tblGrid>
                <a:gridCol w="390185">
                  <a:extLst>
                    <a:ext uri="{9D8B030D-6E8A-4147-A177-3AD203B41FA5}">
                      <a16:colId xmlns:a16="http://schemas.microsoft.com/office/drawing/2014/main" val="2682733538"/>
                    </a:ext>
                  </a:extLst>
                </a:gridCol>
                <a:gridCol w="512064">
                  <a:extLst>
                    <a:ext uri="{9D8B030D-6E8A-4147-A177-3AD203B41FA5}">
                      <a16:colId xmlns:a16="http://schemas.microsoft.com/office/drawing/2014/main" val="697923106"/>
                    </a:ext>
                  </a:extLst>
                </a:gridCol>
                <a:gridCol w="512064">
                  <a:extLst>
                    <a:ext uri="{9D8B030D-6E8A-4147-A177-3AD203B41FA5}">
                      <a16:colId xmlns:a16="http://schemas.microsoft.com/office/drawing/2014/main" val="153520084"/>
                    </a:ext>
                  </a:extLst>
                </a:gridCol>
                <a:gridCol w="512064">
                  <a:extLst>
                    <a:ext uri="{9D8B030D-6E8A-4147-A177-3AD203B41FA5}">
                      <a16:colId xmlns:a16="http://schemas.microsoft.com/office/drawing/2014/main" val="1675574941"/>
                    </a:ext>
                  </a:extLst>
                </a:gridCol>
                <a:gridCol w="512064">
                  <a:extLst>
                    <a:ext uri="{9D8B030D-6E8A-4147-A177-3AD203B41FA5}">
                      <a16:colId xmlns:a16="http://schemas.microsoft.com/office/drawing/2014/main" val="878418837"/>
                    </a:ext>
                  </a:extLst>
                </a:gridCol>
                <a:gridCol w="512064">
                  <a:extLst>
                    <a:ext uri="{9D8B030D-6E8A-4147-A177-3AD203B41FA5}">
                      <a16:colId xmlns:a16="http://schemas.microsoft.com/office/drawing/2014/main" val="1950270881"/>
                    </a:ext>
                  </a:extLst>
                </a:gridCol>
                <a:gridCol w="512064">
                  <a:extLst>
                    <a:ext uri="{9D8B030D-6E8A-4147-A177-3AD203B41FA5}">
                      <a16:colId xmlns:a16="http://schemas.microsoft.com/office/drawing/2014/main" val="1588492894"/>
                    </a:ext>
                  </a:extLst>
                </a:gridCol>
                <a:gridCol w="512064">
                  <a:extLst>
                    <a:ext uri="{9D8B030D-6E8A-4147-A177-3AD203B41FA5}">
                      <a16:colId xmlns:a16="http://schemas.microsoft.com/office/drawing/2014/main" val="674903761"/>
                    </a:ext>
                  </a:extLst>
                </a:gridCol>
                <a:gridCol w="512064">
                  <a:extLst>
                    <a:ext uri="{9D8B030D-6E8A-4147-A177-3AD203B41FA5}">
                      <a16:colId xmlns:a16="http://schemas.microsoft.com/office/drawing/2014/main" val="2438569604"/>
                    </a:ext>
                  </a:extLst>
                </a:gridCol>
                <a:gridCol w="512064">
                  <a:extLst>
                    <a:ext uri="{9D8B030D-6E8A-4147-A177-3AD203B41FA5}">
                      <a16:colId xmlns:a16="http://schemas.microsoft.com/office/drawing/2014/main" val="3989655059"/>
                    </a:ext>
                  </a:extLst>
                </a:gridCol>
                <a:gridCol w="512064">
                  <a:extLst>
                    <a:ext uri="{9D8B030D-6E8A-4147-A177-3AD203B41FA5}">
                      <a16:colId xmlns:a16="http://schemas.microsoft.com/office/drawing/2014/main" val="794498370"/>
                    </a:ext>
                  </a:extLst>
                </a:gridCol>
                <a:gridCol w="512064">
                  <a:extLst>
                    <a:ext uri="{9D8B030D-6E8A-4147-A177-3AD203B41FA5}">
                      <a16:colId xmlns:a16="http://schemas.microsoft.com/office/drawing/2014/main" val="207620370"/>
                    </a:ext>
                  </a:extLst>
                </a:gridCol>
                <a:gridCol w="512064">
                  <a:extLst>
                    <a:ext uri="{9D8B030D-6E8A-4147-A177-3AD203B41FA5}">
                      <a16:colId xmlns:a16="http://schemas.microsoft.com/office/drawing/2014/main" val="811086921"/>
                    </a:ext>
                  </a:extLst>
                </a:gridCol>
                <a:gridCol w="512064">
                  <a:extLst>
                    <a:ext uri="{9D8B030D-6E8A-4147-A177-3AD203B41FA5}">
                      <a16:colId xmlns:a16="http://schemas.microsoft.com/office/drawing/2014/main" val="175740905"/>
                    </a:ext>
                  </a:extLst>
                </a:gridCol>
                <a:gridCol w="512064">
                  <a:extLst>
                    <a:ext uri="{9D8B030D-6E8A-4147-A177-3AD203B41FA5}">
                      <a16:colId xmlns:a16="http://schemas.microsoft.com/office/drawing/2014/main" val="130736661"/>
                    </a:ext>
                  </a:extLst>
                </a:gridCol>
                <a:gridCol w="512064">
                  <a:extLst>
                    <a:ext uri="{9D8B030D-6E8A-4147-A177-3AD203B41FA5}">
                      <a16:colId xmlns:a16="http://schemas.microsoft.com/office/drawing/2014/main" val="2819635866"/>
                    </a:ext>
                  </a:extLst>
                </a:gridCol>
              </a:tblGrid>
              <a:tr h="252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Apr'25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May'25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Jun'25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Jul'25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Aug'25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Sep'25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144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307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299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319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319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338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66" name="Table 65">
            <a:extLst>
              <a:ext uri="{FF2B5EF4-FFF2-40B4-BE49-F238E27FC236}">
                <a16:creationId xmlns:a16="http://schemas.microsoft.com/office/drawing/2014/main" id="{8ABC7ACD-7076-49F2-534D-1E9329222D95}"/>
              </a:ext>
            </a:extLst>
          </p:cNvPr>
          <p:cNvGraphicFramePr>
            <a:graphicFrameLocks noGrp="1"/>
          </p:cNvGraphicFramePr>
          <p:nvPr>
            <p:custDataLst>
              <p:tags r:id="rId5"/>
            </p:custDataLst>
            <p:extLst>
              <p:ext uri="{D42A27DB-BD31-4B8C-83A1-F6EECF244321}">
                <p14:modId xmlns:p14="http://schemas.microsoft.com/office/powerpoint/2010/main" val="352001993"/>
              </p:ext>
            </p:extLst>
          </p:nvPr>
        </p:nvGraphicFramePr>
        <p:xfrm>
          <a:off x="292938" y="5598377"/>
          <a:ext cx="4292407" cy="294640"/>
        </p:xfrm>
        <a:graphic>
          <a:graphicData uri="http://schemas.openxmlformats.org/drawingml/2006/table">
            <a:tbl>
              <a:tblPr firstRow="1" bandRow="1">
                <a:tableStyleId>{B301B821-A1FF-4177-AEE7-76D212191A09}</a:tableStyleId>
              </a:tblPr>
              <a:tblGrid>
                <a:gridCol w="397705">
                  <a:extLst>
                    <a:ext uri="{9D8B030D-6E8A-4147-A177-3AD203B41FA5}">
                      <a16:colId xmlns:a16="http://schemas.microsoft.com/office/drawing/2014/main" val="2682733538"/>
                    </a:ext>
                  </a:extLst>
                </a:gridCol>
                <a:gridCol w="649117">
                  <a:extLst>
                    <a:ext uri="{9D8B030D-6E8A-4147-A177-3AD203B41FA5}">
                      <a16:colId xmlns:a16="http://schemas.microsoft.com/office/drawing/2014/main" val="794498370"/>
                    </a:ext>
                  </a:extLst>
                </a:gridCol>
                <a:gridCol w="649117">
                  <a:extLst>
                    <a:ext uri="{9D8B030D-6E8A-4147-A177-3AD203B41FA5}">
                      <a16:colId xmlns:a16="http://schemas.microsoft.com/office/drawing/2014/main" val="207620370"/>
                    </a:ext>
                  </a:extLst>
                </a:gridCol>
                <a:gridCol w="649117">
                  <a:extLst>
                    <a:ext uri="{9D8B030D-6E8A-4147-A177-3AD203B41FA5}">
                      <a16:colId xmlns:a16="http://schemas.microsoft.com/office/drawing/2014/main" val="811086921"/>
                    </a:ext>
                  </a:extLst>
                </a:gridCol>
                <a:gridCol w="649117">
                  <a:extLst>
                    <a:ext uri="{9D8B030D-6E8A-4147-A177-3AD203B41FA5}">
                      <a16:colId xmlns:a16="http://schemas.microsoft.com/office/drawing/2014/main" val="175740905"/>
                    </a:ext>
                  </a:extLst>
                </a:gridCol>
                <a:gridCol w="649117">
                  <a:extLst>
                    <a:ext uri="{9D8B030D-6E8A-4147-A177-3AD203B41FA5}">
                      <a16:colId xmlns:a16="http://schemas.microsoft.com/office/drawing/2014/main" val="130736661"/>
                    </a:ext>
                  </a:extLst>
                </a:gridCol>
                <a:gridCol w="649117">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174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144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67" name="Table 66">
            <a:extLst>
              <a:ext uri="{FF2B5EF4-FFF2-40B4-BE49-F238E27FC236}">
                <a16:creationId xmlns:a16="http://schemas.microsoft.com/office/drawing/2014/main" id="{FB238751-0BCF-90EE-E25D-0F3BB0070BB9}"/>
              </a:ext>
            </a:extLst>
          </p:cNvPr>
          <p:cNvGraphicFramePr>
            <a:graphicFrameLocks noGrp="1"/>
          </p:cNvGraphicFramePr>
          <p:nvPr>
            <p:custDataLst>
              <p:tags r:id="rId6"/>
            </p:custDataLst>
            <p:extLst>
              <p:ext uri="{D42A27DB-BD31-4B8C-83A1-F6EECF244321}">
                <p14:modId xmlns:p14="http://schemas.microsoft.com/office/powerpoint/2010/main" val="831053151"/>
              </p:ext>
            </p:extLst>
          </p:nvPr>
        </p:nvGraphicFramePr>
        <p:xfrm>
          <a:off x="4817113" y="5598377"/>
          <a:ext cx="4029331" cy="294640"/>
        </p:xfrm>
        <a:graphic>
          <a:graphicData uri="http://schemas.openxmlformats.org/drawingml/2006/table">
            <a:tbl>
              <a:tblPr firstRow="1" bandRow="1">
                <a:tableStyleId>{B301B821-A1FF-4177-AEE7-76D212191A09}</a:tableStyleId>
              </a:tblPr>
              <a:tblGrid>
                <a:gridCol w="371617">
                  <a:extLst>
                    <a:ext uri="{9D8B030D-6E8A-4147-A177-3AD203B41FA5}">
                      <a16:colId xmlns:a16="http://schemas.microsoft.com/office/drawing/2014/main" val="2682733538"/>
                    </a:ext>
                  </a:extLst>
                </a:gridCol>
                <a:gridCol w="609619">
                  <a:extLst>
                    <a:ext uri="{9D8B030D-6E8A-4147-A177-3AD203B41FA5}">
                      <a16:colId xmlns:a16="http://schemas.microsoft.com/office/drawing/2014/main" val="794498370"/>
                    </a:ext>
                  </a:extLst>
                </a:gridCol>
                <a:gridCol w="609619">
                  <a:extLst>
                    <a:ext uri="{9D8B030D-6E8A-4147-A177-3AD203B41FA5}">
                      <a16:colId xmlns:a16="http://schemas.microsoft.com/office/drawing/2014/main" val="207620370"/>
                    </a:ext>
                  </a:extLst>
                </a:gridCol>
                <a:gridCol w="609619">
                  <a:extLst>
                    <a:ext uri="{9D8B030D-6E8A-4147-A177-3AD203B41FA5}">
                      <a16:colId xmlns:a16="http://schemas.microsoft.com/office/drawing/2014/main" val="811086921"/>
                    </a:ext>
                  </a:extLst>
                </a:gridCol>
                <a:gridCol w="609619">
                  <a:extLst>
                    <a:ext uri="{9D8B030D-6E8A-4147-A177-3AD203B41FA5}">
                      <a16:colId xmlns:a16="http://schemas.microsoft.com/office/drawing/2014/main" val="175740905"/>
                    </a:ext>
                  </a:extLst>
                </a:gridCol>
                <a:gridCol w="609619">
                  <a:extLst>
                    <a:ext uri="{9D8B030D-6E8A-4147-A177-3AD203B41FA5}">
                      <a16:colId xmlns:a16="http://schemas.microsoft.com/office/drawing/2014/main" val="130736661"/>
                    </a:ext>
                  </a:extLst>
                </a:gridCol>
                <a:gridCol w="609619">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73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79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106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sp>
        <p:nvSpPr>
          <p:cNvPr id="5" name="Highlight#32">
            <a:extLst>
              <a:ext uri="{FF2B5EF4-FFF2-40B4-BE49-F238E27FC236}">
                <a16:creationId xmlns:a16="http://schemas.microsoft.com/office/drawing/2014/main" id="{10D8C831-4A6D-1399-F324-5067359AA0C5}"/>
              </a:ext>
            </a:extLst>
          </p:cNvPr>
          <p:cNvSpPr txBox="1"/>
          <p:nvPr/>
        </p:nvSpPr>
        <p:spPr>
          <a:xfrm>
            <a:off x="2703250" y="4179500"/>
            <a:ext cx="1879979" cy="722045"/>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Tree>
    <p:extLst>
      <p:ext uri="{BB962C8B-B14F-4D97-AF65-F5344CB8AC3E}">
        <p14:creationId xmlns:p14="http://schemas.microsoft.com/office/powerpoint/2010/main" val="37399801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10" name="Google Shape;574;p15">
            <a:extLst>
              <a:ext uri="{FF2B5EF4-FFF2-40B4-BE49-F238E27FC236}">
                <a16:creationId xmlns:a16="http://schemas.microsoft.com/office/drawing/2014/main" id="{BD79D103-2470-5E2F-EABD-B7290B064791}"/>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1">
              <a:lnSpc>
                <a:spcPct val="90000"/>
              </a:lnSpc>
              <a:buSzPts val="1800"/>
              <a:defRPr/>
            </a:pPr>
            <a:r>
              <a:rPr lang="en-GB"/>
              <a:t>Frequency declined across all brands, with CREON showing a continuous decline over the past six months, particularly among PCPs where the drop was steeper; However, among Gastros, CREON frequency improved  marginally over the last two months</a:t>
            </a:r>
            <a:endParaRPr kumimoji="0" lang="en-US" sz="1400" b="0" i="0" u="none" strike="sng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573" name="Google Shape;573;p15"/>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a:sym typeface="Calibri"/>
              </a:rPr>
              <a:t>Frequency**</a:t>
            </a:r>
          </a:p>
          <a:p>
            <a:pPr lvl="0" algn="ctr">
              <a:spcBef>
                <a:spcPts val="91"/>
              </a:spcBef>
              <a:buClr>
                <a:srgbClr val="071D49"/>
              </a:buClr>
              <a:buSzPts val="900"/>
              <a:defRPr/>
            </a:pPr>
            <a:r>
              <a:rPr lang="en-US" sz="1000" u="sng">
                <a:solidFill>
                  <a:srgbClr val="071D49"/>
                </a:solidFill>
                <a:latin typeface="+mn-lt"/>
                <a:ea typeface="Calibri"/>
                <a:cs typeface="Calibri"/>
                <a:sym typeface="Calibri"/>
              </a:rPr>
              <a:t>(Jan’25 – Mar’26)</a:t>
            </a:r>
          </a:p>
        </p:txBody>
      </p:sp>
      <p:sp>
        <p:nvSpPr>
          <p:cNvPr id="97" name="Google Shape;560;p14">
            <a:extLst>
              <a:ext uri="{FF2B5EF4-FFF2-40B4-BE49-F238E27FC236}">
                <a16:creationId xmlns:a16="http://schemas.microsoft.com/office/drawing/2014/main" id="{7BAD9F13-9810-45AE-9ACF-4349583B5ACC}"/>
              </a:ext>
            </a:extLst>
          </p:cNvPr>
          <p:cNvSpPr txBox="1"/>
          <p:nvPr/>
        </p:nvSpPr>
        <p:spPr>
          <a:xfrm>
            <a:off x="263257" y="5975686"/>
            <a:ext cx="8637937" cy="507791"/>
          </a:xfrm>
          <a:prstGeom prst="rect">
            <a:avLst/>
          </a:prstGeom>
          <a:noFill/>
          <a:ln>
            <a:noFill/>
          </a:ln>
        </p:spPr>
        <p:txBody>
          <a:bodyPr spcFirstLastPara="1" wrap="square" lIns="91425" tIns="45700" rIns="0" bIns="45700" anchor="t" anchorCtr="0">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strike="noStrike" kern="0" cap="none" spc="0" normalizeH="0" baseline="0" noProof="0">
                <a:ln>
                  <a:noFill/>
                </a:ln>
                <a:solidFill>
                  <a:srgbClr val="001D49"/>
                </a:solidFill>
                <a:effectLst/>
                <a:uLnTx/>
                <a:uFillTx/>
                <a:latin typeface="Roboto" panose="02000000000000000000" pitchFamily="2" charset="0"/>
                <a:ea typeface="Calibri"/>
                <a:cs typeface="Calibri"/>
                <a:sym typeface="Calibri"/>
              </a:rPr>
              <a:t>Question text, channel grouping in speaker notes | s - No. of Interactions</a:t>
            </a:r>
            <a:r>
              <a:rPr kumimoji="0" lang="en-GB" sz="900" strike="noStrike" kern="0" cap="none" spc="0" normalizeH="0" baseline="0" noProof="0">
                <a:ln>
                  <a:noFill/>
                </a:ln>
                <a:solidFill>
                  <a:srgbClr val="001D49"/>
                </a:solidFill>
                <a:effectLst/>
                <a:uLnTx/>
                <a:uFillTx/>
                <a:latin typeface="Roboto" panose="02000000000000000000" pitchFamily="2" charset="0"/>
                <a:ea typeface="Calibri"/>
                <a:sym typeface="Arial"/>
              </a:rPr>
              <a:t> </a:t>
            </a:r>
            <a:r>
              <a:rPr kumimoji="0" lang="en-GB" sz="900" strike="noStrike" kern="0" cap="none" spc="0" normalizeH="0" baseline="0" noProof="0">
                <a:ln>
                  <a:noFill/>
                </a:ln>
                <a:solidFill>
                  <a:srgbClr val="001D49"/>
                </a:solidFill>
                <a:effectLst/>
                <a:uLnTx/>
                <a:uFillTx/>
                <a:latin typeface="Roboto" panose="02000000000000000000" pitchFamily="2" charset="0"/>
                <a:ea typeface="Calibri"/>
                <a:cs typeface="Calibri"/>
                <a:sym typeface="Calibri"/>
              </a:rPr>
              <a:t>| **Local OLs removed</a:t>
            </a:r>
            <a:endParaRPr kumimoji="0" lang="en-GB" sz="900" strike="noStrike" kern="0" cap="none" spc="0" normalizeH="0" baseline="0" noProof="0">
              <a:ln>
                <a:noFill/>
              </a:ln>
              <a:solidFill>
                <a:srgbClr val="001D49"/>
              </a:solidFill>
              <a:effectLst/>
              <a:uLnTx/>
              <a:uFillTx/>
              <a:latin typeface="Roboto" panose="02000000000000000000" pitchFamily="2" charset="0"/>
              <a:sym typeface="Arial"/>
            </a:endParaRPr>
          </a:p>
        </p:txBody>
      </p:sp>
      <p:sp>
        <p:nvSpPr>
          <p:cNvPr id="55" name="Google Shape;741;p13">
            <a:extLst>
              <a:ext uri="{FF2B5EF4-FFF2-40B4-BE49-F238E27FC236}">
                <a16:creationId xmlns:a16="http://schemas.microsoft.com/office/drawing/2014/main" id="{7FE16B3E-1E59-4C20-B927-1B053D9C927F}"/>
              </a:ext>
            </a:extLst>
          </p:cNvPr>
          <p:cNvSpPr/>
          <p:nvPr/>
        </p:nvSpPr>
        <p:spPr>
          <a:xfrm>
            <a:off x="1775046" y="3877071"/>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59" name="Google Shape;741;p13">
            <a:extLst>
              <a:ext uri="{FF2B5EF4-FFF2-40B4-BE49-F238E27FC236}">
                <a16:creationId xmlns:a16="http://schemas.microsoft.com/office/drawing/2014/main" id="{AEB48DF3-574C-4722-9533-45C6E44C7BB7}"/>
              </a:ext>
            </a:extLst>
          </p:cNvPr>
          <p:cNvSpPr/>
          <p:nvPr/>
        </p:nvSpPr>
        <p:spPr>
          <a:xfrm>
            <a:off x="6081551" y="3877071"/>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grpSp>
        <p:nvGrpSpPr>
          <p:cNvPr id="3" name="Group 2">
            <a:extLst>
              <a:ext uri="{FF2B5EF4-FFF2-40B4-BE49-F238E27FC236}">
                <a16:creationId xmlns:a16="http://schemas.microsoft.com/office/drawing/2014/main" id="{6D639643-0D37-3A12-9AA5-0FA264DA69F9}"/>
              </a:ext>
            </a:extLst>
          </p:cNvPr>
          <p:cNvGrpSpPr/>
          <p:nvPr/>
        </p:nvGrpSpPr>
        <p:grpSpPr>
          <a:xfrm>
            <a:off x="6490550" y="1130341"/>
            <a:ext cx="2553649" cy="658702"/>
            <a:chOff x="6490547" y="1130338"/>
            <a:chExt cx="2553649" cy="658701"/>
          </a:xfrm>
        </p:grpSpPr>
        <p:grpSp>
          <p:nvGrpSpPr>
            <p:cNvPr id="38" name="Group 37">
              <a:extLst>
                <a:ext uri="{FF2B5EF4-FFF2-40B4-BE49-F238E27FC236}">
                  <a16:creationId xmlns:a16="http://schemas.microsoft.com/office/drawing/2014/main" id="{3DD0A9F4-168E-465D-B0BC-AB9CC505E8FC}"/>
                </a:ext>
              </a:extLst>
            </p:cNvPr>
            <p:cNvGrpSpPr/>
            <p:nvPr/>
          </p:nvGrpSpPr>
          <p:grpSpPr>
            <a:xfrm>
              <a:off x="6704982" y="1178481"/>
              <a:ext cx="1548909" cy="246181"/>
              <a:chOff x="6463878" y="5263238"/>
              <a:chExt cx="1548909" cy="246181"/>
            </a:xfrm>
          </p:grpSpPr>
          <p:sp>
            <p:nvSpPr>
              <p:cNvPr id="48" name="Google Shape;763;p18">
                <a:extLst>
                  <a:ext uri="{FF2B5EF4-FFF2-40B4-BE49-F238E27FC236}">
                    <a16:creationId xmlns:a16="http://schemas.microsoft.com/office/drawing/2014/main" id="{05C69999-2519-4D93-A75D-3CF03FD09272}"/>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4;p18">
                <a:extLst>
                  <a:ext uri="{FF2B5EF4-FFF2-40B4-BE49-F238E27FC236}">
                    <a16:creationId xmlns:a16="http://schemas.microsoft.com/office/drawing/2014/main" id="{2A51A48D-8D07-43A6-BB0D-FDA15298D02D}"/>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39" name="Group 38">
              <a:extLst>
                <a:ext uri="{FF2B5EF4-FFF2-40B4-BE49-F238E27FC236}">
                  <a16:creationId xmlns:a16="http://schemas.microsoft.com/office/drawing/2014/main" id="{CD902AFF-79F2-478E-BE20-1C3748423F6D}"/>
                </a:ext>
              </a:extLst>
            </p:cNvPr>
            <p:cNvGrpSpPr/>
            <p:nvPr/>
          </p:nvGrpSpPr>
          <p:grpSpPr>
            <a:xfrm>
              <a:off x="6704982" y="1459847"/>
              <a:ext cx="1548909" cy="246181"/>
              <a:chOff x="6463878" y="5569382"/>
              <a:chExt cx="1548909" cy="246181"/>
            </a:xfrm>
          </p:grpSpPr>
          <p:sp>
            <p:nvSpPr>
              <p:cNvPr id="46" name="Google Shape;764;p18">
                <a:extLst>
                  <a:ext uri="{FF2B5EF4-FFF2-40B4-BE49-F238E27FC236}">
                    <a16:creationId xmlns:a16="http://schemas.microsoft.com/office/drawing/2014/main" id="{FD6FD1C9-6957-4805-992B-1EBC586D6D41}"/>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7" name="Google Shape;763;p18">
                <a:extLst>
                  <a:ext uri="{FF2B5EF4-FFF2-40B4-BE49-F238E27FC236}">
                    <a16:creationId xmlns:a16="http://schemas.microsoft.com/office/drawing/2014/main" id="{4097B5AE-51CA-4890-BB2E-25243A6DCE5D}"/>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0F2FCF66-7190-4632-9472-474A07D3CDCA}"/>
                </a:ext>
              </a:extLst>
            </p:cNvPr>
            <p:cNvGrpSpPr/>
            <p:nvPr/>
          </p:nvGrpSpPr>
          <p:grpSpPr>
            <a:xfrm>
              <a:off x="7833585" y="1178324"/>
              <a:ext cx="1210611" cy="246181"/>
              <a:chOff x="7592481" y="5287523"/>
              <a:chExt cx="1210611" cy="246181"/>
            </a:xfrm>
          </p:grpSpPr>
          <p:sp>
            <p:nvSpPr>
              <p:cNvPr id="44" name="Google Shape;764;p18">
                <a:extLst>
                  <a:ext uri="{FF2B5EF4-FFF2-40B4-BE49-F238E27FC236}">
                    <a16:creationId xmlns:a16="http://schemas.microsoft.com/office/drawing/2014/main" id="{38D55259-73AE-4267-8F8B-F771E25A954F}"/>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5" name="Google Shape;763;p18">
                <a:extLst>
                  <a:ext uri="{FF2B5EF4-FFF2-40B4-BE49-F238E27FC236}">
                    <a16:creationId xmlns:a16="http://schemas.microsoft.com/office/drawing/2014/main" id="{B0EE6A2C-577D-431E-98CE-2062BD15BEF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1" name="Group 40">
              <a:extLst>
                <a:ext uri="{FF2B5EF4-FFF2-40B4-BE49-F238E27FC236}">
                  <a16:creationId xmlns:a16="http://schemas.microsoft.com/office/drawing/2014/main" id="{AC19D7FF-A22C-456B-949D-A513855D72CC}"/>
                </a:ext>
              </a:extLst>
            </p:cNvPr>
            <p:cNvGrpSpPr/>
            <p:nvPr/>
          </p:nvGrpSpPr>
          <p:grpSpPr>
            <a:xfrm>
              <a:off x="7833585" y="1459689"/>
              <a:ext cx="1067607" cy="246181"/>
              <a:chOff x="7592481" y="5544446"/>
              <a:chExt cx="1067607" cy="246181"/>
            </a:xfrm>
          </p:grpSpPr>
          <p:sp>
            <p:nvSpPr>
              <p:cNvPr id="42" name="Google Shape;764;p18">
                <a:extLst>
                  <a:ext uri="{FF2B5EF4-FFF2-40B4-BE49-F238E27FC236}">
                    <a16:creationId xmlns:a16="http://schemas.microsoft.com/office/drawing/2014/main" id="{1CBB2B9D-415A-4FCB-96B9-E3DBD3105D43}"/>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3" name="Google Shape;763;p18">
                <a:extLst>
                  <a:ext uri="{FF2B5EF4-FFF2-40B4-BE49-F238E27FC236}">
                    <a16:creationId xmlns:a16="http://schemas.microsoft.com/office/drawing/2014/main" id="{4F8EDB0B-72AC-4881-B153-83128894FC14}"/>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58" name="Rectangle 57">
              <a:extLst>
                <a:ext uri="{FF2B5EF4-FFF2-40B4-BE49-F238E27FC236}">
                  <a16:creationId xmlns:a16="http://schemas.microsoft.com/office/drawing/2014/main" id="{1DD8BDBD-E70B-4D89-9AE8-4F7CA2D8374C}"/>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87" name="Rectangle 86">
            <a:extLst>
              <a:ext uri="{FF2B5EF4-FFF2-40B4-BE49-F238E27FC236}">
                <a16:creationId xmlns:a16="http://schemas.microsoft.com/office/drawing/2014/main" id="{5B3019BF-3D3B-451D-B68A-EB6F5E653E45}"/>
              </a:ext>
            </a:extLst>
          </p:cNvPr>
          <p:cNvSpPr/>
          <p:nvPr/>
        </p:nvSpPr>
        <p:spPr>
          <a:xfrm rot="16200000">
            <a:off x="-284444" y="4744980"/>
            <a:ext cx="1440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54" name="Google Shape;741;p13">
            <a:extLst>
              <a:ext uri="{FF2B5EF4-FFF2-40B4-BE49-F238E27FC236}">
                <a16:creationId xmlns:a16="http://schemas.microsoft.com/office/drawing/2014/main" id="{4DB53D7B-0602-4351-9239-60B5FF2996B0}"/>
              </a:ext>
            </a:extLst>
          </p:cNvPr>
          <p:cNvSpPr/>
          <p:nvPr/>
        </p:nvSpPr>
        <p:spPr>
          <a:xfrm>
            <a:off x="3502046" y="158385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 - Overall</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86" name="Rectangle 85">
            <a:extLst>
              <a:ext uri="{FF2B5EF4-FFF2-40B4-BE49-F238E27FC236}">
                <a16:creationId xmlns:a16="http://schemas.microsoft.com/office/drawing/2014/main" id="{69D8D114-D646-CE98-8154-25ECD9B74C98}"/>
              </a:ext>
            </a:extLst>
          </p:cNvPr>
          <p:cNvSpPr/>
          <p:nvPr/>
        </p:nvSpPr>
        <p:spPr>
          <a:xfrm rot="16200000">
            <a:off x="4109936" y="4691192"/>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cxnSp>
        <p:nvCxnSpPr>
          <p:cNvPr id="96" name="Straight Connector 95">
            <a:extLst>
              <a:ext uri="{FF2B5EF4-FFF2-40B4-BE49-F238E27FC236}">
                <a16:creationId xmlns:a16="http://schemas.microsoft.com/office/drawing/2014/main" id="{8BA8B2A9-3AAE-B314-C0E7-99BA3FE11F9B}"/>
              </a:ext>
            </a:extLst>
          </p:cNvPr>
          <p:cNvCxnSpPr>
            <a:cxnSpLocks/>
          </p:cNvCxnSpPr>
          <p:nvPr/>
        </p:nvCxnSpPr>
        <p:spPr>
          <a:xfrm flipH="1">
            <a:off x="561079" y="3865811"/>
            <a:ext cx="828000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0D66E284-27F0-4023-BB24-97358D167803}"/>
              </a:ext>
            </a:extLst>
          </p:cNvPr>
          <p:cNvSpPr/>
          <p:nvPr/>
        </p:nvSpPr>
        <p:spPr>
          <a:xfrm rot="16200000">
            <a:off x="-237172" y="2609849"/>
            <a:ext cx="1440000" cy="442947"/>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4" name="TextBox 3">
            <a:extLst>
              <a:ext uri="{FF2B5EF4-FFF2-40B4-BE49-F238E27FC236}">
                <a16:creationId xmlns:a16="http://schemas.microsoft.com/office/drawing/2014/main" id="{8152DE61-951E-75C4-D885-B7EF466376E4}"/>
              </a:ext>
            </a:extLst>
          </p:cNvPr>
          <p:cNvSpPr txBox="1"/>
          <p:nvPr/>
        </p:nvSpPr>
        <p:spPr>
          <a:xfrm>
            <a:off x="7251192" y="715460"/>
            <a:ext cx="165000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a:sym typeface="Arial"/>
                <a:hlinkClick r:id="rId9" action="ppaction://hlinksldjump">
                  <a:extLst>
                    <a:ext uri="{A12FA001-AC4F-418D-AE19-62706E023703}">
                      <ahyp:hlinkClr xmlns:ahyp="http://schemas.microsoft.com/office/drawing/2018/hyperlinkcolor" val="tx"/>
                    </a:ext>
                  </a:extLst>
                </a:hlinkClick>
              </a:rPr>
              <a:t>Overall - NP/PA data</a:t>
            </a:r>
            <a:endParaRPr kumimoji="0" lang="en-US" sz="1000" b="0" i="0" u="sng" strike="noStrike" kern="0" cap="none" spc="0" normalizeH="0" baseline="0" noProof="0">
              <a:ln>
                <a:noFill/>
              </a:ln>
              <a:solidFill>
                <a:schemeClr val="accent1"/>
              </a:solidFill>
              <a:effectLst/>
              <a:uLnTx/>
              <a:uFillTx/>
              <a:latin typeface="+mn-lt"/>
              <a:cs typeface="Arial"/>
              <a:sym typeface="Arial"/>
            </a:endParaRPr>
          </a:p>
        </p:txBody>
      </p:sp>
      <p:graphicFrame>
        <p:nvGraphicFramePr>
          <p:cNvPr id="13" name="Chart 12">
            <a:extLst>
              <a:ext uri="{FF2B5EF4-FFF2-40B4-BE49-F238E27FC236}">
                <a16:creationId xmlns:a16="http://schemas.microsoft.com/office/drawing/2014/main" id="{BC8E94F6-2B83-A4C6-FA2F-54E99FC61EB2}"/>
              </a:ext>
            </a:extLst>
          </p:cNvPr>
          <p:cNvGraphicFramePr/>
          <p:nvPr>
            <p:custDataLst>
              <p:tags r:id="rId1"/>
            </p:custDataLst>
            <p:extLst>
              <p:ext uri="{D42A27DB-BD31-4B8C-83A1-F6EECF244321}">
                <p14:modId xmlns:p14="http://schemas.microsoft.com/office/powerpoint/2010/main" val="2504313176"/>
              </p:ext>
            </p:extLst>
          </p:nvPr>
        </p:nvGraphicFramePr>
        <p:xfrm>
          <a:off x="4400239" y="3994097"/>
          <a:ext cx="5148776" cy="1777779"/>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4" name="Chart 13">
            <a:extLst>
              <a:ext uri="{FF2B5EF4-FFF2-40B4-BE49-F238E27FC236}">
                <a16:creationId xmlns:a16="http://schemas.microsoft.com/office/drawing/2014/main" id="{81A881D2-7328-70A0-14ED-E51EBF96AFA5}"/>
              </a:ext>
            </a:extLst>
          </p:cNvPr>
          <p:cNvGraphicFramePr/>
          <p:nvPr>
            <p:custDataLst>
              <p:tags r:id="rId2"/>
            </p:custDataLst>
            <p:extLst>
              <p:ext uri="{D42A27DB-BD31-4B8C-83A1-F6EECF244321}">
                <p14:modId xmlns:p14="http://schemas.microsoft.com/office/powerpoint/2010/main" val="3474774341"/>
              </p:ext>
            </p:extLst>
          </p:nvPr>
        </p:nvGraphicFramePr>
        <p:xfrm>
          <a:off x="268883" y="1926014"/>
          <a:ext cx="8352741" cy="177113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6" name="Chart 15">
            <a:extLst>
              <a:ext uri="{FF2B5EF4-FFF2-40B4-BE49-F238E27FC236}">
                <a16:creationId xmlns:a16="http://schemas.microsoft.com/office/drawing/2014/main" id="{A04AEA73-9770-BA48-7996-4A643EAEFDE0}"/>
              </a:ext>
            </a:extLst>
          </p:cNvPr>
          <p:cNvGraphicFramePr/>
          <p:nvPr>
            <p:custDataLst>
              <p:tags r:id="rId3"/>
            </p:custDataLst>
            <p:extLst>
              <p:ext uri="{D42A27DB-BD31-4B8C-83A1-F6EECF244321}">
                <p14:modId xmlns:p14="http://schemas.microsoft.com/office/powerpoint/2010/main" val="2284315753"/>
              </p:ext>
            </p:extLst>
          </p:nvPr>
        </p:nvGraphicFramePr>
        <p:xfrm>
          <a:off x="39731" y="4006945"/>
          <a:ext cx="5148776" cy="1771137"/>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7" name="Table 16">
            <a:extLst>
              <a:ext uri="{FF2B5EF4-FFF2-40B4-BE49-F238E27FC236}">
                <a16:creationId xmlns:a16="http://schemas.microsoft.com/office/drawing/2014/main" id="{52FDCFC7-7604-CFAB-63C7-DE52F4B02C49}"/>
              </a:ext>
            </a:extLst>
          </p:cNvPr>
          <p:cNvGraphicFramePr>
            <a:graphicFrameLocks noGrp="1"/>
          </p:cNvGraphicFramePr>
          <p:nvPr>
            <p:custDataLst>
              <p:tags r:id="rId4"/>
            </p:custDataLst>
            <p:extLst>
              <p:ext uri="{D42A27DB-BD31-4B8C-83A1-F6EECF244321}">
                <p14:modId xmlns:p14="http://schemas.microsoft.com/office/powerpoint/2010/main" val="2561412334"/>
              </p:ext>
            </p:extLst>
          </p:nvPr>
        </p:nvGraphicFramePr>
        <p:xfrm>
          <a:off x="461239" y="3450508"/>
          <a:ext cx="8071145" cy="399320"/>
        </p:xfrm>
        <a:graphic>
          <a:graphicData uri="http://schemas.openxmlformats.org/drawingml/2006/table">
            <a:tbl>
              <a:tblPr firstRow="1" bandRow="1">
                <a:tableStyleId>{B301B821-A1FF-4177-AEE7-76D212191A09}</a:tableStyleId>
              </a:tblPr>
              <a:tblGrid>
                <a:gridCol w="390185">
                  <a:extLst>
                    <a:ext uri="{9D8B030D-6E8A-4147-A177-3AD203B41FA5}">
                      <a16:colId xmlns:a16="http://schemas.microsoft.com/office/drawing/2014/main" val="2682733538"/>
                    </a:ext>
                  </a:extLst>
                </a:gridCol>
                <a:gridCol w="512064">
                  <a:extLst>
                    <a:ext uri="{9D8B030D-6E8A-4147-A177-3AD203B41FA5}">
                      <a16:colId xmlns:a16="http://schemas.microsoft.com/office/drawing/2014/main" val="697923106"/>
                    </a:ext>
                  </a:extLst>
                </a:gridCol>
                <a:gridCol w="512064">
                  <a:extLst>
                    <a:ext uri="{9D8B030D-6E8A-4147-A177-3AD203B41FA5}">
                      <a16:colId xmlns:a16="http://schemas.microsoft.com/office/drawing/2014/main" val="153520084"/>
                    </a:ext>
                  </a:extLst>
                </a:gridCol>
                <a:gridCol w="512064">
                  <a:extLst>
                    <a:ext uri="{9D8B030D-6E8A-4147-A177-3AD203B41FA5}">
                      <a16:colId xmlns:a16="http://schemas.microsoft.com/office/drawing/2014/main" val="1675574941"/>
                    </a:ext>
                  </a:extLst>
                </a:gridCol>
                <a:gridCol w="512064">
                  <a:extLst>
                    <a:ext uri="{9D8B030D-6E8A-4147-A177-3AD203B41FA5}">
                      <a16:colId xmlns:a16="http://schemas.microsoft.com/office/drawing/2014/main" val="878418837"/>
                    </a:ext>
                  </a:extLst>
                </a:gridCol>
                <a:gridCol w="512064">
                  <a:extLst>
                    <a:ext uri="{9D8B030D-6E8A-4147-A177-3AD203B41FA5}">
                      <a16:colId xmlns:a16="http://schemas.microsoft.com/office/drawing/2014/main" val="1950270881"/>
                    </a:ext>
                  </a:extLst>
                </a:gridCol>
                <a:gridCol w="512064">
                  <a:extLst>
                    <a:ext uri="{9D8B030D-6E8A-4147-A177-3AD203B41FA5}">
                      <a16:colId xmlns:a16="http://schemas.microsoft.com/office/drawing/2014/main" val="1588492894"/>
                    </a:ext>
                  </a:extLst>
                </a:gridCol>
                <a:gridCol w="512064">
                  <a:extLst>
                    <a:ext uri="{9D8B030D-6E8A-4147-A177-3AD203B41FA5}">
                      <a16:colId xmlns:a16="http://schemas.microsoft.com/office/drawing/2014/main" val="674903761"/>
                    </a:ext>
                  </a:extLst>
                </a:gridCol>
                <a:gridCol w="512064">
                  <a:extLst>
                    <a:ext uri="{9D8B030D-6E8A-4147-A177-3AD203B41FA5}">
                      <a16:colId xmlns:a16="http://schemas.microsoft.com/office/drawing/2014/main" val="2438569604"/>
                    </a:ext>
                  </a:extLst>
                </a:gridCol>
                <a:gridCol w="512064">
                  <a:extLst>
                    <a:ext uri="{9D8B030D-6E8A-4147-A177-3AD203B41FA5}">
                      <a16:colId xmlns:a16="http://schemas.microsoft.com/office/drawing/2014/main" val="3989655059"/>
                    </a:ext>
                  </a:extLst>
                </a:gridCol>
                <a:gridCol w="512064">
                  <a:extLst>
                    <a:ext uri="{9D8B030D-6E8A-4147-A177-3AD203B41FA5}">
                      <a16:colId xmlns:a16="http://schemas.microsoft.com/office/drawing/2014/main" val="794498370"/>
                    </a:ext>
                  </a:extLst>
                </a:gridCol>
                <a:gridCol w="512064">
                  <a:extLst>
                    <a:ext uri="{9D8B030D-6E8A-4147-A177-3AD203B41FA5}">
                      <a16:colId xmlns:a16="http://schemas.microsoft.com/office/drawing/2014/main" val="207620370"/>
                    </a:ext>
                  </a:extLst>
                </a:gridCol>
                <a:gridCol w="512064">
                  <a:extLst>
                    <a:ext uri="{9D8B030D-6E8A-4147-A177-3AD203B41FA5}">
                      <a16:colId xmlns:a16="http://schemas.microsoft.com/office/drawing/2014/main" val="811086921"/>
                    </a:ext>
                  </a:extLst>
                </a:gridCol>
                <a:gridCol w="512064">
                  <a:extLst>
                    <a:ext uri="{9D8B030D-6E8A-4147-A177-3AD203B41FA5}">
                      <a16:colId xmlns:a16="http://schemas.microsoft.com/office/drawing/2014/main" val="175740905"/>
                    </a:ext>
                  </a:extLst>
                </a:gridCol>
                <a:gridCol w="512064">
                  <a:extLst>
                    <a:ext uri="{9D8B030D-6E8A-4147-A177-3AD203B41FA5}">
                      <a16:colId xmlns:a16="http://schemas.microsoft.com/office/drawing/2014/main" val="130736661"/>
                    </a:ext>
                  </a:extLst>
                </a:gridCol>
                <a:gridCol w="512064">
                  <a:extLst>
                    <a:ext uri="{9D8B030D-6E8A-4147-A177-3AD203B41FA5}">
                      <a16:colId xmlns:a16="http://schemas.microsoft.com/office/drawing/2014/main" val="2819635866"/>
                    </a:ext>
                  </a:extLst>
                </a:gridCol>
              </a:tblGrid>
              <a:tr h="252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Apr'25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May'25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Jun'25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Jul'25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Aug'25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Sep'25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144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307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299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319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319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347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338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18" name="Table 17">
            <a:extLst>
              <a:ext uri="{FF2B5EF4-FFF2-40B4-BE49-F238E27FC236}">
                <a16:creationId xmlns:a16="http://schemas.microsoft.com/office/drawing/2014/main" id="{A5B165D9-01DE-516C-213F-807D1CC00B40}"/>
              </a:ext>
            </a:extLst>
          </p:cNvPr>
          <p:cNvGraphicFramePr>
            <a:graphicFrameLocks noGrp="1"/>
          </p:cNvGraphicFramePr>
          <p:nvPr>
            <p:custDataLst>
              <p:tags r:id="rId5"/>
            </p:custDataLst>
            <p:extLst>
              <p:ext uri="{D42A27DB-BD31-4B8C-83A1-F6EECF244321}">
                <p14:modId xmlns:p14="http://schemas.microsoft.com/office/powerpoint/2010/main" val="3373809063"/>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174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144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19" name="Table 18">
            <a:extLst>
              <a:ext uri="{FF2B5EF4-FFF2-40B4-BE49-F238E27FC236}">
                <a16:creationId xmlns:a16="http://schemas.microsoft.com/office/drawing/2014/main" id="{CB5DDABD-C010-0BE2-7DE3-E26395A581B4}"/>
              </a:ext>
            </a:extLst>
          </p:cNvPr>
          <p:cNvGraphicFramePr>
            <a:graphicFrameLocks noGrp="1"/>
          </p:cNvGraphicFramePr>
          <p:nvPr>
            <p:custDataLst>
              <p:tags r:id="rId6"/>
            </p:custDataLst>
            <p:extLst>
              <p:ext uri="{D42A27DB-BD31-4B8C-83A1-F6EECF244321}">
                <p14:modId xmlns:p14="http://schemas.microsoft.com/office/powerpoint/2010/main" val="1494943300"/>
              </p:ext>
            </p:extLst>
          </p:nvPr>
        </p:nvGraphicFramePr>
        <p:xfrm>
          <a:off x="4702813" y="5598377"/>
          <a:ext cx="4138263" cy="294640"/>
        </p:xfrm>
        <a:graphic>
          <a:graphicData uri="http://schemas.openxmlformats.org/drawingml/2006/table">
            <a:tbl>
              <a:tblPr firstRow="1" bandRow="1">
                <a:tableStyleId>{B301B821-A1FF-4177-AEE7-76D212191A09}</a:tableStyleId>
              </a:tblPr>
              <a:tblGrid>
                <a:gridCol w="381663">
                  <a:extLst>
                    <a:ext uri="{9D8B030D-6E8A-4147-A177-3AD203B41FA5}">
                      <a16:colId xmlns:a16="http://schemas.microsoft.com/office/drawing/2014/main" val="2682733538"/>
                    </a:ext>
                  </a:extLst>
                </a:gridCol>
                <a:gridCol w="626100">
                  <a:extLst>
                    <a:ext uri="{9D8B030D-6E8A-4147-A177-3AD203B41FA5}">
                      <a16:colId xmlns:a16="http://schemas.microsoft.com/office/drawing/2014/main" val="794498370"/>
                    </a:ext>
                  </a:extLst>
                </a:gridCol>
                <a:gridCol w="626100">
                  <a:extLst>
                    <a:ext uri="{9D8B030D-6E8A-4147-A177-3AD203B41FA5}">
                      <a16:colId xmlns:a16="http://schemas.microsoft.com/office/drawing/2014/main" val="207620370"/>
                    </a:ext>
                  </a:extLst>
                </a:gridCol>
                <a:gridCol w="626100">
                  <a:extLst>
                    <a:ext uri="{9D8B030D-6E8A-4147-A177-3AD203B41FA5}">
                      <a16:colId xmlns:a16="http://schemas.microsoft.com/office/drawing/2014/main" val="811086921"/>
                    </a:ext>
                  </a:extLst>
                </a:gridCol>
                <a:gridCol w="626100">
                  <a:extLst>
                    <a:ext uri="{9D8B030D-6E8A-4147-A177-3AD203B41FA5}">
                      <a16:colId xmlns:a16="http://schemas.microsoft.com/office/drawing/2014/main" val="175740905"/>
                    </a:ext>
                  </a:extLst>
                </a:gridCol>
                <a:gridCol w="626100">
                  <a:extLst>
                    <a:ext uri="{9D8B030D-6E8A-4147-A177-3AD203B41FA5}">
                      <a16:colId xmlns:a16="http://schemas.microsoft.com/office/drawing/2014/main" val="130736661"/>
                    </a:ext>
                  </a:extLst>
                </a:gridCol>
                <a:gridCol w="626100">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73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79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106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sp>
        <p:nvSpPr>
          <p:cNvPr id="5" name="Highlight#32">
            <a:extLst>
              <a:ext uri="{FF2B5EF4-FFF2-40B4-BE49-F238E27FC236}">
                <a16:creationId xmlns:a16="http://schemas.microsoft.com/office/drawing/2014/main" id="{F0E10253-1B81-38F9-5059-DB8AF1D373F0}"/>
              </a:ext>
            </a:extLst>
          </p:cNvPr>
          <p:cNvSpPr txBox="1"/>
          <p:nvPr/>
        </p:nvSpPr>
        <p:spPr>
          <a:xfrm>
            <a:off x="5456561" y="2081155"/>
            <a:ext cx="3001639" cy="1342907"/>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Tree>
    <p:extLst>
      <p:ext uri="{BB962C8B-B14F-4D97-AF65-F5344CB8AC3E}">
        <p14:creationId xmlns:p14="http://schemas.microsoft.com/office/powerpoint/2010/main" val="14387458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a:extLst>
              <a:ext uri="{FF2B5EF4-FFF2-40B4-BE49-F238E27FC236}">
                <a16:creationId xmlns:a16="http://schemas.microsoft.com/office/drawing/2014/main" id="{20568939-89D0-B97A-F762-F510DE05B9EF}"/>
              </a:ext>
            </a:extLst>
          </p:cNvPr>
          <p:cNvGraphicFramePr/>
          <p:nvPr>
            <p:custDataLst>
              <p:tags r:id="rId1"/>
            </p:custDataLst>
            <p:extLst>
              <p:ext uri="{D42A27DB-BD31-4B8C-83A1-F6EECF244321}">
                <p14:modId xmlns:p14="http://schemas.microsoft.com/office/powerpoint/2010/main" val="2652892202"/>
              </p:ext>
            </p:extLst>
          </p:nvPr>
        </p:nvGraphicFramePr>
        <p:xfrm>
          <a:off x="4332136" y="4145173"/>
          <a:ext cx="5148776" cy="177113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28" name="Chart 27">
            <a:extLst>
              <a:ext uri="{FF2B5EF4-FFF2-40B4-BE49-F238E27FC236}">
                <a16:creationId xmlns:a16="http://schemas.microsoft.com/office/drawing/2014/main" id="{FBD6FF3B-3A36-A31F-4CF2-89E98C815973}"/>
              </a:ext>
            </a:extLst>
          </p:cNvPr>
          <p:cNvGraphicFramePr/>
          <p:nvPr>
            <p:custDataLst>
              <p:tags r:id="rId2"/>
            </p:custDataLst>
            <p:extLst>
              <p:ext uri="{D42A27DB-BD31-4B8C-83A1-F6EECF244321}">
                <p14:modId xmlns:p14="http://schemas.microsoft.com/office/powerpoint/2010/main" val="3965142445"/>
              </p:ext>
            </p:extLst>
          </p:nvPr>
        </p:nvGraphicFramePr>
        <p:xfrm>
          <a:off x="-233076" y="1914555"/>
          <a:ext cx="8888201" cy="1771137"/>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2" name="Chart 31">
            <a:extLst>
              <a:ext uri="{FF2B5EF4-FFF2-40B4-BE49-F238E27FC236}">
                <a16:creationId xmlns:a16="http://schemas.microsoft.com/office/drawing/2014/main" id="{975255E8-C065-B169-D783-696EDD919868}"/>
              </a:ext>
            </a:extLst>
          </p:cNvPr>
          <p:cNvGraphicFramePr/>
          <p:nvPr>
            <p:custDataLst>
              <p:tags r:id="rId3"/>
            </p:custDataLst>
            <p:extLst>
              <p:ext uri="{D42A27DB-BD31-4B8C-83A1-F6EECF244321}">
                <p14:modId xmlns:p14="http://schemas.microsoft.com/office/powerpoint/2010/main" val="220546484"/>
              </p:ext>
            </p:extLst>
          </p:nvPr>
        </p:nvGraphicFramePr>
        <p:xfrm>
          <a:off x="39731" y="4145173"/>
          <a:ext cx="5148776" cy="177113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2" name="Table 41">
            <a:extLst>
              <a:ext uri="{FF2B5EF4-FFF2-40B4-BE49-F238E27FC236}">
                <a16:creationId xmlns:a16="http://schemas.microsoft.com/office/drawing/2014/main" id="{8F3EB57C-0CFB-5C55-5679-A69B32C3CD33}"/>
              </a:ext>
            </a:extLst>
          </p:cNvPr>
          <p:cNvGraphicFramePr>
            <a:graphicFrameLocks noGrp="1"/>
          </p:cNvGraphicFramePr>
          <p:nvPr>
            <p:custDataLst>
              <p:tags r:id="rId4"/>
            </p:custDataLst>
            <p:extLst>
              <p:ext uri="{D42A27DB-BD31-4B8C-83A1-F6EECF244321}">
                <p14:modId xmlns:p14="http://schemas.microsoft.com/office/powerpoint/2010/main" val="649389853"/>
              </p:ext>
            </p:extLst>
          </p:nvPr>
        </p:nvGraphicFramePr>
        <p:xfrm>
          <a:off x="461239" y="3450508"/>
          <a:ext cx="8193884" cy="399320"/>
        </p:xfrm>
        <a:graphic>
          <a:graphicData uri="http://schemas.openxmlformats.org/drawingml/2006/table">
            <a:tbl>
              <a:tblPr firstRow="1" bandRow="1">
                <a:tableStyleId>{B301B821-A1FF-4177-AEE7-76D212191A09}</a:tableStyleId>
              </a:tblPr>
              <a:tblGrid>
                <a:gridCol w="396119">
                  <a:extLst>
                    <a:ext uri="{9D8B030D-6E8A-4147-A177-3AD203B41FA5}">
                      <a16:colId xmlns:a16="http://schemas.microsoft.com/office/drawing/2014/main" val="2682733538"/>
                    </a:ext>
                  </a:extLst>
                </a:gridCol>
                <a:gridCol w="519851">
                  <a:extLst>
                    <a:ext uri="{9D8B030D-6E8A-4147-A177-3AD203B41FA5}">
                      <a16:colId xmlns:a16="http://schemas.microsoft.com/office/drawing/2014/main" val="697923106"/>
                    </a:ext>
                  </a:extLst>
                </a:gridCol>
                <a:gridCol w="519851">
                  <a:extLst>
                    <a:ext uri="{9D8B030D-6E8A-4147-A177-3AD203B41FA5}">
                      <a16:colId xmlns:a16="http://schemas.microsoft.com/office/drawing/2014/main" val="153520084"/>
                    </a:ext>
                  </a:extLst>
                </a:gridCol>
                <a:gridCol w="519851">
                  <a:extLst>
                    <a:ext uri="{9D8B030D-6E8A-4147-A177-3AD203B41FA5}">
                      <a16:colId xmlns:a16="http://schemas.microsoft.com/office/drawing/2014/main" val="1675574941"/>
                    </a:ext>
                  </a:extLst>
                </a:gridCol>
                <a:gridCol w="519851">
                  <a:extLst>
                    <a:ext uri="{9D8B030D-6E8A-4147-A177-3AD203B41FA5}">
                      <a16:colId xmlns:a16="http://schemas.microsoft.com/office/drawing/2014/main" val="878418837"/>
                    </a:ext>
                  </a:extLst>
                </a:gridCol>
                <a:gridCol w="519851">
                  <a:extLst>
                    <a:ext uri="{9D8B030D-6E8A-4147-A177-3AD203B41FA5}">
                      <a16:colId xmlns:a16="http://schemas.microsoft.com/office/drawing/2014/main" val="1950270881"/>
                    </a:ext>
                  </a:extLst>
                </a:gridCol>
                <a:gridCol w="519851">
                  <a:extLst>
                    <a:ext uri="{9D8B030D-6E8A-4147-A177-3AD203B41FA5}">
                      <a16:colId xmlns:a16="http://schemas.microsoft.com/office/drawing/2014/main" val="1588492894"/>
                    </a:ext>
                  </a:extLst>
                </a:gridCol>
                <a:gridCol w="519851">
                  <a:extLst>
                    <a:ext uri="{9D8B030D-6E8A-4147-A177-3AD203B41FA5}">
                      <a16:colId xmlns:a16="http://schemas.microsoft.com/office/drawing/2014/main" val="674903761"/>
                    </a:ext>
                  </a:extLst>
                </a:gridCol>
                <a:gridCol w="519851">
                  <a:extLst>
                    <a:ext uri="{9D8B030D-6E8A-4147-A177-3AD203B41FA5}">
                      <a16:colId xmlns:a16="http://schemas.microsoft.com/office/drawing/2014/main" val="2438569604"/>
                    </a:ext>
                  </a:extLst>
                </a:gridCol>
                <a:gridCol w="519851">
                  <a:extLst>
                    <a:ext uri="{9D8B030D-6E8A-4147-A177-3AD203B41FA5}">
                      <a16:colId xmlns:a16="http://schemas.microsoft.com/office/drawing/2014/main" val="3989655059"/>
                    </a:ext>
                  </a:extLst>
                </a:gridCol>
                <a:gridCol w="519851">
                  <a:extLst>
                    <a:ext uri="{9D8B030D-6E8A-4147-A177-3AD203B41FA5}">
                      <a16:colId xmlns:a16="http://schemas.microsoft.com/office/drawing/2014/main" val="794498370"/>
                    </a:ext>
                  </a:extLst>
                </a:gridCol>
                <a:gridCol w="519851">
                  <a:extLst>
                    <a:ext uri="{9D8B030D-6E8A-4147-A177-3AD203B41FA5}">
                      <a16:colId xmlns:a16="http://schemas.microsoft.com/office/drawing/2014/main" val="207620370"/>
                    </a:ext>
                  </a:extLst>
                </a:gridCol>
                <a:gridCol w="519851">
                  <a:extLst>
                    <a:ext uri="{9D8B030D-6E8A-4147-A177-3AD203B41FA5}">
                      <a16:colId xmlns:a16="http://schemas.microsoft.com/office/drawing/2014/main" val="811086921"/>
                    </a:ext>
                  </a:extLst>
                </a:gridCol>
                <a:gridCol w="519851">
                  <a:extLst>
                    <a:ext uri="{9D8B030D-6E8A-4147-A177-3AD203B41FA5}">
                      <a16:colId xmlns:a16="http://schemas.microsoft.com/office/drawing/2014/main" val="175740905"/>
                    </a:ext>
                  </a:extLst>
                </a:gridCol>
                <a:gridCol w="519851">
                  <a:extLst>
                    <a:ext uri="{9D8B030D-6E8A-4147-A177-3AD203B41FA5}">
                      <a16:colId xmlns:a16="http://schemas.microsoft.com/office/drawing/2014/main" val="130736661"/>
                    </a:ext>
                  </a:extLst>
                </a:gridCol>
                <a:gridCol w="519851">
                  <a:extLst>
                    <a:ext uri="{9D8B030D-6E8A-4147-A177-3AD203B41FA5}">
                      <a16:colId xmlns:a16="http://schemas.microsoft.com/office/drawing/2014/main" val="2819635866"/>
                    </a:ext>
                  </a:extLst>
                </a:gridCol>
              </a:tblGrid>
              <a:tr h="252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Feb'25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Apr'25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May'25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Jun'25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Jul'25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Aug'25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Sep'25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0935177"/>
                  </a:ext>
                </a:extLst>
              </a:tr>
              <a:tr h="14400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933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791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924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808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922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856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915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854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813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852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837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762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IN" sz="800" b="1" i="0" u="none" strike="noStrike" kern="1200">
                          <a:solidFill>
                            <a:srgbClr val="071D49"/>
                          </a:solidFill>
                          <a:effectLst/>
                          <a:latin typeface="+mn-lt"/>
                          <a:ea typeface="+mn-ea"/>
                          <a:cs typeface="+mn-cs"/>
                        </a:rPr>
                        <a:t>801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8742764"/>
                  </a:ext>
                </a:extLst>
              </a:tr>
            </a:tbl>
          </a:graphicData>
        </a:graphic>
      </p:graphicFrame>
      <p:sp>
        <p:nvSpPr>
          <p:cNvPr id="46" name="Google Shape;561;p14">
            <a:extLst>
              <a:ext uri="{FF2B5EF4-FFF2-40B4-BE49-F238E27FC236}">
                <a16:creationId xmlns:a16="http://schemas.microsoft.com/office/drawing/2014/main" id="{DE2F1C3B-A287-0BD9-FFBF-8085EFA4E03A}"/>
              </a:ext>
            </a:extLst>
          </p:cNvPr>
          <p:cNvSpPr/>
          <p:nvPr/>
        </p:nvSpPr>
        <p:spPr>
          <a:xfrm>
            <a:off x="1224666" y="2137759"/>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7" name="Google Shape;561;p14">
            <a:extLst>
              <a:ext uri="{FF2B5EF4-FFF2-40B4-BE49-F238E27FC236}">
                <a16:creationId xmlns:a16="http://schemas.microsoft.com/office/drawing/2014/main" id="{B0D5E6A9-24AF-B6BD-25E4-261332E019C1}"/>
              </a:ext>
            </a:extLst>
          </p:cNvPr>
          <p:cNvSpPr/>
          <p:nvPr/>
        </p:nvSpPr>
        <p:spPr>
          <a:xfrm>
            <a:off x="1720834" y="20745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1" name="Google Shape;561;p14">
            <a:extLst>
              <a:ext uri="{FF2B5EF4-FFF2-40B4-BE49-F238E27FC236}">
                <a16:creationId xmlns:a16="http://schemas.microsoft.com/office/drawing/2014/main" id="{B6B61139-FA9D-FB8C-3273-5F5E75B41A14}"/>
              </a:ext>
            </a:extLst>
          </p:cNvPr>
          <p:cNvSpPr/>
          <p:nvPr/>
        </p:nvSpPr>
        <p:spPr>
          <a:xfrm>
            <a:off x="2259191" y="203686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3" name="Google Shape;561;p14">
            <a:extLst>
              <a:ext uri="{FF2B5EF4-FFF2-40B4-BE49-F238E27FC236}">
                <a16:creationId xmlns:a16="http://schemas.microsoft.com/office/drawing/2014/main" id="{D6C05067-A2AC-2321-DB8B-8AC5E9A0C482}"/>
              </a:ext>
            </a:extLst>
          </p:cNvPr>
          <p:cNvSpPr/>
          <p:nvPr/>
        </p:nvSpPr>
        <p:spPr>
          <a:xfrm>
            <a:off x="2779959" y="20140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4" name="Google Shape;561;p14">
            <a:extLst>
              <a:ext uri="{FF2B5EF4-FFF2-40B4-BE49-F238E27FC236}">
                <a16:creationId xmlns:a16="http://schemas.microsoft.com/office/drawing/2014/main" id="{9BA3F398-CBB7-E52B-1B76-F23411E4CD3B}"/>
              </a:ext>
            </a:extLst>
          </p:cNvPr>
          <p:cNvSpPr/>
          <p:nvPr/>
        </p:nvSpPr>
        <p:spPr>
          <a:xfrm>
            <a:off x="3302952" y="20187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55" name="Google Shape;561;p14">
            <a:extLst>
              <a:ext uri="{FF2B5EF4-FFF2-40B4-BE49-F238E27FC236}">
                <a16:creationId xmlns:a16="http://schemas.microsoft.com/office/drawing/2014/main" id="{200D3C41-E658-5F9B-E953-FDA62B5B147B}"/>
              </a:ext>
            </a:extLst>
          </p:cNvPr>
          <p:cNvSpPr/>
          <p:nvPr/>
        </p:nvSpPr>
        <p:spPr>
          <a:xfrm>
            <a:off x="3805701" y="19582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61" name="Google Shape;561;p14">
            <a:extLst>
              <a:ext uri="{FF2B5EF4-FFF2-40B4-BE49-F238E27FC236}">
                <a16:creationId xmlns:a16="http://schemas.microsoft.com/office/drawing/2014/main" id="{78AE2270-250F-1A67-3D40-ECA896306804}"/>
              </a:ext>
            </a:extLst>
          </p:cNvPr>
          <p:cNvSpPr/>
          <p:nvPr/>
        </p:nvSpPr>
        <p:spPr>
          <a:xfrm>
            <a:off x="4344488"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0" name="Google Shape;561;p14">
            <a:extLst>
              <a:ext uri="{FF2B5EF4-FFF2-40B4-BE49-F238E27FC236}">
                <a16:creationId xmlns:a16="http://schemas.microsoft.com/office/drawing/2014/main" id="{5AE23EF6-D1EC-E5EA-28F8-2F0FE8D14DC4}"/>
              </a:ext>
            </a:extLst>
          </p:cNvPr>
          <p:cNvSpPr/>
          <p:nvPr/>
        </p:nvSpPr>
        <p:spPr>
          <a:xfrm>
            <a:off x="4872195"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1" name="Google Shape;561;p14">
            <a:extLst>
              <a:ext uri="{FF2B5EF4-FFF2-40B4-BE49-F238E27FC236}">
                <a16:creationId xmlns:a16="http://schemas.microsoft.com/office/drawing/2014/main" id="{BE2CFE6A-D47C-EBCA-70D3-8E324DC2F914}"/>
              </a:ext>
            </a:extLst>
          </p:cNvPr>
          <p:cNvSpPr/>
          <p:nvPr/>
        </p:nvSpPr>
        <p:spPr>
          <a:xfrm>
            <a:off x="5406245"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2" name="Google Shape;561;p14">
            <a:extLst>
              <a:ext uri="{FF2B5EF4-FFF2-40B4-BE49-F238E27FC236}">
                <a16:creationId xmlns:a16="http://schemas.microsoft.com/office/drawing/2014/main" id="{58CA1C34-EABC-32A8-5219-E5F62B3E324C}"/>
              </a:ext>
            </a:extLst>
          </p:cNvPr>
          <p:cNvSpPr/>
          <p:nvPr/>
        </p:nvSpPr>
        <p:spPr>
          <a:xfrm>
            <a:off x="5898104"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3" name="Google Shape;561;p14">
            <a:extLst>
              <a:ext uri="{FF2B5EF4-FFF2-40B4-BE49-F238E27FC236}">
                <a16:creationId xmlns:a16="http://schemas.microsoft.com/office/drawing/2014/main" id="{51B381B7-D7C7-9D01-68F2-694FE9C2F3E6}"/>
              </a:ext>
            </a:extLst>
          </p:cNvPr>
          <p:cNvSpPr/>
          <p:nvPr/>
        </p:nvSpPr>
        <p:spPr>
          <a:xfrm>
            <a:off x="6434799"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4" name="Google Shape;561;p14">
            <a:extLst>
              <a:ext uri="{FF2B5EF4-FFF2-40B4-BE49-F238E27FC236}">
                <a16:creationId xmlns:a16="http://schemas.microsoft.com/office/drawing/2014/main" id="{AA94A6C0-987B-D2F7-FCD3-1AC5DFAC9C1B}"/>
              </a:ext>
            </a:extLst>
          </p:cNvPr>
          <p:cNvSpPr/>
          <p:nvPr/>
        </p:nvSpPr>
        <p:spPr>
          <a:xfrm>
            <a:off x="6942831"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5" name="Google Shape;561;p14">
            <a:extLst>
              <a:ext uri="{FF2B5EF4-FFF2-40B4-BE49-F238E27FC236}">
                <a16:creationId xmlns:a16="http://schemas.microsoft.com/office/drawing/2014/main" id="{2E17776F-CE04-E44B-EC7F-0D2AB3368222}"/>
              </a:ext>
            </a:extLst>
          </p:cNvPr>
          <p:cNvSpPr/>
          <p:nvPr/>
        </p:nvSpPr>
        <p:spPr>
          <a:xfrm>
            <a:off x="7479694"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6" name="Google Shape;561;p14">
            <a:extLst>
              <a:ext uri="{FF2B5EF4-FFF2-40B4-BE49-F238E27FC236}">
                <a16:creationId xmlns:a16="http://schemas.microsoft.com/office/drawing/2014/main" id="{9EB543B1-8D8F-7D6B-CB0A-A9E981D44A7D}"/>
              </a:ext>
            </a:extLst>
          </p:cNvPr>
          <p:cNvSpPr/>
          <p:nvPr/>
        </p:nvSpPr>
        <p:spPr>
          <a:xfrm>
            <a:off x="8001346"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87" name="Google Shape;561;p14">
            <a:extLst>
              <a:ext uri="{FF2B5EF4-FFF2-40B4-BE49-F238E27FC236}">
                <a16:creationId xmlns:a16="http://schemas.microsoft.com/office/drawing/2014/main" id="{490E29CD-91D1-CFD5-B73F-271376ABE343}"/>
              </a:ext>
            </a:extLst>
          </p:cNvPr>
          <p:cNvSpPr/>
          <p:nvPr/>
        </p:nvSpPr>
        <p:spPr>
          <a:xfrm>
            <a:off x="8520176" y="196061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graphicFrame>
        <p:nvGraphicFramePr>
          <p:cNvPr id="88" name="Table 87">
            <a:extLst>
              <a:ext uri="{FF2B5EF4-FFF2-40B4-BE49-F238E27FC236}">
                <a16:creationId xmlns:a16="http://schemas.microsoft.com/office/drawing/2014/main" id="{BCAD7C49-3724-37BC-8F56-DE5D5DE032C2}"/>
              </a:ext>
            </a:extLst>
          </p:cNvPr>
          <p:cNvGraphicFramePr>
            <a:graphicFrameLocks noGrp="1"/>
          </p:cNvGraphicFramePr>
          <p:nvPr>
            <p:custDataLst>
              <p:tags r:id="rId5"/>
            </p:custDataLst>
            <p:extLst>
              <p:ext uri="{D42A27DB-BD31-4B8C-83A1-F6EECF244321}">
                <p14:modId xmlns:p14="http://schemas.microsoft.com/office/powerpoint/2010/main" val="2708914336"/>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478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456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460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492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430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333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89" name="Table 88">
            <a:extLst>
              <a:ext uri="{FF2B5EF4-FFF2-40B4-BE49-F238E27FC236}">
                <a16:creationId xmlns:a16="http://schemas.microsoft.com/office/drawing/2014/main" id="{E609CBAB-A1D6-CC2A-DC80-955CA21F5D12}"/>
              </a:ext>
            </a:extLst>
          </p:cNvPr>
          <p:cNvGraphicFramePr>
            <a:graphicFrameLocks noGrp="1"/>
          </p:cNvGraphicFramePr>
          <p:nvPr>
            <p:custDataLst>
              <p:tags r:id="rId6"/>
            </p:custDataLst>
            <p:extLst>
              <p:ext uri="{D42A27DB-BD31-4B8C-83A1-F6EECF244321}">
                <p14:modId xmlns:p14="http://schemas.microsoft.com/office/powerpoint/2010/main" val="2562084921"/>
              </p:ext>
            </p:extLst>
          </p:nvPr>
        </p:nvGraphicFramePr>
        <p:xfrm>
          <a:off x="4652044" y="5598377"/>
          <a:ext cx="4491956" cy="294640"/>
        </p:xfrm>
        <a:graphic>
          <a:graphicData uri="http://schemas.openxmlformats.org/drawingml/2006/table">
            <a:tbl>
              <a:tblPr firstRow="1" bandRow="1">
                <a:tableStyleId>{B301B821-A1FF-4177-AEE7-76D212191A09}</a:tableStyleId>
              </a:tblPr>
              <a:tblGrid>
                <a:gridCol w="414284">
                  <a:extLst>
                    <a:ext uri="{9D8B030D-6E8A-4147-A177-3AD203B41FA5}">
                      <a16:colId xmlns:a16="http://schemas.microsoft.com/office/drawing/2014/main" val="2682733538"/>
                    </a:ext>
                  </a:extLst>
                </a:gridCol>
                <a:gridCol w="679612">
                  <a:extLst>
                    <a:ext uri="{9D8B030D-6E8A-4147-A177-3AD203B41FA5}">
                      <a16:colId xmlns:a16="http://schemas.microsoft.com/office/drawing/2014/main" val="794498370"/>
                    </a:ext>
                  </a:extLst>
                </a:gridCol>
                <a:gridCol w="679612">
                  <a:extLst>
                    <a:ext uri="{9D8B030D-6E8A-4147-A177-3AD203B41FA5}">
                      <a16:colId xmlns:a16="http://schemas.microsoft.com/office/drawing/2014/main" val="207620370"/>
                    </a:ext>
                  </a:extLst>
                </a:gridCol>
                <a:gridCol w="679612">
                  <a:extLst>
                    <a:ext uri="{9D8B030D-6E8A-4147-A177-3AD203B41FA5}">
                      <a16:colId xmlns:a16="http://schemas.microsoft.com/office/drawing/2014/main" val="811086921"/>
                    </a:ext>
                  </a:extLst>
                </a:gridCol>
                <a:gridCol w="679612">
                  <a:extLst>
                    <a:ext uri="{9D8B030D-6E8A-4147-A177-3AD203B41FA5}">
                      <a16:colId xmlns:a16="http://schemas.microsoft.com/office/drawing/2014/main" val="175740905"/>
                    </a:ext>
                  </a:extLst>
                </a:gridCol>
                <a:gridCol w="679612">
                  <a:extLst>
                    <a:ext uri="{9D8B030D-6E8A-4147-A177-3AD203B41FA5}">
                      <a16:colId xmlns:a16="http://schemas.microsoft.com/office/drawing/2014/main" val="130736661"/>
                    </a:ext>
                  </a:extLst>
                </a:gridCol>
                <a:gridCol w="679612">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120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144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133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204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sp>
        <p:nvSpPr>
          <p:cNvPr id="24" name="Google Shape;574;p15">
            <a:extLst>
              <a:ext uri="{FF2B5EF4-FFF2-40B4-BE49-F238E27FC236}">
                <a16:creationId xmlns:a16="http://schemas.microsoft.com/office/drawing/2014/main" id="{14064200-A5D2-8906-B045-20DCEB1C228E}"/>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1">
              <a:lnSpc>
                <a:spcPct val="90000"/>
              </a:lnSpc>
              <a:buSzPts val="1800"/>
              <a:defRPr/>
            </a:pPr>
            <a:r>
              <a:rPr lang="en-GB"/>
              <a:t>Overall, CREON’s in-person share of voice remained stable; among Gastros, it increased notably over the past three months, while declining drastically (9 pp) among PCPs from last month</a:t>
            </a:r>
            <a:endParaRPr kumimoji="0" lang="en-US" sz="1400" b="0" i="0" u="none" strike="sngStrike" kern="1200" cap="none" spc="0" normalizeH="0" baseline="0" noProof="0">
              <a:ln>
                <a:noFill/>
              </a:ln>
              <a:solidFill>
                <a:srgbClr val="071D49"/>
              </a:solidFill>
              <a:effectLst/>
              <a:uLnTx/>
              <a:uFillTx/>
              <a:latin typeface="+mn-lt"/>
              <a:ea typeface="+mj-ea"/>
              <a:cs typeface="Arial"/>
              <a:sym typeface="Arial"/>
            </a:endParaRPr>
          </a:p>
        </p:txBody>
      </p:sp>
      <p:sp>
        <p:nvSpPr>
          <p:cNvPr id="56" name="Google Shape;560;p14">
            <a:extLst>
              <a:ext uri="{FF2B5EF4-FFF2-40B4-BE49-F238E27FC236}">
                <a16:creationId xmlns:a16="http://schemas.microsoft.com/office/drawing/2014/main" id="{5DDC4B3E-845F-37C0-3FF3-ED26B7EC5500}"/>
              </a:ext>
            </a:extLst>
          </p:cNvPr>
          <p:cNvSpPr txBox="1"/>
          <p:nvPr/>
        </p:nvSpPr>
        <p:spPr>
          <a:xfrm>
            <a:off x="263257" y="5975686"/>
            <a:ext cx="8637937"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in speaker notes | s - No. of Interactions | </a:t>
            </a:r>
            <a:r>
              <a:rPr lang="en-US" sz="900">
                <a:solidFill>
                  <a:srgbClr val="001D49"/>
                </a:solidFill>
                <a:latin typeface="+mn-lt"/>
                <a:ea typeface="Calibri"/>
                <a:cs typeface="Calibri"/>
                <a:sym typeface="Calibri"/>
              </a:rPr>
              <a:t>No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statistically significant (p&lt;.05) difference between previous waves</a:t>
            </a:r>
            <a:endParaRPr kumimoji="0" lang="en-US" sz="1400" b="0" i="0" u="none" strike="noStrike" kern="0" cap="none" spc="0" normalizeH="0" baseline="0" noProof="0">
              <a:ln>
                <a:noFill/>
              </a:ln>
              <a:solidFill>
                <a:srgbClr val="001D49"/>
              </a:solidFill>
              <a:effectLst/>
              <a:uLnTx/>
              <a:uFillTx/>
              <a:latin typeface="+mn-lt"/>
              <a:ea typeface="+mn-ea"/>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other Products | **Local OLs removed</a:t>
            </a:r>
          </a:p>
        </p:txBody>
      </p:sp>
      <p:sp>
        <p:nvSpPr>
          <p:cNvPr id="57" name="Google Shape;562;p14">
            <a:extLst>
              <a:ext uri="{FF2B5EF4-FFF2-40B4-BE49-F238E27FC236}">
                <a16:creationId xmlns:a16="http://schemas.microsoft.com/office/drawing/2014/main" id="{F69D52A9-B7C3-CB59-ABCA-C67FF3499E95}"/>
              </a:ext>
            </a:extLst>
          </p:cNvPr>
          <p:cNvSpPr/>
          <p:nvPr/>
        </p:nvSpPr>
        <p:spPr>
          <a:xfrm>
            <a:off x="371065" y="617299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60" name="Rectangle 59">
            <a:extLst>
              <a:ext uri="{FF2B5EF4-FFF2-40B4-BE49-F238E27FC236}">
                <a16:creationId xmlns:a16="http://schemas.microsoft.com/office/drawing/2014/main" id="{51AAB9C9-C761-974B-3EA1-61B7778AC308}"/>
              </a:ext>
            </a:extLst>
          </p:cNvPr>
          <p:cNvSpPr/>
          <p:nvPr/>
        </p:nvSpPr>
        <p:spPr>
          <a:xfrm rot="16200000">
            <a:off x="-38341" y="260012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63" name="Google Shape;741;p13">
            <a:extLst>
              <a:ext uri="{FF2B5EF4-FFF2-40B4-BE49-F238E27FC236}">
                <a16:creationId xmlns:a16="http://schemas.microsoft.com/office/drawing/2014/main" id="{E3E2B076-F0FC-1A9E-3FF2-FA1400FE340B}"/>
              </a:ext>
            </a:extLst>
          </p:cNvPr>
          <p:cNvSpPr/>
          <p:nvPr/>
        </p:nvSpPr>
        <p:spPr>
          <a:xfrm>
            <a:off x="787575" y="3917389"/>
            <a:ext cx="3393068"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64" name="Rectangle 63">
            <a:extLst>
              <a:ext uri="{FF2B5EF4-FFF2-40B4-BE49-F238E27FC236}">
                <a16:creationId xmlns:a16="http://schemas.microsoft.com/office/drawing/2014/main" id="{D3203530-DA61-AC31-01E7-28DB0024D0F3}"/>
              </a:ext>
            </a:extLst>
          </p:cNvPr>
          <p:cNvSpPr/>
          <p:nvPr/>
        </p:nvSpPr>
        <p:spPr>
          <a:xfrm rot="16200000">
            <a:off x="-212598" y="469009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67" name="Google Shape;741;p13">
            <a:extLst>
              <a:ext uri="{FF2B5EF4-FFF2-40B4-BE49-F238E27FC236}">
                <a16:creationId xmlns:a16="http://schemas.microsoft.com/office/drawing/2014/main" id="{FA14A8D2-8A76-8EF4-648A-832523311BF9}"/>
              </a:ext>
            </a:extLst>
          </p:cNvPr>
          <p:cNvSpPr/>
          <p:nvPr/>
        </p:nvSpPr>
        <p:spPr>
          <a:xfrm>
            <a:off x="5160731" y="3874528"/>
            <a:ext cx="3195695"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7" name="Google Shape;741;p13">
            <a:extLst>
              <a:ext uri="{FF2B5EF4-FFF2-40B4-BE49-F238E27FC236}">
                <a16:creationId xmlns:a16="http://schemas.microsoft.com/office/drawing/2014/main" id="{40D78F35-BF96-1B3A-FB9F-E4E064B2313F}"/>
              </a:ext>
            </a:extLst>
          </p:cNvPr>
          <p:cNvSpPr/>
          <p:nvPr/>
        </p:nvSpPr>
        <p:spPr>
          <a:xfrm>
            <a:off x="3090483" y="1437534"/>
            <a:ext cx="2736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Share of Voice – In Person Rep**</a:t>
            </a:r>
            <a:endParaRPr kumimoji="0" lang="en-GB"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8" name="Google Shape;573;p15">
            <a:extLst>
              <a:ext uri="{FF2B5EF4-FFF2-40B4-BE49-F238E27FC236}">
                <a16:creationId xmlns:a16="http://schemas.microsoft.com/office/drawing/2014/main" id="{96EF3DA7-1273-9C85-5DD1-0CAE0D9637DE}"/>
              </a:ext>
            </a:extLst>
          </p:cNvPr>
          <p:cNvSpPr/>
          <p:nvPr/>
        </p:nvSpPr>
        <p:spPr>
          <a:xfrm>
            <a:off x="2787379" y="939601"/>
            <a:ext cx="356924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Share of Voice**</a:t>
            </a:r>
            <a:endParaRPr kumimoji="0" lang="en-US" sz="14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mn-lt"/>
                <a:ea typeface="Calibri"/>
                <a:cs typeface="Calibri"/>
                <a:sym typeface="Calibri"/>
              </a:rPr>
              <a:t>(Jan’25 – Mar’26)</a:t>
            </a:r>
          </a:p>
        </p:txBody>
      </p:sp>
      <p:sp>
        <p:nvSpPr>
          <p:cNvPr id="8" name="Rectangle 7">
            <a:extLst>
              <a:ext uri="{FF2B5EF4-FFF2-40B4-BE49-F238E27FC236}">
                <a16:creationId xmlns:a16="http://schemas.microsoft.com/office/drawing/2014/main" id="{1F432BA2-2191-1834-FC11-AEBE49F86785}"/>
              </a:ext>
            </a:extLst>
          </p:cNvPr>
          <p:cNvSpPr/>
          <p:nvPr/>
        </p:nvSpPr>
        <p:spPr>
          <a:xfrm rot="16200000">
            <a:off x="4055067" y="469009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10" name="TextBox 9">
            <a:extLst>
              <a:ext uri="{FF2B5EF4-FFF2-40B4-BE49-F238E27FC236}">
                <a16:creationId xmlns:a16="http://schemas.microsoft.com/office/drawing/2014/main" id="{69C67AC3-CE35-29E4-4226-5609CB251D80}"/>
              </a:ext>
            </a:extLst>
          </p:cNvPr>
          <p:cNvSpPr txBox="1"/>
          <p:nvPr/>
        </p:nvSpPr>
        <p:spPr>
          <a:xfrm>
            <a:off x="6969552" y="715460"/>
            <a:ext cx="193164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a:sym typeface="Arial"/>
                <a:hlinkClick r:id="rId12" action="ppaction://hlinksldjump">
                  <a:extLst>
                    <a:ext uri="{A12FA001-AC4F-418D-AE19-62706E023703}">
                      <ahyp:hlinkClr xmlns:ahyp="http://schemas.microsoft.com/office/drawing/2018/hyperlinkcolor" val="tx"/>
                    </a:ext>
                  </a:extLst>
                </a:hlinkClick>
              </a:rPr>
              <a:t>In Person Rep - NP/PA data</a:t>
            </a:r>
            <a:endParaRPr kumimoji="0" lang="en-US" sz="1000" b="0" i="0" u="sng" strike="noStrike" kern="0" cap="none" spc="0" normalizeH="0" baseline="0" noProof="0">
              <a:ln>
                <a:noFill/>
              </a:ln>
              <a:solidFill>
                <a:schemeClr val="accent1"/>
              </a:solidFill>
              <a:effectLst/>
              <a:uLnTx/>
              <a:uFillTx/>
              <a:latin typeface="+mn-lt"/>
              <a:cs typeface="Arial"/>
              <a:sym typeface="Arial"/>
            </a:endParaRPr>
          </a:p>
        </p:txBody>
      </p:sp>
      <p:sp>
        <p:nvSpPr>
          <p:cNvPr id="21" name="Google Shape;561;p14">
            <a:extLst>
              <a:ext uri="{FF2B5EF4-FFF2-40B4-BE49-F238E27FC236}">
                <a16:creationId xmlns:a16="http://schemas.microsoft.com/office/drawing/2014/main" id="{412B9B9B-2659-702C-3F40-28D6DD53EA67}"/>
              </a:ext>
            </a:extLst>
          </p:cNvPr>
          <p:cNvSpPr/>
          <p:nvPr/>
        </p:nvSpPr>
        <p:spPr>
          <a:xfrm>
            <a:off x="1102007" y="422533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9" name="Google Shape;561;p14">
            <a:extLst>
              <a:ext uri="{FF2B5EF4-FFF2-40B4-BE49-F238E27FC236}">
                <a16:creationId xmlns:a16="http://schemas.microsoft.com/office/drawing/2014/main" id="{658CA66B-FCB0-2BE9-3B35-6C66C09D2009}"/>
              </a:ext>
            </a:extLst>
          </p:cNvPr>
          <p:cNvSpPr/>
          <p:nvPr/>
        </p:nvSpPr>
        <p:spPr>
          <a:xfrm>
            <a:off x="1768917" y="429173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9" name="Highlight#32">
            <a:extLst>
              <a:ext uri="{FF2B5EF4-FFF2-40B4-BE49-F238E27FC236}">
                <a16:creationId xmlns:a16="http://schemas.microsoft.com/office/drawing/2014/main" id="{880C1789-60C8-FB4E-A59E-BD037F791306}"/>
              </a:ext>
            </a:extLst>
          </p:cNvPr>
          <p:cNvSpPr txBox="1"/>
          <p:nvPr/>
        </p:nvSpPr>
        <p:spPr>
          <a:xfrm>
            <a:off x="3392453" y="4106948"/>
            <a:ext cx="1190831" cy="998156"/>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6" name="Google Shape;561;p14">
            <a:extLst>
              <a:ext uri="{FF2B5EF4-FFF2-40B4-BE49-F238E27FC236}">
                <a16:creationId xmlns:a16="http://schemas.microsoft.com/office/drawing/2014/main" id="{FBDD4263-644A-C56D-7FDE-1C76F439C569}"/>
              </a:ext>
            </a:extLst>
          </p:cNvPr>
          <p:cNvSpPr/>
          <p:nvPr/>
        </p:nvSpPr>
        <p:spPr>
          <a:xfrm>
            <a:off x="2435827" y="429173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7" name="Google Shape;561;p14">
            <a:extLst>
              <a:ext uri="{FF2B5EF4-FFF2-40B4-BE49-F238E27FC236}">
                <a16:creationId xmlns:a16="http://schemas.microsoft.com/office/drawing/2014/main" id="{39A6C778-DBEF-A59C-1930-0CDF4807A7A4}"/>
              </a:ext>
            </a:extLst>
          </p:cNvPr>
          <p:cNvSpPr/>
          <p:nvPr/>
        </p:nvSpPr>
        <p:spPr>
          <a:xfrm>
            <a:off x="3122271" y="429173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8" name="Google Shape;561;p14">
            <a:extLst>
              <a:ext uri="{FF2B5EF4-FFF2-40B4-BE49-F238E27FC236}">
                <a16:creationId xmlns:a16="http://schemas.microsoft.com/office/drawing/2014/main" id="{7FC68AA0-DAEE-CE80-50D3-EF805AD284A0}"/>
              </a:ext>
            </a:extLst>
          </p:cNvPr>
          <p:cNvSpPr/>
          <p:nvPr/>
        </p:nvSpPr>
        <p:spPr>
          <a:xfrm>
            <a:off x="6824694" y="425853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0" name="Google Shape;561;p14">
            <a:extLst>
              <a:ext uri="{FF2B5EF4-FFF2-40B4-BE49-F238E27FC236}">
                <a16:creationId xmlns:a16="http://schemas.microsoft.com/office/drawing/2014/main" id="{EBE0EB5E-4437-F38F-A47E-1B723D167F41}"/>
              </a:ext>
            </a:extLst>
          </p:cNvPr>
          <p:cNvSpPr/>
          <p:nvPr/>
        </p:nvSpPr>
        <p:spPr>
          <a:xfrm>
            <a:off x="6131714" y="41887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3" name="Google Shape;561;p14">
            <a:extLst>
              <a:ext uri="{FF2B5EF4-FFF2-40B4-BE49-F238E27FC236}">
                <a16:creationId xmlns:a16="http://schemas.microsoft.com/office/drawing/2014/main" id="{F9B5DB5F-5716-44D0-6D4B-7D8CA710CD52}"/>
              </a:ext>
            </a:extLst>
          </p:cNvPr>
          <p:cNvSpPr/>
          <p:nvPr/>
        </p:nvSpPr>
        <p:spPr>
          <a:xfrm>
            <a:off x="5419880" y="4253509"/>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9" name="Google Shape;561;p14">
            <a:extLst>
              <a:ext uri="{FF2B5EF4-FFF2-40B4-BE49-F238E27FC236}">
                <a16:creationId xmlns:a16="http://schemas.microsoft.com/office/drawing/2014/main" id="{FA76EC38-895F-71F3-866F-A7AB0759F39B}"/>
              </a:ext>
            </a:extLst>
          </p:cNvPr>
          <p:cNvSpPr/>
          <p:nvPr/>
        </p:nvSpPr>
        <p:spPr>
          <a:xfrm>
            <a:off x="7527101" y="425853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3" name="Google Shape;561;p14">
            <a:extLst>
              <a:ext uri="{FF2B5EF4-FFF2-40B4-BE49-F238E27FC236}">
                <a16:creationId xmlns:a16="http://schemas.microsoft.com/office/drawing/2014/main" id="{FC5D6293-7988-9113-9C72-553B4B5E73D3}"/>
              </a:ext>
            </a:extLst>
          </p:cNvPr>
          <p:cNvSpPr/>
          <p:nvPr/>
        </p:nvSpPr>
        <p:spPr>
          <a:xfrm>
            <a:off x="3766833" y="4288669"/>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4" name="Google Shape;561;p14">
            <a:extLst>
              <a:ext uri="{FF2B5EF4-FFF2-40B4-BE49-F238E27FC236}">
                <a16:creationId xmlns:a16="http://schemas.microsoft.com/office/drawing/2014/main" id="{999FA709-0991-DE72-132F-5296C30F1929}"/>
              </a:ext>
            </a:extLst>
          </p:cNvPr>
          <p:cNvSpPr/>
          <p:nvPr/>
        </p:nvSpPr>
        <p:spPr>
          <a:xfrm>
            <a:off x="8229508" y="425853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1" name="Google Shape;561;p14">
            <a:extLst>
              <a:ext uri="{FF2B5EF4-FFF2-40B4-BE49-F238E27FC236}">
                <a16:creationId xmlns:a16="http://schemas.microsoft.com/office/drawing/2014/main" id="{967F6B18-0A82-E719-A11C-8F03780B579B}"/>
              </a:ext>
            </a:extLst>
          </p:cNvPr>
          <p:cNvSpPr/>
          <p:nvPr/>
        </p:nvSpPr>
        <p:spPr>
          <a:xfrm>
            <a:off x="4436557" y="422533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5" name="Google Shape;561;p14">
            <a:extLst>
              <a:ext uri="{FF2B5EF4-FFF2-40B4-BE49-F238E27FC236}">
                <a16:creationId xmlns:a16="http://schemas.microsoft.com/office/drawing/2014/main" id="{138235DE-F800-EA7B-8016-82D9A2E64114}"/>
              </a:ext>
            </a:extLst>
          </p:cNvPr>
          <p:cNvSpPr/>
          <p:nvPr/>
        </p:nvSpPr>
        <p:spPr>
          <a:xfrm>
            <a:off x="8931915" y="445390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grpSp>
        <p:nvGrpSpPr>
          <p:cNvPr id="90" name="Group 89">
            <a:extLst>
              <a:ext uri="{FF2B5EF4-FFF2-40B4-BE49-F238E27FC236}">
                <a16:creationId xmlns:a16="http://schemas.microsoft.com/office/drawing/2014/main" id="{21B74E09-7267-4B85-2637-9E8C3CE4FEDA}"/>
              </a:ext>
            </a:extLst>
          </p:cNvPr>
          <p:cNvGrpSpPr/>
          <p:nvPr/>
        </p:nvGrpSpPr>
        <p:grpSpPr>
          <a:xfrm>
            <a:off x="6490550" y="1130341"/>
            <a:ext cx="2553649" cy="658702"/>
            <a:chOff x="6490547" y="1130338"/>
            <a:chExt cx="2553649" cy="658701"/>
          </a:xfrm>
        </p:grpSpPr>
        <p:grpSp>
          <p:nvGrpSpPr>
            <p:cNvPr id="91" name="Group 90">
              <a:extLst>
                <a:ext uri="{FF2B5EF4-FFF2-40B4-BE49-F238E27FC236}">
                  <a16:creationId xmlns:a16="http://schemas.microsoft.com/office/drawing/2014/main" id="{BD14E108-7D53-6CE9-12E9-1653491294D2}"/>
                </a:ext>
              </a:extLst>
            </p:cNvPr>
            <p:cNvGrpSpPr/>
            <p:nvPr/>
          </p:nvGrpSpPr>
          <p:grpSpPr>
            <a:xfrm>
              <a:off x="6704982" y="1178481"/>
              <a:ext cx="1548909" cy="246181"/>
              <a:chOff x="6463878" y="5263238"/>
              <a:chExt cx="1548909" cy="246181"/>
            </a:xfrm>
          </p:grpSpPr>
          <p:sp>
            <p:nvSpPr>
              <p:cNvPr id="104" name="Google Shape;763;p18">
                <a:extLst>
                  <a:ext uri="{FF2B5EF4-FFF2-40B4-BE49-F238E27FC236}">
                    <a16:creationId xmlns:a16="http://schemas.microsoft.com/office/drawing/2014/main" id="{6D03EC1C-2B70-ECAF-6792-5DD2CEF01EE9}"/>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105" name="Google Shape;764;p18">
                <a:extLst>
                  <a:ext uri="{FF2B5EF4-FFF2-40B4-BE49-F238E27FC236}">
                    <a16:creationId xmlns:a16="http://schemas.microsoft.com/office/drawing/2014/main" id="{21114782-A99E-378A-8929-692B6F543FD5}"/>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92" name="Group 91">
              <a:extLst>
                <a:ext uri="{FF2B5EF4-FFF2-40B4-BE49-F238E27FC236}">
                  <a16:creationId xmlns:a16="http://schemas.microsoft.com/office/drawing/2014/main" id="{FA06BFBB-481B-1F92-3A56-0F3795E34BA4}"/>
                </a:ext>
              </a:extLst>
            </p:cNvPr>
            <p:cNvGrpSpPr/>
            <p:nvPr/>
          </p:nvGrpSpPr>
          <p:grpSpPr>
            <a:xfrm>
              <a:off x="6704982" y="1459847"/>
              <a:ext cx="1548909" cy="246181"/>
              <a:chOff x="6463878" y="5569382"/>
              <a:chExt cx="1548909" cy="246181"/>
            </a:xfrm>
          </p:grpSpPr>
          <p:sp>
            <p:nvSpPr>
              <p:cNvPr id="102" name="Google Shape;764;p18">
                <a:extLst>
                  <a:ext uri="{FF2B5EF4-FFF2-40B4-BE49-F238E27FC236}">
                    <a16:creationId xmlns:a16="http://schemas.microsoft.com/office/drawing/2014/main" id="{547A71AC-27FC-858A-0C0B-7067362454A0}"/>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103" name="Google Shape;763;p18">
                <a:extLst>
                  <a:ext uri="{FF2B5EF4-FFF2-40B4-BE49-F238E27FC236}">
                    <a16:creationId xmlns:a16="http://schemas.microsoft.com/office/drawing/2014/main" id="{D912207D-1228-6020-DEE4-4AB1C1E8161B}"/>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93" name="Group 92">
              <a:extLst>
                <a:ext uri="{FF2B5EF4-FFF2-40B4-BE49-F238E27FC236}">
                  <a16:creationId xmlns:a16="http://schemas.microsoft.com/office/drawing/2014/main" id="{42CC2B63-CA14-BAFA-2625-959FFEEEAAD7}"/>
                </a:ext>
              </a:extLst>
            </p:cNvPr>
            <p:cNvGrpSpPr/>
            <p:nvPr/>
          </p:nvGrpSpPr>
          <p:grpSpPr>
            <a:xfrm>
              <a:off x="7833585" y="1178324"/>
              <a:ext cx="1210611" cy="246181"/>
              <a:chOff x="7592481" y="5287523"/>
              <a:chExt cx="1210611" cy="246181"/>
            </a:xfrm>
          </p:grpSpPr>
          <p:sp>
            <p:nvSpPr>
              <p:cNvPr id="100" name="Google Shape;764;p18">
                <a:extLst>
                  <a:ext uri="{FF2B5EF4-FFF2-40B4-BE49-F238E27FC236}">
                    <a16:creationId xmlns:a16="http://schemas.microsoft.com/office/drawing/2014/main" id="{BCB02491-F244-CFAF-B979-8607B400C1D7}"/>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101" name="Google Shape;763;p18">
                <a:extLst>
                  <a:ext uri="{FF2B5EF4-FFF2-40B4-BE49-F238E27FC236}">
                    <a16:creationId xmlns:a16="http://schemas.microsoft.com/office/drawing/2014/main" id="{F82238E4-7C51-B13F-5F3B-A5BEDE3CF73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94" name="Group 93">
              <a:extLst>
                <a:ext uri="{FF2B5EF4-FFF2-40B4-BE49-F238E27FC236}">
                  <a16:creationId xmlns:a16="http://schemas.microsoft.com/office/drawing/2014/main" id="{312406AF-F961-4D29-1A80-C757C60A4053}"/>
                </a:ext>
              </a:extLst>
            </p:cNvPr>
            <p:cNvGrpSpPr/>
            <p:nvPr/>
          </p:nvGrpSpPr>
          <p:grpSpPr>
            <a:xfrm>
              <a:off x="7833585" y="1459689"/>
              <a:ext cx="1067607" cy="246181"/>
              <a:chOff x="7592481" y="5544446"/>
              <a:chExt cx="1067607" cy="246181"/>
            </a:xfrm>
          </p:grpSpPr>
          <p:sp>
            <p:nvSpPr>
              <p:cNvPr id="96" name="Google Shape;764;p18">
                <a:extLst>
                  <a:ext uri="{FF2B5EF4-FFF2-40B4-BE49-F238E27FC236}">
                    <a16:creationId xmlns:a16="http://schemas.microsoft.com/office/drawing/2014/main" id="{1449977B-7D4C-71B1-99EB-673F2FD23371}"/>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99" name="Google Shape;763;p18">
                <a:extLst>
                  <a:ext uri="{FF2B5EF4-FFF2-40B4-BE49-F238E27FC236}">
                    <a16:creationId xmlns:a16="http://schemas.microsoft.com/office/drawing/2014/main" id="{B82D4397-9AC4-BC11-F97C-1EF706A05A7F}"/>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95" name="Rectangle 94">
              <a:extLst>
                <a:ext uri="{FF2B5EF4-FFF2-40B4-BE49-F238E27FC236}">
                  <a16:creationId xmlns:a16="http://schemas.microsoft.com/office/drawing/2014/main" id="{5E6D0F1A-65AB-B2CE-4A85-9BBECBF9DBDE}"/>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3" name="Highlight#32">
            <a:extLst>
              <a:ext uri="{FF2B5EF4-FFF2-40B4-BE49-F238E27FC236}">
                <a16:creationId xmlns:a16="http://schemas.microsoft.com/office/drawing/2014/main" id="{209CD33B-F135-0AD4-471D-9453AC987BC7}"/>
              </a:ext>
            </a:extLst>
          </p:cNvPr>
          <p:cNvSpPr txBox="1"/>
          <p:nvPr/>
        </p:nvSpPr>
        <p:spPr>
          <a:xfrm>
            <a:off x="7893846" y="4106948"/>
            <a:ext cx="1190831" cy="859536"/>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Tree>
    <p:extLst>
      <p:ext uri="{BB962C8B-B14F-4D97-AF65-F5344CB8AC3E}">
        <p14:creationId xmlns:p14="http://schemas.microsoft.com/office/powerpoint/2010/main" val="3652542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258DFC48-37C9-5AAA-23EA-ACC13362851B}"/>
              </a:ext>
            </a:extLst>
          </p:cNvPr>
          <p:cNvGraphicFramePr/>
          <p:nvPr>
            <p:custDataLst>
              <p:tags r:id="rId1"/>
            </p:custDataLst>
            <p:extLst>
              <p:ext uri="{D42A27DB-BD31-4B8C-83A1-F6EECF244321}">
                <p14:modId xmlns:p14="http://schemas.microsoft.com/office/powerpoint/2010/main" val="3328312516"/>
              </p:ext>
            </p:extLst>
          </p:nvPr>
        </p:nvGraphicFramePr>
        <p:xfrm>
          <a:off x="4400239" y="3850557"/>
          <a:ext cx="5148776" cy="1666026"/>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4" name="Chart 13">
            <a:extLst>
              <a:ext uri="{FF2B5EF4-FFF2-40B4-BE49-F238E27FC236}">
                <a16:creationId xmlns:a16="http://schemas.microsoft.com/office/drawing/2014/main" id="{AD010734-98AF-357C-124D-B75CC48AB528}"/>
              </a:ext>
            </a:extLst>
          </p:cNvPr>
          <p:cNvGraphicFramePr/>
          <p:nvPr>
            <p:custDataLst>
              <p:tags r:id="rId2"/>
            </p:custDataLst>
            <p:extLst>
              <p:ext uri="{D42A27DB-BD31-4B8C-83A1-F6EECF244321}">
                <p14:modId xmlns:p14="http://schemas.microsoft.com/office/powerpoint/2010/main" val="2205712452"/>
              </p:ext>
            </p:extLst>
          </p:nvPr>
        </p:nvGraphicFramePr>
        <p:xfrm>
          <a:off x="2109315" y="1679328"/>
          <a:ext cx="5148776" cy="1777779"/>
        </p:xfrm>
        <a:graphic>
          <a:graphicData uri="http://schemas.openxmlformats.org/drawingml/2006/chart">
            <c:chart xmlns:c="http://schemas.openxmlformats.org/drawingml/2006/chart" xmlns:r="http://schemas.openxmlformats.org/officeDocument/2006/relationships" r:id="rId10"/>
          </a:graphicData>
        </a:graphic>
      </p:graphicFrame>
      <p:sp>
        <p:nvSpPr>
          <p:cNvPr id="10" name="Highlight#32">
            <a:extLst>
              <a:ext uri="{FF2B5EF4-FFF2-40B4-BE49-F238E27FC236}">
                <a16:creationId xmlns:a16="http://schemas.microsoft.com/office/drawing/2014/main" id="{0E9CCC74-B338-F3B6-7F75-9107C03D6602}"/>
              </a:ext>
            </a:extLst>
          </p:cNvPr>
          <p:cNvSpPr txBox="1"/>
          <p:nvPr/>
        </p:nvSpPr>
        <p:spPr>
          <a:xfrm>
            <a:off x="5462649" y="1919306"/>
            <a:ext cx="1281764" cy="856771"/>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6" name="Google Shape;560;p14">
            <a:extLst>
              <a:ext uri="{FF2B5EF4-FFF2-40B4-BE49-F238E27FC236}">
                <a16:creationId xmlns:a16="http://schemas.microsoft.com/office/drawing/2014/main" id="{5DDC4B3E-845F-37C0-3FF3-ED26B7EC5500}"/>
              </a:ext>
            </a:extLst>
          </p:cNvPr>
          <p:cNvSpPr txBox="1"/>
          <p:nvPr/>
        </p:nvSpPr>
        <p:spPr>
          <a:xfrm>
            <a:off x="263257" y="5975686"/>
            <a:ext cx="8637937"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in speaker notes | </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s - No. of Interactions</a:t>
            </a:r>
            <a:r>
              <a:rPr kumimoji="0" lang="en-GB" sz="900" b="0" i="0" u="none" strike="noStrike" kern="0" cap="none" spc="0" normalizeH="0" baseline="0" noProof="0">
                <a:ln>
                  <a:noFill/>
                </a:ln>
                <a:solidFill>
                  <a:srgbClr val="001D49"/>
                </a:solidFill>
                <a:effectLst/>
                <a:uLnTx/>
                <a:uFillTx/>
                <a:latin typeface="+mn-lt"/>
                <a:ea typeface="Calibri"/>
                <a:sym typeface="Arial"/>
              </a:rPr>
              <a:t>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No statistically significant (p&lt;.05) difference between previous waves</a:t>
            </a:r>
            <a:endParaRPr kumimoji="0" lang="en-US" sz="1400" b="0" i="0" u="none" strike="noStrike" kern="0" cap="none" spc="0" normalizeH="0" baseline="0" noProof="0">
              <a:ln>
                <a:noFill/>
              </a:ln>
              <a:solidFill>
                <a:srgbClr val="001D49"/>
              </a:solidFill>
              <a:effectLst/>
              <a:uLnTx/>
              <a:uFillTx/>
              <a:latin typeface="+mn-lt"/>
              <a:ea typeface="+mn-ea"/>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other Products | **Local OLs removed</a:t>
            </a:r>
            <a:endParaRPr kumimoji="0" lang="en-US" sz="1400" b="0" i="0" u="none" strike="noStrike" kern="0" cap="none" spc="0" normalizeH="0" baseline="0" noProof="0">
              <a:ln>
                <a:noFill/>
              </a:ln>
              <a:solidFill>
                <a:srgbClr val="001D49"/>
              </a:solidFill>
              <a:effectLst/>
              <a:uLnTx/>
              <a:uFillTx/>
              <a:latin typeface="+mn-lt"/>
              <a:ea typeface="+mn-ea"/>
              <a:sym typeface="Arial"/>
            </a:endParaRPr>
          </a:p>
        </p:txBody>
      </p:sp>
      <p:sp>
        <p:nvSpPr>
          <p:cNvPr id="57" name="Google Shape;562;p14">
            <a:extLst>
              <a:ext uri="{FF2B5EF4-FFF2-40B4-BE49-F238E27FC236}">
                <a16:creationId xmlns:a16="http://schemas.microsoft.com/office/drawing/2014/main" id="{F69D52A9-B7C3-CB59-ABCA-C67FF3499E95}"/>
              </a:ext>
            </a:extLst>
          </p:cNvPr>
          <p:cNvSpPr/>
          <p:nvPr/>
        </p:nvSpPr>
        <p:spPr>
          <a:xfrm>
            <a:off x="362555" y="617378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63" name="Google Shape;741;p13">
            <a:extLst>
              <a:ext uri="{FF2B5EF4-FFF2-40B4-BE49-F238E27FC236}">
                <a16:creationId xmlns:a16="http://schemas.microsoft.com/office/drawing/2014/main" id="{E3E2B076-F0FC-1A9E-3FF2-FA1400FE340B}"/>
              </a:ext>
            </a:extLst>
          </p:cNvPr>
          <p:cNvSpPr/>
          <p:nvPr/>
        </p:nvSpPr>
        <p:spPr>
          <a:xfrm>
            <a:off x="1062109" y="3694919"/>
            <a:ext cx="2844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67" name="Google Shape;741;p13">
            <a:extLst>
              <a:ext uri="{FF2B5EF4-FFF2-40B4-BE49-F238E27FC236}">
                <a16:creationId xmlns:a16="http://schemas.microsoft.com/office/drawing/2014/main" id="{FA14A8D2-8A76-8EF4-648A-832523311BF9}"/>
              </a:ext>
            </a:extLst>
          </p:cNvPr>
          <p:cNvSpPr/>
          <p:nvPr/>
        </p:nvSpPr>
        <p:spPr>
          <a:xfrm>
            <a:off x="5336577" y="3694919"/>
            <a:ext cx="2844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7" name="Google Shape;741;p13">
            <a:extLst>
              <a:ext uri="{FF2B5EF4-FFF2-40B4-BE49-F238E27FC236}">
                <a16:creationId xmlns:a16="http://schemas.microsoft.com/office/drawing/2014/main" id="{40D78F35-BF96-1B3A-FB9F-E4E064B2313F}"/>
              </a:ext>
            </a:extLst>
          </p:cNvPr>
          <p:cNvSpPr/>
          <p:nvPr/>
        </p:nvSpPr>
        <p:spPr>
          <a:xfrm>
            <a:off x="3204000" y="1344640"/>
            <a:ext cx="2736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Reach – In Person Rep**</a:t>
            </a:r>
            <a:endParaRPr kumimoji="0" lang="en-GB"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8" name="Google Shape;573;p15">
            <a:extLst>
              <a:ext uri="{FF2B5EF4-FFF2-40B4-BE49-F238E27FC236}">
                <a16:creationId xmlns:a16="http://schemas.microsoft.com/office/drawing/2014/main" id="{96EF3DA7-1273-9C85-5DD1-0CAE0D9637DE}"/>
              </a:ext>
            </a:extLst>
          </p:cNvPr>
          <p:cNvSpPr/>
          <p:nvPr/>
        </p:nvSpPr>
        <p:spPr>
          <a:xfrm>
            <a:off x="2787379" y="939601"/>
            <a:ext cx="356924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Reach**</a:t>
            </a:r>
            <a:endParaRPr kumimoji="0" lang="en-IN" sz="14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IN" sz="1000" b="0" i="0" u="sng" strike="noStrike" kern="0" cap="none" spc="0" normalizeH="0" baseline="0" noProof="0">
                <a:ln>
                  <a:noFill/>
                </a:ln>
                <a:solidFill>
                  <a:srgbClr val="071D49"/>
                </a:solidFill>
                <a:effectLst/>
                <a:uLnTx/>
                <a:uFillTx/>
                <a:latin typeface="+mn-lt"/>
                <a:ea typeface="Calibri"/>
                <a:cs typeface="Calibri"/>
                <a:sym typeface="Calibri"/>
              </a:rPr>
              <a:t>(Oct’25 – Mar’26)</a:t>
            </a:r>
            <a:endParaRPr kumimoji="0" lang="en-IN" sz="1000" b="0" i="0" u="sng" strike="noStrike" kern="0" cap="none" spc="0" normalizeH="0" baseline="30000" noProof="0">
              <a:ln>
                <a:noFill/>
              </a:ln>
              <a:solidFill>
                <a:srgbClr val="071D49"/>
              </a:solidFill>
              <a:effectLst/>
              <a:uLnTx/>
              <a:uFillTx/>
              <a:latin typeface="+mn-lt"/>
              <a:ea typeface="Calibri"/>
              <a:cs typeface="Calibri" panose="020F0502020204030204" pitchFamily="34" charset="0"/>
              <a:sym typeface="Calibri"/>
            </a:endParaRPr>
          </a:p>
        </p:txBody>
      </p:sp>
      <p:graphicFrame>
        <p:nvGraphicFramePr>
          <p:cNvPr id="2" name="Chart 1">
            <a:extLst>
              <a:ext uri="{FF2B5EF4-FFF2-40B4-BE49-F238E27FC236}">
                <a16:creationId xmlns:a16="http://schemas.microsoft.com/office/drawing/2014/main" id="{AE00D739-2EE5-7FD1-CD91-2F7769CDF86E}"/>
              </a:ext>
            </a:extLst>
          </p:cNvPr>
          <p:cNvGraphicFramePr/>
          <p:nvPr>
            <p:custDataLst>
              <p:tags r:id="rId3"/>
            </p:custDataLst>
            <p:extLst>
              <p:ext uri="{D42A27DB-BD31-4B8C-83A1-F6EECF244321}">
                <p14:modId xmlns:p14="http://schemas.microsoft.com/office/powerpoint/2010/main" val="338487380"/>
              </p:ext>
            </p:extLst>
          </p:nvPr>
        </p:nvGraphicFramePr>
        <p:xfrm>
          <a:off x="39731" y="3939604"/>
          <a:ext cx="5148776" cy="1771137"/>
        </p:xfrm>
        <a:graphic>
          <a:graphicData uri="http://schemas.openxmlformats.org/drawingml/2006/chart">
            <c:chart xmlns:c="http://schemas.openxmlformats.org/drawingml/2006/chart" xmlns:r="http://schemas.openxmlformats.org/officeDocument/2006/relationships" r:id="rId11"/>
          </a:graphicData>
        </a:graphic>
      </p:graphicFrame>
      <p:sp>
        <p:nvSpPr>
          <p:cNvPr id="3" name="Rectangle 2">
            <a:extLst>
              <a:ext uri="{FF2B5EF4-FFF2-40B4-BE49-F238E27FC236}">
                <a16:creationId xmlns:a16="http://schemas.microsoft.com/office/drawing/2014/main" id="{362A52E2-69EB-443B-2ABC-965AEB891A36}"/>
              </a:ext>
            </a:extLst>
          </p:cNvPr>
          <p:cNvSpPr/>
          <p:nvPr/>
        </p:nvSpPr>
        <p:spPr>
          <a:xfrm rot="16200000">
            <a:off x="-196504" y="4648878"/>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11" name="Rectangle 10">
            <a:extLst>
              <a:ext uri="{FF2B5EF4-FFF2-40B4-BE49-F238E27FC236}">
                <a16:creationId xmlns:a16="http://schemas.microsoft.com/office/drawing/2014/main" id="{A1F863B6-E14C-3C90-39C8-0925239FBDAA}"/>
              </a:ext>
            </a:extLst>
          </p:cNvPr>
          <p:cNvSpPr/>
          <p:nvPr/>
        </p:nvSpPr>
        <p:spPr>
          <a:xfrm rot="16200000">
            <a:off x="4133001" y="4530515"/>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20" name="Rectangle 19">
            <a:extLst>
              <a:ext uri="{FF2B5EF4-FFF2-40B4-BE49-F238E27FC236}">
                <a16:creationId xmlns:a16="http://schemas.microsoft.com/office/drawing/2014/main" id="{B667EECA-C210-33EC-B1C1-9A37D8BDBEB4}"/>
              </a:ext>
            </a:extLst>
          </p:cNvPr>
          <p:cNvSpPr/>
          <p:nvPr/>
        </p:nvSpPr>
        <p:spPr>
          <a:xfrm rot="16200000">
            <a:off x="1842077" y="2330712"/>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cxnSp>
        <p:nvCxnSpPr>
          <p:cNvPr id="13" name="Straight Connector 12">
            <a:extLst>
              <a:ext uri="{FF2B5EF4-FFF2-40B4-BE49-F238E27FC236}">
                <a16:creationId xmlns:a16="http://schemas.microsoft.com/office/drawing/2014/main" id="{AFAE6CF6-4703-D0A0-311E-2ABCF9F629BB}"/>
              </a:ext>
            </a:extLst>
          </p:cNvPr>
          <p:cNvCxnSpPr>
            <a:cxnSpLocks/>
          </p:cNvCxnSpPr>
          <p:nvPr/>
        </p:nvCxnSpPr>
        <p:spPr>
          <a:xfrm flipH="1">
            <a:off x="561079" y="3702185"/>
            <a:ext cx="828000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895C6F3-62D2-FAC0-E8F3-3BA8754382F7}"/>
              </a:ext>
            </a:extLst>
          </p:cNvPr>
          <p:cNvSpPr txBox="1"/>
          <p:nvPr/>
        </p:nvSpPr>
        <p:spPr>
          <a:xfrm>
            <a:off x="6969552" y="715460"/>
            <a:ext cx="193164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a:sym typeface="Arial"/>
                <a:hlinkClick r:id="rId12" action="ppaction://hlinksldjump">
                  <a:extLst>
                    <a:ext uri="{A12FA001-AC4F-418D-AE19-62706E023703}">
                      <ahyp:hlinkClr xmlns:ahyp="http://schemas.microsoft.com/office/drawing/2018/hyperlinkcolor" val="tx"/>
                    </a:ext>
                  </a:extLst>
                </a:hlinkClick>
              </a:rPr>
              <a:t>In Person Rep - NP/PA data</a:t>
            </a:r>
            <a:endParaRPr kumimoji="0" lang="en-US" sz="1000" b="0" i="0" u="sng" strike="noStrike" kern="0" cap="none" spc="0" normalizeH="0" baseline="0" noProof="0">
              <a:ln>
                <a:noFill/>
              </a:ln>
              <a:solidFill>
                <a:schemeClr val="accent1"/>
              </a:solidFill>
              <a:effectLst/>
              <a:uLnTx/>
              <a:uFillTx/>
              <a:latin typeface="+mn-lt"/>
              <a:cs typeface="Arial"/>
              <a:sym typeface="Arial"/>
            </a:endParaRPr>
          </a:p>
        </p:txBody>
      </p:sp>
      <p:sp>
        <p:nvSpPr>
          <p:cNvPr id="9" name="Google Shape;562;p14">
            <a:extLst>
              <a:ext uri="{FF2B5EF4-FFF2-40B4-BE49-F238E27FC236}">
                <a16:creationId xmlns:a16="http://schemas.microsoft.com/office/drawing/2014/main" id="{6F6B1B2E-70D8-58F9-7434-1727C60CE1EF}"/>
              </a:ext>
            </a:extLst>
          </p:cNvPr>
          <p:cNvSpPr/>
          <p:nvPr/>
        </p:nvSpPr>
        <p:spPr>
          <a:xfrm>
            <a:off x="3188317" y="205303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12" name="Google Shape;562;p14">
            <a:extLst>
              <a:ext uri="{FF2B5EF4-FFF2-40B4-BE49-F238E27FC236}">
                <a16:creationId xmlns:a16="http://schemas.microsoft.com/office/drawing/2014/main" id="{ED3A0D8F-D01A-23AE-6FFB-7DB4A39637FD}"/>
              </a:ext>
            </a:extLst>
          </p:cNvPr>
          <p:cNvSpPr/>
          <p:nvPr/>
        </p:nvSpPr>
        <p:spPr>
          <a:xfrm>
            <a:off x="1774505" y="417572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17" name="Google Shape;562;p14">
            <a:extLst>
              <a:ext uri="{FF2B5EF4-FFF2-40B4-BE49-F238E27FC236}">
                <a16:creationId xmlns:a16="http://schemas.microsoft.com/office/drawing/2014/main" id="{A4F0D2CA-B7DC-6AB2-C5E3-3E4E8D393AEC}"/>
              </a:ext>
            </a:extLst>
          </p:cNvPr>
          <p:cNvSpPr/>
          <p:nvPr/>
        </p:nvSpPr>
        <p:spPr>
          <a:xfrm>
            <a:off x="6116495" y="420033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8" name="Google Shape;562;p14">
            <a:extLst>
              <a:ext uri="{FF2B5EF4-FFF2-40B4-BE49-F238E27FC236}">
                <a16:creationId xmlns:a16="http://schemas.microsoft.com/office/drawing/2014/main" id="{24712CAA-4342-40B4-E5E8-BC26C1290902}"/>
              </a:ext>
            </a:extLst>
          </p:cNvPr>
          <p:cNvSpPr/>
          <p:nvPr/>
        </p:nvSpPr>
        <p:spPr>
          <a:xfrm>
            <a:off x="3832954" y="206065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9" name="Google Shape;562;p14">
            <a:extLst>
              <a:ext uri="{FF2B5EF4-FFF2-40B4-BE49-F238E27FC236}">
                <a16:creationId xmlns:a16="http://schemas.microsoft.com/office/drawing/2014/main" id="{9C4A8095-758E-EFBC-3C8D-DF5E95D3E29A}"/>
              </a:ext>
            </a:extLst>
          </p:cNvPr>
          <p:cNvSpPr/>
          <p:nvPr/>
        </p:nvSpPr>
        <p:spPr>
          <a:xfrm>
            <a:off x="4496572" y="209113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1" name="Google Shape;562;p14">
            <a:extLst>
              <a:ext uri="{FF2B5EF4-FFF2-40B4-BE49-F238E27FC236}">
                <a16:creationId xmlns:a16="http://schemas.microsoft.com/office/drawing/2014/main" id="{54159869-C8D6-A9F7-0F38-13413E900351}"/>
              </a:ext>
            </a:extLst>
          </p:cNvPr>
          <p:cNvSpPr/>
          <p:nvPr/>
        </p:nvSpPr>
        <p:spPr>
          <a:xfrm>
            <a:off x="1116615" y="417475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2" name="Google Shape;562;p14">
            <a:extLst>
              <a:ext uri="{FF2B5EF4-FFF2-40B4-BE49-F238E27FC236}">
                <a16:creationId xmlns:a16="http://schemas.microsoft.com/office/drawing/2014/main" id="{428C22E8-E747-19DD-0682-0947EE2FDFB3}"/>
              </a:ext>
            </a:extLst>
          </p:cNvPr>
          <p:cNvSpPr/>
          <p:nvPr/>
        </p:nvSpPr>
        <p:spPr>
          <a:xfrm>
            <a:off x="2432396" y="415455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3" name="Google Shape;562;p14">
            <a:extLst>
              <a:ext uri="{FF2B5EF4-FFF2-40B4-BE49-F238E27FC236}">
                <a16:creationId xmlns:a16="http://schemas.microsoft.com/office/drawing/2014/main" id="{EC1290B2-F13E-65E3-C08B-0E0C18151B94}"/>
              </a:ext>
            </a:extLst>
          </p:cNvPr>
          <p:cNvSpPr/>
          <p:nvPr/>
        </p:nvSpPr>
        <p:spPr>
          <a:xfrm>
            <a:off x="6786081" y="428635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45" name="Google Shape;562;p14">
            <a:extLst>
              <a:ext uri="{FF2B5EF4-FFF2-40B4-BE49-F238E27FC236}">
                <a16:creationId xmlns:a16="http://schemas.microsoft.com/office/drawing/2014/main" id="{44CD1E1A-6AB4-3755-D1DA-68AA059F0948}"/>
              </a:ext>
            </a:extLst>
          </p:cNvPr>
          <p:cNvSpPr/>
          <p:nvPr/>
        </p:nvSpPr>
        <p:spPr>
          <a:xfrm>
            <a:off x="5471390" y="420033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1" name="Google Shape;574;p15">
            <a:extLst>
              <a:ext uri="{FF2B5EF4-FFF2-40B4-BE49-F238E27FC236}">
                <a16:creationId xmlns:a16="http://schemas.microsoft.com/office/drawing/2014/main" id="{02B4A4A2-E582-3C89-41DE-7BBD2B40A6A1}"/>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1">
              <a:lnSpc>
                <a:spcPct val="90000"/>
              </a:lnSpc>
              <a:buSzPts val="1800"/>
              <a:defRPr/>
            </a:pPr>
            <a:r>
              <a:rPr lang="en-GB"/>
              <a:t>In-person reach for both CREON and ZENPEP increased marginally over the past two months, driven by a notable increase among PCPs</a:t>
            </a:r>
            <a:endParaRPr kumimoji="0" lang="en-US" sz="1400" b="0" i="0" u="none" strike="sngStrike" kern="0" cap="none" spc="0" normalizeH="0" baseline="0" noProof="0">
              <a:ln>
                <a:noFill/>
              </a:ln>
              <a:solidFill>
                <a:srgbClr val="071D49"/>
              </a:solidFill>
              <a:effectLst/>
              <a:uLnTx/>
              <a:uFillTx/>
              <a:latin typeface="+mn-lt"/>
              <a:ea typeface="Calibri"/>
              <a:cs typeface="Calibri"/>
              <a:sym typeface="Calibri"/>
            </a:endParaRPr>
          </a:p>
        </p:txBody>
      </p:sp>
      <p:sp>
        <p:nvSpPr>
          <p:cNvPr id="24" name="Google Shape;562;p14">
            <a:extLst>
              <a:ext uri="{FF2B5EF4-FFF2-40B4-BE49-F238E27FC236}">
                <a16:creationId xmlns:a16="http://schemas.microsoft.com/office/drawing/2014/main" id="{99DBE3BA-6B8E-901E-9E50-D66A81EC1785}"/>
              </a:ext>
            </a:extLst>
          </p:cNvPr>
          <p:cNvSpPr/>
          <p:nvPr/>
        </p:nvSpPr>
        <p:spPr>
          <a:xfrm>
            <a:off x="5146412" y="207589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8" name="Google Shape;562;p14">
            <a:extLst>
              <a:ext uri="{FF2B5EF4-FFF2-40B4-BE49-F238E27FC236}">
                <a16:creationId xmlns:a16="http://schemas.microsoft.com/office/drawing/2014/main" id="{609E4DDA-D8B8-A66A-A528-C24205841E99}"/>
              </a:ext>
            </a:extLst>
          </p:cNvPr>
          <p:cNvSpPr/>
          <p:nvPr/>
        </p:nvSpPr>
        <p:spPr>
          <a:xfrm>
            <a:off x="3067225" y="409875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9" name="Google Shape;562;p14">
            <a:extLst>
              <a:ext uri="{FF2B5EF4-FFF2-40B4-BE49-F238E27FC236}">
                <a16:creationId xmlns:a16="http://schemas.microsoft.com/office/drawing/2014/main" id="{BA25B373-EF13-DF7A-5618-B1943F8B38E2}"/>
              </a:ext>
            </a:extLst>
          </p:cNvPr>
          <p:cNvSpPr/>
          <p:nvPr/>
        </p:nvSpPr>
        <p:spPr>
          <a:xfrm>
            <a:off x="7407852" y="423055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15" name="Google Shape;562;p14">
            <a:extLst>
              <a:ext uri="{FF2B5EF4-FFF2-40B4-BE49-F238E27FC236}">
                <a16:creationId xmlns:a16="http://schemas.microsoft.com/office/drawing/2014/main" id="{678437AC-C74C-E7EE-0C8F-E90E3E11C47F}"/>
              </a:ext>
            </a:extLst>
          </p:cNvPr>
          <p:cNvSpPr/>
          <p:nvPr/>
        </p:nvSpPr>
        <p:spPr>
          <a:xfrm>
            <a:off x="5801732" y="207589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2" name="Google Shape;562;p14">
            <a:extLst>
              <a:ext uri="{FF2B5EF4-FFF2-40B4-BE49-F238E27FC236}">
                <a16:creationId xmlns:a16="http://schemas.microsoft.com/office/drawing/2014/main" id="{1E15A5C6-66D9-EEFF-A87D-B63972455B68}"/>
              </a:ext>
            </a:extLst>
          </p:cNvPr>
          <p:cNvSpPr/>
          <p:nvPr/>
        </p:nvSpPr>
        <p:spPr>
          <a:xfrm>
            <a:off x="3711058" y="409875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1" name="Google Shape;562;p14">
            <a:extLst>
              <a:ext uri="{FF2B5EF4-FFF2-40B4-BE49-F238E27FC236}">
                <a16:creationId xmlns:a16="http://schemas.microsoft.com/office/drawing/2014/main" id="{D31A7481-4C1D-9ED7-1129-4CBB2152D1A1}"/>
              </a:ext>
            </a:extLst>
          </p:cNvPr>
          <p:cNvSpPr/>
          <p:nvPr/>
        </p:nvSpPr>
        <p:spPr>
          <a:xfrm>
            <a:off x="8075601" y="428635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16" name="Google Shape;562;p14">
            <a:extLst>
              <a:ext uri="{FF2B5EF4-FFF2-40B4-BE49-F238E27FC236}">
                <a16:creationId xmlns:a16="http://schemas.microsoft.com/office/drawing/2014/main" id="{3D0CF72A-45B4-9DCB-4A89-49BCE4E1111E}"/>
              </a:ext>
            </a:extLst>
          </p:cNvPr>
          <p:cNvSpPr/>
          <p:nvPr/>
        </p:nvSpPr>
        <p:spPr>
          <a:xfrm>
            <a:off x="6428961" y="207589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23" name="Google Shape;562;p14">
            <a:extLst>
              <a:ext uri="{FF2B5EF4-FFF2-40B4-BE49-F238E27FC236}">
                <a16:creationId xmlns:a16="http://schemas.microsoft.com/office/drawing/2014/main" id="{D9A7ADF1-FA55-C4EE-9EC7-79C242C76E19}"/>
              </a:ext>
            </a:extLst>
          </p:cNvPr>
          <p:cNvSpPr/>
          <p:nvPr/>
        </p:nvSpPr>
        <p:spPr>
          <a:xfrm>
            <a:off x="4388770" y="413843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sp>
        <p:nvSpPr>
          <p:cNvPr id="32" name="Google Shape;562;p14">
            <a:extLst>
              <a:ext uri="{FF2B5EF4-FFF2-40B4-BE49-F238E27FC236}">
                <a16:creationId xmlns:a16="http://schemas.microsoft.com/office/drawing/2014/main" id="{05E7E367-0CE6-CF8C-1630-18F2C971B056}"/>
              </a:ext>
            </a:extLst>
          </p:cNvPr>
          <p:cNvSpPr/>
          <p:nvPr/>
        </p:nvSpPr>
        <p:spPr>
          <a:xfrm>
            <a:off x="8725181" y="420033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a:sym typeface="Arial"/>
            </a:endParaRPr>
          </a:p>
        </p:txBody>
      </p:sp>
      <p:graphicFrame>
        <p:nvGraphicFramePr>
          <p:cNvPr id="19" name="Table 18">
            <a:extLst>
              <a:ext uri="{FF2B5EF4-FFF2-40B4-BE49-F238E27FC236}">
                <a16:creationId xmlns:a16="http://schemas.microsoft.com/office/drawing/2014/main" id="{40EB42B1-9285-15B9-F1A0-B539FB1EA491}"/>
              </a:ext>
            </a:extLst>
          </p:cNvPr>
          <p:cNvGraphicFramePr>
            <a:graphicFrameLocks noGrp="1"/>
          </p:cNvGraphicFramePr>
          <p:nvPr>
            <p:custDataLst>
              <p:tags r:id="rId4"/>
            </p:custDataLst>
            <p:extLst>
              <p:ext uri="{D42A27DB-BD31-4B8C-83A1-F6EECF244321}">
                <p14:modId xmlns:p14="http://schemas.microsoft.com/office/powerpoint/2010/main" val="908394194"/>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174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144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33" name="Table 32">
            <a:extLst>
              <a:ext uri="{FF2B5EF4-FFF2-40B4-BE49-F238E27FC236}">
                <a16:creationId xmlns:a16="http://schemas.microsoft.com/office/drawing/2014/main" id="{FE9CA0EE-9E4D-79D0-C9F2-C170BB163A96}"/>
              </a:ext>
            </a:extLst>
          </p:cNvPr>
          <p:cNvGraphicFramePr>
            <a:graphicFrameLocks noGrp="1"/>
          </p:cNvGraphicFramePr>
          <p:nvPr>
            <p:custDataLst>
              <p:tags r:id="rId5"/>
            </p:custDataLst>
            <p:extLst>
              <p:ext uri="{D42A27DB-BD31-4B8C-83A1-F6EECF244321}">
                <p14:modId xmlns:p14="http://schemas.microsoft.com/office/powerpoint/2010/main" val="785949067"/>
              </p:ext>
            </p:extLst>
          </p:nvPr>
        </p:nvGraphicFramePr>
        <p:xfrm>
          <a:off x="2341135" y="3293050"/>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35" name="Table 34">
            <a:extLst>
              <a:ext uri="{FF2B5EF4-FFF2-40B4-BE49-F238E27FC236}">
                <a16:creationId xmlns:a16="http://schemas.microsoft.com/office/drawing/2014/main" id="{318A73A2-C4E7-D277-2BE9-49A6EEE27BA3}"/>
              </a:ext>
            </a:extLst>
          </p:cNvPr>
          <p:cNvGraphicFramePr>
            <a:graphicFrameLocks noGrp="1"/>
          </p:cNvGraphicFramePr>
          <p:nvPr>
            <p:custDataLst>
              <p:tags r:id="rId6"/>
            </p:custDataLst>
            <p:extLst>
              <p:ext uri="{D42A27DB-BD31-4B8C-83A1-F6EECF244321}">
                <p14:modId xmlns:p14="http://schemas.microsoft.com/office/powerpoint/2010/main" val="1036131467"/>
              </p:ext>
            </p:extLst>
          </p:nvPr>
        </p:nvGraphicFramePr>
        <p:xfrm>
          <a:off x="4683703"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73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96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79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84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106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pSp>
        <p:nvGrpSpPr>
          <p:cNvPr id="36" name="Group 35">
            <a:extLst>
              <a:ext uri="{FF2B5EF4-FFF2-40B4-BE49-F238E27FC236}">
                <a16:creationId xmlns:a16="http://schemas.microsoft.com/office/drawing/2014/main" id="{4224EF3F-2ACA-CA22-0A8A-CE2C39516DB9}"/>
              </a:ext>
            </a:extLst>
          </p:cNvPr>
          <p:cNvGrpSpPr/>
          <p:nvPr/>
        </p:nvGrpSpPr>
        <p:grpSpPr>
          <a:xfrm>
            <a:off x="6490550" y="1130341"/>
            <a:ext cx="2553649" cy="658702"/>
            <a:chOff x="6490547" y="1130338"/>
            <a:chExt cx="2553649" cy="658701"/>
          </a:xfrm>
        </p:grpSpPr>
        <p:grpSp>
          <p:nvGrpSpPr>
            <p:cNvPr id="37" name="Group 36">
              <a:extLst>
                <a:ext uri="{FF2B5EF4-FFF2-40B4-BE49-F238E27FC236}">
                  <a16:creationId xmlns:a16="http://schemas.microsoft.com/office/drawing/2014/main" id="{23185269-589E-6182-4A05-1463887B1231}"/>
                </a:ext>
              </a:extLst>
            </p:cNvPr>
            <p:cNvGrpSpPr/>
            <p:nvPr/>
          </p:nvGrpSpPr>
          <p:grpSpPr>
            <a:xfrm>
              <a:off x="6704982" y="1178481"/>
              <a:ext cx="1548909" cy="246181"/>
              <a:chOff x="6463878" y="5263238"/>
              <a:chExt cx="1548909" cy="246181"/>
            </a:xfrm>
          </p:grpSpPr>
          <p:sp>
            <p:nvSpPr>
              <p:cNvPr id="54" name="Google Shape;763;p18">
                <a:extLst>
                  <a:ext uri="{FF2B5EF4-FFF2-40B4-BE49-F238E27FC236}">
                    <a16:creationId xmlns:a16="http://schemas.microsoft.com/office/drawing/2014/main" id="{03B35A2A-A94E-3683-2A09-B3ECE6B55389}"/>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5" name="Google Shape;764;p18">
                <a:extLst>
                  <a:ext uri="{FF2B5EF4-FFF2-40B4-BE49-F238E27FC236}">
                    <a16:creationId xmlns:a16="http://schemas.microsoft.com/office/drawing/2014/main" id="{A38B08C4-112D-8A80-8AA9-947647D0E427}"/>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95D8D30E-15B3-002A-68C9-4B242633E2C3}"/>
                </a:ext>
              </a:extLst>
            </p:cNvPr>
            <p:cNvGrpSpPr/>
            <p:nvPr/>
          </p:nvGrpSpPr>
          <p:grpSpPr>
            <a:xfrm>
              <a:off x="6704982" y="1459847"/>
              <a:ext cx="1548909" cy="246181"/>
              <a:chOff x="6463878" y="5569382"/>
              <a:chExt cx="1548909" cy="246181"/>
            </a:xfrm>
          </p:grpSpPr>
          <p:sp>
            <p:nvSpPr>
              <p:cNvPr id="52" name="Google Shape;764;p18">
                <a:extLst>
                  <a:ext uri="{FF2B5EF4-FFF2-40B4-BE49-F238E27FC236}">
                    <a16:creationId xmlns:a16="http://schemas.microsoft.com/office/drawing/2014/main" id="{26F416F3-5879-4000-B987-EBB036D3BA93}"/>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3;p18">
                <a:extLst>
                  <a:ext uri="{FF2B5EF4-FFF2-40B4-BE49-F238E27FC236}">
                    <a16:creationId xmlns:a16="http://schemas.microsoft.com/office/drawing/2014/main" id="{FC747DBC-FB3A-FC94-DCEB-905D744E9514}"/>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4" name="Group 43">
              <a:extLst>
                <a:ext uri="{FF2B5EF4-FFF2-40B4-BE49-F238E27FC236}">
                  <a16:creationId xmlns:a16="http://schemas.microsoft.com/office/drawing/2014/main" id="{A018006B-90AE-5487-4FFE-0F612A8AE413}"/>
                </a:ext>
              </a:extLst>
            </p:cNvPr>
            <p:cNvGrpSpPr/>
            <p:nvPr/>
          </p:nvGrpSpPr>
          <p:grpSpPr>
            <a:xfrm>
              <a:off x="7833585" y="1178324"/>
              <a:ext cx="1210611" cy="246181"/>
              <a:chOff x="7592481" y="5287523"/>
              <a:chExt cx="1210611" cy="246181"/>
            </a:xfrm>
          </p:grpSpPr>
          <p:sp>
            <p:nvSpPr>
              <p:cNvPr id="50" name="Google Shape;764;p18">
                <a:extLst>
                  <a:ext uri="{FF2B5EF4-FFF2-40B4-BE49-F238E27FC236}">
                    <a16:creationId xmlns:a16="http://schemas.microsoft.com/office/drawing/2014/main" id="{CBB68756-9E58-3C6F-D520-8E3160E102E3}"/>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1" name="Google Shape;763;p18">
                <a:extLst>
                  <a:ext uri="{FF2B5EF4-FFF2-40B4-BE49-F238E27FC236}">
                    <a16:creationId xmlns:a16="http://schemas.microsoft.com/office/drawing/2014/main" id="{8A348E54-1F8A-33A3-84B2-DB5BD07EF83F}"/>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6" name="Group 45">
              <a:extLst>
                <a:ext uri="{FF2B5EF4-FFF2-40B4-BE49-F238E27FC236}">
                  <a16:creationId xmlns:a16="http://schemas.microsoft.com/office/drawing/2014/main" id="{E42BEA74-DEBA-C70E-8FFD-C24E6BDF18B5}"/>
                </a:ext>
              </a:extLst>
            </p:cNvPr>
            <p:cNvGrpSpPr/>
            <p:nvPr/>
          </p:nvGrpSpPr>
          <p:grpSpPr>
            <a:xfrm>
              <a:off x="7833585" y="1459689"/>
              <a:ext cx="1067607" cy="246181"/>
              <a:chOff x="7592481" y="5544446"/>
              <a:chExt cx="1067607" cy="246181"/>
            </a:xfrm>
          </p:grpSpPr>
          <p:sp>
            <p:nvSpPr>
              <p:cNvPr id="48" name="Google Shape;764;p18">
                <a:extLst>
                  <a:ext uri="{FF2B5EF4-FFF2-40B4-BE49-F238E27FC236}">
                    <a16:creationId xmlns:a16="http://schemas.microsoft.com/office/drawing/2014/main" id="{91966262-6232-0ED5-FBFF-077A113EEB26}"/>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9" name="Google Shape;763;p18">
                <a:extLst>
                  <a:ext uri="{FF2B5EF4-FFF2-40B4-BE49-F238E27FC236}">
                    <a16:creationId xmlns:a16="http://schemas.microsoft.com/office/drawing/2014/main" id="{FC5A4539-8DAD-ECAF-6098-FD07DA3BC40C}"/>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47" name="Rectangle 46">
              <a:extLst>
                <a:ext uri="{FF2B5EF4-FFF2-40B4-BE49-F238E27FC236}">
                  <a16:creationId xmlns:a16="http://schemas.microsoft.com/office/drawing/2014/main" id="{CA3B81AD-2F10-DDAB-8218-BB7B8CB64D10}"/>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6" name="Highlight#32">
            <a:extLst>
              <a:ext uri="{FF2B5EF4-FFF2-40B4-BE49-F238E27FC236}">
                <a16:creationId xmlns:a16="http://schemas.microsoft.com/office/drawing/2014/main" id="{210D5925-202C-47B9-AB3B-E1EB77E8F5E2}"/>
              </a:ext>
            </a:extLst>
          </p:cNvPr>
          <p:cNvSpPr txBox="1"/>
          <p:nvPr/>
        </p:nvSpPr>
        <p:spPr>
          <a:xfrm>
            <a:off x="7709733" y="4054552"/>
            <a:ext cx="1186739" cy="781015"/>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Tree>
    <p:extLst>
      <p:ext uri="{BB962C8B-B14F-4D97-AF65-F5344CB8AC3E}">
        <p14:creationId xmlns:p14="http://schemas.microsoft.com/office/powerpoint/2010/main" val="42945369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a:extLst>
              <a:ext uri="{FF2B5EF4-FFF2-40B4-BE49-F238E27FC236}">
                <a16:creationId xmlns:a16="http://schemas.microsoft.com/office/drawing/2014/main" id="{7B5E4DD8-0A48-0727-4634-035A91352DFC}"/>
              </a:ext>
            </a:extLst>
          </p:cNvPr>
          <p:cNvGraphicFramePr/>
          <p:nvPr>
            <p:custDataLst>
              <p:tags r:id="rId1"/>
            </p:custDataLst>
            <p:extLst>
              <p:ext uri="{D42A27DB-BD31-4B8C-83A1-F6EECF244321}">
                <p14:modId xmlns:p14="http://schemas.microsoft.com/office/powerpoint/2010/main" val="692283510"/>
              </p:ext>
            </p:extLst>
          </p:nvPr>
        </p:nvGraphicFramePr>
        <p:xfrm>
          <a:off x="2058636" y="1796658"/>
          <a:ext cx="5148776" cy="1334617"/>
        </p:xfrm>
        <a:graphic>
          <a:graphicData uri="http://schemas.openxmlformats.org/drawingml/2006/chart">
            <c:chart xmlns:c="http://schemas.openxmlformats.org/drawingml/2006/chart" xmlns:r="http://schemas.openxmlformats.org/officeDocument/2006/relationships" r:id="rId10"/>
          </a:graphicData>
        </a:graphic>
      </p:graphicFrame>
      <p:sp>
        <p:nvSpPr>
          <p:cNvPr id="56" name="Google Shape;560;p14">
            <a:extLst>
              <a:ext uri="{FF2B5EF4-FFF2-40B4-BE49-F238E27FC236}">
                <a16:creationId xmlns:a16="http://schemas.microsoft.com/office/drawing/2014/main" id="{5DDC4B3E-845F-37C0-3FF3-ED26B7EC5500}"/>
              </a:ext>
            </a:extLst>
          </p:cNvPr>
          <p:cNvSpPr txBox="1"/>
          <p:nvPr/>
        </p:nvSpPr>
        <p:spPr>
          <a:xfrm>
            <a:off x="263257" y="5975686"/>
            <a:ext cx="8637937" cy="5077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in speaker notes | </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s - No. of Interactions</a:t>
            </a:r>
            <a:r>
              <a:rPr kumimoji="0" lang="en-GB" sz="900" b="0" i="0" u="none" strike="noStrike" kern="0" cap="none" spc="0" normalizeH="0" baseline="0" noProof="0">
                <a:ln>
                  <a:noFill/>
                </a:ln>
                <a:solidFill>
                  <a:srgbClr val="001D49"/>
                </a:solidFill>
                <a:effectLst/>
                <a:uLnTx/>
                <a:uFillTx/>
                <a:latin typeface="+mn-lt"/>
                <a:ea typeface="Calibri"/>
                <a:sym typeface="Arial"/>
              </a:rPr>
              <a:t>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**Local OLs removed</a:t>
            </a:r>
            <a:endParaRPr kumimoji="0" lang="en-US" sz="1400" b="0" i="0" u="none" strike="noStrike" kern="0" cap="none" spc="0" normalizeH="0" baseline="0" noProof="0">
              <a:ln>
                <a:noFill/>
              </a:ln>
              <a:solidFill>
                <a:srgbClr val="001D49"/>
              </a:solidFill>
              <a:effectLst/>
              <a:uLnTx/>
              <a:uFillTx/>
              <a:latin typeface="+mn-lt"/>
              <a:ea typeface="+mn-ea"/>
              <a:sym typeface="Arial"/>
            </a:endParaRPr>
          </a:p>
        </p:txBody>
      </p:sp>
      <p:sp>
        <p:nvSpPr>
          <p:cNvPr id="63" name="Google Shape;741;p13">
            <a:extLst>
              <a:ext uri="{FF2B5EF4-FFF2-40B4-BE49-F238E27FC236}">
                <a16:creationId xmlns:a16="http://schemas.microsoft.com/office/drawing/2014/main" id="{E3E2B076-F0FC-1A9E-3FF2-FA1400FE340B}"/>
              </a:ext>
            </a:extLst>
          </p:cNvPr>
          <p:cNvSpPr/>
          <p:nvPr/>
        </p:nvSpPr>
        <p:spPr>
          <a:xfrm>
            <a:off x="1062109" y="3694919"/>
            <a:ext cx="2844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Gastros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67" name="Google Shape;741;p13">
            <a:extLst>
              <a:ext uri="{FF2B5EF4-FFF2-40B4-BE49-F238E27FC236}">
                <a16:creationId xmlns:a16="http://schemas.microsoft.com/office/drawing/2014/main" id="{FA14A8D2-8A76-8EF4-648A-832523311BF9}"/>
              </a:ext>
            </a:extLst>
          </p:cNvPr>
          <p:cNvSpPr/>
          <p:nvPr/>
        </p:nvSpPr>
        <p:spPr>
          <a:xfrm>
            <a:off x="5336577" y="3694919"/>
            <a:ext cx="2844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PCPs</a:t>
            </a:r>
            <a:endParaRPr kumimoji="0" lang="en-US"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7" name="Google Shape;741;p13">
            <a:extLst>
              <a:ext uri="{FF2B5EF4-FFF2-40B4-BE49-F238E27FC236}">
                <a16:creationId xmlns:a16="http://schemas.microsoft.com/office/drawing/2014/main" id="{40D78F35-BF96-1B3A-FB9F-E4E064B2313F}"/>
              </a:ext>
            </a:extLst>
          </p:cNvPr>
          <p:cNvSpPr/>
          <p:nvPr/>
        </p:nvSpPr>
        <p:spPr>
          <a:xfrm>
            <a:off x="3204000" y="1344640"/>
            <a:ext cx="2736000"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 – In Person Rep**</a:t>
            </a:r>
            <a:endParaRPr kumimoji="0" lang="en-GB" sz="1200" b="0" i="0" u="none" strike="noStrike" kern="0" cap="none" spc="0" normalizeH="0" baseline="0" noProof="0">
              <a:ln>
                <a:noFill/>
              </a:ln>
              <a:solidFill>
                <a:srgbClr val="000000"/>
              </a:solidFill>
              <a:effectLst/>
              <a:uLnTx/>
              <a:uFillTx/>
              <a:latin typeface="+mn-lt"/>
              <a:ea typeface="+mn-ea"/>
              <a:cs typeface="Calibri" panose="020F0502020204030204" pitchFamily="34" charset="0"/>
              <a:sym typeface="Arial"/>
            </a:endParaRPr>
          </a:p>
        </p:txBody>
      </p:sp>
      <p:sp>
        <p:nvSpPr>
          <p:cNvPr id="98" name="Google Shape;573;p15">
            <a:extLst>
              <a:ext uri="{FF2B5EF4-FFF2-40B4-BE49-F238E27FC236}">
                <a16:creationId xmlns:a16="http://schemas.microsoft.com/office/drawing/2014/main" id="{96EF3DA7-1273-9C85-5DD1-0CAE0D9637DE}"/>
              </a:ext>
            </a:extLst>
          </p:cNvPr>
          <p:cNvSpPr/>
          <p:nvPr/>
        </p:nvSpPr>
        <p:spPr>
          <a:xfrm>
            <a:off x="2787379" y="939601"/>
            <a:ext cx="356924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a:t>
            </a:r>
            <a:endParaRPr kumimoji="0" lang="en-IN" sz="14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IN" sz="1000" b="0" i="0" u="sng" strike="noStrike" kern="0" cap="none" spc="0" normalizeH="0" baseline="0" noProof="0">
                <a:ln>
                  <a:noFill/>
                </a:ln>
                <a:solidFill>
                  <a:srgbClr val="071D49"/>
                </a:solidFill>
                <a:effectLst/>
                <a:uLnTx/>
                <a:uFillTx/>
                <a:latin typeface="+mn-lt"/>
                <a:ea typeface="Calibri"/>
                <a:cs typeface="Calibri"/>
                <a:sym typeface="Calibri"/>
              </a:rPr>
              <a:t>(Oct’25 – Mar’26)</a:t>
            </a:r>
            <a:endParaRPr kumimoji="0" lang="en-IN" sz="1000" b="0" i="0" u="sng" strike="noStrike" kern="0" cap="none" spc="0" normalizeH="0" baseline="30000" noProof="0">
              <a:ln>
                <a:noFill/>
              </a:ln>
              <a:solidFill>
                <a:srgbClr val="071D49"/>
              </a:solidFill>
              <a:effectLst/>
              <a:uLnTx/>
              <a:uFillTx/>
              <a:latin typeface="+mn-lt"/>
              <a:ea typeface="Calibri"/>
              <a:cs typeface="Calibri" panose="020F0502020204030204" pitchFamily="34" charset="0"/>
              <a:sym typeface="Calibri"/>
            </a:endParaRPr>
          </a:p>
        </p:txBody>
      </p:sp>
      <p:graphicFrame>
        <p:nvGraphicFramePr>
          <p:cNvPr id="2" name="Chart 1">
            <a:extLst>
              <a:ext uri="{FF2B5EF4-FFF2-40B4-BE49-F238E27FC236}">
                <a16:creationId xmlns:a16="http://schemas.microsoft.com/office/drawing/2014/main" id="{2BD2E18A-B7BC-239A-545C-903DB9DF1AE0}"/>
              </a:ext>
            </a:extLst>
          </p:cNvPr>
          <p:cNvGraphicFramePr/>
          <p:nvPr>
            <p:custDataLst>
              <p:tags r:id="rId2"/>
            </p:custDataLst>
            <p:extLst>
              <p:ext uri="{D42A27DB-BD31-4B8C-83A1-F6EECF244321}">
                <p14:modId xmlns:p14="http://schemas.microsoft.com/office/powerpoint/2010/main" val="1828774757"/>
              </p:ext>
            </p:extLst>
          </p:nvPr>
        </p:nvGraphicFramePr>
        <p:xfrm>
          <a:off x="39731" y="3780943"/>
          <a:ext cx="5148776" cy="1777779"/>
        </p:xfrm>
        <a:graphic>
          <a:graphicData uri="http://schemas.openxmlformats.org/drawingml/2006/chart">
            <c:chart xmlns:c="http://schemas.openxmlformats.org/drawingml/2006/chart" xmlns:r="http://schemas.openxmlformats.org/officeDocument/2006/relationships" r:id="rId11"/>
          </a:graphicData>
        </a:graphic>
      </p:graphicFrame>
      <p:sp>
        <p:nvSpPr>
          <p:cNvPr id="3" name="Rectangle 2">
            <a:extLst>
              <a:ext uri="{FF2B5EF4-FFF2-40B4-BE49-F238E27FC236}">
                <a16:creationId xmlns:a16="http://schemas.microsoft.com/office/drawing/2014/main" id="{EF09495B-7FD7-35A5-C19D-0115F794C780}"/>
              </a:ext>
            </a:extLst>
          </p:cNvPr>
          <p:cNvSpPr/>
          <p:nvPr/>
        </p:nvSpPr>
        <p:spPr>
          <a:xfrm rot="16200000">
            <a:off x="-495828" y="4723645"/>
            <a:ext cx="1440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graphicFrame>
        <p:nvGraphicFramePr>
          <p:cNvPr id="6" name="Chart 5">
            <a:extLst>
              <a:ext uri="{FF2B5EF4-FFF2-40B4-BE49-F238E27FC236}">
                <a16:creationId xmlns:a16="http://schemas.microsoft.com/office/drawing/2014/main" id="{465B728B-F7DC-B5A1-8F0D-4616DE36683F}"/>
              </a:ext>
            </a:extLst>
          </p:cNvPr>
          <p:cNvGraphicFramePr/>
          <p:nvPr>
            <p:custDataLst>
              <p:tags r:id="rId3"/>
            </p:custDataLst>
            <p:extLst>
              <p:ext uri="{D42A27DB-BD31-4B8C-83A1-F6EECF244321}">
                <p14:modId xmlns:p14="http://schemas.microsoft.com/office/powerpoint/2010/main" val="3981661334"/>
              </p:ext>
            </p:extLst>
          </p:nvPr>
        </p:nvGraphicFramePr>
        <p:xfrm>
          <a:off x="4371664" y="3841412"/>
          <a:ext cx="5148776" cy="1777779"/>
        </p:xfrm>
        <a:graphic>
          <a:graphicData uri="http://schemas.openxmlformats.org/drawingml/2006/chart">
            <c:chart xmlns:c="http://schemas.openxmlformats.org/drawingml/2006/chart" xmlns:r="http://schemas.openxmlformats.org/officeDocument/2006/relationships" r:id="rId12"/>
          </a:graphicData>
        </a:graphic>
      </p:graphicFrame>
      <p:sp>
        <p:nvSpPr>
          <p:cNvPr id="8" name="Rectangle 7">
            <a:extLst>
              <a:ext uri="{FF2B5EF4-FFF2-40B4-BE49-F238E27FC236}">
                <a16:creationId xmlns:a16="http://schemas.microsoft.com/office/drawing/2014/main" id="{46DB64AD-CE94-2544-20CE-C10864E5DC3A}"/>
              </a:ext>
            </a:extLst>
          </p:cNvPr>
          <p:cNvSpPr/>
          <p:nvPr/>
        </p:nvSpPr>
        <p:spPr>
          <a:xfrm rot="16200000">
            <a:off x="4081361" y="4669856"/>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12" name="Rectangle 11">
            <a:extLst>
              <a:ext uri="{FF2B5EF4-FFF2-40B4-BE49-F238E27FC236}">
                <a16:creationId xmlns:a16="http://schemas.microsoft.com/office/drawing/2014/main" id="{CCB159A2-7215-B9FF-8CBA-B78F390223B3}"/>
              </a:ext>
            </a:extLst>
          </p:cNvPr>
          <p:cNvSpPr/>
          <p:nvPr/>
        </p:nvSpPr>
        <p:spPr>
          <a:xfrm rot="16200000">
            <a:off x="1768333" y="2198333"/>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cxnSp>
        <p:nvCxnSpPr>
          <p:cNvPr id="5" name="Straight Connector 4">
            <a:extLst>
              <a:ext uri="{FF2B5EF4-FFF2-40B4-BE49-F238E27FC236}">
                <a16:creationId xmlns:a16="http://schemas.microsoft.com/office/drawing/2014/main" id="{FDAA0FDB-9683-3A8E-775A-E25ADD419514}"/>
              </a:ext>
            </a:extLst>
          </p:cNvPr>
          <p:cNvCxnSpPr>
            <a:cxnSpLocks/>
          </p:cNvCxnSpPr>
          <p:nvPr/>
        </p:nvCxnSpPr>
        <p:spPr>
          <a:xfrm flipH="1">
            <a:off x="561079" y="3702185"/>
            <a:ext cx="828000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C517D68-678D-67C1-1589-9B27F6E79274}"/>
              </a:ext>
            </a:extLst>
          </p:cNvPr>
          <p:cNvSpPr txBox="1"/>
          <p:nvPr/>
        </p:nvSpPr>
        <p:spPr>
          <a:xfrm>
            <a:off x="6969552" y="715460"/>
            <a:ext cx="1931643"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sng" strike="noStrike" kern="0" cap="none" spc="0" normalizeH="0" baseline="0" noProof="0">
                <a:ln>
                  <a:noFill/>
                </a:ln>
                <a:solidFill>
                  <a:schemeClr val="accent1"/>
                </a:solidFill>
                <a:effectLst/>
                <a:uLnTx/>
                <a:uFillTx/>
                <a:latin typeface="+mn-lt"/>
                <a:cs typeface="Arial"/>
                <a:sym typeface="Arial"/>
                <a:hlinkClick r:id="rId13" action="ppaction://hlinksldjump">
                  <a:extLst>
                    <a:ext uri="{A12FA001-AC4F-418D-AE19-62706E023703}">
                      <ahyp:hlinkClr xmlns:ahyp="http://schemas.microsoft.com/office/drawing/2018/hyperlinkcolor" val="tx"/>
                    </a:ext>
                  </a:extLst>
                </a:hlinkClick>
              </a:rPr>
              <a:t>In Person Rep - NP/PA data</a:t>
            </a:r>
            <a:endParaRPr kumimoji="0" lang="en-US" sz="1000" b="0" i="0" u="sng" strike="noStrike" kern="0" cap="none" spc="0" normalizeH="0" baseline="0" noProof="0">
              <a:ln>
                <a:noFill/>
              </a:ln>
              <a:solidFill>
                <a:schemeClr val="accent1"/>
              </a:solidFill>
              <a:effectLst/>
              <a:uLnTx/>
              <a:uFillTx/>
              <a:latin typeface="+mn-lt"/>
              <a:cs typeface="Arial"/>
              <a:sym typeface="Arial"/>
            </a:endParaRPr>
          </a:p>
        </p:txBody>
      </p:sp>
      <p:sp>
        <p:nvSpPr>
          <p:cNvPr id="14" name="Google Shape;574;p15">
            <a:extLst>
              <a:ext uri="{FF2B5EF4-FFF2-40B4-BE49-F238E27FC236}">
                <a16:creationId xmlns:a16="http://schemas.microsoft.com/office/drawing/2014/main" id="{970EAC67-EDD1-493A-DB8A-F0889CE1541F}"/>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1">
              <a:lnSpc>
                <a:spcPct val="90000"/>
              </a:lnSpc>
              <a:buSzPts val="1800"/>
              <a:defRPr/>
            </a:pPr>
            <a:r>
              <a:rPr lang="en-GB"/>
              <a:t>In-person frequency for CREON remained stable while ZENPEP declined slightly over the past three months, with CREON continuing to lead the market; Among PCPs, frequency increased notably for PERTZYE and PANCREAZE</a:t>
            </a:r>
            <a:endParaRPr kumimoji="0" lang="en-US" sz="1400" b="0" i="0" u="none" strike="sngStrike" kern="0" cap="none" spc="0" normalizeH="0" baseline="0" noProof="0">
              <a:ln>
                <a:noFill/>
              </a:ln>
              <a:solidFill>
                <a:srgbClr val="071D49"/>
              </a:solidFill>
              <a:effectLst/>
              <a:uLnTx/>
              <a:uFillTx/>
              <a:latin typeface="+mn-lt"/>
              <a:ea typeface="Calibri"/>
              <a:cs typeface="Calibri"/>
              <a:sym typeface="Calibri"/>
            </a:endParaRPr>
          </a:p>
        </p:txBody>
      </p:sp>
      <p:graphicFrame>
        <p:nvGraphicFramePr>
          <p:cNvPr id="9" name="Table 8">
            <a:extLst>
              <a:ext uri="{FF2B5EF4-FFF2-40B4-BE49-F238E27FC236}">
                <a16:creationId xmlns:a16="http://schemas.microsoft.com/office/drawing/2014/main" id="{5E1035AA-BEEF-9ADF-E38B-6CF680BFEDFD}"/>
              </a:ext>
            </a:extLst>
          </p:cNvPr>
          <p:cNvGraphicFramePr>
            <a:graphicFrameLocks noGrp="1"/>
          </p:cNvGraphicFramePr>
          <p:nvPr>
            <p:custDataLst>
              <p:tags r:id="rId4"/>
            </p:custDataLst>
            <p:extLst>
              <p:ext uri="{D42A27DB-BD31-4B8C-83A1-F6EECF244321}">
                <p14:modId xmlns:p14="http://schemas.microsoft.com/office/powerpoint/2010/main" val="359276773"/>
              </p:ext>
            </p:extLst>
          </p:nvPr>
        </p:nvGraphicFramePr>
        <p:xfrm>
          <a:off x="39731" y="5598377"/>
          <a:ext cx="4607237" cy="294640"/>
        </p:xfrm>
        <a:graphic>
          <a:graphicData uri="http://schemas.openxmlformats.org/drawingml/2006/table">
            <a:tbl>
              <a:tblPr firstRow="1" bandRow="1">
                <a:tableStyleId>{B301B821-A1FF-4177-AEE7-76D212191A09}</a:tableStyleId>
              </a:tblPr>
              <a:tblGrid>
                <a:gridCol w="426875">
                  <a:extLst>
                    <a:ext uri="{9D8B030D-6E8A-4147-A177-3AD203B41FA5}">
                      <a16:colId xmlns:a16="http://schemas.microsoft.com/office/drawing/2014/main" val="2682733538"/>
                    </a:ext>
                  </a:extLst>
                </a:gridCol>
                <a:gridCol w="696727">
                  <a:extLst>
                    <a:ext uri="{9D8B030D-6E8A-4147-A177-3AD203B41FA5}">
                      <a16:colId xmlns:a16="http://schemas.microsoft.com/office/drawing/2014/main" val="794498370"/>
                    </a:ext>
                  </a:extLst>
                </a:gridCol>
                <a:gridCol w="696727">
                  <a:extLst>
                    <a:ext uri="{9D8B030D-6E8A-4147-A177-3AD203B41FA5}">
                      <a16:colId xmlns:a16="http://schemas.microsoft.com/office/drawing/2014/main" val="207620370"/>
                    </a:ext>
                  </a:extLst>
                </a:gridCol>
                <a:gridCol w="696727">
                  <a:extLst>
                    <a:ext uri="{9D8B030D-6E8A-4147-A177-3AD203B41FA5}">
                      <a16:colId xmlns:a16="http://schemas.microsoft.com/office/drawing/2014/main" val="811086921"/>
                    </a:ext>
                  </a:extLst>
                </a:gridCol>
                <a:gridCol w="696727">
                  <a:extLst>
                    <a:ext uri="{9D8B030D-6E8A-4147-A177-3AD203B41FA5}">
                      <a16:colId xmlns:a16="http://schemas.microsoft.com/office/drawing/2014/main" val="175740905"/>
                    </a:ext>
                  </a:extLst>
                </a:gridCol>
                <a:gridCol w="696727">
                  <a:extLst>
                    <a:ext uri="{9D8B030D-6E8A-4147-A177-3AD203B41FA5}">
                      <a16:colId xmlns:a16="http://schemas.microsoft.com/office/drawing/2014/main" val="130736661"/>
                    </a:ext>
                  </a:extLst>
                </a:gridCol>
                <a:gridCol w="696727">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182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193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174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144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15" name="Table 14">
            <a:extLst>
              <a:ext uri="{FF2B5EF4-FFF2-40B4-BE49-F238E27FC236}">
                <a16:creationId xmlns:a16="http://schemas.microsoft.com/office/drawing/2014/main" id="{1582657E-21E1-517F-B604-D83C75FFA639}"/>
              </a:ext>
            </a:extLst>
          </p:cNvPr>
          <p:cNvGraphicFramePr>
            <a:graphicFrameLocks noGrp="1"/>
          </p:cNvGraphicFramePr>
          <p:nvPr>
            <p:custDataLst>
              <p:tags r:id="rId5"/>
            </p:custDataLst>
            <p:extLst>
              <p:ext uri="{D42A27DB-BD31-4B8C-83A1-F6EECF244321}">
                <p14:modId xmlns:p14="http://schemas.microsoft.com/office/powerpoint/2010/main" val="2084258207"/>
              </p:ext>
            </p:extLst>
          </p:nvPr>
        </p:nvGraphicFramePr>
        <p:xfrm>
          <a:off x="2341135" y="3293050"/>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16" name="Table 15">
            <a:extLst>
              <a:ext uri="{FF2B5EF4-FFF2-40B4-BE49-F238E27FC236}">
                <a16:creationId xmlns:a16="http://schemas.microsoft.com/office/drawing/2014/main" id="{931DDB58-E912-D716-8CC7-2A5854347508}"/>
              </a:ext>
            </a:extLst>
          </p:cNvPr>
          <p:cNvGraphicFramePr>
            <a:graphicFrameLocks noGrp="1"/>
          </p:cNvGraphicFramePr>
          <p:nvPr>
            <p:custDataLst>
              <p:tags r:id="rId6"/>
            </p:custDataLst>
            <p:extLst>
              <p:ext uri="{D42A27DB-BD31-4B8C-83A1-F6EECF244321}">
                <p14:modId xmlns:p14="http://schemas.microsoft.com/office/powerpoint/2010/main" val="3919943626"/>
              </p:ext>
            </p:extLst>
          </p:nvPr>
        </p:nvGraphicFramePr>
        <p:xfrm>
          <a:off x="4683703" y="5598377"/>
          <a:ext cx="4217492" cy="294640"/>
        </p:xfrm>
        <a:graphic>
          <a:graphicData uri="http://schemas.openxmlformats.org/drawingml/2006/table">
            <a:tbl>
              <a:tblPr firstRow="1" bandRow="1">
                <a:tableStyleId>{B301B821-A1FF-4177-AEE7-76D212191A09}</a:tableStyleId>
              </a:tblPr>
              <a:tblGrid>
                <a:gridCol w="390764">
                  <a:extLst>
                    <a:ext uri="{9D8B030D-6E8A-4147-A177-3AD203B41FA5}">
                      <a16:colId xmlns:a16="http://schemas.microsoft.com/office/drawing/2014/main" val="2682733538"/>
                    </a:ext>
                  </a:extLst>
                </a:gridCol>
                <a:gridCol w="637788">
                  <a:extLst>
                    <a:ext uri="{9D8B030D-6E8A-4147-A177-3AD203B41FA5}">
                      <a16:colId xmlns:a16="http://schemas.microsoft.com/office/drawing/2014/main" val="794498370"/>
                    </a:ext>
                  </a:extLst>
                </a:gridCol>
                <a:gridCol w="637788">
                  <a:extLst>
                    <a:ext uri="{9D8B030D-6E8A-4147-A177-3AD203B41FA5}">
                      <a16:colId xmlns:a16="http://schemas.microsoft.com/office/drawing/2014/main" val="207620370"/>
                    </a:ext>
                  </a:extLst>
                </a:gridCol>
                <a:gridCol w="637788">
                  <a:extLst>
                    <a:ext uri="{9D8B030D-6E8A-4147-A177-3AD203B41FA5}">
                      <a16:colId xmlns:a16="http://schemas.microsoft.com/office/drawing/2014/main" val="811086921"/>
                    </a:ext>
                  </a:extLst>
                </a:gridCol>
                <a:gridCol w="637788">
                  <a:extLst>
                    <a:ext uri="{9D8B030D-6E8A-4147-A177-3AD203B41FA5}">
                      <a16:colId xmlns:a16="http://schemas.microsoft.com/office/drawing/2014/main" val="175740905"/>
                    </a:ext>
                  </a:extLst>
                </a:gridCol>
                <a:gridCol w="637788">
                  <a:extLst>
                    <a:ext uri="{9D8B030D-6E8A-4147-A177-3AD203B41FA5}">
                      <a16:colId xmlns:a16="http://schemas.microsoft.com/office/drawing/2014/main" val="130736661"/>
                    </a:ext>
                  </a:extLst>
                </a:gridCol>
                <a:gridCol w="637788">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73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96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79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84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106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pSp>
        <p:nvGrpSpPr>
          <p:cNvPr id="17" name="Group 16">
            <a:extLst>
              <a:ext uri="{FF2B5EF4-FFF2-40B4-BE49-F238E27FC236}">
                <a16:creationId xmlns:a16="http://schemas.microsoft.com/office/drawing/2014/main" id="{17D8284E-4227-A2DE-B060-2744754E169F}"/>
              </a:ext>
            </a:extLst>
          </p:cNvPr>
          <p:cNvGrpSpPr/>
          <p:nvPr/>
        </p:nvGrpSpPr>
        <p:grpSpPr>
          <a:xfrm>
            <a:off x="6490550" y="1130341"/>
            <a:ext cx="2553649" cy="658702"/>
            <a:chOff x="6490547" y="1130338"/>
            <a:chExt cx="2553649" cy="658701"/>
          </a:xfrm>
        </p:grpSpPr>
        <p:grpSp>
          <p:nvGrpSpPr>
            <p:cNvPr id="18" name="Group 17">
              <a:extLst>
                <a:ext uri="{FF2B5EF4-FFF2-40B4-BE49-F238E27FC236}">
                  <a16:creationId xmlns:a16="http://schemas.microsoft.com/office/drawing/2014/main" id="{8544AB8B-6E18-9050-7CE9-A6B102259EDC}"/>
                </a:ext>
              </a:extLst>
            </p:cNvPr>
            <p:cNvGrpSpPr/>
            <p:nvPr/>
          </p:nvGrpSpPr>
          <p:grpSpPr>
            <a:xfrm>
              <a:off x="6704982" y="1178481"/>
              <a:ext cx="1548909" cy="246181"/>
              <a:chOff x="6463878" y="5263238"/>
              <a:chExt cx="1548909" cy="246181"/>
            </a:xfrm>
          </p:grpSpPr>
          <p:sp>
            <p:nvSpPr>
              <p:cNvPr id="29" name="Google Shape;763;p18">
                <a:extLst>
                  <a:ext uri="{FF2B5EF4-FFF2-40B4-BE49-F238E27FC236}">
                    <a16:creationId xmlns:a16="http://schemas.microsoft.com/office/drawing/2014/main" id="{2971DA7D-196F-1D27-43A9-C1F1BBD2F503}"/>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30" name="Google Shape;764;p18">
                <a:extLst>
                  <a:ext uri="{FF2B5EF4-FFF2-40B4-BE49-F238E27FC236}">
                    <a16:creationId xmlns:a16="http://schemas.microsoft.com/office/drawing/2014/main" id="{3C1C8CE2-A50B-F341-307A-5CF9996A06B9}"/>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19" name="Group 18">
              <a:extLst>
                <a:ext uri="{FF2B5EF4-FFF2-40B4-BE49-F238E27FC236}">
                  <a16:creationId xmlns:a16="http://schemas.microsoft.com/office/drawing/2014/main" id="{0E7885E0-E524-D81B-8BC0-66FE62505A15}"/>
                </a:ext>
              </a:extLst>
            </p:cNvPr>
            <p:cNvGrpSpPr/>
            <p:nvPr/>
          </p:nvGrpSpPr>
          <p:grpSpPr>
            <a:xfrm>
              <a:off x="6704982" y="1459847"/>
              <a:ext cx="1548909" cy="246181"/>
              <a:chOff x="6463878" y="5569382"/>
              <a:chExt cx="1548909" cy="246181"/>
            </a:xfrm>
          </p:grpSpPr>
          <p:sp>
            <p:nvSpPr>
              <p:cNvPr id="27" name="Google Shape;764;p18">
                <a:extLst>
                  <a:ext uri="{FF2B5EF4-FFF2-40B4-BE49-F238E27FC236}">
                    <a16:creationId xmlns:a16="http://schemas.microsoft.com/office/drawing/2014/main" id="{B4B335F7-FEA0-17B7-478A-ED727438E613}"/>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28" name="Google Shape;763;p18">
                <a:extLst>
                  <a:ext uri="{FF2B5EF4-FFF2-40B4-BE49-F238E27FC236}">
                    <a16:creationId xmlns:a16="http://schemas.microsoft.com/office/drawing/2014/main" id="{ECBE3972-1E4B-FCD1-EC00-22B79ADE598C}"/>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20" name="Group 19">
              <a:extLst>
                <a:ext uri="{FF2B5EF4-FFF2-40B4-BE49-F238E27FC236}">
                  <a16:creationId xmlns:a16="http://schemas.microsoft.com/office/drawing/2014/main" id="{1E5A3DFD-F85B-26CA-5F50-1C435335D206}"/>
                </a:ext>
              </a:extLst>
            </p:cNvPr>
            <p:cNvGrpSpPr/>
            <p:nvPr/>
          </p:nvGrpSpPr>
          <p:grpSpPr>
            <a:xfrm>
              <a:off x="7833585" y="1178324"/>
              <a:ext cx="1210611" cy="246181"/>
              <a:chOff x="7592481" y="5287523"/>
              <a:chExt cx="1210611" cy="246181"/>
            </a:xfrm>
          </p:grpSpPr>
          <p:sp>
            <p:nvSpPr>
              <p:cNvPr id="25" name="Google Shape;764;p18">
                <a:extLst>
                  <a:ext uri="{FF2B5EF4-FFF2-40B4-BE49-F238E27FC236}">
                    <a16:creationId xmlns:a16="http://schemas.microsoft.com/office/drawing/2014/main" id="{4A6DD7F6-1D16-DA1B-AE44-1DA37223C994}"/>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26" name="Google Shape;763;p18">
                <a:extLst>
                  <a:ext uri="{FF2B5EF4-FFF2-40B4-BE49-F238E27FC236}">
                    <a16:creationId xmlns:a16="http://schemas.microsoft.com/office/drawing/2014/main" id="{F1DFCF51-75FB-2A96-792D-A3589CE5E61C}"/>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21" name="Group 20">
              <a:extLst>
                <a:ext uri="{FF2B5EF4-FFF2-40B4-BE49-F238E27FC236}">
                  <a16:creationId xmlns:a16="http://schemas.microsoft.com/office/drawing/2014/main" id="{0290E487-8D7F-E80A-5A17-9E75E2795FC8}"/>
                </a:ext>
              </a:extLst>
            </p:cNvPr>
            <p:cNvGrpSpPr/>
            <p:nvPr/>
          </p:nvGrpSpPr>
          <p:grpSpPr>
            <a:xfrm>
              <a:off x="7833585" y="1459689"/>
              <a:ext cx="1067607" cy="246181"/>
              <a:chOff x="7592481" y="5544446"/>
              <a:chExt cx="1067607" cy="246181"/>
            </a:xfrm>
          </p:grpSpPr>
          <p:sp>
            <p:nvSpPr>
              <p:cNvPr id="23" name="Google Shape;764;p18">
                <a:extLst>
                  <a:ext uri="{FF2B5EF4-FFF2-40B4-BE49-F238E27FC236}">
                    <a16:creationId xmlns:a16="http://schemas.microsoft.com/office/drawing/2014/main" id="{9E0CDCBB-4F0F-F098-E6B9-A75E611E2745}"/>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24" name="Google Shape;763;p18">
                <a:extLst>
                  <a:ext uri="{FF2B5EF4-FFF2-40B4-BE49-F238E27FC236}">
                    <a16:creationId xmlns:a16="http://schemas.microsoft.com/office/drawing/2014/main" id="{D69E4A23-DDE3-798E-4764-A076AEE01795}"/>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22" name="Rectangle 21">
              <a:extLst>
                <a:ext uri="{FF2B5EF4-FFF2-40B4-BE49-F238E27FC236}">
                  <a16:creationId xmlns:a16="http://schemas.microsoft.com/office/drawing/2014/main" id="{3AC030C0-C929-62F8-54EF-3809789B3A40}"/>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Tree>
    <p:extLst>
      <p:ext uri="{BB962C8B-B14F-4D97-AF65-F5344CB8AC3E}">
        <p14:creationId xmlns:p14="http://schemas.microsoft.com/office/powerpoint/2010/main" val="547518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9"/>
    </p:ext>
  </p:extLs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graphicFrame>
        <p:nvGraphicFramePr>
          <p:cNvPr id="32" name="Chart 31">
            <a:extLst>
              <a:ext uri="{FF2B5EF4-FFF2-40B4-BE49-F238E27FC236}">
                <a16:creationId xmlns:a16="http://schemas.microsoft.com/office/drawing/2014/main" id="{93390BEC-3018-2033-770D-949599A9BD65}"/>
              </a:ext>
            </a:extLst>
          </p:cNvPr>
          <p:cNvGraphicFramePr/>
          <p:nvPr>
            <p:custDataLst>
              <p:tags r:id="rId1"/>
            </p:custDataLst>
            <p:extLst>
              <p:ext uri="{D42A27DB-BD31-4B8C-83A1-F6EECF244321}">
                <p14:modId xmlns:p14="http://schemas.microsoft.com/office/powerpoint/2010/main" val="3673163627"/>
              </p:ext>
            </p:extLst>
          </p:nvPr>
        </p:nvGraphicFramePr>
        <p:xfrm>
          <a:off x="39731" y="3895081"/>
          <a:ext cx="5148776" cy="1771137"/>
        </p:xfrm>
        <a:graphic>
          <a:graphicData uri="http://schemas.openxmlformats.org/drawingml/2006/chart">
            <c:chart xmlns:c="http://schemas.openxmlformats.org/drawingml/2006/chart" xmlns:r="http://schemas.openxmlformats.org/officeDocument/2006/relationships" r:id="rId9"/>
          </a:graphicData>
        </a:graphic>
      </p:graphicFrame>
      <p:sp>
        <p:nvSpPr>
          <p:cNvPr id="12" name="Rectangle 11">
            <a:extLst>
              <a:ext uri="{FF2B5EF4-FFF2-40B4-BE49-F238E27FC236}">
                <a16:creationId xmlns:a16="http://schemas.microsoft.com/office/drawing/2014/main" id="{DAE7EC32-75B2-591E-965B-967A885FA434}"/>
              </a:ext>
            </a:extLst>
          </p:cNvPr>
          <p:cNvSpPr/>
          <p:nvPr/>
        </p:nvSpPr>
        <p:spPr>
          <a:xfrm rot="16200000">
            <a:off x="1820882" y="235102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574" name="Google Shape;574;p15"/>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r>
              <a:rPr lang="en-GB"/>
              <a:t>CREON’s NPP share of voice increased by 2 pp from the last month, while reach and frequency declined over the past five months; CREON continued to lead the market across all metrics</a:t>
            </a:r>
          </a:p>
        </p:txBody>
      </p:sp>
      <p:sp>
        <p:nvSpPr>
          <p:cNvPr id="97" name="Google Shape;560;p14">
            <a:extLst>
              <a:ext uri="{FF2B5EF4-FFF2-40B4-BE49-F238E27FC236}">
                <a16:creationId xmlns:a16="http://schemas.microsoft.com/office/drawing/2014/main" id="{7BAD9F13-9810-45AE-9ACF-4349583B5ACC}"/>
              </a:ext>
            </a:extLst>
          </p:cNvPr>
          <p:cNvSpPr txBox="1"/>
          <p:nvPr/>
        </p:nvSpPr>
        <p:spPr>
          <a:xfrm>
            <a:off x="263257" y="5975686"/>
            <a:ext cx="8637937" cy="5077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channel grouping in speaker notes | </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s - No. of Interactions</a:t>
            </a:r>
            <a:r>
              <a:rPr kumimoji="0" lang="en-GB" sz="900" b="0" i="0" u="none" strike="noStrike" kern="0" cap="none" spc="0" normalizeH="0" baseline="0" noProof="0">
                <a:ln>
                  <a:noFill/>
                </a:ln>
                <a:solidFill>
                  <a:srgbClr val="001D49"/>
                </a:solidFill>
                <a:effectLst/>
                <a:uLnTx/>
                <a:uFillTx/>
                <a:latin typeface="+mn-lt"/>
                <a:ea typeface="Calibri"/>
                <a:sym typeface="Arial"/>
              </a:rPr>
              <a:t> </a:t>
            </a:r>
            <a:b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b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Products | **Local OLs removed</a:t>
            </a:r>
            <a:endParaRPr kumimoji="0" lang="en-GB" sz="1400" b="0" i="0" u="none" strike="noStrike" kern="0" cap="none" spc="0" normalizeH="0" baseline="0" noProof="0">
              <a:ln>
                <a:noFill/>
              </a:ln>
              <a:solidFill>
                <a:srgbClr val="001D49"/>
              </a:solidFill>
              <a:effectLst/>
              <a:uLnTx/>
              <a:uFillTx/>
              <a:latin typeface="+mn-lt"/>
              <a:sym typeface="Arial"/>
            </a:endParaRPr>
          </a:p>
        </p:txBody>
      </p:sp>
      <p:grpSp>
        <p:nvGrpSpPr>
          <p:cNvPr id="3" name="Group 2">
            <a:extLst>
              <a:ext uri="{FF2B5EF4-FFF2-40B4-BE49-F238E27FC236}">
                <a16:creationId xmlns:a16="http://schemas.microsoft.com/office/drawing/2014/main" id="{6D639643-0D37-3A12-9AA5-0FA264DA69F9}"/>
              </a:ext>
            </a:extLst>
          </p:cNvPr>
          <p:cNvGrpSpPr/>
          <p:nvPr/>
        </p:nvGrpSpPr>
        <p:grpSpPr>
          <a:xfrm>
            <a:off x="6490550" y="1130341"/>
            <a:ext cx="2553649" cy="658702"/>
            <a:chOff x="6490547" y="1130338"/>
            <a:chExt cx="2553649" cy="658701"/>
          </a:xfrm>
        </p:grpSpPr>
        <p:grpSp>
          <p:nvGrpSpPr>
            <p:cNvPr id="38" name="Group 37">
              <a:extLst>
                <a:ext uri="{FF2B5EF4-FFF2-40B4-BE49-F238E27FC236}">
                  <a16:creationId xmlns:a16="http://schemas.microsoft.com/office/drawing/2014/main" id="{3DD0A9F4-168E-465D-B0BC-AB9CC505E8FC}"/>
                </a:ext>
              </a:extLst>
            </p:cNvPr>
            <p:cNvGrpSpPr/>
            <p:nvPr/>
          </p:nvGrpSpPr>
          <p:grpSpPr>
            <a:xfrm>
              <a:off x="6704982" y="1178481"/>
              <a:ext cx="1548909" cy="246181"/>
              <a:chOff x="6463878" y="5263238"/>
              <a:chExt cx="1548909" cy="246181"/>
            </a:xfrm>
          </p:grpSpPr>
          <p:sp>
            <p:nvSpPr>
              <p:cNvPr id="48" name="Google Shape;763;p18">
                <a:extLst>
                  <a:ext uri="{FF2B5EF4-FFF2-40B4-BE49-F238E27FC236}">
                    <a16:creationId xmlns:a16="http://schemas.microsoft.com/office/drawing/2014/main" id="{05C69999-2519-4D93-A75D-3CF03FD09272}"/>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4;p18">
                <a:extLst>
                  <a:ext uri="{FF2B5EF4-FFF2-40B4-BE49-F238E27FC236}">
                    <a16:creationId xmlns:a16="http://schemas.microsoft.com/office/drawing/2014/main" id="{2A51A48D-8D07-43A6-BB0D-FDA15298D02D}"/>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39" name="Group 38">
              <a:extLst>
                <a:ext uri="{FF2B5EF4-FFF2-40B4-BE49-F238E27FC236}">
                  <a16:creationId xmlns:a16="http://schemas.microsoft.com/office/drawing/2014/main" id="{CD902AFF-79F2-478E-BE20-1C3748423F6D}"/>
                </a:ext>
              </a:extLst>
            </p:cNvPr>
            <p:cNvGrpSpPr/>
            <p:nvPr/>
          </p:nvGrpSpPr>
          <p:grpSpPr>
            <a:xfrm>
              <a:off x="6704982" y="1459847"/>
              <a:ext cx="1548909" cy="246181"/>
              <a:chOff x="6463878" y="5569382"/>
              <a:chExt cx="1548909" cy="246181"/>
            </a:xfrm>
          </p:grpSpPr>
          <p:sp>
            <p:nvSpPr>
              <p:cNvPr id="46" name="Google Shape;764;p18">
                <a:extLst>
                  <a:ext uri="{FF2B5EF4-FFF2-40B4-BE49-F238E27FC236}">
                    <a16:creationId xmlns:a16="http://schemas.microsoft.com/office/drawing/2014/main" id="{FD6FD1C9-6957-4805-992B-1EBC586D6D41}"/>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7" name="Google Shape;763;p18">
                <a:extLst>
                  <a:ext uri="{FF2B5EF4-FFF2-40B4-BE49-F238E27FC236}">
                    <a16:creationId xmlns:a16="http://schemas.microsoft.com/office/drawing/2014/main" id="{4097B5AE-51CA-4890-BB2E-25243A6DCE5D}"/>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0F2FCF66-7190-4632-9472-474A07D3CDCA}"/>
                </a:ext>
              </a:extLst>
            </p:cNvPr>
            <p:cNvGrpSpPr/>
            <p:nvPr/>
          </p:nvGrpSpPr>
          <p:grpSpPr>
            <a:xfrm>
              <a:off x="7833585" y="1178324"/>
              <a:ext cx="1210611" cy="246181"/>
              <a:chOff x="7592481" y="5287523"/>
              <a:chExt cx="1210611" cy="246181"/>
            </a:xfrm>
          </p:grpSpPr>
          <p:sp>
            <p:nvSpPr>
              <p:cNvPr id="44" name="Google Shape;764;p18">
                <a:extLst>
                  <a:ext uri="{FF2B5EF4-FFF2-40B4-BE49-F238E27FC236}">
                    <a16:creationId xmlns:a16="http://schemas.microsoft.com/office/drawing/2014/main" id="{38D55259-73AE-4267-8F8B-F771E25A954F}"/>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5" name="Google Shape;763;p18">
                <a:extLst>
                  <a:ext uri="{FF2B5EF4-FFF2-40B4-BE49-F238E27FC236}">
                    <a16:creationId xmlns:a16="http://schemas.microsoft.com/office/drawing/2014/main" id="{B0EE6A2C-577D-431E-98CE-2062BD15BEF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1" name="Group 40">
              <a:extLst>
                <a:ext uri="{FF2B5EF4-FFF2-40B4-BE49-F238E27FC236}">
                  <a16:creationId xmlns:a16="http://schemas.microsoft.com/office/drawing/2014/main" id="{AC19D7FF-A22C-456B-949D-A513855D72CC}"/>
                </a:ext>
              </a:extLst>
            </p:cNvPr>
            <p:cNvGrpSpPr/>
            <p:nvPr/>
          </p:nvGrpSpPr>
          <p:grpSpPr>
            <a:xfrm>
              <a:off x="7833585" y="1459689"/>
              <a:ext cx="1067607" cy="246181"/>
              <a:chOff x="7592481" y="5544446"/>
              <a:chExt cx="1067607" cy="246181"/>
            </a:xfrm>
          </p:grpSpPr>
          <p:sp>
            <p:nvSpPr>
              <p:cNvPr id="42" name="Google Shape;764;p18">
                <a:extLst>
                  <a:ext uri="{FF2B5EF4-FFF2-40B4-BE49-F238E27FC236}">
                    <a16:creationId xmlns:a16="http://schemas.microsoft.com/office/drawing/2014/main" id="{1CBB2B9D-415A-4FCB-96B9-E3DBD3105D43}"/>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3" name="Google Shape;763;p18">
                <a:extLst>
                  <a:ext uri="{FF2B5EF4-FFF2-40B4-BE49-F238E27FC236}">
                    <a16:creationId xmlns:a16="http://schemas.microsoft.com/office/drawing/2014/main" id="{4F8EDB0B-72AC-4881-B153-83128894FC14}"/>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58" name="Rectangle 57">
              <a:extLst>
                <a:ext uri="{FF2B5EF4-FFF2-40B4-BE49-F238E27FC236}">
                  <a16:creationId xmlns:a16="http://schemas.microsoft.com/office/drawing/2014/main" id="{1DD8BDBD-E70B-4D89-9AE8-4F7CA2D8374C}"/>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6" name="Google Shape;573;p15">
            <a:extLst>
              <a:ext uri="{FF2B5EF4-FFF2-40B4-BE49-F238E27FC236}">
                <a16:creationId xmlns:a16="http://schemas.microsoft.com/office/drawing/2014/main" id="{28B25332-98FE-57EF-C144-370317EC2F0E}"/>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Non-Personal &amp; Consumer Tactics **</a:t>
            </a:r>
            <a:endPar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IN" sz="1000" b="0" i="0" u="sng" strike="noStrike" kern="0" cap="none" spc="0" normalizeH="0" baseline="0" noProof="0">
                <a:ln>
                  <a:noFill/>
                </a:ln>
                <a:solidFill>
                  <a:srgbClr val="071D49"/>
                </a:solidFill>
                <a:effectLst/>
                <a:uLnTx/>
                <a:uFillTx/>
                <a:latin typeface="+mn-lt"/>
                <a:ea typeface="Calibri"/>
                <a:cs typeface="Calibri"/>
                <a:sym typeface="Calibri"/>
              </a:rPr>
              <a:t>(Oct’25 – Mar’26)</a:t>
            </a:r>
            <a:endParaRPr kumimoji="0" lang="en-IN" sz="1000" b="0" i="0" u="sng" strike="noStrike" kern="0" cap="none" spc="0" normalizeH="0" baseline="30000" noProof="0">
              <a:ln>
                <a:noFill/>
              </a:ln>
              <a:solidFill>
                <a:srgbClr val="071D49"/>
              </a:solidFill>
              <a:effectLst/>
              <a:uLnTx/>
              <a:uFillTx/>
              <a:latin typeface="+mn-lt"/>
              <a:ea typeface="Calibri"/>
              <a:cs typeface="Calibri" panose="020F0502020204030204" pitchFamily="34" charset="0"/>
              <a:sym typeface="Calibri"/>
            </a:endParaRPr>
          </a:p>
        </p:txBody>
      </p:sp>
      <p:sp>
        <p:nvSpPr>
          <p:cNvPr id="7" name="Google Shape;741;p13">
            <a:extLst>
              <a:ext uri="{FF2B5EF4-FFF2-40B4-BE49-F238E27FC236}">
                <a16:creationId xmlns:a16="http://schemas.microsoft.com/office/drawing/2014/main" id="{0515BF08-2A33-4EA8-BB90-CF42E0F39355}"/>
              </a:ext>
            </a:extLst>
          </p:cNvPr>
          <p:cNvSpPr/>
          <p:nvPr/>
        </p:nvSpPr>
        <p:spPr>
          <a:xfrm>
            <a:off x="3502046" y="158385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Share of Voice</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37" name="Rectangle 36">
            <a:extLst>
              <a:ext uri="{FF2B5EF4-FFF2-40B4-BE49-F238E27FC236}">
                <a16:creationId xmlns:a16="http://schemas.microsoft.com/office/drawing/2014/main" id="{D2DE302F-3C57-22F9-6FC4-1BD0F2C1CF16}"/>
              </a:ext>
            </a:extLst>
          </p:cNvPr>
          <p:cNvSpPr/>
          <p:nvPr/>
        </p:nvSpPr>
        <p:spPr>
          <a:xfrm rot="16200000">
            <a:off x="-222371" y="456429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51" name="Google Shape;573;p15">
            <a:extLst>
              <a:ext uri="{FF2B5EF4-FFF2-40B4-BE49-F238E27FC236}">
                <a16:creationId xmlns:a16="http://schemas.microsoft.com/office/drawing/2014/main" id="{9FCF0527-6560-5D9B-F5FF-6A806178AB56}"/>
              </a:ext>
            </a:extLst>
          </p:cNvPr>
          <p:cNvSpPr/>
          <p:nvPr/>
        </p:nvSpPr>
        <p:spPr>
          <a:xfrm>
            <a:off x="1422756" y="3734622"/>
            <a:ext cx="1917327" cy="27695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a:sym typeface="Calibri"/>
              </a:rPr>
              <a:t>Reach</a:t>
            </a:r>
          </a:p>
        </p:txBody>
      </p:sp>
      <p:sp>
        <p:nvSpPr>
          <p:cNvPr id="25" name="Rectangle 24">
            <a:extLst>
              <a:ext uri="{FF2B5EF4-FFF2-40B4-BE49-F238E27FC236}">
                <a16:creationId xmlns:a16="http://schemas.microsoft.com/office/drawing/2014/main" id="{FD0821A5-1511-B9D0-3754-CCA7DF35F92E}"/>
              </a:ext>
            </a:extLst>
          </p:cNvPr>
          <p:cNvSpPr/>
          <p:nvPr/>
        </p:nvSpPr>
        <p:spPr>
          <a:xfrm rot="16200000">
            <a:off x="4109936" y="4665792"/>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26" name="Google Shape;741;p13">
            <a:extLst>
              <a:ext uri="{FF2B5EF4-FFF2-40B4-BE49-F238E27FC236}">
                <a16:creationId xmlns:a16="http://schemas.microsoft.com/office/drawing/2014/main" id="{59AA7609-D182-236D-7B1E-876AD24D64E9}"/>
              </a:ext>
            </a:extLst>
          </p:cNvPr>
          <p:cNvSpPr/>
          <p:nvPr/>
        </p:nvSpPr>
        <p:spPr>
          <a:xfrm>
            <a:off x="6081551" y="3750003"/>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graphicFrame>
        <p:nvGraphicFramePr>
          <p:cNvPr id="30" name="Chart 29">
            <a:extLst>
              <a:ext uri="{FF2B5EF4-FFF2-40B4-BE49-F238E27FC236}">
                <a16:creationId xmlns:a16="http://schemas.microsoft.com/office/drawing/2014/main" id="{1FA592E1-B231-A05D-0E27-6B43E74AD58A}"/>
              </a:ext>
            </a:extLst>
          </p:cNvPr>
          <p:cNvGraphicFramePr/>
          <p:nvPr>
            <p:custDataLst>
              <p:tags r:id="rId2"/>
            </p:custDataLst>
            <p:extLst>
              <p:ext uri="{D42A27DB-BD31-4B8C-83A1-F6EECF244321}">
                <p14:modId xmlns:p14="http://schemas.microsoft.com/office/powerpoint/2010/main" val="279987298"/>
              </p:ext>
            </p:extLst>
          </p:nvPr>
        </p:nvGraphicFramePr>
        <p:xfrm>
          <a:off x="2109315" y="1679328"/>
          <a:ext cx="5148776" cy="1777779"/>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0" name="Table 9">
            <a:extLst>
              <a:ext uri="{FF2B5EF4-FFF2-40B4-BE49-F238E27FC236}">
                <a16:creationId xmlns:a16="http://schemas.microsoft.com/office/drawing/2014/main" id="{65836DA9-B72C-DC41-4D2D-A32B94220D50}"/>
              </a:ext>
            </a:extLst>
          </p:cNvPr>
          <p:cNvGraphicFramePr>
            <a:graphicFrameLocks noGrp="1"/>
          </p:cNvGraphicFramePr>
          <p:nvPr>
            <p:custDataLst>
              <p:tags r:id="rId3"/>
            </p:custDataLst>
            <p:extLst>
              <p:ext uri="{D42A27DB-BD31-4B8C-83A1-F6EECF244321}">
                <p14:modId xmlns:p14="http://schemas.microsoft.com/office/powerpoint/2010/main" val="2848908604"/>
              </p:ext>
            </p:extLst>
          </p:nvPr>
        </p:nvGraphicFramePr>
        <p:xfrm>
          <a:off x="2341135" y="3293050"/>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1996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1963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1951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1740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1602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1561</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8" name="Table 7">
            <a:extLst>
              <a:ext uri="{FF2B5EF4-FFF2-40B4-BE49-F238E27FC236}">
                <a16:creationId xmlns:a16="http://schemas.microsoft.com/office/drawing/2014/main" id="{0D1BB2F4-6D1D-6154-559D-7116F30FB674}"/>
              </a:ext>
            </a:extLst>
          </p:cNvPr>
          <p:cNvGraphicFramePr>
            <a:graphicFrameLocks noGrp="1"/>
          </p:cNvGraphicFramePr>
          <p:nvPr>
            <p:custDataLst>
              <p:tags r:id="rId4"/>
            </p:custDataLst>
            <p:extLst>
              <p:ext uri="{D42A27DB-BD31-4B8C-83A1-F6EECF244321}">
                <p14:modId xmlns:p14="http://schemas.microsoft.com/office/powerpoint/2010/main" val="543410036"/>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16" name="Table 15">
            <a:extLst>
              <a:ext uri="{FF2B5EF4-FFF2-40B4-BE49-F238E27FC236}">
                <a16:creationId xmlns:a16="http://schemas.microsoft.com/office/drawing/2014/main" id="{3DF305E9-624B-2111-4D03-07BE39F0B780}"/>
              </a:ext>
            </a:extLst>
          </p:cNvPr>
          <p:cNvGraphicFramePr>
            <a:graphicFrameLocks noGrp="1"/>
          </p:cNvGraphicFramePr>
          <p:nvPr>
            <p:custDataLst>
              <p:tags r:id="rId5"/>
            </p:custDataLst>
            <p:extLst>
              <p:ext uri="{D42A27DB-BD31-4B8C-83A1-F6EECF244321}">
                <p14:modId xmlns:p14="http://schemas.microsoft.com/office/powerpoint/2010/main" val="547417823"/>
              </p:ext>
            </p:extLst>
          </p:nvPr>
        </p:nvGraphicFramePr>
        <p:xfrm>
          <a:off x="4683703" y="5598377"/>
          <a:ext cx="4238633" cy="294640"/>
        </p:xfrm>
        <a:graphic>
          <a:graphicData uri="http://schemas.openxmlformats.org/drawingml/2006/table">
            <a:tbl>
              <a:tblPr firstRow="1" bandRow="1">
                <a:tableStyleId>{B301B821-A1FF-4177-AEE7-76D212191A09}</a:tableStyleId>
              </a:tblPr>
              <a:tblGrid>
                <a:gridCol w="392723">
                  <a:extLst>
                    <a:ext uri="{9D8B030D-6E8A-4147-A177-3AD203B41FA5}">
                      <a16:colId xmlns:a16="http://schemas.microsoft.com/office/drawing/2014/main" val="2682733538"/>
                    </a:ext>
                  </a:extLst>
                </a:gridCol>
                <a:gridCol w="640985">
                  <a:extLst>
                    <a:ext uri="{9D8B030D-6E8A-4147-A177-3AD203B41FA5}">
                      <a16:colId xmlns:a16="http://schemas.microsoft.com/office/drawing/2014/main" val="794498370"/>
                    </a:ext>
                  </a:extLst>
                </a:gridCol>
                <a:gridCol w="640985">
                  <a:extLst>
                    <a:ext uri="{9D8B030D-6E8A-4147-A177-3AD203B41FA5}">
                      <a16:colId xmlns:a16="http://schemas.microsoft.com/office/drawing/2014/main" val="207620370"/>
                    </a:ext>
                  </a:extLst>
                </a:gridCol>
                <a:gridCol w="640985">
                  <a:extLst>
                    <a:ext uri="{9D8B030D-6E8A-4147-A177-3AD203B41FA5}">
                      <a16:colId xmlns:a16="http://schemas.microsoft.com/office/drawing/2014/main" val="811086921"/>
                    </a:ext>
                  </a:extLst>
                </a:gridCol>
                <a:gridCol w="640985">
                  <a:extLst>
                    <a:ext uri="{9D8B030D-6E8A-4147-A177-3AD203B41FA5}">
                      <a16:colId xmlns:a16="http://schemas.microsoft.com/office/drawing/2014/main" val="175740905"/>
                    </a:ext>
                  </a:extLst>
                </a:gridCol>
                <a:gridCol w="640985">
                  <a:extLst>
                    <a:ext uri="{9D8B030D-6E8A-4147-A177-3AD203B41FA5}">
                      <a16:colId xmlns:a16="http://schemas.microsoft.com/office/drawing/2014/main" val="130736661"/>
                    </a:ext>
                  </a:extLst>
                </a:gridCol>
                <a:gridCol w="640985">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375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362</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355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367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31" name="Chart 30">
            <a:extLst>
              <a:ext uri="{FF2B5EF4-FFF2-40B4-BE49-F238E27FC236}">
                <a16:creationId xmlns:a16="http://schemas.microsoft.com/office/drawing/2014/main" id="{3E82D42F-CA93-F3EE-0586-A1C51D758512}"/>
              </a:ext>
            </a:extLst>
          </p:cNvPr>
          <p:cNvGraphicFramePr/>
          <p:nvPr>
            <p:custDataLst>
              <p:tags r:id="rId6"/>
            </p:custDataLst>
            <p:extLst>
              <p:ext uri="{D42A27DB-BD31-4B8C-83A1-F6EECF244321}">
                <p14:modId xmlns:p14="http://schemas.microsoft.com/office/powerpoint/2010/main" val="263682148"/>
              </p:ext>
            </p:extLst>
          </p:nvPr>
        </p:nvGraphicFramePr>
        <p:xfrm>
          <a:off x="4400239" y="3947636"/>
          <a:ext cx="5148776" cy="1666026"/>
        </p:xfrm>
        <a:graphic>
          <a:graphicData uri="http://schemas.openxmlformats.org/drawingml/2006/chart">
            <c:chart xmlns:c="http://schemas.openxmlformats.org/drawingml/2006/chart" xmlns:r="http://schemas.openxmlformats.org/officeDocument/2006/relationships" r:id="rId11"/>
          </a:graphicData>
        </a:graphic>
      </p:graphicFrame>
      <p:sp>
        <p:nvSpPr>
          <p:cNvPr id="34" name="Google Shape;561;p14">
            <a:extLst>
              <a:ext uri="{FF2B5EF4-FFF2-40B4-BE49-F238E27FC236}">
                <a16:creationId xmlns:a16="http://schemas.microsoft.com/office/drawing/2014/main" id="{A2F96B6A-8393-F675-3845-ECF66822628F}"/>
              </a:ext>
            </a:extLst>
          </p:cNvPr>
          <p:cNvSpPr/>
          <p:nvPr/>
        </p:nvSpPr>
        <p:spPr>
          <a:xfrm>
            <a:off x="3184408" y="206997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5" name="Google Shape;561;p14">
            <a:extLst>
              <a:ext uri="{FF2B5EF4-FFF2-40B4-BE49-F238E27FC236}">
                <a16:creationId xmlns:a16="http://schemas.microsoft.com/office/drawing/2014/main" id="{43F54F5E-BB79-C05F-6EA5-224F5B3C94A0}"/>
              </a:ext>
            </a:extLst>
          </p:cNvPr>
          <p:cNvSpPr/>
          <p:nvPr/>
        </p:nvSpPr>
        <p:spPr>
          <a:xfrm>
            <a:off x="3837378" y="204454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36" name="Google Shape;561;p14">
            <a:extLst>
              <a:ext uri="{FF2B5EF4-FFF2-40B4-BE49-F238E27FC236}">
                <a16:creationId xmlns:a16="http://schemas.microsoft.com/office/drawing/2014/main" id="{826DF51A-C3A1-EA00-2A9F-13A541AF3152}"/>
              </a:ext>
            </a:extLst>
          </p:cNvPr>
          <p:cNvSpPr/>
          <p:nvPr/>
        </p:nvSpPr>
        <p:spPr>
          <a:xfrm>
            <a:off x="4490348" y="204204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49" name="Google Shape;561;p14">
            <a:extLst>
              <a:ext uri="{FF2B5EF4-FFF2-40B4-BE49-F238E27FC236}">
                <a16:creationId xmlns:a16="http://schemas.microsoft.com/office/drawing/2014/main" id="{5514D342-8327-0DA7-EE35-83123A8851FE}"/>
              </a:ext>
            </a:extLst>
          </p:cNvPr>
          <p:cNvSpPr/>
          <p:nvPr/>
        </p:nvSpPr>
        <p:spPr>
          <a:xfrm>
            <a:off x="5143318" y="206490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0" name="Google Shape;561;p14">
            <a:extLst>
              <a:ext uri="{FF2B5EF4-FFF2-40B4-BE49-F238E27FC236}">
                <a16:creationId xmlns:a16="http://schemas.microsoft.com/office/drawing/2014/main" id="{586B1138-0C42-4494-AAE9-53656D977DBB}"/>
              </a:ext>
            </a:extLst>
          </p:cNvPr>
          <p:cNvSpPr/>
          <p:nvPr/>
        </p:nvSpPr>
        <p:spPr>
          <a:xfrm>
            <a:off x="5796288" y="213348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 name="Google Shape;561;p14">
            <a:extLst>
              <a:ext uri="{FF2B5EF4-FFF2-40B4-BE49-F238E27FC236}">
                <a16:creationId xmlns:a16="http://schemas.microsoft.com/office/drawing/2014/main" id="{26690F7C-A455-B5D9-2B38-374A0EFCE24C}"/>
              </a:ext>
            </a:extLst>
          </p:cNvPr>
          <p:cNvSpPr/>
          <p:nvPr/>
        </p:nvSpPr>
        <p:spPr>
          <a:xfrm>
            <a:off x="6449258" y="206196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4" name="Google Shape;561;p14">
            <a:extLst>
              <a:ext uri="{FF2B5EF4-FFF2-40B4-BE49-F238E27FC236}">
                <a16:creationId xmlns:a16="http://schemas.microsoft.com/office/drawing/2014/main" id="{0B19F56F-BBDC-790D-5EE6-3C4A2EDE35DA}"/>
              </a:ext>
            </a:extLst>
          </p:cNvPr>
          <p:cNvSpPr/>
          <p:nvPr/>
        </p:nvSpPr>
        <p:spPr>
          <a:xfrm>
            <a:off x="1015348" y="416550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5" name="Google Shape;561;p14">
            <a:extLst>
              <a:ext uri="{FF2B5EF4-FFF2-40B4-BE49-F238E27FC236}">
                <a16:creationId xmlns:a16="http://schemas.microsoft.com/office/drawing/2014/main" id="{B28520FB-A7A8-BF41-A243-EABFD64D1AE9}"/>
              </a:ext>
            </a:extLst>
          </p:cNvPr>
          <p:cNvSpPr/>
          <p:nvPr/>
        </p:nvSpPr>
        <p:spPr>
          <a:xfrm>
            <a:off x="1771697" y="41400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6" name="Google Shape;561;p14">
            <a:extLst>
              <a:ext uri="{FF2B5EF4-FFF2-40B4-BE49-F238E27FC236}">
                <a16:creationId xmlns:a16="http://schemas.microsoft.com/office/drawing/2014/main" id="{554EBB10-67C6-059B-F57F-8E35436B39D6}"/>
              </a:ext>
            </a:extLst>
          </p:cNvPr>
          <p:cNvSpPr/>
          <p:nvPr/>
        </p:nvSpPr>
        <p:spPr>
          <a:xfrm>
            <a:off x="2424840" y="418328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7" name="Google Shape;561;p14">
            <a:extLst>
              <a:ext uri="{FF2B5EF4-FFF2-40B4-BE49-F238E27FC236}">
                <a16:creationId xmlns:a16="http://schemas.microsoft.com/office/drawing/2014/main" id="{A38D8FA4-FCB1-1CA8-F749-894A38E8665B}"/>
              </a:ext>
            </a:extLst>
          </p:cNvPr>
          <p:cNvSpPr/>
          <p:nvPr/>
        </p:nvSpPr>
        <p:spPr>
          <a:xfrm>
            <a:off x="3063140" y="420614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9" name="Google Shape;561;p14">
            <a:extLst>
              <a:ext uri="{FF2B5EF4-FFF2-40B4-BE49-F238E27FC236}">
                <a16:creationId xmlns:a16="http://schemas.microsoft.com/office/drawing/2014/main" id="{E22DC814-AA9F-A09B-4164-1F47BB388076}"/>
              </a:ext>
            </a:extLst>
          </p:cNvPr>
          <p:cNvSpPr/>
          <p:nvPr/>
        </p:nvSpPr>
        <p:spPr>
          <a:xfrm>
            <a:off x="3726546" y="422900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0" name="Google Shape;561;p14">
            <a:extLst>
              <a:ext uri="{FF2B5EF4-FFF2-40B4-BE49-F238E27FC236}">
                <a16:creationId xmlns:a16="http://schemas.microsoft.com/office/drawing/2014/main" id="{1490210B-55F7-22E2-2D7F-12FB85326BFF}"/>
              </a:ext>
            </a:extLst>
          </p:cNvPr>
          <p:cNvSpPr/>
          <p:nvPr/>
        </p:nvSpPr>
        <p:spPr>
          <a:xfrm>
            <a:off x="4399365" y="422900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4" name="Google Shape;561;p14">
            <a:extLst>
              <a:ext uri="{FF2B5EF4-FFF2-40B4-BE49-F238E27FC236}">
                <a16:creationId xmlns:a16="http://schemas.microsoft.com/office/drawing/2014/main" id="{77DE81B6-9CCF-43B0-BBFA-C379D28FDA56}"/>
              </a:ext>
            </a:extLst>
          </p:cNvPr>
          <p:cNvSpPr/>
          <p:nvPr/>
        </p:nvSpPr>
        <p:spPr>
          <a:xfrm>
            <a:off x="369137" y="616520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Tree>
    <p:extLst>
      <p:ext uri="{BB962C8B-B14F-4D97-AF65-F5344CB8AC3E}">
        <p14:creationId xmlns:p14="http://schemas.microsoft.com/office/powerpoint/2010/main" val="315162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74" name="Google Shape;574;p15"/>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CREON’s share of voice among NP/PAs declined notably by 7 pp from Jan ’26 to Feb ’26, while ZENPEP saw a marginal increase; CREON’s reach and frequency also declined over the past months</a:t>
            </a:r>
            <a:endParaRPr kumimoji="0" lang="en-US" sz="1400" b="0" i="0" u="none" strike="sngStrike" kern="0" cap="none" spc="0" normalizeH="0" baseline="0" noProof="0">
              <a:ln>
                <a:noFill/>
              </a:ln>
              <a:solidFill>
                <a:srgbClr val="002060"/>
              </a:solidFill>
              <a:effectLst/>
              <a:uLnTx/>
              <a:uFillTx/>
              <a:latin typeface="+mn-lt"/>
              <a:ea typeface="Calibri"/>
              <a:cs typeface="Calibri"/>
              <a:sym typeface="Calibri"/>
            </a:endParaRPr>
          </a:p>
        </p:txBody>
      </p:sp>
      <p:sp>
        <p:nvSpPr>
          <p:cNvPr id="97" name="Google Shape;560;p14">
            <a:extLst>
              <a:ext uri="{FF2B5EF4-FFF2-40B4-BE49-F238E27FC236}">
                <a16:creationId xmlns:a16="http://schemas.microsoft.com/office/drawing/2014/main" id="{7BAD9F13-9810-45AE-9ACF-4349583B5ACC}"/>
              </a:ext>
            </a:extLst>
          </p:cNvPr>
          <p:cNvSpPr txBox="1"/>
          <p:nvPr/>
        </p:nvSpPr>
        <p:spPr>
          <a:xfrm>
            <a:off x="263257" y="5975686"/>
            <a:ext cx="8637937"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channel grouping in speaker notes | </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s - No. of Interactions</a:t>
            </a:r>
            <a:r>
              <a:rPr kumimoji="0" lang="en-GB" sz="900" b="0" i="0" u="none" strike="noStrike" kern="0" cap="none" spc="0" normalizeH="0" baseline="0" noProof="0">
                <a:ln>
                  <a:noFill/>
                </a:ln>
                <a:solidFill>
                  <a:srgbClr val="001D49"/>
                </a:solidFill>
                <a:effectLst/>
                <a:uLnTx/>
                <a:uFillTx/>
                <a:latin typeface="+mn-lt"/>
                <a:ea typeface="Calibri"/>
                <a:sym typeface="Arial"/>
              </a:rPr>
              <a:t>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No statistically significant (p&lt;.05) difference between previous waves</a:t>
            </a:r>
            <a:b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b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Products | **Local OLs removed</a:t>
            </a:r>
            <a:endParaRPr kumimoji="0" lang="en-GB" sz="1400" b="0" i="0" u="none" strike="noStrike" kern="0" cap="none" spc="0" normalizeH="0" baseline="0" noProof="0">
              <a:ln>
                <a:noFill/>
              </a:ln>
              <a:solidFill>
                <a:srgbClr val="001D49"/>
              </a:solidFill>
              <a:effectLst/>
              <a:uLnTx/>
              <a:uFillTx/>
              <a:latin typeface="+mn-lt"/>
              <a:sym typeface="Arial"/>
            </a:endParaRPr>
          </a:p>
        </p:txBody>
      </p:sp>
      <p:grpSp>
        <p:nvGrpSpPr>
          <p:cNvPr id="3" name="Group 2">
            <a:extLst>
              <a:ext uri="{FF2B5EF4-FFF2-40B4-BE49-F238E27FC236}">
                <a16:creationId xmlns:a16="http://schemas.microsoft.com/office/drawing/2014/main" id="{6D639643-0D37-3A12-9AA5-0FA264DA69F9}"/>
              </a:ext>
            </a:extLst>
          </p:cNvPr>
          <p:cNvGrpSpPr/>
          <p:nvPr/>
        </p:nvGrpSpPr>
        <p:grpSpPr>
          <a:xfrm>
            <a:off x="6490550" y="1130341"/>
            <a:ext cx="2553649" cy="658702"/>
            <a:chOff x="6490547" y="1130338"/>
            <a:chExt cx="2553649" cy="658701"/>
          </a:xfrm>
        </p:grpSpPr>
        <p:grpSp>
          <p:nvGrpSpPr>
            <p:cNvPr id="38" name="Group 37">
              <a:extLst>
                <a:ext uri="{FF2B5EF4-FFF2-40B4-BE49-F238E27FC236}">
                  <a16:creationId xmlns:a16="http://schemas.microsoft.com/office/drawing/2014/main" id="{3DD0A9F4-168E-465D-B0BC-AB9CC505E8FC}"/>
                </a:ext>
              </a:extLst>
            </p:cNvPr>
            <p:cNvGrpSpPr/>
            <p:nvPr/>
          </p:nvGrpSpPr>
          <p:grpSpPr>
            <a:xfrm>
              <a:off x="6704982" y="1178481"/>
              <a:ext cx="1548909" cy="246181"/>
              <a:chOff x="6463878" y="5263238"/>
              <a:chExt cx="1548909" cy="246181"/>
            </a:xfrm>
          </p:grpSpPr>
          <p:sp>
            <p:nvSpPr>
              <p:cNvPr id="48" name="Google Shape;763;p18">
                <a:extLst>
                  <a:ext uri="{FF2B5EF4-FFF2-40B4-BE49-F238E27FC236}">
                    <a16:creationId xmlns:a16="http://schemas.microsoft.com/office/drawing/2014/main" id="{05C69999-2519-4D93-A75D-3CF03FD09272}"/>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4;p18">
                <a:extLst>
                  <a:ext uri="{FF2B5EF4-FFF2-40B4-BE49-F238E27FC236}">
                    <a16:creationId xmlns:a16="http://schemas.microsoft.com/office/drawing/2014/main" id="{2A51A48D-8D07-43A6-BB0D-FDA15298D02D}"/>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39" name="Group 38">
              <a:extLst>
                <a:ext uri="{FF2B5EF4-FFF2-40B4-BE49-F238E27FC236}">
                  <a16:creationId xmlns:a16="http://schemas.microsoft.com/office/drawing/2014/main" id="{CD902AFF-79F2-478E-BE20-1C3748423F6D}"/>
                </a:ext>
              </a:extLst>
            </p:cNvPr>
            <p:cNvGrpSpPr/>
            <p:nvPr/>
          </p:nvGrpSpPr>
          <p:grpSpPr>
            <a:xfrm>
              <a:off x="6704982" y="1459847"/>
              <a:ext cx="1548909" cy="246181"/>
              <a:chOff x="6463878" y="5569382"/>
              <a:chExt cx="1548909" cy="246181"/>
            </a:xfrm>
          </p:grpSpPr>
          <p:sp>
            <p:nvSpPr>
              <p:cNvPr id="46" name="Google Shape;764;p18">
                <a:extLst>
                  <a:ext uri="{FF2B5EF4-FFF2-40B4-BE49-F238E27FC236}">
                    <a16:creationId xmlns:a16="http://schemas.microsoft.com/office/drawing/2014/main" id="{FD6FD1C9-6957-4805-992B-1EBC586D6D41}"/>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7" name="Google Shape;763;p18">
                <a:extLst>
                  <a:ext uri="{FF2B5EF4-FFF2-40B4-BE49-F238E27FC236}">
                    <a16:creationId xmlns:a16="http://schemas.microsoft.com/office/drawing/2014/main" id="{4097B5AE-51CA-4890-BB2E-25243A6DCE5D}"/>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0F2FCF66-7190-4632-9472-474A07D3CDCA}"/>
                </a:ext>
              </a:extLst>
            </p:cNvPr>
            <p:cNvGrpSpPr/>
            <p:nvPr/>
          </p:nvGrpSpPr>
          <p:grpSpPr>
            <a:xfrm>
              <a:off x="7833585" y="1178324"/>
              <a:ext cx="1210611" cy="246181"/>
              <a:chOff x="7592481" y="5287523"/>
              <a:chExt cx="1210611" cy="246181"/>
            </a:xfrm>
          </p:grpSpPr>
          <p:sp>
            <p:nvSpPr>
              <p:cNvPr id="44" name="Google Shape;764;p18">
                <a:extLst>
                  <a:ext uri="{FF2B5EF4-FFF2-40B4-BE49-F238E27FC236}">
                    <a16:creationId xmlns:a16="http://schemas.microsoft.com/office/drawing/2014/main" id="{38D55259-73AE-4267-8F8B-F771E25A954F}"/>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5" name="Google Shape;763;p18">
                <a:extLst>
                  <a:ext uri="{FF2B5EF4-FFF2-40B4-BE49-F238E27FC236}">
                    <a16:creationId xmlns:a16="http://schemas.microsoft.com/office/drawing/2014/main" id="{B0EE6A2C-577D-431E-98CE-2062BD15BEF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1" name="Group 40">
              <a:extLst>
                <a:ext uri="{FF2B5EF4-FFF2-40B4-BE49-F238E27FC236}">
                  <a16:creationId xmlns:a16="http://schemas.microsoft.com/office/drawing/2014/main" id="{AC19D7FF-A22C-456B-949D-A513855D72CC}"/>
                </a:ext>
              </a:extLst>
            </p:cNvPr>
            <p:cNvGrpSpPr/>
            <p:nvPr/>
          </p:nvGrpSpPr>
          <p:grpSpPr>
            <a:xfrm>
              <a:off x="7833585" y="1459689"/>
              <a:ext cx="1067607" cy="246181"/>
              <a:chOff x="7592481" y="5544446"/>
              <a:chExt cx="1067607" cy="246181"/>
            </a:xfrm>
          </p:grpSpPr>
          <p:sp>
            <p:nvSpPr>
              <p:cNvPr id="42" name="Google Shape;764;p18">
                <a:extLst>
                  <a:ext uri="{FF2B5EF4-FFF2-40B4-BE49-F238E27FC236}">
                    <a16:creationId xmlns:a16="http://schemas.microsoft.com/office/drawing/2014/main" id="{1CBB2B9D-415A-4FCB-96B9-E3DBD3105D43}"/>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3" name="Google Shape;763;p18">
                <a:extLst>
                  <a:ext uri="{FF2B5EF4-FFF2-40B4-BE49-F238E27FC236}">
                    <a16:creationId xmlns:a16="http://schemas.microsoft.com/office/drawing/2014/main" id="{4F8EDB0B-72AC-4881-B153-83128894FC14}"/>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58" name="Rectangle 57">
              <a:extLst>
                <a:ext uri="{FF2B5EF4-FFF2-40B4-BE49-F238E27FC236}">
                  <a16:creationId xmlns:a16="http://schemas.microsoft.com/office/drawing/2014/main" id="{1DD8BDBD-E70B-4D89-9AE8-4F7CA2D8374C}"/>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63" name="Google Shape;561;p14">
            <a:extLst>
              <a:ext uri="{FF2B5EF4-FFF2-40B4-BE49-F238E27FC236}">
                <a16:creationId xmlns:a16="http://schemas.microsoft.com/office/drawing/2014/main" id="{49351865-2FAC-4082-B5C0-F472DF7EFD57}"/>
              </a:ext>
            </a:extLst>
          </p:cNvPr>
          <p:cNvSpPr/>
          <p:nvPr/>
        </p:nvSpPr>
        <p:spPr>
          <a:xfrm>
            <a:off x="369137" y="616520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 name="Google Shape;573;p15">
            <a:extLst>
              <a:ext uri="{FF2B5EF4-FFF2-40B4-BE49-F238E27FC236}">
                <a16:creationId xmlns:a16="http://schemas.microsoft.com/office/drawing/2014/main" id="{28B25332-98FE-57EF-C144-370317EC2F0E}"/>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Overall – NP/PA**</a:t>
            </a:r>
            <a:endPar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IN" sz="1000" b="0" i="0" u="sng" strike="noStrike" kern="0" cap="none" spc="0" normalizeH="0" baseline="0" noProof="0">
                <a:ln>
                  <a:noFill/>
                </a:ln>
                <a:solidFill>
                  <a:srgbClr val="071D49"/>
                </a:solidFill>
                <a:effectLst/>
                <a:uLnTx/>
                <a:uFillTx/>
                <a:latin typeface="+mn-lt"/>
                <a:ea typeface="Calibri"/>
                <a:cs typeface="Calibri"/>
                <a:sym typeface="Calibri"/>
              </a:rPr>
              <a:t>(Oct’25 – Mar’26)</a:t>
            </a:r>
            <a:endParaRPr kumimoji="0" lang="en-IN" sz="1000" b="0" i="0" u="sng" strike="noStrike" kern="0" cap="none" spc="0" normalizeH="0" baseline="30000" noProof="0">
              <a:ln>
                <a:noFill/>
              </a:ln>
              <a:solidFill>
                <a:srgbClr val="071D49"/>
              </a:solidFill>
              <a:effectLst/>
              <a:uLnTx/>
              <a:uFillTx/>
              <a:latin typeface="+mn-lt"/>
              <a:ea typeface="Calibri"/>
              <a:cs typeface="Calibri" panose="020F0502020204030204" pitchFamily="34" charset="0"/>
              <a:sym typeface="Calibri"/>
            </a:endParaRPr>
          </a:p>
        </p:txBody>
      </p:sp>
      <p:sp>
        <p:nvSpPr>
          <p:cNvPr id="7" name="Google Shape;741;p13">
            <a:extLst>
              <a:ext uri="{FF2B5EF4-FFF2-40B4-BE49-F238E27FC236}">
                <a16:creationId xmlns:a16="http://schemas.microsoft.com/office/drawing/2014/main" id="{0515BF08-2A33-4EA8-BB90-CF42E0F39355}"/>
              </a:ext>
            </a:extLst>
          </p:cNvPr>
          <p:cNvSpPr/>
          <p:nvPr/>
        </p:nvSpPr>
        <p:spPr>
          <a:xfrm>
            <a:off x="3502046" y="149676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Share of Voice</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51" name="Google Shape;573;p15">
            <a:extLst>
              <a:ext uri="{FF2B5EF4-FFF2-40B4-BE49-F238E27FC236}">
                <a16:creationId xmlns:a16="http://schemas.microsoft.com/office/drawing/2014/main" id="{9FCF0527-6560-5D9B-F5FF-6A806178AB56}"/>
              </a:ext>
            </a:extLst>
          </p:cNvPr>
          <p:cNvSpPr/>
          <p:nvPr/>
        </p:nvSpPr>
        <p:spPr>
          <a:xfrm>
            <a:off x="1422756" y="3888544"/>
            <a:ext cx="1917327" cy="27695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a:sym typeface="Calibri"/>
              </a:rPr>
              <a:t>Reach</a:t>
            </a:r>
          </a:p>
        </p:txBody>
      </p:sp>
      <p:sp>
        <p:nvSpPr>
          <p:cNvPr id="26" name="Google Shape;741;p13">
            <a:extLst>
              <a:ext uri="{FF2B5EF4-FFF2-40B4-BE49-F238E27FC236}">
                <a16:creationId xmlns:a16="http://schemas.microsoft.com/office/drawing/2014/main" id="{59AA7609-D182-236D-7B1E-876AD24D64E9}"/>
              </a:ext>
            </a:extLst>
          </p:cNvPr>
          <p:cNvSpPr/>
          <p:nvPr/>
        </p:nvSpPr>
        <p:spPr>
          <a:xfrm>
            <a:off x="6081551" y="390392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graphicFrame>
        <p:nvGraphicFramePr>
          <p:cNvPr id="5" name="Table 4">
            <a:extLst>
              <a:ext uri="{FF2B5EF4-FFF2-40B4-BE49-F238E27FC236}">
                <a16:creationId xmlns:a16="http://schemas.microsoft.com/office/drawing/2014/main" id="{E48C7784-606A-681B-C66D-BCD7DC716467}"/>
              </a:ext>
            </a:extLst>
          </p:cNvPr>
          <p:cNvGraphicFramePr>
            <a:graphicFrameLocks noGrp="1"/>
          </p:cNvGraphicFramePr>
          <p:nvPr>
            <p:custDataLst>
              <p:tags r:id="rId1"/>
            </p:custDataLst>
            <p:extLst>
              <p:ext uri="{D42A27DB-BD31-4B8C-83A1-F6EECF244321}">
                <p14:modId xmlns:p14="http://schemas.microsoft.com/office/powerpoint/2010/main" val="3573962335"/>
              </p:ext>
            </p:extLst>
          </p:nvPr>
        </p:nvGraphicFramePr>
        <p:xfrm>
          <a:off x="2341135" y="342359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1133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1154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1156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883</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908</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1025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29" name="Table 28">
            <a:extLst>
              <a:ext uri="{FF2B5EF4-FFF2-40B4-BE49-F238E27FC236}">
                <a16:creationId xmlns:a16="http://schemas.microsoft.com/office/drawing/2014/main" id="{3DEA88FB-927B-B55A-124F-202245A30D60}"/>
              </a:ext>
            </a:extLst>
          </p:cNvPr>
          <p:cNvGraphicFramePr>
            <a:graphicFrameLocks noGrp="1"/>
          </p:cNvGraphicFramePr>
          <p:nvPr>
            <p:custDataLst>
              <p:tags r:id="rId2"/>
            </p:custDataLst>
            <p:extLst>
              <p:ext uri="{D42A27DB-BD31-4B8C-83A1-F6EECF244321}">
                <p14:modId xmlns:p14="http://schemas.microsoft.com/office/powerpoint/2010/main" val="377887758"/>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34" name="Table 33">
            <a:extLst>
              <a:ext uri="{FF2B5EF4-FFF2-40B4-BE49-F238E27FC236}">
                <a16:creationId xmlns:a16="http://schemas.microsoft.com/office/drawing/2014/main" id="{7268A13F-B1A0-05E9-56B8-942D4EAFB404}"/>
              </a:ext>
            </a:extLst>
          </p:cNvPr>
          <p:cNvGraphicFramePr>
            <a:graphicFrameLocks noGrp="1"/>
          </p:cNvGraphicFramePr>
          <p:nvPr>
            <p:custDataLst>
              <p:tags r:id="rId3"/>
            </p:custDataLst>
            <p:extLst>
              <p:ext uri="{D42A27DB-BD31-4B8C-83A1-F6EECF244321}">
                <p14:modId xmlns:p14="http://schemas.microsoft.com/office/powerpoint/2010/main" val="3591900928"/>
              </p:ext>
            </p:extLst>
          </p:nvPr>
        </p:nvGraphicFramePr>
        <p:xfrm>
          <a:off x="4683703"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56" name="Chart 55">
            <a:extLst>
              <a:ext uri="{FF2B5EF4-FFF2-40B4-BE49-F238E27FC236}">
                <a16:creationId xmlns:a16="http://schemas.microsoft.com/office/drawing/2014/main" id="{1A9BBE82-D54D-407C-FE2D-37E64E11378F}"/>
              </a:ext>
            </a:extLst>
          </p:cNvPr>
          <p:cNvGraphicFramePr/>
          <p:nvPr>
            <p:custDataLst>
              <p:tags r:id="rId4"/>
            </p:custDataLst>
            <p:extLst>
              <p:ext uri="{D42A27DB-BD31-4B8C-83A1-F6EECF244321}">
                <p14:modId xmlns:p14="http://schemas.microsoft.com/office/powerpoint/2010/main" val="688947224"/>
              </p:ext>
            </p:extLst>
          </p:nvPr>
        </p:nvGraphicFramePr>
        <p:xfrm>
          <a:off x="39731" y="3895081"/>
          <a:ext cx="5148776" cy="177113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7" name="Chart 56">
            <a:extLst>
              <a:ext uri="{FF2B5EF4-FFF2-40B4-BE49-F238E27FC236}">
                <a16:creationId xmlns:a16="http://schemas.microsoft.com/office/drawing/2014/main" id="{5D28371C-C7F1-0402-AD08-F04A6B6A5E33}"/>
              </a:ext>
            </a:extLst>
          </p:cNvPr>
          <p:cNvGraphicFramePr/>
          <p:nvPr>
            <p:custDataLst>
              <p:tags r:id="rId5"/>
            </p:custDataLst>
            <p:extLst>
              <p:ext uri="{D42A27DB-BD31-4B8C-83A1-F6EECF244321}">
                <p14:modId xmlns:p14="http://schemas.microsoft.com/office/powerpoint/2010/main" val="1350783636"/>
              </p:ext>
            </p:extLst>
          </p:nvPr>
        </p:nvGraphicFramePr>
        <p:xfrm>
          <a:off x="2109315" y="1679328"/>
          <a:ext cx="5148776" cy="1777779"/>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9" name="Chart 58">
            <a:extLst>
              <a:ext uri="{FF2B5EF4-FFF2-40B4-BE49-F238E27FC236}">
                <a16:creationId xmlns:a16="http://schemas.microsoft.com/office/drawing/2014/main" id="{C9AD900D-D434-5053-35B1-F866707AD752}"/>
              </a:ext>
            </a:extLst>
          </p:cNvPr>
          <p:cNvGraphicFramePr/>
          <p:nvPr>
            <p:custDataLst>
              <p:tags r:id="rId6"/>
            </p:custDataLst>
            <p:extLst>
              <p:ext uri="{D42A27DB-BD31-4B8C-83A1-F6EECF244321}">
                <p14:modId xmlns:p14="http://schemas.microsoft.com/office/powerpoint/2010/main" val="561058787"/>
              </p:ext>
            </p:extLst>
          </p:nvPr>
        </p:nvGraphicFramePr>
        <p:xfrm>
          <a:off x="4400239" y="3947636"/>
          <a:ext cx="5148776" cy="1666026"/>
        </p:xfrm>
        <a:graphic>
          <a:graphicData uri="http://schemas.openxmlformats.org/drawingml/2006/chart">
            <c:chart xmlns:c="http://schemas.openxmlformats.org/drawingml/2006/chart" xmlns:r="http://schemas.openxmlformats.org/officeDocument/2006/relationships" r:id="rId11"/>
          </a:graphicData>
        </a:graphic>
      </p:graphicFrame>
      <p:sp>
        <p:nvSpPr>
          <p:cNvPr id="60" name="Rectangle 59">
            <a:extLst>
              <a:ext uri="{FF2B5EF4-FFF2-40B4-BE49-F238E27FC236}">
                <a16:creationId xmlns:a16="http://schemas.microsoft.com/office/drawing/2014/main" id="{76FE2797-F223-6EBB-E9B4-4E4206380779}"/>
              </a:ext>
            </a:extLst>
          </p:cNvPr>
          <p:cNvSpPr/>
          <p:nvPr/>
        </p:nvSpPr>
        <p:spPr>
          <a:xfrm rot="16200000">
            <a:off x="1820882" y="235102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61" name="Rectangle 60">
            <a:extLst>
              <a:ext uri="{FF2B5EF4-FFF2-40B4-BE49-F238E27FC236}">
                <a16:creationId xmlns:a16="http://schemas.microsoft.com/office/drawing/2014/main" id="{835D4568-69BF-41D5-E3FF-3BCAE8583C07}"/>
              </a:ext>
            </a:extLst>
          </p:cNvPr>
          <p:cNvSpPr/>
          <p:nvPr/>
        </p:nvSpPr>
        <p:spPr>
          <a:xfrm rot="16200000">
            <a:off x="-222371" y="456429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62" name="Rectangle 61">
            <a:extLst>
              <a:ext uri="{FF2B5EF4-FFF2-40B4-BE49-F238E27FC236}">
                <a16:creationId xmlns:a16="http://schemas.microsoft.com/office/drawing/2014/main" id="{0E834F19-0656-E710-5E8D-D26DC870B0CE}"/>
              </a:ext>
            </a:extLst>
          </p:cNvPr>
          <p:cNvSpPr/>
          <p:nvPr/>
        </p:nvSpPr>
        <p:spPr>
          <a:xfrm rot="16200000">
            <a:off x="4109936" y="4665792"/>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512" name="Google Shape;561;p14">
            <a:extLst>
              <a:ext uri="{FF2B5EF4-FFF2-40B4-BE49-F238E27FC236}">
                <a16:creationId xmlns:a16="http://schemas.microsoft.com/office/drawing/2014/main" id="{220AA810-67BA-BF60-6961-17BC8A18E030}"/>
              </a:ext>
            </a:extLst>
          </p:cNvPr>
          <p:cNvSpPr/>
          <p:nvPr/>
        </p:nvSpPr>
        <p:spPr>
          <a:xfrm>
            <a:off x="1097585" y="41400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3" name="Google Shape;561;p14">
            <a:extLst>
              <a:ext uri="{FF2B5EF4-FFF2-40B4-BE49-F238E27FC236}">
                <a16:creationId xmlns:a16="http://schemas.microsoft.com/office/drawing/2014/main" id="{D9F5D924-E124-2077-2E76-9544EAF58749}"/>
              </a:ext>
            </a:extLst>
          </p:cNvPr>
          <p:cNvSpPr/>
          <p:nvPr/>
        </p:nvSpPr>
        <p:spPr>
          <a:xfrm>
            <a:off x="1771697" y="41400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4" name="Google Shape;561;p14">
            <a:extLst>
              <a:ext uri="{FF2B5EF4-FFF2-40B4-BE49-F238E27FC236}">
                <a16:creationId xmlns:a16="http://schemas.microsoft.com/office/drawing/2014/main" id="{ED508E5C-A407-12E1-32F9-443A942EA124}"/>
              </a:ext>
            </a:extLst>
          </p:cNvPr>
          <p:cNvSpPr/>
          <p:nvPr/>
        </p:nvSpPr>
        <p:spPr>
          <a:xfrm>
            <a:off x="2455484" y="411624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5" name="Google Shape;561;p14">
            <a:extLst>
              <a:ext uri="{FF2B5EF4-FFF2-40B4-BE49-F238E27FC236}">
                <a16:creationId xmlns:a16="http://schemas.microsoft.com/office/drawing/2014/main" id="{501B35F6-F649-2659-F611-B614DC464111}"/>
              </a:ext>
            </a:extLst>
          </p:cNvPr>
          <p:cNvSpPr/>
          <p:nvPr/>
        </p:nvSpPr>
        <p:spPr>
          <a:xfrm>
            <a:off x="3052172" y="418881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6" name="Google Shape;561;p14">
            <a:extLst>
              <a:ext uri="{FF2B5EF4-FFF2-40B4-BE49-F238E27FC236}">
                <a16:creationId xmlns:a16="http://schemas.microsoft.com/office/drawing/2014/main" id="{290EDEFF-2848-5B51-A981-826DDF32E034}"/>
              </a:ext>
            </a:extLst>
          </p:cNvPr>
          <p:cNvSpPr/>
          <p:nvPr/>
        </p:nvSpPr>
        <p:spPr>
          <a:xfrm>
            <a:off x="3715578" y="421167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7" name="Google Shape;561;p14">
            <a:extLst>
              <a:ext uri="{FF2B5EF4-FFF2-40B4-BE49-F238E27FC236}">
                <a16:creationId xmlns:a16="http://schemas.microsoft.com/office/drawing/2014/main" id="{97DF3839-BE75-1AC5-35CD-F0FD05789753}"/>
              </a:ext>
            </a:extLst>
          </p:cNvPr>
          <p:cNvSpPr/>
          <p:nvPr/>
        </p:nvSpPr>
        <p:spPr>
          <a:xfrm>
            <a:off x="4368285" y="41958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8" name="Google Shape;561;p14">
            <a:extLst>
              <a:ext uri="{FF2B5EF4-FFF2-40B4-BE49-F238E27FC236}">
                <a16:creationId xmlns:a16="http://schemas.microsoft.com/office/drawing/2014/main" id="{02DFD262-871F-42B0-9B9D-BE268B9CD29A}"/>
              </a:ext>
            </a:extLst>
          </p:cNvPr>
          <p:cNvSpPr/>
          <p:nvPr/>
        </p:nvSpPr>
        <p:spPr>
          <a:xfrm>
            <a:off x="3145474" y="1910087"/>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9" name="Google Shape;561;p14">
            <a:extLst>
              <a:ext uri="{FF2B5EF4-FFF2-40B4-BE49-F238E27FC236}">
                <a16:creationId xmlns:a16="http://schemas.microsoft.com/office/drawing/2014/main" id="{A0F7B4D4-D298-5A44-8806-3F72C8E814FB}"/>
              </a:ext>
            </a:extLst>
          </p:cNvPr>
          <p:cNvSpPr/>
          <p:nvPr/>
        </p:nvSpPr>
        <p:spPr>
          <a:xfrm>
            <a:off x="3826816" y="17816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0" name="Google Shape;561;p14">
            <a:extLst>
              <a:ext uri="{FF2B5EF4-FFF2-40B4-BE49-F238E27FC236}">
                <a16:creationId xmlns:a16="http://schemas.microsoft.com/office/drawing/2014/main" id="{9A42AFCC-7D37-A265-B5B2-24723169B6BA}"/>
              </a:ext>
            </a:extLst>
          </p:cNvPr>
          <p:cNvSpPr/>
          <p:nvPr/>
        </p:nvSpPr>
        <p:spPr>
          <a:xfrm>
            <a:off x="4479786" y="183586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1" name="Google Shape;561;p14">
            <a:extLst>
              <a:ext uri="{FF2B5EF4-FFF2-40B4-BE49-F238E27FC236}">
                <a16:creationId xmlns:a16="http://schemas.microsoft.com/office/drawing/2014/main" id="{18A3CC7D-1690-9A94-49B4-2107C628DC22}"/>
              </a:ext>
            </a:extLst>
          </p:cNvPr>
          <p:cNvSpPr/>
          <p:nvPr/>
        </p:nvSpPr>
        <p:spPr>
          <a:xfrm>
            <a:off x="5132756" y="180205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2" name="Google Shape;561;p14">
            <a:extLst>
              <a:ext uri="{FF2B5EF4-FFF2-40B4-BE49-F238E27FC236}">
                <a16:creationId xmlns:a16="http://schemas.microsoft.com/office/drawing/2014/main" id="{148573F7-0A4A-338C-312E-85E4C4915440}"/>
              </a:ext>
            </a:extLst>
          </p:cNvPr>
          <p:cNvSpPr/>
          <p:nvPr/>
        </p:nvSpPr>
        <p:spPr>
          <a:xfrm>
            <a:off x="5775526" y="1965887"/>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3" name="Google Shape;561;p14">
            <a:extLst>
              <a:ext uri="{FF2B5EF4-FFF2-40B4-BE49-F238E27FC236}">
                <a16:creationId xmlns:a16="http://schemas.microsoft.com/office/drawing/2014/main" id="{29D8240D-144B-E6E5-B786-0A15346E4EFC}"/>
              </a:ext>
            </a:extLst>
          </p:cNvPr>
          <p:cNvSpPr/>
          <p:nvPr/>
        </p:nvSpPr>
        <p:spPr>
          <a:xfrm>
            <a:off x="6410324" y="190207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Tree>
    <p:extLst>
      <p:ext uri="{BB962C8B-B14F-4D97-AF65-F5344CB8AC3E}">
        <p14:creationId xmlns:p14="http://schemas.microsoft.com/office/powerpoint/2010/main" val="15679011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74" name="Google Shape;574;p15"/>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Among NP/PAs, in-person share of voice declined for CREON and ZENPEP from Jan ’26 to Feb ’26; reach for CREON and ZENPEP increased notably in Mar ’26, while frequency declined sharply for CREON and ZENPEP over the past few months</a:t>
            </a:r>
            <a:endParaRPr kumimoji="0" lang="en-US" sz="1400" b="0" i="0" u="none" strike="sngStrike" kern="0" cap="none" spc="0" normalizeH="0" baseline="0" noProof="0">
              <a:ln>
                <a:noFill/>
              </a:ln>
              <a:solidFill>
                <a:srgbClr val="002060"/>
              </a:solidFill>
              <a:effectLst/>
              <a:uLnTx/>
              <a:uFillTx/>
              <a:latin typeface="+mn-lt"/>
              <a:ea typeface="Calibri"/>
              <a:cs typeface="Calibri"/>
              <a:sym typeface="Calibri"/>
            </a:endParaRPr>
          </a:p>
        </p:txBody>
      </p:sp>
      <p:sp>
        <p:nvSpPr>
          <p:cNvPr id="97" name="Google Shape;560;p14">
            <a:extLst>
              <a:ext uri="{FF2B5EF4-FFF2-40B4-BE49-F238E27FC236}">
                <a16:creationId xmlns:a16="http://schemas.microsoft.com/office/drawing/2014/main" id="{7BAD9F13-9810-45AE-9ACF-4349583B5ACC}"/>
              </a:ext>
            </a:extLst>
          </p:cNvPr>
          <p:cNvSpPr txBox="1"/>
          <p:nvPr/>
        </p:nvSpPr>
        <p:spPr>
          <a:xfrm>
            <a:off x="263257" y="5975686"/>
            <a:ext cx="8637937"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channel grouping in speaker notes | </a:t>
            </a: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s - No. of Interactions</a:t>
            </a:r>
            <a:r>
              <a:rPr kumimoji="0" lang="en-GB" sz="900" b="0" i="0" u="none" strike="noStrike" kern="0" cap="none" spc="0" normalizeH="0" baseline="0" noProof="0">
                <a:ln>
                  <a:noFill/>
                </a:ln>
                <a:solidFill>
                  <a:srgbClr val="001D49"/>
                </a:solidFill>
                <a:effectLst/>
                <a:uLnTx/>
                <a:uFillTx/>
                <a:latin typeface="+mn-lt"/>
                <a:ea typeface="Calibri"/>
                <a:sym typeface="Arial"/>
              </a:rPr>
              <a:t> </a:t>
            </a: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 No statistically significant (p&lt;.05) difference between previous waves</a:t>
            </a:r>
            <a:b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br>
            <a:r>
              <a:rPr kumimoji="0" lang="en-GB" sz="900" b="0" i="0" u="none" strike="noStrike" kern="0" cap="none" spc="0" normalizeH="0" baseline="0" noProof="0">
                <a:ln>
                  <a:noFill/>
                </a:ln>
                <a:solidFill>
                  <a:srgbClr val="001D49"/>
                </a:solidFill>
                <a:effectLst/>
                <a:uLnTx/>
                <a:uFillTx/>
                <a:latin typeface="+mn-lt"/>
                <a:ea typeface="Calibri"/>
                <a:cs typeface="Calibri"/>
                <a:sym typeface="Calibri"/>
              </a:rPr>
              <a:t>     Statistically significant (p&lt;.05) difference among Products | **Local OLs removed</a:t>
            </a:r>
            <a:endParaRPr kumimoji="0" lang="en-GB" sz="1400" b="0" i="0" u="none" strike="noStrike" kern="0" cap="none" spc="0" normalizeH="0" baseline="0" noProof="0">
              <a:ln>
                <a:noFill/>
              </a:ln>
              <a:solidFill>
                <a:srgbClr val="001D49"/>
              </a:solidFill>
              <a:effectLst/>
              <a:uLnTx/>
              <a:uFillTx/>
              <a:latin typeface="+mn-lt"/>
              <a:sym typeface="Arial"/>
            </a:endParaRPr>
          </a:p>
        </p:txBody>
      </p:sp>
      <p:grpSp>
        <p:nvGrpSpPr>
          <p:cNvPr id="3" name="Group 2">
            <a:extLst>
              <a:ext uri="{FF2B5EF4-FFF2-40B4-BE49-F238E27FC236}">
                <a16:creationId xmlns:a16="http://schemas.microsoft.com/office/drawing/2014/main" id="{6D639643-0D37-3A12-9AA5-0FA264DA69F9}"/>
              </a:ext>
            </a:extLst>
          </p:cNvPr>
          <p:cNvGrpSpPr/>
          <p:nvPr/>
        </p:nvGrpSpPr>
        <p:grpSpPr>
          <a:xfrm>
            <a:off x="6490550" y="1130341"/>
            <a:ext cx="2553649" cy="658702"/>
            <a:chOff x="6490547" y="1130338"/>
            <a:chExt cx="2553649" cy="658701"/>
          </a:xfrm>
        </p:grpSpPr>
        <p:grpSp>
          <p:nvGrpSpPr>
            <p:cNvPr id="38" name="Group 37">
              <a:extLst>
                <a:ext uri="{FF2B5EF4-FFF2-40B4-BE49-F238E27FC236}">
                  <a16:creationId xmlns:a16="http://schemas.microsoft.com/office/drawing/2014/main" id="{3DD0A9F4-168E-465D-B0BC-AB9CC505E8FC}"/>
                </a:ext>
              </a:extLst>
            </p:cNvPr>
            <p:cNvGrpSpPr/>
            <p:nvPr/>
          </p:nvGrpSpPr>
          <p:grpSpPr>
            <a:xfrm>
              <a:off x="6704982" y="1178481"/>
              <a:ext cx="1548909" cy="246181"/>
              <a:chOff x="6463878" y="5263238"/>
              <a:chExt cx="1548909" cy="246181"/>
            </a:xfrm>
          </p:grpSpPr>
          <p:sp>
            <p:nvSpPr>
              <p:cNvPr id="48" name="Google Shape;763;p18">
                <a:extLst>
                  <a:ext uri="{FF2B5EF4-FFF2-40B4-BE49-F238E27FC236}">
                    <a16:creationId xmlns:a16="http://schemas.microsoft.com/office/drawing/2014/main" id="{05C69999-2519-4D93-A75D-3CF03FD09272}"/>
                  </a:ext>
                </a:extLst>
              </p:cNvPr>
              <p:cNvSpPr/>
              <p:nvPr/>
            </p:nvSpPr>
            <p:spPr>
              <a:xfrm>
                <a:off x="6687389" y="5263238"/>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CREON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53" name="Google Shape;764;p18">
                <a:extLst>
                  <a:ext uri="{FF2B5EF4-FFF2-40B4-BE49-F238E27FC236}">
                    <a16:creationId xmlns:a16="http://schemas.microsoft.com/office/drawing/2014/main" id="{2A51A48D-8D07-43A6-BB0D-FDA15298D02D}"/>
                  </a:ext>
                </a:extLst>
              </p:cNvPr>
              <p:cNvSpPr/>
              <p:nvPr/>
            </p:nvSpPr>
            <p:spPr>
              <a:xfrm>
                <a:off x="6463878" y="5340608"/>
                <a:ext cx="91440" cy="91440"/>
              </a:xfrm>
              <a:prstGeom prst="rect">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39" name="Group 38">
              <a:extLst>
                <a:ext uri="{FF2B5EF4-FFF2-40B4-BE49-F238E27FC236}">
                  <a16:creationId xmlns:a16="http://schemas.microsoft.com/office/drawing/2014/main" id="{CD902AFF-79F2-478E-BE20-1C3748423F6D}"/>
                </a:ext>
              </a:extLst>
            </p:cNvPr>
            <p:cNvGrpSpPr/>
            <p:nvPr/>
          </p:nvGrpSpPr>
          <p:grpSpPr>
            <a:xfrm>
              <a:off x="6704982" y="1459847"/>
              <a:ext cx="1548909" cy="246181"/>
              <a:chOff x="6463878" y="5569382"/>
              <a:chExt cx="1548909" cy="246181"/>
            </a:xfrm>
          </p:grpSpPr>
          <p:sp>
            <p:nvSpPr>
              <p:cNvPr id="46" name="Google Shape;764;p18">
                <a:extLst>
                  <a:ext uri="{FF2B5EF4-FFF2-40B4-BE49-F238E27FC236}">
                    <a16:creationId xmlns:a16="http://schemas.microsoft.com/office/drawing/2014/main" id="{FD6FD1C9-6957-4805-992B-1EBC586D6D41}"/>
                  </a:ext>
                </a:extLst>
              </p:cNvPr>
              <p:cNvSpPr/>
              <p:nvPr/>
            </p:nvSpPr>
            <p:spPr>
              <a:xfrm>
                <a:off x="6463878" y="5646752"/>
                <a:ext cx="91440" cy="91440"/>
              </a:xfrm>
              <a:prstGeom prst="rect">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7" name="Google Shape;763;p18">
                <a:extLst>
                  <a:ext uri="{FF2B5EF4-FFF2-40B4-BE49-F238E27FC236}">
                    <a16:creationId xmlns:a16="http://schemas.microsoft.com/office/drawing/2014/main" id="{4097B5AE-51CA-4890-BB2E-25243A6DCE5D}"/>
                  </a:ext>
                </a:extLst>
              </p:cNvPr>
              <p:cNvSpPr/>
              <p:nvPr/>
            </p:nvSpPr>
            <p:spPr>
              <a:xfrm>
                <a:off x="6687389" y="5569382"/>
                <a:ext cx="1325398"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ZENPEP</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0" name="Group 39">
              <a:extLst>
                <a:ext uri="{FF2B5EF4-FFF2-40B4-BE49-F238E27FC236}">
                  <a16:creationId xmlns:a16="http://schemas.microsoft.com/office/drawing/2014/main" id="{0F2FCF66-7190-4632-9472-474A07D3CDCA}"/>
                </a:ext>
              </a:extLst>
            </p:cNvPr>
            <p:cNvGrpSpPr/>
            <p:nvPr/>
          </p:nvGrpSpPr>
          <p:grpSpPr>
            <a:xfrm>
              <a:off x="7833585" y="1178324"/>
              <a:ext cx="1210611" cy="246181"/>
              <a:chOff x="7592481" y="5287523"/>
              <a:chExt cx="1210611" cy="246181"/>
            </a:xfrm>
          </p:grpSpPr>
          <p:sp>
            <p:nvSpPr>
              <p:cNvPr id="44" name="Google Shape;764;p18">
                <a:extLst>
                  <a:ext uri="{FF2B5EF4-FFF2-40B4-BE49-F238E27FC236}">
                    <a16:creationId xmlns:a16="http://schemas.microsoft.com/office/drawing/2014/main" id="{38D55259-73AE-4267-8F8B-F771E25A954F}"/>
                  </a:ext>
                </a:extLst>
              </p:cNvPr>
              <p:cNvSpPr/>
              <p:nvPr/>
            </p:nvSpPr>
            <p:spPr>
              <a:xfrm>
                <a:off x="7592481" y="5364893"/>
                <a:ext cx="91440" cy="91440"/>
              </a:xfrm>
              <a:prstGeom prst="rect">
                <a:avLst/>
              </a:prstGeom>
              <a:solidFill>
                <a:srgbClr val="FF881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5" name="Google Shape;763;p18">
                <a:extLst>
                  <a:ext uri="{FF2B5EF4-FFF2-40B4-BE49-F238E27FC236}">
                    <a16:creationId xmlns:a16="http://schemas.microsoft.com/office/drawing/2014/main" id="{B0EE6A2C-577D-431E-98CE-2062BD15BEF5}"/>
                  </a:ext>
                </a:extLst>
              </p:cNvPr>
              <p:cNvSpPr/>
              <p:nvPr/>
            </p:nvSpPr>
            <p:spPr>
              <a:xfrm>
                <a:off x="7815990" y="5287523"/>
                <a:ext cx="987102"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PANCREAZE </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grpSp>
          <p:nvGrpSpPr>
            <p:cNvPr id="41" name="Group 40">
              <a:extLst>
                <a:ext uri="{FF2B5EF4-FFF2-40B4-BE49-F238E27FC236}">
                  <a16:creationId xmlns:a16="http://schemas.microsoft.com/office/drawing/2014/main" id="{AC19D7FF-A22C-456B-949D-A513855D72CC}"/>
                </a:ext>
              </a:extLst>
            </p:cNvPr>
            <p:cNvGrpSpPr/>
            <p:nvPr/>
          </p:nvGrpSpPr>
          <p:grpSpPr>
            <a:xfrm>
              <a:off x="7833585" y="1459689"/>
              <a:ext cx="1067607" cy="246181"/>
              <a:chOff x="7592481" y="5544446"/>
              <a:chExt cx="1067607" cy="246181"/>
            </a:xfrm>
          </p:grpSpPr>
          <p:sp>
            <p:nvSpPr>
              <p:cNvPr id="42" name="Google Shape;764;p18">
                <a:extLst>
                  <a:ext uri="{FF2B5EF4-FFF2-40B4-BE49-F238E27FC236}">
                    <a16:creationId xmlns:a16="http://schemas.microsoft.com/office/drawing/2014/main" id="{1CBB2B9D-415A-4FCB-96B9-E3DBD3105D43}"/>
                  </a:ext>
                </a:extLst>
              </p:cNvPr>
              <p:cNvSpPr/>
              <p:nvPr/>
            </p:nvSpPr>
            <p:spPr>
              <a:xfrm>
                <a:off x="7592481" y="5621816"/>
                <a:ext cx="91440" cy="91440"/>
              </a:xfrm>
              <a:prstGeom prst="rect">
                <a:avLst/>
              </a:prstGeom>
              <a:solidFill>
                <a:srgbClr val="00B3C8"/>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01D49"/>
                  </a:solidFill>
                  <a:effectLst/>
                  <a:uLnTx/>
                  <a:uFillTx/>
                  <a:latin typeface="+mn-lt"/>
                  <a:ea typeface="Calibri"/>
                  <a:cs typeface="Calibri"/>
                  <a:sym typeface="Calibri"/>
                </a:endParaRPr>
              </a:p>
            </p:txBody>
          </p:sp>
          <p:sp>
            <p:nvSpPr>
              <p:cNvPr id="43" name="Google Shape;763;p18">
                <a:extLst>
                  <a:ext uri="{FF2B5EF4-FFF2-40B4-BE49-F238E27FC236}">
                    <a16:creationId xmlns:a16="http://schemas.microsoft.com/office/drawing/2014/main" id="{4F8EDB0B-72AC-4881-B153-83128894FC14}"/>
                  </a:ext>
                </a:extLst>
              </p:cNvPr>
              <p:cNvSpPr/>
              <p:nvPr/>
            </p:nvSpPr>
            <p:spPr>
              <a:xfrm>
                <a:off x="7822458" y="5544446"/>
                <a:ext cx="837630" cy="24618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01D49"/>
                    </a:solidFill>
                    <a:effectLst/>
                    <a:uLnTx/>
                    <a:uFillTx/>
                    <a:latin typeface="+mn-lt"/>
                    <a:ea typeface="Calibri"/>
                    <a:cs typeface="Calibri"/>
                    <a:sym typeface="Calibri"/>
                  </a:rPr>
                  <a:t>PERTZYE</a:t>
                </a:r>
                <a:endParaRPr kumimoji="0" sz="1400" b="0" i="0" u="none" strike="noStrike" kern="0" cap="none" spc="0" normalizeH="0" baseline="0" noProof="0">
                  <a:ln>
                    <a:noFill/>
                  </a:ln>
                  <a:solidFill>
                    <a:srgbClr val="001D49"/>
                  </a:solidFill>
                  <a:effectLst/>
                  <a:uLnTx/>
                  <a:uFillTx/>
                  <a:latin typeface="+mn-lt"/>
                  <a:ea typeface="Calibri"/>
                  <a:cs typeface="Calibri"/>
                  <a:sym typeface="Calibri"/>
                </a:endParaRPr>
              </a:p>
            </p:txBody>
          </p:sp>
        </p:grpSp>
        <p:sp>
          <p:nvSpPr>
            <p:cNvPr id="58" name="Rectangle 57">
              <a:extLst>
                <a:ext uri="{FF2B5EF4-FFF2-40B4-BE49-F238E27FC236}">
                  <a16:creationId xmlns:a16="http://schemas.microsoft.com/office/drawing/2014/main" id="{1DD8BDBD-E70B-4D89-9AE8-4F7CA2D8374C}"/>
                </a:ext>
              </a:extLst>
            </p:cNvPr>
            <p:cNvSpPr/>
            <p:nvPr/>
          </p:nvSpPr>
          <p:spPr>
            <a:xfrm>
              <a:off x="6490547" y="1130338"/>
              <a:ext cx="2553649" cy="658701"/>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mn-cs"/>
                <a:sym typeface="Arial"/>
              </a:endParaRPr>
            </a:p>
          </p:txBody>
        </p:sp>
      </p:grpSp>
      <p:sp>
        <p:nvSpPr>
          <p:cNvPr id="6" name="Google Shape;573;p15">
            <a:extLst>
              <a:ext uri="{FF2B5EF4-FFF2-40B4-BE49-F238E27FC236}">
                <a16:creationId xmlns:a16="http://schemas.microsoft.com/office/drawing/2014/main" id="{28B25332-98FE-57EF-C144-370317EC2F0E}"/>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In-Person Reps – NP/PA**</a:t>
            </a:r>
            <a:endParaRPr kumimoji="0" lang="en-US" sz="14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Arial"/>
            </a:endParaRPr>
          </a:p>
          <a:p>
            <a:pPr lvl="0" algn="ctr">
              <a:spcBef>
                <a:spcPts val="91"/>
              </a:spcBef>
              <a:buClr>
                <a:srgbClr val="071D49"/>
              </a:buClr>
              <a:buSzPts val="900"/>
              <a:defRPr/>
            </a:pPr>
            <a:r>
              <a:rPr lang="en-IN" sz="1000" u="sng">
                <a:solidFill>
                  <a:srgbClr val="071D49"/>
                </a:solidFill>
                <a:latin typeface="+mn-lt"/>
                <a:ea typeface="Calibri"/>
                <a:cs typeface="Calibri"/>
                <a:sym typeface="Calibri"/>
              </a:rPr>
              <a:t>(Oct’25 – Mar’26)</a:t>
            </a:r>
            <a:endParaRPr lang="en-IN" sz="1000" u="sng" baseline="30000">
              <a:solidFill>
                <a:srgbClr val="071D49"/>
              </a:solidFill>
              <a:latin typeface="+mn-lt"/>
              <a:ea typeface="Calibri"/>
              <a:cs typeface="Calibri" panose="020F0502020204030204" pitchFamily="34" charset="0"/>
              <a:sym typeface="Calibri"/>
            </a:endParaRPr>
          </a:p>
        </p:txBody>
      </p:sp>
      <p:sp>
        <p:nvSpPr>
          <p:cNvPr id="7" name="Google Shape;741;p13">
            <a:extLst>
              <a:ext uri="{FF2B5EF4-FFF2-40B4-BE49-F238E27FC236}">
                <a16:creationId xmlns:a16="http://schemas.microsoft.com/office/drawing/2014/main" id="{0515BF08-2A33-4EA8-BB90-CF42E0F39355}"/>
              </a:ext>
            </a:extLst>
          </p:cNvPr>
          <p:cNvSpPr/>
          <p:nvPr/>
        </p:nvSpPr>
        <p:spPr>
          <a:xfrm>
            <a:off x="3502046" y="1496766"/>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Share of Voice</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sp>
        <p:nvSpPr>
          <p:cNvPr id="51" name="Google Shape;573;p15">
            <a:extLst>
              <a:ext uri="{FF2B5EF4-FFF2-40B4-BE49-F238E27FC236}">
                <a16:creationId xmlns:a16="http://schemas.microsoft.com/office/drawing/2014/main" id="{9FCF0527-6560-5D9B-F5FF-6A806178AB56}"/>
              </a:ext>
            </a:extLst>
          </p:cNvPr>
          <p:cNvSpPr/>
          <p:nvPr/>
        </p:nvSpPr>
        <p:spPr>
          <a:xfrm>
            <a:off x="1422756" y="3748844"/>
            <a:ext cx="1917327" cy="27695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a:sym typeface="Calibri"/>
              </a:rPr>
              <a:t>Reach</a:t>
            </a:r>
          </a:p>
        </p:txBody>
      </p:sp>
      <p:sp>
        <p:nvSpPr>
          <p:cNvPr id="26" name="Google Shape;741;p13">
            <a:extLst>
              <a:ext uri="{FF2B5EF4-FFF2-40B4-BE49-F238E27FC236}">
                <a16:creationId xmlns:a16="http://schemas.microsoft.com/office/drawing/2014/main" id="{59AA7609-D182-236D-7B1E-876AD24D64E9}"/>
              </a:ext>
            </a:extLst>
          </p:cNvPr>
          <p:cNvSpPr/>
          <p:nvPr/>
        </p:nvSpPr>
        <p:spPr>
          <a:xfrm>
            <a:off x="6081551" y="3764225"/>
            <a:ext cx="2067977" cy="261576"/>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Calibri" panose="020F0502020204030204" pitchFamily="34" charset="0"/>
                <a:sym typeface="Calibri"/>
              </a:rPr>
              <a:t>Frequency</a:t>
            </a:r>
            <a:endParaRPr kumimoji="0" lang="en-US" sz="1200" b="0" i="0" u="none" strike="noStrike" kern="0" cap="none" spc="0" normalizeH="0" baseline="0" noProof="0">
              <a:ln>
                <a:noFill/>
              </a:ln>
              <a:solidFill>
                <a:srgbClr val="000000"/>
              </a:solidFill>
              <a:effectLst/>
              <a:uLnTx/>
              <a:uFillTx/>
              <a:latin typeface="+mn-lt"/>
              <a:cs typeface="Calibri" panose="020F0502020204030204" pitchFamily="34" charset="0"/>
              <a:sym typeface="Arial"/>
            </a:endParaRPr>
          </a:p>
        </p:txBody>
      </p:sp>
      <p:graphicFrame>
        <p:nvGraphicFramePr>
          <p:cNvPr id="11" name="Table 10">
            <a:extLst>
              <a:ext uri="{FF2B5EF4-FFF2-40B4-BE49-F238E27FC236}">
                <a16:creationId xmlns:a16="http://schemas.microsoft.com/office/drawing/2014/main" id="{804E74BE-48A7-81AA-D670-04BE2F209FB3}"/>
              </a:ext>
            </a:extLst>
          </p:cNvPr>
          <p:cNvGraphicFramePr>
            <a:graphicFrameLocks noGrp="1"/>
          </p:cNvGraphicFramePr>
          <p:nvPr>
            <p:custDataLst>
              <p:tags r:id="rId1"/>
            </p:custDataLst>
            <p:extLst>
              <p:ext uri="{D42A27DB-BD31-4B8C-83A1-F6EECF244321}">
                <p14:modId xmlns:p14="http://schemas.microsoft.com/office/powerpoint/2010/main" val="2905177038"/>
              </p:ext>
            </p:extLst>
          </p:nvPr>
        </p:nvGraphicFramePr>
        <p:xfrm>
          <a:off x="2341135" y="342359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s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215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259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229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219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264</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20" name="Table 19">
            <a:extLst>
              <a:ext uri="{FF2B5EF4-FFF2-40B4-BE49-F238E27FC236}">
                <a16:creationId xmlns:a16="http://schemas.microsoft.com/office/drawing/2014/main" id="{79B5639D-4942-D95C-C6FD-0616FD405975}"/>
              </a:ext>
            </a:extLst>
          </p:cNvPr>
          <p:cNvGraphicFramePr>
            <a:graphicFrameLocks noGrp="1"/>
          </p:cNvGraphicFramePr>
          <p:nvPr>
            <p:custDataLst>
              <p:tags r:id="rId2"/>
            </p:custDataLst>
            <p:extLst>
              <p:ext uri="{D42A27DB-BD31-4B8C-83A1-F6EECF244321}">
                <p14:modId xmlns:p14="http://schemas.microsoft.com/office/powerpoint/2010/main" val="282344543"/>
              </p:ext>
            </p:extLst>
          </p:nvPr>
        </p:nvGraphicFramePr>
        <p:xfrm>
          <a:off x="292937"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21" name="Table 20">
            <a:extLst>
              <a:ext uri="{FF2B5EF4-FFF2-40B4-BE49-F238E27FC236}">
                <a16:creationId xmlns:a16="http://schemas.microsoft.com/office/drawing/2014/main" id="{B2A336CF-23FF-FD19-31CC-8FAD0625F544}"/>
              </a:ext>
            </a:extLst>
          </p:cNvPr>
          <p:cNvGraphicFramePr>
            <a:graphicFrameLocks noGrp="1"/>
          </p:cNvGraphicFramePr>
          <p:nvPr>
            <p:custDataLst>
              <p:tags r:id="rId3"/>
            </p:custDataLst>
            <p:extLst>
              <p:ext uri="{D42A27DB-BD31-4B8C-83A1-F6EECF244321}">
                <p14:modId xmlns:p14="http://schemas.microsoft.com/office/powerpoint/2010/main" val="3364430641"/>
              </p:ext>
            </p:extLst>
          </p:nvPr>
        </p:nvGraphicFramePr>
        <p:xfrm>
          <a:off x="4683703" y="5598377"/>
          <a:ext cx="4354031" cy="294640"/>
        </p:xfrm>
        <a:graphic>
          <a:graphicData uri="http://schemas.openxmlformats.org/drawingml/2006/table">
            <a:tbl>
              <a:tblPr firstRow="1" bandRow="1">
                <a:tableStyleId>{B301B821-A1FF-4177-AEE7-76D212191A09}</a:tableStyleId>
              </a:tblPr>
              <a:tblGrid>
                <a:gridCol w="403415">
                  <a:extLst>
                    <a:ext uri="{9D8B030D-6E8A-4147-A177-3AD203B41FA5}">
                      <a16:colId xmlns:a16="http://schemas.microsoft.com/office/drawing/2014/main" val="2682733538"/>
                    </a:ext>
                  </a:extLst>
                </a:gridCol>
                <a:gridCol w="658436">
                  <a:extLst>
                    <a:ext uri="{9D8B030D-6E8A-4147-A177-3AD203B41FA5}">
                      <a16:colId xmlns:a16="http://schemas.microsoft.com/office/drawing/2014/main" val="794498370"/>
                    </a:ext>
                  </a:extLst>
                </a:gridCol>
                <a:gridCol w="658436">
                  <a:extLst>
                    <a:ext uri="{9D8B030D-6E8A-4147-A177-3AD203B41FA5}">
                      <a16:colId xmlns:a16="http://schemas.microsoft.com/office/drawing/2014/main" val="207620370"/>
                    </a:ext>
                  </a:extLst>
                </a:gridCol>
                <a:gridCol w="658436">
                  <a:extLst>
                    <a:ext uri="{9D8B030D-6E8A-4147-A177-3AD203B41FA5}">
                      <a16:colId xmlns:a16="http://schemas.microsoft.com/office/drawing/2014/main" val="811086921"/>
                    </a:ext>
                  </a:extLst>
                </a:gridCol>
                <a:gridCol w="658436">
                  <a:extLst>
                    <a:ext uri="{9D8B030D-6E8A-4147-A177-3AD203B41FA5}">
                      <a16:colId xmlns:a16="http://schemas.microsoft.com/office/drawing/2014/main" val="175740905"/>
                    </a:ext>
                  </a:extLst>
                </a:gridCol>
                <a:gridCol w="658436">
                  <a:extLst>
                    <a:ext uri="{9D8B030D-6E8A-4147-A177-3AD203B41FA5}">
                      <a16:colId xmlns:a16="http://schemas.microsoft.com/office/drawing/2014/main" val="130736661"/>
                    </a:ext>
                  </a:extLst>
                </a:gridCol>
                <a:gridCol w="658436">
                  <a:extLst>
                    <a:ext uri="{9D8B030D-6E8A-4147-A177-3AD203B41FA5}">
                      <a16:colId xmlns:a16="http://schemas.microsoft.com/office/drawing/2014/main" val="2819635866"/>
                    </a:ext>
                  </a:extLst>
                </a:gridCol>
              </a:tblGrid>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Wave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Oct'25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Nov'25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Dec'25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Jan’26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Feb’26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Mar’26</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0935177"/>
                  </a:ext>
                </a:extLst>
              </a:tr>
              <a:tr h="91440">
                <a:tc>
                  <a:txBody>
                    <a:bodyPr/>
                    <a:lstStyle/>
                    <a:p>
                      <a:pPr marL="0" algn="ctr" defTabSz="685800" rtl="0" eaLnBrk="1" fontAlgn="b" latinLnBrk="0" hangingPunct="1"/>
                      <a:r>
                        <a:rPr lang="en-IN" sz="800" b="1" i="0" u="none" strike="noStrike" kern="1200">
                          <a:solidFill>
                            <a:srgbClr val="071D49"/>
                          </a:solidFill>
                          <a:effectLst/>
                          <a:latin typeface="+mn-lt"/>
                          <a:ea typeface="+mn-ea"/>
                          <a:cs typeface="+mn-cs"/>
                        </a:rPr>
                        <a:t>n value</a:t>
                      </a:r>
                    </a:p>
                  </a:txBody>
                  <a:tcPr marL="19051" marR="19051" marT="12700" marB="1270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85</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89</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90</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97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685800" rtl="0" eaLnBrk="1" fontAlgn="ctr" latinLnBrk="0" hangingPunct="1">
                        <a:buNone/>
                      </a:pPr>
                      <a:r>
                        <a:rPr lang="en-IN" sz="800" b="1" i="0" u="none" strike="noStrike" kern="1200">
                          <a:solidFill>
                            <a:srgbClr val="071D49"/>
                          </a:solidFill>
                          <a:effectLst/>
                          <a:latin typeface="+mn-lt"/>
                          <a:ea typeface="+mn-ea"/>
                          <a:cs typeface="+mn-cs"/>
                        </a:rPr>
                        <a:t>117</a:t>
                      </a:r>
                    </a:p>
                  </a:txBody>
                  <a:tcPr marL="6350" marR="6350" marT="635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8742764"/>
                  </a:ext>
                </a:extLst>
              </a:tr>
            </a:tbl>
          </a:graphicData>
        </a:graphic>
      </p:graphicFrame>
      <p:graphicFrame>
        <p:nvGraphicFramePr>
          <p:cNvPr id="27" name="Chart 26">
            <a:extLst>
              <a:ext uri="{FF2B5EF4-FFF2-40B4-BE49-F238E27FC236}">
                <a16:creationId xmlns:a16="http://schemas.microsoft.com/office/drawing/2014/main" id="{22C2387A-F76E-13D3-6101-27D925C0C18C}"/>
              </a:ext>
            </a:extLst>
          </p:cNvPr>
          <p:cNvGraphicFramePr/>
          <p:nvPr>
            <p:custDataLst>
              <p:tags r:id="rId4"/>
            </p:custDataLst>
            <p:extLst>
              <p:ext uri="{D42A27DB-BD31-4B8C-83A1-F6EECF244321}">
                <p14:modId xmlns:p14="http://schemas.microsoft.com/office/powerpoint/2010/main" val="2248601568"/>
              </p:ext>
            </p:extLst>
          </p:nvPr>
        </p:nvGraphicFramePr>
        <p:xfrm>
          <a:off x="39731" y="3895081"/>
          <a:ext cx="5148776" cy="177113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3" name="Chart 32">
            <a:extLst>
              <a:ext uri="{FF2B5EF4-FFF2-40B4-BE49-F238E27FC236}">
                <a16:creationId xmlns:a16="http://schemas.microsoft.com/office/drawing/2014/main" id="{28C98451-55FB-30B8-2C7E-623C9C484E44}"/>
              </a:ext>
            </a:extLst>
          </p:cNvPr>
          <p:cNvGraphicFramePr/>
          <p:nvPr>
            <p:custDataLst>
              <p:tags r:id="rId5"/>
            </p:custDataLst>
            <p:extLst>
              <p:ext uri="{D42A27DB-BD31-4B8C-83A1-F6EECF244321}">
                <p14:modId xmlns:p14="http://schemas.microsoft.com/office/powerpoint/2010/main" val="2006166955"/>
              </p:ext>
            </p:extLst>
          </p:nvPr>
        </p:nvGraphicFramePr>
        <p:xfrm>
          <a:off x="2109315" y="1679328"/>
          <a:ext cx="5148776" cy="1777779"/>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4" name="Chart 33">
            <a:extLst>
              <a:ext uri="{FF2B5EF4-FFF2-40B4-BE49-F238E27FC236}">
                <a16:creationId xmlns:a16="http://schemas.microsoft.com/office/drawing/2014/main" id="{5F1169E4-D952-210A-254D-8A9D768928A4}"/>
              </a:ext>
            </a:extLst>
          </p:cNvPr>
          <p:cNvGraphicFramePr/>
          <p:nvPr>
            <p:custDataLst>
              <p:tags r:id="rId6"/>
            </p:custDataLst>
            <p:extLst>
              <p:ext uri="{D42A27DB-BD31-4B8C-83A1-F6EECF244321}">
                <p14:modId xmlns:p14="http://schemas.microsoft.com/office/powerpoint/2010/main" val="2956319596"/>
              </p:ext>
            </p:extLst>
          </p:nvPr>
        </p:nvGraphicFramePr>
        <p:xfrm>
          <a:off x="4400239" y="3947636"/>
          <a:ext cx="5148776" cy="1666026"/>
        </p:xfrm>
        <a:graphic>
          <a:graphicData uri="http://schemas.openxmlformats.org/drawingml/2006/chart">
            <c:chart xmlns:c="http://schemas.openxmlformats.org/drawingml/2006/chart" xmlns:r="http://schemas.openxmlformats.org/officeDocument/2006/relationships" r:id="rId11"/>
          </a:graphicData>
        </a:graphic>
      </p:graphicFrame>
      <p:sp>
        <p:nvSpPr>
          <p:cNvPr id="35" name="Rectangle 34">
            <a:extLst>
              <a:ext uri="{FF2B5EF4-FFF2-40B4-BE49-F238E27FC236}">
                <a16:creationId xmlns:a16="http://schemas.microsoft.com/office/drawing/2014/main" id="{97A1124E-7F87-C67F-C76C-C70DFC33DCB2}"/>
              </a:ext>
            </a:extLst>
          </p:cNvPr>
          <p:cNvSpPr/>
          <p:nvPr/>
        </p:nvSpPr>
        <p:spPr>
          <a:xfrm rot="16200000">
            <a:off x="1820882" y="2351024"/>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Share of Voice</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Calibri" panose="020F0502020204030204" pitchFamily="34" charset="0"/>
                <a:sym typeface="Arial"/>
              </a:rPr>
              <a:t>(% of interactions)</a:t>
            </a:r>
          </a:p>
        </p:txBody>
      </p:sp>
      <p:sp>
        <p:nvSpPr>
          <p:cNvPr id="36" name="Rectangle 35">
            <a:extLst>
              <a:ext uri="{FF2B5EF4-FFF2-40B4-BE49-F238E27FC236}">
                <a16:creationId xmlns:a16="http://schemas.microsoft.com/office/drawing/2014/main" id="{2823AD42-B0D1-ECF9-C62D-F0D02DBA6015}"/>
              </a:ext>
            </a:extLst>
          </p:cNvPr>
          <p:cNvSpPr/>
          <p:nvPr/>
        </p:nvSpPr>
        <p:spPr>
          <a:xfrm rot="16200000">
            <a:off x="-222371" y="4564296"/>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Reach</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 of HCPs)</a:t>
            </a:r>
          </a:p>
        </p:txBody>
      </p:sp>
      <p:sp>
        <p:nvSpPr>
          <p:cNvPr id="49" name="Rectangle 48">
            <a:extLst>
              <a:ext uri="{FF2B5EF4-FFF2-40B4-BE49-F238E27FC236}">
                <a16:creationId xmlns:a16="http://schemas.microsoft.com/office/drawing/2014/main" id="{3567BFFF-7F05-A63D-9A64-1C635F378FE4}"/>
              </a:ext>
            </a:extLst>
          </p:cNvPr>
          <p:cNvSpPr/>
          <p:nvPr/>
        </p:nvSpPr>
        <p:spPr>
          <a:xfrm rot="16200000">
            <a:off x="4109936" y="4665792"/>
            <a:ext cx="1368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Frequency</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ea typeface="+mn-ea"/>
                <a:cs typeface="Calibri" panose="020F0502020204030204" pitchFamily="34" charset="0"/>
                <a:sym typeface="Arial"/>
              </a:rPr>
              <a:t>(Avg # of interactions in 30 days)</a:t>
            </a:r>
          </a:p>
        </p:txBody>
      </p:sp>
      <p:sp>
        <p:nvSpPr>
          <p:cNvPr id="50" name="Google Shape;561;p14">
            <a:extLst>
              <a:ext uri="{FF2B5EF4-FFF2-40B4-BE49-F238E27FC236}">
                <a16:creationId xmlns:a16="http://schemas.microsoft.com/office/drawing/2014/main" id="{7E437C65-D897-7EF0-B665-9534BE587850}"/>
              </a:ext>
            </a:extLst>
          </p:cNvPr>
          <p:cNvSpPr/>
          <p:nvPr/>
        </p:nvSpPr>
        <p:spPr>
          <a:xfrm>
            <a:off x="1097585" y="41400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2" name="Google Shape;561;p14">
            <a:extLst>
              <a:ext uri="{FF2B5EF4-FFF2-40B4-BE49-F238E27FC236}">
                <a16:creationId xmlns:a16="http://schemas.microsoft.com/office/drawing/2014/main" id="{1E8D9E9A-9961-385C-9D2B-55F3F2A97699}"/>
              </a:ext>
            </a:extLst>
          </p:cNvPr>
          <p:cNvSpPr/>
          <p:nvPr/>
        </p:nvSpPr>
        <p:spPr>
          <a:xfrm>
            <a:off x="1795236" y="41958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4" name="Google Shape;561;p14">
            <a:extLst>
              <a:ext uri="{FF2B5EF4-FFF2-40B4-BE49-F238E27FC236}">
                <a16:creationId xmlns:a16="http://schemas.microsoft.com/office/drawing/2014/main" id="{A0F92DB7-5680-150B-3863-F4DD56666F49}"/>
              </a:ext>
            </a:extLst>
          </p:cNvPr>
          <p:cNvSpPr/>
          <p:nvPr/>
        </p:nvSpPr>
        <p:spPr>
          <a:xfrm>
            <a:off x="2436815" y="425167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5" name="Google Shape;561;p14">
            <a:extLst>
              <a:ext uri="{FF2B5EF4-FFF2-40B4-BE49-F238E27FC236}">
                <a16:creationId xmlns:a16="http://schemas.microsoft.com/office/drawing/2014/main" id="{61875566-0CAD-EDFE-3BD1-5DD6884D269B}"/>
              </a:ext>
            </a:extLst>
          </p:cNvPr>
          <p:cNvSpPr/>
          <p:nvPr/>
        </p:nvSpPr>
        <p:spPr>
          <a:xfrm>
            <a:off x="3071947" y="436202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6" name="Google Shape;561;p14">
            <a:extLst>
              <a:ext uri="{FF2B5EF4-FFF2-40B4-BE49-F238E27FC236}">
                <a16:creationId xmlns:a16="http://schemas.microsoft.com/office/drawing/2014/main" id="{BBE9B064-A1C8-5EFC-7853-C8B14E8BE036}"/>
              </a:ext>
            </a:extLst>
          </p:cNvPr>
          <p:cNvSpPr/>
          <p:nvPr/>
        </p:nvSpPr>
        <p:spPr>
          <a:xfrm>
            <a:off x="3727346" y="433553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7" name="Google Shape;561;p14">
            <a:extLst>
              <a:ext uri="{FF2B5EF4-FFF2-40B4-BE49-F238E27FC236}">
                <a16:creationId xmlns:a16="http://schemas.microsoft.com/office/drawing/2014/main" id="{1439040B-3096-CA87-6D60-A3F33A2978C6}"/>
              </a:ext>
            </a:extLst>
          </p:cNvPr>
          <p:cNvSpPr/>
          <p:nvPr/>
        </p:nvSpPr>
        <p:spPr>
          <a:xfrm>
            <a:off x="4375131" y="4279736"/>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9" name="Google Shape;561;p14">
            <a:extLst>
              <a:ext uri="{FF2B5EF4-FFF2-40B4-BE49-F238E27FC236}">
                <a16:creationId xmlns:a16="http://schemas.microsoft.com/office/drawing/2014/main" id="{14D2E39F-AC79-1C2C-38C4-4768FB1FF38D}"/>
              </a:ext>
            </a:extLst>
          </p:cNvPr>
          <p:cNvSpPr/>
          <p:nvPr/>
        </p:nvSpPr>
        <p:spPr>
          <a:xfrm>
            <a:off x="3145474" y="1910087"/>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0" name="Google Shape;561;p14">
            <a:extLst>
              <a:ext uri="{FF2B5EF4-FFF2-40B4-BE49-F238E27FC236}">
                <a16:creationId xmlns:a16="http://schemas.microsoft.com/office/drawing/2014/main" id="{530066E8-7912-F4CD-B93F-F2C8E7480E4C}"/>
              </a:ext>
            </a:extLst>
          </p:cNvPr>
          <p:cNvSpPr/>
          <p:nvPr/>
        </p:nvSpPr>
        <p:spPr>
          <a:xfrm>
            <a:off x="3826816" y="178169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1" name="Google Shape;561;p14">
            <a:extLst>
              <a:ext uri="{FF2B5EF4-FFF2-40B4-BE49-F238E27FC236}">
                <a16:creationId xmlns:a16="http://schemas.microsoft.com/office/drawing/2014/main" id="{EE49AA51-0C80-8CB8-16B7-A51C9E93F1E7}"/>
              </a:ext>
            </a:extLst>
          </p:cNvPr>
          <p:cNvSpPr/>
          <p:nvPr/>
        </p:nvSpPr>
        <p:spPr>
          <a:xfrm>
            <a:off x="4479786" y="1800301"/>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62" name="Google Shape;561;p14">
            <a:extLst>
              <a:ext uri="{FF2B5EF4-FFF2-40B4-BE49-F238E27FC236}">
                <a16:creationId xmlns:a16="http://schemas.microsoft.com/office/drawing/2014/main" id="{4B43CC76-2B13-59D8-A0AC-7895C9232075}"/>
              </a:ext>
            </a:extLst>
          </p:cNvPr>
          <p:cNvSpPr/>
          <p:nvPr/>
        </p:nvSpPr>
        <p:spPr>
          <a:xfrm>
            <a:off x="5132756" y="1736810"/>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2" name="Google Shape;561;p14">
            <a:extLst>
              <a:ext uri="{FF2B5EF4-FFF2-40B4-BE49-F238E27FC236}">
                <a16:creationId xmlns:a16="http://schemas.microsoft.com/office/drawing/2014/main" id="{D3D3D73E-077F-5680-7989-582E32EBB818}"/>
              </a:ext>
            </a:extLst>
          </p:cNvPr>
          <p:cNvSpPr/>
          <p:nvPr/>
        </p:nvSpPr>
        <p:spPr>
          <a:xfrm>
            <a:off x="5785726" y="180442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513" name="Google Shape;561;p14">
            <a:extLst>
              <a:ext uri="{FF2B5EF4-FFF2-40B4-BE49-F238E27FC236}">
                <a16:creationId xmlns:a16="http://schemas.microsoft.com/office/drawing/2014/main" id="{1AD6856C-D46C-4A5D-551C-D8CDF67C8FA1}"/>
              </a:ext>
            </a:extLst>
          </p:cNvPr>
          <p:cNvSpPr/>
          <p:nvPr/>
        </p:nvSpPr>
        <p:spPr>
          <a:xfrm>
            <a:off x="6438696" y="1804425"/>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
        <p:nvSpPr>
          <p:cNvPr id="4" name="Google Shape;561;p14">
            <a:extLst>
              <a:ext uri="{FF2B5EF4-FFF2-40B4-BE49-F238E27FC236}">
                <a16:creationId xmlns:a16="http://schemas.microsoft.com/office/drawing/2014/main" id="{DE53A66A-F8EA-9CF8-FD69-80D2F3A762A9}"/>
              </a:ext>
            </a:extLst>
          </p:cNvPr>
          <p:cNvSpPr/>
          <p:nvPr/>
        </p:nvSpPr>
        <p:spPr>
          <a:xfrm>
            <a:off x="369137" y="616520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a:sym typeface="Arial"/>
              </a:rPr>
              <a:t>S</a:t>
            </a: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spTree>
    <p:extLst>
      <p:ext uri="{BB962C8B-B14F-4D97-AF65-F5344CB8AC3E}">
        <p14:creationId xmlns:p14="http://schemas.microsoft.com/office/powerpoint/2010/main" val="2181303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Message Delivery and Effectiveness </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3" name="TextBox 2">
            <a:extLst>
              <a:ext uri="{FF2B5EF4-FFF2-40B4-BE49-F238E27FC236}">
                <a16:creationId xmlns:a16="http://schemas.microsoft.com/office/drawing/2014/main" id="{00CAF7A6-AD42-6317-C633-D670604C8046}"/>
              </a:ext>
            </a:extLst>
          </p:cNvPr>
          <p:cNvSpPr txBox="1"/>
          <p:nvPr/>
        </p:nvSpPr>
        <p:spPr>
          <a:xfrm>
            <a:off x="338248" y="4262248"/>
            <a:ext cx="7888402" cy="1569660"/>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Effectiveness:</a:t>
            </a:r>
            <a:r>
              <a:rPr kumimoji="0" lang="en-GB" sz="1200" b="0" i="0" u="none" strike="noStrike" kern="0" cap="none" spc="0" normalizeH="0" baseline="0" noProof="0">
                <a:ln>
                  <a:noFill/>
                </a:ln>
                <a:solidFill>
                  <a:srgbClr val="000000"/>
                </a:solidFill>
                <a:effectLst/>
                <a:uLnTx/>
                <a:uFillTx/>
                <a:latin typeface="Arial"/>
                <a:cs typeface="Arial"/>
                <a:sym typeface="Arial"/>
              </a:rPr>
              <a:t> CREON’s updated messages showed slight improvements in recall and effectiveness, with efficacy message C9 emerging as the most effective; dosing believability of CREON messages softened while ZENPEP’s dosing messages (Z17, Z16) remained the most effective overall; CREON access messages continued to lag on believability despite remaining high on motivation.</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Recall:</a:t>
            </a:r>
            <a:r>
              <a:rPr kumimoji="0" lang="en-GB" sz="1200" b="0" i="0" u="none" strike="noStrike" kern="0" cap="none" spc="0" normalizeH="0" baseline="0" noProof="0">
                <a:ln>
                  <a:noFill/>
                </a:ln>
                <a:solidFill>
                  <a:srgbClr val="000000"/>
                </a:solidFill>
                <a:effectLst/>
                <a:uLnTx/>
                <a:uFillTx/>
                <a:latin typeface="Arial"/>
                <a:cs typeface="Arial"/>
                <a:sym typeface="Arial"/>
              </a:rPr>
              <a:t> Recall remained strong for dosing messages across both brands; CREON’s newly added messages saw low recall while some updated messages improved from last wave</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LTIP association:</a:t>
            </a:r>
            <a:r>
              <a:rPr kumimoji="0" lang="en-GB" sz="1200" b="0" i="0" u="none" strike="noStrike" kern="0" cap="none" spc="0" normalizeH="0" baseline="0" noProof="0">
                <a:ln>
                  <a:noFill/>
                </a:ln>
                <a:solidFill>
                  <a:srgbClr val="000000"/>
                </a:solidFill>
                <a:effectLst/>
                <a:uLnTx/>
                <a:uFillTx/>
                <a:latin typeface="Arial"/>
                <a:cs typeface="Arial"/>
                <a:sym typeface="Arial"/>
              </a:rPr>
              <a:t> Only a limited set of CREON messages drove higher LTIP, with weaker differentiation across dosing, PSP, and legacy messages, indicating muted impact of message recall on intent to prescribe.</a:t>
            </a:r>
          </a:p>
        </p:txBody>
      </p:sp>
    </p:spTree>
    <p:extLst>
      <p:ext uri="{BB962C8B-B14F-4D97-AF65-F5344CB8AC3E}">
        <p14:creationId xmlns:p14="http://schemas.microsoft.com/office/powerpoint/2010/main" val="1768137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40">
          <a:extLst>
            <a:ext uri="{FF2B5EF4-FFF2-40B4-BE49-F238E27FC236}">
              <a16:creationId xmlns:a16="http://schemas.microsoft.com/office/drawing/2014/main" id="{EC5450E5-7A3F-CD81-375B-C9E9A8C32743}"/>
            </a:ext>
          </a:extLst>
        </p:cNvPr>
        <p:cNvGrpSpPr/>
        <p:nvPr/>
      </p:nvGrpSpPr>
      <p:grpSpPr>
        <a:xfrm>
          <a:off x="0" y="0"/>
          <a:ext cx="0" cy="0"/>
          <a:chOff x="0" y="0"/>
          <a:chExt cx="0" cy="0"/>
        </a:xfrm>
      </p:grpSpPr>
      <p:sp>
        <p:nvSpPr>
          <p:cNvPr id="5" name="Google Shape;1359;p33">
            <a:extLst>
              <a:ext uri="{FF2B5EF4-FFF2-40B4-BE49-F238E27FC236}">
                <a16:creationId xmlns:a16="http://schemas.microsoft.com/office/drawing/2014/main" id="{EB2948B4-F764-AC99-3E8B-694EA5CD8376}"/>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Most CREON’s access related messages (C1, C11, C22) remained highly motivating but continued to score low on believability, consistent with prior waves; Dosing messages decreased on believability</a:t>
            </a:r>
            <a:endParaRPr kumimoji="0" lang="en-US" sz="1400" b="0" i="0" u="none" strike="sng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49" name="TextBox 48">
            <a:extLst>
              <a:ext uri="{FF2B5EF4-FFF2-40B4-BE49-F238E27FC236}">
                <a16:creationId xmlns:a16="http://schemas.microsoft.com/office/drawing/2014/main" id="{68DBAEA9-50B0-2A35-89B0-BF1AB531481B}"/>
              </a:ext>
            </a:extLst>
          </p:cNvPr>
          <p:cNvSpPr txBox="1"/>
          <p:nvPr/>
        </p:nvSpPr>
        <p:spPr>
          <a:xfrm>
            <a:off x="90394" y="1240940"/>
            <a:ext cx="441756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sp>
        <p:nvSpPr>
          <p:cNvPr id="50" name="Google Shape;1415;p35">
            <a:extLst>
              <a:ext uri="{FF2B5EF4-FFF2-40B4-BE49-F238E27FC236}">
                <a16:creationId xmlns:a16="http://schemas.microsoft.com/office/drawing/2014/main" id="{81CE2036-2139-B833-44F3-A2A09B3FA428}"/>
              </a:ext>
            </a:extLst>
          </p:cNvPr>
          <p:cNvSpPr/>
          <p:nvPr/>
        </p:nvSpPr>
        <p:spPr>
          <a:xfrm>
            <a:off x="432000" y="682911"/>
            <a:ext cx="8280000"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Recall &amp; Message Effectiveness (MBD) – </a:t>
            </a:r>
            <a:r>
              <a:rPr kumimoji="0" lang="en-US" sz="1400" b="1" i="0" u="sng" strike="noStrike" kern="0" cap="none" spc="0" normalizeH="0" baseline="0" noProof="0">
                <a:ln>
                  <a:noFill/>
                </a:ln>
                <a:solidFill>
                  <a:srgbClr val="36729C"/>
                </a:solidFill>
                <a:effectLst/>
                <a:uLnTx/>
                <a:uFillTx/>
                <a:latin typeface="Arial" panose="020B0604020202020204" pitchFamily="34" charset="0"/>
                <a:ea typeface="Calibri"/>
                <a:cs typeface="Arial" panose="020B0604020202020204" pitchFamily="34" charset="0"/>
                <a:sym typeface="Calibri"/>
              </a:rPr>
              <a:t>CREON</a:t>
            </a:r>
            <a:endParaRPr kumimoji="0" lang="en-IN" sz="14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(MR: Nov’25 – Dec’25: n = 108 | ME: Nov’25 – Dec’25: n = 115: Sep’25 – Oct’25: n = 114)</a:t>
            </a:r>
            <a:endParaRPr kumimoji="0" lang="en-IN"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51" name="Google Shape;1418;p35">
            <a:extLst>
              <a:ext uri="{FF2B5EF4-FFF2-40B4-BE49-F238E27FC236}">
                <a16:creationId xmlns:a16="http://schemas.microsoft.com/office/drawing/2014/main" id="{DF8682B7-1E31-BB0F-998A-542A5817A4D4}"/>
              </a:ext>
            </a:extLst>
          </p:cNvPr>
          <p:cNvGraphicFramePr/>
          <p:nvPr>
            <p:custDataLst>
              <p:tags r:id="rId1"/>
            </p:custDataLst>
            <p:extLst>
              <p:ext uri="{D42A27DB-BD31-4B8C-83A1-F6EECF244321}">
                <p14:modId xmlns:p14="http://schemas.microsoft.com/office/powerpoint/2010/main" val="4103959541"/>
              </p:ext>
            </p:extLst>
          </p:nvPr>
        </p:nvGraphicFramePr>
        <p:xfrm>
          <a:off x="90394" y="1515171"/>
          <a:ext cx="4848464" cy="4343541"/>
        </p:xfrm>
        <a:graphic>
          <a:graphicData uri="http://schemas.openxmlformats.org/drawingml/2006/table">
            <a:tbl>
              <a:tblPr>
                <a:noFill/>
                <a:tableStyleId>{96BACEE3-1A1D-4107-9369-2142449FF59F}</a:tableStyleId>
              </a:tblPr>
              <a:tblGrid>
                <a:gridCol w="370954">
                  <a:extLst>
                    <a:ext uri="{9D8B030D-6E8A-4147-A177-3AD203B41FA5}">
                      <a16:colId xmlns:a16="http://schemas.microsoft.com/office/drawing/2014/main" val="20000"/>
                    </a:ext>
                  </a:extLst>
                </a:gridCol>
                <a:gridCol w="4055165">
                  <a:extLst>
                    <a:ext uri="{9D8B030D-6E8A-4147-A177-3AD203B41FA5}">
                      <a16:colId xmlns:a16="http://schemas.microsoft.com/office/drawing/2014/main" val="20001"/>
                    </a:ext>
                  </a:extLst>
                </a:gridCol>
                <a:gridCol w="422345">
                  <a:extLst>
                    <a:ext uri="{9D8B030D-6E8A-4147-A177-3AD203B41FA5}">
                      <a16:colId xmlns:a16="http://schemas.microsoft.com/office/drawing/2014/main" val="719557685"/>
                    </a:ext>
                  </a:extLst>
                </a:gridCol>
              </a:tblGrid>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C6</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Take CREON every meal, every snack, every day.</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57%</a:t>
                      </a: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0"/>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C10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is the #1 PERT prescribed by Gastroenterologists, Primary Care Physicians, and Nurse Practitioners and Physician Assistants.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55%</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1"/>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C7</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36K capsules can be an appropriate dose for many adults.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53%</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2"/>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C11</a:t>
                      </a:r>
                      <a:endParaRPr kumimoji="0" lang="en-IN" sz="900" b="1" i="0" u="none" strike="noStrike" kern="0" cap="none" spc="0" normalizeH="0" baseline="3000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95% of commercially eligible patients pay $5 or less for their CREON prescription with the CREON Complete Savings card.</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48%</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C3</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Exocrine Pancreatic Insufficiency (EPI) is under-recognized and can have an impact on nutritional health and quality of life</a:t>
                      </a: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48%</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42077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C9</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significantly improves fat absorption compared with placebo in randomized clinical trials of patients with EPI due to CF, CP, or pancreatectomy.</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41%</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42077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maintains category leading coverage: 89% of national commercial and Medicare Part D insured lives have preferred access to CREON with the lowest branded copay, without a prior authorization.</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ea typeface="Arial"/>
                          <a:cs typeface="Arial"/>
                          <a:sym typeface="Arial"/>
                        </a:rPr>
                        <a:t>36%</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C20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Significant experience, exceptional patient support, and excellent coverage make CREON a proven partner for patients with EPl.</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31%</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42077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C19</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Based on the FDA-approved label, CREON is the only PERT specifically studied for patients with EPI due to chronic pancreatitis and pancreatectomy, in addition to cystic fibrosis</a:t>
                      </a: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30%</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C22</a:t>
                      </a: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71% of CREON Medicare Part D patients paid less than $30 in 2024.</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24%</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C21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Complete may help patients start and stay on track with their treatment.</a:t>
                      </a: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23%</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42359">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C17</a:t>
                      </a:r>
                    </a:p>
                  </a:txBody>
                  <a:tcPr marL="3577" marR="3577" marT="2384" marB="2384"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More than 8 out of 10 GEs and PCPs prescribe CREON more than other PERTs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a:cs typeface="Arial"/>
                        </a:rPr>
                        <a:t>22%</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bl>
          </a:graphicData>
        </a:graphic>
      </p:graphicFrame>
      <p:sp>
        <p:nvSpPr>
          <p:cNvPr id="55" name="Google Shape;1432;p35">
            <a:extLst>
              <a:ext uri="{FF2B5EF4-FFF2-40B4-BE49-F238E27FC236}">
                <a16:creationId xmlns:a16="http://schemas.microsoft.com/office/drawing/2014/main" id="{B9F418D0-73B3-ACFE-0140-A35A30CD7D7F}"/>
              </a:ext>
            </a:extLst>
          </p:cNvPr>
          <p:cNvSpPr txBox="1"/>
          <p:nvPr/>
        </p:nvSpPr>
        <p:spPr>
          <a:xfrm>
            <a:off x="263257" y="5975686"/>
            <a:ext cx="863793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*Full message text in speaker notes |      statistically significant (p&lt;.05) difference between waves |</a:t>
            </a:r>
            <a:b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a:t>
            </a:r>
            <a:r>
              <a:rPr kumimoji="0" lang="en-GB"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Messages sorted in decreasing order of Recall for CREON messages</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 Delta since the previous wave are shown as </a:t>
            </a:r>
            <a:r>
              <a:rPr kumimoji="0" lang="en-US" sz="900" b="0" i="0" u="none" strike="noStrike" kern="0" cap="none" spc="0" normalizeH="0" baseline="0" noProof="0">
                <a:ln>
                  <a:noFill/>
                </a:ln>
                <a:solidFill>
                  <a:srgbClr val="00B050"/>
                </a:solidFill>
                <a:effectLst/>
                <a:uLnTx/>
                <a:uFillTx/>
                <a:latin typeface="Arial" panose="020B0604020202020204" pitchFamily="34" charset="0"/>
                <a:ea typeface="Calibri"/>
                <a:cs typeface="Arial" panose="020B0604020202020204" pitchFamily="34" charset="0"/>
                <a:sym typeface="Calibri"/>
              </a:rPr>
              <a:t>+</a:t>
            </a:r>
            <a:r>
              <a:rPr kumimoji="0" lang="en-US" sz="900" b="0" i="0" u="none" strike="noStrike" kern="0" cap="none" spc="0" normalizeH="0" baseline="0" noProof="0" err="1">
                <a:ln>
                  <a:noFill/>
                </a:ln>
                <a:solidFill>
                  <a:srgbClr val="00B050"/>
                </a:solidFill>
                <a:effectLst/>
                <a:uLnTx/>
                <a:uFillTx/>
                <a:latin typeface="Arial" panose="020B0604020202020204" pitchFamily="34" charset="0"/>
                <a:ea typeface="Calibri"/>
                <a:cs typeface="Arial" panose="020B0604020202020204" pitchFamily="34" charset="0"/>
                <a:sym typeface="Calibri"/>
              </a:rPr>
              <a:t>ve</a:t>
            </a:r>
            <a:r>
              <a:rPr kumimoji="0" lang="en-US" sz="900" b="0" i="0" u="none" strike="noStrike" kern="0" cap="none" spc="0" normalizeH="0" baseline="0" noProof="0">
                <a:ln>
                  <a:noFill/>
                </a:ln>
                <a:solidFill>
                  <a:srgbClr val="00B050"/>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a:t>
            </a:r>
            <a:r>
              <a:rPr kumimoji="0" lang="en-US" sz="900" b="0" i="0" u="none" strike="noStrike" kern="0" cap="none" spc="0" normalizeH="0" baseline="0" noProof="0" err="1">
                <a:ln>
                  <a:noFill/>
                </a:ln>
                <a:solidFill>
                  <a:srgbClr val="FF0000"/>
                </a:solidFill>
                <a:effectLst/>
                <a:uLnTx/>
                <a:uFillTx/>
                <a:latin typeface="Arial" panose="020B0604020202020204" pitchFamily="34" charset="0"/>
                <a:ea typeface="Calibri"/>
                <a:cs typeface="Arial" panose="020B0604020202020204" pitchFamily="34" charset="0"/>
                <a:sym typeface="Calibri"/>
              </a:rPr>
              <a:t>ve</a:t>
            </a:r>
            <a:r>
              <a:rPr kumimoji="0" lang="en-US" sz="900" b="0" i="0"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for message recall | </a:t>
            </a:r>
            <a:b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p>
        </p:txBody>
      </p:sp>
      <p:sp>
        <p:nvSpPr>
          <p:cNvPr id="56" name="Google Shape;1433;p35">
            <a:extLst>
              <a:ext uri="{FF2B5EF4-FFF2-40B4-BE49-F238E27FC236}">
                <a16:creationId xmlns:a16="http://schemas.microsoft.com/office/drawing/2014/main" id="{D1A587E5-0420-9CE0-3F1F-E77DA2410339}"/>
              </a:ext>
            </a:extLst>
          </p:cNvPr>
          <p:cNvSpPr/>
          <p:nvPr/>
        </p:nvSpPr>
        <p:spPr>
          <a:xfrm>
            <a:off x="6581566" y="1118114"/>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58" name="Motivation">
            <a:extLst>
              <a:ext uri="{FF2B5EF4-FFF2-40B4-BE49-F238E27FC236}">
                <a16:creationId xmlns:a16="http://schemas.microsoft.com/office/drawing/2014/main" id="{89CADFC7-71F2-A4D4-80EA-AA4F3904F8BC}"/>
              </a:ext>
            </a:extLst>
          </p:cNvPr>
          <p:cNvGraphicFramePr/>
          <p:nvPr>
            <p:custDataLst>
              <p:tags r:id="rId2"/>
            </p:custDataLst>
            <p:extLst>
              <p:ext uri="{D42A27DB-BD31-4B8C-83A1-F6EECF244321}">
                <p14:modId xmlns:p14="http://schemas.microsoft.com/office/powerpoint/2010/main" val="4207347729"/>
              </p:ext>
            </p:extLst>
          </p:nvPr>
        </p:nvGraphicFramePr>
        <p:xfrm>
          <a:off x="6099931" y="1515171"/>
          <a:ext cx="1080000" cy="4357212"/>
        </p:xfrm>
        <a:graphic>
          <a:graphicData uri="http://schemas.openxmlformats.org/drawingml/2006/chart">
            <c:chart xmlns:c="http://schemas.openxmlformats.org/drawingml/2006/chart" xmlns:r="http://schemas.openxmlformats.org/officeDocument/2006/relationships" r:id="rId8"/>
          </a:graphicData>
        </a:graphic>
      </p:graphicFrame>
      <p:sp>
        <p:nvSpPr>
          <p:cNvPr id="59" name="Google Shape;5770;p160">
            <a:extLst>
              <a:ext uri="{FF2B5EF4-FFF2-40B4-BE49-F238E27FC236}">
                <a16:creationId xmlns:a16="http://schemas.microsoft.com/office/drawing/2014/main" id="{6C79BE16-3E05-C041-CE3C-30FC400B31E8}"/>
              </a:ext>
            </a:extLst>
          </p:cNvPr>
          <p:cNvSpPr/>
          <p:nvPr/>
        </p:nvSpPr>
        <p:spPr>
          <a:xfrm>
            <a:off x="5929648"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Motivating</a:t>
            </a:r>
          </a:p>
        </p:txBody>
      </p:sp>
      <p:sp>
        <p:nvSpPr>
          <p:cNvPr id="60" name="Google Shape;5773;p160">
            <a:extLst>
              <a:ext uri="{FF2B5EF4-FFF2-40B4-BE49-F238E27FC236}">
                <a16:creationId xmlns:a16="http://schemas.microsoft.com/office/drawing/2014/main" id="{AF81BFF6-92E7-E848-6529-9FA8B4C20D65}"/>
              </a:ext>
            </a:extLst>
          </p:cNvPr>
          <p:cNvSpPr/>
          <p:nvPr/>
        </p:nvSpPr>
        <p:spPr>
          <a:xfrm>
            <a:off x="6896040"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Believable</a:t>
            </a:r>
          </a:p>
        </p:txBody>
      </p:sp>
      <p:sp>
        <p:nvSpPr>
          <p:cNvPr id="61" name="Google Shape;5776;p160">
            <a:extLst>
              <a:ext uri="{FF2B5EF4-FFF2-40B4-BE49-F238E27FC236}">
                <a16:creationId xmlns:a16="http://schemas.microsoft.com/office/drawing/2014/main" id="{CDA21404-53EC-B57F-BF89-C92CB5ABF638}"/>
              </a:ext>
            </a:extLst>
          </p:cNvPr>
          <p:cNvSpPr/>
          <p:nvPr/>
        </p:nvSpPr>
        <p:spPr>
          <a:xfrm>
            <a:off x="7935584" y="1288473"/>
            <a:ext cx="1036039"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Differentiating</a:t>
            </a:r>
          </a:p>
        </p:txBody>
      </p:sp>
      <p:graphicFrame>
        <p:nvGraphicFramePr>
          <p:cNvPr id="62" name="ME">
            <a:extLst>
              <a:ext uri="{FF2B5EF4-FFF2-40B4-BE49-F238E27FC236}">
                <a16:creationId xmlns:a16="http://schemas.microsoft.com/office/drawing/2014/main" id="{9B36D521-1FF4-906F-AAD1-45098A7E6AF1}"/>
              </a:ext>
            </a:extLst>
          </p:cNvPr>
          <p:cNvGraphicFramePr/>
          <p:nvPr>
            <p:custDataLst>
              <p:tags r:id="rId3"/>
            </p:custDataLst>
            <p:extLst>
              <p:ext uri="{D42A27DB-BD31-4B8C-83A1-F6EECF244321}">
                <p14:modId xmlns:p14="http://schemas.microsoft.com/office/powerpoint/2010/main" val="3926736477"/>
              </p:ext>
            </p:extLst>
          </p:nvPr>
        </p:nvGraphicFramePr>
        <p:xfrm>
          <a:off x="5013453" y="1515171"/>
          <a:ext cx="1080000" cy="4343543"/>
        </p:xfrm>
        <a:graphic>
          <a:graphicData uri="http://schemas.openxmlformats.org/drawingml/2006/chart">
            <c:chart xmlns:c="http://schemas.openxmlformats.org/drawingml/2006/chart" xmlns:r="http://schemas.openxmlformats.org/officeDocument/2006/relationships" r:id="rId9"/>
          </a:graphicData>
        </a:graphic>
      </p:graphicFrame>
      <p:sp>
        <p:nvSpPr>
          <p:cNvPr id="63" name="Google Shape;5770;p160">
            <a:extLst>
              <a:ext uri="{FF2B5EF4-FFF2-40B4-BE49-F238E27FC236}">
                <a16:creationId xmlns:a16="http://schemas.microsoft.com/office/drawing/2014/main" id="{9C412016-C22D-4779-9C26-AFB153E660BA}"/>
              </a:ext>
            </a:extLst>
          </p:cNvPr>
          <p:cNvSpPr/>
          <p:nvPr/>
        </p:nvSpPr>
        <p:spPr>
          <a:xfrm>
            <a:off x="4900070"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ME</a:t>
            </a:r>
          </a:p>
        </p:txBody>
      </p:sp>
      <p:grpSp>
        <p:nvGrpSpPr>
          <p:cNvPr id="2" name="Group 1">
            <a:extLst>
              <a:ext uri="{FF2B5EF4-FFF2-40B4-BE49-F238E27FC236}">
                <a16:creationId xmlns:a16="http://schemas.microsoft.com/office/drawing/2014/main" id="{2B515686-E78B-5D62-787A-4AC4B7503140}"/>
              </a:ext>
            </a:extLst>
          </p:cNvPr>
          <p:cNvGrpSpPr/>
          <p:nvPr/>
        </p:nvGrpSpPr>
        <p:grpSpPr>
          <a:xfrm>
            <a:off x="7822002" y="734745"/>
            <a:ext cx="1321998" cy="230792"/>
            <a:chOff x="7897876" y="814149"/>
            <a:chExt cx="1321998" cy="230792"/>
          </a:xfrm>
        </p:grpSpPr>
        <p:sp>
          <p:nvSpPr>
            <p:cNvPr id="65" name="Google Shape;2335;p60">
              <a:extLst>
                <a:ext uri="{FF2B5EF4-FFF2-40B4-BE49-F238E27FC236}">
                  <a16:creationId xmlns:a16="http://schemas.microsoft.com/office/drawing/2014/main" id="{43D6B34A-2833-05BB-185F-B1A4D7BFFB25}"/>
                </a:ext>
              </a:extLst>
            </p:cNvPr>
            <p:cNvSpPr txBox="1"/>
            <p:nvPr/>
          </p:nvSpPr>
          <p:spPr>
            <a:xfrm>
              <a:off x="7947791" y="814149"/>
              <a:ext cx="879994"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Mar’26</a:t>
              </a:r>
              <a:endParaRPr kumimoji="0" lang="en-US"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66" name="Google Shape;2338;p60">
              <a:extLst>
                <a:ext uri="{FF2B5EF4-FFF2-40B4-BE49-F238E27FC236}">
                  <a16:creationId xmlns:a16="http://schemas.microsoft.com/office/drawing/2014/main" id="{3A81AECD-5DE5-02B2-35CE-EB988A56363E}"/>
                </a:ext>
              </a:extLst>
            </p:cNvPr>
            <p:cNvSpPr txBox="1"/>
            <p:nvPr/>
          </p:nvSpPr>
          <p:spPr>
            <a:xfrm>
              <a:off x="8555063" y="814149"/>
              <a:ext cx="664811" cy="230792"/>
            </a:xfrm>
            <a:prstGeom prst="rect">
              <a:avLst/>
            </a:prstGeom>
            <a:noFill/>
            <a:ln>
              <a:noFill/>
            </a:ln>
          </p:spPr>
          <p:txBody>
            <a:bodyPr spcFirstLastPara="1" wrap="square" lIns="91425" tIns="45700" rIns="91425" bIns="45700" anchor="t" anchorCtr="0">
              <a:spAutoFit/>
            </a:bodyPr>
            <a:lstStyle/>
            <a:p>
              <a:pPr lvl="0">
                <a:buClr>
                  <a:srgbClr val="0B1F65"/>
                </a:buClr>
                <a:buSzPts val="1000"/>
                <a:defRPr/>
              </a:pPr>
              <a:r>
                <a:rPr lang="en-US" sz="900">
                  <a:solidFill>
                    <a:srgbClr val="071D49"/>
                  </a:solidFill>
                  <a:latin typeface="Arial" panose="020B0604020202020204" pitchFamily="34" charset="0"/>
                  <a:cs typeface="Arial" panose="020B0604020202020204" pitchFamily="34" charset="0"/>
                  <a:sym typeface="Calibri"/>
                </a:rPr>
                <a:t>Feb’26</a:t>
              </a:r>
              <a:endParaRPr kumimoji="0" lang="en-US"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67" name="Google Shape;2336;p60">
              <a:extLst>
                <a:ext uri="{FF2B5EF4-FFF2-40B4-BE49-F238E27FC236}">
                  <a16:creationId xmlns:a16="http://schemas.microsoft.com/office/drawing/2014/main" id="{A2370F3A-4B17-ED85-730B-CE6FD1CD1512}"/>
                </a:ext>
              </a:extLst>
            </p:cNvPr>
            <p:cNvSpPr/>
            <p:nvPr/>
          </p:nvSpPr>
          <p:spPr>
            <a:xfrm>
              <a:off x="7897876" y="883986"/>
              <a:ext cx="90000" cy="91119"/>
            </a:xfrm>
            <a:prstGeom prst="rect">
              <a:avLst/>
            </a:prstGeom>
            <a:solidFill>
              <a:srgbClr val="0074A3"/>
            </a:solidFill>
            <a:ln w="127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68" name="Google Shape;2339;p60">
              <a:extLst>
                <a:ext uri="{FF2B5EF4-FFF2-40B4-BE49-F238E27FC236}">
                  <a16:creationId xmlns:a16="http://schemas.microsoft.com/office/drawing/2014/main" id="{281A7B60-35AA-A6CF-B220-221A33FA9CFB}"/>
                </a:ext>
              </a:extLst>
            </p:cNvPr>
            <p:cNvSpPr/>
            <p:nvPr/>
          </p:nvSpPr>
          <p:spPr>
            <a:xfrm>
              <a:off x="8520559" y="883986"/>
              <a:ext cx="90000" cy="91119"/>
            </a:xfrm>
            <a:prstGeom prst="rect">
              <a:avLst/>
            </a:prstGeom>
            <a:solidFill>
              <a:srgbClr val="4FCCFF"/>
            </a:solidFill>
            <a:ln w="127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cxnSp>
        <p:nvCxnSpPr>
          <p:cNvPr id="69" name="Google Shape;2289;p59">
            <a:extLst>
              <a:ext uri="{FF2B5EF4-FFF2-40B4-BE49-F238E27FC236}">
                <a16:creationId xmlns:a16="http://schemas.microsoft.com/office/drawing/2014/main" id="{1C0E5920-B912-2352-CF67-4CE62A536F48}"/>
              </a:ext>
            </a:extLst>
          </p:cNvPr>
          <p:cNvCxnSpPr/>
          <p:nvPr/>
        </p:nvCxnSpPr>
        <p:spPr>
          <a:xfrm>
            <a:off x="5938951" y="1252848"/>
            <a:ext cx="0" cy="457200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70" name="Arrow: Down 69">
            <a:extLst>
              <a:ext uri="{FF2B5EF4-FFF2-40B4-BE49-F238E27FC236}">
                <a16:creationId xmlns:a16="http://schemas.microsoft.com/office/drawing/2014/main" id="{EA5DFC39-D822-AFDA-C75E-54EF9913529C}"/>
              </a:ext>
            </a:extLst>
          </p:cNvPr>
          <p:cNvSpPr/>
          <p:nvPr/>
        </p:nvSpPr>
        <p:spPr>
          <a:xfrm>
            <a:off x="1806325" y="1299231"/>
            <a:ext cx="102637" cy="167951"/>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endParaRPr>
          </a:p>
        </p:txBody>
      </p:sp>
      <p:sp>
        <p:nvSpPr>
          <p:cNvPr id="71" name="Arrow: Down 70">
            <a:extLst>
              <a:ext uri="{FF2B5EF4-FFF2-40B4-BE49-F238E27FC236}">
                <a16:creationId xmlns:a16="http://schemas.microsoft.com/office/drawing/2014/main" id="{6828CF50-3A0E-B0E9-F39E-60F2E16AB404}"/>
              </a:ext>
            </a:extLst>
          </p:cNvPr>
          <p:cNvSpPr/>
          <p:nvPr/>
        </p:nvSpPr>
        <p:spPr>
          <a:xfrm>
            <a:off x="360000" y="6146930"/>
            <a:ext cx="72000" cy="144000"/>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73" name="Believable">
            <a:extLst>
              <a:ext uri="{FF2B5EF4-FFF2-40B4-BE49-F238E27FC236}">
                <a16:creationId xmlns:a16="http://schemas.microsoft.com/office/drawing/2014/main" id="{4728B91F-CF1C-865A-206D-D18A9B7BABB3}"/>
              </a:ext>
            </a:extLst>
          </p:cNvPr>
          <p:cNvGraphicFramePr/>
          <p:nvPr>
            <p:custDataLst>
              <p:tags r:id="rId4"/>
            </p:custDataLst>
            <p:extLst>
              <p:ext uri="{D42A27DB-BD31-4B8C-83A1-F6EECF244321}">
                <p14:modId xmlns:p14="http://schemas.microsoft.com/office/powerpoint/2010/main" val="3862068927"/>
              </p:ext>
            </p:extLst>
          </p:nvPr>
        </p:nvGraphicFramePr>
        <p:xfrm>
          <a:off x="7076681" y="1515171"/>
          <a:ext cx="1080000" cy="435721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4" name="Differentiating">
            <a:extLst>
              <a:ext uri="{FF2B5EF4-FFF2-40B4-BE49-F238E27FC236}">
                <a16:creationId xmlns:a16="http://schemas.microsoft.com/office/drawing/2014/main" id="{8A75C479-AB5B-4B66-4301-CBFF54604DBE}"/>
              </a:ext>
            </a:extLst>
          </p:cNvPr>
          <p:cNvGraphicFramePr/>
          <p:nvPr>
            <p:custDataLst>
              <p:tags r:id="rId5"/>
            </p:custDataLst>
            <p:extLst>
              <p:ext uri="{D42A27DB-BD31-4B8C-83A1-F6EECF244321}">
                <p14:modId xmlns:p14="http://schemas.microsoft.com/office/powerpoint/2010/main" val="2448508804"/>
              </p:ext>
            </p:extLst>
          </p:nvPr>
        </p:nvGraphicFramePr>
        <p:xfrm>
          <a:off x="8044287" y="1514267"/>
          <a:ext cx="1080000" cy="4358994"/>
        </p:xfrm>
        <a:graphic>
          <a:graphicData uri="http://schemas.openxmlformats.org/drawingml/2006/chart">
            <c:chart xmlns:c="http://schemas.openxmlformats.org/drawingml/2006/chart" xmlns:r="http://schemas.openxmlformats.org/officeDocument/2006/relationships" r:id="rId11"/>
          </a:graphicData>
        </a:graphic>
      </p:graphicFrame>
      <p:sp>
        <p:nvSpPr>
          <p:cNvPr id="75" name="TextBox 74">
            <a:extLst>
              <a:ext uri="{FF2B5EF4-FFF2-40B4-BE49-F238E27FC236}">
                <a16:creationId xmlns:a16="http://schemas.microsoft.com/office/drawing/2014/main" id="{D8759511-1DE5-09D2-1561-19420DCF3CA9}"/>
              </a:ext>
            </a:extLst>
          </p:cNvPr>
          <p:cNvSpPr txBox="1"/>
          <p:nvPr/>
        </p:nvSpPr>
        <p:spPr>
          <a:xfrm>
            <a:off x="4519352" y="1240940"/>
            <a:ext cx="412301" cy="274320"/>
          </a:xfrm>
          <a:prstGeom prst="rect">
            <a:avLst/>
          </a:prstGeom>
          <a:solidFill>
            <a:srgbClr val="071D49"/>
          </a:solidFill>
        </p:spPr>
        <p:txBody>
          <a:bodyPr wrap="square" lIns="0" tIns="36000" rIns="0" bIns="36000"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MR</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sp>
        <p:nvSpPr>
          <p:cNvPr id="3" name="TextBox 2">
            <a:extLst>
              <a:ext uri="{FF2B5EF4-FFF2-40B4-BE49-F238E27FC236}">
                <a16:creationId xmlns:a16="http://schemas.microsoft.com/office/drawing/2014/main" id="{1CC76788-3C1C-A8FB-EC55-0050C55D9F84}"/>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12"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
        <p:nvSpPr>
          <p:cNvPr id="11" name="Google Shape;2197;p58">
            <a:extLst>
              <a:ext uri="{FF2B5EF4-FFF2-40B4-BE49-F238E27FC236}">
                <a16:creationId xmlns:a16="http://schemas.microsoft.com/office/drawing/2014/main" id="{40B37715-7FB8-D957-C36F-1C9B1102C308}"/>
              </a:ext>
            </a:extLst>
          </p:cNvPr>
          <p:cNvSpPr/>
          <p:nvPr/>
        </p:nvSpPr>
        <p:spPr>
          <a:xfrm>
            <a:off x="4814826" y="6035331"/>
            <a:ext cx="111523"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Tree>
    <p:extLst>
      <p:ext uri="{BB962C8B-B14F-4D97-AF65-F5344CB8AC3E}">
        <p14:creationId xmlns:p14="http://schemas.microsoft.com/office/powerpoint/2010/main" val="2374781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340">
          <a:extLst>
            <a:ext uri="{FF2B5EF4-FFF2-40B4-BE49-F238E27FC236}">
              <a16:creationId xmlns:a16="http://schemas.microsoft.com/office/drawing/2014/main" id="{EC5450E5-7A3F-CD81-375B-C9E9A8C32743}"/>
            </a:ext>
          </a:extLst>
        </p:cNvPr>
        <p:cNvGrpSpPr/>
        <p:nvPr/>
      </p:nvGrpSpPr>
      <p:grpSpPr>
        <a:xfrm>
          <a:off x="0" y="0"/>
          <a:ext cx="0" cy="0"/>
          <a:chOff x="0" y="0"/>
          <a:chExt cx="0" cy="0"/>
        </a:xfrm>
      </p:grpSpPr>
      <p:sp>
        <p:nvSpPr>
          <p:cNvPr id="14" name="Google Shape;1432;p35">
            <a:extLst>
              <a:ext uri="{FF2B5EF4-FFF2-40B4-BE49-F238E27FC236}">
                <a16:creationId xmlns:a16="http://schemas.microsoft.com/office/drawing/2014/main" id="{A659B38C-0D07-8CF3-CEC9-CA867C7F6B36}"/>
              </a:ext>
            </a:extLst>
          </p:cNvPr>
          <p:cNvSpPr txBox="1"/>
          <p:nvPr/>
        </p:nvSpPr>
        <p:spPr>
          <a:xfrm>
            <a:off x="928800" y="5889795"/>
            <a:ext cx="7763680"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*Full message text in speaker notes | No statistically significant (p&lt;.05) difference between waves |</a:t>
            </a:r>
            <a:b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a:t>
            </a:r>
            <a:r>
              <a:rPr kumimoji="0" lang="en-GB"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Messages sorted in decreasing order of Recall for ZENPEP messages</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 Delta since the previous wave are shown as </a:t>
            </a:r>
            <a:r>
              <a:rPr kumimoji="0" lang="en-US" sz="900" b="0" i="0" u="none" strike="noStrike" kern="0" cap="none" spc="0" normalizeH="0" baseline="0" noProof="0">
                <a:ln>
                  <a:noFill/>
                </a:ln>
                <a:solidFill>
                  <a:srgbClr val="00B050"/>
                </a:solidFill>
                <a:effectLst/>
                <a:uLnTx/>
                <a:uFillTx/>
                <a:latin typeface="Arial" panose="020B0604020202020204" pitchFamily="34" charset="0"/>
                <a:ea typeface="Calibri"/>
                <a:cs typeface="Arial" panose="020B0604020202020204" pitchFamily="34" charset="0"/>
                <a:sym typeface="Calibri"/>
              </a:rPr>
              <a:t>+</a:t>
            </a:r>
            <a:r>
              <a:rPr kumimoji="0" lang="en-US" sz="900" b="0" i="0" u="none" strike="noStrike" kern="0" cap="none" spc="0" normalizeH="0" baseline="0" noProof="0" err="1">
                <a:ln>
                  <a:noFill/>
                </a:ln>
                <a:solidFill>
                  <a:srgbClr val="00B050"/>
                </a:solidFill>
                <a:effectLst/>
                <a:uLnTx/>
                <a:uFillTx/>
                <a:latin typeface="Arial" panose="020B0604020202020204" pitchFamily="34" charset="0"/>
                <a:ea typeface="Calibri"/>
                <a:cs typeface="Arial" panose="020B0604020202020204" pitchFamily="34" charset="0"/>
                <a:sym typeface="Calibri"/>
              </a:rPr>
              <a:t>ve</a:t>
            </a:r>
            <a:r>
              <a:rPr kumimoji="0" lang="en-US" sz="900" b="0" i="0" u="none" strike="noStrike" kern="0" cap="none" spc="0" normalizeH="0" baseline="0" noProof="0">
                <a:ln>
                  <a:noFill/>
                </a:ln>
                <a:solidFill>
                  <a:srgbClr val="00B050"/>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a:t>
            </a:r>
            <a:r>
              <a:rPr kumimoji="0" lang="en-US" sz="900" b="0" i="0" u="none" strike="noStrike" kern="0" cap="none" spc="0" normalizeH="0" baseline="0" noProof="0" err="1">
                <a:ln>
                  <a:noFill/>
                </a:ln>
                <a:solidFill>
                  <a:srgbClr val="FF0000"/>
                </a:solidFill>
                <a:effectLst/>
                <a:uLnTx/>
                <a:uFillTx/>
                <a:latin typeface="Arial" panose="020B0604020202020204" pitchFamily="34" charset="0"/>
                <a:ea typeface="Calibri"/>
                <a:cs typeface="Arial" panose="020B0604020202020204" pitchFamily="34" charset="0"/>
                <a:sym typeface="Calibri"/>
              </a:rPr>
              <a:t>ve</a:t>
            </a:r>
            <a:r>
              <a:rPr kumimoji="0" lang="en-US" sz="900" b="0" i="0"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for message recall | **New message added in W32: Z24 | ^Messages Edited in W32: Z11, Z23</a:t>
            </a:r>
          </a:p>
        </p:txBody>
      </p:sp>
      <p:graphicFrame>
        <p:nvGraphicFramePr>
          <p:cNvPr id="6" name="Google Shape;1418;p35">
            <a:extLst>
              <a:ext uri="{FF2B5EF4-FFF2-40B4-BE49-F238E27FC236}">
                <a16:creationId xmlns:a16="http://schemas.microsoft.com/office/drawing/2014/main" id="{D79803E7-44CE-790D-23FC-B4C6649FD03C}"/>
              </a:ext>
            </a:extLst>
          </p:cNvPr>
          <p:cNvGraphicFramePr/>
          <p:nvPr>
            <p:custDataLst>
              <p:tags r:id="rId1"/>
            </p:custDataLst>
            <p:extLst>
              <p:ext uri="{D42A27DB-BD31-4B8C-83A1-F6EECF244321}">
                <p14:modId xmlns:p14="http://schemas.microsoft.com/office/powerpoint/2010/main" val="2849623475"/>
              </p:ext>
            </p:extLst>
          </p:nvPr>
        </p:nvGraphicFramePr>
        <p:xfrm>
          <a:off x="86400" y="1513875"/>
          <a:ext cx="4860000" cy="4687200"/>
        </p:xfrm>
        <a:graphic>
          <a:graphicData uri="http://schemas.openxmlformats.org/drawingml/2006/table">
            <a:tbl>
              <a:tblPr>
                <a:noFill/>
                <a:tableStyleId>{96BACEE3-1A1D-4107-9369-2142449FF59F}</a:tableStyleId>
              </a:tblPr>
              <a:tblGrid>
                <a:gridCol w="360000">
                  <a:extLst>
                    <a:ext uri="{9D8B030D-6E8A-4147-A177-3AD203B41FA5}">
                      <a16:colId xmlns:a16="http://schemas.microsoft.com/office/drawing/2014/main" val="20000"/>
                    </a:ext>
                  </a:extLst>
                </a:gridCol>
                <a:gridCol w="4068000">
                  <a:extLst>
                    <a:ext uri="{9D8B030D-6E8A-4147-A177-3AD203B41FA5}">
                      <a16:colId xmlns:a16="http://schemas.microsoft.com/office/drawing/2014/main" val="20001"/>
                    </a:ext>
                  </a:extLst>
                </a:gridCol>
                <a:gridCol w="432000">
                  <a:extLst>
                    <a:ext uri="{9D8B030D-6E8A-4147-A177-3AD203B41FA5}">
                      <a16:colId xmlns:a16="http://schemas.microsoft.com/office/drawing/2014/main" val="719557685"/>
                    </a:ext>
                  </a:extLst>
                </a:gridCol>
              </a:tblGrid>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Z11</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is now $0 for commercially insured patients</a:t>
                      </a:r>
                      <a:endParaRPr lang="en-GB" sz="900" b="0" i="1"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64%</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0"/>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Z17</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Only ZENPEP offers 40k and 60k lipase-unit capsules, which may help reduce the number of pills your adult patients need to take</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64%</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1"/>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Z16</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offers a single-capsule starting dose for almost all adult patients</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54%</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2"/>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Z21</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can help your patients absorb the fat and nutrients they need and treat uncomfortable GI symptoms</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35%</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Z23</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is the most widely covered treatment in its class.</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34%</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Z15</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When prescribing PERT to your adult patients with EPI -Start simply with one capsule of ZENPEP®</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32%</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Z19</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Meets the ACG guideline for EPI and CP in a single capsule</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30%</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Z7</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has an enteric coating that minimizes degradation and targets enzyme release in the small intestine</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Arial"/>
                          <a:cs typeface="Arial"/>
                          <a:sym typeface="Arial"/>
                        </a:rPr>
                        <a:t>27%</a:t>
                      </a:r>
                      <a:endParaRPr kumimoji="0" lang="en-GB" sz="700" b="0" i="0" u="none" strike="noStrike" kern="1200" cap="none" spc="0" normalizeH="0" baseline="0" noProof="0">
                        <a:ln>
                          <a:noFill/>
                        </a:ln>
                        <a:solidFill>
                          <a:schemeClr val="tx1"/>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Z24</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is designed to mimic typical exocrine pancreatic function.</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26%</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Z18</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In a clinical trial, the right dose helped patients absorb nutrients from their food and provided symptom relief</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21%</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Z22</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Through My SampleCloset, practices are able to easily request samples of Zenpep at any strength</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21%</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mn-lt"/>
                          <a:cs typeface="Arial"/>
                          <a:sym typeface="Arial"/>
                        </a:rPr>
                        <a:t>Z25</a:t>
                      </a:r>
                      <a:endParaRPr lang="en-IN" sz="900" b="1" i="0" u="none" strike="noStrike">
                        <a:solidFill>
                          <a:srgbClr val="071D49"/>
                        </a:solidFill>
                        <a:effectLst/>
                        <a:latin typeface="+mn-lt"/>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n-lt"/>
                          <a:cs typeface="Arial"/>
                          <a:sym typeface="Arial"/>
                        </a:rPr>
                        <a:t>ZENPEP is the fastest growing PERT</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cs typeface="Arial"/>
                        </a:rPr>
                        <a:t>19%</a:t>
                      </a:r>
                      <a:endParaRPr kumimoji="0" lang="en-GB" sz="700" b="0" i="0" u="none" strike="noStrike" kern="1200" cap="none" spc="0" normalizeH="0" baseline="0" noProof="0">
                        <a:ln>
                          <a:noFill/>
                        </a:ln>
                        <a:solidFill>
                          <a:srgbClr val="071D49"/>
                        </a:solidFill>
                        <a:effectLst/>
                        <a:uLnTx/>
                        <a:uFillTx/>
                        <a:latin typeface="Arial" panose="020B0604020202020204" pitchFamily="34" charset="0"/>
                        <a:cs typeface="Arial"/>
                      </a:endParaRP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IN" sz="900" b="1" i="0" u="none" strike="noStrike">
                          <a:solidFill>
                            <a:srgbClr val="071D49"/>
                          </a:solidFill>
                          <a:effectLst/>
                          <a:latin typeface="+mn-lt"/>
                        </a:rPr>
                        <a:t>Z20</a:t>
                      </a:r>
                    </a:p>
                  </a:txBody>
                  <a:tcPr marL="9525" marR="9525" marT="9525"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a:solidFill>
                            <a:srgbClr val="071D49"/>
                          </a:solidFill>
                          <a:effectLst/>
                          <a:latin typeface="+mn-lt"/>
                        </a:rPr>
                        <a:t>91% of patients achieved a CFA of 80% or higher with Zenpep</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pitchFamily="34" charset="0"/>
                          <a:cs typeface="Arial"/>
                        </a:rPr>
                        <a:t>19%</a:t>
                      </a: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4254159043"/>
                  </a:ext>
                </a:extLst>
              </a:tr>
              <a:tr h="3348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IN" sz="900" b="1" i="0" u="none" strike="noStrike">
                          <a:solidFill>
                            <a:srgbClr val="071D49"/>
                          </a:solidFill>
                          <a:effectLst/>
                          <a:latin typeface="+mn-lt"/>
                        </a:rPr>
                        <a:t>Z8</a:t>
                      </a:r>
                    </a:p>
                  </a:txBody>
                  <a:tcPr marL="9525" marR="9525" marT="9525"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a:solidFill>
                            <a:srgbClr val="071D49"/>
                          </a:solidFill>
                          <a:effectLst/>
                          <a:latin typeface="+mn-lt"/>
                        </a:rPr>
                        <a:t>ZENPEP helps fuel nutritional health, increasing coefficient of fat absorption (CFA) by 26 percentage points vs placebo</a:t>
                      </a:r>
                      <a:endParaRPr lang="en-GB" sz="900" b="0" i="0" u="none" strike="noStrike">
                        <a:solidFill>
                          <a:srgbClr val="071D49"/>
                        </a:solidFill>
                        <a:effectLst/>
                        <a:latin typeface="+mn-lt"/>
                      </a:endParaRPr>
                    </a:p>
                  </a:txBody>
                  <a:tcPr marL="85725" marR="9525" marT="9525"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GB" sz="900" b="0" i="0" u="none" strike="noStrike" kern="1200" cap="none" spc="0" normalizeH="0" baseline="0" noProof="0">
                          <a:ln>
                            <a:noFill/>
                          </a:ln>
                          <a:solidFill>
                            <a:srgbClr val="071D49"/>
                          </a:solidFill>
                          <a:effectLst/>
                          <a:uLnTx/>
                          <a:uFillTx/>
                          <a:latin typeface="Arial" panose="020B0604020202020204" pitchFamily="34" charset="0"/>
                          <a:cs typeface="Arial"/>
                        </a:rPr>
                        <a:t>16%</a:t>
                      </a:r>
                    </a:p>
                  </a:txBody>
                  <a:tcPr marL="45720" marR="4572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3396208183"/>
                  </a:ext>
                </a:extLst>
              </a:tr>
            </a:tbl>
          </a:graphicData>
        </a:graphic>
      </p:graphicFrame>
      <p:graphicFrame>
        <p:nvGraphicFramePr>
          <p:cNvPr id="9" name="Motivation">
            <a:extLst>
              <a:ext uri="{FF2B5EF4-FFF2-40B4-BE49-F238E27FC236}">
                <a16:creationId xmlns:a16="http://schemas.microsoft.com/office/drawing/2014/main" id="{5C968E79-E1D5-1BBB-A3D2-F9A8DCB80EF7}"/>
              </a:ext>
            </a:extLst>
          </p:cNvPr>
          <p:cNvGraphicFramePr/>
          <p:nvPr>
            <p:custDataLst>
              <p:tags r:id="rId2"/>
            </p:custDataLst>
            <p:extLst>
              <p:ext uri="{D42A27DB-BD31-4B8C-83A1-F6EECF244321}">
                <p14:modId xmlns:p14="http://schemas.microsoft.com/office/powerpoint/2010/main" val="2619274278"/>
              </p:ext>
            </p:extLst>
          </p:nvPr>
        </p:nvGraphicFramePr>
        <p:xfrm>
          <a:off x="6099931" y="1513875"/>
          <a:ext cx="1080000" cy="438912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 name="Believable">
            <a:extLst>
              <a:ext uri="{FF2B5EF4-FFF2-40B4-BE49-F238E27FC236}">
                <a16:creationId xmlns:a16="http://schemas.microsoft.com/office/drawing/2014/main" id="{7F74F1D0-BE0E-A461-DD04-F50C1D26A8C5}"/>
              </a:ext>
            </a:extLst>
          </p:cNvPr>
          <p:cNvGraphicFramePr/>
          <p:nvPr>
            <p:custDataLst>
              <p:tags r:id="rId3"/>
            </p:custDataLst>
            <p:extLst>
              <p:ext uri="{D42A27DB-BD31-4B8C-83A1-F6EECF244321}">
                <p14:modId xmlns:p14="http://schemas.microsoft.com/office/powerpoint/2010/main" val="1227043645"/>
              </p:ext>
            </p:extLst>
          </p:nvPr>
        </p:nvGraphicFramePr>
        <p:xfrm>
          <a:off x="7076681" y="1513875"/>
          <a:ext cx="1078992" cy="438912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 name="Differentiating">
            <a:extLst>
              <a:ext uri="{FF2B5EF4-FFF2-40B4-BE49-F238E27FC236}">
                <a16:creationId xmlns:a16="http://schemas.microsoft.com/office/drawing/2014/main" id="{ED745DC9-CAF2-B60E-7FDA-E1685D5DE3E6}"/>
              </a:ext>
            </a:extLst>
          </p:cNvPr>
          <p:cNvGraphicFramePr/>
          <p:nvPr>
            <p:custDataLst>
              <p:tags r:id="rId4"/>
            </p:custDataLst>
            <p:extLst>
              <p:ext uri="{D42A27DB-BD31-4B8C-83A1-F6EECF244321}">
                <p14:modId xmlns:p14="http://schemas.microsoft.com/office/powerpoint/2010/main" val="3429564375"/>
              </p:ext>
            </p:extLst>
          </p:nvPr>
        </p:nvGraphicFramePr>
        <p:xfrm>
          <a:off x="8044287" y="1513875"/>
          <a:ext cx="1080000" cy="438912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5" name="ME">
            <a:extLst>
              <a:ext uri="{FF2B5EF4-FFF2-40B4-BE49-F238E27FC236}">
                <a16:creationId xmlns:a16="http://schemas.microsoft.com/office/drawing/2014/main" id="{C1C403C0-500D-597B-DC9E-ACAB797A1F13}"/>
              </a:ext>
            </a:extLst>
          </p:cNvPr>
          <p:cNvGraphicFramePr/>
          <p:nvPr>
            <p:custDataLst>
              <p:tags r:id="rId5"/>
            </p:custDataLst>
            <p:extLst>
              <p:ext uri="{D42A27DB-BD31-4B8C-83A1-F6EECF244321}">
                <p14:modId xmlns:p14="http://schemas.microsoft.com/office/powerpoint/2010/main" val="925323470"/>
              </p:ext>
            </p:extLst>
          </p:nvPr>
        </p:nvGraphicFramePr>
        <p:xfrm>
          <a:off x="5013453" y="1513875"/>
          <a:ext cx="1080000" cy="4389120"/>
        </p:xfrm>
        <a:graphic>
          <a:graphicData uri="http://schemas.openxmlformats.org/drawingml/2006/chart">
            <c:chart xmlns:c="http://schemas.openxmlformats.org/drawingml/2006/chart" xmlns:r="http://schemas.openxmlformats.org/officeDocument/2006/relationships" r:id="rId11"/>
          </a:graphicData>
        </a:graphic>
      </p:graphicFrame>
      <p:cxnSp>
        <p:nvCxnSpPr>
          <p:cNvPr id="22" name="Google Shape;2289;p59">
            <a:extLst>
              <a:ext uri="{FF2B5EF4-FFF2-40B4-BE49-F238E27FC236}">
                <a16:creationId xmlns:a16="http://schemas.microsoft.com/office/drawing/2014/main" id="{3667B67F-813F-0115-8EA0-DA72F9316479}"/>
              </a:ext>
            </a:extLst>
          </p:cNvPr>
          <p:cNvCxnSpPr/>
          <p:nvPr/>
        </p:nvCxnSpPr>
        <p:spPr>
          <a:xfrm>
            <a:off x="5938951" y="1206335"/>
            <a:ext cx="0" cy="457200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24" name="Arrow: Down 23">
            <a:extLst>
              <a:ext uri="{FF2B5EF4-FFF2-40B4-BE49-F238E27FC236}">
                <a16:creationId xmlns:a16="http://schemas.microsoft.com/office/drawing/2014/main" id="{FF750D36-004F-52F0-CF66-2D69FFC80B19}"/>
              </a:ext>
            </a:extLst>
          </p:cNvPr>
          <p:cNvSpPr/>
          <p:nvPr/>
        </p:nvSpPr>
        <p:spPr>
          <a:xfrm>
            <a:off x="1026215" y="6086102"/>
            <a:ext cx="72000" cy="144000"/>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44" name="Google Shape;1433;p35">
            <a:extLst>
              <a:ext uri="{FF2B5EF4-FFF2-40B4-BE49-F238E27FC236}">
                <a16:creationId xmlns:a16="http://schemas.microsoft.com/office/drawing/2014/main" id="{1D1573C6-19AF-40D1-9041-272DCBBF62C1}"/>
              </a:ext>
            </a:extLst>
          </p:cNvPr>
          <p:cNvSpPr/>
          <p:nvPr/>
        </p:nvSpPr>
        <p:spPr>
          <a:xfrm>
            <a:off x="6518473" y="1147630"/>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54" name="Google Shape;5770;p160">
            <a:extLst>
              <a:ext uri="{FF2B5EF4-FFF2-40B4-BE49-F238E27FC236}">
                <a16:creationId xmlns:a16="http://schemas.microsoft.com/office/drawing/2014/main" id="{1C8784AB-F90A-F4F0-FF94-92BA5DDEDBD8}"/>
              </a:ext>
            </a:extLst>
          </p:cNvPr>
          <p:cNvSpPr/>
          <p:nvPr/>
        </p:nvSpPr>
        <p:spPr>
          <a:xfrm>
            <a:off x="5929648"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Motivating</a:t>
            </a:r>
          </a:p>
        </p:txBody>
      </p:sp>
      <p:sp>
        <p:nvSpPr>
          <p:cNvPr id="57" name="Google Shape;5773;p160">
            <a:extLst>
              <a:ext uri="{FF2B5EF4-FFF2-40B4-BE49-F238E27FC236}">
                <a16:creationId xmlns:a16="http://schemas.microsoft.com/office/drawing/2014/main" id="{89DDD9D9-DD6B-1F9F-A8C3-7BBAEC93D04A}"/>
              </a:ext>
            </a:extLst>
          </p:cNvPr>
          <p:cNvSpPr/>
          <p:nvPr/>
        </p:nvSpPr>
        <p:spPr>
          <a:xfrm>
            <a:off x="6896040"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Believable</a:t>
            </a:r>
          </a:p>
        </p:txBody>
      </p:sp>
      <p:sp>
        <p:nvSpPr>
          <p:cNvPr id="78" name="Google Shape;5776;p160">
            <a:extLst>
              <a:ext uri="{FF2B5EF4-FFF2-40B4-BE49-F238E27FC236}">
                <a16:creationId xmlns:a16="http://schemas.microsoft.com/office/drawing/2014/main" id="{B81D889D-79B1-271C-480B-F339086112EE}"/>
              </a:ext>
            </a:extLst>
          </p:cNvPr>
          <p:cNvSpPr/>
          <p:nvPr/>
        </p:nvSpPr>
        <p:spPr>
          <a:xfrm>
            <a:off x="7935584" y="1288473"/>
            <a:ext cx="1036039"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Differentiating</a:t>
            </a:r>
          </a:p>
        </p:txBody>
      </p:sp>
      <p:sp>
        <p:nvSpPr>
          <p:cNvPr id="79" name="Google Shape;5770;p160">
            <a:extLst>
              <a:ext uri="{FF2B5EF4-FFF2-40B4-BE49-F238E27FC236}">
                <a16:creationId xmlns:a16="http://schemas.microsoft.com/office/drawing/2014/main" id="{333F1E5A-9F81-C0EE-3368-CAA1819946AE}"/>
              </a:ext>
            </a:extLst>
          </p:cNvPr>
          <p:cNvSpPr/>
          <p:nvPr/>
        </p:nvSpPr>
        <p:spPr>
          <a:xfrm>
            <a:off x="4900070" y="1288473"/>
            <a:ext cx="979715" cy="257047"/>
          </a:xfrm>
          <a:prstGeom prst="rect">
            <a:avLst/>
          </a:prstGeom>
          <a:noFill/>
          <a:ln>
            <a:noFill/>
          </a:ln>
        </p:spPr>
        <p:txBody>
          <a:bodyPr spcFirstLastPara="1" wrap="square" lIns="68569" tIns="34275" rIns="68569" bIns="34275" anchor="ctr" anchorCtr="0">
            <a:noAutofit/>
          </a:bodyPr>
          <a:lstStyle/>
          <a:p>
            <a:pPr marL="0" marR="0" lvl="0" indent="0" algn="ctr" defTabSz="685783" rtl="0" eaLnBrk="1" fontAlgn="auto" latinLnBrk="0" hangingPunct="1">
              <a:lnSpc>
                <a:spcPct val="100000"/>
              </a:lnSpc>
              <a:spcBef>
                <a:spcPts val="0"/>
              </a:spcBef>
              <a:spcAft>
                <a:spcPts val="0"/>
              </a:spcAft>
              <a:buClrTx/>
              <a:buSzTx/>
              <a:buFont typeface="Arial"/>
              <a:buNone/>
              <a:tabLst/>
              <a:defRPr/>
            </a:pPr>
            <a:r>
              <a:rPr kumimoji="0" lang="en-IN" sz="10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ME</a:t>
            </a:r>
          </a:p>
        </p:txBody>
      </p:sp>
      <p:sp>
        <p:nvSpPr>
          <p:cNvPr id="13" name="Google Shape;1359;p33">
            <a:extLst>
              <a:ext uri="{FF2B5EF4-FFF2-40B4-BE49-F238E27FC236}">
                <a16:creationId xmlns:a16="http://schemas.microsoft.com/office/drawing/2014/main" id="{D6EBCCD3-2F8D-2317-0AFD-DF3ED2A862B7}"/>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ZENPEP’s dosing messages (Z17 and Z16) were the most recalled and effective with highest motivating, believability and differentiating scores; meanwhile access messages (Z11, Z22, Z23) remained less believable</a:t>
            </a:r>
            <a:endParaRPr kumimoji="0" lang="en-US" sz="1400" b="0" i="0" u="none" strike="sng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5" name="Google Shape;1415;p35">
            <a:extLst>
              <a:ext uri="{FF2B5EF4-FFF2-40B4-BE49-F238E27FC236}">
                <a16:creationId xmlns:a16="http://schemas.microsoft.com/office/drawing/2014/main" id="{918F3C43-5B80-AFD8-CD7D-FFA78F17801E}"/>
              </a:ext>
            </a:extLst>
          </p:cNvPr>
          <p:cNvSpPr/>
          <p:nvPr/>
        </p:nvSpPr>
        <p:spPr>
          <a:xfrm>
            <a:off x="432000" y="682911"/>
            <a:ext cx="8280000"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Recall &amp; Message Effectiveness (MBD) – </a:t>
            </a:r>
            <a:r>
              <a:rPr kumimoji="0" lang="en-US" sz="1400" b="1" i="0" u="sng" strike="noStrike" kern="0" cap="none" spc="0" normalizeH="0" baseline="0" noProof="0">
                <a:ln>
                  <a:noFill/>
                </a:ln>
                <a:solidFill>
                  <a:srgbClr val="A58ADA"/>
                </a:solidFill>
                <a:effectLst/>
                <a:uLnTx/>
                <a:uFillTx/>
                <a:latin typeface="Arial" panose="020B0604020202020204" pitchFamily="34" charset="0"/>
                <a:ea typeface="Calibri"/>
                <a:cs typeface="Arial" panose="020B0604020202020204" pitchFamily="34" charset="0"/>
                <a:sym typeface="Calibri"/>
              </a:rPr>
              <a:t>ZENPEP</a:t>
            </a:r>
            <a:endParaRPr kumimoji="0" lang="en-IN" sz="1400" b="0" i="0" u="none" strike="noStrike" kern="0" cap="none" spc="0" normalizeH="0" baseline="0" noProof="0">
              <a:ln>
                <a:noFill/>
              </a:ln>
              <a:solidFill>
                <a:srgbClr val="A58ADA"/>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(MR: Nov’25 – Dec’25: n = 102 | ME: Nov’25 – Dec’25: n = 115: Sep’25 – Oct’25: n = 114)</a:t>
            </a:r>
            <a:endParaRPr kumimoji="0" lang="en-IN"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sp>
        <p:nvSpPr>
          <p:cNvPr id="4" name="TextBox 3">
            <a:extLst>
              <a:ext uri="{FF2B5EF4-FFF2-40B4-BE49-F238E27FC236}">
                <a16:creationId xmlns:a16="http://schemas.microsoft.com/office/drawing/2014/main" id="{1C8EB4E1-6130-A606-29DA-EE5EC01856BB}"/>
              </a:ext>
            </a:extLst>
          </p:cNvPr>
          <p:cNvSpPr txBox="1"/>
          <p:nvPr/>
        </p:nvSpPr>
        <p:spPr>
          <a:xfrm>
            <a:off x="90394" y="1240941"/>
            <a:ext cx="441756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sp>
        <p:nvSpPr>
          <p:cNvPr id="16" name="Arrow: Down 15">
            <a:extLst>
              <a:ext uri="{FF2B5EF4-FFF2-40B4-BE49-F238E27FC236}">
                <a16:creationId xmlns:a16="http://schemas.microsoft.com/office/drawing/2014/main" id="{AA1CEBA0-4AA4-52DA-D139-77C506CA86BA}"/>
              </a:ext>
            </a:extLst>
          </p:cNvPr>
          <p:cNvSpPr/>
          <p:nvPr/>
        </p:nvSpPr>
        <p:spPr>
          <a:xfrm>
            <a:off x="1806325" y="1299231"/>
            <a:ext cx="102637" cy="167951"/>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endParaRPr>
          </a:p>
        </p:txBody>
      </p:sp>
      <p:sp>
        <p:nvSpPr>
          <p:cNvPr id="17" name="TextBox 16">
            <a:extLst>
              <a:ext uri="{FF2B5EF4-FFF2-40B4-BE49-F238E27FC236}">
                <a16:creationId xmlns:a16="http://schemas.microsoft.com/office/drawing/2014/main" id="{22BD7FDC-B554-F189-54F6-3F860590690C}"/>
              </a:ext>
            </a:extLst>
          </p:cNvPr>
          <p:cNvSpPr txBox="1"/>
          <p:nvPr/>
        </p:nvSpPr>
        <p:spPr>
          <a:xfrm>
            <a:off x="4522409" y="1240941"/>
            <a:ext cx="412301" cy="257369"/>
          </a:xfrm>
          <a:prstGeom prst="rect">
            <a:avLst/>
          </a:prstGeom>
          <a:solidFill>
            <a:srgbClr val="071D49"/>
          </a:solidFill>
        </p:spPr>
        <p:txBody>
          <a:bodyPr wrap="square" lIns="0" tIns="36000" rIns="0" bIns="36000"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MR</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pSp>
        <p:nvGrpSpPr>
          <p:cNvPr id="8" name="Group 7">
            <a:extLst>
              <a:ext uri="{FF2B5EF4-FFF2-40B4-BE49-F238E27FC236}">
                <a16:creationId xmlns:a16="http://schemas.microsoft.com/office/drawing/2014/main" id="{8577A640-13B8-67F9-D1C6-49B086981564}"/>
              </a:ext>
            </a:extLst>
          </p:cNvPr>
          <p:cNvGrpSpPr/>
          <p:nvPr/>
        </p:nvGrpSpPr>
        <p:grpSpPr>
          <a:xfrm>
            <a:off x="7822002" y="734745"/>
            <a:ext cx="1321998" cy="230792"/>
            <a:chOff x="7822002" y="734745"/>
            <a:chExt cx="1321998" cy="230792"/>
          </a:xfrm>
        </p:grpSpPr>
        <p:sp>
          <p:nvSpPr>
            <p:cNvPr id="3" name="Google Shape;2335;p60">
              <a:extLst>
                <a:ext uri="{FF2B5EF4-FFF2-40B4-BE49-F238E27FC236}">
                  <a16:creationId xmlns:a16="http://schemas.microsoft.com/office/drawing/2014/main" id="{6293D83E-FCCB-3EB9-F3ED-3F4796F98A81}"/>
                </a:ext>
              </a:extLst>
            </p:cNvPr>
            <p:cNvSpPr txBox="1"/>
            <p:nvPr/>
          </p:nvSpPr>
          <p:spPr>
            <a:xfrm>
              <a:off x="7871917" y="734745"/>
              <a:ext cx="879994"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Mar’26</a:t>
              </a:r>
              <a:endParaRPr kumimoji="0" lang="en-US"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 name="Google Shape;2338;p60">
              <a:extLst>
                <a:ext uri="{FF2B5EF4-FFF2-40B4-BE49-F238E27FC236}">
                  <a16:creationId xmlns:a16="http://schemas.microsoft.com/office/drawing/2014/main" id="{44AF97A2-9F71-E53F-3FB2-ED84A8C8CECA}"/>
                </a:ext>
              </a:extLst>
            </p:cNvPr>
            <p:cNvSpPr txBox="1"/>
            <p:nvPr/>
          </p:nvSpPr>
          <p:spPr>
            <a:xfrm>
              <a:off x="8479189" y="734745"/>
              <a:ext cx="664811" cy="230792"/>
            </a:xfrm>
            <a:prstGeom prst="rect">
              <a:avLst/>
            </a:prstGeom>
            <a:noFill/>
            <a:ln>
              <a:noFill/>
            </a:ln>
          </p:spPr>
          <p:txBody>
            <a:bodyPr spcFirstLastPara="1" wrap="square" lIns="91425" tIns="45700" rIns="91425" bIns="45700" anchor="t" anchorCtr="0">
              <a:spAutoFit/>
            </a:bodyPr>
            <a:lstStyle/>
            <a:p>
              <a:pPr lvl="0">
                <a:buClr>
                  <a:srgbClr val="0B1F65"/>
                </a:buClr>
                <a:buSzPts val="1000"/>
                <a:defRPr/>
              </a:pPr>
              <a:r>
                <a:rPr lang="en-US" sz="900">
                  <a:solidFill>
                    <a:srgbClr val="071D49"/>
                  </a:solidFill>
                  <a:latin typeface="Arial" panose="020B0604020202020204" pitchFamily="34" charset="0"/>
                  <a:cs typeface="Arial" panose="020B0604020202020204" pitchFamily="34" charset="0"/>
                  <a:sym typeface="Calibri"/>
                </a:rPr>
                <a:t>Feb’26</a:t>
              </a:r>
              <a:endParaRPr lang="en-US" sz="900">
                <a:latin typeface="Arial" panose="020B0604020202020204" pitchFamily="34" charset="0"/>
                <a:cs typeface="Arial" panose="020B0604020202020204" pitchFamily="34" charset="0"/>
              </a:endParaRPr>
            </a:p>
          </p:txBody>
        </p:sp>
        <p:sp>
          <p:nvSpPr>
            <p:cNvPr id="27" name="Google Shape;2336;p60">
              <a:extLst>
                <a:ext uri="{FF2B5EF4-FFF2-40B4-BE49-F238E27FC236}">
                  <a16:creationId xmlns:a16="http://schemas.microsoft.com/office/drawing/2014/main" id="{3906C471-7D45-8C9B-EE14-B8006E4B7356}"/>
                </a:ext>
              </a:extLst>
            </p:cNvPr>
            <p:cNvSpPr/>
            <p:nvPr/>
          </p:nvSpPr>
          <p:spPr>
            <a:xfrm>
              <a:off x="7822002" y="804582"/>
              <a:ext cx="90000" cy="91119"/>
            </a:xfrm>
            <a:prstGeom prst="rect">
              <a:avLst/>
            </a:prstGeom>
            <a:solidFill>
              <a:srgbClr val="9778D4"/>
            </a:solidFill>
            <a:ln w="127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28" name="Google Shape;2339;p60">
              <a:extLst>
                <a:ext uri="{FF2B5EF4-FFF2-40B4-BE49-F238E27FC236}">
                  <a16:creationId xmlns:a16="http://schemas.microsoft.com/office/drawing/2014/main" id="{B2D3D254-1E4B-7D1A-3D82-F656029A1BDC}"/>
                </a:ext>
              </a:extLst>
            </p:cNvPr>
            <p:cNvSpPr/>
            <p:nvPr/>
          </p:nvSpPr>
          <p:spPr>
            <a:xfrm>
              <a:off x="8444685" y="804582"/>
              <a:ext cx="90000" cy="91119"/>
            </a:xfrm>
            <a:prstGeom prst="rect">
              <a:avLst/>
            </a:prstGeom>
            <a:solidFill>
              <a:srgbClr val="D3B0FF"/>
            </a:solidFill>
            <a:ln w="12700"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Tree>
    <p:extLst>
      <p:ext uri="{BB962C8B-B14F-4D97-AF65-F5344CB8AC3E}">
        <p14:creationId xmlns:p14="http://schemas.microsoft.com/office/powerpoint/2010/main" val="1734200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322">
          <a:extLst>
            <a:ext uri="{FF2B5EF4-FFF2-40B4-BE49-F238E27FC236}">
              <a16:creationId xmlns:a16="http://schemas.microsoft.com/office/drawing/2014/main" id="{8BD68FD4-60A4-5BCF-17FD-44C9025CDC3A}"/>
            </a:ext>
          </a:extLst>
        </p:cNvPr>
        <p:cNvGrpSpPr/>
        <p:nvPr/>
      </p:nvGrpSpPr>
      <p:grpSpPr>
        <a:xfrm>
          <a:off x="0" y="0"/>
          <a:ext cx="0" cy="0"/>
          <a:chOff x="0" y="0"/>
          <a:chExt cx="0" cy="0"/>
        </a:xfrm>
      </p:grpSpPr>
      <p:graphicFrame>
        <p:nvGraphicFramePr>
          <p:cNvPr id="1326" name="Google Shape;1326;p31">
            <a:extLst>
              <a:ext uri="{FF2B5EF4-FFF2-40B4-BE49-F238E27FC236}">
                <a16:creationId xmlns:a16="http://schemas.microsoft.com/office/drawing/2014/main" id="{8A31659A-BBEE-08FD-91D3-5C11759133DE}"/>
              </a:ext>
            </a:extLst>
          </p:cNvPr>
          <p:cNvGraphicFramePr/>
          <p:nvPr>
            <p:custDataLst>
              <p:tags r:id="rId1"/>
            </p:custDataLst>
            <p:extLst>
              <p:ext uri="{D42A27DB-BD31-4B8C-83A1-F6EECF244321}">
                <p14:modId xmlns:p14="http://schemas.microsoft.com/office/powerpoint/2010/main" val="1725833463"/>
              </p:ext>
            </p:extLst>
          </p:nvPr>
        </p:nvGraphicFramePr>
        <p:xfrm>
          <a:off x="414000" y="1441115"/>
          <a:ext cx="4856896" cy="4365830"/>
        </p:xfrm>
        <a:graphic>
          <a:graphicData uri="http://schemas.openxmlformats.org/drawingml/2006/table">
            <a:tbl>
              <a:tblPr>
                <a:noFill/>
                <a:tableStyleId>{96BACEE3-1A1D-4107-9369-2142449FF59F}</a:tableStyleId>
              </a:tblPr>
              <a:tblGrid>
                <a:gridCol w="2910624">
                  <a:extLst>
                    <a:ext uri="{9D8B030D-6E8A-4147-A177-3AD203B41FA5}">
                      <a16:colId xmlns:a16="http://schemas.microsoft.com/office/drawing/2014/main" val="20000"/>
                    </a:ext>
                  </a:extLst>
                </a:gridCol>
                <a:gridCol w="973136">
                  <a:extLst>
                    <a:ext uri="{9D8B030D-6E8A-4147-A177-3AD203B41FA5}">
                      <a16:colId xmlns:a16="http://schemas.microsoft.com/office/drawing/2014/main" val="20001"/>
                    </a:ext>
                  </a:extLst>
                </a:gridCol>
                <a:gridCol w="973136">
                  <a:extLst>
                    <a:ext uri="{9D8B030D-6E8A-4147-A177-3AD203B41FA5}">
                      <a16:colId xmlns:a16="http://schemas.microsoft.com/office/drawing/2014/main" val="614017571"/>
                    </a:ext>
                  </a:extLst>
                </a:gridCol>
              </a:tblGrid>
              <a:tr h="386273">
                <a:tc rowSpan="2">
                  <a:txBody>
                    <a:bodyPr/>
                    <a:lstStyle/>
                    <a:p>
                      <a:pPr marL="0" marR="0" lvl="0" indent="0" algn="ctr" rtl="0">
                        <a:spcBef>
                          <a:spcPts val="0"/>
                        </a:spcBef>
                        <a:spcAft>
                          <a:spcPts val="0"/>
                        </a:spcAft>
                        <a:buClr>
                          <a:schemeClr val="lt1"/>
                        </a:buClr>
                        <a:buSzPts val="1200"/>
                        <a:buFont typeface="Calibri"/>
                        <a:buNone/>
                      </a:pPr>
                      <a:r>
                        <a:rPr lang="en-US" sz="1200" b="1">
                          <a:solidFill>
                            <a:schemeClr val="lt1"/>
                          </a:solidFill>
                          <a:latin typeface="+mn-lt"/>
                          <a:ea typeface="Calibri"/>
                          <a:cs typeface="Arial" panose="020B0604020202020204" pitchFamily="34" charset="0"/>
                          <a:sym typeface="Calibri"/>
                        </a:rPr>
                        <a:t>Messages recalled</a:t>
                      </a:r>
                      <a:endParaRPr lang="en-US" sz="1600">
                        <a:solidFill>
                          <a:schemeClr val="lt1"/>
                        </a:solidFill>
                        <a:latin typeface="+mn-lt"/>
                        <a:ea typeface="Calibri"/>
                        <a:cs typeface="Arial" panose="020B0604020202020204" pitchFamily="34" charset="0"/>
                        <a:sym typeface="Calibri"/>
                      </a:endParaRPr>
                    </a:p>
                  </a:txBody>
                  <a:tcPr anchor="ctr">
                    <a:lnL w="12700" cap="flat" cmpd="sng">
                      <a:solidFill>
                        <a:schemeClr val="lt1"/>
                      </a:solid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071D49"/>
                    </a:solidFill>
                  </a:tcPr>
                </a:tc>
                <a:tc gridSpan="2">
                  <a:txBody>
                    <a:bodyPr/>
                    <a:lstStyle/>
                    <a:p>
                      <a:pPr marL="0" marR="0" lvl="0" indent="0" algn="ctr" rtl="0">
                        <a:lnSpc>
                          <a:spcPct val="100000"/>
                        </a:lnSpc>
                        <a:spcBef>
                          <a:spcPts val="0"/>
                        </a:spcBef>
                        <a:spcAft>
                          <a:spcPts val="0"/>
                        </a:spcAft>
                        <a:buClr>
                          <a:srgbClr val="FFFFFF"/>
                        </a:buClr>
                        <a:buSzPts val="1000"/>
                        <a:buFont typeface="Calibri"/>
                        <a:buNone/>
                      </a:pPr>
                      <a:r>
                        <a:rPr lang="en-US" sz="1100" b="1" i="0" u="none" strike="noStrike" cap="none">
                          <a:solidFill>
                            <a:srgbClr val="FFFFFF"/>
                          </a:solidFill>
                          <a:latin typeface="+mn-lt"/>
                          <a:ea typeface="Calibri"/>
                          <a:cs typeface="Arial" panose="020B0604020202020204" pitchFamily="34" charset="0"/>
                          <a:sym typeface="Calibri"/>
                        </a:rPr>
                        <a:t>CREON</a:t>
                      </a:r>
                      <a:br>
                        <a:rPr lang="en-US" sz="1100" b="0" i="0" u="none" strike="noStrike" cap="none">
                          <a:solidFill>
                            <a:srgbClr val="FFFFFF"/>
                          </a:solidFill>
                          <a:latin typeface="+mn-lt"/>
                          <a:ea typeface="Calibri"/>
                          <a:cs typeface="Arial" panose="020B0604020202020204" pitchFamily="34" charset="0"/>
                          <a:sym typeface="Calibri"/>
                        </a:rPr>
                      </a:br>
                      <a:r>
                        <a:rPr lang="en-US" sz="1100" b="0" i="0" u="none" strike="noStrike" cap="none">
                          <a:solidFill>
                            <a:srgbClr val="FFFFFF"/>
                          </a:solidFill>
                          <a:latin typeface="+mn-lt"/>
                          <a:ea typeface="Calibri"/>
                          <a:cs typeface="Arial" panose="020B0604020202020204" pitchFamily="34" charset="0"/>
                          <a:sym typeface="Calibri"/>
                        </a:rPr>
                        <a:t> (%  of interactions)</a:t>
                      </a:r>
                      <a:endParaRPr lang="en-US" sz="1600">
                        <a:latin typeface="+mn-lt"/>
                        <a:ea typeface="Calibri"/>
                        <a:cs typeface="Arial" panose="020B0604020202020204" pitchFamily="34" charset="0"/>
                        <a:sym typeface="Calibri"/>
                      </a:endParaRPr>
                    </a:p>
                  </a:txBody>
                  <a:tcPr marL="91451" marR="91451" marT="45725" marB="457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6729C"/>
                    </a:solidFill>
                  </a:tcPr>
                </a:tc>
                <a:tc hMerge="1">
                  <a:txBody>
                    <a:bodyPr/>
                    <a:lstStyle/>
                    <a:p>
                      <a:endParaRPr lang="en-US"/>
                    </a:p>
                  </a:txBody>
                  <a:tcPr/>
                </a:tc>
                <a:extLst>
                  <a:ext uri="{0D108BD9-81ED-4DB2-BD59-A6C34878D82A}">
                    <a16:rowId xmlns:a16="http://schemas.microsoft.com/office/drawing/2014/main" val="10000"/>
                  </a:ext>
                </a:extLst>
              </a:tr>
              <a:tr h="689766">
                <a:tc vMerge="1">
                  <a:txBody>
                    <a:bodyPr/>
                    <a:lstStyle/>
                    <a:p>
                      <a:endParaRPr lang="en-US"/>
                    </a:p>
                  </a:txBody>
                  <a:tcPr/>
                </a:tc>
                <a:tc>
                  <a:txBody>
                    <a:bodyPr/>
                    <a:lstStyle/>
                    <a:p>
                      <a:pPr marL="0" marR="0" lvl="0" indent="0" algn="ctr" rtl="0">
                        <a:lnSpc>
                          <a:spcPct val="100000"/>
                        </a:lnSpc>
                        <a:spcBef>
                          <a:spcPts val="0"/>
                        </a:spcBef>
                        <a:spcAft>
                          <a:spcPts val="0"/>
                        </a:spcAft>
                        <a:buClr>
                          <a:schemeClr val="lt1"/>
                        </a:buClr>
                        <a:buSzPts val="1000"/>
                        <a:buFont typeface="Calibri"/>
                        <a:buNone/>
                      </a:pPr>
                      <a:r>
                        <a:rPr lang="en-US" sz="1100" b="1">
                          <a:solidFill>
                            <a:schemeClr val="lt1"/>
                          </a:solidFill>
                          <a:latin typeface="+mn-lt"/>
                          <a:ea typeface="Calibri"/>
                          <a:cs typeface="Arial" panose="020B0604020202020204" pitchFamily="34" charset="0"/>
                          <a:sym typeface="Calibri"/>
                        </a:rPr>
                        <a:t>Mar’26 Total^</a:t>
                      </a:r>
                      <a:endParaRPr lang="en-US" sz="1500">
                        <a:latin typeface="+mn-lt"/>
                        <a:cs typeface="Arial" panose="020B0604020202020204" pitchFamily="34" charset="0"/>
                      </a:endParaRPr>
                    </a:p>
                    <a:p>
                      <a:pPr marL="0" marR="0" lvl="0" indent="0" algn="ctr" rtl="0">
                        <a:lnSpc>
                          <a:spcPct val="100000"/>
                        </a:lnSpc>
                        <a:spcBef>
                          <a:spcPts val="0"/>
                        </a:spcBef>
                        <a:spcAft>
                          <a:spcPts val="0"/>
                        </a:spcAft>
                        <a:buClr>
                          <a:schemeClr val="lt1"/>
                        </a:buClr>
                        <a:buSzPts val="1000"/>
                        <a:buFont typeface="Calibri"/>
                        <a:buNone/>
                      </a:pPr>
                      <a:r>
                        <a:rPr lang="en-US" sz="1100" b="0">
                          <a:solidFill>
                            <a:schemeClr val="lt1"/>
                          </a:solidFill>
                          <a:latin typeface="+mn-lt"/>
                          <a:ea typeface="Calibri"/>
                          <a:cs typeface="Arial" panose="020B0604020202020204" pitchFamily="34" charset="0"/>
                          <a:sym typeface="Calibri"/>
                        </a:rPr>
                        <a:t>(n = 160)</a:t>
                      </a:r>
                    </a:p>
                  </a:txBody>
                  <a:tcPr marL="91451" marR="91451" marT="45725" marB="45725"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bg1"/>
                      </a:solidFill>
                      <a:prstDash val="solid"/>
                      <a:round/>
                      <a:headEnd type="none" w="med" len="med"/>
                      <a:tailEnd type="none" w="med" len="med"/>
                    </a:lnT>
                    <a:lnB w="12700" cap="flat" cmpd="sng" algn="ctr">
                      <a:solidFill>
                        <a:schemeClr val="lt1"/>
                      </a:solidFill>
                      <a:prstDash val="solid"/>
                      <a:round/>
                      <a:headEnd type="none" w="sm" len="sm"/>
                      <a:tailEnd type="none" w="sm" len="sm"/>
                    </a:lnB>
                    <a:solidFill>
                      <a:srgbClr val="071D49"/>
                    </a:solidFill>
                  </a:tcPr>
                </a:tc>
                <a:tc>
                  <a:txBody>
                    <a:bodyPr/>
                    <a:lstStyle/>
                    <a:p>
                      <a:pPr marL="0" marR="0" lvl="0" indent="0" algn="ctr" defTabSz="914400" rtl="0" eaLnBrk="1" fontAlgn="auto" latinLnBrk="0" hangingPunct="1">
                        <a:lnSpc>
                          <a:spcPct val="100000"/>
                        </a:lnSpc>
                        <a:spcBef>
                          <a:spcPts val="0"/>
                        </a:spcBef>
                        <a:spcAft>
                          <a:spcPts val="0"/>
                        </a:spcAft>
                        <a:buClr>
                          <a:schemeClr val="lt1"/>
                        </a:buClr>
                        <a:buSzPts val="1000"/>
                        <a:buFont typeface="Calibri"/>
                        <a:buNone/>
                        <a:tabLst/>
                        <a:defRPr/>
                      </a:pPr>
                      <a:r>
                        <a:rPr lang="en-US" sz="1100" i="1">
                          <a:solidFill>
                            <a:schemeClr val="bg1"/>
                          </a:solidFill>
                          <a:latin typeface="+mn-lt"/>
                          <a:cs typeface="Arial" panose="020B0604020202020204" pitchFamily="34" charset="0"/>
                        </a:rPr>
                        <a:t>Delta since </a:t>
                      </a:r>
                    </a:p>
                    <a:p>
                      <a:pPr marL="0" marR="0" lvl="0" indent="0" algn="ctr" defTabSz="914400" rtl="0" eaLnBrk="1" fontAlgn="auto" latinLnBrk="0" hangingPunct="1">
                        <a:lnSpc>
                          <a:spcPct val="100000"/>
                        </a:lnSpc>
                        <a:spcBef>
                          <a:spcPts val="0"/>
                        </a:spcBef>
                        <a:spcAft>
                          <a:spcPts val="0"/>
                        </a:spcAft>
                        <a:buClr>
                          <a:schemeClr val="lt1"/>
                        </a:buClr>
                        <a:buSzPts val="1000"/>
                        <a:buFont typeface="Calibri"/>
                        <a:buNone/>
                        <a:tabLst/>
                        <a:defRPr/>
                      </a:pPr>
                      <a:r>
                        <a:rPr lang="en-US" sz="1000" i="1">
                          <a:solidFill>
                            <a:schemeClr val="bg1"/>
                          </a:solidFill>
                          <a:latin typeface="+mn-lt"/>
                          <a:cs typeface="Arial" panose="020B0604020202020204" pitchFamily="34" charset="0"/>
                        </a:rPr>
                        <a:t>Feb’26</a:t>
                      </a:r>
                      <a:endParaRPr lang="en-IN" sz="1000" i="1">
                        <a:solidFill>
                          <a:schemeClr val="bg1"/>
                        </a:solidFill>
                        <a:latin typeface="+mn-lt"/>
                        <a:cs typeface="Arial" panose="020B0604020202020204" pitchFamily="34" charset="0"/>
                      </a:endParaRPr>
                    </a:p>
                  </a:txBody>
                  <a:tcPr marL="0" marR="0" marT="0" marB="45725" anchor="ctr">
                    <a:lnL w="12700" cap="flat" cmpd="sng" algn="ctr">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bg1"/>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solidFill>
                      <a:srgbClr val="071D49"/>
                    </a:solidFill>
                  </a:tcPr>
                </a:tc>
                <a:extLst>
                  <a:ext uri="{0D108BD9-81ED-4DB2-BD59-A6C34878D82A}">
                    <a16:rowId xmlns:a16="http://schemas.microsoft.com/office/drawing/2014/main" val="10001"/>
                  </a:ext>
                </a:extLst>
              </a:tr>
              <a:tr h="295394">
                <a:tc>
                  <a:txBody>
                    <a:bodyPr/>
                    <a:lstStyle/>
                    <a:p>
                      <a:pPr algn="l" fontAlgn="b">
                        <a:buNone/>
                      </a:pPr>
                      <a:r>
                        <a:rPr lang="en-IN" sz="1100" b="0" i="0" u="none" strike="noStrike" kern="1200">
                          <a:solidFill>
                            <a:srgbClr val="071D49"/>
                          </a:solidFill>
                          <a:effectLst/>
                          <a:latin typeface="+mn-lt"/>
                          <a:cs typeface="Arial"/>
                        </a:rPr>
                        <a:t>Dosing / Administration</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42%</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00B050"/>
                          </a:solidFill>
                          <a:effectLst/>
                          <a:uLnTx/>
                          <a:uFillTx/>
                          <a:latin typeface="+mn-lt"/>
                          <a:ea typeface="Arial"/>
                          <a:cs typeface="Arial"/>
                        </a:rPr>
                        <a:t>+</a:t>
                      </a:r>
                      <a:r>
                        <a:rPr lang="en-IN" sz="1100" b="0" i="0" u="none" strike="noStrike">
                          <a:solidFill>
                            <a:srgbClr val="00B050"/>
                          </a:solidFill>
                          <a:effectLst/>
                          <a:latin typeface="+mn-lt"/>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58050678"/>
                  </a:ext>
                </a:extLst>
              </a:tr>
              <a:tr h="295394">
                <a:tc>
                  <a:txBody>
                    <a:bodyPr/>
                    <a:lstStyle/>
                    <a:p>
                      <a:pPr algn="l" fontAlgn="b">
                        <a:buNone/>
                      </a:pPr>
                      <a:r>
                        <a:rPr lang="en-IN" sz="1100" b="0" i="0" u="none" strike="noStrike" kern="1200">
                          <a:solidFill>
                            <a:srgbClr val="071D49"/>
                          </a:solidFill>
                          <a:effectLst/>
                          <a:latin typeface="+mn-lt"/>
                          <a:cs typeface="Arial"/>
                        </a:rPr>
                        <a:t>Strong efficacy / symptom control</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36%</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-3%</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2"/>
                  </a:ext>
                </a:extLst>
              </a:tr>
              <a:tr h="295394">
                <a:tc>
                  <a:txBody>
                    <a:bodyPr/>
                    <a:lstStyle/>
                    <a:p>
                      <a:pPr algn="l" fontAlgn="b">
                        <a:buNone/>
                      </a:pPr>
                      <a:r>
                        <a:rPr lang="en-IN" sz="1100" b="0" i="0" u="none" strike="noStrike" kern="1200">
                          <a:solidFill>
                            <a:srgbClr val="071D49"/>
                          </a:solidFill>
                          <a:effectLst/>
                          <a:latin typeface="+mn-lt"/>
                          <a:cs typeface="Arial"/>
                        </a:rPr>
                        <a:t>Good insurance coverage / Affordable</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31%</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-2%</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4"/>
                  </a:ext>
                </a:extLst>
              </a:tr>
              <a:tr h="295394">
                <a:tc>
                  <a:txBody>
                    <a:bodyPr/>
                    <a:lstStyle/>
                    <a:p>
                      <a:pPr algn="l" fontAlgn="b">
                        <a:buNone/>
                      </a:pPr>
                      <a:r>
                        <a:rPr lang="en-IN" sz="1100" b="0" i="0" u="none" strike="noStrike" kern="1200">
                          <a:solidFill>
                            <a:srgbClr val="071D49"/>
                          </a:solidFill>
                          <a:effectLst/>
                          <a:latin typeface="+mn-lt"/>
                          <a:cs typeface="Arial"/>
                        </a:rPr>
                        <a:t>Good insurance coverage</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29%</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-3%</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7"/>
                  </a:ext>
                </a:extLst>
              </a:tr>
              <a:tr h="295394">
                <a:tc>
                  <a:txBody>
                    <a:bodyPr/>
                    <a:lstStyle/>
                    <a:p>
                      <a:pPr algn="l" fontAlgn="b">
                        <a:buNone/>
                      </a:pPr>
                      <a:r>
                        <a:rPr lang="en-IN" sz="1100" b="0" i="0" u="none" strike="noStrike" kern="1200">
                          <a:solidFill>
                            <a:srgbClr val="071D49"/>
                          </a:solidFill>
                          <a:effectLst/>
                          <a:latin typeface="+mn-lt"/>
                          <a:cs typeface="Arial"/>
                        </a:rPr>
                        <a:t>Used for EPI</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29%</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chemeClr val="bg2">
                              <a:lumMod val="10000"/>
                            </a:schemeClr>
                          </a:solidFill>
                          <a:effectLst/>
                          <a:uLnTx/>
                          <a:uFillTx/>
                          <a:latin typeface="+mn-lt"/>
                          <a:cs typeface="Arial"/>
                        </a:rPr>
                        <a:t>-</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9"/>
                  </a:ext>
                </a:extLst>
              </a:tr>
              <a:tr h="295394">
                <a:tc>
                  <a:txBody>
                    <a:bodyPr/>
                    <a:lstStyle/>
                    <a:p>
                      <a:pPr algn="l" fontAlgn="b">
                        <a:buNone/>
                      </a:pPr>
                      <a:r>
                        <a:rPr lang="en-IN" sz="1100" b="0" i="0" u="none" strike="noStrike" kern="1200">
                          <a:solidFill>
                            <a:srgbClr val="071D49"/>
                          </a:solidFill>
                          <a:effectLst/>
                          <a:latin typeface="+mn-lt"/>
                          <a:cs typeface="Arial"/>
                        </a:rPr>
                        <a:t>Minimal side effects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14%</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00B050"/>
                          </a:solidFill>
                          <a:effectLst/>
                          <a:uLnTx/>
                          <a:uFillTx/>
                          <a:latin typeface="+mn-lt"/>
                          <a:cs typeface="Arial"/>
                        </a:rPr>
                        <a:t>+2%</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0"/>
                  </a:ext>
                </a:extLst>
              </a:tr>
              <a:tr h="295394">
                <a:tc>
                  <a:txBody>
                    <a:bodyPr/>
                    <a:lstStyle/>
                    <a:p>
                      <a:pPr algn="l" fontAlgn="b">
                        <a:buNone/>
                      </a:pPr>
                      <a:r>
                        <a:rPr lang="en-IN" sz="1100" b="0" i="0" u="none" strike="noStrike" kern="1200">
                          <a:solidFill>
                            <a:srgbClr val="071D49"/>
                          </a:solidFill>
                          <a:effectLst/>
                          <a:latin typeface="+mn-lt"/>
                          <a:cs typeface="Arial"/>
                        </a:rPr>
                        <a:t>Improvement of symptoms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14%</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1"/>
                  </a:ext>
                </a:extLst>
              </a:tr>
              <a:tr h="295394">
                <a:tc>
                  <a:txBody>
                    <a:bodyPr/>
                    <a:lstStyle/>
                    <a:p>
                      <a:pPr algn="l" fontAlgn="b">
                        <a:buNone/>
                      </a:pPr>
                      <a:r>
                        <a:rPr lang="en-IN" sz="1100" b="0" i="0" u="none" strike="noStrike" kern="1200">
                          <a:solidFill>
                            <a:srgbClr val="071D49"/>
                          </a:solidFill>
                          <a:effectLst/>
                          <a:latin typeface="+mn-lt"/>
                          <a:cs typeface="Arial"/>
                        </a:rPr>
                        <a:t>General Efficacy</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14%</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518403652"/>
                  </a:ext>
                </a:extLst>
              </a:tr>
              <a:tr h="295394">
                <a:tc>
                  <a:txBody>
                    <a:bodyPr/>
                    <a:lstStyle/>
                    <a:p>
                      <a:pPr algn="l" fontAlgn="b">
                        <a:buNone/>
                      </a:pPr>
                      <a:r>
                        <a:rPr lang="en-US" sz="1100" b="0" i="0" u="none" strike="noStrike" kern="1200">
                          <a:solidFill>
                            <a:srgbClr val="071D49"/>
                          </a:solidFill>
                          <a:effectLst/>
                          <a:latin typeface="+mn-lt"/>
                          <a:cs typeface="Arial"/>
                        </a:rPr>
                        <a:t>Oldest drug / Long track record / Leader</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14%</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chemeClr val="bg2">
                              <a:lumMod val="10000"/>
                            </a:schemeClr>
                          </a:solidFill>
                          <a:effectLst/>
                          <a:uLnTx/>
                          <a:uFillTx/>
                          <a:latin typeface="+mn-lt"/>
                          <a:cs typeface="Arial"/>
                        </a:rPr>
                        <a:t>-</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2"/>
                  </a:ext>
                </a:extLst>
              </a:tr>
              <a:tr h="295394">
                <a:tc>
                  <a:txBody>
                    <a:bodyPr/>
                    <a:lstStyle/>
                    <a:p>
                      <a:pPr algn="l" fontAlgn="b">
                        <a:buNone/>
                      </a:pPr>
                      <a:r>
                        <a:rPr lang="en-IN" sz="1100" b="0" i="0" u="none" strike="noStrike" kern="1200">
                          <a:solidFill>
                            <a:srgbClr val="071D49"/>
                          </a:solidFill>
                          <a:effectLst/>
                          <a:latin typeface="+mn-lt"/>
                          <a:cs typeface="Arial"/>
                        </a:rPr>
                        <a:t>Rx assistance / product access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12%</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a:solidFill>
                            <a:srgbClr val="00B050"/>
                          </a:solidFill>
                          <a:effectLst/>
                          <a:latin typeface="+mn-lt"/>
                        </a:rPr>
                        <a:t>+2%</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3"/>
                  </a:ext>
                </a:extLst>
              </a:tr>
              <a:tr h="295394">
                <a:tc>
                  <a:txBody>
                    <a:bodyPr/>
                    <a:lstStyle/>
                    <a:p>
                      <a:pPr algn="l" fontAlgn="b">
                        <a:buNone/>
                      </a:pPr>
                      <a:r>
                        <a:rPr lang="en-IN" sz="1100" b="0" i="0" u="none" strike="noStrike" kern="1200">
                          <a:solidFill>
                            <a:srgbClr val="071D49"/>
                          </a:solidFill>
                          <a:effectLst/>
                          <a:latin typeface="+mn-lt"/>
                          <a:cs typeface="Arial"/>
                        </a:rPr>
                        <a:t>Market Leader</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11%</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a:solidFill>
                            <a:srgbClr val="00B050"/>
                          </a:solidFill>
                          <a:effectLst/>
                          <a:latin typeface="+mn-lt"/>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2685350493"/>
                  </a:ext>
                </a:extLst>
              </a:tr>
            </a:tbl>
          </a:graphicData>
        </a:graphic>
      </p:graphicFrame>
      <p:sp>
        <p:nvSpPr>
          <p:cNvPr id="1323" name="Google Shape;1323;p31">
            <a:extLst>
              <a:ext uri="{FF2B5EF4-FFF2-40B4-BE49-F238E27FC236}">
                <a16:creationId xmlns:a16="http://schemas.microsoft.com/office/drawing/2014/main" id="{4FC1CAF4-37A6-44F5-1AEA-7FF0AB009F03}"/>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Unaided: Message Recall – </a:t>
            </a:r>
            <a:r>
              <a:rPr kumimoji="0" lang="en-US" sz="1400" b="1" i="0" u="sng" strike="noStrike" kern="0" cap="none" spc="0" normalizeH="0" baseline="0" noProof="0">
                <a:ln>
                  <a:noFill/>
                </a:ln>
                <a:solidFill>
                  <a:srgbClr val="36729C"/>
                </a:solidFill>
                <a:effectLst/>
                <a:uLnTx/>
                <a:uFillTx/>
                <a:latin typeface="Roboto (Body)"/>
                <a:ea typeface="Calibri"/>
                <a:cs typeface="Arial" panose="020B0604020202020204" pitchFamily="34" charset="0"/>
                <a:sym typeface="Calibri"/>
              </a:rPr>
              <a:t>CREON</a:t>
            </a:r>
            <a:endParaRPr kumimoji="0" lang="en-US" sz="1400" b="0" i="0" u="none" strike="noStrike" kern="0" cap="none" spc="0" normalizeH="0" baseline="0" noProof="0">
              <a:ln>
                <a:noFill/>
              </a:ln>
              <a:solidFill>
                <a:srgbClr val="000000"/>
              </a:solidFill>
              <a:effectLst/>
              <a:uLnTx/>
              <a:uFillTx/>
              <a:latin typeface="Roboto (Body)"/>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a:t>
            </a:r>
            <a:r>
              <a:rPr kumimoji="0" lang="en-IN"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Mar’26 </a:t>
            </a:r>
            <a:r>
              <a:rPr kumimoji="0" lang="en-US"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vs. </a:t>
            </a:r>
            <a:r>
              <a:rPr kumimoji="0" lang="en-IN"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Feb’26</a:t>
            </a:r>
            <a:r>
              <a:rPr kumimoji="0" lang="en-US"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a:t>
            </a:r>
            <a:endParaRPr kumimoji="0" lang="en-US" sz="1000" b="0" i="0" u="sng" strike="noStrike" kern="0" cap="none" spc="0" normalizeH="0" baseline="30000" noProof="0">
              <a:ln>
                <a:noFill/>
              </a:ln>
              <a:solidFill>
                <a:srgbClr val="36729C"/>
              </a:solidFill>
              <a:effectLst/>
              <a:uLnTx/>
              <a:uFillTx/>
              <a:latin typeface="Roboto (Body)"/>
              <a:ea typeface="Calibri"/>
              <a:cs typeface="Arial" panose="020B0604020202020204" pitchFamily="34" charset="0"/>
              <a:sym typeface="Calibri"/>
            </a:endParaRPr>
          </a:p>
        </p:txBody>
      </p:sp>
      <p:sp>
        <p:nvSpPr>
          <p:cNvPr id="22" name="Google Shape;1747;p45">
            <a:extLst>
              <a:ext uri="{FF2B5EF4-FFF2-40B4-BE49-F238E27FC236}">
                <a16:creationId xmlns:a16="http://schemas.microsoft.com/office/drawing/2014/main" id="{8DC5F74F-61EF-1823-19A7-F155E9D4A872}"/>
              </a:ext>
            </a:extLst>
          </p:cNvPr>
          <p:cNvSpPr/>
          <p:nvPr/>
        </p:nvSpPr>
        <p:spPr>
          <a:xfrm>
            <a:off x="0" y="1091507"/>
            <a:ext cx="1368000" cy="188655"/>
          </a:xfrm>
          <a:prstGeom prst="homePlat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900"/>
              <a:buFont typeface="Arial"/>
              <a:buNone/>
              <a:tabLst/>
              <a:defRPr/>
            </a:pPr>
            <a:r>
              <a:rPr kumimoji="0" lang="en-US" sz="1051" b="1" i="0" u="none" strike="noStrike" kern="0" cap="none" spc="0" normalizeH="0" baseline="0" noProof="0">
                <a:ln>
                  <a:noFill/>
                </a:ln>
                <a:solidFill>
                  <a:prstClr val="white"/>
                </a:solidFill>
                <a:effectLst/>
                <a:uLnTx/>
                <a:uFillTx/>
                <a:latin typeface="Roboto (Body)"/>
                <a:cs typeface="Arial" panose="020B0604020202020204" pitchFamily="34" charset="0"/>
                <a:sym typeface="Calibri"/>
              </a:rPr>
              <a:t>Unaided</a:t>
            </a:r>
            <a:endParaRPr kumimoji="0" lang="en-US" sz="1051" b="1" i="0" u="none" strike="noStrike" kern="0" cap="none" spc="0" normalizeH="0" baseline="0" noProof="0">
              <a:ln>
                <a:noFill/>
              </a:ln>
              <a:solidFill>
                <a:prstClr val="white"/>
              </a:solidFill>
              <a:effectLst/>
              <a:uLnTx/>
              <a:uFillTx/>
              <a:latin typeface="Roboto (Body)"/>
              <a:cs typeface="Arial" panose="020B0604020202020204" pitchFamily="34" charset="0"/>
              <a:sym typeface="Arial"/>
            </a:endParaRPr>
          </a:p>
        </p:txBody>
      </p:sp>
      <p:sp>
        <p:nvSpPr>
          <p:cNvPr id="4" name="Google Shape;297;p8">
            <a:extLst>
              <a:ext uri="{FF2B5EF4-FFF2-40B4-BE49-F238E27FC236}">
                <a16:creationId xmlns:a16="http://schemas.microsoft.com/office/drawing/2014/main" id="{27E059B7-4CCE-9EFA-BF0C-7DFA9AD65B68}"/>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sngStrike" kern="0" cap="none" spc="0" normalizeH="0" baseline="0" noProof="0">
                <a:ln>
                  <a:noFill/>
                </a:ln>
                <a:solidFill>
                  <a:srgbClr val="071D49"/>
                </a:solidFill>
                <a:effectLst/>
                <a:uLnTx/>
                <a:uFillTx/>
                <a:latin typeface="Roboto (Body)"/>
                <a:sym typeface="Arial"/>
              </a:rPr>
              <a:t>While unaided recall of dosing messages for CREON declined, they remained the most recalled this wave; recall of insurance coverage and efficacy showed slight improvement</a:t>
            </a:r>
          </a:p>
        </p:txBody>
      </p:sp>
      <p:sp>
        <p:nvSpPr>
          <p:cNvPr id="12" name="Google Shape;2465;p63">
            <a:extLst>
              <a:ext uri="{FF2B5EF4-FFF2-40B4-BE49-F238E27FC236}">
                <a16:creationId xmlns:a16="http://schemas.microsoft.com/office/drawing/2014/main" id="{9017459C-DDDF-14C4-1C92-8A7BA0EB492F}"/>
              </a:ext>
            </a:extLst>
          </p:cNvPr>
          <p:cNvSpPr/>
          <p:nvPr/>
        </p:nvSpPr>
        <p:spPr>
          <a:xfrm>
            <a:off x="5473297" y="1966721"/>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Roboto (Body)"/>
              <a:ea typeface="Calibri"/>
              <a:cs typeface="Arial" panose="020B0604020202020204" pitchFamily="34" charset="0"/>
              <a:sym typeface="Calibri"/>
            </a:endParaRPr>
          </a:p>
        </p:txBody>
      </p:sp>
      <p:sp>
        <p:nvSpPr>
          <p:cNvPr id="7" name="Google Shape;2465;p63">
            <a:extLst>
              <a:ext uri="{FF2B5EF4-FFF2-40B4-BE49-F238E27FC236}">
                <a16:creationId xmlns:a16="http://schemas.microsoft.com/office/drawing/2014/main" id="{6F406DE3-0739-D2BF-3D72-500DA9E246E6}"/>
              </a:ext>
            </a:extLst>
          </p:cNvPr>
          <p:cNvSpPr/>
          <p:nvPr/>
        </p:nvSpPr>
        <p:spPr>
          <a:xfrm>
            <a:off x="5678610" y="1746215"/>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Roboto (Body)"/>
              <a:ea typeface="Calibri"/>
              <a:cs typeface="Arial" panose="020B0604020202020204" pitchFamily="34" charset="0"/>
              <a:sym typeface="Calibri"/>
            </a:endParaRPr>
          </a:p>
        </p:txBody>
      </p:sp>
      <p:cxnSp>
        <p:nvCxnSpPr>
          <p:cNvPr id="10" name="Google Shape;2466;p63">
            <a:extLst>
              <a:ext uri="{FF2B5EF4-FFF2-40B4-BE49-F238E27FC236}">
                <a16:creationId xmlns:a16="http://schemas.microsoft.com/office/drawing/2014/main" id="{B29C74B2-9E7F-EA21-E6D6-BADCE8D236E6}"/>
              </a:ext>
            </a:extLst>
          </p:cNvPr>
          <p:cNvCxnSpPr/>
          <p:nvPr/>
        </p:nvCxnSpPr>
        <p:spPr>
          <a:xfrm>
            <a:off x="5740628" y="1867544"/>
            <a:ext cx="3192243" cy="0"/>
          </a:xfrm>
          <a:prstGeom prst="straightConnector1">
            <a:avLst/>
          </a:prstGeom>
          <a:noFill/>
          <a:ln w="19050" cap="rnd" cmpd="sng">
            <a:solidFill>
              <a:srgbClr val="787474"/>
            </a:solidFill>
            <a:prstDash val="solid"/>
            <a:round/>
            <a:headEnd type="none" w="sm" len="sm"/>
            <a:tailEnd type="none" w="sm" len="sm"/>
          </a:ln>
        </p:spPr>
      </p:cxnSp>
      <p:sp>
        <p:nvSpPr>
          <p:cNvPr id="11" name="Google Shape;2467;p63">
            <a:extLst>
              <a:ext uri="{FF2B5EF4-FFF2-40B4-BE49-F238E27FC236}">
                <a16:creationId xmlns:a16="http://schemas.microsoft.com/office/drawing/2014/main" id="{F99CA2B9-025A-4209-FC63-741663B952A1}"/>
              </a:ext>
            </a:extLst>
          </p:cNvPr>
          <p:cNvSpPr/>
          <p:nvPr/>
        </p:nvSpPr>
        <p:spPr>
          <a:xfrm>
            <a:off x="5640475" y="1580950"/>
            <a:ext cx="3470065" cy="286595"/>
          </a:xfrm>
          <a:prstGeom prst="rect">
            <a:avLst/>
          </a:prstGeom>
          <a:noFill/>
          <a:ln>
            <a:noFill/>
          </a:ln>
        </p:spPr>
        <p:txBody>
          <a:bodyPr spcFirstLastPara="1" wrap="square" lIns="91425" tIns="83100" rIns="91425" bIns="831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1" b="1" i="0" u="none" strike="noStrike" kern="0" cap="none" spc="0" normalizeH="0" baseline="0" noProof="0">
                <a:ln>
                  <a:noFill/>
                </a:ln>
                <a:solidFill>
                  <a:srgbClr val="071D49"/>
                </a:solidFill>
                <a:effectLst/>
                <a:uLnTx/>
                <a:uFillTx/>
                <a:latin typeface="Roboto (Body)"/>
                <a:cs typeface="Arial" panose="020B0604020202020204" pitchFamily="34" charset="0"/>
                <a:sym typeface="Arial"/>
              </a:rPr>
              <a:t>Unaided responses</a:t>
            </a:r>
          </a:p>
        </p:txBody>
      </p:sp>
      <p:pic>
        <p:nvPicPr>
          <p:cNvPr id="32" name="Picture 2">
            <a:extLst>
              <a:ext uri="{FF2B5EF4-FFF2-40B4-BE49-F238E27FC236}">
                <a16:creationId xmlns:a16="http://schemas.microsoft.com/office/drawing/2014/main" id="{186C1D96-303B-502F-CA13-9D01059F556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55427" y="1556977"/>
            <a:ext cx="254300" cy="29248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4" name="Table 33">
            <a:extLst>
              <a:ext uri="{FF2B5EF4-FFF2-40B4-BE49-F238E27FC236}">
                <a16:creationId xmlns:a16="http://schemas.microsoft.com/office/drawing/2014/main" id="{23C3B0DB-0FC2-60C1-4DDE-0E5B57528A1E}"/>
              </a:ext>
            </a:extLst>
          </p:cNvPr>
          <p:cNvGraphicFramePr>
            <a:graphicFrameLocks noGrp="1"/>
          </p:cNvGraphicFramePr>
          <p:nvPr>
            <p:custDataLst>
              <p:tags r:id="rId2"/>
            </p:custDataLst>
            <p:extLst>
              <p:ext uri="{D42A27DB-BD31-4B8C-83A1-F6EECF244321}">
                <p14:modId xmlns:p14="http://schemas.microsoft.com/office/powerpoint/2010/main" val="3013206998"/>
              </p:ext>
            </p:extLst>
          </p:nvPr>
        </p:nvGraphicFramePr>
        <p:xfrm>
          <a:off x="5455427" y="2016000"/>
          <a:ext cx="3515773" cy="3817479"/>
        </p:xfrm>
        <a:graphic>
          <a:graphicData uri="http://schemas.openxmlformats.org/drawingml/2006/table">
            <a:tbl>
              <a:tblPr firstRow="1" bandRow="1">
                <a:tableStyleId>{96BACEE3-1A1D-4107-9369-2142449FF59F}</a:tableStyleId>
              </a:tblPr>
              <a:tblGrid>
                <a:gridCol w="3515773">
                  <a:extLst>
                    <a:ext uri="{9D8B030D-6E8A-4147-A177-3AD203B41FA5}">
                      <a16:colId xmlns:a16="http://schemas.microsoft.com/office/drawing/2014/main" val="4062741633"/>
                    </a:ext>
                  </a:extLst>
                </a:gridCol>
              </a:tblGrid>
              <a:tr h="731520">
                <a:tc>
                  <a:txBody>
                    <a:bodyPr/>
                    <a:lstStyle/>
                    <a:p>
                      <a:pPr marL="171450" marR="0" indent="-171450" algn="l" rtl="0">
                        <a:lnSpc>
                          <a:spcPct val="100000"/>
                        </a:lnSpc>
                        <a:spcBef>
                          <a:spcPts val="0"/>
                        </a:spcBef>
                        <a:spcAft>
                          <a:spcPts val="0"/>
                        </a:spcAft>
                        <a:buClrTx/>
                        <a:buFont typeface="Arial" panose="020B0604020202020204" pitchFamily="34" charset="0"/>
                        <a:buChar char="•"/>
                        <a:defRPr/>
                      </a:pPr>
                      <a:r>
                        <a:rPr kumimoji="0" lang="en-US" sz="1000" b="0" i="1" u="none" strike="noStrike" kern="1200" cap="none" spc="0" normalizeH="0" baseline="0">
                          <a:ln>
                            <a:noFill/>
                          </a:ln>
                          <a:solidFill>
                            <a:srgbClr val="000000"/>
                          </a:solidFill>
                          <a:effectLst/>
                          <a:uLnTx/>
                          <a:uFillTx/>
                          <a:latin typeface="+mn-lt"/>
                          <a:ea typeface="+mn-ea"/>
                          <a:cs typeface="Calibri" panose="020F0502020204030204" pitchFamily="34" charset="0"/>
                          <a:sym typeface="Arial"/>
                        </a:rPr>
                        <a:t>“CREON is a medication that contains pancreatic lipase and a combination of enzymes that can help digest fats, proteins, and sugars. And it helps to replace those enzymes when the body does not have. It's available in different strengths”</a:t>
                      </a:r>
                      <a:endParaRPr kumimoji="0" lang="en-US" sz="1000" b="0" i="1" u="none" strike="noStrike" kern="1200" cap="none" spc="0" normalizeH="0" baseline="0">
                        <a:ln>
                          <a:noFill/>
                        </a:ln>
                        <a:solidFill>
                          <a:srgbClr val="000000"/>
                        </a:solidFill>
                        <a:effectLst/>
                        <a:highlight>
                          <a:srgbClr val="FFFF00"/>
                        </a:highlight>
                        <a:uLnTx/>
                        <a:uFillTx/>
                        <a:latin typeface="+mn-lt"/>
                        <a:ea typeface="+mn-ea"/>
                        <a:cs typeface="Calibri" panose="020F0502020204030204" pitchFamily="34" charset="0"/>
                        <a:sym typeface="Arial"/>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71879465"/>
                  </a:ext>
                </a:extLst>
              </a:tr>
              <a:tr h="731520">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noProof="0">
                          <a:ln>
                            <a:noFill/>
                          </a:ln>
                          <a:solidFill>
                            <a:srgbClr val="000000"/>
                          </a:solidFill>
                          <a:effectLst/>
                          <a:uLnTx/>
                          <a:uFillTx/>
                          <a:latin typeface="+mn-lt"/>
                          <a:ea typeface="+mn-ea"/>
                          <a:cs typeface="Calibri" panose="020F0502020204030204" pitchFamily="34" charset="0"/>
                          <a:sym typeface="Calibri"/>
                        </a:rPr>
                        <a:t>“The overall improvement in coverage. Also, they had emphasized more use of the higher dose to try to achieve better efficacy, since many patients are under-dosed.”</a:t>
                      </a:r>
                      <a:endParaRPr kumimoji="0" lang="en-US" sz="1000" b="0" i="1" u="none" strike="noStrike" kern="1200" cap="none" spc="0" normalizeH="0" baseline="0" noProof="0">
                        <a:ln>
                          <a:noFill/>
                        </a:ln>
                        <a:solidFill>
                          <a:srgbClr val="000000"/>
                        </a:solidFill>
                        <a:effectLst/>
                        <a:highlight>
                          <a:srgbClr val="FFFF00"/>
                        </a:highlight>
                        <a:uLnTx/>
                        <a:uFillTx/>
                        <a:latin typeface="+mn-lt"/>
                        <a:ea typeface="+mn-ea"/>
                        <a:cs typeface="Calibri" panose="020F0502020204030204" pitchFamily="34" charset="0"/>
                        <a:sym typeface="Calibri"/>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855684948"/>
                  </a:ext>
                </a:extLst>
              </a:tr>
              <a:tr h="731520">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a:ln>
                            <a:noFill/>
                          </a:ln>
                          <a:solidFill>
                            <a:srgbClr val="000000"/>
                          </a:solidFill>
                          <a:effectLst/>
                          <a:uLnTx/>
                          <a:uFillTx/>
                          <a:latin typeface="+mn-lt"/>
                          <a:ea typeface="+mn-ea"/>
                          <a:cs typeface="Calibri" panose="020F0502020204030204" pitchFamily="34" charset="0"/>
                          <a:sym typeface="Arial"/>
                        </a:rPr>
                        <a:t>“It is most widely prescribed by GI specialists. It is in simple dosing, most indications approved, and it has been widely covered by plans. It has copay assistance.”</a:t>
                      </a:r>
                      <a:endParaRPr kumimoji="0" lang="en-IN" sz="1000" b="0" i="1" u="none" strike="noStrike" kern="1200" cap="none" spc="0" normalizeH="0" baseline="0">
                        <a:ln>
                          <a:noFill/>
                        </a:ln>
                        <a:solidFill>
                          <a:srgbClr val="000000"/>
                        </a:solidFill>
                        <a:effectLst/>
                        <a:highlight>
                          <a:srgbClr val="FFFF00"/>
                        </a:highlight>
                        <a:uLnTx/>
                        <a:uFillTx/>
                        <a:latin typeface="+mn-lt"/>
                        <a:ea typeface="+mn-ea"/>
                        <a:cs typeface="Calibri" panose="020F0502020204030204" pitchFamily="34" charset="0"/>
                        <a:sym typeface="Arial"/>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92321109"/>
                  </a:ext>
                </a:extLst>
              </a:tr>
              <a:tr h="891399">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a:ln>
                            <a:noFill/>
                          </a:ln>
                          <a:solidFill>
                            <a:srgbClr val="000000"/>
                          </a:solidFill>
                          <a:effectLst/>
                          <a:uLnTx/>
                          <a:uFillTx/>
                          <a:latin typeface="+mn-lt"/>
                          <a:ea typeface="Arial"/>
                          <a:cs typeface="Calibri" panose="020F0502020204030204" pitchFamily="34" charset="0"/>
                          <a:sym typeface="Arial"/>
                        </a:rPr>
                        <a:t>“We talked about the dosages and coverages within our state for this medication, as well as the dosages and administration.”</a:t>
                      </a:r>
                      <a:endParaRPr kumimoji="0" lang="en-IN" sz="1000" b="0" i="1" u="none" strike="noStrike" kern="1200" cap="none" spc="0" normalizeH="0" baseline="0">
                        <a:ln>
                          <a:noFill/>
                        </a:ln>
                        <a:solidFill>
                          <a:srgbClr val="000000"/>
                        </a:solidFill>
                        <a:effectLst/>
                        <a:uLnTx/>
                        <a:uFillTx/>
                        <a:latin typeface="+mn-lt"/>
                        <a:ea typeface="+mn-ea"/>
                        <a:cs typeface="Calibri" panose="020F0502020204030204" pitchFamily="34" charset="0"/>
                        <a:sym typeface="Arial"/>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659610436"/>
                  </a:ext>
                </a:extLst>
              </a:tr>
              <a:tr h="731520">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a:ln>
                            <a:noFill/>
                          </a:ln>
                          <a:solidFill>
                            <a:srgbClr val="000000"/>
                          </a:solidFill>
                          <a:effectLst/>
                          <a:uLnTx/>
                          <a:uFillTx/>
                          <a:latin typeface="+mn-lt"/>
                          <a:ea typeface="+mn-ea"/>
                          <a:cs typeface="Calibri" panose="020F0502020204030204" pitchFamily="34" charset="0"/>
                          <a:sym typeface="Arial"/>
                        </a:rPr>
                        <a:t>“It is the most prescribed pancreatic enzyme replacement therapy. It has the best coverage, it's easiest to get, and he also gives me tons of samples. So, he says he wants to make sure all my patients can receive it.”</a:t>
                      </a:r>
                      <a:endParaRPr kumimoji="0" lang="en-IN" sz="1000" b="0" i="1" u="none" strike="noStrike" kern="1200" cap="none" spc="0" normalizeH="0" baseline="0">
                        <a:ln>
                          <a:noFill/>
                        </a:ln>
                        <a:solidFill>
                          <a:srgbClr val="000000"/>
                        </a:solidFill>
                        <a:effectLst/>
                        <a:uLnTx/>
                        <a:uFillTx/>
                        <a:latin typeface="+mn-lt"/>
                        <a:ea typeface="+mn-ea"/>
                        <a:cs typeface="Calibri" panose="020F0502020204030204" pitchFamily="34" charset="0"/>
                        <a:sym typeface="Arial"/>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805446219"/>
                  </a:ext>
                </a:extLst>
              </a:tr>
            </a:tbl>
          </a:graphicData>
        </a:graphic>
      </p:graphicFrame>
      <p:sp>
        <p:nvSpPr>
          <p:cNvPr id="3" name="Google Shape;1498;p37">
            <a:extLst>
              <a:ext uri="{FF2B5EF4-FFF2-40B4-BE49-F238E27FC236}">
                <a16:creationId xmlns:a16="http://schemas.microsoft.com/office/drawing/2014/main" id="{2A9B8FC1-688A-35B0-4408-EB881217C310}"/>
              </a:ext>
            </a:extLst>
          </p:cNvPr>
          <p:cNvSpPr txBox="1"/>
          <p:nvPr/>
        </p:nvSpPr>
        <p:spPr>
          <a:xfrm>
            <a:off x="263257" y="5975686"/>
            <a:ext cx="8637937"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Roboto (Body)"/>
                <a:ea typeface="Calibri"/>
                <a:cs typeface="Arial" panose="020B0604020202020204" pitchFamily="34" charset="0"/>
                <a:sym typeface="Calibri"/>
              </a:rPr>
              <a:t>Question text in speaker notes | n - No. of HCPs | ^Local OLs removed | </a:t>
            </a:r>
            <a:r>
              <a:rPr kumimoji="0" lang="en-US" sz="900" b="0" i="0" u="none"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Note: Table may sum to &gt;100%</a:t>
            </a:r>
            <a:endParaRPr kumimoji="0" lang="en-US" sz="1400" b="0" i="0" u="none" strike="noStrike" kern="0" cap="none" spc="0" normalizeH="0" baseline="0" noProof="0">
              <a:ln>
                <a:noFill/>
              </a:ln>
              <a:solidFill>
                <a:srgbClr val="001D49"/>
              </a:solidFill>
              <a:effectLst/>
              <a:uLnTx/>
              <a:uFillTx/>
              <a:latin typeface="Roboto (Body)"/>
              <a:cs typeface="Arial" panose="020B0604020202020204" pitchFamily="34" charset="0"/>
              <a:sym typeface="Arial"/>
            </a:endParaRPr>
          </a:p>
        </p:txBody>
      </p:sp>
      <p:sp>
        <p:nvSpPr>
          <p:cNvPr id="5" name="Highlight#32">
            <a:extLst>
              <a:ext uri="{FF2B5EF4-FFF2-40B4-BE49-F238E27FC236}">
                <a16:creationId xmlns:a16="http://schemas.microsoft.com/office/drawing/2014/main" id="{ABA60723-C5C2-E0B2-B9D6-20CC617F7837}"/>
              </a:ext>
            </a:extLst>
          </p:cNvPr>
          <p:cNvSpPr txBox="1"/>
          <p:nvPr/>
        </p:nvSpPr>
        <p:spPr>
          <a:xfrm>
            <a:off x="414000" y="2821577"/>
            <a:ext cx="4856896" cy="607423"/>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Roboto (Body)"/>
              <a:cs typeface="Arial" panose="020B0604020202020204" pitchFamily="34" charset="0"/>
              <a:sym typeface="Arial"/>
            </a:endParaRPr>
          </a:p>
        </p:txBody>
      </p:sp>
    </p:spTree>
    <p:extLst>
      <p:ext uri="{BB962C8B-B14F-4D97-AF65-F5344CB8AC3E}">
        <p14:creationId xmlns:p14="http://schemas.microsoft.com/office/powerpoint/2010/main" val="42928944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322">
          <a:extLst>
            <a:ext uri="{FF2B5EF4-FFF2-40B4-BE49-F238E27FC236}">
              <a16:creationId xmlns:a16="http://schemas.microsoft.com/office/drawing/2014/main" id="{198891B4-7BEA-E187-C6B8-6637BC21839F}"/>
            </a:ext>
          </a:extLst>
        </p:cNvPr>
        <p:cNvGrpSpPr/>
        <p:nvPr/>
      </p:nvGrpSpPr>
      <p:grpSpPr>
        <a:xfrm>
          <a:off x="0" y="0"/>
          <a:ext cx="0" cy="0"/>
          <a:chOff x="0" y="0"/>
          <a:chExt cx="0" cy="0"/>
        </a:xfrm>
      </p:grpSpPr>
      <p:graphicFrame>
        <p:nvGraphicFramePr>
          <p:cNvPr id="3" name="Google Shape;1326;p31">
            <a:extLst>
              <a:ext uri="{FF2B5EF4-FFF2-40B4-BE49-F238E27FC236}">
                <a16:creationId xmlns:a16="http://schemas.microsoft.com/office/drawing/2014/main" id="{33A51E0E-8A5C-98F1-ED55-A9941229574F}"/>
              </a:ext>
            </a:extLst>
          </p:cNvPr>
          <p:cNvGraphicFramePr/>
          <p:nvPr>
            <p:custDataLst>
              <p:tags r:id="rId1"/>
            </p:custDataLst>
            <p:extLst>
              <p:ext uri="{D42A27DB-BD31-4B8C-83A1-F6EECF244321}">
                <p14:modId xmlns:p14="http://schemas.microsoft.com/office/powerpoint/2010/main" val="4102952798"/>
              </p:ext>
            </p:extLst>
          </p:nvPr>
        </p:nvGraphicFramePr>
        <p:xfrm>
          <a:off x="414000" y="1441115"/>
          <a:ext cx="4856896" cy="4331218"/>
        </p:xfrm>
        <a:graphic>
          <a:graphicData uri="http://schemas.openxmlformats.org/drawingml/2006/table">
            <a:tbl>
              <a:tblPr>
                <a:noFill/>
                <a:tableStyleId>{96BACEE3-1A1D-4107-9369-2142449FF59F}</a:tableStyleId>
              </a:tblPr>
              <a:tblGrid>
                <a:gridCol w="2910624">
                  <a:extLst>
                    <a:ext uri="{9D8B030D-6E8A-4147-A177-3AD203B41FA5}">
                      <a16:colId xmlns:a16="http://schemas.microsoft.com/office/drawing/2014/main" val="20000"/>
                    </a:ext>
                  </a:extLst>
                </a:gridCol>
                <a:gridCol w="973136">
                  <a:extLst>
                    <a:ext uri="{9D8B030D-6E8A-4147-A177-3AD203B41FA5}">
                      <a16:colId xmlns:a16="http://schemas.microsoft.com/office/drawing/2014/main" val="20001"/>
                    </a:ext>
                  </a:extLst>
                </a:gridCol>
                <a:gridCol w="973136">
                  <a:extLst>
                    <a:ext uri="{9D8B030D-6E8A-4147-A177-3AD203B41FA5}">
                      <a16:colId xmlns:a16="http://schemas.microsoft.com/office/drawing/2014/main" val="614017571"/>
                    </a:ext>
                  </a:extLst>
                </a:gridCol>
              </a:tblGrid>
              <a:tr h="419648">
                <a:tc rowSpan="2">
                  <a:txBody>
                    <a:bodyPr/>
                    <a:lstStyle/>
                    <a:p>
                      <a:pPr marL="0" marR="0" lvl="0" indent="0" algn="ctr" rtl="0">
                        <a:spcBef>
                          <a:spcPts val="0"/>
                        </a:spcBef>
                        <a:spcAft>
                          <a:spcPts val="0"/>
                        </a:spcAft>
                        <a:buClr>
                          <a:schemeClr val="lt1"/>
                        </a:buClr>
                        <a:buSzPts val="1200"/>
                        <a:buFont typeface="Calibri"/>
                        <a:buNone/>
                      </a:pPr>
                      <a:r>
                        <a:rPr lang="en-US" sz="1200" b="1">
                          <a:solidFill>
                            <a:schemeClr val="lt1"/>
                          </a:solidFill>
                          <a:latin typeface="+mn-lt"/>
                          <a:ea typeface="Calibri"/>
                          <a:cs typeface="Calibri" panose="020F0502020204030204" pitchFamily="34" charset="0"/>
                          <a:sym typeface="Calibri"/>
                        </a:rPr>
                        <a:t>Messages recalled</a:t>
                      </a:r>
                      <a:endParaRPr lang="en-US" sz="1600">
                        <a:solidFill>
                          <a:schemeClr val="lt1"/>
                        </a:solidFill>
                        <a:latin typeface="+mn-lt"/>
                        <a:ea typeface="Calibri"/>
                        <a:cs typeface="Calibri" panose="020F0502020204030204" pitchFamily="34" charset="0"/>
                        <a:sym typeface="Calibri"/>
                      </a:endParaRPr>
                    </a:p>
                  </a:txBody>
                  <a:tcPr anchor="ctr">
                    <a:lnL w="12700" cap="flat" cmpd="sng">
                      <a:solidFill>
                        <a:schemeClr val="lt1"/>
                      </a:solid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071D49"/>
                    </a:solidFill>
                  </a:tcPr>
                </a:tc>
                <a:tc gridSpan="2">
                  <a:txBody>
                    <a:bodyPr/>
                    <a:lstStyle/>
                    <a:p>
                      <a:pPr marL="0" marR="0" lvl="0" indent="0" algn="ctr" rtl="0">
                        <a:lnSpc>
                          <a:spcPct val="100000"/>
                        </a:lnSpc>
                        <a:spcBef>
                          <a:spcPts val="0"/>
                        </a:spcBef>
                        <a:spcAft>
                          <a:spcPts val="0"/>
                        </a:spcAft>
                        <a:buClr>
                          <a:srgbClr val="FFFFFF"/>
                        </a:buClr>
                        <a:buSzPts val="1000"/>
                        <a:buFont typeface="Calibri"/>
                        <a:buNone/>
                      </a:pPr>
                      <a:r>
                        <a:rPr lang="en-US" sz="1100" b="1" i="0" u="none" strike="noStrike" cap="none">
                          <a:solidFill>
                            <a:srgbClr val="FFFFFF"/>
                          </a:solidFill>
                          <a:latin typeface="+mn-lt"/>
                          <a:ea typeface="Calibri"/>
                          <a:cs typeface="Calibri" panose="020F0502020204030204" pitchFamily="34" charset="0"/>
                          <a:sym typeface="Calibri"/>
                        </a:rPr>
                        <a:t>ZENPEP</a:t>
                      </a:r>
                      <a:br>
                        <a:rPr lang="en-US" sz="1100" b="0" i="0" u="none" strike="noStrike" cap="none">
                          <a:solidFill>
                            <a:srgbClr val="FFFFFF"/>
                          </a:solidFill>
                          <a:latin typeface="+mn-lt"/>
                          <a:ea typeface="Calibri"/>
                          <a:cs typeface="Calibri" panose="020F0502020204030204" pitchFamily="34" charset="0"/>
                          <a:sym typeface="Calibri"/>
                        </a:rPr>
                      </a:br>
                      <a:r>
                        <a:rPr lang="en-US" sz="1100" b="0" i="0" u="none" strike="noStrike" cap="none">
                          <a:solidFill>
                            <a:srgbClr val="FFFFFF"/>
                          </a:solidFill>
                          <a:latin typeface="+mn-lt"/>
                          <a:ea typeface="Calibri"/>
                          <a:cs typeface="Calibri" panose="020F0502020204030204" pitchFamily="34" charset="0"/>
                          <a:sym typeface="Calibri"/>
                        </a:rPr>
                        <a:t> (%  of interactions)</a:t>
                      </a:r>
                      <a:endParaRPr lang="en-US" sz="1600">
                        <a:latin typeface="+mn-lt"/>
                        <a:ea typeface="Calibri"/>
                        <a:cs typeface="Calibri" panose="020F0502020204030204" pitchFamily="34" charset="0"/>
                        <a:sym typeface="Calibri"/>
                      </a:endParaRPr>
                    </a:p>
                  </a:txBody>
                  <a:tcPr marL="91451" marR="91451" marT="45725" marB="457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778D4"/>
                    </a:solidFill>
                  </a:tcPr>
                </a:tc>
                <a:tc hMerge="1">
                  <a:txBody>
                    <a:bodyPr/>
                    <a:lstStyle/>
                    <a:p>
                      <a:endParaRPr lang="en-US"/>
                    </a:p>
                  </a:txBody>
                  <a:tcPr/>
                </a:tc>
                <a:extLst>
                  <a:ext uri="{0D108BD9-81ED-4DB2-BD59-A6C34878D82A}">
                    <a16:rowId xmlns:a16="http://schemas.microsoft.com/office/drawing/2014/main" val="10000"/>
                  </a:ext>
                </a:extLst>
              </a:tr>
              <a:tr h="685800">
                <a:tc vMerge="1">
                  <a:txBody>
                    <a:bodyPr/>
                    <a:lstStyle/>
                    <a:p>
                      <a:endParaRPr lang="en-US"/>
                    </a:p>
                  </a:txBody>
                  <a:tcPr/>
                </a:tc>
                <a:tc>
                  <a:txBody>
                    <a:bodyPr/>
                    <a:lstStyle/>
                    <a:p>
                      <a:pPr marL="0" marR="0" lvl="0" indent="0" algn="ctr" rtl="0">
                        <a:lnSpc>
                          <a:spcPct val="100000"/>
                        </a:lnSpc>
                        <a:spcBef>
                          <a:spcPts val="0"/>
                        </a:spcBef>
                        <a:spcAft>
                          <a:spcPts val="0"/>
                        </a:spcAft>
                        <a:buClr>
                          <a:schemeClr val="lt1"/>
                        </a:buClr>
                        <a:buSzPts val="1000"/>
                        <a:buFont typeface="Calibri"/>
                        <a:buNone/>
                      </a:pPr>
                      <a:r>
                        <a:rPr lang="en-US" sz="1100" b="1">
                          <a:solidFill>
                            <a:schemeClr val="lt1"/>
                          </a:solidFill>
                          <a:latin typeface="+mn-lt"/>
                          <a:ea typeface="Calibri"/>
                          <a:cs typeface="Arial" panose="020B0604020202020204" pitchFamily="34" charset="0"/>
                          <a:sym typeface="Calibri"/>
                        </a:rPr>
                        <a:t>Mar’26 Total^</a:t>
                      </a:r>
                      <a:endParaRPr lang="en-US" sz="1500">
                        <a:latin typeface="+mn-lt"/>
                        <a:cs typeface="Arial" panose="020B0604020202020204" pitchFamily="34" charset="0"/>
                      </a:endParaRPr>
                    </a:p>
                    <a:p>
                      <a:pPr marL="0" marR="0" lvl="0" indent="0" algn="ctr" rtl="0">
                        <a:lnSpc>
                          <a:spcPct val="100000"/>
                        </a:lnSpc>
                        <a:spcBef>
                          <a:spcPts val="0"/>
                        </a:spcBef>
                        <a:spcAft>
                          <a:spcPts val="0"/>
                        </a:spcAft>
                        <a:buClr>
                          <a:schemeClr val="lt1"/>
                        </a:buClr>
                        <a:buSzPts val="1000"/>
                        <a:buFont typeface="Calibri"/>
                        <a:buNone/>
                      </a:pPr>
                      <a:r>
                        <a:rPr lang="en-US" sz="1100" b="0">
                          <a:solidFill>
                            <a:schemeClr val="lt1"/>
                          </a:solidFill>
                          <a:latin typeface="+mn-lt"/>
                          <a:ea typeface="Calibri"/>
                          <a:cs typeface="Arial" panose="020B0604020202020204" pitchFamily="34" charset="0"/>
                          <a:sym typeface="Calibri"/>
                        </a:rPr>
                        <a:t>(n = 155)</a:t>
                      </a:r>
                    </a:p>
                  </a:txBody>
                  <a:tcPr marL="91451" marR="91451" marT="45725" marB="45725"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bg1"/>
                      </a:solidFill>
                      <a:prstDash val="solid"/>
                      <a:round/>
                      <a:headEnd type="none" w="med" len="med"/>
                      <a:tailEnd type="none" w="med" len="med"/>
                    </a:lnT>
                    <a:lnB w="12700" cap="flat" cmpd="sng" algn="ctr">
                      <a:solidFill>
                        <a:schemeClr val="lt1"/>
                      </a:solidFill>
                      <a:prstDash val="solid"/>
                      <a:round/>
                      <a:headEnd type="none" w="sm" len="sm"/>
                      <a:tailEnd type="none" w="sm" len="sm"/>
                    </a:lnB>
                    <a:solidFill>
                      <a:srgbClr val="071D49"/>
                    </a:solidFill>
                  </a:tcPr>
                </a:tc>
                <a:tc>
                  <a:txBody>
                    <a:bodyPr/>
                    <a:lstStyle/>
                    <a:p>
                      <a:pPr marL="0" marR="0" lvl="0" indent="0" algn="ctr" defTabSz="914400" rtl="0" eaLnBrk="1" fontAlgn="auto" latinLnBrk="0" hangingPunct="1">
                        <a:lnSpc>
                          <a:spcPct val="100000"/>
                        </a:lnSpc>
                        <a:spcBef>
                          <a:spcPts val="0"/>
                        </a:spcBef>
                        <a:spcAft>
                          <a:spcPts val="0"/>
                        </a:spcAft>
                        <a:buClr>
                          <a:schemeClr val="lt1"/>
                        </a:buClr>
                        <a:buSzPts val="1000"/>
                        <a:buFont typeface="Calibri"/>
                        <a:buNone/>
                        <a:tabLst/>
                        <a:defRPr/>
                      </a:pPr>
                      <a:r>
                        <a:rPr lang="en-US" sz="1100" i="1">
                          <a:solidFill>
                            <a:schemeClr val="bg1"/>
                          </a:solidFill>
                          <a:latin typeface="+mn-lt"/>
                          <a:cs typeface="Arial" panose="020B0604020202020204" pitchFamily="34" charset="0"/>
                        </a:rPr>
                        <a:t>Delta since </a:t>
                      </a:r>
                    </a:p>
                    <a:p>
                      <a:pPr marL="0" marR="0" lvl="0" indent="0" algn="ctr" defTabSz="914400" rtl="0" eaLnBrk="1" fontAlgn="auto" latinLnBrk="0" hangingPunct="1">
                        <a:lnSpc>
                          <a:spcPct val="100000"/>
                        </a:lnSpc>
                        <a:spcBef>
                          <a:spcPts val="0"/>
                        </a:spcBef>
                        <a:spcAft>
                          <a:spcPts val="0"/>
                        </a:spcAft>
                        <a:buClr>
                          <a:schemeClr val="lt1"/>
                        </a:buClr>
                        <a:buSzPts val="1000"/>
                        <a:buFont typeface="Calibri"/>
                        <a:buNone/>
                        <a:tabLst/>
                        <a:defRPr/>
                      </a:pPr>
                      <a:r>
                        <a:rPr lang="en-US" sz="1000" i="1">
                          <a:solidFill>
                            <a:schemeClr val="bg1"/>
                          </a:solidFill>
                          <a:latin typeface="+mn-lt"/>
                          <a:cs typeface="Arial" panose="020B0604020202020204" pitchFamily="34" charset="0"/>
                        </a:rPr>
                        <a:t>Feb’26</a:t>
                      </a:r>
                      <a:endParaRPr lang="en-IN" sz="1000" i="1">
                        <a:solidFill>
                          <a:schemeClr val="bg1"/>
                        </a:solidFill>
                        <a:latin typeface="+mn-lt"/>
                        <a:cs typeface="Arial" panose="020B0604020202020204" pitchFamily="34" charset="0"/>
                      </a:endParaRPr>
                    </a:p>
                  </a:txBody>
                  <a:tcPr marL="0" marR="0" marT="0" marB="45725" anchor="ctr">
                    <a:lnL w="12700" cap="flat" cmpd="sng" algn="ctr">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bg1"/>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solidFill>
                      <a:srgbClr val="071D49"/>
                    </a:solidFill>
                  </a:tcPr>
                </a:tc>
                <a:extLst>
                  <a:ext uri="{0D108BD9-81ED-4DB2-BD59-A6C34878D82A}">
                    <a16:rowId xmlns:a16="http://schemas.microsoft.com/office/drawing/2014/main" val="10001"/>
                  </a:ext>
                </a:extLst>
              </a:tr>
              <a:tr h="292608">
                <a:tc>
                  <a:txBody>
                    <a:bodyPr/>
                    <a:lstStyle/>
                    <a:p>
                      <a:pPr algn="l" fontAlgn="b">
                        <a:buNone/>
                      </a:pPr>
                      <a:r>
                        <a:rPr lang="en-US" sz="1100" b="0" i="0" u="none" strike="noStrike" kern="1200">
                          <a:solidFill>
                            <a:srgbClr val="071D49"/>
                          </a:solidFill>
                          <a:effectLst/>
                          <a:latin typeface="+mn-lt"/>
                          <a:cs typeface="Arial"/>
                        </a:rPr>
                        <a:t>Formulary coverage/Insurance coverage</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34%</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-2%</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58050678"/>
                  </a:ext>
                </a:extLst>
              </a:tr>
              <a:tr h="292608">
                <a:tc>
                  <a:txBody>
                    <a:bodyPr/>
                    <a:lstStyle/>
                    <a:p>
                      <a:pPr algn="l" fontAlgn="b">
                        <a:buNone/>
                      </a:pPr>
                      <a:r>
                        <a:rPr lang="en-IN" sz="1100" b="0" i="0" u="none" strike="noStrike" kern="1200">
                          <a:solidFill>
                            <a:srgbClr val="071D49"/>
                          </a:solidFill>
                          <a:effectLst/>
                          <a:latin typeface="+mn-lt"/>
                          <a:cs typeface="Arial"/>
                        </a:rPr>
                        <a:t>Flexible / Multiple dosing</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33%</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-8%</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2"/>
                  </a:ext>
                </a:extLst>
              </a:tr>
              <a:tr h="292608">
                <a:tc>
                  <a:txBody>
                    <a:bodyPr/>
                    <a:lstStyle/>
                    <a:p>
                      <a:pPr algn="l" fontAlgn="b">
                        <a:buNone/>
                      </a:pPr>
                      <a:r>
                        <a:rPr lang="en-IN" sz="1100" b="0" i="0" u="none" strike="noStrike" kern="1200">
                          <a:solidFill>
                            <a:srgbClr val="071D49"/>
                          </a:solidFill>
                          <a:effectLst/>
                          <a:latin typeface="+mn-lt"/>
                          <a:cs typeface="Arial"/>
                        </a:rPr>
                        <a:t>Highest dosing</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27%</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00B050"/>
                          </a:solidFill>
                          <a:effectLst/>
                          <a:uLnTx/>
                          <a:uFillTx/>
                          <a:latin typeface="+mn-lt"/>
                          <a:cs typeface="Arial"/>
                        </a:rPr>
                        <a:t>+5%</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4"/>
                  </a:ext>
                </a:extLst>
              </a:tr>
              <a:tr h="292608">
                <a:tc>
                  <a:txBody>
                    <a:bodyPr/>
                    <a:lstStyle/>
                    <a:p>
                      <a:pPr algn="l" fontAlgn="b">
                        <a:buNone/>
                      </a:pPr>
                      <a:r>
                        <a:rPr lang="en-IN" sz="1100" b="0" i="0" u="none" strike="noStrike" kern="1200">
                          <a:solidFill>
                            <a:srgbClr val="071D49"/>
                          </a:solidFill>
                          <a:effectLst/>
                          <a:latin typeface="+mn-lt"/>
                          <a:cs typeface="Arial"/>
                        </a:rPr>
                        <a:t>Efficacy</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21%</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-6%</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5"/>
                  </a:ext>
                </a:extLst>
              </a:tr>
              <a:tr h="292608">
                <a:tc>
                  <a:txBody>
                    <a:bodyPr/>
                    <a:lstStyle/>
                    <a:p>
                      <a:pPr algn="l" fontAlgn="b">
                        <a:buNone/>
                      </a:pPr>
                      <a:r>
                        <a:rPr lang="en-IN" sz="1100" b="0" i="0" u="none" strike="noStrike" kern="1200">
                          <a:solidFill>
                            <a:srgbClr val="071D49"/>
                          </a:solidFill>
                          <a:effectLst/>
                          <a:latin typeface="+mn-lt"/>
                          <a:cs typeface="Arial"/>
                        </a:rPr>
                        <a:t>Easy to Rx</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15%</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chemeClr val="bg2">
                              <a:lumMod val="10000"/>
                            </a:schemeClr>
                          </a:solidFill>
                          <a:effectLst/>
                          <a:uLnTx/>
                          <a:uFillTx/>
                          <a:latin typeface="+mn-lt"/>
                          <a:cs typeface="Arial"/>
                        </a:rPr>
                        <a:t>-</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7"/>
                  </a:ext>
                </a:extLst>
              </a:tr>
              <a:tr h="292608">
                <a:tc>
                  <a:txBody>
                    <a:bodyPr/>
                    <a:lstStyle/>
                    <a:p>
                      <a:pPr algn="l" fontAlgn="b">
                        <a:buNone/>
                      </a:pPr>
                      <a:r>
                        <a:rPr lang="en-IN" sz="1100" b="0" i="0" u="none" strike="noStrike" kern="1200">
                          <a:solidFill>
                            <a:srgbClr val="071D49"/>
                          </a:solidFill>
                          <a:effectLst/>
                          <a:latin typeface="+mn-lt"/>
                          <a:cs typeface="Arial"/>
                        </a:rPr>
                        <a:t>Good for managing symptoms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11%</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00B050"/>
                          </a:solidFill>
                          <a:effectLst/>
                          <a:uLnTx/>
                          <a:uFillTx/>
                          <a:latin typeface="+mn-lt"/>
                          <a:cs typeface="Arial"/>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9"/>
                  </a:ext>
                </a:extLst>
              </a:tr>
              <a:tr h="292608">
                <a:tc>
                  <a:txBody>
                    <a:bodyPr/>
                    <a:lstStyle/>
                    <a:p>
                      <a:pPr algn="l" fontAlgn="b">
                        <a:buNone/>
                      </a:pPr>
                      <a:r>
                        <a:rPr lang="en-IN" sz="1100" b="0" i="0" u="none" strike="noStrike" kern="1200">
                          <a:solidFill>
                            <a:srgbClr val="071D49"/>
                          </a:solidFill>
                          <a:effectLst/>
                          <a:latin typeface="+mn-lt"/>
                          <a:cs typeface="Arial"/>
                        </a:rPr>
                        <a:t>Insurance resources / savings card</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10%</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chemeClr val="bg2">
                              <a:lumMod val="10000"/>
                            </a:schemeClr>
                          </a:solidFill>
                          <a:effectLst/>
                          <a:uLnTx/>
                          <a:uFillTx/>
                          <a:latin typeface="Arial"/>
                          <a:ea typeface="Arial"/>
                          <a:cs typeface="Arial"/>
                        </a:rPr>
                        <a:t>-</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0"/>
                  </a:ext>
                </a:extLst>
              </a:tr>
              <a:tr h="292608">
                <a:tc>
                  <a:txBody>
                    <a:bodyPr/>
                    <a:lstStyle/>
                    <a:p>
                      <a:pPr algn="l" fontAlgn="b">
                        <a:buNone/>
                      </a:pPr>
                      <a:r>
                        <a:rPr lang="en-IN" sz="1100" b="0" i="0" u="none" strike="noStrike" kern="1200">
                          <a:solidFill>
                            <a:srgbClr val="071D49"/>
                          </a:solidFill>
                          <a:effectLst/>
                          <a:latin typeface="+mn-lt"/>
                          <a:cs typeface="Arial"/>
                        </a:rPr>
                        <a:t>Safety</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10%</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rgbClr val="00B050"/>
                          </a:solidFill>
                          <a:effectLst/>
                          <a:uLnTx/>
                          <a:uFillTx/>
                          <a:latin typeface="+mn-lt"/>
                          <a:cs typeface="Arial"/>
                        </a:rPr>
                        <a:t>+1%</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1"/>
                  </a:ext>
                </a:extLst>
              </a:tr>
              <a:tr h="292608">
                <a:tc>
                  <a:txBody>
                    <a:bodyPr/>
                    <a:lstStyle/>
                    <a:p>
                      <a:pPr algn="l" fontAlgn="b">
                        <a:buNone/>
                      </a:pPr>
                      <a:r>
                        <a:rPr lang="en-IN" sz="1100" b="0" i="0" u="none" strike="noStrike" kern="1200">
                          <a:solidFill>
                            <a:srgbClr val="071D49"/>
                          </a:solidFill>
                          <a:effectLst/>
                          <a:latin typeface="+mn-lt"/>
                          <a:cs typeface="Arial"/>
                        </a:rPr>
                        <a:t>Patient support programs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8%</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-3%</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518403652"/>
                  </a:ext>
                </a:extLst>
              </a:tr>
              <a:tr h="292608">
                <a:tc>
                  <a:txBody>
                    <a:bodyPr/>
                    <a:lstStyle/>
                    <a:p>
                      <a:pPr algn="l" fontAlgn="b">
                        <a:buNone/>
                      </a:pPr>
                      <a:r>
                        <a:rPr lang="en-IN" sz="1100" b="0" i="0" u="none" strike="noStrike" kern="1200">
                          <a:solidFill>
                            <a:srgbClr val="071D49"/>
                          </a:solidFill>
                          <a:effectLst/>
                          <a:latin typeface="+mn-lt"/>
                          <a:cs typeface="Arial"/>
                        </a:rPr>
                        <a:t>Availability/Access</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lang="en-IN" sz="1100" b="0" i="0" u="none" strike="noStrike" kern="1200">
                          <a:solidFill>
                            <a:srgbClr val="071D49"/>
                          </a:solidFill>
                          <a:effectLst/>
                          <a:latin typeface="+mn-lt"/>
                          <a:cs typeface="Arial"/>
                        </a:rPr>
                        <a:t>6%</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ctr">
                        <a:buNone/>
                      </a:pPr>
                      <a:r>
                        <a:rPr kumimoji="0" lang="en-IN" sz="1100" b="0" i="0" u="none" strike="noStrike" kern="1200" cap="none" spc="0" normalizeH="0" baseline="0">
                          <a:ln>
                            <a:noFill/>
                          </a:ln>
                          <a:solidFill>
                            <a:schemeClr val="bg2">
                              <a:lumMod val="10000"/>
                            </a:schemeClr>
                          </a:solidFill>
                          <a:effectLst/>
                          <a:uLnTx/>
                          <a:uFillTx/>
                          <a:latin typeface="Arial"/>
                          <a:ea typeface="Arial"/>
                          <a:cs typeface="Arial"/>
                        </a:rPr>
                        <a:t>-</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2"/>
                  </a:ext>
                </a:extLst>
              </a:tr>
              <a:tr h="292608">
                <a:tc>
                  <a:txBody>
                    <a:bodyPr/>
                    <a:lstStyle/>
                    <a:p>
                      <a:pPr algn="l" fontAlgn="b">
                        <a:buNone/>
                      </a:pPr>
                      <a:r>
                        <a:rPr lang="en-IN" sz="1100" b="0" i="0" u="none" strike="noStrike" kern="1200">
                          <a:solidFill>
                            <a:srgbClr val="071D49"/>
                          </a:solidFill>
                          <a:effectLst/>
                          <a:latin typeface="+mn-lt"/>
                          <a:cs typeface="Arial"/>
                        </a:rPr>
                        <a:t>Patient profile for EPI</a:t>
                      </a:r>
                    </a:p>
                  </a:txBody>
                  <a:tcPr marL="45720" marR="45720" anchor="b">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lang="en-IN" sz="1100" b="0" i="0" u="none" strike="noStrike" kern="1200">
                          <a:solidFill>
                            <a:srgbClr val="071D49"/>
                          </a:solidFill>
                          <a:effectLst/>
                          <a:latin typeface="+mn-lt"/>
                          <a:cs typeface="Arial"/>
                        </a:rPr>
                        <a:t>6%</a:t>
                      </a:r>
                    </a:p>
                  </a:txBody>
                  <a:tcPr marL="6350" marR="6350" marT="6350" marB="0" anchor="ctr">
                    <a:lnL w="12700" cap="flat" cmpd="sng" algn="ctr">
                      <a:solidFill>
                        <a:schemeClr val="lt1"/>
                      </a:solidFill>
                      <a:prstDash val="solid"/>
                      <a:round/>
                      <a:headEnd type="none" w="sm" len="sm"/>
                      <a:tailEnd type="none" w="sm" len="sm"/>
                    </a:lnL>
                    <a:lnR w="9525" cap="flat" cmpd="sng" algn="ctr">
                      <a:solidFill>
                        <a:schemeClr val="bg1">
                          <a:lumMod val="95000"/>
                        </a:schemeClr>
                      </a:solidFill>
                      <a:prstDash val="solid"/>
                      <a:round/>
                      <a:headEnd type="none" w="med" len="med"/>
                      <a:tailEnd type="none" w="med" len="med"/>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ctr">
                        <a:buNone/>
                      </a:pPr>
                      <a:r>
                        <a:rPr kumimoji="0" lang="en-IN" sz="1100" b="0" i="0" u="none" strike="noStrike" kern="1200" cap="none" spc="0" normalizeH="0" baseline="0">
                          <a:ln>
                            <a:noFill/>
                          </a:ln>
                          <a:solidFill>
                            <a:srgbClr val="FF0000"/>
                          </a:solidFill>
                          <a:effectLst/>
                          <a:uLnTx/>
                          <a:uFillTx/>
                          <a:latin typeface="+mn-lt"/>
                          <a:cs typeface="Arial"/>
                        </a:rPr>
                        <a:t>-2%</a:t>
                      </a:r>
                    </a:p>
                  </a:txBody>
                  <a:tcPr marL="6350" marR="6350" marT="635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13"/>
                  </a:ext>
                </a:extLst>
              </a:tr>
            </a:tbl>
          </a:graphicData>
        </a:graphic>
      </p:graphicFrame>
      <p:sp>
        <p:nvSpPr>
          <p:cNvPr id="1323" name="Google Shape;1323;p31">
            <a:extLst>
              <a:ext uri="{FF2B5EF4-FFF2-40B4-BE49-F238E27FC236}">
                <a16:creationId xmlns:a16="http://schemas.microsoft.com/office/drawing/2014/main" id="{D8118A0D-1C5D-D995-45BE-B0112CCE3542}"/>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Unaided: Message Recall – </a:t>
            </a:r>
            <a:r>
              <a:rPr kumimoji="0" lang="en-US" sz="1400" b="1" i="0" u="sng" strike="noStrike" kern="0" cap="none" spc="0" normalizeH="0" baseline="0" noProof="0">
                <a:ln>
                  <a:noFill/>
                </a:ln>
                <a:solidFill>
                  <a:srgbClr val="9778D4"/>
                </a:solidFill>
                <a:effectLst/>
                <a:uLnTx/>
                <a:uFillTx/>
                <a:latin typeface="Roboto (Body)"/>
                <a:ea typeface="Calibri"/>
                <a:cs typeface="Arial" panose="020B0604020202020204" pitchFamily="34" charset="0"/>
                <a:sym typeface="Calibri"/>
              </a:rPr>
              <a:t>ZENPEP</a:t>
            </a:r>
            <a:endParaRPr kumimoji="0" lang="en-US" sz="1400" b="0" i="0" u="none" strike="noStrike" kern="0" cap="none" spc="0" normalizeH="0" baseline="0" noProof="0">
              <a:ln>
                <a:noFill/>
              </a:ln>
              <a:solidFill>
                <a:srgbClr val="9778D4"/>
              </a:solidFill>
              <a:effectLst/>
              <a:uLnTx/>
              <a:uFillTx/>
              <a:latin typeface="Roboto (Body)"/>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a:t>
            </a:r>
            <a:r>
              <a:rPr kumimoji="0" lang="en-IN" sz="1000" b="0" i="0" u="sng"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Mar’26 vs. Feb’26)</a:t>
            </a:r>
            <a:endParaRPr kumimoji="0" lang="en-US" sz="1000" b="0" i="0" u="sng" strike="noStrike" kern="0" cap="none" spc="0" normalizeH="0" baseline="30000" noProof="0">
              <a:ln>
                <a:noFill/>
              </a:ln>
              <a:solidFill>
                <a:srgbClr val="36729C"/>
              </a:solidFill>
              <a:effectLst/>
              <a:uLnTx/>
              <a:uFillTx/>
              <a:latin typeface="Roboto (Body)"/>
              <a:ea typeface="Calibri"/>
              <a:cs typeface="Arial" panose="020B0604020202020204" pitchFamily="34" charset="0"/>
              <a:sym typeface="Calibri"/>
            </a:endParaRPr>
          </a:p>
        </p:txBody>
      </p:sp>
      <p:sp>
        <p:nvSpPr>
          <p:cNvPr id="22" name="Google Shape;1747;p45">
            <a:extLst>
              <a:ext uri="{FF2B5EF4-FFF2-40B4-BE49-F238E27FC236}">
                <a16:creationId xmlns:a16="http://schemas.microsoft.com/office/drawing/2014/main" id="{B7B8DF43-3F86-F597-127F-B3276DFD0E34}"/>
              </a:ext>
            </a:extLst>
          </p:cNvPr>
          <p:cNvSpPr/>
          <p:nvPr/>
        </p:nvSpPr>
        <p:spPr>
          <a:xfrm>
            <a:off x="0" y="1091507"/>
            <a:ext cx="1368000" cy="188655"/>
          </a:xfrm>
          <a:prstGeom prst="homePlat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900"/>
              <a:buFont typeface="Arial"/>
              <a:buNone/>
              <a:tabLst/>
              <a:defRPr/>
            </a:pPr>
            <a:r>
              <a:rPr kumimoji="0" lang="en-US" sz="1051" b="1" i="0" u="none" strike="noStrike" kern="0" cap="none" spc="0" normalizeH="0" baseline="0" noProof="0">
                <a:ln>
                  <a:noFill/>
                </a:ln>
                <a:solidFill>
                  <a:prstClr val="white"/>
                </a:solidFill>
                <a:effectLst/>
                <a:uLnTx/>
                <a:uFillTx/>
                <a:latin typeface="Roboto (Body)"/>
                <a:cs typeface="Arial" panose="020B0604020202020204" pitchFamily="34" charset="0"/>
                <a:sym typeface="Calibri"/>
              </a:rPr>
              <a:t>Unaided</a:t>
            </a:r>
            <a:endParaRPr kumimoji="0" lang="en-US" sz="1051" b="1" i="0" u="none" strike="noStrike" kern="0" cap="none" spc="0" normalizeH="0" baseline="0" noProof="0">
              <a:ln>
                <a:noFill/>
              </a:ln>
              <a:solidFill>
                <a:prstClr val="white"/>
              </a:solidFill>
              <a:effectLst/>
              <a:uLnTx/>
              <a:uFillTx/>
              <a:latin typeface="Roboto (Body)"/>
              <a:cs typeface="Arial" panose="020B0604020202020204" pitchFamily="34" charset="0"/>
              <a:sym typeface="Arial"/>
            </a:endParaRPr>
          </a:p>
        </p:txBody>
      </p:sp>
      <p:sp>
        <p:nvSpPr>
          <p:cNvPr id="4" name="Google Shape;297;p8">
            <a:extLst>
              <a:ext uri="{FF2B5EF4-FFF2-40B4-BE49-F238E27FC236}">
                <a16:creationId xmlns:a16="http://schemas.microsoft.com/office/drawing/2014/main" id="{211C9700-C54A-F3AE-7406-C01AED352A19}"/>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sngStrike" kern="1200" cap="none" spc="0" normalizeH="0" baseline="0" noProof="0">
                <a:ln>
                  <a:noFill/>
                </a:ln>
                <a:solidFill>
                  <a:srgbClr val="071D49"/>
                </a:solidFill>
                <a:effectLst/>
                <a:uLnTx/>
                <a:uFillTx/>
                <a:latin typeface="Roboto (Body)"/>
                <a:cs typeface="Arial" panose="020B0604020202020204" pitchFamily="34" charset="0"/>
                <a:sym typeface="Arial"/>
              </a:rPr>
              <a:t>Unaided, recall of ZENPEP’s ‘</a:t>
            </a:r>
            <a:r>
              <a:rPr kumimoji="0" lang="en-IN" sz="1400" b="0" i="0" u="none" strike="sngStrike" kern="1200" cap="none" spc="0" normalizeH="0" baseline="0" noProof="0">
                <a:ln>
                  <a:noFill/>
                </a:ln>
                <a:solidFill>
                  <a:srgbClr val="071D49"/>
                </a:solidFill>
                <a:effectLst/>
                <a:uLnTx/>
                <a:uFillTx/>
                <a:latin typeface="Roboto (Body)"/>
                <a:cs typeface="Arial" panose="020B0604020202020204" pitchFamily="34" charset="0"/>
                <a:sym typeface="Arial"/>
              </a:rPr>
              <a:t>formulary / insurance coverage’ &amp; ‘</a:t>
            </a:r>
            <a:r>
              <a:rPr kumimoji="0" lang="en-US" sz="1400" b="0" i="0" u="none" strike="sngStrike" kern="1200" cap="none" spc="0" normalizeH="0" baseline="0" noProof="0">
                <a:ln>
                  <a:noFill/>
                </a:ln>
                <a:solidFill>
                  <a:srgbClr val="071D49"/>
                </a:solidFill>
                <a:effectLst/>
                <a:uLnTx/>
                <a:uFillTx/>
                <a:latin typeface="Roboto (Body)"/>
                <a:cs typeface="Arial" panose="020B0604020202020204" pitchFamily="34" charset="0"/>
                <a:sym typeface="Arial"/>
              </a:rPr>
              <a:t>efficacy’ rose by 5 pts, while “multiple dosing” maintained the highest recall</a:t>
            </a:r>
            <a:endParaRPr kumimoji="0" lang="en-US" sz="1400" b="0" i="0" u="none" strike="sngStrike" kern="0" cap="none" spc="0" normalizeH="0" baseline="0" noProof="0">
              <a:ln>
                <a:noFill/>
              </a:ln>
              <a:solidFill>
                <a:srgbClr val="EA4970"/>
              </a:solidFill>
              <a:effectLst/>
              <a:uLnTx/>
              <a:uFillTx/>
              <a:latin typeface="Roboto (Body)"/>
              <a:ea typeface="Calibri"/>
              <a:cs typeface="Arial" panose="020B0604020202020204" pitchFamily="34" charset="0"/>
              <a:sym typeface="Calibri"/>
            </a:endParaRPr>
          </a:p>
        </p:txBody>
      </p:sp>
      <p:sp>
        <p:nvSpPr>
          <p:cNvPr id="13" name="Google Shape;2465;p63">
            <a:extLst>
              <a:ext uri="{FF2B5EF4-FFF2-40B4-BE49-F238E27FC236}">
                <a16:creationId xmlns:a16="http://schemas.microsoft.com/office/drawing/2014/main" id="{7F70D616-1B62-057B-4B39-3675EEC6E414}"/>
              </a:ext>
            </a:extLst>
          </p:cNvPr>
          <p:cNvSpPr/>
          <p:nvPr/>
        </p:nvSpPr>
        <p:spPr>
          <a:xfrm>
            <a:off x="5473297" y="1966721"/>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Roboto (Body)"/>
              <a:ea typeface="Calibri"/>
              <a:cs typeface="Arial" panose="020B0604020202020204" pitchFamily="34" charset="0"/>
              <a:sym typeface="Calibri"/>
            </a:endParaRPr>
          </a:p>
        </p:txBody>
      </p:sp>
      <p:sp>
        <p:nvSpPr>
          <p:cNvPr id="14" name="Google Shape;2465;p63">
            <a:extLst>
              <a:ext uri="{FF2B5EF4-FFF2-40B4-BE49-F238E27FC236}">
                <a16:creationId xmlns:a16="http://schemas.microsoft.com/office/drawing/2014/main" id="{DE088D7C-F06C-261F-E495-F0F023EA259E}"/>
              </a:ext>
            </a:extLst>
          </p:cNvPr>
          <p:cNvSpPr/>
          <p:nvPr/>
        </p:nvSpPr>
        <p:spPr>
          <a:xfrm>
            <a:off x="5678610" y="1746215"/>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Roboto (Body)"/>
              <a:ea typeface="Calibri"/>
              <a:cs typeface="Arial" panose="020B0604020202020204" pitchFamily="34" charset="0"/>
              <a:sym typeface="Calibri"/>
            </a:endParaRPr>
          </a:p>
        </p:txBody>
      </p:sp>
      <p:cxnSp>
        <p:nvCxnSpPr>
          <p:cNvPr id="15" name="Google Shape;2466;p63">
            <a:extLst>
              <a:ext uri="{FF2B5EF4-FFF2-40B4-BE49-F238E27FC236}">
                <a16:creationId xmlns:a16="http://schemas.microsoft.com/office/drawing/2014/main" id="{F56E24C8-4866-F678-1803-52CF09C84625}"/>
              </a:ext>
            </a:extLst>
          </p:cNvPr>
          <p:cNvCxnSpPr/>
          <p:nvPr/>
        </p:nvCxnSpPr>
        <p:spPr>
          <a:xfrm>
            <a:off x="5740628" y="1867544"/>
            <a:ext cx="3192243" cy="0"/>
          </a:xfrm>
          <a:prstGeom prst="straightConnector1">
            <a:avLst/>
          </a:prstGeom>
          <a:noFill/>
          <a:ln w="19050" cap="rnd" cmpd="sng">
            <a:solidFill>
              <a:srgbClr val="787474"/>
            </a:solidFill>
            <a:prstDash val="solid"/>
            <a:round/>
            <a:headEnd type="none" w="sm" len="sm"/>
            <a:tailEnd type="none" w="sm" len="sm"/>
          </a:ln>
        </p:spPr>
      </p:cxnSp>
      <p:sp>
        <p:nvSpPr>
          <p:cNvPr id="16" name="Google Shape;2467;p63">
            <a:extLst>
              <a:ext uri="{FF2B5EF4-FFF2-40B4-BE49-F238E27FC236}">
                <a16:creationId xmlns:a16="http://schemas.microsoft.com/office/drawing/2014/main" id="{320D57D8-962D-893D-9178-25FD924D7868}"/>
              </a:ext>
            </a:extLst>
          </p:cNvPr>
          <p:cNvSpPr/>
          <p:nvPr/>
        </p:nvSpPr>
        <p:spPr>
          <a:xfrm>
            <a:off x="5640475" y="1580950"/>
            <a:ext cx="3470065" cy="286595"/>
          </a:xfrm>
          <a:prstGeom prst="rect">
            <a:avLst/>
          </a:prstGeom>
          <a:noFill/>
          <a:ln>
            <a:noFill/>
          </a:ln>
        </p:spPr>
        <p:txBody>
          <a:bodyPr spcFirstLastPara="1" wrap="square" lIns="91425" tIns="83100" rIns="91425" bIns="831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1" b="1" i="0" u="none" strike="noStrike" kern="0" cap="none" spc="0" normalizeH="0" baseline="0" noProof="0">
                <a:ln>
                  <a:noFill/>
                </a:ln>
                <a:solidFill>
                  <a:srgbClr val="071D49"/>
                </a:solidFill>
                <a:effectLst/>
                <a:uLnTx/>
                <a:uFillTx/>
                <a:latin typeface="Roboto (Body)"/>
                <a:cs typeface="Arial" panose="020B0604020202020204" pitchFamily="34" charset="0"/>
                <a:sym typeface="Arial"/>
              </a:rPr>
              <a:t>Unaided responses </a:t>
            </a:r>
          </a:p>
        </p:txBody>
      </p:sp>
      <p:pic>
        <p:nvPicPr>
          <p:cNvPr id="17" name="Picture 2">
            <a:extLst>
              <a:ext uri="{FF2B5EF4-FFF2-40B4-BE49-F238E27FC236}">
                <a16:creationId xmlns:a16="http://schemas.microsoft.com/office/drawing/2014/main" id="{E28E8BC0-9B0E-927D-4C34-CBA4AE66BEE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55427" y="1556977"/>
            <a:ext cx="254300" cy="29248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8" name="Table 17">
            <a:extLst>
              <a:ext uri="{FF2B5EF4-FFF2-40B4-BE49-F238E27FC236}">
                <a16:creationId xmlns:a16="http://schemas.microsoft.com/office/drawing/2014/main" id="{5482242D-7B22-03D9-4037-9FF81FE1E064}"/>
              </a:ext>
            </a:extLst>
          </p:cNvPr>
          <p:cNvGraphicFramePr>
            <a:graphicFrameLocks noGrp="1"/>
          </p:cNvGraphicFramePr>
          <p:nvPr>
            <p:custDataLst>
              <p:tags r:id="rId2"/>
            </p:custDataLst>
            <p:extLst>
              <p:ext uri="{D42A27DB-BD31-4B8C-83A1-F6EECF244321}">
                <p14:modId xmlns:p14="http://schemas.microsoft.com/office/powerpoint/2010/main" val="3837222090"/>
              </p:ext>
            </p:extLst>
          </p:nvPr>
        </p:nvGraphicFramePr>
        <p:xfrm>
          <a:off x="5472000" y="2016000"/>
          <a:ext cx="3497709" cy="3900801"/>
        </p:xfrm>
        <a:graphic>
          <a:graphicData uri="http://schemas.openxmlformats.org/drawingml/2006/table">
            <a:tbl>
              <a:tblPr firstRow="1" bandRow="1">
                <a:tableStyleId>{96BACEE3-1A1D-4107-9369-2142449FF59F}</a:tableStyleId>
              </a:tblPr>
              <a:tblGrid>
                <a:gridCol w="3497709">
                  <a:extLst>
                    <a:ext uri="{9D8B030D-6E8A-4147-A177-3AD203B41FA5}">
                      <a16:colId xmlns:a16="http://schemas.microsoft.com/office/drawing/2014/main" val="4062741633"/>
                    </a:ext>
                  </a:extLst>
                </a:gridCol>
              </a:tblGrid>
              <a:tr h="982626">
                <a:tc>
                  <a:txBody>
                    <a:bodyPr/>
                    <a:lstStyle/>
                    <a:p>
                      <a:pPr marL="171450" indent="-171450" algn="l" fontAlgn="b">
                        <a:buFont typeface="Arial" panose="020B0604020202020204" pitchFamily="34" charset="0"/>
                        <a:buChar char="•"/>
                      </a:pPr>
                      <a:r>
                        <a:rPr kumimoji="0" lang="en-US" sz="1000" b="0" i="1" u="none" strike="noStrike" kern="1200" cap="none" spc="0" normalizeH="0" baseline="0">
                          <a:ln>
                            <a:noFill/>
                          </a:ln>
                          <a:solidFill>
                            <a:srgbClr val="000000"/>
                          </a:solidFill>
                          <a:effectLst/>
                          <a:uLnTx/>
                          <a:uFillTx/>
                          <a:latin typeface="+mn-lt"/>
                          <a:cs typeface="Calibri" panose="020F0502020204030204" pitchFamily="34" charset="0"/>
                        </a:rPr>
                        <a:t>“Zenpep is covered by many insurance companies and has a variety of dosages and also minimizes the number of pills that need to be used to satisfy daily allotments.”</a:t>
                      </a:r>
                      <a:endParaRPr kumimoji="0" lang="en-US" sz="1000" b="0" i="1" u="none" strike="sngStrike" kern="1200" cap="none" spc="0" normalizeH="0" baseline="0">
                        <a:ln>
                          <a:noFill/>
                        </a:ln>
                        <a:solidFill>
                          <a:srgbClr val="000000"/>
                        </a:solidFill>
                        <a:effectLst/>
                        <a:highlight>
                          <a:srgbClr val="FFFF00"/>
                        </a:highlight>
                        <a:uLnTx/>
                        <a:uFillTx/>
                        <a:latin typeface="+mn-lt"/>
                        <a:cs typeface="Calibri" panose="020F0502020204030204" pitchFamily="34" charset="0"/>
                      </a:endParaRPr>
                    </a:p>
                  </a:txBody>
                  <a:tcPr marL="36000" marR="6350" marT="635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71879465"/>
                  </a:ext>
                </a:extLst>
              </a:tr>
              <a:tr h="1164024">
                <a:tc>
                  <a:txBody>
                    <a:bodyPr/>
                    <a:lstStyle/>
                    <a:p>
                      <a:pPr marL="171450" indent="-171450" algn="l" fontAlgn="b">
                        <a:buFont typeface="Arial" panose="020B0604020202020204" pitchFamily="34" charset="0"/>
                        <a:buChar char="•"/>
                      </a:pPr>
                      <a:r>
                        <a:rPr kumimoji="0" lang="en-US" sz="1000" b="0" i="1" u="none" strike="noStrike" kern="1200" cap="none" spc="0" normalizeH="0" baseline="0">
                          <a:ln>
                            <a:noFill/>
                          </a:ln>
                          <a:solidFill>
                            <a:srgbClr val="000000"/>
                          </a:solidFill>
                          <a:effectLst/>
                          <a:uLnTx/>
                          <a:uFillTx/>
                          <a:latin typeface="+mn-lt"/>
                          <a:cs typeface="Calibri" panose="020F0502020204030204" pitchFamily="34" charset="0"/>
                        </a:rPr>
                        <a:t>“That Zenpep is well covered by commercial payers, and it's recommended to use the 60,000 doses as primary dosing.”</a:t>
                      </a:r>
                      <a:endParaRPr kumimoji="0" lang="en-US" sz="1000" b="0" i="1" u="none" strike="noStrike" kern="1200" cap="none" spc="0" normalizeH="0" baseline="0">
                        <a:ln>
                          <a:noFill/>
                        </a:ln>
                        <a:solidFill>
                          <a:srgbClr val="000000"/>
                        </a:solidFill>
                        <a:effectLst/>
                        <a:highlight>
                          <a:srgbClr val="FFFF00"/>
                        </a:highlight>
                        <a:uLnTx/>
                        <a:uFillTx/>
                        <a:latin typeface="+mn-lt"/>
                        <a:cs typeface="Calibri" panose="020F0502020204030204" pitchFamily="34" charset="0"/>
                      </a:endParaRPr>
                    </a:p>
                  </a:txBody>
                  <a:tcPr marL="36000" marR="36000" marT="3600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855684948"/>
                  </a:ext>
                </a:extLst>
              </a:tr>
              <a:tr h="1049300">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a:ln>
                            <a:noFill/>
                          </a:ln>
                          <a:solidFill>
                            <a:srgbClr val="000000"/>
                          </a:solidFill>
                          <a:effectLst/>
                          <a:uLnTx/>
                          <a:uFillTx/>
                          <a:latin typeface="+mn-lt"/>
                          <a:ea typeface="Arial"/>
                          <a:cs typeface="Calibri" panose="020F0502020204030204" pitchFamily="34" charset="0"/>
                          <a:sym typeface="Arial"/>
                        </a:rPr>
                        <a:t>“The primary message in this last past interaction was telling me how the Zenpep has covered over 1 million patients, more than CREON, in both Medicare and commercial plans.”</a:t>
                      </a:r>
                      <a:endParaRPr kumimoji="0" lang="en-US" sz="1000" b="0" i="1" u="none" strike="noStrike" kern="1200" cap="none" spc="0" normalizeH="0" baseline="0">
                        <a:ln>
                          <a:noFill/>
                        </a:ln>
                        <a:solidFill>
                          <a:srgbClr val="000000"/>
                        </a:solidFill>
                        <a:effectLst/>
                        <a:highlight>
                          <a:srgbClr val="FFFF00"/>
                        </a:highlight>
                        <a:uLnTx/>
                        <a:uFillTx/>
                        <a:latin typeface="+mn-lt"/>
                        <a:ea typeface="Arial"/>
                        <a:cs typeface="Calibri" panose="020F0502020204030204" pitchFamily="34" charset="0"/>
                        <a:sym typeface="Arial"/>
                      </a:endParaRPr>
                    </a:p>
                  </a:txBody>
                  <a:tcPr marL="3600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232191850"/>
                  </a:ext>
                </a:extLst>
              </a:tr>
              <a:tr h="704851">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1" u="none" strike="noStrike" kern="1200" cap="none" spc="0" normalizeH="0" baseline="0">
                          <a:ln>
                            <a:noFill/>
                          </a:ln>
                          <a:solidFill>
                            <a:srgbClr val="000000"/>
                          </a:solidFill>
                          <a:effectLst/>
                          <a:uLnTx/>
                          <a:uFillTx/>
                          <a:latin typeface="+mn-lt"/>
                          <a:ea typeface="Arial"/>
                          <a:cs typeface="Calibri" panose="020F0502020204030204" pitchFamily="34" charset="0"/>
                          <a:sym typeface="Arial"/>
                        </a:rPr>
                        <a:t>“The rep usually is providing samples and occasionally some assistance with getting patients covered who are not able to get the drug.”</a:t>
                      </a:r>
                      <a:endParaRPr kumimoji="0" lang="en-US" sz="1000" b="0" i="1" u="none" strike="noStrike" kern="1200" cap="none" spc="0" normalizeH="0" baseline="0">
                        <a:ln>
                          <a:noFill/>
                        </a:ln>
                        <a:solidFill>
                          <a:srgbClr val="000000"/>
                        </a:solidFill>
                        <a:effectLst/>
                        <a:highlight>
                          <a:srgbClr val="FFFF00"/>
                        </a:highlight>
                        <a:uLnTx/>
                        <a:uFillTx/>
                        <a:latin typeface="+mn-lt"/>
                        <a:ea typeface="Arial"/>
                        <a:cs typeface="Calibri" panose="020F0502020204030204" pitchFamily="34" charset="0"/>
                        <a:sym typeface="Arial"/>
                      </a:endParaRPr>
                    </a:p>
                  </a:txBody>
                  <a:tcPr marL="3600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34981473"/>
                  </a:ext>
                </a:extLst>
              </a:tr>
            </a:tbl>
          </a:graphicData>
        </a:graphic>
      </p:graphicFrame>
      <p:sp>
        <p:nvSpPr>
          <p:cNvPr id="5" name="Google Shape;1498;p37">
            <a:extLst>
              <a:ext uri="{FF2B5EF4-FFF2-40B4-BE49-F238E27FC236}">
                <a16:creationId xmlns:a16="http://schemas.microsoft.com/office/drawing/2014/main" id="{B8F0E2A1-1429-B817-834A-C0CA006C5975}"/>
              </a:ext>
            </a:extLst>
          </p:cNvPr>
          <p:cNvSpPr txBox="1"/>
          <p:nvPr/>
        </p:nvSpPr>
        <p:spPr>
          <a:xfrm>
            <a:off x="263257" y="5975686"/>
            <a:ext cx="8637937"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Roboto (Body)"/>
                <a:ea typeface="Calibri"/>
                <a:cs typeface="Arial" panose="020B0604020202020204" pitchFamily="34" charset="0"/>
                <a:sym typeface="Calibri"/>
              </a:rPr>
              <a:t>Question text in speaker notes | n - No. of HCPs | ^Local OLs removed | </a:t>
            </a:r>
            <a:r>
              <a:rPr kumimoji="0" lang="en-US" sz="900" b="0" i="0" u="none" strike="noStrike" kern="0" cap="none" spc="0" normalizeH="0" baseline="0" noProof="0">
                <a:ln>
                  <a:noFill/>
                </a:ln>
                <a:solidFill>
                  <a:srgbClr val="071D49"/>
                </a:solidFill>
                <a:effectLst/>
                <a:uLnTx/>
                <a:uFillTx/>
                <a:latin typeface="Roboto (Body)"/>
                <a:ea typeface="Calibri"/>
                <a:cs typeface="Arial" panose="020B0604020202020204" pitchFamily="34" charset="0"/>
                <a:sym typeface="Calibri"/>
              </a:rPr>
              <a:t>Note: Table may sum to &gt;100%</a:t>
            </a:r>
            <a:endParaRPr kumimoji="0" lang="en-US" sz="1400" b="0" i="0" u="none" strike="noStrike" kern="0" cap="none" spc="0" normalizeH="0" baseline="0" noProof="0">
              <a:ln>
                <a:noFill/>
              </a:ln>
              <a:solidFill>
                <a:srgbClr val="001D49"/>
              </a:solidFill>
              <a:effectLst/>
              <a:uLnTx/>
              <a:uFillTx/>
              <a:latin typeface="Roboto (Body)"/>
              <a:cs typeface="Arial" panose="020B0604020202020204" pitchFamily="34" charset="0"/>
              <a:sym typeface="Arial"/>
            </a:endParaRPr>
          </a:p>
        </p:txBody>
      </p:sp>
    </p:spTree>
    <p:extLst>
      <p:ext uri="{BB962C8B-B14F-4D97-AF65-F5344CB8AC3E}">
        <p14:creationId xmlns:p14="http://schemas.microsoft.com/office/powerpoint/2010/main" val="812978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3" name="Google Shape;1375;p33">
            <a:extLst>
              <a:ext uri="{FF2B5EF4-FFF2-40B4-BE49-F238E27FC236}">
                <a16:creationId xmlns:a16="http://schemas.microsoft.com/office/drawing/2014/main" id="{4CEDC785-B749-6EF4-3D36-0EA20E90A8D5}"/>
              </a:ext>
            </a:extLst>
          </p:cNvPr>
          <p:cNvSpPr txBox="1"/>
          <p:nvPr/>
        </p:nvSpPr>
        <p:spPr>
          <a:xfrm>
            <a:off x="928800" y="5885022"/>
            <a:ext cx="8074523"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Statistically significant (p&lt;.05) difference between waves</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Arial"/>
              </a:rPr>
              <a:t>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*Full message text in speaker notes Messages sorted in decreasing order of recall for CREON messages |         denote wave averages for message recall (disease state messages excluded) | **New messages added in W32: C20, C21, C22 | ^Messages Edited in W32: C1, C6, C9, C11</a:t>
            </a:r>
          </a:p>
        </p:txBody>
      </p:sp>
      <p:sp>
        <p:nvSpPr>
          <p:cNvPr id="1359" name="Google Shape;1359;p3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sngStrike" kern="0" cap="none" spc="0" normalizeH="0" baseline="0" noProof="0">
                <a:ln>
                  <a:noFill/>
                </a:ln>
                <a:solidFill>
                  <a:srgbClr val="071D49"/>
                </a:solidFill>
                <a:effectLst/>
                <a:uLnTx/>
                <a:uFillTx/>
                <a:latin typeface="Arial"/>
                <a:cs typeface="Arial"/>
                <a:sym typeface="Arial"/>
              </a:rPr>
              <a:t>Recall for newly added CREON messages (C20, C21, C22) was low, while recall for two of four updated messages (C9 and C11) improved this wave</a:t>
            </a:r>
            <a:endParaRPr kumimoji="0" lang="en-US" sz="1400" b="0" i="0" u="none" strike="sng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sp>
        <p:nvSpPr>
          <p:cNvPr id="7" name="TextBox 6">
            <a:extLst>
              <a:ext uri="{FF2B5EF4-FFF2-40B4-BE49-F238E27FC236}">
                <a16:creationId xmlns:a16="http://schemas.microsoft.com/office/drawing/2014/main" id="{6464DF0E-FCD2-FAAB-0505-A0FBFE48739C}"/>
              </a:ext>
            </a:extLst>
          </p:cNvPr>
          <p:cNvSpPr txBox="1"/>
          <p:nvPr/>
        </p:nvSpPr>
        <p:spPr>
          <a:xfrm>
            <a:off x="116725" y="1399398"/>
            <a:ext cx="4798176"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2" name="CR_MR_Table">
            <a:extLst>
              <a:ext uri="{FF2B5EF4-FFF2-40B4-BE49-F238E27FC236}">
                <a16:creationId xmlns:a16="http://schemas.microsoft.com/office/drawing/2014/main" id="{21FF6E38-BBAB-0391-4ACD-629384CF51CF}"/>
              </a:ext>
            </a:extLst>
          </p:cNvPr>
          <p:cNvGraphicFramePr/>
          <p:nvPr>
            <p:custDataLst>
              <p:tags r:id="rId1"/>
            </p:custDataLst>
            <p:extLst>
              <p:ext uri="{D42A27DB-BD31-4B8C-83A1-F6EECF244321}">
                <p14:modId xmlns:p14="http://schemas.microsoft.com/office/powerpoint/2010/main" val="2635421810"/>
              </p:ext>
            </p:extLst>
          </p:nvPr>
        </p:nvGraphicFramePr>
        <p:xfrm>
          <a:off x="116726" y="1685009"/>
          <a:ext cx="4798176" cy="4386960"/>
        </p:xfrm>
        <a:graphic>
          <a:graphicData uri="http://schemas.openxmlformats.org/drawingml/2006/table">
            <a:tbl>
              <a:tblPr>
                <a:noFill/>
                <a:tableStyleId>{96BACEE3-1A1D-4107-9369-2142449FF59F}</a:tableStyleId>
              </a:tblPr>
              <a:tblGrid>
                <a:gridCol w="436051">
                  <a:extLst>
                    <a:ext uri="{9D8B030D-6E8A-4147-A177-3AD203B41FA5}">
                      <a16:colId xmlns:a16="http://schemas.microsoft.com/office/drawing/2014/main" val="20000"/>
                    </a:ext>
                  </a:extLst>
                </a:gridCol>
                <a:gridCol w="4362125">
                  <a:extLst>
                    <a:ext uri="{9D8B030D-6E8A-4147-A177-3AD203B41FA5}">
                      <a16:colId xmlns:a16="http://schemas.microsoft.com/office/drawing/2014/main" val="20001"/>
                    </a:ext>
                  </a:extLst>
                </a:gridCol>
              </a:tblGrid>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CR6</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Take CREON every meal, every snack, every day.</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is the #1 PERT prescribed by Gastroenterologists, Primary Care Physicians, and Nurse Practitioners and Physician Assistants.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50234294"/>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CR7</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36K capsules can be an appropriate dose for many adults.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239748300"/>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CR11</a:t>
                      </a:r>
                      <a:endParaRPr kumimoji="0" lang="en-IN" sz="900" b="1" i="0" u="none" strike="noStrike" kern="0" cap="none" spc="0" normalizeH="0" baseline="3000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95% of commercially eligible patients pay $5 or less for their CREON prescription with the CREON Complete Savings card.</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872338095"/>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CR3</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Exocrine Pancreatic Insufficiency (EPI) is under-recognized and can have an impact on nutritional health and quality of life</a:t>
                      </a: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958077961"/>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CR4</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EPI is largely a clinical diagnosis based on signs and symptoms and should be considered as part of the differential diagnosis of GI symptoms.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629056778"/>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CR9</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significantly improves fat absorption compared with placebo in randomized clinical trials of patients with EPI due to CF, CP, or pancreatectomy.</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160127578"/>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maintains category leading coverage: 89% of national commercial and Medicare Part D insured lives have preferred access to CREON with the lowest branded copay, without a prior authorization.</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767374171"/>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CR20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Significant experience, exceptional patient support, and excellent coverage make CREON a proven partner for patients with EPl.</a:t>
                      </a: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965742915"/>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CR16</a:t>
                      </a: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Based on the FDA-approved label, CREON is the only PERT specifically studied for patients with EPI due to chronic pancreatitis and pancreatectomy, in addition to cystic fibrosis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219248481"/>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CR22</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71% of CREON Medicare Part D patients paid less than $30 in 2024.</a:t>
                      </a: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80411367"/>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CR21</a:t>
                      </a: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Complete may help patients start and stay on track with their treatment.</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450410"/>
                  </a:ext>
                </a:extLst>
              </a:tr>
              <a:tr h="32400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CR17</a:t>
                      </a: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rPr>
                        <a:t>More than 8 out of 10 GEs and PCPs prescribe CREON more than other PERTs</a:t>
                      </a:r>
                    </a:p>
                  </a:txBody>
                  <a:tcPr marL="0" marR="0" marT="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2154601539"/>
                  </a:ext>
                </a:extLst>
              </a:tr>
            </a:tbl>
          </a:graphicData>
        </a:graphic>
      </p:graphicFrame>
      <p:graphicFrame>
        <p:nvGraphicFramePr>
          <p:cNvPr id="10" name="Shape_98038161">
            <a:extLst>
              <a:ext uri="{FF2B5EF4-FFF2-40B4-BE49-F238E27FC236}">
                <a16:creationId xmlns:a16="http://schemas.microsoft.com/office/drawing/2014/main" id="{B6C19814-8B8E-2F60-6911-FB306D2E4E93}"/>
              </a:ext>
            </a:extLst>
          </p:cNvPr>
          <p:cNvGraphicFramePr>
            <a:graphicFrameLocks noGrp="1"/>
          </p:cNvGraphicFramePr>
          <p:nvPr>
            <p:custDataLst>
              <p:tags r:id="rId2"/>
            </p:custDataLst>
          </p:nvPr>
        </p:nvGraphicFramePr>
        <p:xfrm>
          <a:off x="4585277" y="6050598"/>
          <a:ext cx="216000" cy="121920"/>
        </p:xfrm>
        <a:graphic>
          <a:graphicData uri="http://schemas.openxmlformats.org/drawingml/2006/table">
            <a:tbl>
              <a:tblPr firstRow="1" bandRow="1">
                <a:tableStyleId>{B301B821-A1FF-4177-AEE7-76D212191A09}</a:tableStyleId>
              </a:tblPr>
              <a:tblGrid>
                <a:gridCol w="216000">
                  <a:extLst>
                    <a:ext uri="{9D8B030D-6E8A-4147-A177-3AD203B41FA5}">
                      <a16:colId xmlns:a16="http://schemas.microsoft.com/office/drawing/2014/main" val="3554599800"/>
                    </a:ext>
                  </a:extLst>
                </a:gridCol>
              </a:tblGrid>
              <a:tr h="12192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IN" sz="800" b="0" i="1" u="none" strike="noStrike" cap="none">
                          <a:solidFill>
                            <a:srgbClr val="071D49"/>
                          </a:solidFill>
                          <a:effectLst/>
                          <a:latin typeface="+mj-lt"/>
                          <a:ea typeface="+mn-ea"/>
                          <a:cs typeface="+mn-cs"/>
                          <a:sym typeface="Arial"/>
                        </a:rPr>
                        <a:t>**%</a:t>
                      </a:r>
                      <a:endParaRPr lang="en-US" sz="800" b="0" i="1" u="none" strike="noStrike" cap="none">
                        <a:solidFill>
                          <a:srgbClr val="071D49"/>
                        </a:solidFill>
                        <a:effectLst/>
                        <a:latin typeface="+mj-lt"/>
                        <a:ea typeface="+mn-ea"/>
                        <a:cs typeface="+mn-cs"/>
                        <a:sym typeface="Arial"/>
                      </a:endParaRPr>
                    </a:p>
                  </a:txBody>
                  <a:tcPr marL="0" marR="0" marT="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27" name="Google Shape;763;p18">
            <a:extLst>
              <a:ext uri="{FF2B5EF4-FFF2-40B4-BE49-F238E27FC236}">
                <a16:creationId xmlns:a16="http://schemas.microsoft.com/office/drawing/2014/main" id="{4A8F6123-F065-E35A-297B-7D1B900AAAA3}"/>
              </a:ext>
            </a:extLst>
          </p:cNvPr>
          <p:cNvSpPr/>
          <p:nvPr/>
        </p:nvSpPr>
        <p:spPr>
          <a:xfrm>
            <a:off x="3537840" y="63895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Note: C16 message replaced by C19 message in Mar’24 – Apr’24, C18 message was discontinued</a:t>
            </a:r>
          </a:p>
        </p:txBody>
      </p:sp>
      <p:graphicFrame>
        <p:nvGraphicFramePr>
          <p:cNvPr id="11" name="MR_CREON _OVERALL">
            <a:extLst>
              <a:ext uri="{FF2B5EF4-FFF2-40B4-BE49-F238E27FC236}">
                <a16:creationId xmlns:a16="http://schemas.microsoft.com/office/drawing/2014/main" id="{D06B0BC7-7F66-B2FA-EC68-B5D33D1A1342}"/>
              </a:ext>
            </a:extLst>
          </p:cNvPr>
          <p:cNvGraphicFramePr/>
          <p:nvPr>
            <p:custDataLst>
              <p:tags r:id="rId3"/>
            </p:custDataLst>
            <p:extLst>
              <p:ext uri="{D42A27DB-BD31-4B8C-83A1-F6EECF244321}">
                <p14:modId xmlns:p14="http://schemas.microsoft.com/office/powerpoint/2010/main" val="3063290443"/>
              </p:ext>
            </p:extLst>
          </p:nvPr>
        </p:nvGraphicFramePr>
        <p:xfrm>
          <a:off x="4824754" y="1668165"/>
          <a:ext cx="3412800" cy="3240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9" name="Shape_82814486">
            <a:extLst>
              <a:ext uri="{FF2B5EF4-FFF2-40B4-BE49-F238E27FC236}">
                <a16:creationId xmlns:a16="http://schemas.microsoft.com/office/drawing/2014/main" id="{2DF2B976-CBE7-FBD5-ED0A-ADFD2989B544}"/>
              </a:ext>
            </a:extLst>
          </p:cNvPr>
          <p:cNvGraphicFramePr>
            <a:graphicFrameLocks noGrp="1"/>
          </p:cNvGraphicFramePr>
          <p:nvPr>
            <p:custDataLst>
              <p:tags r:id="rId4"/>
            </p:custDataLst>
          </p:nvPr>
        </p:nvGraphicFramePr>
        <p:xfrm>
          <a:off x="4899400" y="1237761"/>
          <a:ext cx="3115032" cy="243840"/>
        </p:xfrm>
        <a:graphic>
          <a:graphicData uri="http://schemas.openxmlformats.org/drawingml/2006/table">
            <a:tbl>
              <a:tblPr firstRow="1" bandRow="1">
                <a:tableStyleId>{B301B821-A1FF-4177-AEE7-76D212191A09}</a:tableStyleId>
              </a:tblPr>
              <a:tblGrid>
                <a:gridCol w="519172">
                  <a:extLst>
                    <a:ext uri="{9D8B030D-6E8A-4147-A177-3AD203B41FA5}">
                      <a16:colId xmlns:a16="http://schemas.microsoft.com/office/drawing/2014/main" val="3554599800"/>
                    </a:ext>
                  </a:extLst>
                </a:gridCol>
                <a:gridCol w="519172">
                  <a:extLst>
                    <a:ext uri="{9D8B030D-6E8A-4147-A177-3AD203B41FA5}">
                      <a16:colId xmlns:a16="http://schemas.microsoft.com/office/drawing/2014/main" val="2914776207"/>
                    </a:ext>
                  </a:extLst>
                </a:gridCol>
                <a:gridCol w="519172">
                  <a:extLst>
                    <a:ext uri="{9D8B030D-6E8A-4147-A177-3AD203B41FA5}">
                      <a16:colId xmlns:a16="http://schemas.microsoft.com/office/drawing/2014/main" val="2088702262"/>
                    </a:ext>
                  </a:extLst>
                </a:gridCol>
                <a:gridCol w="519172">
                  <a:extLst>
                    <a:ext uri="{9D8B030D-6E8A-4147-A177-3AD203B41FA5}">
                      <a16:colId xmlns:a16="http://schemas.microsoft.com/office/drawing/2014/main" val="192097877"/>
                    </a:ext>
                  </a:extLst>
                </a:gridCol>
                <a:gridCol w="519172">
                  <a:extLst>
                    <a:ext uri="{9D8B030D-6E8A-4147-A177-3AD203B41FA5}">
                      <a16:colId xmlns:a16="http://schemas.microsoft.com/office/drawing/2014/main" val="1326389649"/>
                    </a:ext>
                  </a:extLst>
                </a:gridCol>
                <a:gridCol w="519172">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8" name="wave table OCQ">
            <a:extLst>
              <a:ext uri="{FF2B5EF4-FFF2-40B4-BE49-F238E27FC236}">
                <a16:creationId xmlns:a16="http://schemas.microsoft.com/office/drawing/2014/main" id="{00157E53-7452-8C6E-4B37-BF72682FC493}"/>
              </a:ext>
            </a:extLst>
          </p:cNvPr>
          <p:cNvGraphicFramePr>
            <a:graphicFrameLocks noGrp="1"/>
          </p:cNvGraphicFramePr>
          <p:nvPr>
            <p:custDataLst>
              <p:tags r:id="rId5"/>
            </p:custDataLst>
          </p:nvPr>
        </p:nvGraphicFramePr>
        <p:xfrm>
          <a:off x="4904443" y="1500739"/>
          <a:ext cx="3104946" cy="160076"/>
        </p:xfrm>
        <a:graphic>
          <a:graphicData uri="http://schemas.openxmlformats.org/drawingml/2006/table">
            <a:tbl>
              <a:tblPr firstRow="1" bandRow="1">
                <a:tableStyleId>{B301B821-A1FF-4177-AEE7-76D212191A09}</a:tableStyleId>
              </a:tblPr>
              <a:tblGrid>
                <a:gridCol w="517491">
                  <a:extLst>
                    <a:ext uri="{9D8B030D-6E8A-4147-A177-3AD203B41FA5}">
                      <a16:colId xmlns:a16="http://schemas.microsoft.com/office/drawing/2014/main" val="3554599800"/>
                    </a:ext>
                  </a:extLst>
                </a:gridCol>
                <a:gridCol w="517491">
                  <a:extLst>
                    <a:ext uri="{9D8B030D-6E8A-4147-A177-3AD203B41FA5}">
                      <a16:colId xmlns:a16="http://schemas.microsoft.com/office/drawing/2014/main" val="2914776207"/>
                    </a:ext>
                  </a:extLst>
                </a:gridCol>
                <a:gridCol w="517491">
                  <a:extLst>
                    <a:ext uri="{9D8B030D-6E8A-4147-A177-3AD203B41FA5}">
                      <a16:colId xmlns:a16="http://schemas.microsoft.com/office/drawing/2014/main" val="2088702262"/>
                    </a:ext>
                  </a:extLst>
                </a:gridCol>
                <a:gridCol w="517491">
                  <a:extLst>
                    <a:ext uri="{9D8B030D-6E8A-4147-A177-3AD203B41FA5}">
                      <a16:colId xmlns:a16="http://schemas.microsoft.com/office/drawing/2014/main" val="192097877"/>
                    </a:ext>
                  </a:extLst>
                </a:gridCol>
                <a:gridCol w="517491">
                  <a:extLst>
                    <a:ext uri="{9D8B030D-6E8A-4147-A177-3AD203B41FA5}">
                      <a16:colId xmlns:a16="http://schemas.microsoft.com/office/drawing/2014/main" val="1326389649"/>
                    </a:ext>
                  </a:extLst>
                </a:gridCol>
                <a:gridCol w="517491">
                  <a:extLst>
                    <a:ext uri="{9D8B030D-6E8A-4147-A177-3AD203B41FA5}">
                      <a16:colId xmlns:a16="http://schemas.microsoft.com/office/drawing/2014/main" val="3544539175"/>
                    </a:ext>
                  </a:extLst>
                </a:gridCol>
              </a:tblGrid>
              <a:tr h="160076">
                <a:tc>
                  <a:txBody>
                    <a:bodyPr/>
                    <a:lstStyle/>
                    <a:p>
                      <a:pPr algn="ctr" fontAlgn="ctr"/>
                      <a:r>
                        <a:rPr lang="en-IN" sz="900" b="0" i="1" u="none" strike="noStrike" kern="1200" cap="none">
                          <a:solidFill>
                            <a:srgbClr val="071D49"/>
                          </a:solidFill>
                          <a:effectLst/>
                          <a:latin typeface="+mj-lt"/>
                          <a:ea typeface="+mn-ea"/>
                          <a:cs typeface="+mn-cs"/>
                        </a:rPr>
                        <a:t>36%</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39%</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38%</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41%</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40%</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40%</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6" name="Google Shape;1368;p33">
            <a:extLst>
              <a:ext uri="{FF2B5EF4-FFF2-40B4-BE49-F238E27FC236}">
                <a16:creationId xmlns:a16="http://schemas.microsoft.com/office/drawing/2014/main" id="{9B140CCF-F2D0-F868-C93A-52EF97D9656F}"/>
              </a:ext>
            </a:extLst>
          </p:cNvPr>
          <p:cNvSpPr/>
          <p:nvPr/>
        </p:nvSpPr>
        <p:spPr>
          <a:xfrm>
            <a:off x="5933740" y="5738716"/>
            <a:ext cx="1206165"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interactions</a:t>
            </a:r>
            <a:endPar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17" name="Google Shape;2197;p58">
            <a:extLst>
              <a:ext uri="{FF2B5EF4-FFF2-40B4-BE49-F238E27FC236}">
                <a16:creationId xmlns:a16="http://schemas.microsoft.com/office/drawing/2014/main" id="{D7ECE33F-6409-A078-EDC6-E1DFAEC3753B}"/>
              </a:ext>
            </a:extLst>
          </p:cNvPr>
          <p:cNvSpPr/>
          <p:nvPr/>
        </p:nvSpPr>
        <p:spPr>
          <a:xfrm>
            <a:off x="3537840" y="5930158"/>
            <a:ext cx="111523"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5" name="Table 4">
            <a:extLst>
              <a:ext uri="{FF2B5EF4-FFF2-40B4-BE49-F238E27FC236}">
                <a16:creationId xmlns:a16="http://schemas.microsoft.com/office/drawing/2014/main" id="{9D95FA90-5655-9861-1416-AE9F3354C1F0}"/>
              </a:ext>
            </a:extLst>
          </p:cNvPr>
          <p:cNvGraphicFramePr>
            <a:graphicFrameLocks noGrp="1"/>
          </p:cNvGraphicFramePr>
          <p:nvPr/>
        </p:nvGraphicFramePr>
        <p:xfrm>
          <a:off x="8066349" y="1231965"/>
          <a:ext cx="1044000" cy="4666066"/>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8538">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79365">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67254073"/>
                  </a:ext>
                </a:extLst>
              </a:tr>
              <a:tr h="32285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Yes</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0FFB4"/>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mn-lt"/>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42570638"/>
                  </a:ext>
                </a:extLst>
              </a:tr>
            </a:tbl>
          </a:graphicData>
        </a:graphic>
      </p:graphicFrame>
      <p:sp>
        <p:nvSpPr>
          <p:cNvPr id="19" name="Google Shape;1358;p33">
            <a:extLst>
              <a:ext uri="{FF2B5EF4-FFF2-40B4-BE49-F238E27FC236}">
                <a16:creationId xmlns:a16="http://schemas.microsoft.com/office/drawing/2014/main" id="{72AB8DF2-DC4C-6DFC-6D70-DB7EE09762D5}"/>
              </a:ext>
            </a:extLst>
          </p:cNvPr>
          <p:cNvSpPr/>
          <p:nvPr/>
        </p:nvSpPr>
        <p:spPr>
          <a:xfrm>
            <a:off x="116726" y="749914"/>
            <a:ext cx="8957624" cy="47444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Aided Message Recall – </a:t>
            </a:r>
            <a:r>
              <a:rPr kumimoji="0" lang="pl-PL" sz="1400" b="1" i="0" u="sng" strike="noStrike" kern="0" cap="none" spc="0" normalizeH="0" baseline="0" noProof="0">
                <a:ln>
                  <a:noFill/>
                </a:ln>
                <a:solidFill>
                  <a:srgbClr val="36729C"/>
                </a:solidFill>
                <a:effectLst/>
                <a:uLnTx/>
                <a:uFillTx/>
                <a:latin typeface="Arial" panose="020B0604020202020204" pitchFamily="34" charset="0"/>
                <a:ea typeface="Calibri"/>
                <a:cs typeface="Arial" panose="020B0604020202020204" pitchFamily="34" charset="0"/>
                <a:sym typeface="Calibri"/>
              </a:rPr>
              <a:t>CREON</a:t>
            </a:r>
            <a:endParaRPr kumimoji="0" lang="pl-PL" sz="1400" b="0"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a:t>
            </a:r>
            <a:r>
              <a:rPr kumimoji="0" lang="en-IN"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Jan’25 – Feb’25: n =109 | Mar’25 – Apr’25: n = 105 | May’25 – Jun’25: n = 106 | Jul’25 – Aug’25: n =108 | Sep’25 – Oct’25: n = 104 | Nov’25 – Dec’25: n = 108</a:t>
            </a:r>
            <a:r>
              <a:rPr kumimoji="0" lang="pl-PL"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a:t>
            </a:r>
            <a:endParaRPr kumimoji="0" lang="pl-PL"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sp>
        <p:nvSpPr>
          <p:cNvPr id="16" name="TextBox 15">
            <a:extLst>
              <a:ext uri="{FF2B5EF4-FFF2-40B4-BE49-F238E27FC236}">
                <a16:creationId xmlns:a16="http://schemas.microsoft.com/office/drawing/2014/main" id="{5D33B2FD-B908-5921-6DAD-3F515E88F73B}"/>
              </a:ext>
            </a:extLst>
          </p:cNvPr>
          <p:cNvSpPr txBox="1"/>
          <p:nvPr/>
        </p:nvSpPr>
        <p:spPr>
          <a:xfrm>
            <a:off x="33180" y="747857"/>
            <a:ext cx="2590750" cy="253916"/>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hlinkClick r:id="rId21" action="ppaction://hlinksldjump"/>
              </a:rPr>
              <a:t>Link to Message Recall by Specialty</a:t>
            </a:r>
            <a:endParaRPr kumimoji="0" lang="en-GB" sz="1050" b="1" i="1" u="sng"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graphicFrame>
        <p:nvGraphicFramePr>
          <p:cNvPr id="4" name="MR_CREON _OVERALL">
            <a:extLst>
              <a:ext uri="{FF2B5EF4-FFF2-40B4-BE49-F238E27FC236}">
                <a16:creationId xmlns:a16="http://schemas.microsoft.com/office/drawing/2014/main" id="{09A1BBB0-3ED3-AA51-92F7-DFA8277EC69B}"/>
              </a:ext>
            </a:extLst>
          </p:cNvPr>
          <p:cNvGraphicFramePr/>
          <p:nvPr>
            <p:custDataLst>
              <p:tags r:id="rId6"/>
            </p:custDataLst>
            <p:extLst>
              <p:ext uri="{D42A27DB-BD31-4B8C-83A1-F6EECF244321}">
                <p14:modId xmlns:p14="http://schemas.microsoft.com/office/powerpoint/2010/main" val="3602526445"/>
              </p:ext>
            </p:extLst>
          </p:nvPr>
        </p:nvGraphicFramePr>
        <p:xfrm>
          <a:off x="4824754" y="1890402"/>
          <a:ext cx="3412800" cy="3240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5" name="MR_CREON _OVERALL">
            <a:extLst>
              <a:ext uri="{FF2B5EF4-FFF2-40B4-BE49-F238E27FC236}">
                <a16:creationId xmlns:a16="http://schemas.microsoft.com/office/drawing/2014/main" id="{D498C2E9-082C-F466-C93C-DFB475B62D60}"/>
              </a:ext>
            </a:extLst>
          </p:cNvPr>
          <p:cNvGraphicFramePr/>
          <p:nvPr>
            <p:custDataLst>
              <p:tags r:id="rId7"/>
            </p:custDataLst>
            <p:extLst>
              <p:ext uri="{D42A27DB-BD31-4B8C-83A1-F6EECF244321}">
                <p14:modId xmlns:p14="http://schemas.microsoft.com/office/powerpoint/2010/main" val="3435016351"/>
              </p:ext>
            </p:extLst>
          </p:nvPr>
        </p:nvGraphicFramePr>
        <p:xfrm>
          <a:off x="4824754" y="2075341"/>
          <a:ext cx="3412800" cy="324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8" name="MR_CREON _OVERALL">
            <a:extLst>
              <a:ext uri="{FF2B5EF4-FFF2-40B4-BE49-F238E27FC236}">
                <a16:creationId xmlns:a16="http://schemas.microsoft.com/office/drawing/2014/main" id="{73F4A816-CFA6-B365-750A-83963F3866E8}"/>
              </a:ext>
            </a:extLst>
          </p:cNvPr>
          <p:cNvGraphicFramePr/>
          <p:nvPr>
            <p:custDataLst>
              <p:tags r:id="rId8"/>
            </p:custDataLst>
            <p:extLst>
              <p:ext uri="{D42A27DB-BD31-4B8C-83A1-F6EECF244321}">
                <p14:modId xmlns:p14="http://schemas.microsoft.com/office/powerpoint/2010/main" val="1322625604"/>
              </p:ext>
            </p:extLst>
          </p:nvPr>
        </p:nvGraphicFramePr>
        <p:xfrm>
          <a:off x="4824754" y="2297578"/>
          <a:ext cx="3412800" cy="324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1" name="MR_CREON _OVERALL">
            <a:extLst>
              <a:ext uri="{FF2B5EF4-FFF2-40B4-BE49-F238E27FC236}">
                <a16:creationId xmlns:a16="http://schemas.microsoft.com/office/drawing/2014/main" id="{88243A74-EC24-34CC-D8CF-B4262482514D}"/>
              </a:ext>
            </a:extLst>
          </p:cNvPr>
          <p:cNvGraphicFramePr/>
          <p:nvPr>
            <p:custDataLst>
              <p:tags r:id="rId9"/>
            </p:custDataLst>
            <p:extLst>
              <p:ext uri="{D42A27DB-BD31-4B8C-83A1-F6EECF244321}">
                <p14:modId xmlns:p14="http://schemas.microsoft.com/office/powerpoint/2010/main" val="3450489008"/>
              </p:ext>
            </p:extLst>
          </p:nvPr>
        </p:nvGraphicFramePr>
        <p:xfrm>
          <a:off x="4824754" y="2545647"/>
          <a:ext cx="3412800" cy="324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2" name="MR_CREON _OVERALL">
            <a:extLst>
              <a:ext uri="{FF2B5EF4-FFF2-40B4-BE49-F238E27FC236}">
                <a16:creationId xmlns:a16="http://schemas.microsoft.com/office/drawing/2014/main" id="{00ABD67A-3E73-25A1-E87A-FF773C5AA538}"/>
              </a:ext>
            </a:extLst>
          </p:cNvPr>
          <p:cNvGraphicFramePr/>
          <p:nvPr>
            <p:custDataLst>
              <p:tags r:id="rId10"/>
            </p:custDataLst>
            <p:extLst>
              <p:ext uri="{D42A27DB-BD31-4B8C-83A1-F6EECF244321}">
                <p14:modId xmlns:p14="http://schemas.microsoft.com/office/powerpoint/2010/main" val="2066479164"/>
              </p:ext>
            </p:extLst>
          </p:nvPr>
        </p:nvGraphicFramePr>
        <p:xfrm>
          <a:off x="4824754" y="2690159"/>
          <a:ext cx="3412800" cy="324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3" name="MR_CREON _OVERALL">
            <a:extLst>
              <a:ext uri="{FF2B5EF4-FFF2-40B4-BE49-F238E27FC236}">
                <a16:creationId xmlns:a16="http://schemas.microsoft.com/office/drawing/2014/main" id="{5B2A7B6C-3B9D-E7CB-729F-4CDCE48EF55B}"/>
              </a:ext>
            </a:extLst>
          </p:cNvPr>
          <p:cNvGraphicFramePr/>
          <p:nvPr>
            <p:custDataLst>
              <p:tags r:id="rId11"/>
            </p:custDataLst>
            <p:extLst>
              <p:ext uri="{D42A27DB-BD31-4B8C-83A1-F6EECF244321}">
                <p14:modId xmlns:p14="http://schemas.microsoft.com/office/powerpoint/2010/main" val="1812240078"/>
              </p:ext>
            </p:extLst>
          </p:nvPr>
        </p:nvGraphicFramePr>
        <p:xfrm>
          <a:off x="4824754" y="2927210"/>
          <a:ext cx="3412800" cy="324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4" name="MR_CREON _OVERALL">
            <a:extLst>
              <a:ext uri="{FF2B5EF4-FFF2-40B4-BE49-F238E27FC236}">
                <a16:creationId xmlns:a16="http://schemas.microsoft.com/office/drawing/2014/main" id="{4F100EDA-C907-1A47-FE4D-F8E61FE68818}"/>
              </a:ext>
            </a:extLst>
          </p:cNvPr>
          <p:cNvGraphicFramePr/>
          <p:nvPr>
            <p:custDataLst>
              <p:tags r:id="rId12"/>
            </p:custDataLst>
            <p:extLst>
              <p:ext uri="{D42A27DB-BD31-4B8C-83A1-F6EECF244321}">
                <p14:modId xmlns:p14="http://schemas.microsoft.com/office/powerpoint/2010/main" val="4241906103"/>
              </p:ext>
            </p:extLst>
          </p:nvPr>
        </p:nvGraphicFramePr>
        <p:xfrm>
          <a:off x="4824754" y="3224588"/>
          <a:ext cx="3412800" cy="324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5" name="MR_CREON _OVERALL">
            <a:extLst>
              <a:ext uri="{FF2B5EF4-FFF2-40B4-BE49-F238E27FC236}">
                <a16:creationId xmlns:a16="http://schemas.microsoft.com/office/drawing/2014/main" id="{8F1F6C33-8BA7-6F64-21CD-DAC57FDD3666}"/>
              </a:ext>
            </a:extLst>
          </p:cNvPr>
          <p:cNvGraphicFramePr/>
          <p:nvPr>
            <p:custDataLst>
              <p:tags r:id="rId13"/>
            </p:custDataLst>
            <p:extLst>
              <p:ext uri="{D42A27DB-BD31-4B8C-83A1-F6EECF244321}">
                <p14:modId xmlns:p14="http://schemas.microsoft.com/office/powerpoint/2010/main" val="2795549305"/>
              </p:ext>
            </p:extLst>
          </p:nvPr>
        </p:nvGraphicFramePr>
        <p:xfrm>
          <a:off x="4824754" y="3587672"/>
          <a:ext cx="3412800" cy="324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34" name="MR_CREON _OVERALL">
            <a:extLst>
              <a:ext uri="{FF2B5EF4-FFF2-40B4-BE49-F238E27FC236}">
                <a16:creationId xmlns:a16="http://schemas.microsoft.com/office/drawing/2014/main" id="{48328BED-3E3A-0159-A4B9-AD791E15D930}"/>
              </a:ext>
            </a:extLst>
          </p:cNvPr>
          <p:cNvGraphicFramePr/>
          <p:nvPr>
            <p:custDataLst>
              <p:tags r:id="rId14"/>
            </p:custDataLst>
            <p:extLst>
              <p:ext uri="{D42A27DB-BD31-4B8C-83A1-F6EECF244321}">
                <p14:modId xmlns:p14="http://schemas.microsoft.com/office/powerpoint/2010/main" val="76607936"/>
              </p:ext>
            </p:extLst>
          </p:nvPr>
        </p:nvGraphicFramePr>
        <p:xfrm>
          <a:off x="4824754" y="4038672"/>
          <a:ext cx="3412800" cy="324000"/>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37" name="MR_CREON _OVERALL">
            <a:extLst>
              <a:ext uri="{FF2B5EF4-FFF2-40B4-BE49-F238E27FC236}">
                <a16:creationId xmlns:a16="http://schemas.microsoft.com/office/drawing/2014/main" id="{D2972A42-1AF7-8B17-9FAA-3C9CBC8575AB}"/>
              </a:ext>
            </a:extLst>
          </p:cNvPr>
          <p:cNvGraphicFramePr/>
          <p:nvPr>
            <p:custDataLst>
              <p:tags r:id="rId15"/>
            </p:custDataLst>
            <p:extLst>
              <p:ext uri="{D42A27DB-BD31-4B8C-83A1-F6EECF244321}">
                <p14:modId xmlns:p14="http://schemas.microsoft.com/office/powerpoint/2010/main" val="1654120337"/>
              </p:ext>
            </p:extLst>
          </p:nvPr>
        </p:nvGraphicFramePr>
        <p:xfrm>
          <a:off x="4824754" y="4489672"/>
          <a:ext cx="3412800" cy="324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38" name="MR_CREON _OVERALL">
            <a:extLst>
              <a:ext uri="{FF2B5EF4-FFF2-40B4-BE49-F238E27FC236}">
                <a16:creationId xmlns:a16="http://schemas.microsoft.com/office/drawing/2014/main" id="{C8C74B69-ABE2-36A1-7992-7499EDC1AB76}"/>
              </a:ext>
            </a:extLst>
          </p:cNvPr>
          <p:cNvGraphicFramePr/>
          <p:nvPr>
            <p:custDataLst>
              <p:tags r:id="rId16"/>
            </p:custDataLst>
            <p:extLst>
              <p:ext uri="{D42A27DB-BD31-4B8C-83A1-F6EECF244321}">
                <p14:modId xmlns:p14="http://schemas.microsoft.com/office/powerpoint/2010/main" val="813403724"/>
              </p:ext>
            </p:extLst>
          </p:nvPr>
        </p:nvGraphicFramePr>
        <p:xfrm>
          <a:off x="4824754" y="4940671"/>
          <a:ext cx="3412800" cy="324000"/>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39" name="MR_CREON _OVERALL">
            <a:extLst>
              <a:ext uri="{FF2B5EF4-FFF2-40B4-BE49-F238E27FC236}">
                <a16:creationId xmlns:a16="http://schemas.microsoft.com/office/drawing/2014/main" id="{C1588C29-A616-895E-4622-CE214DB200C1}"/>
              </a:ext>
            </a:extLst>
          </p:cNvPr>
          <p:cNvGraphicFramePr/>
          <p:nvPr>
            <p:custDataLst>
              <p:tags r:id="rId17"/>
            </p:custDataLst>
            <p:extLst>
              <p:ext uri="{D42A27DB-BD31-4B8C-83A1-F6EECF244321}">
                <p14:modId xmlns:p14="http://schemas.microsoft.com/office/powerpoint/2010/main" val="2228851591"/>
              </p:ext>
            </p:extLst>
          </p:nvPr>
        </p:nvGraphicFramePr>
        <p:xfrm>
          <a:off x="4824754" y="5391672"/>
          <a:ext cx="3412800" cy="324000"/>
        </p:xfrm>
        <a:graphic>
          <a:graphicData uri="http://schemas.openxmlformats.org/drawingml/2006/chart">
            <c:chart xmlns:c="http://schemas.openxmlformats.org/drawingml/2006/chart" xmlns:r="http://schemas.openxmlformats.org/officeDocument/2006/relationships" r:id="rId33"/>
          </a:graphicData>
        </a:graphic>
      </p:graphicFrame>
    </p:spTree>
    <p:extLst>
      <p:ext uri="{BB962C8B-B14F-4D97-AF65-F5344CB8AC3E}">
        <p14:creationId xmlns:p14="http://schemas.microsoft.com/office/powerpoint/2010/main" val="4247679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1358" name="Google Shape;1358;p33"/>
          <p:cNvSpPr/>
          <p:nvPr/>
        </p:nvSpPr>
        <p:spPr>
          <a:xfrm>
            <a:off x="116726" y="749913"/>
            <a:ext cx="8957624" cy="47444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Aided Message Recall – </a:t>
            </a:r>
            <a:r>
              <a:rPr kumimoji="0" lang="pl-PL" sz="1400" b="1" i="0" u="sng" strike="noStrike" kern="0" cap="none" spc="0" normalizeH="0" baseline="0" noProof="0">
                <a:ln>
                  <a:noFill/>
                </a:ln>
                <a:solidFill>
                  <a:srgbClr val="9778D4"/>
                </a:solidFill>
                <a:effectLst/>
                <a:uLnTx/>
                <a:uFillTx/>
                <a:latin typeface="Arial" panose="020B0604020202020204" pitchFamily="34" charset="0"/>
                <a:ea typeface="Calibri"/>
                <a:cs typeface="Arial" panose="020B0604020202020204" pitchFamily="34" charset="0"/>
                <a:sym typeface="Calibri"/>
              </a:rPr>
              <a:t>ZENPEP</a:t>
            </a:r>
            <a:endParaRPr kumimoji="0" lang="pl-PL" sz="1400" b="0"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IN"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(Jan’25 – Feb’25: n =108 | Mar’25 – Apr’25: n = 105 | May’25 – Jun’25: n = 104 | Jul’25 – Aug’25: n = 102 | Sep’25 – Oct’25: n = 106 | Nov’25 – Dec’25: n = 102)</a:t>
            </a:r>
            <a:endParaRPr kumimoji="0" lang="pl-PL"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1362" name="Z_MR_table"/>
          <p:cNvGraphicFramePr/>
          <p:nvPr>
            <p:custDataLst>
              <p:tags r:id="rId1"/>
            </p:custDataLst>
            <p:extLst>
              <p:ext uri="{D42A27DB-BD31-4B8C-83A1-F6EECF244321}">
                <p14:modId xmlns:p14="http://schemas.microsoft.com/office/powerpoint/2010/main" val="1391893087"/>
              </p:ext>
            </p:extLst>
          </p:nvPr>
        </p:nvGraphicFramePr>
        <p:xfrm>
          <a:off x="116725" y="1685308"/>
          <a:ext cx="4798800" cy="4536000"/>
        </p:xfrm>
        <a:graphic>
          <a:graphicData uri="http://schemas.openxmlformats.org/drawingml/2006/table">
            <a:tbl>
              <a:tblPr>
                <a:noFill/>
                <a:tableStyleId>{96BACEE3-1A1D-4107-9369-2142449FF59F}</a:tableStyleId>
              </a:tblPr>
              <a:tblGrid>
                <a:gridCol w="435600">
                  <a:extLst>
                    <a:ext uri="{9D8B030D-6E8A-4147-A177-3AD203B41FA5}">
                      <a16:colId xmlns:a16="http://schemas.microsoft.com/office/drawing/2014/main" val="20000"/>
                    </a:ext>
                  </a:extLst>
                </a:gridCol>
                <a:gridCol w="4363200">
                  <a:extLst>
                    <a:ext uri="{9D8B030D-6E8A-4147-A177-3AD203B41FA5}">
                      <a16:colId xmlns:a16="http://schemas.microsoft.com/office/drawing/2014/main" val="20001"/>
                    </a:ext>
                  </a:extLst>
                </a:gridCol>
              </a:tblGrid>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ZP11</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is now $0 for commercially insured patients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ZP17</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Only ZENPEP offers 40k and 60k lipase-unit capsules, which may help reduce the number of pills your adult patients need to take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52622235"/>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ZP16</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offers a single-capsule starting dose for almost all adult patients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832839203"/>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ZP21</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can help your patients absorb the fat and nutrients they need and treat uncomfortable GI symptoms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41619119"/>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ZP23</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is the most widely covered treatment in its class.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05802967"/>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ZP15</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When prescribing PERT to your adult patients with EPI -Start simply with one capsule of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93515455"/>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ZP19</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Meets the ACG guideline for EPI and CP in a single capsule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866428584"/>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ZP7</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has an enteric coating that minimizes degradation and targets enzyme release in the small intestine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01002861"/>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ZP24</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is designed to mimic typical exocrine pancreatic function.</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60049621"/>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ZP18</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In a clinical trial, the right dose helped patients absorb nutrients from their food and provided symptom relief</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40477814"/>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ZP22</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Through My SampleCloset, practices are able to easily request samples of Zenpep at any strength</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213820237"/>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ZP25</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is the fastest growing PERT</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65518015"/>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ZP20</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91% of patients achieved a CFA of 80% or higher with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379716549"/>
                  </a:ext>
                </a:extLst>
              </a:tr>
              <a:tr h="324000">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a:cs typeface="Arial"/>
                        </a:rPr>
                        <a:t>ZP8</a:t>
                      </a:r>
                    </a:p>
                  </a:txBody>
                  <a:tcPr marL="7620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buNone/>
                      </a:pPr>
                      <a:r>
                        <a:rPr kumimoji="0" lang="en-US" sz="900" b="0" i="0" u="none" strike="noStrike" kern="0" cap="none" spc="0" normalizeH="0" baseline="0">
                          <a:ln>
                            <a:noFill/>
                          </a:ln>
                          <a:solidFill>
                            <a:srgbClr val="071D49"/>
                          </a:solidFill>
                          <a:effectLst/>
                          <a:uLnTx/>
                          <a:uFillTx/>
                          <a:latin typeface="Arial" panose="020B0604020202020204"/>
                          <a:cs typeface="Arial"/>
                        </a:rPr>
                        <a:t>ZENPEP helps fuel nutritional health, increasing coefficient of fat absorption (CFA) by 26 percentage points vs placebo</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233692178"/>
                  </a:ext>
                </a:extLst>
              </a:tr>
            </a:tbl>
          </a:graphicData>
        </a:graphic>
      </p:graphicFrame>
      <p:sp>
        <p:nvSpPr>
          <p:cNvPr id="42" name="Google Shape;1375;p33">
            <a:extLst>
              <a:ext uri="{FF2B5EF4-FFF2-40B4-BE49-F238E27FC236}">
                <a16:creationId xmlns:a16="http://schemas.microsoft.com/office/drawing/2014/main" id="{4D1C42A9-196A-4438-B4F2-334213FB6637}"/>
              </a:ext>
            </a:extLst>
          </p:cNvPr>
          <p:cNvSpPr txBox="1"/>
          <p:nvPr/>
        </p:nvSpPr>
        <p:spPr>
          <a:xfrm>
            <a:off x="928800" y="5857590"/>
            <a:ext cx="7646645"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statistically significant (p&lt;.05) difference between waves | *Full message text in speaker notes | </a:t>
            </a:r>
            <a:r>
              <a:rPr kumimoji="0" lang="en-GB"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denote wave averages for message recall (disease state messages excluded) | **New message added in W32: Z24 | ^Messages Edited in W32: Z11, Z23</a:t>
            </a:r>
            <a:endParaRPr kumimoji="0" lang="en-US" sz="900" b="0" i="0" u="none" strike="noStrike" kern="0" cap="none" spc="0" normalizeH="0" baseline="30000" noProof="0">
              <a:ln>
                <a:noFill/>
              </a:ln>
              <a:solidFill>
                <a:srgbClr val="001D49"/>
              </a:solidFill>
              <a:effectLst/>
              <a:uLnTx/>
              <a:uFillTx/>
              <a:latin typeface="Arial" panose="020B0604020202020204" pitchFamily="34" charset="0"/>
              <a:ea typeface="Calibri"/>
              <a:cs typeface="Arial" panose="020B0604020202020204" pitchFamily="34" charset="0"/>
              <a:sym typeface="Calibri"/>
            </a:endParaRPr>
          </a:p>
        </p:txBody>
      </p:sp>
      <p:sp>
        <p:nvSpPr>
          <p:cNvPr id="6" name="Google Shape;1368;p33">
            <a:extLst>
              <a:ext uri="{FF2B5EF4-FFF2-40B4-BE49-F238E27FC236}">
                <a16:creationId xmlns:a16="http://schemas.microsoft.com/office/drawing/2014/main" id="{A9ED5660-0014-8A1C-22F4-EA54AFA201A1}"/>
              </a:ext>
            </a:extLst>
          </p:cNvPr>
          <p:cNvSpPr/>
          <p:nvPr/>
        </p:nvSpPr>
        <p:spPr>
          <a:xfrm>
            <a:off x="5915329" y="5740446"/>
            <a:ext cx="1206165"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interactions</a:t>
            </a:r>
            <a:endParaRPr kumimoji="0" lang="en-US" sz="10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16" name="wave table OCQ">
            <a:extLst>
              <a:ext uri="{FF2B5EF4-FFF2-40B4-BE49-F238E27FC236}">
                <a16:creationId xmlns:a16="http://schemas.microsoft.com/office/drawing/2014/main" id="{5A9E38FD-E941-D4A8-F27F-B224F59AAFDF}"/>
              </a:ext>
            </a:extLst>
          </p:cNvPr>
          <p:cNvGraphicFramePr>
            <a:graphicFrameLocks noGrp="1"/>
          </p:cNvGraphicFramePr>
          <p:nvPr>
            <p:custDataLst>
              <p:tags r:id="rId2"/>
            </p:custDataLst>
          </p:nvPr>
        </p:nvGraphicFramePr>
        <p:xfrm>
          <a:off x="4935121" y="1254049"/>
          <a:ext cx="3104946" cy="243840"/>
        </p:xfrm>
        <a:graphic>
          <a:graphicData uri="http://schemas.openxmlformats.org/drawingml/2006/table">
            <a:tbl>
              <a:tblPr firstRow="1" bandRow="1">
                <a:tableStyleId>{B301B821-A1FF-4177-AEE7-76D212191A09}</a:tableStyleId>
              </a:tblPr>
              <a:tblGrid>
                <a:gridCol w="517491">
                  <a:extLst>
                    <a:ext uri="{9D8B030D-6E8A-4147-A177-3AD203B41FA5}">
                      <a16:colId xmlns:a16="http://schemas.microsoft.com/office/drawing/2014/main" val="3554599800"/>
                    </a:ext>
                  </a:extLst>
                </a:gridCol>
                <a:gridCol w="517491">
                  <a:extLst>
                    <a:ext uri="{9D8B030D-6E8A-4147-A177-3AD203B41FA5}">
                      <a16:colId xmlns:a16="http://schemas.microsoft.com/office/drawing/2014/main" val="2914776207"/>
                    </a:ext>
                  </a:extLst>
                </a:gridCol>
                <a:gridCol w="517491">
                  <a:extLst>
                    <a:ext uri="{9D8B030D-6E8A-4147-A177-3AD203B41FA5}">
                      <a16:colId xmlns:a16="http://schemas.microsoft.com/office/drawing/2014/main" val="2088702262"/>
                    </a:ext>
                  </a:extLst>
                </a:gridCol>
                <a:gridCol w="517491">
                  <a:extLst>
                    <a:ext uri="{9D8B030D-6E8A-4147-A177-3AD203B41FA5}">
                      <a16:colId xmlns:a16="http://schemas.microsoft.com/office/drawing/2014/main" val="192097877"/>
                    </a:ext>
                  </a:extLst>
                </a:gridCol>
                <a:gridCol w="517491">
                  <a:extLst>
                    <a:ext uri="{9D8B030D-6E8A-4147-A177-3AD203B41FA5}">
                      <a16:colId xmlns:a16="http://schemas.microsoft.com/office/drawing/2014/main" val="1326389649"/>
                    </a:ext>
                  </a:extLst>
                </a:gridCol>
                <a:gridCol w="517491">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2" name="Shape_46703570">
            <a:extLst>
              <a:ext uri="{FF2B5EF4-FFF2-40B4-BE49-F238E27FC236}">
                <a16:creationId xmlns:a16="http://schemas.microsoft.com/office/drawing/2014/main" id="{E3A244A1-27AB-F375-5570-EB795A17591B}"/>
              </a:ext>
            </a:extLst>
          </p:cNvPr>
          <p:cNvGraphicFramePr>
            <a:graphicFrameLocks noGrp="1"/>
          </p:cNvGraphicFramePr>
          <p:nvPr>
            <p:custDataLst>
              <p:tags r:id="rId3"/>
            </p:custDataLst>
          </p:nvPr>
        </p:nvGraphicFramePr>
        <p:xfrm>
          <a:off x="4935121" y="1514805"/>
          <a:ext cx="3104946" cy="143510"/>
        </p:xfrm>
        <a:graphic>
          <a:graphicData uri="http://schemas.openxmlformats.org/drawingml/2006/table">
            <a:tbl>
              <a:tblPr firstRow="1" bandRow="1">
                <a:tableStyleId>{B301B821-A1FF-4177-AEE7-76D212191A09}</a:tableStyleId>
              </a:tblPr>
              <a:tblGrid>
                <a:gridCol w="517491">
                  <a:extLst>
                    <a:ext uri="{9D8B030D-6E8A-4147-A177-3AD203B41FA5}">
                      <a16:colId xmlns:a16="http://schemas.microsoft.com/office/drawing/2014/main" val="3554599800"/>
                    </a:ext>
                  </a:extLst>
                </a:gridCol>
                <a:gridCol w="517491">
                  <a:extLst>
                    <a:ext uri="{9D8B030D-6E8A-4147-A177-3AD203B41FA5}">
                      <a16:colId xmlns:a16="http://schemas.microsoft.com/office/drawing/2014/main" val="2914776207"/>
                    </a:ext>
                  </a:extLst>
                </a:gridCol>
                <a:gridCol w="517491">
                  <a:extLst>
                    <a:ext uri="{9D8B030D-6E8A-4147-A177-3AD203B41FA5}">
                      <a16:colId xmlns:a16="http://schemas.microsoft.com/office/drawing/2014/main" val="2088702262"/>
                    </a:ext>
                  </a:extLst>
                </a:gridCol>
                <a:gridCol w="517491">
                  <a:extLst>
                    <a:ext uri="{9D8B030D-6E8A-4147-A177-3AD203B41FA5}">
                      <a16:colId xmlns:a16="http://schemas.microsoft.com/office/drawing/2014/main" val="192097877"/>
                    </a:ext>
                  </a:extLst>
                </a:gridCol>
                <a:gridCol w="517491">
                  <a:extLst>
                    <a:ext uri="{9D8B030D-6E8A-4147-A177-3AD203B41FA5}">
                      <a16:colId xmlns:a16="http://schemas.microsoft.com/office/drawing/2014/main" val="1326389649"/>
                    </a:ext>
                  </a:extLst>
                </a:gridCol>
                <a:gridCol w="517491">
                  <a:extLst>
                    <a:ext uri="{9D8B030D-6E8A-4147-A177-3AD203B41FA5}">
                      <a16:colId xmlns:a16="http://schemas.microsoft.com/office/drawing/2014/main" val="3544539175"/>
                    </a:ext>
                  </a:extLst>
                </a:gridCol>
              </a:tblGrid>
              <a:tr h="87892">
                <a:tc>
                  <a:txBody>
                    <a:bodyPr/>
                    <a:lstStyle/>
                    <a:p>
                      <a:pPr algn="ctr" fontAlgn="ctr"/>
                      <a:r>
                        <a:rPr lang="en-IN" sz="900" b="0" i="1" u="none" strike="noStrike" kern="1200" cap="none">
                          <a:solidFill>
                            <a:srgbClr val="071D49"/>
                          </a:solidFill>
                          <a:effectLst/>
                          <a:latin typeface="+mj-lt"/>
                          <a:ea typeface="+mn-ea"/>
                          <a:cs typeface="+mn-cs"/>
                        </a:rPr>
                        <a:t>35%</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35%</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35%</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36%</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38%</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36%</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7" name="Shape_64300203">
            <a:extLst>
              <a:ext uri="{FF2B5EF4-FFF2-40B4-BE49-F238E27FC236}">
                <a16:creationId xmlns:a16="http://schemas.microsoft.com/office/drawing/2014/main" id="{8CE6B334-DC9C-8E3D-AE67-4F8506C91BBA}"/>
              </a:ext>
            </a:extLst>
          </p:cNvPr>
          <p:cNvGraphicFramePr>
            <a:graphicFrameLocks noGrp="1"/>
          </p:cNvGraphicFramePr>
          <p:nvPr>
            <p:custDataLst>
              <p:tags r:id="rId4"/>
            </p:custDataLst>
          </p:nvPr>
        </p:nvGraphicFramePr>
        <p:xfrm>
          <a:off x="4693750" y="6063453"/>
          <a:ext cx="216000" cy="121920"/>
        </p:xfrm>
        <a:graphic>
          <a:graphicData uri="http://schemas.openxmlformats.org/drawingml/2006/table">
            <a:tbl>
              <a:tblPr firstRow="1" bandRow="1">
                <a:tableStyleId>{B301B821-A1FF-4177-AEE7-76D212191A09}</a:tableStyleId>
              </a:tblPr>
              <a:tblGrid>
                <a:gridCol w="216000">
                  <a:extLst>
                    <a:ext uri="{9D8B030D-6E8A-4147-A177-3AD203B41FA5}">
                      <a16:colId xmlns:a16="http://schemas.microsoft.com/office/drawing/2014/main" val="3554599800"/>
                    </a:ext>
                  </a:extLst>
                </a:gridCol>
              </a:tblGrid>
              <a:tr h="12192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IN" sz="800" b="0" i="1" u="none" strike="noStrike" cap="none">
                          <a:solidFill>
                            <a:srgbClr val="071D49"/>
                          </a:solidFill>
                          <a:effectLst/>
                          <a:latin typeface="+mj-lt"/>
                          <a:ea typeface="+mn-ea"/>
                          <a:cs typeface="+mn-cs"/>
                          <a:sym typeface="Arial"/>
                        </a:rPr>
                        <a:t>**%</a:t>
                      </a:r>
                      <a:endParaRPr lang="en-US" sz="800" b="0" i="1" u="none" strike="noStrike" cap="none">
                        <a:solidFill>
                          <a:srgbClr val="071D49"/>
                        </a:solidFill>
                        <a:effectLst/>
                        <a:latin typeface="+mj-lt"/>
                        <a:ea typeface="+mn-ea"/>
                        <a:cs typeface="+mn-cs"/>
                        <a:sym typeface="Arial"/>
                      </a:endParaRPr>
                    </a:p>
                  </a:txBody>
                  <a:tcPr marL="0" marR="0" marT="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4" name="z5">
            <a:extLst>
              <a:ext uri="{FF2B5EF4-FFF2-40B4-BE49-F238E27FC236}">
                <a16:creationId xmlns:a16="http://schemas.microsoft.com/office/drawing/2014/main" id="{AE9DC261-FF14-0CE8-2902-EFCC19BB0108}"/>
              </a:ext>
            </a:extLst>
          </p:cNvPr>
          <p:cNvGraphicFramePr/>
          <p:nvPr>
            <p:custDataLst>
              <p:tags r:id="rId5"/>
            </p:custDataLst>
            <p:extLst>
              <p:ext uri="{D42A27DB-BD31-4B8C-83A1-F6EECF244321}">
                <p14:modId xmlns:p14="http://schemas.microsoft.com/office/powerpoint/2010/main" val="2716414523"/>
              </p:ext>
            </p:extLst>
          </p:nvPr>
        </p:nvGraphicFramePr>
        <p:xfrm>
          <a:off x="4822197" y="1685308"/>
          <a:ext cx="3413328" cy="324000"/>
        </p:xfrm>
        <a:graphic>
          <a:graphicData uri="http://schemas.openxmlformats.org/drawingml/2006/chart">
            <c:chart xmlns:c="http://schemas.openxmlformats.org/drawingml/2006/chart" xmlns:r="http://schemas.openxmlformats.org/officeDocument/2006/relationships" r:id="rId21"/>
          </a:graphicData>
        </a:graphic>
      </p:graphicFrame>
      <p:sp>
        <p:nvSpPr>
          <p:cNvPr id="9" name="Google Shape;1359;p33">
            <a:extLst>
              <a:ext uri="{FF2B5EF4-FFF2-40B4-BE49-F238E27FC236}">
                <a16:creationId xmlns:a16="http://schemas.microsoft.com/office/drawing/2014/main" id="{82ABE36F-9ACC-0334-E3CE-3A993EF1EC70}"/>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ZENPEP’s dosing message Z17 remained the most recalled, with recall for newly added message Z24 was low; meanwhile, recall for updated message Z23 declined significantly this wave</a:t>
            </a:r>
            <a:endParaRPr kumimoji="0" lang="en-US" sz="1400" b="0" i="0" u="none" strike="sng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sp>
        <p:nvSpPr>
          <p:cNvPr id="27" name="TextBox 26">
            <a:extLst>
              <a:ext uri="{FF2B5EF4-FFF2-40B4-BE49-F238E27FC236}">
                <a16:creationId xmlns:a16="http://schemas.microsoft.com/office/drawing/2014/main" id="{95AB9A80-6278-B8E3-25E5-C706425570B3}"/>
              </a:ext>
            </a:extLst>
          </p:cNvPr>
          <p:cNvSpPr txBox="1"/>
          <p:nvPr/>
        </p:nvSpPr>
        <p:spPr>
          <a:xfrm>
            <a:off x="116725" y="1428275"/>
            <a:ext cx="4798176"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3" name="Table 2">
            <a:extLst>
              <a:ext uri="{FF2B5EF4-FFF2-40B4-BE49-F238E27FC236}">
                <a16:creationId xmlns:a16="http://schemas.microsoft.com/office/drawing/2014/main" id="{0387F5AE-9146-3DA6-7FA1-0DDEA4FDE92A}"/>
              </a:ext>
            </a:extLst>
          </p:cNvPr>
          <p:cNvGraphicFramePr>
            <a:graphicFrameLocks noGrp="1"/>
          </p:cNvGraphicFramePr>
          <p:nvPr/>
        </p:nvGraphicFramePr>
        <p:xfrm>
          <a:off x="8066349" y="1231965"/>
          <a:ext cx="1044000" cy="4681560"/>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4419">
                <a:tc gridSpan="2">
                  <a:txBody>
                    <a:bodyPr/>
                    <a:lstStyle/>
                    <a:p>
                      <a:pPr algn="ctr"/>
                      <a:r>
                        <a:rPr lang="en-IN" sz="1000" strike="noStrike">
                          <a:solidFill>
                            <a:schemeClr val="tx1"/>
                          </a:solidFill>
                        </a:rPr>
                        <a:t>ZENPEP</a:t>
                      </a:r>
                    </a:p>
                    <a:p>
                      <a:pPr algn="ctr"/>
                      <a:r>
                        <a:rPr lang="en-IN" sz="900" b="1" strike="noStrike">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80000">
                <a:tc>
                  <a:txBody>
                    <a:bodyPr/>
                    <a:lstStyle/>
                    <a:p>
                      <a:pPr algn="ctr"/>
                      <a:r>
                        <a:rPr lang="en-IN" sz="900" strike="noStrike">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strike="noStrike">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0FFB4"/>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67254073"/>
                  </a:ext>
                </a:extLst>
              </a:tr>
              <a:tr h="324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049077971"/>
                  </a:ext>
                </a:extLst>
              </a:tr>
            </a:tbl>
          </a:graphicData>
        </a:graphic>
      </p:graphicFrame>
      <p:sp>
        <p:nvSpPr>
          <p:cNvPr id="13" name="Google Shape;2197;p58">
            <a:extLst>
              <a:ext uri="{FF2B5EF4-FFF2-40B4-BE49-F238E27FC236}">
                <a16:creationId xmlns:a16="http://schemas.microsoft.com/office/drawing/2014/main" id="{4160E55A-9954-4489-979D-05027CD618C7}"/>
              </a:ext>
            </a:extLst>
          </p:cNvPr>
          <p:cNvSpPr/>
          <p:nvPr/>
        </p:nvSpPr>
        <p:spPr>
          <a:xfrm>
            <a:off x="3537840" y="5914249"/>
            <a:ext cx="111523"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5" name="TextBox 4">
            <a:extLst>
              <a:ext uri="{FF2B5EF4-FFF2-40B4-BE49-F238E27FC236}">
                <a16:creationId xmlns:a16="http://schemas.microsoft.com/office/drawing/2014/main" id="{4321D5BE-2166-FAE2-C64B-59832BD0A6DE}"/>
              </a:ext>
            </a:extLst>
          </p:cNvPr>
          <p:cNvSpPr txBox="1"/>
          <p:nvPr/>
        </p:nvSpPr>
        <p:spPr>
          <a:xfrm>
            <a:off x="33179" y="747857"/>
            <a:ext cx="2809411" cy="253916"/>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hlinkClick r:id="rId22" action="ppaction://hlinksldjump"/>
              </a:rPr>
              <a:t>Link to Message Recall by Specialty</a:t>
            </a:r>
            <a:endParaRPr kumimoji="0" lang="en-GB" sz="1050" b="1" i="1" u="sng"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sp>
        <p:nvSpPr>
          <p:cNvPr id="21" name="Google Shape;2197;p58">
            <a:extLst>
              <a:ext uri="{FF2B5EF4-FFF2-40B4-BE49-F238E27FC236}">
                <a16:creationId xmlns:a16="http://schemas.microsoft.com/office/drawing/2014/main" id="{EE2B0633-2783-88DE-690F-0C75C7A546CD}"/>
              </a:ext>
            </a:extLst>
          </p:cNvPr>
          <p:cNvSpPr/>
          <p:nvPr/>
        </p:nvSpPr>
        <p:spPr>
          <a:xfrm>
            <a:off x="7426637" y="1720625"/>
            <a:ext cx="111523"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14" name="z5">
            <a:extLst>
              <a:ext uri="{FF2B5EF4-FFF2-40B4-BE49-F238E27FC236}">
                <a16:creationId xmlns:a16="http://schemas.microsoft.com/office/drawing/2014/main" id="{AD44EF8A-D249-DB4E-8D7E-082E2F7803EE}"/>
              </a:ext>
            </a:extLst>
          </p:cNvPr>
          <p:cNvGraphicFramePr/>
          <p:nvPr>
            <p:custDataLst>
              <p:tags r:id="rId6"/>
            </p:custDataLst>
            <p:extLst>
              <p:ext uri="{D42A27DB-BD31-4B8C-83A1-F6EECF244321}">
                <p14:modId xmlns:p14="http://schemas.microsoft.com/office/powerpoint/2010/main" val="967776085"/>
              </p:ext>
            </p:extLst>
          </p:nvPr>
        </p:nvGraphicFramePr>
        <p:xfrm>
          <a:off x="4822197" y="1959274"/>
          <a:ext cx="3413328" cy="324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z5">
            <a:extLst>
              <a:ext uri="{FF2B5EF4-FFF2-40B4-BE49-F238E27FC236}">
                <a16:creationId xmlns:a16="http://schemas.microsoft.com/office/drawing/2014/main" id="{6637D38D-F42E-CAB1-D23E-6441480611C3}"/>
              </a:ext>
            </a:extLst>
          </p:cNvPr>
          <p:cNvGraphicFramePr/>
          <p:nvPr>
            <p:custDataLst>
              <p:tags r:id="rId7"/>
            </p:custDataLst>
            <p:extLst>
              <p:ext uri="{D42A27DB-BD31-4B8C-83A1-F6EECF244321}">
                <p14:modId xmlns:p14="http://schemas.microsoft.com/office/powerpoint/2010/main" val="1315203257"/>
              </p:ext>
            </p:extLst>
          </p:nvPr>
        </p:nvGraphicFramePr>
        <p:xfrm>
          <a:off x="4822197" y="2206667"/>
          <a:ext cx="3413328" cy="324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5" name="z5">
            <a:extLst>
              <a:ext uri="{FF2B5EF4-FFF2-40B4-BE49-F238E27FC236}">
                <a16:creationId xmlns:a16="http://schemas.microsoft.com/office/drawing/2014/main" id="{28281278-967E-B4C3-6995-7B7942AD2580}"/>
              </a:ext>
            </a:extLst>
          </p:cNvPr>
          <p:cNvGraphicFramePr/>
          <p:nvPr>
            <p:custDataLst>
              <p:tags r:id="rId8"/>
            </p:custDataLst>
            <p:extLst>
              <p:ext uri="{D42A27DB-BD31-4B8C-83A1-F6EECF244321}">
                <p14:modId xmlns:p14="http://schemas.microsoft.com/office/powerpoint/2010/main" val="2688716741"/>
              </p:ext>
            </p:extLst>
          </p:nvPr>
        </p:nvGraphicFramePr>
        <p:xfrm>
          <a:off x="4822197" y="2530667"/>
          <a:ext cx="3413328" cy="324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6" name="z5">
            <a:extLst>
              <a:ext uri="{FF2B5EF4-FFF2-40B4-BE49-F238E27FC236}">
                <a16:creationId xmlns:a16="http://schemas.microsoft.com/office/drawing/2014/main" id="{DCC1CF6C-B88A-E528-4E06-C3F775C07276}"/>
              </a:ext>
            </a:extLst>
          </p:cNvPr>
          <p:cNvGraphicFramePr/>
          <p:nvPr>
            <p:custDataLst>
              <p:tags r:id="rId9"/>
            </p:custDataLst>
            <p:extLst>
              <p:ext uri="{D42A27DB-BD31-4B8C-83A1-F6EECF244321}">
                <p14:modId xmlns:p14="http://schemas.microsoft.com/office/powerpoint/2010/main" val="2278890179"/>
              </p:ext>
            </p:extLst>
          </p:nvPr>
        </p:nvGraphicFramePr>
        <p:xfrm>
          <a:off x="4822197" y="2805949"/>
          <a:ext cx="3413328" cy="324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8" name="z5">
            <a:extLst>
              <a:ext uri="{FF2B5EF4-FFF2-40B4-BE49-F238E27FC236}">
                <a16:creationId xmlns:a16="http://schemas.microsoft.com/office/drawing/2014/main" id="{D2D1F077-0AC5-5C5B-31A3-CB37FCD60CDD}"/>
              </a:ext>
            </a:extLst>
          </p:cNvPr>
          <p:cNvGraphicFramePr/>
          <p:nvPr>
            <p:custDataLst>
              <p:tags r:id="rId10"/>
            </p:custDataLst>
            <p:extLst>
              <p:ext uri="{D42A27DB-BD31-4B8C-83A1-F6EECF244321}">
                <p14:modId xmlns:p14="http://schemas.microsoft.com/office/powerpoint/2010/main" val="842472122"/>
              </p:ext>
            </p:extLst>
          </p:nvPr>
        </p:nvGraphicFramePr>
        <p:xfrm>
          <a:off x="4822197" y="3009912"/>
          <a:ext cx="3413328" cy="324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33" name="z5">
            <a:extLst>
              <a:ext uri="{FF2B5EF4-FFF2-40B4-BE49-F238E27FC236}">
                <a16:creationId xmlns:a16="http://schemas.microsoft.com/office/drawing/2014/main" id="{FCA89873-B6E8-8948-1A3F-8341A287A677}"/>
              </a:ext>
            </a:extLst>
          </p:cNvPr>
          <p:cNvGraphicFramePr/>
          <p:nvPr>
            <p:custDataLst>
              <p:tags r:id="rId11"/>
            </p:custDataLst>
            <p:extLst>
              <p:ext uri="{D42A27DB-BD31-4B8C-83A1-F6EECF244321}">
                <p14:modId xmlns:p14="http://schemas.microsoft.com/office/powerpoint/2010/main" val="4088620482"/>
              </p:ext>
            </p:extLst>
          </p:nvPr>
        </p:nvGraphicFramePr>
        <p:xfrm>
          <a:off x="4822197" y="3370231"/>
          <a:ext cx="3413328" cy="324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34" name="z5">
            <a:extLst>
              <a:ext uri="{FF2B5EF4-FFF2-40B4-BE49-F238E27FC236}">
                <a16:creationId xmlns:a16="http://schemas.microsoft.com/office/drawing/2014/main" id="{87E1954A-F745-4DDE-371D-94A6FD808C7E}"/>
              </a:ext>
            </a:extLst>
          </p:cNvPr>
          <p:cNvGraphicFramePr/>
          <p:nvPr>
            <p:custDataLst>
              <p:tags r:id="rId12"/>
            </p:custDataLst>
            <p:extLst>
              <p:ext uri="{D42A27DB-BD31-4B8C-83A1-F6EECF244321}">
                <p14:modId xmlns:p14="http://schemas.microsoft.com/office/powerpoint/2010/main" val="728751569"/>
              </p:ext>
            </p:extLst>
          </p:nvPr>
        </p:nvGraphicFramePr>
        <p:xfrm>
          <a:off x="4822197" y="3659381"/>
          <a:ext cx="3413328" cy="324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35" name="z5">
            <a:extLst>
              <a:ext uri="{FF2B5EF4-FFF2-40B4-BE49-F238E27FC236}">
                <a16:creationId xmlns:a16="http://schemas.microsoft.com/office/drawing/2014/main" id="{3ED0E987-A771-2529-47F5-2FFA22A6BEFB}"/>
              </a:ext>
            </a:extLst>
          </p:cNvPr>
          <p:cNvGraphicFramePr/>
          <p:nvPr>
            <p:custDataLst>
              <p:tags r:id="rId13"/>
            </p:custDataLst>
            <p:extLst>
              <p:ext uri="{D42A27DB-BD31-4B8C-83A1-F6EECF244321}">
                <p14:modId xmlns:p14="http://schemas.microsoft.com/office/powerpoint/2010/main" val="3622331515"/>
              </p:ext>
            </p:extLst>
          </p:nvPr>
        </p:nvGraphicFramePr>
        <p:xfrm>
          <a:off x="4822197" y="3896308"/>
          <a:ext cx="3413328" cy="324000"/>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36" name="z5">
            <a:extLst>
              <a:ext uri="{FF2B5EF4-FFF2-40B4-BE49-F238E27FC236}">
                <a16:creationId xmlns:a16="http://schemas.microsoft.com/office/drawing/2014/main" id="{478EC7F6-30DE-5F21-5EA8-06822046A2FB}"/>
              </a:ext>
            </a:extLst>
          </p:cNvPr>
          <p:cNvGraphicFramePr/>
          <p:nvPr>
            <p:custDataLst>
              <p:tags r:id="rId14"/>
            </p:custDataLst>
            <p:extLst>
              <p:ext uri="{D42A27DB-BD31-4B8C-83A1-F6EECF244321}">
                <p14:modId xmlns:p14="http://schemas.microsoft.com/office/powerpoint/2010/main" val="404646024"/>
              </p:ext>
            </p:extLst>
          </p:nvPr>
        </p:nvGraphicFramePr>
        <p:xfrm>
          <a:off x="4822197" y="4089909"/>
          <a:ext cx="3413328" cy="324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37" name="z5">
            <a:extLst>
              <a:ext uri="{FF2B5EF4-FFF2-40B4-BE49-F238E27FC236}">
                <a16:creationId xmlns:a16="http://schemas.microsoft.com/office/drawing/2014/main" id="{9FDAA06D-DF4D-2AD4-A504-C484241A7F09}"/>
              </a:ext>
            </a:extLst>
          </p:cNvPr>
          <p:cNvGraphicFramePr/>
          <p:nvPr>
            <p:custDataLst>
              <p:tags r:id="rId15"/>
            </p:custDataLst>
            <p:extLst>
              <p:ext uri="{D42A27DB-BD31-4B8C-83A1-F6EECF244321}">
                <p14:modId xmlns:p14="http://schemas.microsoft.com/office/powerpoint/2010/main" val="193332956"/>
              </p:ext>
            </p:extLst>
          </p:nvPr>
        </p:nvGraphicFramePr>
        <p:xfrm>
          <a:off x="4822197" y="4350518"/>
          <a:ext cx="3413328" cy="324000"/>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38" name="z5">
            <a:extLst>
              <a:ext uri="{FF2B5EF4-FFF2-40B4-BE49-F238E27FC236}">
                <a16:creationId xmlns:a16="http://schemas.microsoft.com/office/drawing/2014/main" id="{719AABB6-7923-BF5C-2C88-CB3DEE08D862}"/>
              </a:ext>
            </a:extLst>
          </p:cNvPr>
          <p:cNvGraphicFramePr/>
          <p:nvPr>
            <p:custDataLst>
              <p:tags r:id="rId16"/>
            </p:custDataLst>
            <p:extLst>
              <p:ext uri="{D42A27DB-BD31-4B8C-83A1-F6EECF244321}">
                <p14:modId xmlns:p14="http://schemas.microsoft.com/office/powerpoint/2010/main" val="2882053817"/>
              </p:ext>
            </p:extLst>
          </p:nvPr>
        </p:nvGraphicFramePr>
        <p:xfrm>
          <a:off x="4822197" y="4623985"/>
          <a:ext cx="3413328" cy="324000"/>
        </p:xfrm>
        <a:graphic>
          <a:graphicData uri="http://schemas.openxmlformats.org/drawingml/2006/chart">
            <c:chart xmlns:c="http://schemas.openxmlformats.org/drawingml/2006/chart" xmlns:r="http://schemas.openxmlformats.org/officeDocument/2006/relationships" r:id="rId33"/>
          </a:graphicData>
        </a:graphic>
      </p:graphicFrame>
      <p:graphicFrame>
        <p:nvGraphicFramePr>
          <p:cNvPr id="39" name="z5">
            <a:extLst>
              <a:ext uri="{FF2B5EF4-FFF2-40B4-BE49-F238E27FC236}">
                <a16:creationId xmlns:a16="http://schemas.microsoft.com/office/drawing/2014/main" id="{788B41EE-A329-F1EE-9708-A01611206D8B}"/>
              </a:ext>
            </a:extLst>
          </p:cNvPr>
          <p:cNvGraphicFramePr/>
          <p:nvPr>
            <p:custDataLst>
              <p:tags r:id="rId17"/>
            </p:custDataLst>
            <p:extLst>
              <p:ext uri="{D42A27DB-BD31-4B8C-83A1-F6EECF244321}">
                <p14:modId xmlns:p14="http://schemas.microsoft.com/office/powerpoint/2010/main" val="3795150874"/>
              </p:ext>
            </p:extLst>
          </p:nvPr>
        </p:nvGraphicFramePr>
        <p:xfrm>
          <a:off x="4822197" y="5074986"/>
          <a:ext cx="3413328" cy="324000"/>
        </p:xfrm>
        <a:graphic>
          <a:graphicData uri="http://schemas.openxmlformats.org/drawingml/2006/chart">
            <c:chart xmlns:c="http://schemas.openxmlformats.org/drawingml/2006/chart" xmlns:r="http://schemas.openxmlformats.org/officeDocument/2006/relationships" r:id="rId34"/>
          </a:graphicData>
        </a:graphic>
      </p:graphicFrame>
      <p:graphicFrame>
        <p:nvGraphicFramePr>
          <p:cNvPr id="40" name="z5">
            <a:extLst>
              <a:ext uri="{FF2B5EF4-FFF2-40B4-BE49-F238E27FC236}">
                <a16:creationId xmlns:a16="http://schemas.microsoft.com/office/drawing/2014/main" id="{8EAEC448-0DA2-95DB-DAC8-FB9C1BD1FE8C}"/>
              </a:ext>
            </a:extLst>
          </p:cNvPr>
          <p:cNvGraphicFramePr/>
          <p:nvPr>
            <p:custDataLst>
              <p:tags r:id="rId18"/>
            </p:custDataLst>
            <p:extLst>
              <p:ext uri="{D42A27DB-BD31-4B8C-83A1-F6EECF244321}">
                <p14:modId xmlns:p14="http://schemas.microsoft.com/office/powerpoint/2010/main" val="3357021008"/>
              </p:ext>
            </p:extLst>
          </p:nvPr>
        </p:nvGraphicFramePr>
        <p:xfrm>
          <a:off x="4822197" y="5525986"/>
          <a:ext cx="3413328" cy="324000"/>
        </p:xfrm>
        <a:graphic>
          <a:graphicData uri="http://schemas.openxmlformats.org/drawingml/2006/chart">
            <c:chart xmlns:c="http://schemas.openxmlformats.org/drawingml/2006/chart" xmlns:r="http://schemas.openxmlformats.org/officeDocument/2006/relationships" r:id="rId35"/>
          </a:graphicData>
        </a:graphic>
      </p:graphicFrame>
    </p:spTree>
    <p:extLst>
      <p:ext uri="{BB962C8B-B14F-4D97-AF65-F5344CB8AC3E}">
        <p14:creationId xmlns:p14="http://schemas.microsoft.com/office/powerpoint/2010/main" val="3722891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14">
          <a:extLst>
            <a:ext uri="{FF2B5EF4-FFF2-40B4-BE49-F238E27FC236}">
              <a16:creationId xmlns:a16="http://schemas.microsoft.com/office/drawing/2014/main" id="{723F8353-EF3F-5AAE-C3A7-78EF17C2099D}"/>
            </a:ext>
          </a:extLst>
        </p:cNvPr>
        <p:cNvGrpSpPr/>
        <p:nvPr/>
      </p:nvGrpSpPr>
      <p:grpSpPr>
        <a:xfrm>
          <a:off x="0" y="0"/>
          <a:ext cx="0" cy="0"/>
          <a:chOff x="0" y="0"/>
          <a:chExt cx="0" cy="0"/>
        </a:xfrm>
      </p:grpSpPr>
      <p:sp>
        <p:nvSpPr>
          <p:cNvPr id="9" name="Google Shape;1358;p33">
            <a:extLst>
              <a:ext uri="{FF2B5EF4-FFF2-40B4-BE49-F238E27FC236}">
                <a16:creationId xmlns:a16="http://schemas.microsoft.com/office/drawing/2014/main" id="{C1250583-DD3C-BE84-7AC7-BFFF46E843D2}"/>
              </a:ext>
            </a:extLst>
          </p:cNvPr>
          <p:cNvSpPr/>
          <p:nvPr/>
        </p:nvSpPr>
        <p:spPr>
          <a:xfrm>
            <a:off x="100011" y="749913"/>
            <a:ext cx="9019489" cy="47444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Effectiveness – </a:t>
            </a:r>
            <a:r>
              <a:rPr kumimoji="0" lang="en-US" sz="1400" b="1" i="0" u="sng" strike="noStrike" kern="0" cap="none" spc="0" normalizeH="0" baseline="0" noProof="0">
                <a:ln>
                  <a:noFill/>
                </a:ln>
                <a:solidFill>
                  <a:srgbClr val="36729C"/>
                </a:solidFill>
                <a:effectLst/>
                <a:uLnTx/>
                <a:uFillTx/>
                <a:latin typeface="Arial" panose="020B0604020202020204" pitchFamily="34" charset="0"/>
                <a:ea typeface="Calibri"/>
                <a:cs typeface="Arial" panose="020B0604020202020204" pitchFamily="34" charset="0"/>
                <a:sym typeface="Calibri"/>
              </a:rPr>
              <a:t>CREON</a:t>
            </a:r>
            <a:endParaRPr kumimoji="0" lang="en-IN" sz="14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(Jan’25 – Feb’25: n = 113 | Mar’25 – Apr’25: n = 114 | May’25 – Jun’25: n = 113 | Jul’25 – Aug’25: n = 115 | Sep’25 – Oct’25: n = 114 | Nov’25 – Dec’25: n = 115)</a:t>
            </a:r>
            <a:endParaRPr kumimoji="0" lang="en-IN"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sp>
        <p:nvSpPr>
          <p:cNvPr id="1416" name="Google Shape;1416;p35">
            <a:extLst>
              <a:ext uri="{FF2B5EF4-FFF2-40B4-BE49-F238E27FC236}">
                <a16:creationId xmlns:a16="http://schemas.microsoft.com/office/drawing/2014/main" id="{EA1AEF63-1813-AD01-474B-2C638C1A349D}"/>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CREON's Efficacy message improves fat absorption (C9) became the most effective message, with an increase of 7pp while effectiveness of CREON 36K capsules (C7) message declined by 7pp</a:t>
            </a:r>
          </a:p>
        </p:txBody>
      </p:sp>
      <p:graphicFrame>
        <p:nvGraphicFramePr>
          <p:cNvPr id="1418" name="C_ME_TABLE">
            <a:extLst>
              <a:ext uri="{FF2B5EF4-FFF2-40B4-BE49-F238E27FC236}">
                <a16:creationId xmlns:a16="http://schemas.microsoft.com/office/drawing/2014/main" id="{FF52C9EC-4457-8EA7-ECC0-AFB955577E19}"/>
              </a:ext>
            </a:extLst>
          </p:cNvPr>
          <p:cNvGraphicFramePr/>
          <p:nvPr>
            <p:custDataLst>
              <p:tags r:id="rId1"/>
            </p:custDataLst>
            <p:extLst>
              <p:ext uri="{D42A27DB-BD31-4B8C-83A1-F6EECF244321}">
                <p14:modId xmlns:p14="http://schemas.microsoft.com/office/powerpoint/2010/main" val="3842014189"/>
              </p:ext>
            </p:extLst>
          </p:nvPr>
        </p:nvGraphicFramePr>
        <p:xfrm>
          <a:off x="70222" y="1648641"/>
          <a:ext cx="4661494" cy="4458960"/>
        </p:xfrm>
        <a:graphic>
          <a:graphicData uri="http://schemas.openxmlformats.org/drawingml/2006/table">
            <a:tbl>
              <a:tblPr>
                <a:noFill/>
                <a:tableStyleId>{96BACEE3-1A1D-4107-9369-2142449FF59F}</a:tableStyleId>
              </a:tblPr>
              <a:tblGrid>
                <a:gridCol w="381000">
                  <a:extLst>
                    <a:ext uri="{9D8B030D-6E8A-4147-A177-3AD203B41FA5}">
                      <a16:colId xmlns:a16="http://schemas.microsoft.com/office/drawing/2014/main" val="20000"/>
                    </a:ext>
                  </a:extLst>
                </a:gridCol>
                <a:gridCol w="4280494">
                  <a:extLst>
                    <a:ext uri="{9D8B030D-6E8A-4147-A177-3AD203B41FA5}">
                      <a16:colId xmlns:a16="http://schemas.microsoft.com/office/drawing/2014/main" val="20001"/>
                    </a:ext>
                  </a:extLst>
                </a:gridCol>
              </a:tblGrid>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CR9</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significantly improves fat absorption compared with placebo in randomized clinical trials of patients with EPI due to CF, CP, or pancreatectomy.</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is the #1 PERT prescribed by Gastroenterologists, Primary Care Physicians, and Nurse Practitioners and Physician Assistants.</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CR16</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Based on the FDA-approved label, CREON is the only PERT specifically studied for patients with EPI due to chronic pancreatitis and pancreatectomy, in addition to cystic fibrosis</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CR3</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Exocrine Pancreatic Insufficiency (EPI) is under-recognized and can have an impact on nutritional health and quality of life</a:t>
                      </a:r>
                    </a:p>
                  </a:txBody>
                  <a:tcPr marL="360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maintains category leading coverage: 89% of national commercial and Medicare Part D insured lives have preferred access to CREON with the lowest branded copay, without a prior authorization.</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CR11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95% of commercially eligible patients pay $5 or less for their CREON prescription with the CREON Complete Savings card.</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900" b="1" i="0" u="none" strike="noStrike" kern="0" cap="none" spc="0" normalizeH="0" baseline="0">
                          <a:ln>
                            <a:noFill/>
                          </a:ln>
                          <a:solidFill>
                            <a:srgbClr val="071D49"/>
                          </a:solidFill>
                          <a:effectLst/>
                          <a:uLnTx/>
                          <a:uFillTx/>
                          <a:latin typeface="Arial" panose="020B0604020202020204" pitchFamily="34" charset="0"/>
                          <a:cs typeface="Calibri"/>
                          <a:sym typeface="Arial"/>
                        </a:rPr>
                        <a:t>CR17</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More than 8 out of 10 GEs and PCPs prescribe CREON more than other PERTs</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CR7</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36K capsules can be an appropriate dose for many adults.</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4000">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CR21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Complete may help patients start and stay on track with their treatment.</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CR20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Significant experience, exceptional patient support, and excellent coverage make CREON a proven partner for patients with EPl.</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CR22</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71% of CREON Medicare Part D patients paid less than $30 in 2024.</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CR4</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EPI is largely a clinical diagnosis based on signs and symptoms and should be considered as part of the differential diagnosis of GI symptoms.</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CR6</a:t>
                      </a:r>
                    </a:p>
                  </a:txBody>
                  <a:tcPr marL="0" marR="0" marT="2384" marB="2384"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Take CREON every meal, every snack, every day.</a:t>
                      </a:r>
                    </a:p>
                  </a:txBody>
                  <a:tcPr marL="36000" marR="36000" marT="3600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055712874"/>
                  </a:ext>
                </a:extLst>
              </a:tr>
            </a:tbl>
          </a:graphicData>
        </a:graphic>
      </p:graphicFrame>
      <p:sp>
        <p:nvSpPr>
          <p:cNvPr id="26" name="Google Shape;1432;p35">
            <a:extLst>
              <a:ext uri="{FF2B5EF4-FFF2-40B4-BE49-F238E27FC236}">
                <a16:creationId xmlns:a16="http://schemas.microsoft.com/office/drawing/2014/main" id="{EA9A4DED-0825-F0F3-BCD4-C88413FA43AD}"/>
              </a:ext>
            </a:extLst>
          </p:cNvPr>
          <p:cNvSpPr txBox="1"/>
          <p:nvPr/>
        </p:nvSpPr>
        <p:spPr>
          <a:xfrm>
            <a:off x="928801" y="5876120"/>
            <a:ext cx="7575119"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*Full message text in speaker notes | No statistically significant (p&lt;.05) difference between waves | </a:t>
            </a:r>
            <a:r>
              <a:rPr kumimoji="0" lang="en-GB"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Messages sorted in decreasing order of Effectiveness for CREON messages</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         denote wave averages for message effectiveness |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p>
        </p:txBody>
      </p:sp>
      <p:sp>
        <p:nvSpPr>
          <p:cNvPr id="7" name="TextBox 6">
            <a:extLst>
              <a:ext uri="{FF2B5EF4-FFF2-40B4-BE49-F238E27FC236}">
                <a16:creationId xmlns:a16="http://schemas.microsoft.com/office/drawing/2014/main" id="{6DFF7C18-6778-1F32-CED8-73A6A453D42D}"/>
              </a:ext>
            </a:extLst>
          </p:cNvPr>
          <p:cNvSpPr txBox="1"/>
          <p:nvPr/>
        </p:nvSpPr>
        <p:spPr>
          <a:xfrm>
            <a:off x="70222" y="1382992"/>
            <a:ext cx="4667472"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4" name="Shape_23263768">
            <a:extLst>
              <a:ext uri="{FF2B5EF4-FFF2-40B4-BE49-F238E27FC236}">
                <a16:creationId xmlns:a16="http://schemas.microsoft.com/office/drawing/2014/main" id="{E9BF0730-80AA-8E67-5ACB-79812D377405}"/>
              </a:ext>
            </a:extLst>
          </p:cNvPr>
          <p:cNvGraphicFramePr>
            <a:graphicFrameLocks noGrp="1"/>
          </p:cNvGraphicFramePr>
          <p:nvPr>
            <p:custDataLst>
              <p:tags r:id="rId2"/>
            </p:custDataLst>
          </p:nvPr>
        </p:nvGraphicFramePr>
        <p:xfrm>
          <a:off x="5400825" y="6067232"/>
          <a:ext cx="216000" cy="121920"/>
        </p:xfrm>
        <a:graphic>
          <a:graphicData uri="http://schemas.openxmlformats.org/drawingml/2006/table">
            <a:tbl>
              <a:tblPr firstRow="1" bandRow="1">
                <a:tableStyleId>{B301B821-A1FF-4177-AEE7-76D212191A09}</a:tableStyleId>
              </a:tblPr>
              <a:tblGrid>
                <a:gridCol w="216000">
                  <a:extLst>
                    <a:ext uri="{9D8B030D-6E8A-4147-A177-3AD203B41FA5}">
                      <a16:colId xmlns:a16="http://schemas.microsoft.com/office/drawing/2014/main" val="3554599800"/>
                    </a:ext>
                  </a:extLst>
                </a:gridCol>
              </a:tblGrid>
              <a:tr h="12192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IN" sz="800" b="0" i="1" u="none" strike="noStrike" cap="none">
                          <a:solidFill>
                            <a:srgbClr val="071D49"/>
                          </a:solidFill>
                          <a:effectLst/>
                          <a:latin typeface="+mj-lt"/>
                          <a:ea typeface="+mn-ea"/>
                          <a:cs typeface="+mn-cs"/>
                          <a:sym typeface="Arial"/>
                        </a:rPr>
                        <a:t>**%</a:t>
                      </a:r>
                      <a:endParaRPr lang="en-US" sz="800" b="0" i="1" u="none" strike="noStrike" cap="none">
                        <a:solidFill>
                          <a:srgbClr val="071D49"/>
                        </a:solidFill>
                        <a:effectLst/>
                        <a:latin typeface="+mj-lt"/>
                        <a:ea typeface="+mn-ea"/>
                        <a:cs typeface="+mn-cs"/>
                        <a:sym typeface="Arial"/>
                      </a:endParaRPr>
                    </a:p>
                  </a:txBody>
                  <a:tcPr marL="0" marR="0" marT="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8" name="Shape_27737418">
            <a:extLst>
              <a:ext uri="{FF2B5EF4-FFF2-40B4-BE49-F238E27FC236}">
                <a16:creationId xmlns:a16="http://schemas.microsoft.com/office/drawing/2014/main" id="{A4A0297E-A94A-96D8-87F0-C4A9BC6B48BC}"/>
              </a:ext>
            </a:extLst>
          </p:cNvPr>
          <p:cNvGraphicFramePr>
            <a:graphicFrameLocks noGrp="1"/>
          </p:cNvGraphicFramePr>
          <p:nvPr>
            <p:custDataLst>
              <p:tags r:id="rId3"/>
            </p:custDataLst>
          </p:nvPr>
        </p:nvGraphicFramePr>
        <p:xfrm>
          <a:off x="4700215" y="1486741"/>
          <a:ext cx="3366132" cy="160076"/>
        </p:xfrm>
        <a:graphic>
          <a:graphicData uri="http://schemas.openxmlformats.org/drawingml/2006/table">
            <a:tbl>
              <a:tblPr firstRow="1" bandRow="1">
                <a:tableStyleId>{B301B821-A1FF-4177-AEE7-76D212191A09}</a:tableStyleId>
              </a:tblPr>
              <a:tblGrid>
                <a:gridCol w="561022">
                  <a:extLst>
                    <a:ext uri="{9D8B030D-6E8A-4147-A177-3AD203B41FA5}">
                      <a16:colId xmlns:a16="http://schemas.microsoft.com/office/drawing/2014/main" val="3554599800"/>
                    </a:ext>
                  </a:extLst>
                </a:gridCol>
                <a:gridCol w="561022">
                  <a:extLst>
                    <a:ext uri="{9D8B030D-6E8A-4147-A177-3AD203B41FA5}">
                      <a16:colId xmlns:a16="http://schemas.microsoft.com/office/drawing/2014/main" val="2914776207"/>
                    </a:ext>
                  </a:extLst>
                </a:gridCol>
                <a:gridCol w="561022">
                  <a:extLst>
                    <a:ext uri="{9D8B030D-6E8A-4147-A177-3AD203B41FA5}">
                      <a16:colId xmlns:a16="http://schemas.microsoft.com/office/drawing/2014/main" val="2088702262"/>
                    </a:ext>
                  </a:extLst>
                </a:gridCol>
                <a:gridCol w="561022">
                  <a:extLst>
                    <a:ext uri="{9D8B030D-6E8A-4147-A177-3AD203B41FA5}">
                      <a16:colId xmlns:a16="http://schemas.microsoft.com/office/drawing/2014/main" val="192097877"/>
                    </a:ext>
                  </a:extLst>
                </a:gridCol>
                <a:gridCol w="561022">
                  <a:extLst>
                    <a:ext uri="{9D8B030D-6E8A-4147-A177-3AD203B41FA5}">
                      <a16:colId xmlns:a16="http://schemas.microsoft.com/office/drawing/2014/main" val="1326389649"/>
                    </a:ext>
                  </a:extLst>
                </a:gridCol>
                <a:gridCol w="561022">
                  <a:extLst>
                    <a:ext uri="{9D8B030D-6E8A-4147-A177-3AD203B41FA5}">
                      <a16:colId xmlns:a16="http://schemas.microsoft.com/office/drawing/2014/main" val="3544539175"/>
                    </a:ext>
                  </a:extLst>
                </a:gridCol>
              </a:tblGrid>
              <a:tr h="160076">
                <a:tc>
                  <a:txBody>
                    <a:bodyPr/>
                    <a:lstStyle/>
                    <a:p>
                      <a:pPr algn="ctr" fontAlgn="ctr"/>
                      <a:r>
                        <a:rPr lang="en-IN" sz="900" b="0" i="1" u="none" strike="noStrike" kern="1200" cap="none">
                          <a:solidFill>
                            <a:srgbClr val="071D49"/>
                          </a:solidFill>
                          <a:effectLst/>
                          <a:latin typeface="+mj-lt"/>
                          <a:ea typeface="+mn-ea"/>
                          <a:cs typeface="+mn-cs"/>
                        </a:rPr>
                        <a:t>60%</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59%</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61%</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0" i="1" u="none" strike="noStrike" kern="1200" cap="none">
                          <a:solidFill>
                            <a:srgbClr val="071D49"/>
                          </a:solidFill>
                          <a:effectLst/>
                          <a:latin typeface="+mn-lt"/>
                          <a:ea typeface="+mn-ea"/>
                          <a:cs typeface="+mn-cs"/>
                        </a:rPr>
                        <a:t>53%</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0" i="1" u="none" strike="noStrike" kern="1200" cap="none">
                          <a:solidFill>
                            <a:srgbClr val="071D49"/>
                          </a:solidFill>
                          <a:effectLst/>
                          <a:latin typeface="+mn-lt"/>
                          <a:ea typeface="+mn-ea"/>
                          <a:cs typeface="+mn-cs"/>
                        </a:rPr>
                        <a:t>56%</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0" i="1" u="none" strike="noStrike" kern="1200" cap="none">
                          <a:solidFill>
                            <a:srgbClr val="071D49"/>
                          </a:solidFill>
                          <a:effectLst/>
                          <a:latin typeface="+mn-lt"/>
                          <a:ea typeface="+mn-ea"/>
                          <a:cs typeface="+mn-cs"/>
                        </a:rPr>
                        <a:t>56%</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1" name="Google Shape;763;p18">
            <a:extLst>
              <a:ext uri="{FF2B5EF4-FFF2-40B4-BE49-F238E27FC236}">
                <a16:creationId xmlns:a16="http://schemas.microsoft.com/office/drawing/2014/main" id="{093E79AA-C5CE-BA09-B60C-6E6633AC7794}"/>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Note: C16 message replaced by C19 message in Mar’24 – Apr’24, C18message was discontinued</a:t>
            </a:r>
          </a:p>
        </p:txBody>
      </p:sp>
      <p:graphicFrame>
        <p:nvGraphicFramePr>
          <p:cNvPr id="37" name="Main chart">
            <a:extLst>
              <a:ext uri="{FF2B5EF4-FFF2-40B4-BE49-F238E27FC236}">
                <a16:creationId xmlns:a16="http://schemas.microsoft.com/office/drawing/2014/main" id="{C57608E0-CE47-E73A-9318-2A67C4EF0142}"/>
              </a:ext>
            </a:extLst>
          </p:cNvPr>
          <p:cNvGraphicFramePr/>
          <p:nvPr>
            <p:custDataLst>
              <p:tags r:id="rId4"/>
            </p:custDataLst>
            <p:extLst>
              <p:ext uri="{D42A27DB-BD31-4B8C-83A1-F6EECF244321}">
                <p14:modId xmlns:p14="http://schemas.microsoft.com/office/powerpoint/2010/main" val="3988020200"/>
              </p:ext>
            </p:extLst>
          </p:nvPr>
        </p:nvGraphicFramePr>
        <p:xfrm>
          <a:off x="4555054" y="3107722"/>
          <a:ext cx="3682879" cy="3240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5" name="Table 14">
            <a:extLst>
              <a:ext uri="{FF2B5EF4-FFF2-40B4-BE49-F238E27FC236}">
                <a16:creationId xmlns:a16="http://schemas.microsoft.com/office/drawing/2014/main" id="{1D4762E4-308B-7073-3593-A128A8C3065D}"/>
              </a:ext>
            </a:extLst>
          </p:cNvPr>
          <p:cNvGraphicFramePr>
            <a:graphicFrameLocks noGrp="1"/>
          </p:cNvGraphicFramePr>
          <p:nvPr/>
        </p:nvGraphicFramePr>
        <p:xfrm>
          <a:off x="8066349" y="1186245"/>
          <a:ext cx="1044000" cy="4630080"/>
        </p:xfrm>
        <a:graphic>
          <a:graphicData uri="http://schemas.openxmlformats.org/drawingml/2006/table">
            <a:tbl>
              <a:tblPr firstRow="1" bandRow="1">
                <a:tableStyleId>{5C22544A-7EE6-4342-B048-85BDC9FD1C3A}</a:tableStyleId>
              </a:tblPr>
              <a:tblGrid>
                <a:gridCol w="522000">
                  <a:extLst>
                    <a:ext uri="{9D8B030D-6E8A-4147-A177-3AD203B41FA5}">
                      <a16:colId xmlns:a16="http://schemas.microsoft.com/office/drawing/2014/main" val="4175797392"/>
                    </a:ext>
                  </a:extLst>
                </a:gridCol>
                <a:gridCol w="522000">
                  <a:extLst>
                    <a:ext uri="{9D8B030D-6E8A-4147-A177-3AD203B41FA5}">
                      <a16:colId xmlns:a16="http://schemas.microsoft.com/office/drawing/2014/main" val="4071984736"/>
                    </a:ext>
                  </a:extLst>
                </a:gridCol>
              </a:tblGrid>
              <a:tr h="284419">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80000">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144868835"/>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67254073"/>
                  </a:ext>
                </a:extLst>
              </a:tr>
              <a:tr h="32004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995859152"/>
                  </a:ext>
                </a:extLst>
              </a:tr>
            </a:tbl>
          </a:graphicData>
        </a:graphic>
      </p:graphicFrame>
      <p:sp>
        <p:nvSpPr>
          <p:cNvPr id="16" name="Google Shape;1433;p35">
            <a:extLst>
              <a:ext uri="{FF2B5EF4-FFF2-40B4-BE49-F238E27FC236}">
                <a16:creationId xmlns:a16="http://schemas.microsoft.com/office/drawing/2014/main" id="{8A772438-37DA-06B5-C902-A5158E74D212}"/>
              </a:ext>
            </a:extLst>
          </p:cNvPr>
          <p:cNvSpPr/>
          <p:nvPr/>
        </p:nvSpPr>
        <p:spPr>
          <a:xfrm>
            <a:off x="5559264" y="5691399"/>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5" name="TextBox 4">
            <a:extLst>
              <a:ext uri="{FF2B5EF4-FFF2-40B4-BE49-F238E27FC236}">
                <a16:creationId xmlns:a16="http://schemas.microsoft.com/office/drawing/2014/main" id="{7F8F796C-8694-1029-4C23-85C372EAB853}"/>
              </a:ext>
            </a:extLst>
          </p:cNvPr>
          <p:cNvSpPr txBox="1"/>
          <p:nvPr/>
        </p:nvSpPr>
        <p:spPr>
          <a:xfrm>
            <a:off x="33180" y="747857"/>
            <a:ext cx="2958498" cy="253916"/>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hlinkClick r:id="rId21" action="ppaction://hlinksldjump"/>
              </a:rPr>
              <a:t>Link to Message Effectiveness by Specialty</a:t>
            </a:r>
            <a:endParaRPr kumimoji="0" lang="en-GB" sz="1050" b="1" i="1" u="sng"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graphicFrame>
        <p:nvGraphicFramePr>
          <p:cNvPr id="12" name="wave table OCQ">
            <a:extLst>
              <a:ext uri="{FF2B5EF4-FFF2-40B4-BE49-F238E27FC236}">
                <a16:creationId xmlns:a16="http://schemas.microsoft.com/office/drawing/2014/main" id="{329F5045-D83C-BC08-00CD-0D180CD8FDFE}"/>
              </a:ext>
            </a:extLst>
          </p:cNvPr>
          <p:cNvGraphicFramePr>
            <a:graphicFrameLocks noGrp="1"/>
          </p:cNvGraphicFramePr>
          <p:nvPr>
            <p:custDataLst>
              <p:tags r:id="rId5"/>
            </p:custDataLst>
          </p:nvPr>
        </p:nvGraphicFramePr>
        <p:xfrm>
          <a:off x="4700214" y="1254049"/>
          <a:ext cx="3356982" cy="243840"/>
        </p:xfrm>
        <a:graphic>
          <a:graphicData uri="http://schemas.openxmlformats.org/drawingml/2006/table">
            <a:tbl>
              <a:tblPr firstRow="1" bandRow="1">
                <a:tableStyleId>{B301B821-A1FF-4177-AEE7-76D212191A09}</a:tableStyleId>
              </a:tblPr>
              <a:tblGrid>
                <a:gridCol w="559497">
                  <a:extLst>
                    <a:ext uri="{9D8B030D-6E8A-4147-A177-3AD203B41FA5}">
                      <a16:colId xmlns:a16="http://schemas.microsoft.com/office/drawing/2014/main" val="3554599800"/>
                    </a:ext>
                  </a:extLst>
                </a:gridCol>
                <a:gridCol w="559497">
                  <a:extLst>
                    <a:ext uri="{9D8B030D-6E8A-4147-A177-3AD203B41FA5}">
                      <a16:colId xmlns:a16="http://schemas.microsoft.com/office/drawing/2014/main" val="2914776207"/>
                    </a:ext>
                  </a:extLst>
                </a:gridCol>
                <a:gridCol w="559497">
                  <a:extLst>
                    <a:ext uri="{9D8B030D-6E8A-4147-A177-3AD203B41FA5}">
                      <a16:colId xmlns:a16="http://schemas.microsoft.com/office/drawing/2014/main" val="2088702262"/>
                    </a:ext>
                  </a:extLst>
                </a:gridCol>
                <a:gridCol w="559497">
                  <a:extLst>
                    <a:ext uri="{9D8B030D-6E8A-4147-A177-3AD203B41FA5}">
                      <a16:colId xmlns:a16="http://schemas.microsoft.com/office/drawing/2014/main" val="192097877"/>
                    </a:ext>
                  </a:extLst>
                </a:gridCol>
                <a:gridCol w="559497">
                  <a:extLst>
                    <a:ext uri="{9D8B030D-6E8A-4147-A177-3AD203B41FA5}">
                      <a16:colId xmlns:a16="http://schemas.microsoft.com/office/drawing/2014/main" val="1326389649"/>
                    </a:ext>
                  </a:extLst>
                </a:gridCol>
                <a:gridCol w="559497">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23" name="Main chart">
            <a:extLst>
              <a:ext uri="{FF2B5EF4-FFF2-40B4-BE49-F238E27FC236}">
                <a16:creationId xmlns:a16="http://schemas.microsoft.com/office/drawing/2014/main" id="{B7C24FBA-EAF9-92F1-D904-843E20B9AD66}"/>
              </a:ext>
            </a:extLst>
          </p:cNvPr>
          <p:cNvGraphicFramePr/>
          <p:nvPr>
            <p:custDataLst>
              <p:tags r:id="rId6"/>
            </p:custDataLst>
            <p:extLst>
              <p:ext uri="{D42A27DB-BD31-4B8C-83A1-F6EECF244321}">
                <p14:modId xmlns:p14="http://schemas.microsoft.com/office/powerpoint/2010/main" val="978025273"/>
              </p:ext>
            </p:extLst>
          </p:nvPr>
        </p:nvGraphicFramePr>
        <p:xfrm>
          <a:off x="4555054" y="1648641"/>
          <a:ext cx="3682879" cy="3240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24" name="Main chart">
            <a:extLst>
              <a:ext uri="{FF2B5EF4-FFF2-40B4-BE49-F238E27FC236}">
                <a16:creationId xmlns:a16="http://schemas.microsoft.com/office/drawing/2014/main" id="{527E9498-EE49-F98A-0832-B97D7FEACDF3}"/>
              </a:ext>
            </a:extLst>
          </p:cNvPr>
          <p:cNvGraphicFramePr/>
          <p:nvPr>
            <p:custDataLst>
              <p:tags r:id="rId7"/>
            </p:custDataLst>
            <p:extLst>
              <p:ext uri="{D42A27DB-BD31-4B8C-83A1-F6EECF244321}">
                <p14:modId xmlns:p14="http://schemas.microsoft.com/office/powerpoint/2010/main" val="1422548151"/>
              </p:ext>
            </p:extLst>
          </p:nvPr>
        </p:nvGraphicFramePr>
        <p:xfrm>
          <a:off x="4555054" y="1844816"/>
          <a:ext cx="3682879" cy="324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25" name="Main chart">
            <a:extLst>
              <a:ext uri="{FF2B5EF4-FFF2-40B4-BE49-F238E27FC236}">
                <a16:creationId xmlns:a16="http://schemas.microsoft.com/office/drawing/2014/main" id="{D9FF1726-E403-A7B0-D029-BEB34B163A08}"/>
              </a:ext>
            </a:extLst>
          </p:cNvPr>
          <p:cNvGraphicFramePr/>
          <p:nvPr>
            <p:custDataLst>
              <p:tags r:id="rId8"/>
            </p:custDataLst>
            <p:extLst>
              <p:ext uri="{D42A27DB-BD31-4B8C-83A1-F6EECF244321}">
                <p14:modId xmlns:p14="http://schemas.microsoft.com/office/powerpoint/2010/main" val="744095457"/>
              </p:ext>
            </p:extLst>
          </p:nvPr>
        </p:nvGraphicFramePr>
        <p:xfrm>
          <a:off x="4555054" y="1979120"/>
          <a:ext cx="3682879" cy="324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34" name="Main chart">
            <a:extLst>
              <a:ext uri="{FF2B5EF4-FFF2-40B4-BE49-F238E27FC236}">
                <a16:creationId xmlns:a16="http://schemas.microsoft.com/office/drawing/2014/main" id="{31ECB036-78C4-D857-E5B9-87AED034910C}"/>
              </a:ext>
            </a:extLst>
          </p:cNvPr>
          <p:cNvGraphicFramePr/>
          <p:nvPr>
            <p:custDataLst>
              <p:tags r:id="rId9"/>
            </p:custDataLst>
            <p:extLst>
              <p:ext uri="{D42A27DB-BD31-4B8C-83A1-F6EECF244321}">
                <p14:modId xmlns:p14="http://schemas.microsoft.com/office/powerpoint/2010/main" val="2878316569"/>
              </p:ext>
            </p:extLst>
          </p:nvPr>
        </p:nvGraphicFramePr>
        <p:xfrm>
          <a:off x="4555054" y="2175295"/>
          <a:ext cx="3682879" cy="324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35" name="Main chart">
            <a:extLst>
              <a:ext uri="{FF2B5EF4-FFF2-40B4-BE49-F238E27FC236}">
                <a16:creationId xmlns:a16="http://schemas.microsoft.com/office/drawing/2014/main" id="{212DB467-F393-66C9-8B7A-DDD091A03A45}"/>
              </a:ext>
            </a:extLst>
          </p:cNvPr>
          <p:cNvGraphicFramePr/>
          <p:nvPr>
            <p:custDataLst>
              <p:tags r:id="rId10"/>
            </p:custDataLst>
            <p:extLst>
              <p:ext uri="{D42A27DB-BD31-4B8C-83A1-F6EECF244321}">
                <p14:modId xmlns:p14="http://schemas.microsoft.com/office/powerpoint/2010/main" val="3889173162"/>
              </p:ext>
            </p:extLst>
          </p:nvPr>
        </p:nvGraphicFramePr>
        <p:xfrm>
          <a:off x="4555054" y="2347666"/>
          <a:ext cx="3682879" cy="324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40" name="Main chart">
            <a:extLst>
              <a:ext uri="{FF2B5EF4-FFF2-40B4-BE49-F238E27FC236}">
                <a16:creationId xmlns:a16="http://schemas.microsoft.com/office/drawing/2014/main" id="{28030169-3EA5-463E-4D1D-8803E30CEC04}"/>
              </a:ext>
            </a:extLst>
          </p:cNvPr>
          <p:cNvGraphicFramePr/>
          <p:nvPr>
            <p:custDataLst>
              <p:tags r:id="rId11"/>
            </p:custDataLst>
            <p:extLst>
              <p:ext uri="{D42A27DB-BD31-4B8C-83A1-F6EECF244321}">
                <p14:modId xmlns:p14="http://schemas.microsoft.com/office/powerpoint/2010/main" val="2122273529"/>
              </p:ext>
            </p:extLst>
          </p:nvPr>
        </p:nvGraphicFramePr>
        <p:xfrm>
          <a:off x="4555054" y="2605556"/>
          <a:ext cx="3682879" cy="324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41" name="Main chart">
            <a:extLst>
              <a:ext uri="{FF2B5EF4-FFF2-40B4-BE49-F238E27FC236}">
                <a16:creationId xmlns:a16="http://schemas.microsoft.com/office/drawing/2014/main" id="{86E181D3-2972-7E24-DD40-32521BBC8C84}"/>
              </a:ext>
            </a:extLst>
          </p:cNvPr>
          <p:cNvGraphicFramePr/>
          <p:nvPr>
            <p:custDataLst>
              <p:tags r:id="rId12"/>
            </p:custDataLst>
            <p:extLst>
              <p:ext uri="{D42A27DB-BD31-4B8C-83A1-F6EECF244321}">
                <p14:modId xmlns:p14="http://schemas.microsoft.com/office/powerpoint/2010/main" val="2459370879"/>
              </p:ext>
            </p:extLst>
          </p:nvPr>
        </p:nvGraphicFramePr>
        <p:xfrm>
          <a:off x="4555054" y="2922204"/>
          <a:ext cx="3682879" cy="324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42" name="Main chart">
            <a:extLst>
              <a:ext uri="{FF2B5EF4-FFF2-40B4-BE49-F238E27FC236}">
                <a16:creationId xmlns:a16="http://schemas.microsoft.com/office/drawing/2014/main" id="{920C423E-3749-899D-9AFA-246F0216AC85}"/>
              </a:ext>
            </a:extLst>
          </p:cNvPr>
          <p:cNvGraphicFramePr/>
          <p:nvPr>
            <p:custDataLst>
              <p:tags r:id="rId13"/>
            </p:custDataLst>
            <p:extLst>
              <p:ext uri="{D42A27DB-BD31-4B8C-83A1-F6EECF244321}">
                <p14:modId xmlns:p14="http://schemas.microsoft.com/office/powerpoint/2010/main" val="3308381994"/>
              </p:ext>
            </p:extLst>
          </p:nvPr>
        </p:nvGraphicFramePr>
        <p:xfrm>
          <a:off x="4555054" y="3546022"/>
          <a:ext cx="3682879" cy="324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43" name="Main chart">
            <a:extLst>
              <a:ext uri="{FF2B5EF4-FFF2-40B4-BE49-F238E27FC236}">
                <a16:creationId xmlns:a16="http://schemas.microsoft.com/office/drawing/2014/main" id="{EEFEC5F8-25D7-57E3-4460-95FF3978ABE9}"/>
              </a:ext>
            </a:extLst>
          </p:cNvPr>
          <p:cNvGraphicFramePr/>
          <p:nvPr>
            <p:custDataLst>
              <p:tags r:id="rId14"/>
            </p:custDataLst>
            <p:extLst>
              <p:ext uri="{D42A27DB-BD31-4B8C-83A1-F6EECF244321}">
                <p14:modId xmlns:p14="http://schemas.microsoft.com/office/powerpoint/2010/main" val="1651613118"/>
              </p:ext>
            </p:extLst>
          </p:nvPr>
        </p:nvGraphicFramePr>
        <p:xfrm>
          <a:off x="4555054" y="3800355"/>
          <a:ext cx="3682879" cy="324000"/>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44" name="Main chart">
            <a:extLst>
              <a:ext uri="{FF2B5EF4-FFF2-40B4-BE49-F238E27FC236}">
                <a16:creationId xmlns:a16="http://schemas.microsoft.com/office/drawing/2014/main" id="{A683B336-0DAC-D03E-3E8A-E48F422298F1}"/>
              </a:ext>
            </a:extLst>
          </p:cNvPr>
          <p:cNvGraphicFramePr/>
          <p:nvPr>
            <p:custDataLst>
              <p:tags r:id="rId15"/>
            </p:custDataLst>
            <p:extLst>
              <p:ext uri="{D42A27DB-BD31-4B8C-83A1-F6EECF244321}">
                <p14:modId xmlns:p14="http://schemas.microsoft.com/office/powerpoint/2010/main" val="16758522"/>
              </p:ext>
            </p:extLst>
          </p:nvPr>
        </p:nvGraphicFramePr>
        <p:xfrm>
          <a:off x="4555054" y="4251355"/>
          <a:ext cx="3682879" cy="324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45" name="Main chart">
            <a:extLst>
              <a:ext uri="{FF2B5EF4-FFF2-40B4-BE49-F238E27FC236}">
                <a16:creationId xmlns:a16="http://schemas.microsoft.com/office/drawing/2014/main" id="{6ACBE03E-D286-5370-3035-DFF56CCF9AB0}"/>
              </a:ext>
            </a:extLst>
          </p:cNvPr>
          <p:cNvGraphicFramePr/>
          <p:nvPr>
            <p:custDataLst>
              <p:tags r:id="rId16"/>
            </p:custDataLst>
            <p:extLst>
              <p:ext uri="{D42A27DB-BD31-4B8C-83A1-F6EECF244321}">
                <p14:modId xmlns:p14="http://schemas.microsoft.com/office/powerpoint/2010/main" val="1694364532"/>
              </p:ext>
            </p:extLst>
          </p:nvPr>
        </p:nvGraphicFramePr>
        <p:xfrm>
          <a:off x="4555054" y="4702356"/>
          <a:ext cx="3682879" cy="324000"/>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46" name="Main chart">
            <a:extLst>
              <a:ext uri="{FF2B5EF4-FFF2-40B4-BE49-F238E27FC236}">
                <a16:creationId xmlns:a16="http://schemas.microsoft.com/office/drawing/2014/main" id="{15C009CA-16F0-A66B-E0F8-7D2D142ADED2}"/>
              </a:ext>
            </a:extLst>
          </p:cNvPr>
          <p:cNvGraphicFramePr/>
          <p:nvPr>
            <p:custDataLst>
              <p:tags r:id="rId17"/>
            </p:custDataLst>
            <p:extLst>
              <p:ext uri="{D42A27DB-BD31-4B8C-83A1-F6EECF244321}">
                <p14:modId xmlns:p14="http://schemas.microsoft.com/office/powerpoint/2010/main" val="2169210201"/>
              </p:ext>
            </p:extLst>
          </p:nvPr>
        </p:nvGraphicFramePr>
        <p:xfrm>
          <a:off x="4555054" y="5153356"/>
          <a:ext cx="3682879" cy="324000"/>
        </p:xfrm>
        <a:graphic>
          <a:graphicData uri="http://schemas.openxmlformats.org/drawingml/2006/chart">
            <c:chart xmlns:c="http://schemas.openxmlformats.org/drawingml/2006/chart" xmlns:r="http://schemas.openxmlformats.org/officeDocument/2006/relationships" r:id="rId33"/>
          </a:graphicData>
        </a:graphic>
      </p:graphicFrame>
    </p:spTree>
    <p:extLst>
      <p:ext uri="{BB962C8B-B14F-4D97-AF65-F5344CB8AC3E}">
        <p14:creationId xmlns:p14="http://schemas.microsoft.com/office/powerpoint/2010/main" val="2659015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442"/>
        <p:cNvGrpSpPr/>
        <p:nvPr/>
      </p:nvGrpSpPr>
      <p:grpSpPr>
        <a:xfrm>
          <a:off x="0" y="0"/>
          <a:ext cx="0" cy="0"/>
          <a:chOff x="0" y="0"/>
          <a:chExt cx="0" cy="0"/>
        </a:xfrm>
      </p:grpSpPr>
      <p:sp>
        <p:nvSpPr>
          <p:cNvPr id="5" name="Google Shape;1432;p35">
            <a:extLst>
              <a:ext uri="{FF2B5EF4-FFF2-40B4-BE49-F238E27FC236}">
                <a16:creationId xmlns:a16="http://schemas.microsoft.com/office/drawing/2014/main" id="{96939712-E9FB-9CEB-CFD7-B8D57020CF30}"/>
              </a:ext>
            </a:extLst>
          </p:cNvPr>
          <p:cNvSpPr txBox="1"/>
          <p:nvPr/>
        </p:nvSpPr>
        <p:spPr>
          <a:xfrm>
            <a:off x="928801" y="5876120"/>
            <a:ext cx="8190700"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^Full message text in speaker notes | No statistically significant (p&lt;.05) difference between waves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Messages sorted in decreasing order of Effectiveness for ZENPEP messages</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         denote wave averages for message effectiveness | </a:t>
            </a:r>
            <a:b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 added in W32: Z24 | ^Messages Edited in W32: Z11, Z23</a:t>
            </a:r>
          </a:p>
        </p:txBody>
      </p:sp>
      <p:graphicFrame>
        <p:nvGraphicFramePr>
          <p:cNvPr id="27" name="Z_ME_Table">
            <a:extLst>
              <a:ext uri="{FF2B5EF4-FFF2-40B4-BE49-F238E27FC236}">
                <a16:creationId xmlns:a16="http://schemas.microsoft.com/office/drawing/2014/main" id="{81F86ACE-F572-40D9-BEC8-242E0DC67738}"/>
              </a:ext>
            </a:extLst>
          </p:cNvPr>
          <p:cNvGraphicFramePr/>
          <p:nvPr>
            <p:custDataLst>
              <p:tags r:id="rId1"/>
            </p:custDataLst>
            <p:extLst>
              <p:ext uri="{D42A27DB-BD31-4B8C-83A1-F6EECF244321}">
                <p14:modId xmlns:p14="http://schemas.microsoft.com/office/powerpoint/2010/main" val="2877341360"/>
              </p:ext>
            </p:extLst>
          </p:nvPr>
        </p:nvGraphicFramePr>
        <p:xfrm>
          <a:off x="80649" y="1648735"/>
          <a:ext cx="4685030" cy="4536000"/>
        </p:xfrm>
        <a:graphic>
          <a:graphicData uri="http://schemas.openxmlformats.org/drawingml/2006/table">
            <a:tbl>
              <a:tblPr>
                <a:noFill/>
                <a:tableStyleId>{96BACEE3-1A1D-4107-9369-2142449FF59F}</a:tableStyleId>
              </a:tblPr>
              <a:tblGrid>
                <a:gridCol w="387350">
                  <a:extLst>
                    <a:ext uri="{9D8B030D-6E8A-4147-A177-3AD203B41FA5}">
                      <a16:colId xmlns:a16="http://schemas.microsoft.com/office/drawing/2014/main" val="20000"/>
                    </a:ext>
                  </a:extLst>
                </a:gridCol>
                <a:gridCol w="4297680">
                  <a:extLst>
                    <a:ext uri="{9D8B030D-6E8A-4147-A177-3AD203B41FA5}">
                      <a16:colId xmlns:a16="http://schemas.microsoft.com/office/drawing/2014/main" val="20001"/>
                    </a:ext>
                  </a:extLst>
                </a:gridCol>
              </a:tblGrid>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ZP17</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mj-lt"/>
                          <a:cs typeface="Arial"/>
                          <a:sym typeface="Arial"/>
                        </a:rPr>
                        <a:t>Only ZENPEP offers 40k and 60k lipase-unit capsules, which may help reduce the number of pills your adult patients need to take</a:t>
                      </a:r>
                      <a:endParaRPr lang="en-GB" sz="900" b="0" i="1"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0"/>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ZP16</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offers a single-capsule starting dose for almost all adult patients</a:t>
                      </a:r>
                      <a:endParaRPr lang="en-GB" sz="900" b="0" i="1" u="none" strike="noStrike" kern="1200">
                        <a:solidFill>
                          <a:srgbClr val="071D49"/>
                        </a:solidFill>
                        <a:effectLst/>
                        <a:latin typeface="Arial"/>
                        <a:ea typeface="Arial"/>
                        <a:cs typeface="Arial"/>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1"/>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ZP19</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Meets the ACG guideline for EPI and CP in a single capsule</a:t>
                      </a:r>
                      <a:endParaRPr lang="en-GB" sz="900" b="0" i="1" u="none" strike="noStrike" kern="1200">
                        <a:solidFill>
                          <a:srgbClr val="071D49"/>
                        </a:solidFill>
                        <a:effectLst/>
                        <a:latin typeface="Arial"/>
                        <a:ea typeface="Arial"/>
                        <a:cs typeface="Arial"/>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2"/>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ZP15</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When prescribing PERT to your adult patients with EPI -Start simply with one capsule of ZENPEP®</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ZP7</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has an enteric coating that minimizes degradation and targets enzyme release in the small intestine</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is now $0 for commercially insured patients</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ZP20</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91% of patients achieved a CFA of 80% or higher with Zenpep</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ZP18</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In a clinical trial, the right dose helped patients absorb nutrients from their food and provided symptom relief</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ZP8</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helps fuel nutritional health, increasing coefficient of fat absorption (CFA) by 26 percentage points vs placebo</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ZP21</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can help your patients absorb the fat and nutrients they need and treat uncomfortable GI symptoms</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ZP22</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Through My SampleCloset, practices are able to easily request samples of Zenpep at any strength</a:t>
                      </a:r>
                      <a:endParaRPr lang="en-GB" sz="900" b="0" i="0" u="none" strike="noStrike">
                        <a:solidFill>
                          <a:srgbClr val="071D49"/>
                        </a:solidFill>
                        <a:effectLst/>
                        <a:latin typeface="+mj-lt"/>
                      </a:endParaRPr>
                    </a:p>
                  </a:txBody>
                  <a:tcPr marL="85725" marR="9525" marT="9525" marB="0" anchor="ctr">
                    <a:lnL w="12700" cap="flat" cmpd="sng">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noProof="0">
                          <a:ln>
                            <a:noFill/>
                          </a:ln>
                          <a:solidFill>
                            <a:srgbClr val="071D49"/>
                          </a:solidFill>
                          <a:effectLst/>
                          <a:uLnTx/>
                          <a:uFillTx/>
                          <a:latin typeface="Arial" panose="020B0604020202020204" pitchFamily="34" charset="0"/>
                          <a:cs typeface="Calibri"/>
                          <a:sym typeface="Arial"/>
                        </a:rPr>
                        <a:t>ZP24</a:t>
                      </a:r>
                      <a:endParaRPr kumimoji="0" lang="en-IN" sz="900" b="1" i="0" u="none" strike="noStrike" kern="0" cap="none" spc="0" normalizeH="0" baseline="0">
                        <a:ln>
                          <a:noFill/>
                        </a:ln>
                        <a:solidFill>
                          <a:srgbClr val="071D49"/>
                        </a:solidFill>
                        <a:effectLst/>
                        <a:uLnTx/>
                        <a:uFillTx/>
                        <a:latin typeface="Arial" panose="020B0604020202020204" pitchFamily="34" charset="0"/>
                        <a:cs typeface="Calibri"/>
                      </a:endParaRPr>
                    </a:p>
                  </a:txBody>
                  <a:tcPr marL="9525" marR="9525" marT="9525"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a:cs typeface="Arial"/>
                          <a:sym typeface="Arial"/>
                        </a:rPr>
                        <a:t>Zenpep is designed to mimic typical exocrine pancreatic function.</a:t>
                      </a:r>
                      <a:endParaRPr lang="en-GB" sz="900" b="0" i="0" u="none" strike="noStrike">
                        <a:solidFill>
                          <a:srgbClr val="071D49"/>
                        </a:solidFill>
                        <a:effectLst/>
                        <a:latin typeface="+mj-lt"/>
                      </a:endParaRPr>
                    </a:p>
                  </a:txBody>
                  <a:tcPr marL="85725" marR="9525" marT="9525" marB="0" anchor="ctr">
                    <a:lnL w="12700" cap="flat" cmpd="sng" algn="ctr">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177683362"/>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rPr>
                        <a:t>ZP25</a:t>
                      </a:r>
                    </a:p>
                  </a:txBody>
                  <a:tcPr marL="9525" marR="9525" marT="9525"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a:solidFill>
                            <a:srgbClr val="071D49"/>
                          </a:solidFill>
                          <a:effectLst/>
                          <a:latin typeface="+mj-lt"/>
                        </a:rPr>
                        <a:t>ZENPEP is the fastest growing PERT</a:t>
                      </a:r>
                      <a:endParaRPr lang="en-GB" sz="900" b="0" i="0" u="none" strike="noStrike">
                        <a:solidFill>
                          <a:srgbClr val="071D49"/>
                        </a:solidFill>
                        <a:effectLst/>
                        <a:latin typeface="+mj-lt"/>
                      </a:endParaRPr>
                    </a:p>
                  </a:txBody>
                  <a:tcPr marL="85725" marR="9525" marT="9525" marB="0" anchor="ctr">
                    <a:lnL w="12700" cap="flat" cmpd="sng" algn="ctr">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4153062492"/>
                  </a:ext>
                </a:extLst>
              </a:tr>
              <a:tr h="324000">
                <a:tc>
                  <a:txBody>
                    <a:bodyPr/>
                    <a:lstStyle/>
                    <a:p>
                      <a:pPr marL="5080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rPr>
                        <a:t>ZP23</a:t>
                      </a:r>
                    </a:p>
                  </a:txBody>
                  <a:tcPr marL="9525" marR="9525" marT="9525"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0" marR="0" lvl="0" indent="0" algn="l"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a:solidFill>
                            <a:srgbClr val="071D49"/>
                          </a:solidFill>
                          <a:effectLst/>
                          <a:latin typeface="+mj-lt"/>
                        </a:rPr>
                        <a:t>Zenpep is the most widely covered treatment in its class.</a:t>
                      </a:r>
                      <a:endParaRPr lang="en-GB" sz="900" b="0" i="0" u="none" strike="noStrike">
                        <a:solidFill>
                          <a:srgbClr val="071D49"/>
                        </a:solidFill>
                        <a:effectLst/>
                        <a:latin typeface="+mj-lt"/>
                      </a:endParaRPr>
                    </a:p>
                  </a:txBody>
                  <a:tcPr marL="85725" marR="9525" marT="9525" marB="0" anchor="ctr">
                    <a:lnL w="12700" cap="flat" cmpd="sng" algn="ctr">
                      <a:solidFill>
                        <a:schemeClr val="lt1"/>
                      </a:solidFill>
                      <a:prstDash val="solid"/>
                      <a:round/>
                      <a:headEnd type="none" w="sm" len="sm"/>
                      <a:tailEnd type="none" w="sm" len="sm"/>
                    </a:lnL>
                    <a:lnR w="12700" cap="flat" cmpd="sng">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2973449613"/>
                  </a:ext>
                </a:extLst>
              </a:tr>
            </a:tbl>
          </a:graphicData>
        </a:graphic>
      </p:graphicFrame>
      <p:sp>
        <p:nvSpPr>
          <p:cNvPr id="1444" name="Google Shape;1444;p36"/>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ZENPEP's dosing messages Z17 and Z16 were two most effective messages, with effectiveness trending upward across most messages this wave</a:t>
            </a:r>
          </a:p>
        </p:txBody>
      </p:sp>
      <p:graphicFrame>
        <p:nvGraphicFramePr>
          <p:cNvPr id="52" name="z5">
            <a:extLst>
              <a:ext uri="{FF2B5EF4-FFF2-40B4-BE49-F238E27FC236}">
                <a16:creationId xmlns:a16="http://schemas.microsoft.com/office/drawing/2014/main" id="{74D60BEB-ECC5-46C8-878C-8C2C74CDCA96}"/>
              </a:ext>
            </a:extLst>
          </p:cNvPr>
          <p:cNvGraphicFramePr/>
          <p:nvPr>
            <p:custDataLst>
              <p:tags r:id="rId2"/>
            </p:custDataLst>
            <p:extLst>
              <p:ext uri="{D42A27DB-BD31-4B8C-83A1-F6EECF244321}">
                <p14:modId xmlns:p14="http://schemas.microsoft.com/office/powerpoint/2010/main" val="4016185309"/>
              </p:ext>
            </p:extLst>
          </p:nvPr>
        </p:nvGraphicFramePr>
        <p:xfrm>
          <a:off x="4511403" y="1648735"/>
          <a:ext cx="3682800" cy="324000"/>
        </p:xfrm>
        <a:graphic>
          <a:graphicData uri="http://schemas.openxmlformats.org/drawingml/2006/chart">
            <c:chart xmlns:c="http://schemas.openxmlformats.org/drawingml/2006/chart" xmlns:r="http://schemas.openxmlformats.org/officeDocument/2006/relationships" r:id="rId21"/>
          </a:graphicData>
        </a:graphic>
      </p:graphicFrame>
      <p:sp>
        <p:nvSpPr>
          <p:cNvPr id="3" name="Google Shape;1415;p35">
            <a:extLst>
              <a:ext uri="{FF2B5EF4-FFF2-40B4-BE49-F238E27FC236}">
                <a16:creationId xmlns:a16="http://schemas.microsoft.com/office/drawing/2014/main" id="{A6B562D0-F1E6-2B22-8740-A025B114112E}"/>
              </a:ext>
            </a:extLst>
          </p:cNvPr>
          <p:cNvSpPr/>
          <p:nvPr/>
        </p:nvSpPr>
        <p:spPr>
          <a:xfrm>
            <a:off x="30480" y="747857"/>
            <a:ext cx="9181941" cy="47937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Effectiveness – </a:t>
            </a:r>
            <a:r>
              <a:rPr kumimoji="0" lang="en-US" sz="1400" b="1" i="0" u="sng" strike="noStrike" kern="0" cap="none" spc="0" normalizeH="0" baseline="0" noProof="0">
                <a:ln>
                  <a:noFill/>
                </a:ln>
                <a:solidFill>
                  <a:srgbClr val="A58ADA"/>
                </a:solidFill>
                <a:effectLst/>
                <a:uLnTx/>
                <a:uFillTx/>
                <a:latin typeface="Arial" panose="020B0604020202020204" pitchFamily="34" charset="0"/>
                <a:ea typeface="Calibri"/>
                <a:cs typeface="Arial" panose="020B0604020202020204" pitchFamily="34" charset="0"/>
                <a:sym typeface="Calibri"/>
              </a:rPr>
              <a:t>ZENPEP</a:t>
            </a:r>
            <a:endParaRPr kumimoji="0" lang="en-IN" sz="1400" b="0" i="0" u="none" strike="noStrike" kern="0" cap="none" spc="0" normalizeH="0" baseline="0" noProof="0">
              <a:ln>
                <a:noFill/>
              </a:ln>
              <a:solidFill>
                <a:srgbClr val="A58ADA"/>
              </a:solidFill>
              <a:effectLst/>
              <a:uLnTx/>
              <a:uFillTx/>
              <a:latin typeface="Arial" panose="020B0604020202020204" pitchFamily="34" charset="0"/>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(Jan’25 – Feb’25: n = 113 | Mar’25 – Apr’25: n = 114 | May’25 – Jun’25: n = 113 | Jul’25 – Aug’25: n = 115 | Sep’25 – Oct’25: n = 114 | Nov’25 – Dec’25: n = 115)</a:t>
            </a:r>
            <a:endParaRPr kumimoji="0" lang="en-IN" sz="1000" b="0" i="0" u="sng" strike="noStrike" kern="0" cap="none" spc="0" normalizeH="0" baseline="30000" noProof="0">
              <a:ln>
                <a:noFill/>
              </a:ln>
              <a:solidFill>
                <a:srgbClr val="9778D4"/>
              </a:solidFill>
              <a:effectLst/>
              <a:uLnTx/>
              <a:uFillTx/>
              <a:latin typeface="Arial" panose="020B0604020202020204" pitchFamily="34" charset="0"/>
              <a:ea typeface="Calibri"/>
              <a:cs typeface="Arial" panose="020B0604020202020204" pitchFamily="34" charset="0"/>
              <a:sym typeface="Calibri"/>
            </a:endParaRPr>
          </a:p>
        </p:txBody>
      </p:sp>
      <p:sp>
        <p:nvSpPr>
          <p:cNvPr id="18" name="Google Shape;1433;p35">
            <a:extLst>
              <a:ext uri="{FF2B5EF4-FFF2-40B4-BE49-F238E27FC236}">
                <a16:creationId xmlns:a16="http://schemas.microsoft.com/office/drawing/2014/main" id="{E2F2E438-A3B9-3110-3F99-8221A3965B4E}"/>
              </a:ext>
            </a:extLst>
          </p:cNvPr>
          <p:cNvSpPr/>
          <p:nvPr/>
        </p:nvSpPr>
        <p:spPr>
          <a:xfrm>
            <a:off x="5559264" y="5692542"/>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of HCPs (Rating 6,7)</a:t>
            </a:r>
            <a:endPar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4" name="TextBox 3">
            <a:extLst>
              <a:ext uri="{FF2B5EF4-FFF2-40B4-BE49-F238E27FC236}">
                <a16:creationId xmlns:a16="http://schemas.microsoft.com/office/drawing/2014/main" id="{A8A591F4-7DCA-960D-7B0D-E4D35CBB25FE}"/>
              </a:ext>
            </a:extLst>
          </p:cNvPr>
          <p:cNvSpPr txBox="1"/>
          <p:nvPr/>
        </p:nvSpPr>
        <p:spPr>
          <a:xfrm>
            <a:off x="66780" y="1364704"/>
            <a:ext cx="4698899" cy="276999"/>
          </a:xfrm>
          <a:prstGeom prst="rect">
            <a:avLst/>
          </a:prstGeom>
          <a:solidFill>
            <a:srgbClr val="071D49"/>
          </a:solidFill>
          <a:ln>
            <a:noFill/>
          </a:ln>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rPr>
              <a:t>Messages^</a:t>
            </a:r>
            <a:endParaRPr kumimoji="0" lang="en-US" sz="1200" b="0" i="0" u="none" strike="noStrike" kern="1200" cap="none" spc="0" normalizeH="0" baseline="3000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aphicFrame>
        <p:nvGraphicFramePr>
          <p:cNvPr id="8" name="wave table OCQ">
            <a:extLst>
              <a:ext uri="{FF2B5EF4-FFF2-40B4-BE49-F238E27FC236}">
                <a16:creationId xmlns:a16="http://schemas.microsoft.com/office/drawing/2014/main" id="{E3AB931A-61F8-31DE-7B80-2A94546B43F9}"/>
              </a:ext>
            </a:extLst>
          </p:cNvPr>
          <p:cNvGraphicFramePr>
            <a:graphicFrameLocks noGrp="1"/>
          </p:cNvGraphicFramePr>
          <p:nvPr>
            <p:custDataLst>
              <p:tags r:id="rId3"/>
            </p:custDataLst>
          </p:nvPr>
        </p:nvGraphicFramePr>
        <p:xfrm>
          <a:off x="5021666" y="6089342"/>
          <a:ext cx="216000" cy="121920"/>
        </p:xfrm>
        <a:graphic>
          <a:graphicData uri="http://schemas.openxmlformats.org/drawingml/2006/table">
            <a:tbl>
              <a:tblPr firstRow="1" bandRow="1">
                <a:tableStyleId>{B301B821-A1FF-4177-AEE7-76D212191A09}</a:tableStyleId>
              </a:tblPr>
              <a:tblGrid>
                <a:gridCol w="216000">
                  <a:extLst>
                    <a:ext uri="{9D8B030D-6E8A-4147-A177-3AD203B41FA5}">
                      <a16:colId xmlns:a16="http://schemas.microsoft.com/office/drawing/2014/main" val="3554599800"/>
                    </a:ext>
                  </a:extLst>
                </a:gridCol>
              </a:tblGrid>
              <a:tr h="12192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IN" sz="800" b="0" i="1" u="none" strike="noStrike" cap="none">
                          <a:solidFill>
                            <a:srgbClr val="071D49"/>
                          </a:solidFill>
                          <a:effectLst/>
                          <a:latin typeface="+mj-lt"/>
                          <a:ea typeface="+mn-ea"/>
                          <a:cs typeface="+mn-cs"/>
                          <a:sym typeface="Arial"/>
                        </a:rPr>
                        <a:t>**%</a:t>
                      </a:r>
                      <a:endParaRPr lang="en-US" sz="800" b="0" i="1" u="none" strike="noStrike" cap="none">
                        <a:solidFill>
                          <a:srgbClr val="071D49"/>
                        </a:solidFill>
                        <a:effectLst/>
                        <a:latin typeface="+mj-lt"/>
                        <a:ea typeface="+mn-ea"/>
                        <a:cs typeface="+mn-cs"/>
                        <a:sym typeface="Arial"/>
                      </a:endParaRPr>
                    </a:p>
                  </a:txBody>
                  <a:tcPr marL="0" marR="0" marT="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11" name="Shape_27737418">
            <a:extLst>
              <a:ext uri="{FF2B5EF4-FFF2-40B4-BE49-F238E27FC236}">
                <a16:creationId xmlns:a16="http://schemas.microsoft.com/office/drawing/2014/main" id="{C1EFD11C-D0A9-6B88-1FAE-3EE806244CAF}"/>
              </a:ext>
            </a:extLst>
          </p:cNvPr>
          <p:cNvGraphicFramePr>
            <a:graphicFrameLocks noGrp="1"/>
          </p:cNvGraphicFramePr>
          <p:nvPr>
            <p:custDataLst>
              <p:tags r:id="rId4"/>
            </p:custDataLst>
          </p:nvPr>
        </p:nvGraphicFramePr>
        <p:xfrm>
          <a:off x="4700217" y="1484719"/>
          <a:ext cx="3356982" cy="160076"/>
        </p:xfrm>
        <a:graphic>
          <a:graphicData uri="http://schemas.openxmlformats.org/drawingml/2006/table">
            <a:tbl>
              <a:tblPr firstRow="1" bandRow="1">
                <a:tableStyleId>{B301B821-A1FF-4177-AEE7-76D212191A09}</a:tableStyleId>
              </a:tblPr>
              <a:tblGrid>
                <a:gridCol w="559497">
                  <a:extLst>
                    <a:ext uri="{9D8B030D-6E8A-4147-A177-3AD203B41FA5}">
                      <a16:colId xmlns:a16="http://schemas.microsoft.com/office/drawing/2014/main" val="3554599800"/>
                    </a:ext>
                  </a:extLst>
                </a:gridCol>
                <a:gridCol w="559497">
                  <a:extLst>
                    <a:ext uri="{9D8B030D-6E8A-4147-A177-3AD203B41FA5}">
                      <a16:colId xmlns:a16="http://schemas.microsoft.com/office/drawing/2014/main" val="2914776207"/>
                    </a:ext>
                  </a:extLst>
                </a:gridCol>
                <a:gridCol w="559497">
                  <a:extLst>
                    <a:ext uri="{9D8B030D-6E8A-4147-A177-3AD203B41FA5}">
                      <a16:colId xmlns:a16="http://schemas.microsoft.com/office/drawing/2014/main" val="2088702262"/>
                    </a:ext>
                  </a:extLst>
                </a:gridCol>
                <a:gridCol w="559497">
                  <a:extLst>
                    <a:ext uri="{9D8B030D-6E8A-4147-A177-3AD203B41FA5}">
                      <a16:colId xmlns:a16="http://schemas.microsoft.com/office/drawing/2014/main" val="192097877"/>
                    </a:ext>
                  </a:extLst>
                </a:gridCol>
                <a:gridCol w="559497">
                  <a:extLst>
                    <a:ext uri="{9D8B030D-6E8A-4147-A177-3AD203B41FA5}">
                      <a16:colId xmlns:a16="http://schemas.microsoft.com/office/drawing/2014/main" val="1326389649"/>
                    </a:ext>
                  </a:extLst>
                </a:gridCol>
                <a:gridCol w="559497">
                  <a:extLst>
                    <a:ext uri="{9D8B030D-6E8A-4147-A177-3AD203B41FA5}">
                      <a16:colId xmlns:a16="http://schemas.microsoft.com/office/drawing/2014/main" val="3544539175"/>
                    </a:ext>
                  </a:extLst>
                </a:gridCol>
              </a:tblGrid>
              <a:tr h="160076">
                <a:tc>
                  <a:txBody>
                    <a:bodyPr/>
                    <a:lstStyle/>
                    <a:p>
                      <a:pPr algn="ctr" fontAlgn="ctr"/>
                      <a:r>
                        <a:rPr lang="en-IN" sz="900" b="0" i="1" u="none" strike="noStrike" kern="1200" cap="none">
                          <a:solidFill>
                            <a:srgbClr val="071D49"/>
                          </a:solidFill>
                          <a:effectLst/>
                          <a:latin typeface="+mj-lt"/>
                          <a:ea typeface="+mn-ea"/>
                          <a:cs typeface="+mn-cs"/>
                        </a:rPr>
                        <a:t>62%</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60%</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58%</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54%</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55%</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IN" sz="900" b="0" i="1" u="none" strike="noStrike" kern="1200" cap="none">
                          <a:solidFill>
                            <a:srgbClr val="071D49"/>
                          </a:solidFill>
                          <a:effectLst/>
                          <a:latin typeface="+mj-lt"/>
                          <a:ea typeface="+mn-ea"/>
                          <a:cs typeface="+mn-cs"/>
                        </a:rPr>
                        <a:t>57%</a:t>
                      </a:r>
                    </a:p>
                  </a:txBody>
                  <a:tcPr marL="6350" marR="6350" marT="6350" marB="0" anchor="ctr">
                    <a:lnL w="6350" cap="flat" cmpd="sng" algn="ctr">
                      <a:solidFill>
                        <a:schemeClr val="tx1"/>
                      </a:solidFill>
                      <a:prstDash val="lgDash"/>
                      <a:round/>
                      <a:headEnd type="none" w="med" len="med"/>
                      <a:tailEnd type="none" w="med" len="med"/>
                    </a:lnL>
                    <a:lnR w="6350" cap="flat" cmpd="sng" algn="ctr">
                      <a:solidFill>
                        <a:schemeClr val="tx1"/>
                      </a:solidFill>
                      <a:prstDash val="lgDash"/>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2" name="Table 1">
            <a:extLst>
              <a:ext uri="{FF2B5EF4-FFF2-40B4-BE49-F238E27FC236}">
                <a16:creationId xmlns:a16="http://schemas.microsoft.com/office/drawing/2014/main" id="{601E6F58-A0CF-AC8D-9AFF-D99E890B8ACA}"/>
              </a:ext>
            </a:extLst>
          </p:cNvPr>
          <p:cNvGraphicFramePr>
            <a:graphicFrameLocks noGrp="1"/>
          </p:cNvGraphicFramePr>
          <p:nvPr/>
        </p:nvGraphicFramePr>
        <p:xfrm>
          <a:off x="8066349" y="1185320"/>
          <a:ext cx="1044000" cy="4675422"/>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92725">
                <a:tc gridSpan="2">
                  <a:txBody>
                    <a:bodyPr/>
                    <a:lstStyle/>
                    <a:p>
                      <a:pPr algn="ctr"/>
                      <a:r>
                        <a:rPr lang="en-IN" sz="1000">
                          <a:solidFill>
                            <a:schemeClr val="tx1"/>
                          </a:solidFill>
                        </a:rPr>
                        <a:t>ZENPEP</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81968">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67254073"/>
                  </a:ext>
                </a:extLst>
              </a:tr>
              <a:tr h="32313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955413692"/>
                  </a:ext>
                </a:extLst>
              </a:tr>
            </a:tbl>
          </a:graphicData>
        </a:graphic>
      </p:graphicFrame>
      <p:sp>
        <p:nvSpPr>
          <p:cNvPr id="12" name="TextBox 11">
            <a:extLst>
              <a:ext uri="{FF2B5EF4-FFF2-40B4-BE49-F238E27FC236}">
                <a16:creationId xmlns:a16="http://schemas.microsoft.com/office/drawing/2014/main" id="{BEA57DEA-655A-C30B-82BC-95CF0D554D28}"/>
              </a:ext>
            </a:extLst>
          </p:cNvPr>
          <p:cNvSpPr txBox="1"/>
          <p:nvPr/>
        </p:nvSpPr>
        <p:spPr>
          <a:xfrm>
            <a:off x="33180" y="747857"/>
            <a:ext cx="2988316" cy="253916"/>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5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hlinkClick r:id="rId22" action="ppaction://hlinksldjump"/>
              </a:rPr>
              <a:t>Link to Message Effectiveness by Specialty</a:t>
            </a:r>
            <a:endParaRPr kumimoji="0" lang="en-GB" sz="1050" b="1" i="1" u="sng"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endParaRPr>
          </a:p>
        </p:txBody>
      </p:sp>
      <p:graphicFrame>
        <p:nvGraphicFramePr>
          <p:cNvPr id="7" name="wave table OCQ">
            <a:extLst>
              <a:ext uri="{FF2B5EF4-FFF2-40B4-BE49-F238E27FC236}">
                <a16:creationId xmlns:a16="http://schemas.microsoft.com/office/drawing/2014/main" id="{7496AAF1-09ED-521E-F3C3-7EAD9EB246F9}"/>
              </a:ext>
            </a:extLst>
          </p:cNvPr>
          <p:cNvGraphicFramePr>
            <a:graphicFrameLocks noGrp="1"/>
          </p:cNvGraphicFramePr>
          <p:nvPr>
            <p:custDataLst>
              <p:tags r:id="rId5"/>
            </p:custDataLst>
          </p:nvPr>
        </p:nvGraphicFramePr>
        <p:xfrm>
          <a:off x="4700214" y="1254049"/>
          <a:ext cx="3356982" cy="243840"/>
        </p:xfrm>
        <a:graphic>
          <a:graphicData uri="http://schemas.openxmlformats.org/drawingml/2006/table">
            <a:tbl>
              <a:tblPr firstRow="1" bandRow="1">
                <a:tableStyleId>{B301B821-A1FF-4177-AEE7-76D212191A09}</a:tableStyleId>
              </a:tblPr>
              <a:tblGrid>
                <a:gridCol w="559497">
                  <a:extLst>
                    <a:ext uri="{9D8B030D-6E8A-4147-A177-3AD203B41FA5}">
                      <a16:colId xmlns:a16="http://schemas.microsoft.com/office/drawing/2014/main" val="3554599800"/>
                    </a:ext>
                  </a:extLst>
                </a:gridCol>
                <a:gridCol w="559497">
                  <a:extLst>
                    <a:ext uri="{9D8B030D-6E8A-4147-A177-3AD203B41FA5}">
                      <a16:colId xmlns:a16="http://schemas.microsoft.com/office/drawing/2014/main" val="2914776207"/>
                    </a:ext>
                  </a:extLst>
                </a:gridCol>
                <a:gridCol w="559497">
                  <a:extLst>
                    <a:ext uri="{9D8B030D-6E8A-4147-A177-3AD203B41FA5}">
                      <a16:colId xmlns:a16="http://schemas.microsoft.com/office/drawing/2014/main" val="2088702262"/>
                    </a:ext>
                  </a:extLst>
                </a:gridCol>
                <a:gridCol w="559497">
                  <a:extLst>
                    <a:ext uri="{9D8B030D-6E8A-4147-A177-3AD203B41FA5}">
                      <a16:colId xmlns:a16="http://schemas.microsoft.com/office/drawing/2014/main" val="192097877"/>
                    </a:ext>
                  </a:extLst>
                </a:gridCol>
                <a:gridCol w="559497">
                  <a:extLst>
                    <a:ext uri="{9D8B030D-6E8A-4147-A177-3AD203B41FA5}">
                      <a16:colId xmlns:a16="http://schemas.microsoft.com/office/drawing/2014/main" val="1326389649"/>
                    </a:ext>
                  </a:extLst>
                </a:gridCol>
                <a:gridCol w="559497">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8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3" name="Highlight#32">
            <a:extLst>
              <a:ext uri="{FF2B5EF4-FFF2-40B4-BE49-F238E27FC236}">
                <a16:creationId xmlns:a16="http://schemas.microsoft.com/office/drawing/2014/main" id="{ECD1D8A8-AED1-6968-2154-C9C321ABC21F}"/>
              </a:ext>
            </a:extLst>
          </p:cNvPr>
          <p:cNvSpPr txBox="1"/>
          <p:nvPr/>
        </p:nvSpPr>
        <p:spPr>
          <a:xfrm>
            <a:off x="49939" y="1667723"/>
            <a:ext cx="7932287" cy="1258882"/>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aphicFrame>
        <p:nvGraphicFramePr>
          <p:cNvPr id="6" name="z5">
            <a:extLst>
              <a:ext uri="{FF2B5EF4-FFF2-40B4-BE49-F238E27FC236}">
                <a16:creationId xmlns:a16="http://schemas.microsoft.com/office/drawing/2014/main" id="{FC3E4A3D-3A78-BB5A-888C-2B890522238B}"/>
              </a:ext>
            </a:extLst>
          </p:cNvPr>
          <p:cNvGraphicFramePr/>
          <p:nvPr>
            <p:custDataLst>
              <p:tags r:id="rId6"/>
            </p:custDataLst>
            <p:extLst>
              <p:ext uri="{D42A27DB-BD31-4B8C-83A1-F6EECF244321}">
                <p14:modId xmlns:p14="http://schemas.microsoft.com/office/powerpoint/2010/main" val="4229265417"/>
              </p:ext>
            </p:extLst>
          </p:nvPr>
        </p:nvGraphicFramePr>
        <p:xfrm>
          <a:off x="4511403" y="2099735"/>
          <a:ext cx="3682800" cy="324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z5">
            <a:extLst>
              <a:ext uri="{FF2B5EF4-FFF2-40B4-BE49-F238E27FC236}">
                <a16:creationId xmlns:a16="http://schemas.microsoft.com/office/drawing/2014/main" id="{614B79EE-BDC8-E03C-D6CA-9A0500B3501F}"/>
              </a:ext>
            </a:extLst>
          </p:cNvPr>
          <p:cNvGraphicFramePr/>
          <p:nvPr>
            <p:custDataLst>
              <p:tags r:id="rId7"/>
            </p:custDataLst>
            <p:extLst>
              <p:ext uri="{D42A27DB-BD31-4B8C-83A1-F6EECF244321}">
                <p14:modId xmlns:p14="http://schemas.microsoft.com/office/powerpoint/2010/main" val="1566947974"/>
              </p:ext>
            </p:extLst>
          </p:nvPr>
        </p:nvGraphicFramePr>
        <p:xfrm>
          <a:off x="4511403" y="2550735"/>
          <a:ext cx="3682800" cy="324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3" name="z5">
            <a:extLst>
              <a:ext uri="{FF2B5EF4-FFF2-40B4-BE49-F238E27FC236}">
                <a16:creationId xmlns:a16="http://schemas.microsoft.com/office/drawing/2014/main" id="{44E60882-72D0-DB19-C5BF-AD7E786CAD6D}"/>
              </a:ext>
            </a:extLst>
          </p:cNvPr>
          <p:cNvGraphicFramePr/>
          <p:nvPr>
            <p:custDataLst>
              <p:tags r:id="rId8"/>
            </p:custDataLst>
            <p:extLst>
              <p:ext uri="{D42A27DB-BD31-4B8C-83A1-F6EECF244321}">
                <p14:modId xmlns:p14="http://schemas.microsoft.com/office/powerpoint/2010/main" val="133025889"/>
              </p:ext>
            </p:extLst>
          </p:nvPr>
        </p:nvGraphicFramePr>
        <p:xfrm>
          <a:off x="4511403" y="3001735"/>
          <a:ext cx="3682800" cy="324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8" name="z5">
            <a:extLst>
              <a:ext uri="{FF2B5EF4-FFF2-40B4-BE49-F238E27FC236}">
                <a16:creationId xmlns:a16="http://schemas.microsoft.com/office/drawing/2014/main" id="{A97FAB5B-F4E0-E20B-51FD-0BAA576B3557}"/>
              </a:ext>
            </a:extLst>
          </p:cNvPr>
          <p:cNvGraphicFramePr/>
          <p:nvPr>
            <p:custDataLst>
              <p:tags r:id="rId9"/>
            </p:custDataLst>
            <p:extLst>
              <p:ext uri="{D42A27DB-BD31-4B8C-83A1-F6EECF244321}">
                <p14:modId xmlns:p14="http://schemas.microsoft.com/office/powerpoint/2010/main" val="2930515283"/>
              </p:ext>
            </p:extLst>
          </p:nvPr>
        </p:nvGraphicFramePr>
        <p:xfrm>
          <a:off x="4511403" y="3452735"/>
          <a:ext cx="3682800" cy="324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9" name="z5">
            <a:extLst>
              <a:ext uri="{FF2B5EF4-FFF2-40B4-BE49-F238E27FC236}">
                <a16:creationId xmlns:a16="http://schemas.microsoft.com/office/drawing/2014/main" id="{5065F647-6B99-37A4-2BB7-D35DA1F34BE7}"/>
              </a:ext>
            </a:extLst>
          </p:cNvPr>
          <p:cNvGraphicFramePr/>
          <p:nvPr>
            <p:custDataLst>
              <p:tags r:id="rId10"/>
            </p:custDataLst>
            <p:extLst>
              <p:ext uri="{D42A27DB-BD31-4B8C-83A1-F6EECF244321}">
                <p14:modId xmlns:p14="http://schemas.microsoft.com/office/powerpoint/2010/main" val="4156969423"/>
              </p:ext>
            </p:extLst>
          </p:nvPr>
        </p:nvGraphicFramePr>
        <p:xfrm>
          <a:off x="4511403" y="3903735"/>
          <a:ext cx="3682800" cy="324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30" name="z5">
            <a:extLst>
              <a:ext uri="{FF2B5EF4-FFF2-40B4-BE49-F238E27FC236}">
                <a16:creationId xmlns:a16="http://schemas.microsoft.com/office/drawing/2014/main" id="{79C7766C-CEF4-5AC4-F640-3AA2F66CD86B}"/>
              </a:ext>
            </a:extLst>
          </p:cNvPr>
          <p:cNvGraphicFramePr/>
          <p:nvPr>
            <p:custDataLst>
              <p:tags r:id="rId11"/>
            </p:custDataLst>
            <p:extLst>
              <p:ext uri="{D42A27DB-BD31-4B8C-83A1-F6EECF244321}">
                <p14:modId xmlns:p14="http://schemas.microsoft.com/office/powerpoint/2010/main" val="3392720485"/>
              </p:ext>
            </p:extLst>
          </p:nvPr>
        </p:nvGraphicFramePr>
        <p:xfrm>
          <a:off x="4511403" y="4354735"/>
          <a:ext cx="3682800" cy="324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31" name="z5">
            <a:extLst>
              <a:ext uri="{FF2B5EF4-FFF2-40B4-BE49-F238E27FC236}">
                <a16:creationId xmlns:a16="http://schemas.microsoft.com/office/drawing/2014/main" id="{7CBF65DE-6ACA-1AEC-CB8E-771428796148}"/>
              </a:ext>
            </a:extLst>
          </p:cNvPr>
          <p:cNvGraphicFramePr/>
          <p:nvPr>
            <p:custDataLst>
              <p:tags r:id="rId12"/>
            </p:custDataLst>
            <p:extLst>
              <p:ext uri="{D42A27DB-BD31-4B8C-83A1-F6EECF244321}">
                <p14:modId xmlns:p14="http://schemas.microsoft.com/office/powerpoint/2010/main" val="2128072437"/>
              </p:ext>
            </p:extLst>
          </p:nvPr>
        </p:nvGraphicFramePr>
        <p:xfrm>
          <a:off x="4511403" y="4805735"/>
          <a:ext cx="3682800" cy="324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32" name="z5">
            <a:extLst>
              <a:ext uri="{FF2B5EF4-FFF2-40B4-BE49-F238E27FC236}">
                <a16:creationId xmlns:a16="http://schemas.microsoft.com/office/drawing/2014/main" id="{D539DDB9-6F69-08E1-3C2C-86A0431A6222}"/>
              </a:ext>
            </a:extLst>
          </p:cNvPr>
          <p:cNvGraphicFramePr/>
          <p:nvPr>
            <p:custDataLst>
              <p:tags r:id="rId13"/>
            </p:custDataLst>
            <p:extLst>
              <p:ext uri="{D42A27DB-BD31-4B8C-83A1-F6EECF244321}">
                <p14:modId xmlns:p14="http://schemas.microsoft.com/office/powerpoint/2010/main" val="3169348633"/>
              </p:ext>
            </p:extLst>
          </p:nvPr>
        </p:nvGraphicFramePr>
        <p:xfrm>
          <a:off x="4511403" y="5256735"/>
          <a:ext cx="3682800" cy="324000"/>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33" name="z5">
            <a:extLst>
              <a:ext uri="{FF2B5EF4-FFF2-40B4-BE49-F238E27FC236}">
                <a16:creationId xmlns:a16="http://schemas.microsoft.com/office/drawing/2014/main" id="{A6AFA291-8471-E5EF-E47C-509B00F99583}"/>
              </a:ext>
            </a:extLst>
          </p:cNvPr>
          <p:cNvGraphicFramePr/>
          <p:nvPr>
            <p:custDataLst>
              <p:tags r:id="rId14"/>
            </p:custDataLst>
            <p:extLst>
              <p:ext uri="{D42A27DB-BD31-4B8C-83A1-F6EECF244321}">
                <p14:modId xmlns:p14="http://schemas.microsoft.com/office/powerpoint/2010/main" val="2278574218"/>
              </p:ext>
            </p:extLst>
          </p:nvPr>
        </p:nvGraphicFramePr>
        <p:xfrm>
          <a:off x="4511403" y="5707735"/>
          <a:ext cx="3682800" cy="324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34" name="z5">
            <a:extLst>
              <a:ext uri="{FF2B5EF4-FFF2-40B4-BE49-F238E27FC236}">
                <a16:creationId xmlns:a16="http://schemas.microsoft.com/office/drawing/2014/main" id="{F43BE902-1E08-B91F-3988-1A9E6FD84A51}"/>
              </a:ext>
            </a:extLst>
          </p:cNvPr>
          <p:cNvGraphicFramePr/>
          <p:nvPr>
            <p:custDataLst>
              <p:tags r:id="rId15"/>
            </p:custDataLst>
            <p:extLst>
              <p:ext uri="{D42A27DB-BD31-4B8C-83A1-F6EECF244321}">
                <p14:modId xmlns:p14="http://schemas.microsoft.com/office/powerpoint/2010/main" val="3524243966"/>
              </p:ext>
            </p:extLst>
          </p:nvPr>
        </p:nvGraphicFramePr>
        <p:xfrm>
          <a:off x="4511403" y="6158735"/>
          <a:ext cx="3682800" cy="324000"/>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35" name="z5">
            <a:extLst>
              <a:ext uri="{FF2B5EF4-FFF2-40B4-BE49-F238E27FC236}">
                <a16:creationId xmlns:a16="http://schemas.microsoft.com/office/drawing/2014/main" id="{C47E8C1F-FFF1-91D8-6136-9C8F61B0B232}"/>
              </a:ext>
            </a:extLst>
          </p:cNvPr>
          <p:cNvGraphicFramePr/>
          <p:nvPr>
            <p:custDataLst>
              <p:tags r:id="rId16"/>
            </p:custDataLst>
            <p:extLst>
              <p:ext uri="{D42A27DB-BD31-4B8C-83A1-F6EECF244321}">
                <p14:modId xmlns:p14="http://schemas.microsoft.com/office/powerpoint/2010/main" val="2545833772"/>
              </p:ext>
            </p:extLst>
          </p:nvPr>
        </p:nvGraphicFramePr>
        <p:xfrm>
          <a:off x="4511403" y="6609735"/>
          <a:ext cx="3682800" cy="324000"/>
        </p:xfrm>
        <a:graphic>
          <a:graphicData uri="http://schemas.openxmlformats.org/drawingml/2006/chart">
            <c:chart xmlns:c="http://schemas.openxmlformats.org/drawingml/2006/chart" xmlns:r="http://schemas.openxmlformats.org/officeDocument/2006/relationships" r:id="rId33"/>
          </a:graphicData>
        </a:graphic>
      </p:graphicFrame>
      <p:graphicFrame>
        <p:nvGraphicFramePr>
          <p:cNvPr id="36" name="z5">
            <a:extLst>
              <a:ext uri="{FF2B5EF4-FFF2-40B4-BE49-F238E27FC236}">
                <a16:creationId xmlns:a16="http://schemas.microsoft.com/office/drawing/2014/main" id="{587D411B-39CC-D76E-EA10-FDF6937923A2}"/>
              </a:ext>
            </a:extLst>
          </p:cNvPr>
          <p:cNvGraphicFramePr/>
          <p:nvPr>
            <p:custDataLst>
              <p:tags r:id="rId17"/>
            </p:custDataLst>
            <p:extLst>
              <p:ext uri="{D42A27DB-BD31-4B8C-83A1-F6EECF244321}">
                <p14:modId xmlns:p14="http://schemas.microsoft.com/office/powerpoint/2010/main" val="1555938922"/>
              </p:ext>
            </p:extLst>
          </p:nvPr>
        </p:nvGraphicFramePr>
        <p:xfrm>
          <a:off x="4511403" y="7060735"/>
          <a:ext cx="3682800" cy="324000"/>
        </p:xfrm>
        <a:graphic>
          <a:graphicData uri="http://schemas.openxmlformats.org/drawingml/2006/chart">
            <c:chart xmlns:c="http://schemas.openxmlformats.org/drawingml/2006/chart" xmlns:r="http://schemas.openxmlformats.org/officeDocument/2006/relationships" r:id="rId34"/>
          </a:graphicData>
        </a:graphic>
      </p:graphicFrame>
      <p:graphicFrame>
        <p:nvGraphicFramePr>
          <p:cNvPr id="37" name="z5">
            <a:extLst>
              <a:ext uri="{FF2B5EF4-FFF2-40B4-BE49-F238E27FC236}">
                <a16:creationId xmlns:a16="http://schemas.microsoft.com/office/drawing/2014/main" id="{80AE554B-16C1-5F40-3FC4-DC2BCB243A0A}"/>
              </a:ext>
            </a:extLst>
          </p:cNvPr>
          <p:cNvGraphicFramePr/>
          <p:nvPr>
            <p:custDataLst>
              <p:tags r:id="rId18"/>
            </p:custDataLst>
            <p:extLst>
              <p:ext uri="{D42A27DB-BD31-4B8C-83A1-F6EECF244321}">
                <p14:modId xmlns:p14="http://schemas.microsoft.com/office/powerpoint/2010/main" val="3175977059"/>
              </p:ext>
            </p:extLst>
          </p:nvPr>
        </p:nvGraphicFramePr>
        <p:xfrm>
          <a:off x="4511403" y="7511735"/>
          <a:ext cx="3682800" cy="324000"/>
        </p:xfrm>
        <a:graphic>
          <a:graphicData uri="http://schemas.openxmlformats.org/drawingml/2006/chart">
            <c:chart xmlns:c="http://schemas.openxmlformats.org/drawingml/2006/chart" xmlns:r="http://schemas.openxmlformats.org/officeDocument/2006/relationships" r:id="rId35"/>
          </a:graphicData>
        </a:graphic>
      </p:graphicFrame>
    </p:spTree>
    <p:extLst>
      <p:ext uri="{BB962C8B-B14F-4D97-AF65-F5344CB8AC3E}">
        <p14:creationId xmlns:p14="http://schemas.microsoft.com/office/powerpoint/2010/main" val="371517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40">
          <a:extLst>
            <a:ext uri="{FF2B5EF4-FFF2-40B4-BE49-F238E27FC236}">
              <a16:creationId xmlns:a16="http://schemas.microsoft.com/office/drawing/2014/main" id="{73A3C586-82FA-FCFE-AC53-ED68E4E4D883}"/>
            </a:ext>
          </a:extLst>
        </p:cNvPr>
        <p:cNvGrpSpPr/>
        <p:nvPr/>
      </p:nvGrpSpPr>
      <p:grpSpPr>
        <a:xfrm>
          <a:off x="0" y="0"/>
          <a:ext cx="0" cy="0"/>
          <a:chOff x="0" y="0"/>
          <a:chExt cx="0" cy="0"/>
        </a:xfrm>
      </p:grpSpPr>
      <p:sp>
        <p:nvSpPr>
          <p:cNvPr id="100" name="Google Shape;1494;p37">
            <a:extLst>
              <a:ext uri="{FF2B5EF4-FFF2-40B4-BE49-F238E27FC236}">
                <a16:creationId xmlns:a16="http://schemas.microsoft.com/office/drawing/2014/main" id="{9D43B786-2C2A-DF7F-D812-B1A00290E45A}"/>
              </a:ext>
            </a:extLst>
          </p:cNvPr>
          <p:cNvSpPr txBox="1">
            <a:spLocks/>
          </p:cNvSpPr>
          <p:nvPr/>
        </p:nvSpPr>
        <p:spPr>
          <a:xfrm>
            <a:off x="1243459" y="4458014"/>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Recall</a:t>
            </a:r>
          </a:p>
        </p:txBody>
      </p:sp>
      <p:graphicFrame>
        <p:nvGraphicFramePr>
          <p:cNvPr id="84" name="Google Shape;1476;p37">
            <a:extLst>
              <a:ext uri="{FF2B5EF4-FFF2-40B4-BE49-F238E27FC236}">
                <a16:creationId xmlns:a16="http://schemas.microsoft.com/office/drawing/2014/main" id="{7E726343-A505-ABC1-F56A-FDCBC266D923}"/>
              </a:ext>
            </a:extLst>
          </p:cNvPr>
          <p:cNvGraphicFramePr/>
          <p:nvPr>
            <p:custDataLst>
              <p:tags r:id="rId1"/>
            </p:custDataLst>
            <p:extLst>
              <p:ext uri="{D42A27DB-BD31-4B8C-83A1-F6EECF244321}">
                <p14:modId xmlns:p14="http://schemas.microsoft.com/office/powerpoint/2010/main" val="3833258065"/>
              </p:ext>
            </p:extLst>
          </p:nvPr>
        </p:nvGraphicFramePr>
        <p:xfrm>
          <a:off x="888330" y="1549494"/>
          <a:ext cx="4146875" cy="4003577"/>
        </p:xfrm>
        <a:graphic>
          <a:graphicData uri="http://schemas.openxmlformats.org/drawingml/2006/chart">
            <c:chart xmlns:c="http://schemas.openxmlformats.org/drawingml/2006/chart" xmlns:r="http://schemas.openxmlformats.org/officeDocument/2006/relationships" r:id="rId5"/>
          </a:graphicData>
        </a:graphic>
      </p:graphicFrame>
      <p:cxnSp>
        <p:nvCxnSpPr>
          <p:cNvPr id="2" name="Google Shape;1477;p37">
            <a:extLst>
              <a:ext uri="{FF2B5EF4-FFF2-40B4-BE49-F238E27FC236}">
                <a16:creationId xmlns:a16="http://schemas.microsoft.com/office/drawing/2014/main" id="{D30FA151-BB4B-4446-AD7A-30CBD912C1AB}"/>
              </a:ext>
            </a:extLst>
          </p:cNvPr>
          <p:cNvCxnSpPr>
            <a:cxnSpLocks/>
          </p:cNvCxnSpPr>
          <p:nvPr/>
        </p:nvCxnSpPr>
        <p:spPr>
          <a:xfrm>
            <a:off x="3175386" y="1721573"/>
            <a:ext cx="0" cy="3110007"/>
          </a:xfrm>
          <a:prstGeom prst="straightConnector1">
            <a:avLst/>
          </a:prstGeom>
          <a:solidFill>
            <a:schemeClr val="accent1"/>
          </a:solidFill>
          <a:ln w="9525" cap="flat" cmpd="sng">
            <a:solidFill>
              <a:srgbClr val="A5A5A5"/>
            </a:solidFill>
            <a:prstDash val="dash"/>
            <a:round/>
            <a:headEnd type="none" w="sm" len="sm"/>
            <a:tailEnd type="none" w="sm" len="sm"/>
          </a:ln>
        </p:spPr>
      </p:cxnSp>
      <p:cxnSp>
        <p:nvCxnSpPr>
          <p:cNvPr id="8" name="Google Shape;1478;p37">
            <a:extLst>
              <a:ext uri="{FF2B5EF4-FFF2-40B4-BE49-F238E27FC236}">
                <a16:creationId xmlns:a16="http://schemas.microsoft.com/office/drawing/2014/main" id="{991B079A-4434-9766-7B42-7F6085FF0846}"/>
              </a:ext>
            </a:extLst>
          </p:cNvPr>
          <p:cNvCxnSpPr>
            <a:cxnSpLocks/>
          </p:cNvCxnSpPr>
          <p:nvPr/>
        </p:nvCxnSpPr>
        <p:spPr>
          <a:xfrm>
            <a:off x="1240760" y="3342492"/>
            <a:ext cx="3564173" cy="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89" name="Google Shape;1481;p37">
            <a:extLst>
              <a:ext uri="{FF2B5EF4-FFF2-40B4-BE49-F238E27FC236}">
                <a16:creationId xmlns:a16="http://schemas.microsoft.com/office/drawing/2014/main" id="{175474FE-4944-EDA4-4A12-30D6730DBA27}"/>
              </a:ext>
            </a:extLst>
          </p:cNvPr>
          <p:cNvSpPr txBox="1"/>
          <p:nvPr/>
        </p:nvSpPr>
        <p:spPr>
          <a:xfrm>
            <a:off x="1034958" y="5051015"/>
            <a:ext cx="465636"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2" name="Google Shape;1484;p37">
            <a:extLst>
              <a:ext uri="{FF2B5EF4-FFF2-40B4-BE49-F238E27FC236}">
                <a16:creationId xmlns:a16="http://schemas.microsoft.com/office/drawing/2014/main" id="{C2776555-EAE6-25B8-3011-EE23A8848446}"/>
              </a:ext>
            </a:extLst>
          </p:cNvPr>
          <p:cNvSpPr txBox="1"/>
          <p:nvPr/>
        </p:nvSpPr>
        <p:spPr>
          <a:xfrm rot="16200000">
            <a:off x="293927" y="3219401"/>
            <a:ext cx="1512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Recall</a:t>
            </a:r>
          </a:p>
        </p:txBody>
      </p:sp>
      <p:sp>
        <p:nvSpPr>
          <p:cNvPr id="94" name="Google Shape;1488;p37">
            <a:extLst>
              <a:ext uri="{FF2B5EF4-FFF2-40B4-BE49-F238E27FC236}">
                <a16:creationId xmlns:a16="http://schemas.microsoft.com/office/drawing/2014/main" id="{1D13EAA3-EB5E-2DE6-6106-F32737B504EA}"/>
              </a:ext>
            </a:extLst>
          </p:cNvPr>
          <p:cNvSpPr txBox="1"/>
          <p:nvPr/>
        </p:nvSpPr>
        <p:spPr>
          <a:xfrm rot="16200000">
            <a:off x="637365" y="4744373"/>
            <a:ext cx="417269"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5" name="Google Shape;1489;p37">
            <a:extLst>
              <a:ext uri="{FF2B5EF4-FFF2-40B4-BE49-F238E27FC236}">
                <a16:creationId xmlns:a16="http://schemas.microsoft.com/office/drawing/2014/main" id="{9981503A-917D-F281-68E4-C37866868E5A}"/>
              </a:ext>
            </a:extLst>
          </p:cNvPr>
          <p:cNvSpPr txBox="1"/>
          <p:nvPr/>
        </p:nvSpPr>
        <p:spPr>
          <a:xfrm>
            <a:off x="1055991" y="4897203"/>
            <a:ext cx="435897"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30%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8" name="Group 17">
            <a:extLst>
              <a:ext uri="{FF2B5EF4-FFF2-40B4-BE49-F238E27FC236}">
                <a16:creationId xmlns:a16="http://schemas.microsoft.com/office/drawing/2014/main" id="{82108DFA-2AB7-4B77-6337-2EF1BC12D3DC}"/>
              </a:ext>
            </a:extLst>
          </p:cNvPr>
          <p:cNvGrpSpPr/>
          <p:nvPr/>
        </p:nvGrpSpPr>
        <p:grpSpPr>
          <a:xfrm>
            <a:off x="4386582" y="4897203"/>
            <a:ext cx="477329" cy="400033"/>
            <a:chOff x="4347436" y="4897203"/>
            <a:chExt cx="477329" cy="400033"/>
          </a:xfrm>
        </p:grpSpPr>
        <p:sp>
          <p:nvSpPr>
            <p:cNvPr id="88" name="Google Shape;1480;p37">
              <a:extLst>
                <a:ext uri="{FF2B5EF4-FFF2-40B4-BE49-F238E27FC236}">
                  <a16:creationId xmlns:a16="http://schemas.microsoft.com/office/drawing/2014/main" id="{A2C213E9-2CC4-3027-51CE-33C7DC47C31F}"/>
                </a:ext>
              </a:extLst>
            </p:cNvPr>
            <p:cNvSpPr txBox="1"/>
            <p:nvPr/>
          </p:nvSpPr>
          <p:spPr>
            <a:xfrm>
              <a:off x="4364847" y="5051015"/>
              <a:ext cx="452008"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High</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6" name="Google Shape;1490;p37">
              <a:extLst>
                <a:ext uri="{FF2B5EF4-FFF2-40B4-BE49-F238E27FC236}">
                  <a16:creationId xmlns:a16="http://schemas.microsoft.com/office/drawing/2014/main" id="{F9A0196D-A3A8-B19A-2D86-527806A81E7C}"/>
                </a:ext>
              </a:extLst>
            </p:cNvPr>
            <p:cNvSpPr txBox="1"/>
            <p:nvPr/>
          </p:nvSpPr>
          <p:spPr>
            <a:xfrm>
              <a:off x="4347436" y="4897203"/>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97" name="Google Shape;1491;p37">
            <a:extLst>
              <a:ext uri="{FF2B5EF4-FFF2-40B4-BE49-F238E27FC236}">
                <a16:creationId xmlns:a16="http://schemas.microsoft.com/office/drawing/2014/main" id="{AB8C6EDE-BC6B-E11B-580B-6DF6D80F5C79}"/>
              </a:ext>
            </a:extLst>
          </p:cNvPr>
          <p:cNvSpPr txBox="1"/>
          <p:nvPr/>
        </p:nvSpPr>
        <p:spPr>
          <a:xfrm rot="16200000">
            <a:off x="787984" y="4746437"/>
            <a:ext cx="478595"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9" name="Google Shape;1493;p37">
            <a:extLst>
              <a:ext uri="{FF2B5EF4-FFF2-40B4-BE49-F238E27FC236}">
                <a16:creationId xmlns:a16="http://schemas.microsoft.com/office/drawing/2014/main" id="{9B0B27BA-46C1-D62E-B37A-B2E10944E2ED}"/>
              </a:ext>
            </a:extLst>
          </p:cNvPr>
          <p:cNvSpPr txBox="1"/>
          <p:nvPr/>
        </p:nvSpPr>
        <p:spPr>
          <a:xfrm>
            <a:off x="3661422" y="1710780"/>
            <a:ext cx="1155433" cy="338514"/>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Recall</a:t>
            </a:r>
            <a:endParaRPr kumimoji="0" lang="en-US" sz="11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9" name="Group 38">
            <a:extLst>
              <a:ext uri="{FF2B5EF4-FFF2-40B4-BE49-F238E27FC236}">
                <a16:creationId xmlns:a16="http://schemas.microsoft.com/office/drawing/2014/main" id="{9CBDCF6F-F69F-FF04-3903-68D67210ABBD}"/>
              </a:ext>
            </a:extLst>
          </p:cNvPr>
          <p:cNvGrpSpPr/>
          <p:nvPr/>
        </p:nvGrpSpPr>
        <p:grpSpPr>
          <a:xfrm>
            <a:off x="5255235" y="2680061"/>
            <a:ext cx="2453665" cy="533439"/>
            <a:chOff x="4936735" y="5933973"/>
            <a:chExt cx="2453665" cy="533438"/>
          </a:xfrm>
        </p:grpSpPr>
        <p:sp>
          <p:nvSpPr>
            <p:cNvPr id="40" name="Google Shape;347;p10">
              <a:extLst>
                <a:ext uri="{FF2B5EF4-FFF2-40B4-BE49-F238E27FC236}">
                  <a16:creationId xmlns:a16="http://schemas.microsoft.com/office/drawing/2014/main" id="{729CB2BA-13D8-E5A7-91F5-78F732A99F13}"/>
                </a:ext>
              </a:extLst>
            </p:cNvPr>
            <p:cNvSpPr/>
            <p:nvPr/>
          </p:nvSpPr>
          <p:spPr>
            <a:xfrm>
              <a:off x="5017833" y="5933973"/>
              <a:ext cx="2372567" cy="533438"/>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CREON </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(Nov’25 – Dec’25): n = 108)</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115)</a:t>
              </a:r>
            </a:p>
          </p:txBody>
        </p:sp>
        <p:sp>
          <p:nvSpPr>
            <p:cNvPr id="41" name="Google Shape;348;p10">
              <a:extLst>
                <a:ext uri="{FF2B5EF4-FFF2-40B4-BE49-F238E27FC236}">
                  <a16:creationId xmlns:a16="http://schemas.microsoft.com/office/drawing/2014/main" id="{2F7066BD-112A-B33C-BE26-62F6ED7A1C2E}"/>
                </a:ext>
              </a:extLst>
            </p:cNvPr>
            <p:cNvSpPr/>
            <p:nvPr/>
          </p:nvSpPr>
          <p:spPr>
            <a:xfrm>
              <a:off x="4936735" y="6073413"/>
              <a:ext cx="91521" cy="91440"/>
            </a:xfrm>
            <a:prstGeom prst="ellipse">
              <a:avLst/>
            </a:prstGeom>
            <a:solidFill>
              <a:srgbClr val="36729C"/>
            </a:solidFill>
            <a:ln w="9525" cap="flat" cmpd="sng">
              <a:solidFill>
                <a:srgbClr val="36729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
        <p:nvSpPr>
          <p:cNvPr id="107" name="Google Shape;1498;p37">
            <a:extLst>
              <a:ext uri="{FF2B5EF4-FFF2-40B4-BE49-F238E27FC236}">
                <a16:creationId xmlns:a16="http://schemas.microsoft.com/office/drawing/2014/main" id="{69E4432A-32EB-1FA0-FFAA-CC0CC9C7F7DF}"/>
              </a:ext>
            </a:extLst>
          </p:cNvPr>
          <p:cNvSpPr txBox="1"/>
          <p:nvPr/>
        </p:nvSpPr>
        <p:spPr>
          <a:xfrm>
            <a:off x="928799" y="5972857"/>
            <a:ext cx="799612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^message text in speaker notes | Grey dotted lines represent wave averages | New messages added in W32: C20, C21, C22 | Messages Edited in W32: C1, C6, C9, C11 | New message added in W32: Z24 | Messages Edited in W32: Z11, Z23</a:t>
            </a:r>
            <a:endParaRPr kumimoji="0" lang="en-IN" sz="1400" b="0" i="0" u="none" strike="noStrike" kern="0" cap="none" spc="0" normalizeH="0" baseline="0" noProof="0">
              <a:ln>
                <a:noFill/>
              </a:ln>
              <a:solidFill>
                <a:srgbClr val="001D49"/>
              </a:solidFill>
              <a:effectLst/>
              <a:uLnTx/>
              <a:uFillTx/>
              <a:latin typeface="Arial" panose="020B0604020202020204" pitchFamily="34" charset="0"/>
              <a:cs typeface="Arial" panose="020B0604020202020204" pitchFamily="34" charset="0"/>
              <a:sym typeface="Arial"/>
            </a:endParaRPr>
          </a:p>
        </p:txBody>
      </p:sp>
      <p:sp>
        <p:nvSpPr>
          <p:cNvPr id="51" name="TextBox 50">
            <a:extLst>
              <a:ext uri="{FF2B5EF4-FFF2-40B4-BE49-F238E27FC236}">
                <a16:creationId xmlns:a16="http://schemas.microsoft.com/office/drawing/2014/main" id="{C28BB2A9-07DC-90C3-28A4-34B6C0A2366D}"/>
              </a:ext>
            </a:extLst>
          </p:cNvPr>
          <p:cNvSpPr txBox="1"/>
          <p:nvPr/>
        </p:nvSpPr>
        <p:spPr>
          <a:xfrm>
            <a:off x="1804832" y="939601"/>
            <a:ext cx="5534336" cy="424732"/>
          </a:xfrm>
          <a:prstGeom prst="rect">
            <a:avLst/>
          </a:prstGeom>
          <a:noFill/>
        </p:spPr>
        <p:txBody>
          <a:bodyPr wrap="square">
            <a:spAutoFit/>
          </a:bodyPr>
          <a:lstStyle/>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Message Recall &amp; Message Effectiveness – CREON &amp; ZENPEP</a:t>
            </a:r>
            <a:r>
              <a:rPr kumimoji="0" lang="en-US" sz="1400" b="1" i="0" u="sng" strike="noStrike" kern="0" cap="none" spc="0" normalizeH="0" baseline="30000" noProof="0">
                <a:ln>
                  <a:noFill/>
                </a:ln>
                <a:solidFill>
                  <a:srgbClr val="071D49"/>
                </a:solidFill>
                <a:effectLst/>
                <a:uLnTx/>
                <a:uFillTx/>
                <a:latin typeface="Arial" panose="020B0604020202020204" pitchFamily="34" charset="0"/>
                <a:cs typeface="Arial" panose="020B0604020202020204" pitchFamily="34" charset="0"/>
                <a:sym typeface="Calibri"/>
              </a:rPr>
              <a:t>^</a:t>
            </a:r>
          </a:p>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endParaRPr kumimoji="0" lang="en-US" sz="1000" b="1" i="0" u="none" strike="noStrike" kern="0" cap="none" spc="0" normalizeH="0" baseline="0" noProof="0">
              <a:ln>
                <a:noFill/>
              </a:ln>
              <a:solidFill>
                <a:srgbClr val="6D67B5"/>
              </a:solidFill>
              <a:effectLst/>
              <a:uLnTx/>
              <a:uFillTx/>
              <a:latin typeface="Arial" panose="020B0604020202020204" pitchFamily="34" charset="0"/>
              <a:cs typeface="Arial" panose="020B0604020202020204" pitchFamily="34" charset="0"/>
              <a:sym typeface="Arial"/>
            </a:endParaRPr>
          </a:p>
        </p:txBody>
      </p:sp>
      <p:sp>
        <p:nvSpPr>
          <p:cNvPr id="50" name="Google Shape;1493;p37">
            <a:extLst>
              <a:ext uri="{FF2B5EF4-FFF2-40B4-BE49-F238E27FC236}">
                <a16:creationId xmlns:a16="http://schemas.microsoft.com/office/drawing/2014/main" id="{D0B369C3-FE82-89DA-8AFD-F0AB614CAEE0}"/>
              </a:ext>
            </a:extLst>
          </p:cNvPr>
          <p:cNvSpPr txBox="1"/>
          <p:nvPr/>
        </p:nvSpPr>
        <p:spPr>
          <a:xfrm>
            <a:off x="3699522" y="4496113"/>
            <a:ext cx="1155433" cy="338514"/>
          </a:xfrm>
          <a:prstGeom prst="rect">
            <a:avLst/>
          </a:prstGeom>
          <a:noFill/>
          <a:ln>
            <a:noFill/>
          </a:ln>
        </p:spPr>
        <p:txBody>
          <a:bodyPr spcFirstLastPara="1" wrap="square" lIns="91425" tIns="45700" rIns="91425" bIns="45700" anchor="b"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Calibri"/>
              </a:rPr>
              <a:t>Low Recall</a:t>
            </a:r>
            <a:endParaRPr kumimoji="0" lang="en-US" sz="1100" b="0"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Arial"/>
            </a:endParaRPr>
          </a:p>
        </p:txBody>
      </p:sp>
      <p:sp>
        <p:nvSpPr>
          <p:cNvPr id="55" name="Google Shape;1494;p37">
            <a:extLst>
              <a:ext uri="{FF2B5EF4-FFF2-40B4-BE49-F238E27FC236}">
                <a16:creationId xmlns:a16="http://schemas.microsoft.com/office/drawing/2014/main" id="{82072B80-43EC-761A-B7CA-49FC5D29CB69}"/>
              </a:ext>
            </a:extLst>
          </p:cNvPr>
          <p:cNvSpPr txBox="1"/>
          <p:nvPr/>
        </p:nvSpPr>
        <p:spPr>
          <a:xfrm>
            <a:off x="1243459" y="1710780"/>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5D8EAF"/>
                </a:solidFill>
                <a:effectLst/>
                <a:uLnTx/>
                <a:uFillTx/>
                <a:latin typeface="Arial" panose="020B0604020202020204" pitchFamily="34" charset="0"/>
                <a:ea typeface="Calibri"/>
                <a:cs typeface="Arial" panose="020B0604020202020204" pitchFamily="34" charset="0"/>
                <a:sym typeface="Calibri"/>
              </a:rPr>
              <a:t>High Recall</a:t>
            </a:r>
          </a:p>
        </p:txBody>
      </p:sp>
      <p:sp>
        <p:nvSpPr>
          <p:cNvPr id="56" name="Google Shape;1483;p37">
            <a:extLst>
              <a:ext uri="{FF2B5EF4-FFF2-40B4-BE49-F238E27FC236}">
                <a16:creationId xmlns:a16="http://schemas.microsoft.com/office/drawing/2014/main" id="{CFCF4546-B017-2C3B-8189-131E954C678F}"/>
              </a:ext>
            </a:extLst>
          </p:cNvPr>
          <p:cNvSpPr txBox="1"/>
          <p:nvPr/>
        </p:nvSpPr>
        <p:spPr>
          <a:xfrm>
            <a:off x="2023265" y="4926619"/>
            <a:ext cx="1980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Effectiveness</a:t>
            </a:r>
          </a:p>
        </p:txBody>
      </p:sp>
      <p:sp>
        <p:nvSpPr>
          <p:cNvPr id="7" name="Google Shape;2440;p63">
            <a:extLst>
              <a:ext uri="{FF2B5EF4-FFF2-40B4-BE49-F238E27FC236}">
                <a16:creationId xmlns:a16="http://schemas.microsoft.com/office/drawing/2014/main" id="{8772852E-3CDD-1A91-514B-A60EAFED2BDB}"/>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cs typeface="Arial" panose="020B0604020202020204" pitchFamily="34" charset="0"/>
                <a:sym typeface="Calibri"/>
              </a:rPr>
              <a:t>ZENPEP’s dosing message (Z17) ranked highest in effectiveness and recall among HCPs, with their dosing messages (Z15, Z19) and CREON’s efficacy message (C9) showing highest opportunity to increase recall</a:t>
            </a:r>
          </a:p>
        </p:txBody>
      </p:sp>
      <p:sp>
        <p:nvSpPr>
          <p:cNvPr id="16" name="Google Shape;1490;p37">
            <a:extLst>
              <a:ext uri="{FF2B5EF4-FFF2-40B4-BE49-F238E27FC236}">
                <a16:creationId xmlns:a16="http://schemas.microsoft.com/office/drawing/2014/main" id="{7DF61B1A-9F88-2E72-1B5C-3F1C082BE5BE}"/>
              </a:ext>
            </a:extLst>
          </p:cNvPr>
          <p:cNvSpPr txBox="1"/>
          <p:nvPr/>
        </p:nvSpPr>
        <p:spPr>
          <a:xfrm rot="16200000">
            <a:off x="788580" y="1701268"/>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4" name="Group 13">
            <a:extLst>
              <a:ext uri="{FF2B5EF4-FFF2-40B4-BE49-F238E27FC236}">
                <a16:creationId xmlns:a16="http://schemas.microsoft.com/office/drawing/2014/main" id="{7594B4F0-9FCD-982D-3C7A-5983B4EDFFD2}"/>
              </a:ext>
            </a:extLst>
          </p:cNvPr>
          <p:cNvGrpSpPr/>
          <p:nvPr/>
        </p:nvGrpSpPr>
        <p:grpSpPr>
          <a:xfrm>
            <a:off x="5255235" y="3873093"/>
            <a:ext cx="3422819" cy="400069"/>
            <a:chOff x="5221982" y="5590223"/>
            <a:chExt cx="3422818" cy="400069"/>
          </a:xfrm>
        </p:grpSpPr>
        <p:sp>
          <p:nvSpPr>
            <p:cNvPr id="15" name="Google Shape;345;p10">
              <a:extLst>
                <a:ext uri="{FF2B5EF4-FFF2-40B4-BE49-F238E27FC236}">
                  <a16:creationId xmlns:a16="http://schemas.microsoft.com/office/drawing/2014/main" id="{9631E506-E992-BB52-3DBB-296A824D1FB2}"/>
                </a:ext>
              </a:extLst>
            </p:cNvPr>
            <p:cNvSpPr/>
            <p:nvPr/>
          </p:nvSpPr>
          <p:spPr>
            <a:xfrm>
              <a:off x="5303041" y="5590223"/>
              <a:ext cx="3341759" cy="40006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Wave Average</a:t>
              </a:r>
              <a:b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b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(Message Effectiveness- 57%, Message Recall - 38%)</a:t>
              </a:r>
              <a:endParaRPr kumimoji="0" sz="1000" b="0" i="0" u="none" strike="noStrike" kern="0" cap="none" spc="0" normalizeH="0" baseline="0" noProof="0">
                <a:ln>
                  <a:noFill/>
                </a:ln>
                <a:solidFill>
                  <a:prstClr val="white">
                    <a:lumMod val="65000"/>
                  </a:prstClr>
                </a:solidFill>
                <a:effectLst/>
                <a:uLnTx/>
                <a:uFillTx/>
                <a:latin typeface="Arial" panose="020B0604020202020204" pitchFamily="34" charset="0"/>
                <a:cs typeface="Arial" panose="020B0604020202020204" pitchFamily="34" charset="0"/>
                <a:sym typeface="Arial"/>
              </a:endParaRPr>
            </a:p>
          </p:txBody>
        </p:sp>
        <p:sp>
          <p:nvSpPr>
            <p:cNvPr id="17" name="Google Shape;346;p10">
              <a:extLst>
                <a:ext uri="{FF2B5EF4-FFF2-40B4-BE49-F238E27FC236}">
                  <a16:creationId xmlns:a16="http://schemas.microsoft.com/office/drawing/2014/main" id="{86BA90C9-964D-3339-8FC1-45C11ECC3EC0}"/>
                </a:ext>
              </a:extLst>
            </p:cNvPr>
            <p:cNvSpPr/>
            <p:nvPr/>
          </p:nvSpPr>
          <p:spPr>
            <a:xfrm>
              <a:off x="5221982" y="5734667"/>
              <a:ext cx="91440" cy="91440"/>
            </a:xfrm>
            <a:prstGeom prst="rect">
              <a:avLst/>
            </a:prstGeom>
            <a:solidFill>
              <a:schemeClr val="bg1">
                <a:lumMod val="6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grpSp>
        <p:nvGrpSpPr>
          <p:cNvPr id="3" name="Group 2">
            <a:extLst>
              <a:ext uri="{FF2B5EF4-FFF2-40B4-BE49-F238E27FC236}">
                <a16:creationId xmlns:a16="http://schemas.microsoft.com/office/drawing/2014/main" id="{46485537-9F9E-03C3-9454-F6CA9EE847C2}"/>
              </a:ext>
            </a:extLst>
          </p:cNvPr>
          <p:cNvGrpSpPr/>
          <p:nvPr/>
        </p:nvGrpSpPr>
        <p:grpSpPr>
          <a:xfrm>
            <a:off x="5255235" y="3276577"/>
            <a:ext cx="2447315" cy="533439"/>
            <a:chOff x="4936735" y="5933973"/>
            <a:chExt cx="2447315" cy="550720"/>
          </a:xfrm>
        </p:grpSpPr>
        <p:sp>
          <p:nvSpPr>
            <p:cNvPr id="4" name="Google Shape;347;p10">
              <a:extLst>
                <a:ext uri="{FF2B5EF4-FFF2-40B4-BE49-F238E27FC236}">
                  <a16:creationId xmlns:a16="http://schemas.microsoft.com/office/drawing/2014/main" id="{2D86E6D1-002D-A9DB-DA3F-63399C0359F5}"/>
                </a:ext>
              </a:extLst>
            </p:cNvPr>
            <p:cNvSpPr/>
            <p:nvPr/>
          </p:nvSpPr>
          <p:spPr>
            <a:xfrm>
              <a:off x="5011483" y="5933973"/>
              <a:ext cx="2372567" cy="55072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ZENPEP </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(Nov’25 – Dec’25): n = 102)</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115)</a:t>
              </a:r>
            </a:p>
          </p:txBody>
        </p:sp>
        <p:sp>
          <p:nvSpPr>
            <p:cNvPr id="12" name="Google Shape;348;p10">
              <a:extLst>
                <a:ext uri="{FF2B5EF4-FFF2-40B4-BE49-F238E27FC236}">
                  <a16:creationId xmlns:a16="http://schemas.microsoft.com/office/drawing/2014/main" id="{959A9BE8-F00E-1BC2-8C6A-D98D5B504270}"/>
                </a:ext>
              </a:extLst>
            </p:cNvPr>
            <p:cNvSpPr/>
            <p:nvPr/>
          </p:nvSpPr>
          <p:spPr>
            <a:xfrm>
              <a:off x="4936735" y="6073413"/>
              <a:ext cx="91521" cy="91440"/>
            </a:xfrm>
            <a:prstGeom prst="ellipse">
              <a:avLst/>
            </a:prstGeom>
            <a:solidFill>
              <a:srgbClr val="6D67B5"/>
            </a:solidFill>
            <a:ln w="9525" cap="flat" cmpd="sng">
              <a:solidFill>
                <a:srgbClr val="6D67B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
        <p:nvSpPr>
          <p:cNvPr id="10" name="Google Shape;763;p18">
            <a:extLst>
              <a:ext uri="{FF2B5EF4-FFF2-40B4-BE49-F238E27FC236}">
                <a16:creationId xmlns:a16="http://schemas.microsoft.com/office/drawing/2014/main" id="{1E60010F-06FA-0E28-22D6-54F98674D341}"/>
              </a:ext>
            </a:extLst>
          </p:cNvPr>
          <p:cNvSpPr/>
          <p:nvPr/>
        </p:nvSpPr>
        <p:spPr>
          <a:xfrm>
            <a:off x="3519578" y="716687"/>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Note: C16 message replaced by C19 message in Mar’24 – Apr’24, C18 message was discontinued</a:t>
            </a:r>
          </a:p>
        </p:txBody>
      </p:sp>
      <p:sp>
        <p:nvSpPr>
          <p:cNvPr id="9" name="TextBox 8">
            <a:extLst>
              <a:ext uri="{FF2B5EF4-FFF2-40B4-BE49-F238E27FC236}">
                <a16:creationId xmlns:a16="http://schemas.microsoft.com/office/drawing/2014/main" id="{54563BE8-9CCE-F3D6-43C7-6934CB34D821}"/>
              </a:ext>
            </a:extLst>
          </p:cNvPr>
          <p:cNvSpPr txBox="1"/>
          <p:nvPr/>
        </p:nvSpPr>
        <p:spPr>
          <a:xfrm>
            <a:off x="1846060" y="5472149"/>
            <a:ext cx="2277374" cy="215444"/>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hlinkClick r:id="rId6" action="ppaction://hlinksldjump"/>
              </a:rPr>
              <a:t>&gt;&gt;CREON Message recall: all messages</a:t>
            </a: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rPr>
              <a:t> </a:t>
            </a:r>
          </a:p>
        </p:txBody>
      </p:sp>
      <p:sp>
        <p:nvSpPr>
          <p:cNvPr id="11" name="TextBox 10">
            <a:extLst>
              <a:ext uri="{FF2B5EF4-FFF2-40B4-BE49-F238E27FC236}">
                <a16:creationId xmlns:a16="http://schemas.microsoft.com/office/drawing/2014/main" id="{42868849-524B-6B67-B08A-0FA012430F28}"/>
              </a:ext>
            </a:extLst>
          </p:cNvPr>
          <p:cNvSpPr txBox="1"/>
          <p:nvPr/>
        </p:nvSpPr>
        <p:spPr>
          <a:xfrm>
            <a:off x="1846060" y="5662175"/>
            <a:ext cx="2277374" cy="215444"/>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hlinkClick r:id="rId7" action="ppaction://hlinksldjump"/>
              </a:rPr>
              <a:t>&gt;&gt;ZENPEP Message recall: all messages</a:t>
            </a: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rPr>
              <a:t> </a:t>
            </a:r>
          </a:p>
        </p:txBody>
      </p:sp>
      <p:sp>
        <p:nvSpPr>
          <p:cNvPr id="5" name="TextBox 4">
            <a:extLst>
              <a:ext uri="{FF2B5EF4-FFF2-40B4-BE49-F238E27FC236}">
                <a16:creationId xmlns:a16="http://schemas.microsoft.com/office/drawing/2014/main" id="{CEE1AAB7-6DFA-630C-6BD9-17467FB34CB4}"/>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8"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3027852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4"/>
    </p:ext>
  </p:extLs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753">
          <a:extLst>
            <a:ext uri="{FF2B5EF4-FFF2-40B4-BE49-F238E27FC236}">
              <a16:creationId xmlns:a16="http://schemas.microsoft.com/office/drawing/2014/main" id="{D79C5869-B6F6-CD99-11A9-EE897B5B66CB}"/>
            </a:ext>
          </a:extLst>
        </p:cNvPr>
        <p:cNvGrpSpPr/>
        <p:nvPr/>
      </p:nvGrpSpPr>
      <p:grpSpPr>
        <a:xfrm>
          <a:off x="0" y="0"/>
          <a:ext cx="0" cy="0"/>
          <a:chOff x="0" y="0"/>
          <a:chExt cx="0" cy="0"/>
        </a:xfrm>
      </p:grpSpPr>
      <p:sp>
        <p:nvSpPr>
          <p:cNvPr id="27" name="Google Shape;1359;p33">
            <a:extLst>
              <a:ext uri="{FF2B5EF4-FFF2-40B4-BE49-F238E27FC236}">
                <a16:creationId xmlns:a16="http://schemas.microsoft.com/office/drawing/2014/main" id="{D039E505-ADAB-A283-BEF1-1F637AB42A11}"/>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 few of CREON’s messages showed a significant association with higher LTIP while this was notably less differentiated among CREON’s dosing (C7, C6) messages</a:t>
            </a:r>
          </a:p>
        </p:txBody>
      </p:sp>
      <p:sp>
        <p:nvSpPr>
          <p:cNvPr id="1755" name="Google Shape;1755;p46">
            <a:extLst>
              <a:ext uri="{FF2B5EF4-FFF2-40B4-BE49-F238E27FC236}">
                <a16:creationId xmlns:a16="http://schemas.microsoft.com/office/drawing/2014/main" id="{D26245A0-898C-EF6E-25F3-A1D70D71AF8A}"/>
              </a:ext>
            </a:extLst>
          </p:cNvPr>
          <p:cNvSpPr/>
          <p:nvPr/>
        </p:nvSpPr>
        <p:spPr>
          <a:xfrm>
            <a:off x="595785" y="941200"/>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Arial"/>
                <a:ea typeface="+mn-ea"/>
                <a:cs typeface="Calibri"/>
                <a:sym typeface="Calibri"/>
              </a:rPr>
              <a:t>Impact of Message Recall on LTIP </a:t>
            </a:r>
            <a:endParaRPr kumimoji="0" lang="en-GB" sz="1400"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(Jul’25 – Dec’25)</a:t>
            </a:r>
            <a:endParaRPr kumimoji="0" lang="en-US" sz="1000" b="0" i="0" u="sng" strike="noStrike" kern="0" cap="none" spc="0" normalizeH="0" baseline="30000" noProof="0">
              <a:ln>
                <a:noFill/>
              </a:ln>
              <a:solidFill>
                <a:srgbClr val="071D49"/>
              </a:solidFill>
              <a:effectLst/>
              <a:uLnTx/>
              <a:uFillTx/>
              <a:latin typeface="Arial" panose="020B0604020202020204"/>
              <a:ea typeface="Calibri"/>
              <a:cs typeface="Calibri"/>
              <a:sym typeface="Calibri"/>
            </a:endParaRPr>
          </a:p>
        </p:txBody>
      </p:sp>
      <p:sp>
        <p:nvSpPr>
          <p:cNvPr id="1785" name="Google Shape;1785;p46">
            <a:extLst>
              <a:ext uri="{FF2B5EF4-FFF2-40B4-BE49-F238E27FC236}">
                <a16:creationId xmlns:a16="http://schemas.microsoft.com/office/drawing/2014/main" id="{AB1E0CD9-06B9-4285-0255-7C7346874D49}"/>
              </a:ext>
            </a:extLst>
          </p:cNvPr>
          <p:cNvSpPr txBox="1"/>
          <p:nvPr/>
        </p:nvSpPr>
        <p:spPr>
          <a:xfrm>
            <a:off x="412753" y="5958611"/>
            <a:ext cx="8731247" cy="5077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and sample size in speaker notes | n - No. of HCPs | </a:t>
            </a:r>
            <a:r>
              <a:rPr kumimoji="0" lang="en-US" sz="900" b="0" i="0" u="none" strike="noStrike" kern="0" cap="none" spc="0" normalizeH="0" baseline="0" noProof="0">
                <a:ln>
                  <a:noFill/>
                </a:ln>
                <a:solidFill>
                  <a:srgbClr val="FF0000"/>
                </a:solidFill>
                <a:effectLst/>
                <a:uLnTx/>
                <a:uFillTx/>
                <a:latin typeface="Arial" panose="020B0604020202020204"/>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low sample size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New messages added in W32: ** C20, C21, C22 | Full message text in speaker notes |  ^Message Edited in W32: C1, C6, C9, C11 | #Message discontinued in W32: C14, C15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Statistically significant (p&lt;.05) difference between recalled &amp; not recalled </a:t>
            </a:r>
          </a:p>
        </p:txBody>
      </p:sp>
      <p:grpSp>
        <p:nvGrpSpPr>
          <p:cNvPr id="47" name="Google Shape;762;p18">
            <a:extLst>
              <a:ext uri="{FF2B5EF4-FFF2-40B4-BE49-F238E27FC236}">
                <a16:creationId xmlns:a16="http://schemas.microsoft.com/office/drawing/2014/main" id="{190B6AE6-DE6B-BB92-D9E5-6013AE3CF021}"/>
              </a:ext>
            </a:extLst>
          </p:cNvPr>
          <p:cNvGrpSpPr/>
          <p:nvPr/>
        </p:nvGrpSpPr>
        <p:grpSpPr>
          <a:xfrm>
            <a:off x="7388864" y="880241"/>
            <a:ext cx="1522020" cy="713532"/>
            <a:chOff x="4554923" y="6152971"/>
            <a:chExt cx="1522020" cy="713532"/>
          </a:xfrm>
        </p:grpSpPr>
        <p:sp>
          <p:nvSpPr>
            <p:cNvPr id="48" name="Google Shape;763;p18">
              <a:extLst>
                <a:ext uri="{FF2B5EF4-FFF2-40B4-BE49-F238E27FC236}">
                  <a16:creationId xmlns:a16="http://schemas.microsoft.com/office/drawing/2014/main" id="{A57BEBD3-3DA8-2679-AEC4-DF81A87E7A85}"/>
                </a:ext>
              </a:extLst>
            </p:cNvPr>
            <p:cNvSpPr/>
            <p:nvPr/>
          </p:nvSpPr>
          <p:spPr>
            <a:xfrm>
              <a:off x="4609787" y="6152971"/>
              <a:ext cx="1407003" cy="40006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1" i="0" u="none" strike="noStrike" kern="0" cap="none" spc="0" normalizeH="0" baseline="0" noProof="0">
                  <a:ln>
                    <a:noFill/>
                  </a:ln>
                  <a:solidFill>
                    <a:srgbClr val="070605"/>
                  </a:solidFill>
                  <a:effectLst/>
                  <a:uLnTx/>
                  <a:uFillTx/>
                  <a:latin typeface="Arial" panose="020B0604020202020204"/>
                  <a:ea typeface="Calibri"/>
                  <a:cs typeface="Calibri"/>
                  <a:sym typeface="Calibri"/>
                </a:rPr>
                <a:t>LTIP when Message was recalled</a:t>
              </a:r>
              <a:endParaRPr kumimoji="0" sz="1400" b="1"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49" name="Google Shape;764;p18">
              <a:extLst>
                <a:ext uri="{FF2B5EF4-FFF2-40B4-BE49-F238E27FC236}">
                  <a16:creationId xmlns:a16="http://schemas.microsoft.com/office/drawing/2014/main" id="{73946CB0-22BC-9EBE-4326-B59B22F651FC}"/>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52" name="Google Shape;765;p18">
              <a:extLst>
                <a:ext uri="{FF2B5EF4-FFF2-40B4-BE49-F238E27FC236}">
                  <a16:creationId xmlns:a16="http://schemas.microsoft.com/office/drawing/2014/main" id="{6A20944B-6E48-3A58-C9C7-C26B26A4B5C5}"/>
                </a:ext>
              </a:extLst>
            </p:cNvPr>
            <p:cNvSpPr/>
            <p:nvPr/>
          </p:nvSpPr>
          <p:spPr>
            <a:xfrm>
              <a:off x="4609787" y="6466434"/>
              <a:ext cx="1467156" cy="40006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a:ea typeface="Calibri"/>
                  <a:cs typeface="Calibri"/>
                  <a:sym typeface="Calibri"/>
                </a:rPr>
                <a:t>LTIP when Message was not recalled</a:t>
              </a:r>
              <a:endParaRPr kumimoji="0" lang="en-US" sz="14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56" name="Google Shape;766;p18">
              <a:extLst>
                <a:ext uri="{FF2B5EF4-FFF2-40B4-BE49-F238E27FC236}">
                  <a16:creationId xmlns:a16="http://schemas.microsoft.com/office/drawing/2014/main" id="{C696CBF7-9CDD-A71B-6F01-2424F8039340}"/>
                </a:ext>
              </a:extLst>
            </p:cNvPr>
            <p:cNvSpPr/>
            <p:nvPr/>
          </p:nvSpPr>
          <p:spPr>
            <a:xfrm>
              <a:off x="4554923" y="6622406"/>
              <a:ext cx="91440" cy="91440"/>
            </a:xfrm>
            <a:prstGeom prst="ellipse">
              <a:avLst/>
            </a:prstGeom>
            <a:noFill/>
            <a:ln>
              <a:solidFill>
                <a:srgbClr val="36729C"/>
              </a:solid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grpSp>
      <p:sp>
        <p:nvSpPr>
          <p:cNvPr id="23" name="Google Shape;1583;p40">
            <a:extLst>
              <a:ext uri="{FF2B5EF4-FFF2-40B4-BE49-F238E27FC236}">
                <a16:creationId xmlns:a16="http://schemas.microsoft.com/office/drawing/2014/main" id="{E4B341E7-2727-601A-99A2-7C874D431944}"/>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 name="TextBox 2">
            <a:extLst>
              <a:ext uri="{FF2B5EF4-FFF2-40B4-BE49-F238E27FC236}">
                <a16:creationId xmlns:a16="http://schemas.microsoft.com/office/drawing/2014/main" id="{2DC91755-8EA6-2704-BCA6-5E6C3F664390}"/>
              </a:ext>
            </a:extLst>
          </p:cNvPr>
          <p:cNvSpPr txBox="1"/>
          <p:nvPr/>
        </p:nvSpPr>
        <p:spPr>
          <a:xfrm>
            <a:off x="181694" y="1401280"/>
            <a:ext cx="5704127"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7" name="Google Shape;1418;p35">
            <a:extLst>
              <a:ext uri="{FF2B5EF4-FFF2-40B4-BE49-F238E27FC236}">
                <a16:creationId xmlns:a16="http://schemas.microsoft.com/office/drawing/2014/main" id="{E7516885-AEF6-F5DA-DB34-772D7C299FCA}"/>
              </a:ext>
            </a:extLst>
          </p:cNvPr>
          <p:cNvGraphicFramePr/>
          <p:nvPr>
            <p:custDataLst>
              <p:tags r:id="rId1"/>
            </p:custDataLst>
          </p:nvPr>
        </p:nvGraphicFramePr>
        <p:xfrm>
          <a:off x="181696" y="1676507"/>
          <a:ext cx="5704127" cy="4210050"/>
        </p:xfrm>
        <a:graphic>
          <a:graphicData uri="http://schemas.openxmlformats.org/drawingml/2006/table">
            <a:tbl>
              <a:tblPr>
                <a:noFill/>
              </a:tblPr>
              <a:tblGrid>
                <a:gridCol w="421205">
                  <a:extLst>
                    <a:ext uri="{9D8B030D-6E8A-4147-A177-3AD203B41FA5}">
                      <a16:colId xmlns:a16="http://schemas.microsoft.com/office/drawing/2014/main" val="20000"/>
                    </a:ext>
                  </a:extLst>
                </a:gridCol>
                <a:gridCol w="653143">
                  <a:extLst>
                    <a:ext uri="{9D8B030D-6E8A-4147-A177-3AD203B41FA5}">
                      <a16:colId xmlns:a16="http://schemas.microsoft.com/office/drawing/2014/main" val="1595258308"/>
                    </a:ext>
                  </a:extLst>
                </a:gridCol>
                <a:gridCol w="4629779">
                  <a:extLst>
                    <a:ext uri="{9D8B030D-6E8A-4147-A177-3AD203B41FA5}">
                      <a16:colId xmlns:a16="http://schemas.microsoft.com/office/drawing/2014/main" val="20001"/>
                    </a:ext>
                  </a:extLst>
                </a:gridCol>
              </a:tblGrid>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C9</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Efficacy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CREON significantly improves fat absorption compared with placebo in randomized clinical trials of patients with EPI due to CF, CP, or pancreatectomy.</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0"/>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C19</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PSP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is the only PERT specifically studied for patients with EPI due to chronic pancreatitis and pancreatectomy, in addition to cystic fibrosis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08381849"/>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C17</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Legacy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More than 8 out of 10 GEs and PCPs prescribe CREON more than other PERTs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3025413274"/>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C21</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PSP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CREON Complete may help patients start and stay on track with their treatment.</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065782404"/>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C4</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Disease State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EPI is largely a clinical diagnosis based on signs and symptoms and should be considered as part of the differential diagnosis of GI symptoms.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Access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Arial" panose="020B0604020202020204" pitchFamily="34" charset="0"/>
                          <a:cs typeface="Calibri"/>
                        </a:rPr>
                        <a:t>CREON maintains category leading coverage</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2"/>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C15</a:t>
                      </a:r>
                      <a:r>
                        <a:rPr kumimoji="0" lang="en-IN" sz="900" b="0" i="0" u="none" strike="noStrike" kern="0" cap="none" spc="0" normalizeH="0" baseline="0">
                          <a:ln>
                            <a:noFill/>
                          </a:ln>
                          <a:solidFill>
                            <a:srgbClr val="071D49"/>
                          </a:solidFill>
                          <a:effectLst/>
                          <a:uLnTx/>
                          <a:uFillTx/>
                          <a:latin typeface="+mn-lt"/>
                          <a:ea typeface="+mn-ea"/>
                          <a:cs typeface="Arial"/>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Efficacy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There are no head-to-head superiority trials between CREON and any other PERT.</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3"/>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C3</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Disease State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Exocrine Pancreatic Insufficiency (EPI) is under-recognized and can have an impact on nutritional health and quality of life</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4"/>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C20</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PSP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Significant experience, exceptional patient support, and excellent coverage make CREON a proven partner for patients with EPl.</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5"/>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C6</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Take CREON every meal, every snack, every day.</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6"/>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C22</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Access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71% of CREON Medicare Part D patients paid less than $30 in 2024.</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7"/>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C10</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Legacy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CREON is the #1 PERT prescribed by Gastroenterologists, Primary Care Physicians, and Nurse Practitioners and Physician Assistants.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8"/>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C11</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PSP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95% of commercially eligible patients pay $5 or less for their CREON prescription with the CREON Complete Savings card.</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9"/>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C14#</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Access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90% of commercial and Medicare-D insured patients have preferred access to CREON with the lowest branded co-pay</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0"/>
                  </a:ext>
                </a:extLst>
              </a:tr>
              <a:tr h="280670">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C7</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CREON 36K capsules can be an appropriate dose for many adults.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1"/>
                  </a:ext>
                </a:extLst>
              </a:tr>
            </a:tbl>
          </a:graphicData>
        </a:graphic>
      </p:graphicFrame>
      <p:graphicFrame>
        <p:nvGraphicFramePr>
          <p:cNvPr id="8" name="opd_nctdiscussion">
            <a:extLst>
              <a:ext uri="{FF2B5EF4-FFF2-40B4-BE49-F238E27FC236}">
                <a16:creationId xmlns:a16="http://schemas.microsoft.com/office/drawing/2014/main" id="{54E574F5-DDB0-4C97-FD5E-1659B740433B}"/>
              </a:ext>
            </a:extLst>
          </p:cNvPr>
          <p:cNvGraphicFramePr/>
          <p:nvPr>
            <p:custDataLst>
              <p:tags r:id="rId2"/>
            </p:custDataLst>
          </p:nvPr>
        </p:nvGraphicFramePr>
        <p:xfrm>
          <a:off x="5781282" y="1666741"/>
          <a:ext cx="2433915" cy="4291870"/>
        </p:xfrm>
        <a:graphic>
          <a:graphicData uri="http://schemas.openxmlformats.org/drawingml/2006/chart">
            <c:chart xmlns:c="http://schemas.openxmlformats.org/drawingml/2006/chart" xmlns:r="http://schemas.openxmlformats.org/officeDocument/2006/relationships" r:id="rId5"/>
          </a:graphicData>
        </a:graphic>
      </p:graphicFrame>
      <p:sp>
        <p:nvSpPr>
          <p:cNvPr id="15" name="Google Shape;1598;p41">
            <a:extLst>
              <a:ext uri="{FF2B5EF4-FFF2-40B4-BE49-F238E27FC236}">
                <a16:creationId xmlns:a16="http://schemas.microsoft.com/office/drawing/2014/main" id="{4064EEAF-DA2B-540F-A7CB-777D4FF813C7}"/>
              </a:ext>
            </a:extLst>
          </p:cNvPr>
          <p:cNvSpPr/>
          <p:nvPr/>
        </p:nvSpPr>
        <p:spPr>
          <a:xfrm>
            <a:off x="5698419" y="5812675"/>
            <a:ext cx="2467141"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 rating (6,7)</a:t>
            </a:r>
            <a:endParaRPr kumimoji="0" lang="en-US" sz="14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Google Shape;561;p14">
            <a:extLst>
              <a:ext uri="{FF2B5EF4-FFF2-40B4-BE49-F238E27FC236}">
                <a16:creationId xmlns:a16="http://schemas.microsoft.com/office/drawing/2014/main" id="{C048A260-4ED9-934C-2BAF-2FF36CD238D3}"/>
              </a:ext>
            </a:extLst>
          </p:cNvPr>
          <p:cNvSpPr/>
          <p:nvPr/>
        </p:nvSpPr>
        <p:spPr>
          <a:xfrm>
            <a:off x="5352357" y="6143256"/>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 name="Google Shape;561;p14">
            <a:extLst>
              <a:ext uri="{FF2B5EF4-FFF2-40B4-BE49-F238E27FC236}">
                <a16:creationId xmlns:a16="http://schemas.microsoft.com/office/drawing/2014/main" id="{D1F5636A-7DFE-9198-3340-AEB9D5F7F78F}"/>
              </a:ext>
            </a:extLst>
          </p:cNvPr>
          <p:cNvSpPr/>
          <p:nvPr/>
        </p:nvSpPr>
        <p:spPr>
          <a:xfrm>
            <a:off x="7942010" y="180767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TextBox 8">
            <a:extLst>
              <a:ext uri="{FF2B5EF4-FFF2-40B4-BE49-F238E27FC236}">
                <a16:creationId xmlns:a16="http://schemas.microsoft.com/office/drawing/2014/main" id="{7B3A4DA2-6054-40BD-313D-973BC26BEF42}"/>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6"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
        <p:nvSpPr>
          <p:cNvPr id="5" name="Google Shape;561;p14">
            <a:extLst>
              <a:ext uri="{FF2B5EF4-FFF2-40B4-BE49-F238E27FC236}">
                <a16:creationId xmlns:a16="http://schemas.microsoft.com/office/drawing/2014/main" id="{CE7A5D80-FAFA-E214-9C93-E7FA20219080}"/>
              </a:ext>
            </a:extLst>
          </p:cNvPr>
          <p:cNvSpPr/>
          <p:nvPr/>
        </p:nvSpPr>
        <p:spPr>
          <a:xfrm>
            <a:off x="7942010" y="2058768"/>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 name="Google Shape;561;p14">
            <a:extLst>
              <a:ext uri="{FF2B5EF4-FFF2-40B4-BE49-F238E27FC236}">
                <a16:creationId xmlns:a16="http://schemas.microsoft.com/office/drawing/2014/main" id="{8986BAFD-D784-BB10-BDA7-89C0E35DB73C}"/>
              </a:ext>
            </a:extLst>
          </p:cNvPr>
          <p:cNvSpPr/>
          <p:nvPr/>
        </p:nvSpPr>
        <p:spPr>
          <a:xfrm>
            <a:off x="7942010" y="2899973"/>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 name="TextBox 18">
            <a:extLst>
              <a:ext uri="{FF2B5EF4-FFF2-40B4-BE49-F238E27FC236}">
                <a16:creationId xmlns:a16="http://schemas.microsoft.com/office/drawing/2014/main" id="{B2A15A86-44E1-752A-01B6-4749AFA944CB}"/>
              </a:ext>
            </a:extLst>
          </p:cNvPr>
          <p:cNvSpPr txBox="1"/>
          <p:nvPr/>
        </p:nvSpPr>
        <p:spPr>
          <a:xfrm>
            <a:off x="181694" y="1151783"/>
            <a:ext cx="1728000" cy="230832"/>
          </a:xfrm>
          <a:prstGeom prst="rect">
            <a:avLst/>
          </a:prstGeom>
          <a:noFill/>
          <a:ln>
            <a:solidFill>
              <a:schemeClr val="accent6"/>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b="0" i="1" u="sng" strike="noStrike" kern="1200" cap="none" spc="0" normalizeH="0" baseline="0" noProof="0">
                <a:ln>
                  <a:noFill/>
                </a:ln>
                <a:solidFill>
                  <a:srgbClr val="071D49"/>
                </a:solidFill>
                <a:effectLst/>
                <a:uLnTx/>
                <a:uFillTx/>
                <a:latin typeface="Arial"/>
                <a:cs typeface="Arial"/>
                <a:sym typeface="Arial"/>
              </a:rPr>
              <a:t>Data is rolled up for 3 waves</a:t>
            </a:r>
          </a:p>
        </p:txBody>
      </p:sp>
      <p:sp>
        <p:nvSpPr>
          <p:cNvPr id="21" name="TextBox 20">
            <a:extLst>
              <a:ext uri="{FF2B5EF4-FFF2-40B4-BE49-F238E27FC236}">
                <a16:creationId xmlns:a16="http://schemas.microsoft.com/office/drawing/2014/main" id="{31B8EAFD-F358-4C0C-6FD2-6DD02E70682D}"/>
              </a:ext>
            </a:extLst>
          </p:cNvPr>
          <p:cNvSpPr txBox="1"/>
          <p:nvPr/>
        </p:nvSpPr>
        <p:spPr>
          <a:xfrm>
            <a:off x="7197155" y="3354537"/>
            <a:ext cx="27622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FF0000"/>
                </a:solidFill>
                <a:effectLst/>
                <a:uLnTx/>
                <a:uFillTx/>
                <a:latin typeface="Arial"/>
                <a:cs typeface="Arial"/>
                <a:sym typeface="Arial"/>
              </a:rPr>
              <a:t>*</a:t>
            </a:r>
            <a:endParaRPr kumimoji="0" lang="en-IN" sz="1000" b="0" i="0" u="none" strike="noStrike" kern="0" cap="none" spc="0" normalizeH="0" baseline="0" noProof="0">
              <a:ln>
                <a:noFill/>
              </a:ln>
              <a:solidFill>
                <a:srgbClr val="FF0000"/>
              </a:solidFill>
              <a:effectLst/>
              <a:uLnTx/>
              <a:uFillTx/>
              <a:latin typeface="Arial"/>
              <a:cs typeface="Arial"/>
              <a:sym typeface="Arial"/>
            </a:endParaRPr>
          </a:p>
        </p:txBody>
      </p:sp>
      <p:sp>
        <p:nvSpPr>
          <p:cNvPr id="22" name="Highlight#32">
            <a:extLst>
              <a:ext uri="{FF2B5EF4-FFF2-40B4-BE49-F238E27FC236}">
                <a16:creationId xmlns:a16="http://schemas.microsoft.com/office/drawing/2014/main" id="{1358EBE1-22E9-4626-C4D3-A9577C1B8742}"/>
              </a:ext>
            </a:extLst>
          </p:cNvPr>
          <p:cNvSpPr txBox="1"/>
          <p:nvPr/>
        </p:nvSpPr>
        <p:spPr>
          <a:xfrm>
            <a:off x="181694" y="5617550"/>
            <a:ext cx="7800532" cy="246181"/>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 name="Highlight#32">
            <a:extLst>
              <a:ext uri="{FF2B5EF4-FFF2-40B4-BE49-F238E27FC236}">
                <a16:creationId xmlns:a16="http://schemas.microsoft.com/office/drawing/2014/main" id="{CCD4A8DA-D7CF-54E9-0309-CDC2D1AE4BA6}"/>
              </a:ext>
            </a:extLst>
          </p:cNvPr>
          <p:cNvSpPr txBox="1"/>
          <p:nvPr/>
        </p:nvSpPr>
        <p:spPr>
          <a:xfrm>
            <a:off x="178646" y="4215470"/>
            <a:ext cx="7800532" cy="246181"/>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606946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753">
          <a:extLst>
            <a:ext uri="{FF2B5EF4-FFF2-40B4-BE49-F238E27FC236}">
              <a16:creationId xmlns:a16="http://schemas.microsoft.com/office/drawing/2014/main" id="{E1276ABA-ED38-2631-E1A6-02F0B23C4328}"/>
            </a:ext>
          </a:extLst>
        </p:cNvPr>
        <p:cNvGrpSpPr/>
        <p:nvPr/>
      </p:nvGrpSpPr>
      <p:grpSpPr>
        <a:xfrm>
          <a:off x="0" y="0"/>
          <a:ext cx="0" cy="0"/>
          <a:chOff x="0" y="0"/>
          <a:chExt cx="0" cy="0"/>
        </a:xfrm>
      </p:grpSpPr>
      <p:sp>
        <p:nvSpPr>
          <p:cNvPr id="27" name="Google Shape;1359;p33">
            <a:extLst>
              <a:ext uri="{FF2B5EF4-FFF2-40B4-BE49-F238E27FC236}">
                <a16:creationId xmlns:a16="http://schemas.microsoft.com/office/drawing/2014/main" id="{B0670D1E-EBD4-0E40-D54E-3746372F4650}"/>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Most ZENPEP messages showed a significant association with higher LTIP; however, the dosing messages (Z16, Z17) did not show an association between recall and LTIP</a:t>
            </a:r>
            <a:endPar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755" name="Google Shape;1755;p46">
            <a:extLst>
              <a:ext uri="{FF2B5EF4-FFF2-40B4-BE49-F238E27FC236}">
                <a16:creationId xmlns:a16="http://schemas.microsoft.com/office/drawing/2014/main" id="{55F24B13-DC4B-C1DB-4BA2-CAC7BBCFF074}"/>
              </a:ext>
            </a:extLst>
          </p:cNvPr>
          <p:cNvSpPr/>
          <p:nvPr/>
        </p:nvSpPr>
        <p:spPr>
          <a:xfrm>
            <a:off x="595785" y="941200"/>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Arial"/>
                <a:ea typeface="+mn-ea"/>
                <a:cs typeface="Calibri"/>
                <a:sym typeface="Calibri"/>
              </a:rPr>
              <a:t>Impact of Message Recall on LTIP </a:t>
            </a:r>
            <a:endParaRPr kumimoji="0" lang="en-GB" sz="1400"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(Jul’25 – Dec’25)</a:t>
            </a:r>
            <a:endParaRPr kumimoji="0" lang="en-US" sz="1000" b="0" i="0" u="sng" strike="noStrike" kern="0" cap="none" spc="0" normalizeH="0" baseline="30000" noProof="0">
              <a:ln>
                <a:noFill/>
              </a:ln>
              <a:solidFill>
                <a:srgbClr val="071D49"/>
              </a:solidFill>
              <a:effectLst/>
              <a:uLnTx/>
              <a:uFillTx/>
              <a:latin typeface="Arial" panose="020B0604020202020204"/>
              <a:ea typeface="Calibri"/>
              <a:cs typeface="Calibri"/>
              <a:sym typeface="Calibri"/>
            </a:endParaRPr>
          </a:p>
        </p:txBody>
      </p:sp>
      <p:sp>
        <p:nvSpPr>
          <p:cNvPr id="1785" name="Google Shape;1785;p46">
            <a:extLst>
              <a:ext uri="{FF2B5EF4-FFF2-40B4-BE49-F238E27FC236}">
                <a16:creationId xmlns:a16="http://schemas.microsoft.com/office/drawing/2014/main" id="{B06D2FC8-E1F2-3073-0BE8-48519C482EA4}"/>
              </a:ext>
            </a:extLst>
          </p:cNvPr>
          <p:cNvSpPr txBox="1"/>
          <p:nvPr/>
        </p:nvSpPr>
        <p:spPr>
          <a:xfrm>
            <a:off x="928803" y="5958611"/>
            <a:ext cx="7275999"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and sample size in speaker notes | n - No. of HCPs | </a:t>
            </a:r>
            <a:r>
              <a:rPr kumimoji="0" lang="en-US" sz="9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low sample size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**Z24 | Full message text in speaker notes |  ^Message Edited in W32: Z11, Z23 |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Statistically significant (p&lt;.05) difference between recalled &amp; not recalled</a:t>
            </a:r>
          </a:p>
        </p:txBody>
      </p:sp>
      <p:grpSp>
        <p:nvGrpSpPr>
          <p:cNvPr id="47" name="Google Shape;762;p18">
            <a:extLst>
              <a:ext uri="{FF2B5EF4-FFF2-40B4-BE49-F238E27FC236}">
                <a16:creationId xmlns:a16="http://schemas.microsoft.com/office/drawing/2014/main" id="{99566C1E-A2BC-736D-D785-3C6FE368CFD7}"/>
              </a:ext>
            </a:extLst>
          </p:cNvPr>
          <p:cNvGrpSpPr/>
          <p:nvPr/>
        </p:nvGrpSpPr>
        <p:grpSpPr>
          <a:xfrm>
            <a:off x="7388864" y="880241"/>
            <a:ext cx="1522020" cy="713532"/>
            <a:chOff x="4554923" y="6152971"/>
            <a:chExt cx="1522020" cy="713532"/>
          </a:xfrm>
        </p:grpSpPr>
        <p:sp>
          <p:nvSpPr>
            <p:cNvPr id="48" name="Google Shape;763;p18">
              <a:extLst>
                <a:ext uri="{FF2B5EF4-FFF2-40B4-BE49-F238E27FC236}">
                  <a16:creationId xmlns:a16="http://schemas.microsoft.com/office/drawing/2014/main" id="{2E273B71-F49D-F1D3-8680-A795F3593FA6}"/>
                </a:ext>
              </a:extLst>
            </p:cNvPr>
            <p:cNvSpPr/>
            <p:nvPr/>
          </p:nvSpPr>
          <p:spPr>
            <a:xfrm>
              <a:off x="4609787" y="6152971"/>
              <a:ext cx="1407003" cy="40006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1" i="0" u="none" strike="noStrike" kern="0" cap="none" spc="0" normalizeH="0" baseline="0" noProof="0">
                  <a:ln>
                    <a:noFill/>
                  </a:ln>
                  <a:solidFill>
                    <a:srgbClr val="070605"/>
                  </a:solidFill>
                  <a:effectLst/>
                  <a:uLnTx/>
                  <a:uFillTx/>
                  <a:latin typeface="Arial" panose="020B0604020202020204"/>
                  <a:ea typeface="Calibri"/>
                  <a:cs typeface="Calibri"/>
                  <a:sym typeface="Calibri"/>
                </a:rPr>
                <a:t>LTIP when Message was recalled</a:t>
              </a:r>
              <a:endParaRPr kumimoji="0" sz="1400" b="1"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49" name="Google Shape;764;p18">
              <a:extLst>
                <a:ext uri="{FF2B5EF4-FFF2-40B4-BE49-F238E27FC236}">
                  <a16:creationId xmlns:a16="http://schemas.microsoft.com/office/drawing/2014/main" id="{2BE26D93-0D70-462E-B9F7-CB29CF96EB4A}"/>
                </a:ext>
              </a:extLst>
            </p:cNvPr>
            <p:cNvSpPr/>
            <p:nvPr/>
          </p:nvSpPr>
          <p:spPr>
            <a:xfrm>
              <a:off x="4554923"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52" name="Google Shape;765;p18">
              <a:extLst>
                <a:ext uri="{FF2B5EF4-FFF2-40B4-BE49-F238E27FC236}">
                  <a16:creationId xmlns:a16="http://schemas.microsoft.com/office/drawing/2014/main" id="{99F29304-AF72-3286-FF71-57CA84813D41}"/>
                </a:ext>
              </a:extLst>
            </p:cNvPr>
            <p:cNvSpPr/>
            <p:nvPr/>
          </p:nvSpPr>
          <p:spPr>
            <a:xfrm>
              <a:off x="4609787" y="6466434"/>
              <a:ext cx="1467156" cy="40006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a:ea typeface="Calibri"/>
                  <a:cs typeface="Calibri"/>
                  <a:sym typeface="Calibri"/>
                </a:rPr>
                <a:t>LTIP when Message was not recalled</a:t>
              </a:r>
              <a:endParaRPr kumimoji="0" lang="en-US" sz="14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56" name="Google Shape;766;p18">
              <a:extLst>
                <a:ext uri="{FF2B5EF4-FFF2-40B4-BE49-F238E27FC236}">
                  <a16:creationId xmlns:a16="http://schemas.microsoft.com/office/drawing/2014/main" id="{A69F3F15-31EC-5A60-EABC-AF793890AEFC}"/>
                </a:ext>
              </a:extLst>
            </p:cNvPr>
            <p:cNvSpPr/>
            <p:nvPr/>
          </p:nvSpPr>
          <p:spPr>
            <a:xfrm>
              <a:off x="4554923" y="6622406"/>
              <a:ext cx="91440" cy="91440"/>
            </a:xfrm>
            <a:prstGeom prst="ellipse">
              <a:avLst/>
            </a:prstGeom>
            <a:noFill/>
            <a:ln>
              <a:solidFill>
                <a:srgbClr val="9778D4"/>
              </a:solid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grpSp>
      <p:graphicFrame>
        <p:nvGraphicFramePr>
          <p:cNvPr id="7" name="Google Shape;1418;p35">
            <a:extLst>
              <a:ext uri="{FF2B5EF4-FFF2-40B4-BE49-F238E27FC236}">
                <a16:creationId xmlns:a16="http://schemas.microsoft.com/office/drawing/2014/main" id="{38968428-0C82-91C2-EE81-A4ED54A17C92}"/>
              </a:ext>
            </a:extLst>
          </p:cNvPr>
          <p:cNvGraphicFramePr/>
          <p:nvPr>
            <p:custDataLst>
              <p:tags r:id="rId1"/>
            </p:custDataLst>
          </p:nvPr>
        </p:nvGraphicFramePr>
        <p:xfrm>
          <a:off x="181696" y="1676508"/>
          <a:ext cx="5696712" cy="4019470"/>
        </p:xfrm>
        <a:graphic>
          <a:graphicData uri="http://schemas.openxmlformats.org/drawingml/2006/table">
            <a:tbl>
              <a:tblPr>
                <a:noFill/>
              </a:tblPr>
              <a:tblGrid>
                <a:gridCol w="395820">
                  <a:extLst>
                    <a:ext uri="{9D8B030D-6E8A-4147-A177-3AD203B41FA5}">
                      <a16:colId xmlns:a16="http://schemas.microsoft.com/office/drawing/2014/main" val="20000"/>
                    </a:ext>
                  </a:extLst>
                </a:gridCol>
                <a:gridCol w="674028">
                  <a:extLst>
                    <a:ext uri="{9D8B030D-6E8A-4147-A177-3AD203B41FA5}">
                      <a16:colId xmlns:a16="http://schemas.microsoft.com/office/drawing/2014/main" val="4025011932"/>
                    </a:ext>
                  </a:extLst>
                </a:gridCol>
                <a:gridCol w="4626864">
                  <a:extLst>
                    <a:ext uri="{9D8B030D-6E8A-4147-A177-3AD203B41FA5}">
                      <a16:colId xmlns:a16="http://schemas.microsoft.com/office/drawing/2014/main" val="20001"/>
                    </a:ext>
                  </a:extLst>
                </a:gridCol>
              </a:tblGrid>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Z8</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Efficacy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helps fuel nutritional health, increasing coefficient of fat absorption (CFA) by 26 percentage points vs placebo</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Z18</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In a clinical trial, the right dose helped patients absorb nutrients from their food and provided symptom relief</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30173332"/>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Z22</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Patient Support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Through My SampleCloset, practices are able to easily request samples of ZENPEP at any strength</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1"/>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Z20</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Efficacy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91% of patients achieved a CFA of 80% or higher with ZENPEP</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2"/>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Z7</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MOA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has an enteric coating that minimizes degradation and targets enzyme release in the small intestine</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Z21</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 Efficacy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can help your patients absorb the fat and nutrients they need and treat uncomfortable GI symptoms</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Z11</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1"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Patient Support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mn-lt"/>
                          <a:ea typeface="+mn-ea"/>
                          <a:cs typeface="Arial"/>
                        </a:rPr>
                        <a:t>Eligible patients pay as little as $5 for their first prescription fill and for refills.</a:t>
                      </a:r>
                      <a:endParaRPr kumimoji="0" lang="en-US" sz="900" b="0"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Z19</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Meets the ACG guideline for EPI and CP in a single capsule</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Z15</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When prescribing PERT to your adult patients with EPI -Start simply with one capsule of ZENPEP®</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Z23</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1"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Access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is the most widely covered treatment in its class.</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Z24</a:t>
                      </a:r>
                      <a:r>
                        <a:rPr lang="en-US" sz="900">
                          <a:solidFill>
                            <a:srgbClr val="001D49"/>
                          </a:solidFill>
                          <a:latin typeface="Arial" panose="020B0604020202020204" pitchFamily="34" charset="0"/>
                          <a:ea typeface="Calibri"/>
                          <a:cs typeface="Arial" panose="020B0604020202020204" pitchFamily="34" charset="0"/>
                          <a:sym typeface="Calibri"/>
                        </a:rPr>
                        <a:t>**</a:t>
                      </a:r>
                      <a:endParaRPr kumimoji="0" lang="en-IN" sz="900" b="1" i="0" u="none" strike="noStrike" kern="0" cap="none" spc="0" normalizeH="0" baseline="0">
                        <a:ln>
                          <a:noFill/>
                        </a:ln>
                        <a:solidFill>
                          <a:srgbClr val="071D49"/>
                        </a:solidFill>
                        <a:effectLst/>
                        <a:uLnTx/>
                        <a:uFillTx/>
                        <a:latin typeface="Arial" panose="020B0604020202020204"/>
                        <a:ea typeface="+mn-ea"/>
                        <a:cs typeface="Arial"/>
                      </a:endParaRP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MOA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is designed to mimic typical exocrine pancreatic function.</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Z17</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Only ZENPEP offers 40k and 60k lipase-unit capsules, which may help reduce the number of pills your adult patients need to take</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09190">
                <a:tc>
                  <a:txBody>
                    <a:bodyPr/>
                    <a:lstStyle/>
                    <a:p>
                      <a:pPr algn="ctr" fontAlgn="b">
                        <a:buNone/>
                      </a:pPr>
                      <a:r>
                        <a:rPr kumimoji="0" lang="en-IN" sz="900" b="1" i="0" u="none" strike="noStrike" kern="0" cap="none" spc="0" normalizeH="0" baseline="0">
                          <a:ln>
                            <a:noFill/>
                          </a:ln>
                          <a:solidFill>
                            <a:srgbClr val="071D49"/>
                          </a:solidFill>
                          <a:effectLst/>
                          <a:uLnTx/>
                          <a:uFillTx/>
                          <a:latin typeface="Arial" panose="020B0604020202020204"/>
                          <a:ea typeface="+mn-ea"/>
                          <a:cs typeface="Arial"/>
                        </a:rPr>
                        <a:t>Z16</a:t>
                      </a:r>
                    </a:p>
                  </a:txBody>
                  <a:tcPr marL="635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ctr" fontAlgn="b">
                        <a:buNone/>
                      </a:pPr>
                      <a:r>
                        <a:rPr kumimoji="0" lang="en-IN" sz="900" b="0" i="0" u="none" strike="noStrike" kern="0" cap="none" spc="0" normalizeH="0" baseline="0">
                          <a:ln>
                            <a:noFill/>
                          </a:ln>
                          <a:solidFill>
                            <a:srgbClr val="071D49"/>
                          </a:solidFill>
                          <a:effectLst/>
                          <a:uLnTx/>
                          <a:uFillTx/>
                          <a:latin typeface="Arial" panose="020B0604020202020204"/>
                          <a:ea typeface="+mn-ea"/>
                          <a:cs typeface="Arial"/>
                        </a:rPr>
                        <a:t>Dosing </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b">
                        <a:buNone/>
                      </a:pPr>
                      <a:r>
                        <a:rPr kumimoji="0" lang="en-US" sz="900" b="0" i="0" u="none" strike="noStrike" kern="0" cap="none" spc="0" normalizeH="0" baseline="0">
                          <a:ln>
                            <a:noFill/>
                          </a:ln>
                          <a:solidFill>
                            <a:srgbClr val="071D49"/>
                          </a:solidFill>
                          <a:effectLst/>
                          <a:uLnTx/>
                          <a:uFillTx/>
                          <a:latin typeface="Arial" panose="020B0604020202020204"/>
                          <a:ea typeface="+mn-ea"/>
                          <a:cs typeface="Arial"/>
                        </a:rPr>
                        <a:t>ZENPEP offers a single-capsule starting dose for almost all adult patients</a:t>
                      </a:r>
                    </a:p>
                  </a:txBody>
                  <a:tcPr marL="6350" marR="6350" marT="6350" marB="9144"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bl>
          </a:graphicData>
        </a:graphic>
      </p:graphicFrame>
      <p:graphicFrame>
        <p:nvGraphicFramePr>
          <p:cNvPr id="8" name="opd_nctdiscussion">
            <a:extLst>
              <a:ext uri="{FF2B5EF4-FFF2-40B4-BE49-F238E27FC236}">
                <a16:creationId xmlns:a16="http://schemas.microsoft.com/office/drawing/2014/main" id="{6FCD02CE-B080-37B5-72AC-3B109EB29AF0}"/>
              </a:ext>
            </a:extLst>
          </p:cNvPr>
          <p:cNvGraphicFramePr/>
          <p:nvPr>
            <p:custDataLst>
              <p:tags r:id="rId2"/>
            </p:custDataLst>
          </p:nvPr>
        </p:nvGraphicFramePr>
        <p:xfrm>
          <a:off x="5781282" y="1666741"/>
          <a:ext cx="2433915" cy="4113766"/>
        </p:xfrm>
        <a:graphic>
          <a:graphicData uri="http://schemas.openxmlformats.org/drawingml/2006/chart">
            <c:chart xmlns:c="http://schemas.openxmlformats.org/drawingml/2006/chart" xmlns:r="http://schemas.openxmlformats.org/officeDocument/2006/relationships" r:id="rId5"/>
          </a:graphicData>
        </a:graphic>
      </p:graphicFrame>
      <p:sp>
        <p:nvSpPr>
          <p:cNvPr id="15" name="Google Shape;1598;p41">
            <a:extLst>
              <a:ext uri="{FF2B5EF4-FFF2-40B4-BE49-F238E27FC236}">
                <a16:creationId xmlns:a16="http://schemas.microsoft.com/office/drawing/2014/main" id="{B866B539-9FEF-917B-19D1-B4CC3E73A810}"/>
              </a:ext>
            </a:extLst>
          </p:cNvPr>
          <p:cNvSpPr/>
          <p:nvPr/>
        </p:nvSpPr>
        <p:spPr>
          <a:xfrm>
            <a:off x="5772115" y="5693803"/>
            <a:ext cx="2467141"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 rating (6,7)</a:t>
            </a:r>
            <a:endParaRPr kumimoji="0" lang="en-US" sz="14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Google Shape;561;p14">
            <a:extLst>
              <a:ext uri="{FF2B5EF4-FFF2-40B4-BE49-F238E27FC236}">
                <a16:creationId xmlns:a16="http://schemas.microsoft.com/office/drawing/2014/main" id="{B8DBFEA1-7A5D-F4BE-85DD-3ABD9D424E89}"/>
              </a:ext>
            </a:extLst>
          </p:cNvPr>
          <p:cNvSpPr/>
          <p:nvPr/>
        </p:nvSpPr>
        <p:spPr>
          <a:xfrm>
            <a:off x="4085008" y="6143256"/>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 name="Google Shape;561;p14">
            <a:extLst>
              <a:ext uri="{FF2B5EF4-FFF2-40B4-BE49-F238E27FC236}">
                <a16:creationId xmlns:a16="http://schemas.microsoft.com/office/drawing/2014/main" id="{6AB2D1E0-44AC-4555-0DCA-DDF0ADA193CA}"/>
              </a:ext>
            </a:extLst>
          </p:cNvPr>
          <p:cNvSpPr/>
          <p:nvPr/>
        </p:nvSpPr>
        <p:spPr>
          <a:xfrm>
            <a:off x="7964015" y="178862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 name="TextBox 18">
            <a:extLst>
              <a:ext uri="{FF2B5EF4-FFF2-40B4-BE49-F238E27FC236}">
                <a16:creationId xmlns:a16="http://schemas.microsoft.com/office/drawing/2014/main" id="{E3ED798A-7B49-D6C6-D138-B0B27CB0BACC}"/>
              </a:ext>
            </a:extLst>
          </p:cNvPr>
          <p:cNvSpPr txBox="1"/>
          <p:nvPr/>
        </p:nvSpPr>
        <p:spPr>
          <a:xfrm>
            <a:off x="181694" y="1401280"/>
            <a:ext cx="5704127"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3" name="Google Shape;561;p14">
            <a:extLst>
              <a:ext uri="{FF2B5EF4-FFF2-40B4-BE49-F238E27FC236}">
                <a16:creationId xmlns:a16="http://schemas.microsoft.com/office/drawing/2014/main" id="{6B890501-AC96-125A-AC9D-D74F8BB6C2EC}"/>
              </a:ext>
            </a:extLst>
          </p:cNvPr>
          <p:cNvSpPr/>
          <p:nvPr/>
        </p:nvSpPr>
        <p:spPr>
          <a:xfrm>
            <a:off x="7964015" y="3639639"/>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 name="Google Shape;561;p14">
            <a:extLst>
              <a:ext uri="{FF2B5EF4-FFF2-40B4-BE49-F238E27FC236}">
                <a16:creationId xmlns:a16="http://schemas.microsoft.com/office/drawing/2014/main" id="{C2271FC9-B7E3-C853-98D2-13176EA3F083}"/>
              </a:ext>
            </a:extLst>
          </p:cNvPr>
          <p:cNvSpPr/>
          <p:nvPr/>
        </p:nvSpPr>
        <p:spPr>
          <a:xfrm>
            <a:off x="7964015" y="3331135"/>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 name="Google Shape;561;p14">
            <a:extLst>
              <a:ext uri="{FF2B5EF4-FFF2-40B4-BE49-F238E27FC236}">
                <a16:creationId xmlns:a16="http://schemas.microsoft.com/office/drawing/2014/main" id="{A9CF9F4C-92C0-4B27-98D2-BB195E7F7C79}"/>
              </a:ext>
            </a:extLst>
          </p:cNvPr>
          <p:cNvSpPr/>
          <p:nvPr/>
        </p:nvSpPr>
        <p:spPr>
          <a:xfrm>
            <a:off x="7964015" y="3022633"/>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 name="Google Shape;561;p14">
            <a:extLst>
              <a:ext uri="{FF2B5EF4-FFF2-40B4-BE49-F238E27FC236}">
                <a16:creationId xmlns:a16="http://schemas.microsoft.com/office/drawing/2014/main" id="{3E052E7B-9288-E15E-700D-C4E58A4DE279}"/>
              </a:ext>
            </a:extLst>
          </p:cNvPr>
          <p:cNvSpPr/>
          <p:nvPr/>
        </p:nvSpPr>
        <p:spPr>
          <a:xfrm>
            <a:off x="7964015" y="2714131"/>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 name="Google Shape;561;p14">
            <a:extLst>
              <a:ext uri="{FF2B5EF4-FFF2-40B4-BE49-F238E27FC236}">
                <a16:creationId xmlns:a16="http://schemas.microsoft.com/office/drawing/2014/main" id="{00860FE3-45FD-7599-E52C-19399468CE25}"/>
              </a:ext>
            </a:extLst>
          </p:cNvPr>
          <p:cNvSpPr/>
          <p:nvPr/>
        </p:nvSpPr>
        <p:spPr>
          <a:xfrm>
            <a:off x="7964015" y="2405629"/>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 name="Google Shape;561;p14">
            <a:extLst>
              <a:ext uri="{FF2B5EF4-FFF2-40B4-BE49-F238E27FC236}">
                <a16:creationId xmlns:a16="http://schemas.microsoft.com/office/drawing/2014/main" id="{29FB40DF-FB5F-B0DD-94E4-181924677154}"/>
              </a:ext>
            </a:extLst>
          </p:cNvPr>
          <p:cNvSpPr/>
          <p:nvPr/>
        </p:nvSpPr>
        <p:spPr>
          <a:xfrm>
            <a:off x="7964015" y="2097127"/>
            <a:ext cx="111501" cy="111600"/>
          </a:xfrm>
          <a:prstGeom prst="ellipse">
            <a:avLst/>
          </a:prstGeom>
          <a:solidFill>
            <a:schemeClr val="accent6">
              <a:lumMod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 name="TextBox 19">
            <a:extLst>
              <a:ext uri="{FF2B5EF4-FFF2-40B4-BE49-F238E27FC236}">
                <a16:creationId xmlns:a16="http://schemas.microsoft.com/office/drawing/2014/main" id="{F80C2613-E35D-4814-F692-909749D8AAF0}"/>
              </a:ext>
            </a:extLst>
          </p:cNvPr>
          <p:cNvSpPr txBox="1"/>
          <p:nvPr/>
        </p:nvSpPr>
        <p:spPr>
          <a:xfrm>
            <a:off x="181694" y="1151783"/>
            <a:ext cx="1728000" cy="230832"/>
          </a:xfrm>
          <a:prstGeom prst="rect">
            <a:avLst/>
          </a:prstGeom>
          <a:noFill/>
          <a:ln>
            <a:solidFill>
              <a:schemeClr val="accent6"/>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900" b="0" i="1" u="sng" strike="noStrike" kern="1200" cap="none" spc="0" normalizeH="0" baseline="0" noProof="0">
                <a:ln>
                  <a:noFill/>
                </a:ln>
                <a:solidFill>
                  <a:srgbClr val="071D49"/>
                </a:solidFill>
                <a:effectLst/>
                <a:uLnTx/>
                <a:uFillTx/>
                <a:latin typeface="Arial"/>
                <a:cs typeface="Arial"/>
                <a:sym typeface="Arial"/>
              </a:rPr>
              <a:t>Data is rolled up for 3 waves</a:t>
            </a:r>
          </a:p>
        </p:txBody>
      </p:sp>
      <p:sp>
        <p:nvSpPr>
          <p:cNvPr id="21" name="TextBox 20">
            <a:extLst>
              <a:ext uri="{FF2B5EF4-FFF2-40B4-BE49-F238E27FC236}">
                <a16:creationId xmlns:a16="http://schemas.microsoft.com/office/drawing/2014/main" id="{5E969334-4E8C-8A99-5033-9B66F30D3F9A}"/>
              </a:ext>
            </a:extLst>
          </p:cNvPr>
          <p:cNvSpPr txBox="1"/>
          <p:nvPr/>
        </p:nvSpPr>
        <p:spPr>
          <a:xfrm>
            <a:off x="6922494" y="4814128"/>
            <a:ext cx="27622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FF0000"/>
                </a:solidFill>
                <a:effectLst/>
                <a:uLnTx/>
                <a:uFillTx/>
                <a:latin typeface="Arial"/>
                <a:cs typeface="Arial"/>
                <a:sym typeface="Arial"/>
              </a:rPr>
              <a:t>*</a:t>
            </a:r>
            <a:endParaRPr kumimoji="0" lang="en-IN" sz="1000" b="0" i="0" u="none" strike="noStrike" kern="0" cap="none" spc="0" normalizeH="0" baseline="0" noProof="0">
              <a:ln>
                <a:noFill/>
              </a:ln>
              <a:solidFill>
                <a:srgbClr val="FF0000"/>
              </a:solidFill>
              <a:effectLst/>
              <a:uLnTx/>
              <a:uFillTx/>
              <a:latin typeface="Arial"/>
              <a:cs typeface="Arial"/>
              <a:sym typeface="Arial"/>
            </a:endParaRPr>
          </a:p>
        </p:txBody>
      </p:sp>
      <p:sp>
        <p:nvSpPr>
          <p:cNvPr id="23" name="Highlight#32">
            <a:extLst>
              <a:ext uri="{FF2B5EF4-FFF2-40B4-BE49-F238E27FC236}">
                <a16:creationId xmlns:a16="http://schemas.microsoft.com/office/drawing/2014/main" id="{C5B51288-8AF1-7917-02FE-5A739513434B}"/>
              </a:ext>
            </a:extLst>
          </p:cNvPr>
          <p:cNvSpPr txBox="1"/>
          <p:nvPr/>
        </p:nvSpPr>
        <p:spPr>
          <a:xfrm>
            <a:off x="184742" y="5084350"/>
            <a:ext cx="7800532" cy="605905"/>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3166790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Rep Performance</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3" name="TextBox 2">
            <a:extLst>
              <a:ext uri="{FF2B5EF4-FFF2-40B4-BE49-F238E27FC236}">
                <a16:creationId xmlns:a16="http://schemas.microsoft.com/office/drawing/2014/main" id="{6A16C400-F647-2998-2A48-5AC0FACD24E3}"/>
              </a:ext>
            </a:extLst>
          </p:cNvPr>
          <p:cNvSpPr txBox="1"/>
          <p:nvPr/>
        </p:nvSpPr>
        <p:spPr>
          <a:xfrm>
            <a:off x="396000" y="4320000"/>
            <a:ext cx="8211287" cy="1512402"/>
          </a:xfrm>
          <a:prstGeom prst="rect">
            <a:avLst/>
          </a:prstGeom>
          <a:noFill/>
        </p:spPr>
        <p:txBody>
          <a:bodyPr wrap="square" rtlCol="0">
            <a:spAutoFit/>
          </a:bodyPr>
          <a:lstStyle/>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CREON improved perceptions on rep performance and call quality this wave</a:t>
            </a:r>
            <a:r>
              <a:rPr kumimoji="0" lang="en-GB" sz="1200" b="0" i="0" u="none" strike="noStrike" kern="0" cap="none" spc="0" normalizeH="0" baseline="0" noProof="0">
                <a:ln>
                  <a:noFill/>
                </a:ln>
                <a:solidFill>
                  <a:srgbClr val="000000"/>
                </a:solidFill>
                <a:effectLst/>
                <a:uLnTx/>
                <a:uFillTx/>
                <a:latin typeface="Arial"/>
                <a:cs typeface="Arial"/>
                <a:sym typeface="Arial"/>
              </a:rPr>
              <a:t>, with OSQ improving meaningfully and LTIP rising, while ZENPEP saw smaller OSQ gains but a sharp decline in LTIP.</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Attribute-level performance </a:t>
            </a:r>
            <a:r>
              <a:rPr kumimoji="0" lang="en-GB" sz="1200" b="0" i="0" u="none" strike="noStrike" kern="0" cap="none" spc="0" normalizeH="0" baseline="0" noProof="0">
                <a:ln>
                  <a:noFill/>
                </a:ln>
                <a:solidFill>
                  <a:srgbClr val="000000"/>
                </a:solidFill>
                <a:effectLst/>
                <a:uLnTx/>
                <a:uFillTx/>
                <a:latin typeface="Arial"/>
                <a:cs typeface="Arial"/>
                <a:sym typeface="Arial"/>
              </a:rPr>
              <a:t>favoured CREON, driven by notable improvements in discussing dosing guidelines, safety, and overall interaction quality; ZENPEP was generally stable across most attributes but saw declines in “safety” and “rep knowledge”.</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Compelling reasons to prescribe </a:t>
            </a:r>
            <a:r>
              <a:rPr kumimoji="0" lang="en-GB" sz="1200" b="0" i="0" u="none" strike="noStrike" kern="0" cap="none" spc="0" normalizeH="0" baseline="0" noProof="0">
                <a:ln>
                  <a:noFill/>
                </a:ln>
                <a:solidFill>
                  <a:srgbClr val="000000"/>
                </a:solidFill>
                <a:effectLst/>
                <a:uLnTx/>
                <a:uFillTx/>
                <a:latin typeface="Arial"/>
                <a:cs typeface="Arial"/>
                <a:sym typeface="Arial"/>
              </a:rPr>
              <a:t>remains the key lever in driving OSQ and LTIP for CREON over the past 12 months, consistently emerging as the strongest </a:t>
            </a:r>
            <a:r>
              <a:rPr kumimoji="0" lang="en-GB" sz="1200" b="1" i="0" u="none" strike="noStrike" kern="0" cap="none" spc="0" normalizeH="0" baseline="0" noProof="0">
                <a:ln>
                  <a:noFill/>
                </a:ln>
                <a:solidFill>
                  <a:srgbClr val="000000"/>
                </a:solidFill>
                <a:effectLst/>
                <a:uLnTx/>
                <a:uFillTx/>
                <a:latin typeface="Arial"/>
                <a:cs typeface="Arial"/>
                <a:sym typeface="Arial"/>
              </a:rPr>
              <a:t>driver</a:t>
            </a:r>
            <a:r>
              <a:rPr kumimoji="0" lang="en-GB" sz="1200" b="0" i="0" u="none" strike="noStrike" kern="0" cap="none" spc="0" normalizeH="0" baseline="0" noProof="0">
                <a:ln>
                  <a:noFill/>
                </a:ln>
                <a:solidFill>
                  <a:srgbClr val="000000"/>
                </a:solidFill>
                <a:effectLst/>
                <a:uLnTx/>
                <a:uFillTx/>
                <a:latin typeface="Arial"/>
                <a:cs typeface="Arial"/>
                <a:sym typeface="Arial"/>
              </a:rPr>
              <a:t>, particularly among </a:t>
            </a:r>
            <a:r>
              <a:rPr kumimoji="0" lang="en-GB" sz="1200" b="0" i="0" u="none" strike="noStrike" kern="0" cap="none" spc="0" normalizeH="0" baseline="0" noProof="0" err="1">
                <a:ln>
                  <a:noFill/>
                </a:ln>
                <a:solidFill>
                  <a:srgbClr val="000000"/>
                </a:solidFill>
                <a:effectLst/>
                <a:uLnTx/>
                <a:uFillTx/>
                <a:latin typeface="Arial"/>
                <a:cs typeface="Arial"/>
                <a:sym typeface="Arial"/>
              </a:rPr>
              <a:t>Gastros</a:t>
            </a:r>
            <a:endParaRPr kumimoji="0" lang="en-GB" sz="12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038327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594"/>
        <p:cNvGrpSpPr/>
        <p:nvPr/>
      </p:nvGrpSpPr>
      <p:grpSpPr>
        <a:xfrm>
          <a:off x="0" y="0"/>
          <a:ext cx="0" cy="0"/>
          <a:chOff x="0" y="0"/>
          <a:chExt cx="0" cy="0"/>
        </a:xfrm>
      </p:grpSpPr>
      <p:sp>
        <p:nvSpPr>
          <p:cNvPr id="34" name="TextBox 33">
            <a:extLst>
              <a:ext uri="{FF2B5EF4-FFF2-40B4-BE49-F238E27FC236}">
                <a16:creationId xmlns:a16="http://schemas.microsoft.com/office/drawing/2014/main" id="{158F49C7-049A-E6F4-180E-87D3505B31DC}"/>
              </a:ext>
            </a:extLst>
          </p:cNvPr>
          <p:cNvSpPr txBox="1"/>
          <p:nvPr/>
        </p:nvSpPr>
        <p:spPr>
          <a:xfrm>
            <a:off x="130403" y="4603615"/>
            <a:ext cx="8903869" cy="868680"/>
          </a:xfrm>
          <a:prstGeom prst="rect">
            <a:avLst/>
          </a:prstGeom>
          <a:noFill/>
          <a:ln>
            <a:solidFill>
              <a:schemeClr val="bg1">
                <a:lumMod val="50000"/>
              </a:schemeClr>
            </a:solidFill>
            <a:prstDash val="lg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sym typeface="Arial"/>
            </a:endParaRPr>
          </a:p>
        </p:txBody>
      </p:sp>
      <p:sp>
        <p:nvSpPr>
          <p:cNvPr id="31" name="TextBox 30">
            <a:extLst>
              <a:ext uri="{FF2B5EF4-FFF2-40B4-BE49-F238E27FC236}">
                <a16:creationId xmlns:a16="http://schemas.microsoft.com/office/drawing/2014/main" id="{CCD8C15C-9C5F-AFB7-4572-4198913FDA60}"/>
              </a:ext>
            </a:extLst>
          </p:cNvPr>
          <p:cNvSpPr txBox="1"/>
          <p:nvPr/>
        </p:nvSpPr>
        <p:spPr>
          <a:xfrm>
            <a:off x="130403" y="1561035"/>
            <a:ext cx="8903869" cy="868680"/>
          </a:xfrm>
          <a:prstGeom prst="rect">
            <a:avLst/>
          </a:prstGeom>
          <a:noFill/>
          <a:ln>
            <a:solidFill>
              <a:schemeClr val="bg1">
                <a:lumMod val="50000"/>
              </a:schemeClr>
            </a:solidFill>
            <a:prstDash val="lg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sym typeface="Arial"/>
            </a:endParaRPr>
          </a:p>
        </p:txBody>
      </p:sp>
      <p:sp>
        <p:nvSpPr>
          <p:cNvPr id="32" name="TextBox 31">
            <a:extLst>
              <a:ext uri="{FF2B5EF4-FFF2-40B4-BE49-F238E27FC236}">
                <a16:creationId xmlns:a16="http://schemas.microsoft.com/office/drawing/2014/main" id="{7BE5C411-C5D7-76B3-9510-04CC5C6C203F}"/>
              </a:ext>
            </a:extLst>
          </p:cNvPr>
          <p:cNvSpPr txBox="1"/>
          <p:nvPr/>
        </p:nvSpPr>
        <p:spPr>
          <a:xfrm>
            <a:off x="130403" y="2643959"/>
            <a:ext cx="8903869" cy="868680"/>
          </a:xfrm>
          <a:prstGeom prst="rect">
            <a:avLst/>
          </a:prstGeom>
          <a:noFill/>
          <a:ln>
            <a:solidFill>
              <a:schemeClr val="bg1">
                <a:lumMod val="50000"/>
              </a:schemeClr>
            </a:solidFill>
            <a:prstDash val="lg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sym typeface="Arial"/>
            </a:endParaRPr>
          </a:p>
        </p:txBody>
      </p:sp>
      <p:sp>
        <p:nvSpPr>
          <p:cNvPr id="33" name="TextBox 32">
            <a:extLst>
              <a:ext uri="{FF2B5EF4-FFF2-40B4-BE49-F238E27FC236}">
                <a16:creationId xmlns:a16="http://schemas.microsoft.com/office/drawing/2014/main" id="{76571460-615E-666B-0DAA-0AEDF57776A5}"/>
              </a:ext>
            </a:extLst>
          </p:cNvPr>
          <p:cNvSpPr txBox="1"/>
          <p:nvPr/>
        </p:nvSpPr>
        <p:spPr>
          <a:xfrm>
            <a:off x="130403" y="3623787"/>
            <a:ext cx="8903869" cy="868680"/>
          </a:xfrm>
          <a:prstGeom prst="rect">
            <a:avLst/>
          </a:prstGeom>
          <a:noFill/>
          <a:ln>
            <a:solidFill>
              <a:schemeClr val="bg1">
                <a:lumMod val="50000"/>
              </a:schemeClr>
            </a:solidFill>
            <a:prstDash val="lg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sym typeface="Arial"/>
            </a:endParaRPr>
          </a:p>
        </p:txBody>
      </p:sp>
      <p:graphicFrame>
        <p:nvGraphicFramePr>
          <p:cNvPr id="121" name="PCPs - LTIP">
            <a:extLst>
              <a:ext uri="{FF2B5EF4-FFF2-40B4-BE49-F238E27FC236}">
                <a16:creationId xmlns:a16="http://schemas.microsoft.com/office/drawing/2014/main" id="{777AC223-11A8-3235-46E6-C0F07ACF75AB}"/>
              </a:ext>
            </a:extLst>
          </p:cNvPr>
          <p:cNvGraphicFramePr/>
          <p:nvPr>
            <p:custDataLst>
              <p:tags r:id="rId1"/>
            </p:custDataLst>
          </p:nvPr>
        </p:nvGraphicFramePr>
        <p:xfrm>
          <a:off x="4175320" y="3572015"/>
          <a:ext cx="3977640" cy="9144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80" name="Overall - LTIP">
            <a:extLst>
              <a:ext uri="{FF2B5EF4-FFF2-40B4-BE49-F238E27FC236}">
                <a16:creationId xmlns:a16="http://schemas.microsoft.com/office/drawing/2014/main" id="{BCC5CF0E-2FD8-4DE6-BE91-FB6363739062}"/>
              </a:ext>
            </a:extLst>
          </p:cNvPr>
          <p:cNvGraphicFramePr/>
          <p:nvPr>
            <p:custDataLst>
              <p:tags r:id="rId2"/>
            </p:custDataLst>
          </p:nvPr>
        </p:nvGraphicFramePr>
        <p:xfrm>
          <a:off x="4175320" y="1624463"/>
          <a:ext cx="3977640" cy="9144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79" name="Overall - call quality">
            <a:extLst>
              <a:ext uri="{FF2B5EF4-FFF2-40B4-BE49-F238E27FC236}">
                <a16:creationId xmlns:a16="http://schemas.microsoft.com/office/drawing/2014/main" id="{54F3FC2F-B82E-4769-B9F5-103598A2695B}"/>
              </a:ext>
            </a:extLst>
          </p:cNvPr>
          <p:cNvGraphicFramePr/>
          <p:nvPr>
            <p:custDataLst>
              <p:tags r:id="rId3"/>
            </p:custDataLst>
          </p:nvPr>
        </p:nvGraphicFramePr>
        <p:xfrm>
          <a:off x="-161892" y="1624463"/>
          <a:ext cx="3977640" cy="9144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52" name="Gastros - call quality">
            <a:extLst>
              <a:ext uri="{FF2B5EF4-FFF2-40B4-BE49-F238E27FC236}">
                <a16:creationId xmlns:a16="http://schemas.microsoft.com/office/drawing/2014/main" id="{BB653E26-F8A4-B3A5-D398-5722DD3CE5B0}"/>
              </a:ext>
            </a:extLst>
          </p:cNvPr>
          <p:cNvGraphicFramePr/>
          <p:nvPr>
            <p:custDataLst>
              <p:tags r:id="rId4"/>
            </p:custDataLst>
          </p:nvPr>
        </p:nvGraphicFramePr>
        <p:xfrm>
          <a:off x="-161892" y="2598239"/>
          <a:ext cx="3977640" cy="91440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119" name="Gastros - LTIP">
            <a:extLst>
              <a:ext uri="{FF2B5EF4-FFF2-40B4-BE49-F238E27FC236}">
                <a16:creationId xmlns:a16="http://schemas.microsoft.com/office/drawing/2014/main" id="{5388D423-2986-8016-06DA-D34607A0A8F2}"/>
              </a:ext>
            </a:extLst>
          </p:cNvPr>
          <p:cNvGraphicFramePr/>
          <p:nvPr>
            <p:custDataLst>
              <p:tags r:id="rId5"/>
            </p:custDataLst>
          </p:nvPr>
        </p:nvGraphicFramePr>
        <p:xfrm>
          <a:off x="4175320" y="2598239"/>
          <a:ext cx="3977640" cy="914400"/>
        </p:xfrm>
        <a:graphic>
          <a:graphicData uri="http://schemas.openxmlformats.org/drawingml/2006/chart">
            <c:chart xmlns:c="http://schemas.openxmlformats.org/drawingml/2006/chart" xmlns:r="http://schemas.openxmlformats.org/officeDocument/2006/relationships" r:id="rId17"/>
          </a:graphicData>
        </a:graphic>
      </p:graphicFrame>
      <p:graphicFrame>
        <p:nvGraphicFramePr>
          <p:cNvPr id="91" name="PCPs - call quality">
            <a:extLst>
              <a:ext uri="{FF2B5EF4-FFF2-40B4-BE49-F238E27FC236}">
                <a16:creationId xmlns:a16="http://schemas.microsoft.com/office/drawing/2014/main" id="{43BAB97B-5A23-8106-ABA8-385461FBA5A9}"/>
              </a:ext>
            </a:extLst>
          </p:cNvPr>
          <p:cNvGraphicFramePr/>
          <p:nvPr>
            <p:custDataLst>
              <p:tags r:id="rId6"/>
            </p:custDataLst>
          </p:nvPr>
        </p:nvGraphicFramePr>
        <p:xfrm>
          <a:off x="-161892" y="3572015"/>
          <a:ext cx="3977640" cy="914400"/>
        </p:xfrm>
        <a:graphic>
          <a:graphicData uri="http://schemas.openxmlformats.org/drawingml/2006/chart">
            <c:chart xmlns:c="http://schemas.openxmlformats.org/drawingml/2006/chart" xmlns:r="http://schemas.openxmlformats.org/officeDocument/2006/relationships" r:id="rId18"/>
          </a:graphicData>
        </a:graphic>
      </p:graphicFrame>
      <p:sp>
        <p:nvSpPr>
          <p:cNvPr id="1595" name="Google Shape;1595;p41"/>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CREON’s overall call quality (OSQ) improved by 6 pp while ZENPEP’s increased by 4 pp, particularly among Gastros; LTIP rose by 2 pp for CREON but declined sharply by 6 pp for ZENPEP</a:t>
            </a:r>
            <a:endParaRPr kumimoji="0" lang="en-US" sz="1400" b="0" i="0" u="none" strike="sngStrike" kern="0" cap="none" spc="0" normalizeH="0" baseline="0" noProof="0">
              <a:ln>
                <a:noFill/>
              </a:ln>
              <a:solidFill>
                <a:srgbClr val="071D49"/>
              </a:solidFill>
              <a:effectLst/>
              <a:uLnTx/>
              <a:uFillTx/>
              <a:latin typeface="Arial"/>
              <a:ea typeface="Calibri"/>
              <a:cs typeface="Calibri"/>
              <a:sym typeface="Calibri"/>
            </a:endParaRPr>
          </a:p>
        </p:txBody>
      </p:sp>
      <p:grpSp>
        <p:nvGrpSpPr>
          <p:cNvPr id="111" name="Google Shape;762;p18">
            <a:extLst>
              <a:ext uri="{FF2B5EF4-FFF2-40B4-BE49-F238E27FC236}">
                <a16:creationId xmlns:a16="http://schemas.microsoft.com/office/drawing/2014/main" id="{F7FB08BD-5096-F7FB-CA61-40325D4EC4FA}"/>
              </a:ext>
            </a:extLst>
          </p:cNvPr>
          <p:cNvGrpSpPr/>
          <p:nvPr/>
        </p:nvGrpSpPr>
        <p:grpSpPr>
          <a:xfrm>
            <a:off x="7419891" y="941801"/>
            <a:ext cx="1724109" cy="246181"/>
            <a:chOff x="4463437" y="6228283"/>
            <a:chExt cx="1724109" cy="246181"/>
          </a:xfrm>
        </p:grpSpPr>
        <p:sp>
          <p:nvSpPr>
            <p:cNvPr id="112" name="Google Shape;763;p18">
              <a:extLst>
                <a:ext uri="{FF2B5EF4-FFF2-40B4-BE49-F238E27FC236}">
                  <a16:creationId xmlns:a16="http://schemas.microsoft.com/office/drawing/2014/main" id="{E92557EE-FF01-FEAB-858D-EAD993CDE511}"/>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113" name="Google Shape;764;p18">
              <a:extLst>
                <a:ext uri="{FF2B5EF4-FFF2-40B4-BE49-F238E27FC236}">
                  <a16:creationId xmlns:a16="http://schemas.microsoft.com/office/drawing/2014/main" id="{0B4EC76A-668A-023E-8B87-7C71C5A72020}"/>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114" name="Google Shape;765;p18">
              <a:extLst>
                <a:ext uri="{FF2B5EF4-FFF2-40B4-BE49-F238E27FC236}">
                  <a16:creationId xmlns:a16="http://schemas.microsoft.com/office/drawing/2014/main" id="{BA590C79-F476-838D-8135-835943B997DA}"/>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sp>
          <p:nvSpPr>
            <p:cNvPr id="115" name="Google Shape;766;p18">
              <a:extLst>
                <a:ext uri="{FF2B5EF4-FFF2-40B4-BE49-F238E27FC236}">
                  <a16:creationId xmlns:a16="http://schemas.microsoft.com/office/drawing/2014/main" id="{FD99112B-156F-DA47-65A5-28522C45DD13}"/>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a:ea typeface="Calibri"/>
                <a:cs typeface="Calibri"/>
                <a:sym typeface="Calibri"/>
              </a:endParaRPr>
            </a:p>
          </p:txBody>
        </p:sp>
      </p:grpSp>
      <p:sp>
        <p:nvSpPr>
          <p:cNvPr id="123" name="TextBox 122">
            <a:extLst>
              <a:ext uri="{FF2B5EF4-FFF2-40B4-BE49-F238E27FC236}">
                <a16:creationId xmlns:a16="http://schemas.microsoft.com/office/drawing/2014/main" id="{A02BF715-4E7A-4FC6-B20D-DF918B7D0E31}"/>
              </a:ext>
            </a:extLst>
          </p:cNvPr>
          <p:cNvSpPr txBox="1"/>
          <p:nvPr/>
        </p:nvSpPr>
        <p:spPr>
          <a:xfrm rot="16200000">
            <a:off x="-281669" y="2890678"/>
            <a:ext cx="1111839" cy="276999"/>
          </a:xfrm>
          <a:prstGeom prst="rect">
            <a:avLst/>
          </a:prstGeom>
          <a:noFill/>
          <a:ln>
            <a:noFill/>
            <a:prstDash val="lgDash"/>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1" i="0" u="none" strike="noStrike" kern="0" cap="none" spc="0" normalizeH="0" baseline="0" noProof="0">
                <a:ln>
                  <a:noFill/>
                </a:ln>
                <a:solidFill>
                  <a:srgbClr val="000000"/>
                </a:solidFill>
                <a:effectLst/>
                <a:uLnTx/>
                <a:uFillTx/>
                <a:latin typeface="Arial" panose="020B0604020202020204"/>
                <a:cs typeface="Calibri" panose="020F0502020204030204" pitchFamily="34" charset="0"/>
                <a:sym typeface="Arial"/>
              </a:rPr>
              <a:t>Gastros</a:t>
            </a:r>
          </a:p>
        </p:txBody>
      </p:sp>
      <p:sp>
        <p:nvSpPr>
          <p:cNvPr id="124" name="TextBox 123">
            <a:extLst>
              <a:ext uri="{FF2B5EF4-FFF2-40B4-BE49-F238E27FC236}">
                <a16:creationId xmlns:a16="http://schemas.microsoft.com/office/drawing/2014/main" id="{3FDAC659-E1EE-2650-556E-86E835593C17}"/>
              </a:ext>
            </a:extLst>
          </p:cNvPr>
          <p:cNvSpPr txBox="1"/>
          <p:nvPr/>
        </p:nvSpPr>
        <p:spPr>
          <a:xfrm rot="16200000">
            <a:off x="-281669" y="3897041"/>
            <a:ext cx="1111839" cy="276999"/>
          </a:xfrm>
          <a:prstGeom prst="rect">
            <a:avLst/>
          </a:prstGeom>
          <a:noFill/>
          <a:ln>
            <a:noFill/>
            <a:prstDash val="lgDash"/>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1" i="0" u="none" strike="noStrike" kern="0" cap="none" spc="0" normalizeH="0" baseline="0" noProof="0">
                <a:ln>
                  <a:noFill/>
                </a:ln>
                <a:solidFill>
                  <a:srgbClr val="000000"/>
                </a:solidFill>
                <a:effectLst/>
                <a:uLnTx/>
                <a:uFillTx/>
                <a:latin typeface="Arial" panose="020B0604020202020204"/>
                <a:cs typeface="Calibri" panose="020F0502020204030204" pitchFamily="34" charset="0"/>
                <a:sym typeface="Arial"/>
              </a:rPr>
              <a:t>PCPs</a:t>
            </a:r>
            <a:r>
              <a:rPr kumimoji="0" lang="en-US" sz="12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a:t>
            </a:r>
            <a:endParaRPr kumimoji="0" lang="en-GB" sz="1200" b="1" i="0" u="none" strike="noStrike" kern="0" cap="none" spc="0" normalizeH="0" baseline="0" noProof="0">
              <a:ln>
                <a:noFill/>
              </a:ln>
              <a:solidFill>
                <a:srgbClr val="000000"/>
              </a:solidFill>
              <a:effectLst/>
              <a:uLnTx/>
              <a:uFillTx/>
              <a:latin typeface="Arial" panose="020B0604020202020204"/>
              <a:cs typeface="Calibri" panose="020F0502020204030204" pitchFamily="34" charset="0"/>
              <a:sym typeface="Arial"/>
            </a:endParaRPr>
          </a:p>
        </p:txBody>
      </p:sp>
      <p:sp>
        <p:nvSpPr>
          <p:cNvPr id="53" name="TextBox 52">
            <a:extLst>
              <a:ext uri="{FF2B5EF4-FFF2-40B4-BE49-F238E27FC236}">
                <a16:creationId xmlns:a16="http://schemas.microsoft.com/office/drawing/2014/main" id="{B5B65194-BEED-D2E2-D9B0-FF81E2ACF6A9}"/>
              </a:ext>
            </a:extLst>
          </p:cNvPr>
          <p:cNvSpPr txBox="1"/>
          <p:nvPr/>
        </p:nvSpPr>
        <p:spPr>
          <a:xfrm rot="16200000">
            <a:off x="-281669" y="1884315"/>
            <a:ext cx="1111839" cy="276999"/>
          </a:xfrm>
          <a:prstGeom prst="rect">
            <a:avLst/>
          </a:prstGeom>
          <a:noFill/>
          <a:ln>
            <a:noFill/>
            <a:prstDash val="lgDash"/>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1" i="0" u="none" strike="noStrike" kern="0" cap="none" spc="0" normalizeH="0" baseline="0" noProof="0">
                <a:ln>
                  <a:noFill/>
                </a:ln>
                <a:solidFill>
                  <a:srgbClr val="000000"/>
                </a:solidFill>
                <a:effectLst/>
                <a:uLnTx/>
                <a:uFillTx/>
                <a:latin typeface="Arial" panose="020B0604020202020204"/>
                <a:cs typeface="Calibri" panose="020F0502020204030204" pitchFamily="34" charset="0"/>
                <a:sym typeface="Arial"/>
              </a:rPr>
              <a:t>OVERALL</a:t>
            </a:r>
          </a:p>
        </p:txBody>
      </p:sp>
      <p:graphicFrame>
        <p:nvGraphicFramePr>
          <p:cNvPr id="54" name="wave table OCQ">
            <a:extLst>
              <a:ext uri="{FF2B5EF4-FFF2-40B4-BE49-F238E27FC236}">
                <a16:creationId xmlns:a16="http://schemas.microsoft.com/office/drawing/2014/main" id="{5BDC09BA-9E79-AD22-A5F1-6403104A71B6}"/>
              </a:ext>
            </a:extLst>
          </p:cNvPr>
          <p:cNvGraphicFramePr>
            <a:graphicFrameLocks noGrp="1"/>
          </p:cNvGraphicFramePr>
          <p:nvPr>
            <p:custDataLst>
              <p:tags r:id="rId7"/>
            </p:custDataLst>
          </p:nvPr>
        </p:nvGraphicFramePr>
        <p:xfrm>
          <a:off x="299444" y="5519142"/>
          <a:ext cx="3537984" cy="274320"/>
        </p:xfrm>
        <a:graphic>
          <a:graphicData uri="http://schemas.openxmlformats.org/drawingml/2006/table">
            <a:tbl>
              <a:tblPr firstRow="1" bandRow="1">
                <a:tableStyleId>{B301B821-A1FF-4177-AEE7-76D212191A09}</a:tableStyleId>
              </a:tblPr>
              <a:tblGrid>
                <a:gridCol w="589664">
                  <a:extLst>
                    <a:ext uri="{9D8B030D-6E8A-4147-A177-3AD203B41FA5}">
                      <a16:colId xmlns:a16="http://schemas.microsoft.com/office/drawing/2014/main" val="3554599800"/>
                    </a:ext>
                  </a:extLst>
                </a:gridCol>
                <a:gridCol w="589664">
                  <a:extLst>
                    <a:ext uri="{9D8B030D-6E8A-4147-A177-3AD203B41FA5}">
                      <a16:colId xmlns:a16="http://schemas.microsoft.com/office/drawing/2014/main" val="2914776207"/>
                    </a:ext>
                  </a:extLst>
                </a:gridCol>
                <a:gridCol w="589664">
                  <a:extLst>
                    <a:ext uri="{9D8B030D-6E8A-4147-A177-3AD203B41FA5}">
                      <a16:colId xmlns:a16="http://schemas.microsoft.com/office/drawing/2014/main" val="2088702262"/>
                    </a:ext>
                  </a:extLst>
                </a:gridCol>
                <a:gridCol w="589664">
                  <a:extLst>
                    <a:ext uri="{9D8B030D-6E8A-4147-A177-3AD203B41FA5}">
                      <a16:colId xmlns:a16="http://schemas.microsoft.com/office/drawing/2014/main" val="192097877"/>
                    </a:ext>
                  </a:extLst>
                </a:gridCol>
                <a:gridCol w="589664">
                  <a:extLst>
                    <a:ext uri="{9D8B030D-6E8A-4147-A177-3AD203B41FA5}">
                      <a16:colId xmlns:a16="http://schemas.microsoft.com/office/drawing/2014/main" val="1326389649"/>
                    </a:ext>
                  </a:extLst>
                </a:gridCol>
                <a:gridCol w="589664">
                  <a:extLst>
                    <a:ext uri="{9D8B030D-6E8A-4147-A177-3AD203B41FA5}">
                      <a16:colId xmlns:a16="http://schemas.microsoft.com/office/drawing/2014/main" val="3544539175"/>
                    </a:ext>
                  </a:extLst>
                </a:gridCol>
              </a:tblGrid>
              <a:tr h="160076">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40" name="Google Shape;1583;p40">
            <a:extLst>
              <a:ext uri="{FF2B5EF4-FFF2-40B4-BE49-F238E27FC236}">
                <a16:creationId xmlns:a16="http://schemas.microsoft.com/office/drawing/2014/main" id="{BE791950-0191-BECD-C940-D6D306FF8F1B}"/>
              </a:ext>
            </a:extLst>
          </p:cNvPr>
          <p:cNvSpPr/>
          <p:nvPr/>
        </p:nvSpPr>
        <p:spPr>
          <a:xfrm>
            <a:off x="6047121" y="6575654"/>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 name="TextBox 2">
            <a:extLst>
              <a:ext uri="{FF2B5EF4-FFF2-40B4-BE49-F238E27FC236}">
                <a16:creationId xmlns:a16="http://schemas.microsoft.com/office/drawing/2014/main" id="{A6019F78-54FB-C39B-1C67-5B37C4CD9195}"/>
              </a:ext>
            </a:extLst>
          </p:cNvPr>
          <p:cNvSpPr txBox="1"/>
          <p:nvPr/>
        </p:nvSpPr>
        <p:spPr>
          <a:xfrm>
            <a:off x="130403" y="1271895"/>
            <a:ext cx="4500084" cy="284426"/>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1" i="0" u="none" strike="noStrike" kern="1200" cap="none" spc="0" normalizeH="0" baseline="0" noProof="0">
                <a:ln>
                  <a:noFill/>
                </a:ln>
                <a:solidFill>
                  <a:srgbClr val="FFFFFF"/>
                </a:solidFill>
                <a:effectLst/>
                <a:uLnTx/>
                <a:uFillTx/>
                <a:latin typeface="Arial"/>
                <a:ea typeface="Calibri"/>
                <a:cs typeface="Calibri"/>
                <a:sym typeface="Calibri"/>
              </a:rPr>
              <a:t>Overall call quality of the Rep’s Interaction (OSQ)</a:t>
            </a:r>
            <a:endParaRPr kumimoji="0" lang="en-US" sz="1000" b="1" i="0" u="none" strike="noStrike" kern="1200" cap="none" spc="0" normalizeH="0" baseline="0" noProof="0">
              <a:ln>
                <a:noFill/>
              </a:ln>
              <a:solidFill>
                <a:srgbClr val="FFFFFF"/>
              </a:solidFill>
              <a:effectLst/>
              <a:uLnTx/>
              <a:uFillTx/>
              <a:latin typeface="Arial"/>
              <a:ea typeface="Calibri"/>
              <a:cs typeface="Calibri"/>
              <a:sym typeface="Calibri"/>
            </a:endParaRPr>
          </a:p>
        </p:txBody>
      </p:sp>
      <p:sp>
        <p:nvSpPr>
          <p:cNvPr id="4" name="TextBox 3">
            <a:extLst>
              <a:ext uri="{FF2B5EF4-FFF2-40B4-BE49-F238E27FC236}">
                <a16:creationId xmlns:a16="http://schemas.microsoft.com/office/drawing/2014/main" id="{B07CA0D0-2D33-3821-0A8A-247D65F211A9}"/>
              </a:ext>
            </a:extLst>
          </p:cNvPr>
          <p:cNvSpPr txBox="1"/>
          <p:nvPr/>
        </p:nvSpPr>
        <p:spPr>
          <a:xfrm>
            <a:off x="4660264" y="1272725"/>
            <a:ext cx="4392000"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000000"/>
              </a:buClr>
              <a:buSzPts val="1200"/>
              <a:buFont typeface="Arial"/>
              <a:buNone/>
              <a:tabLst/>
              <a:defRPr/>
            </a:pPr>
            <a:r>
              <a:rPr kumimoji="0" lang="en-GB" sz="1200" b="1" i="0" u="none" strike="noStrike" kern="1200" cap="none" spc="0" normalizeH="0" baseline="0" noProof="0">
                <a:ln>
                  <a:noFill/>
                </a:ln>
                <a:solidFill>
                  <a:srgbClr val="FFFFFF"/>
                </a:solidFill>
                <a:effectLst/>
                <a:uLnTx/>
                <a:uFillTx/>
                <a:latin typeface="Arial"/>
                <a:ea typeface="Calibri"/>
                <a:cs typeface="Calibri"/>
                <a:sym typeface="Calibri"/>
              </a:rPr>
              <a:t>Likelihood to Increase Prescribing (LTIP)</a:t>
            </a:r>
            <a:endParaRPr kumimoji="0" lang="en-GB" sz="2800" b="1" i="0" u="none" strike="noStrike" kern="1200" cap="none" spc="0" normalizeH="0" baseline="0" noProof="0">
              <a:ln>
                <a:noFill/>
              </a:ln>
              <a:solidFill>
                <a:srgbClr val="FFFFFF"/>
              </a:solidFill>
              <a:effectLst/>
              <a:uLnTx/>
              <a:uFillTx/>
              <a:latin typeface="Arial"/>
              <a:ea typeface="Calibri"/>
              <a:cs typeface="Calibri"/>
              <a:sym typeface="Calibri"/>
            </a:endParaRPr>
          </a:p>
        </p:txBody>
      </p:sp>
      <p:graphicFrame>
        <p:nvGraphicFramePr>
          <p:cNvPr id="8" name="Shape_64516024">
            <a:extLst>
              <a:ext uri="{FF2B5EF4-FFF2-40B4-BE49-F238E27FC236}">
                <a16:creationId xmlns:a16="http://schemas.microsoft.com/office/drawing/2014/main" id="{80ABC044-A2CD-5AD5-67E0-93A0ED653362}"/>
              </a:ext>
            </a:extLst>
          </p:cNvPr>
          <p:cNvGraphicFramePr>
            <a:graphicFrameLocks noGrp="1"/>
          </p:cNvGraphicFramePr>
          <p:nvPr>
            <p:custDataLst>
              <p:tags r:id="rId8"/>
            </p:custDataLst>
          </p:nvPr>
        </p:nvGraphicFramePr>
        <p:xfrm>
          <a:off x="5201564" y="5519142"/>
          <a:ext cx="3101934" cy="274320"/>
        </p:xfrm>
        <a:graphic>
          <a:graphicData uri="http://schemas.openxmlformats.org/drawingml/2006/table">
            <a:tbl>
              <a:tblPr firstRow="1" bandRow="1">
                <a:tableStyleId>{B301B821-A1FF-4177-AEE7-76D212191A09}</a:tableStyleId>
              </a:tblPr>
              <a:tblGrid>
                <a:gridCol w="516989">
                  <a:extLst>
                    <a:ext uri="{9D8B030D-6E8A-4147-A177-3AD203B41FA5}">
                      <a16:colId xmlns:a16="http://schemas.microsoft.com/office/drawing/2014/main" val="3554599800"/>
                    </a:ext>
                  </a:extLst>
                </a:gridCol>
                <a:gridCol w="516989">
                  <a:extLst>
                    <a:ext uri="{9D8B030D-6E8A-4147-A177-3AD203B41FA5}">
                      <a16:colId xmlns:a16="http://schemas.microsoft.com/office/drawing/2014/main" val="2914776207"/>
                    </a:ext>
                  </a:extLst>
                </a:gridCol>
                <a:gridCol w="516989">
                  <a:extLst>
                    <a:ext uri="{9D8B030D-6E8A-4147-A177-3AD203B41FA5}">
                      <a16:colId xmlns:a16="http://schemas.microsoft.com/office/drawing/2014/main" val="2088702262"/>
                    </a:ext>
                  </a:extLst>
                </a:gridCol>
                <a:gridCol w="516989">
                  <a:extLst>
                    <a:ext uri="{9D8B030D-6E8A-4147-A177-3AD203B41FA5}">
                      <a16:colId xmlns:a16="http://schemas.microsoft.com/office/drawing/2014/main" val="192097877"/>
                    </a:ext>
                  </a:extLst>
                </a:gridCol>
                <a:gridCol w="516989">
                  <a:extLst>
                    <a:ext uri="{9D8B030D-6E8A-4147-A177-3AD203B41FA5}">
                      <a16:colId xmlns:a16="http://schemas.microsoft.com/office/drawing/2014/main" val="1326389649"/>
                    </a:ext>
                  </a:extLst>
                </a:gridCol>
                <a:gridCol w="516989">
                  <a:extLst>
                    <a:ext uri="{9D8B030D-6E8A-4147-A177-3AD203B41FA5}">
                      <a16:colId xmlns:a16="http://schemas.microsoft.com/office/drawing/2014/main" val="3544539175"/>
                    </a:ext>
                  </a:extLst>
                </a:gridCol>
              </a:tblGrid>
              <a:tr h="160076">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6" name="Table 5">
            <a:extLst>
              <a:ext uri="{FF2B5EF4-FFF2-40B4-BE49-F238E27FC236}">
                <a16:creationId xmlns:a16="http://schemas.microsoft.com/office/drawing/2014/main" id="{4B16FA06-058C-5919-74C9-465761811455}"/>
              </a:ext>
            </a:extLst>
          </p:cNvPr>
          <p:cNvGraphicFramePr>
            <a:graphicFrameLocks noGrp="1"/>
          </p:cNvGraphicFramePr>
          <p:nvPr/>
        </p:nvGraphicFramePr>
        <p:xfrm>
          <a:off x="3837428" y="1615697"/>
          <a:ext cx="793059" cy="734378"/>
        </p:xfrm>
        <a:graphic>
          <a:graphicData uri="http://schemas.openxmlformats.org/drawingml/2006/table">
            <a:tbl>
              <a:tblPr firstRow="1" bandRow="1">
                <a:tableStyleId>{5C22544A-7EE6-4342-B048-85BDC9FD1C3A}</a:tableStyleId>
              </a:tblPr>
              <a:tblGrid>
                <a:gridCol w="433596">
                  <a:extLst>
                    <a:ext uri="{9D8B030D-6E8A-4147-A177-3AD203B41FA5}">
                      <a16:colId xmlns:a16="http://schemas.microsoft.com/office/drawing/2014/main" val="3010244311"/>
                    </a:ext>
                  </a:extLst>
                </a:gridCol>
                <a:gridCol w="359463">
                  <a:extLst>
                    <a:ext uri="{9D8B030D-6E8A-4147-A177-3AD203B41FA5}">
                      <a16:colId xmlns:a16="http://schemas.microsoft.com/office/drawing/2014/main" val="4208971358"/>
                    </a:ext>
                  </a:extLst>
                </a:gridCol>
              </a:tblGrid>
              <a:tr h="247459">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60056165"/>
                  </a:ext>
                </a:extLst>
              </a:tr>
              <a:tr h="12178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10052652"/>
                  </a:ext>
                </a:extLst>
              </a:tr>
              <a:tr h="30765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9481081"/>
                  </a:ext>
                </a:extLst>
              </a:tr>
            </a:tbl>
          </a:graphicData>
        </a:graphic>
      </p:graphicFrame>
      <p:sp>
        <p:nvSpPr>
          <p:cNvPr id="13" name="Google Shape;1582;p40">
            <a:extLst>
              <a:ext uri="{FF2B5EF4-FFF2-40B4-BE49-F238E27FC236}">
                <a16:creationId xmlns:a16="http://schemas.microsoft.com/office/drawing/2014/main" id="{411EA0CA-E7ED-9F38-1889-A050665D259F}"/>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Denotes statistically significant (p&lt;.05) difference between CREON &amp; ZENPEP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Statistically significant (p&lt;.05) difference between recent waves</a:t>
            </a:r>
          </a:p>
        </p:txBody>
      </p:sp>
      <p:sp>
        <p:nvSpPr>
          <p:cNvPr id="14" name="Google Shape;561;p14">
            <a:extLst>
              <a:ext uri="{FF2B5EF4-FFF2-40B4-BE49-F238E27FC236}">
                <a16:creationId xmlns:a16="http://schemas.microsoft.com/office/drawing/2014/main" id="{042FBDFB-06B5-ADE9-07C8-481DCBD84121}"/>
              </a:ext>
            </a:extLst>
          </p:cNvPr>
          <p:cNvSpPr/>
          <p:nvPr/>
        </p:nvSpPr>
        <p:spPr>
          <a:xfrm>
            <a:off x="1012563" y="6152072"/>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561;p14">
            <a:extLst>
              <a:ext uri="{FF2B5EF4-FFF2-40B4-BE49-F238E27FC236}">
                <a16:creationId xmlns:a16="http://schemas.microsoft.com/office/drawing/2014/main" id="{702E1E1B-30FA-88DE-C957-8D6C04FAA8DC}"/>
              </a:ext>
            </a:extLst>
          </p:cNvPr>
          <p:cNvSpPr/>
          <p:nvPr/>
        </p:nvSpPr>
        <p:spPr>
          <a:xfrm>
            <a:off x="3498836" y="6008564"/>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 name="Google Shape;573;p15">
            <a:extLst>
              <a:ext uri="{FF2B5EF4-FFF2-40B4-BE49-F238E27FC236}">
                <a16:creationId xmlns:a16="http://schemas.microsoft.com/office/drawing/2014/main" id="{0219BDF9-D07F-AAFD-3768-ED47F7F146ED}"/>
              </a:ext>
            </a:extLst>
          </p:cNvPr>
          <p:cNvSpPr/>
          <p:nvPr/>
        </p:nvSpPr>
        <p:spPr>
          <a:xfrm>
            <a:off x="1201961" y="701476"/>
            <a:ext cx="6740078"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Call Quality &amp; Likelihood to Increase Prescribing </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a:t>
            </a:r>
            <a:r>
              <a:rPr kumimoji="0" lang="pl-PL" sz="1400" b="1" i="0" u="sng" strike="noStrike" kern="0" cap="none" spc="0" normalizeH="0" baseline="0" noProof="0">
                <a:ln>
                  <a:noFill/>
                </a:ln>
                <a:solidFill>
                  <a:srgbClr val="36729C"/>
                </a:solidFill>
                <a:effectLst/>
                <a:uLnTx/>
                <a:uFillTx/>
                <a:latin typeface="Arial" panose="020B0604020202020204"/>
                <a:ea typeface="Calibri"/>
                <a:cs typeface="Calibri"/>
                <a:sym typeface="Calibri"/>
              </a:rPr>
              <a:t>CREON</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vs. </a:t>
            </a:r>
            <a:r>
              <a:rPr kumimoji="0" lang="pl-PL" sz="1400" b="1" i="0" u="sng" strike="noStrike" kern="0" cap="none" spc="0" normalizeH="0" baseline="0" noProof="0">
                <a:ln>
                  <a:noFill/>
                </a:ln>
                <a:solidFill>
                  <a:srgbClr val="9778D4"/>
                </a:solidFill>
                <a:effectLst/>
                <a:uLnTx/>
                <a:uFillTx/>
                <a:latin typeface="Arial" panose="020B0604020202020204"/>
                <a:ea typeface="Calibri"/>
                <a:cs typeface="Calibri"/>
                <a:sym typeface="Calibri"/>
              </a:rPr>
              <a:t>ZENPEP</a:t>
            </a:r>
            <a:endParaRPr kumimoji="0" lang="pl-PL" sz="1400" b="0" i="0" u="none" strike="noStrike" kern="0" cap="none" spc="0" normalizeH="0" baseline="0" noProof="0">
              <a:ln>
                <a:noFill/>
              </a:ln>
              <a:solidFill>
                <a:srgbClr val="000000"/>
              </a:solidFill>
              <a:effectLst/>
              <a:uLnTx/>
              <a:uFillTx/>
              <a:latin typeface="Arial" panose="020B0604020202020204"/>
              <a:cs typeface="Arial"/>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pl-PL"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1000" b="0" i="0" u="sng" strike="noStrike" kern="0" cap="none" spc="0" normalizeH="0" baseline="30000" noProof="0">
              <a:ln>
                <a:noFill/>
              </a:ln>
              <a:solidFill>
                <a:srgbClr val="071D49"/>
              </a:solidFill>
              <a:effectLst/>
              <a:uLnTx/>
              <a:uFillTx/>
              <a:latin typeface="Arial" panose="020B0604020202020204"/>
              <a:ea typeface="Calibri"/>
              <a:cs typeface="Calibri" panose="020F0502020204030204" pitchFamily="34" charset="0"/>
              <a:sym typeface="Calibri"/>
            </a:endParaRPr>
          </a:p>
        </p:txBody>
      </p:sp>
      <p:sp>
        <p:nvSpPr>
          <p:cNvPr id="7" name="TextBox 6">
            <a:extLst>
              <a:ext uri="{FF2B5EF4-FFF2-40B4-BE49-F238E27FC236}">
                <a16:creationId xmlns:a16="http://schemas.microsoft.com/office/drawing/2014/main" id="{5374902F-6BA4-5726-B8F0-DBD6371445E1}"/>
              </a:ext>
            </a:extLst>
          </p:cNvPr>
          <p:cNvSpPr txBox="1"/>
          <p:nvPr/>
        </p:nvSpPr>
        <p:spPr>
          <a:xfrm rot="16200000">
            <a:off x="-281669" y="4903404"/>
            <a:ext cx="1111839" cy="276999"/>
          </a:xfrm>
          <a:prstGeom prst="rect">
            <a:avLst/>
          </a:prstGeom>
          <a:noFill/>
          <a:ln>
            <a:noFill/>
            <a:prstDash val="lgDash"/>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none" strike="noStrike" kern="0" cap="none" spc="0" normalizeH="0" baseline="0" noProof="0">
                <a:ln>
                  <a:noFill/>
                </a:ln>
                <a:solidFill>
                  <a:srgbClr val="000000"/>
                </a:solidFill>
                <a:effectLst/>
                <a:uLnTx/>
                <a:uFillTx/>
                <a:latin typeface="Arial"/>
                <a:cs typeface="Calibri" panose="020F0502020204030204" pitchFamily="34" charset="0"/>
                <a:sym typeface="Arial"/>
              </a:rPr>
              <a:t>NPPAs</a:t>
            </a:r>
            <a:r>
              <a:rPr kumimoji="0" lang="en-US" sz="1200" b="1" i="0" u="none" strike="noStrike" kern="0" cap="none" spc="0" normalizeH="0" baseline="0" noProof="0">
                <a:ln>
                  <a:noFill/>
                </a:ln>
                <a:solidFill>
                  <a:srgbClr val="FF0000"/>
                </a:solidFill>
                <a:effectLst/>
                <a:uLnTx/>
                <a:uFillTx/>
                <a:latin typeface="Arial"/>
                <a:cs typeface="Calibri" panose="020F0502020204030204" pitchFamily="34" charset="0"/>
                <a:sym typeface="Arial"/>
              </a:rPr>
              <a:t>*</a:t>
            </a:r>
            <a:endParaRPr kumimoji="0" lang="en-GB" sz="1200" b="1" i="0" u="none" strike="noStrike" kern="0" cap="none" spc="0" normalizeH="0" baseline="0" noProof="0">
              <a:ln>
                <a:noFill/>
              </a:ln>
              <a:solidFill>
                <a:srgbClr val="FF0000"/>
              </a:solidFill>
              <a:effectLst/>
              <a:uLnTx/>
              <a:uFillTx/>
              <a:latin typeface="Arial" panose="020B0604020202020204"/>
              <a:cs typeface="Calibri" panose="020F0502020204030204" pitchFamily="34" charset="0"/>
              <a:sym typeface="Arial"/>
            </a:endParaRPr>
          </a:p>
        </p:txBody>
      </p:sp>
      <p:graphicFrame>
        <p:nvGraphicFramePr>
          <p:cNvPr id="9" name="Table 8">
            <a:extLst>
              <a:ext uri="{FF2B5EF4-FFF2-40B4-BE49-F238E27FC236}">
                <a16:creationId xmlns:a16="http://schemas.microsoft.com/office/drawing/2014/main" id="{7972589D-487D-3827-4FF3-CDEC614B14ED}"/>
              </a:ext>
            </a:extLst>
          </p:cNvPr>
          <p:cNvGraphicFramePr>
            <a:graphicFrameLocks noGrp="1"/>
          </p:cNvGraphicFramePr>
          <p:nvPr/>
        </p:nvGraphicFramePr>
        <p:xfrm>
          <a:off x="8220538" y="1615697"/>
          <a:ext cx="793059" cy="734378"/>
        </p:xfrm>
        <a:graphic>
          <a:graphicData uri="http://schemas.openxmlformats.org/drawingml/2006/table">
            <a:tbl>
              <a:tblPr firstRow="1" bandRow="1">
                <a:tableStyleId>{5C22544A-7EE6-4342-B048-85BDC9FD1C3A}</a:tableStyleId>
              </a:tblPr>
              <a:tblGrid>
                <a:gridCol w="433596">
                  <a:extLst>
                    <a:ext uri="{9D8B030D-6E8A-4147-A177-3AD203B41FA5}">
                      <a16:colId xmlns:a16="http://schemas.microsoft.com/office/drawing/2014/main" val="3010244311"/>
                    </a:ext>
                  </a:extLst>
                </a:gridCol>
                <a:gridCol w="359463">
                  <a:extLst>
                    <a:ext uri="{9D8B030D-6E8A-4147-A177-3AD203B41FA5}">
                      <a16:colId xmlns:a16="http://schemas.microsoft.com/office/drawing/2014/main" val="4208971358"/>
                    </a:ext>
                  </a:extLst>
                </a:gridCol>
              </a:tblGrid>
              <a:tr h="247459">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60056165"/>
                  </a:ext>
                </a:extLst>
              </a:tr>
              <a:tr h="12178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10052652"/>
                  </a:ext>
                </a:extLst>
              </a:tr>
              <a:tr h="30765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9481081"/>
                  </a:ext>
                </a:extLst>
              </a:tr>
            </a:tbl>
          </a:graphicData>
        </a:graphic>
      </p:graphicFrame>
      <p:graphicFrame>
        <p:nvGraphicFramePr>
          <p:cNvPr id="10" name="Overall_Quality_PCPs">
            <a:extLst>
              <a:ext uri="{FF2B5EF4-FFF2-40B4-BE49-F238E27FC236}">
                <a16:creationId xmlns:a16="http://schemas.microsoft.com/office/drawing/2014/main" id="{7FE86425-F5CC-3309-75D1-EDF8207D2546}"/>
              </a:ext>
            </a:extLst>
          </p:cNvPr>
          <p:cNvGraphicFramePr/>
          <p:nvPr>
            <p:custDataLst>
              <p:tags r:id="rId9"/>
            </p:custDataLst>
          </p:nvPr>
        </p:nvGraphicFramePr>
        <p:xfrm>
          <a:off x="-161892" y="4545790"/>
          <a:ext cx="3977640" cy="9144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28" name="Table 27">
            <a:extLst>
              <a:ext uri="{FF2B5EF4-FFF2-40B4-BE49-F238E27FC236}">
                <a16:creationId xmlns:a16="http://schemas.microsoft.com/office/drawing/2014/main" id="{FA18450F-30F5-5E71-9A69-DED0847DDBA8}"/>
              </a:ext>
            </a:extLst>
          </p:cNvPr>
          <p:cNvGraphicFramePr>
            <a:graphicFrameLocks noGrp="1"/>
          </p:cNvGraphicFramePr>
          <p:nvPr/>
        </p:nvGraphicFramePr>
        <p:xfrm>
          <a:off x="3837428" y="2687996"/>
          <a:ext cx="793059" cy="734378"/>
        </p:xfrm>
        <a:graphic>
          <a:graphicData uri="http://schemas.openxmlformats.org/drawingml/2006/table">
            <a:tbl>
              <a:tblPr firstRow="1" bandRow="1">
                <a:tableStyleId>{5C22544A-7EE6-4342-B048-85BDC9FD1C3A}</a:tableStyleId>
              </a:tblPr>
              <a:tblGrid>
                <a:gridCol w="433596">
                  <a:extLst>
                    <a:ext uri="{9D8B030D-6E8A-4147-A177-3AD203B41FA5}">
                      <a16:colId xmlns:a16="http://schemas.microsoft.com/office/drawing/2014/main" val="3010244311"/>
                    </a:ext>
                  </a:extLst>
                </a:gridCol>
                <a:gridCol w="359463">
                  <a:extLst>
                    <a:ext uri="{9D8B030D-6E8A-4147-A177-3AD203B41FA5}">
                      <a16:colId xmlns:a16="http://schemas.microsoft.com/office/drawing/2014/main" val="4208971358"/>
                    </a:ext>
                  </a:extLst>
                </a:gridCol>
              </a:tblGrid>
              <a:tr h="247459">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60056165"/>
                  </a:ext>
                </a:extLst>
              </a:tr>
              <a:tr h="12178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10052652"/>
                  </a:ext>
                </a:extLst>
              </a:tr>
              <a:tr h="30765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9481081"/>
                  </a:ext>
                </a:extLst>
              </a:tr>
            </a:tbl>
          </a:graphicData>
        </a:graphic>
      </p:graphicFrame>
      <p:graphicFrame>
        <p:nvGraphicFramePr>
          <p:cNvPr id="29" name="Table 28">
            <a:extLst>
              <a:ext uri="{FF2B5EF4-FFF2-40B4-BE49-F238E27FC236}">
                <a16:creationId xmlns:a16="http://schemas.microsoft.com/office/drawing/2014/main" id="{7F044B1A-63C3-FB99-8FF7-99293FC0DEB8}"/>
              </a:ext>
            </a:extLst>
          </p:cNvPr>
          <p:cNvGraphicFramePr>
            <a:graphicFrameLocks noGrp="1"/>
          </p:cNvGraphicFramePr>
          <p:nvPr/>
        </p:nvGraphicFramePr>
        <p:xfrm>
          <a:off x="8220538" y="2677792"/>
          <a:ext cx="793059" cy="734378"/>
        </p:xfrm>
        <a:graphic>
          <a:graphicData uri="http://schemas.openxmlformats.org/drawingml/2006/table">
            <a:tbl>
              <a:tblPr firstRow="1" bandRow="1">
                <a:tableStyleId>{5C22544A-7EE6-4342-B048-85BDC9FD1C3A}</a:tableStyleId>
              </a:tblPr>
              <a:tblGrid>
                <a:gridCol w="433596">
                  <a:extLst>
                    <a:ext uri="{9D8B030D-6E8A-4147-A177-3AD203B41FA5}">
                      <a16:colId xmlns:a16="http://schemas.microsoft.com/office/drawing/2014/main" val="3010244311"/>
                    </a:ext>
                  </a:extLst>
                </a:gridCol>
                <a:gridCol w="359463">
                  <a:extLst>
                    <a:ext uri="{9D8B030D-6E8A-4147-A177-3AD203B41FA5}">
                      <a16:colId xmlns:a16="http://schemas.microsoft.com/office/drawing/2014/main" val="4208971358"/>
                    </a:ext>
                  </a:extLst>
                </a:gridCol>
              </a:tblGrid>
              <a:tr h="247459">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60056165"/>
                  </a:ext>
                </a:extLst>
              </a:tr>
              <a:tr h="12178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10052652"/>
                  </a:ext>
                </a:extLst>
              </a:tr>
              <a:tr h="30765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9481081"/>
                  </a:ext>
                </a:extLst>
              </a:tr>
            </a:tbl>
          </a:graphicData>
        </a:graphic>
      </p:graphicFrame>
      <p:graphicFrame>
        <p:nvGraphicFramePr>
          <p:cNvPr id="30" name="NPPA_LTIP">
            <a:extLst>
              <a:ext uri="{FF2B5EF4-FFF2-40B4-BE49-F238E27FC236}">
                <a16:creationId xmlns:a16="http://schemas.microsoft.com/office/drawing/2014/main" id="{AE564BDB-FB5B-6EDD-5616-D1E9207FE5C2}"/>
              </a:ext>
            </a:extLst>
          </p:cNvPr>
          <p:cNvGraphicFramePr/>
          <p:nvPr>
            <p:custDataLst>
              <p:tags r:id="rId10"/>
            </p:custDataLst>
          </p:nvPr>
        </p:nvGraphicFramePr>
        <p:xfrm>
          <a:off x="4175320" y="4545790"/>
          <a:ext cx="3977640" cy="914400"/>
        </p:xfrm>
        <a:graphic>
          <a:graphicData uri="http://schemas.openxmlformats.org/drawingml/2006/chart">
            <c:chart xmlns:c="http://schemas.openxmlformats.org/drawingml/2006/chart" xmlns:r="http://schemas.openxmlformats.org/officeDocument/2006/relationships" r:id="rId20"/>
          </a:graphicData>
        </a:graphic>
      </p:graphicFrame>
      <p:sp>
        <p:nvSpPr>
          <p:cNvPr id="35" name="Google Shape;1598;p41">
            <a:extLst>
              <a:ext uri="{FF2B5EF4-FFF2-40B4-BE49-F238E27FC236}">
                <a16:creationId xmlns:a16="http://schemas.microsoft.com/office/drawing/2014/main" id="{CD5BFB49-BC08-F57C-F44C-9A73826FB987}"/>
              </a:ext>
            </a:extLst>
          </p:cNvPr>
          <p:cNvSpPr/>
          <p:nvPr/>
        </p:nvSpPr>
        <p:spPr>
          <a:xfrm rot="-5400000">
            <a:off x="182368" y="1912887"/>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6" name="Google Shape;1598;p41">
            <a:extLst>
              <a:ext uri="{FF2B5EF4-FFF2-40B4-BE49-F238E27FC236}">
                <a16:creationId xmlns:a16="http://schemas.microsoft.com/office/drawing/2014/main" id="{A513B106-7E97-51E9-0772-CF75D48E0103}"/>
              </a:ext>
            </a:extLst>
          </p:cNvPr>
          <p:cNvSpPr/>
          <p:nvPr/>
        </p:nvSpPr>
        <p:spPr>
          <a:xfrm rot="-5400000">
            <a:off x="182369" y="2947463"/>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7" name="Google Shape;1598;p41">
            <a:extLst>
              <a:ext uri="{FF2B5EF4-FFF2-40B4-BE49-F238E27FC236}">
                <a16:creationId xmlns:a16="http://schemas.microsoft.com/office/drawing/2014/main" id="{CF84B033-9BEB-F280-573F-F817EFA74C63}"/>
              </a:ext>
            </a:extLst>
          </p:cNvPr>
          <p:cNvSpPr/>
          <p:nvPr/>
        </p:nvSpPr>
        <p:spPr>
          <a:xfrm rot="-5400000">
            <a:off x="182370" y="3947164"/>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8" name="Google Shape;1598;p41">
            <a:extLst>
              <a:ext uri="{FF2B5EF4-FFF2-40B4-BE49-F238E27FC236}">
                <a16:creationId xmlns:a16="http://schemas.microsoft.com/office/drawing/2014/main" id="{9E93B125-475D-186E-2186-70348DC2262A}"/>
              </a:ext>
            </a:extLst>
          </p:cNvPr>
          <p:cNvSpPr/>
          <p:nvPr/>
        </p:nvSpPr>
        <p:spPr>
          <a:xfrm rot="-5400000">
            <a:off x="182371" y="4938509"/>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9" name="Google Shape;1598;p41">
            <a:extLst>
              <a:ext uri="{FF2B5EF4-FFF2-40B4-BE49-F238E27FC236}">
                <a16:creationId xmlns:a16="http://schemas.microsoft.com/office/drawing/2014/main" id="{77815690-EC92-4C00-8853-0F7F07977DEC}"/>
              </a:ext>
            </a:extLst>
          </p:cNvPr>
          <p:cNvSpPr/>
          <p:nvPr/>
        </p:nvSpPr>
        <p:spPr>
          <a:xfrm rot="-5400000">
            <a:off x="4523075" y="1912887"/>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41" name="Google Shape;1598;p41">
            <a:extLst>
              <a:ext uri="{FF2B5EF4-FFF2-40B4-BE49-F238E27FC236}">
                <a16:creationId xmlns:a16="http://schemas.microsoft.com/office/drawing/2014/main" id="{199E0C12-D290-6460-B952-23E4DCD74535}"/>
              </a:ext>
            </a:extLst>
          </p:cNvPr>
          <p:cNvSpPr/>
          <p:nvPr/>
        </p:nvSpPr>
        <p:spPr>
          <a:xfrm rot="-5400000">
            <a:off x="4523076" y="2947463"/>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42" name="Google Shape;1598;p41">
            <a:extLst>
              <a:ext uri="{FF2B5EF4-FFF2-40B4-BE49-F238E27FC236}">
                <a16:creationId xmlns:a16="http://schemas.microsoft.com/office/drawing/2014/main" id="{4AA8E016-9105-1A5E-CF10-D1282FFCFA8F}"/>
              </a:ext>
            </a:extLst>
          </p:cNvPr>
          <p:cNvSpPr/>
          <p:nvPr/>
        </p:nvSpPr>
        <p:spPr>
          <a:xfrm rot="-5400000">
            <a:off x="4523077" y="3947164"/>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43" name="Google Shape;1598;p41">
            <a:extLst>
              <a:ext uri="{FF2B5EF4-FFF2-40B4-BE49-F238E27FC236}">
                <a16:creationId xmlns:a16="http://schemas.microsoft.com/office/drawing/2014/main" id="{9B370E2F-7382-64CF-54D9-79F1F2B8B247}"/>
              </a:ext>
            </a:extLst>
          </p:cNvPr>
          <p:cNvSpPr/>
          <p:nvPr/>
        </p:nvSpPr>
        <p:spPr>
          <a:xfrm rot="-5400000">
            <a:off x="4523078" y="4938509"/>
            <a:ext cx="665247" cy="215444"/>
          </a:xfrm>
          <a:prstGeom prst="rect">
            <a:avLst/>
          </a:prstGeom>
          <a:noFill/>
          <a:ln>
            <a:noFill/>
          </a:ln>
        </p:spPr>
        <p:txBody>
          <a:bodyPr spcFirstLastPara="1" wrap="non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 of interactions</a:t>
            </a:r>
            <a:b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br>
            <a:r>
              <a:rPr kumimoji="0" lang="en-US" sz="7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rating (6,7)</a:t>
            </a:r>
            <a:endParaRPr kumimoji="0" lang="en-US" sz="700" b="1" i="0" u="sng"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1" name="Google Shape;561;p14">
            <a:extLst>
              <a:ext uri="{FF2B5EF4-FFF2-40B4-BE49-F238E27FC236}">
                <a16:creationId xmlns:a16="http://schemas.microsoft.com/office/drawing/2014/main" id="{6BD066FF-00E2-B88C-6CB6-D207BD1746BF}"/>
              </a:ext>
            </a:extLst>
          </p:cNvPr>
          <p:cNvSpPr/>
          <p:nvPr/>
        </p:nvSpPr>
        <p:spPr>
          <a:xfrm>
            <a:off x="3153932" y="3338740"/>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561;p14">
            <a:extLst>
              <a:ext uri="{FF2B5EF4-FFF2-40B4-BE49-F238E27FC236}">
                <a16:creationId xmlns:a16="http://schemas.microsoft.com/office/drawing/2014/main" id="{4561EF91-8145-18DD-7A38-1C7F628E4507}"/>
              </a:ext>
            </a:extLst>
          </p:cNvPr>
          <p:cNvSpPr/>
          <p:nvPr/>
        </p:nvSpPr>
        <p:spPr>
          <a:xfrm>
            <a:off x="3153932" y="2081663"/>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561;p14">
            <a:extLst>
              <a:ext uri="{FF2B5EF4-FFF2-40B4-BE49-F238E27FC236}">
                <a16:creationId xmlns:a16="http://schemas.microsoft.com/office/drawing/2014/main" id="{E8652CB2-5573-32DD-2274-4697E240E4B7}"/>
              </a:ext>
            </a:extLst>
          </p:cNvPr>
          <p:cNvSpPr/>
          <p:nvPr/>
        </p:nvSpPr>
        <p:spPr>
          <a:xfrm>
            <a:off x="2632061" y="1692284"/>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2" name="TextBox 1">
            <a:extLst>
              <a:ext uri="{FF2B5EF4-FFF2-40B4-BE49-F238E27FC236}">
                <a16:creationId xmlns:a16="http://schemas.microsoft.com/office/drawing/2014/main" id="{549C4749-6149-78A7-7926-2756D56A515C}"/>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21"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35687886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 name="Rectangle 1">
            <a:extLst>
              <a:ext uri="{FF2B5EF4-FFF2-40B4-BE49-F238E27FC236}">
                <a16:creationId xmlns:a16="http://schemas.microsoft.com/office/drawing/2014/main" id="{73988A86-58C7-A90E-4F9B-E9BD818A15B2}"/>
              </a:ext>
            </a:extLst>
          </p:cNvPr>
          <p:cNvSpPr/>
          <p:nvPr/>
        </p:nvSpPr>
        <p:spPr>
          <a:xfrm>
            <a:off x="140951" y="1901097"/>
            <a:ext cx="7777690" cy="653522"/>
          </a:xfrm>
          <a:prstGeom prst="rect">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IN" sz="1400" b="0" i="0" u="none" strike="noStrike" kern="0" cap="none" spc="0" normalizeH="0" baseline="0" noProof="0">
              <a:ln>
                <a:noFill/>
              </a:ln>
              <a:solidFill>
                <a:srgbClr val="FFFFFF"/>
              </a:solidFill>
              <a:effectLst/>
              <a:uLnTx/>
              <a:uFillTx/>
              <a:latin typeface="Arial" panose="020B0604020202020204"/>
              <a:ea typeface="+mn-ea"/>
              <a:cs typeface="+mn-cs"/>
              <a:sym typeface="Arial"/>
            </a:endParaRPr>
          </a:p>
        </p:txBody>
      </p:sp>
      <p:graphicFrame>
        <p:nvGraphicFramePr>
          <p:cNvPr id="6" name="Google Shape;303;p8">
            <a:extLst>
              <a:ext uri="{FF2B5EF4-FFF2-40B4-BE49-F238E27FC236}">
                <a16:creationId xmlns:a16="http://schemas.microsoft.com/office/drawing/2014/main" id="{F829DA7C-1769-38D1-EB3E-2B92523659AB}"/>
              </a:ext>
            </a:extLst>
          </p:cNvPr>
          <p:cNvGraphicFramePr/>
          <p:nvPr>
            <p:custDataLst>
              <p:tags r:id="rId1"/>
            </p:custDataLst>
          </p:nvPr>
        </p:nvGraphicFramePr>
        <p:xfrm>
          <a:off x="140951" y="1889945"/>
          <a:ext cx="3060000" cy="4004436"/>
        </p:xfrm>
        <a:graphic>
          <a:graphicData uri="http://schemas.openxmlformats.org/drawingml/2006/table">
            <a:tbl>
              <a:tblPr>
                <a:noFill/>
                <a:tableStyleId>{96BACEE3-1A1D-4107-9369-2142449FF59F}</a:tableStyleId>
              </a:tblPr>
              <a:tblGrid>
                <a:gridCol w="3060000">
                  <a:extLst>
                    <a:ext uri="{9D8B030D-6E8A-4147-A177-3AD203B41FA5}">
                      <a16:colId xmlns:a16="http://schemas.microsoft.com/office/drawing/2014/main" val="20000"/>
                    </a:ext>
                  </a:extLst>
                </a:gridCol>
              </a:tblGrid>
              <a:tr h="667406">
                <a:tc>
                  <a:txBody>
                    <a:bodyPr/>
                    <a:lstStyle/>
                    <a:p>
                      <a:pPr marL="0" marR="0" algn="r">
                        <a:lnSpc>
                          <a:spcPct val="115000"/>
                        </a:lnSpc>
                        <a:spcBef>
                          <a:spcPts val="0"/>
                        </a:spcBef>
                        <a:spcAft>
                          <a:spcPts val="0"/>
                        </a:spcAft>
                      </a:pPr>
                      <a:r>
                        <a:rPr lang="en-US" sz="1100" b="1">
                          <a:solidFill>
                            <a:srgbClr val="071D49"/>
                          </a:solidFill>
                          <a:effectLst/>
                          <a:latin typeface="+mj-lt"/>
                          <a:ea typeface="Calibri" panose="020F0502020204030204" pitchFamily="34" charset="0"/>
                        </a:rPr>
                        <a:t>Overall quality of the Rep’s interaction </a:t>
                      </a:r>
                      <a:endParaRPr lang="en-US" sz="1100" b="1">
                        <a:solidFill>
                          <a:srgbClr val="071D49"/>
                        </a:solidFill>
                        <a:effectLst/>
                        <a:latin typeface="+mj-lt"/>
                        <a:ea typeface="Arial" panose="020B0604020202020204" pitchFamily="34" charset="0"/>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rPr>
                        <a:t>The rep’s preparedness</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1"/>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Rep’s</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knowledge</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of the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product</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being discussed</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Arial"/>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The rep’s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ability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to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execute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smooth interaction</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Calibri"/>
                      </a:endParaRPr>
                    </a:p>
                  </a:txBody>
                  <a:tcPr marL="36000" marR="7200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419085563"/>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Understanding insurance coverage </a:t>
                      </a: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Access</a:t>
                      </a:r>
                      <a:endPar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19155106"/>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mj-lt"/>
                          <a:ea typeface="Arial"/>
                          <a:cs typeface="Arial"/>
                          <a:sym typeface="Arial"/>
                        </a:rPr>
                        <a:t>Compelling reason to prescribe</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97852835"/>
                  </a:ext>
                </a:extLst>
              </a:tr>
            </a:tbl>
          </a:graphicData>
        </a:graphic>
      </p:graphicFrame>
      <p:graphicFrame>
        <p:nvGraphicFramePr>
          <p:cNvPr id="56" name="Compelling reason to prescribe">
            <a:extLst>
              <a:ext uri="{FF2B5EF4-FFF2-40B4-BE49-F238E27FC236}">
                <a16:creationId xmlns:a16="http://schemas.microsoft.com/office/drawing/2014/main" id="{8ADA23C6-0F9C-462A-8BA8-C67A977A87CB}"/>
              </a:ext>
            </a:extLst>
          </p:cNvPr>
          <p:cNvGraphicFramePr/>
          <p:nvPr>
            <p:custDataLst>
              <p:tags r:id="rId2"/>
            </p:custDataLst>
          </p:nvPr>
        </p:nvGraphicFramePr>
        <p:xfrm>
          <a:off x="3189560" y="5210381"/>
          <a:ext cx="4960925" cy="684000"/>
        </p:xfrm>
        <a:graphic>
          <a:graphicData uri="http://schemas.openxmlformats.org/drawingml/2006/chart">
            <c:chart xmlns:c="http://schemas.openxmlformats.org/drawingml/2006/chart" xmlns:r="http://schemas.openxmlformats.org/officeDocument/2006/relationships" r:id="rId11"/>
          </a:graphicData>
        </a:graphic>
      </p:graphicFrame>
      <p:sp>
        <p:nvSpPr>
          <p:cNvPr id="297" name="Google Shape;297;p8"/>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CREON saw improvements across most attributes this wave, with CREON’s overall-quality-of-interaction rating improving notably from last wave </a:t>
            </a:r>
            <a:endParaRPr kumimoji="0" lang="en-US" sz="1400" b="0" i="1" u="none" strike="noStrike" kern="0" cap="none" spc="0" normalizeH="0" baseline="0" noProof="0">
              <a:ln>
                <a:noFill/>
              </a:ln>
              <a:solidFill>
                <a:srgbClr val="002060"/>
              </a:solidFill>
              <a:effectLst/>
              <a:uLnTx/>
              <a:uFillTx/>
              <a:latin typeface="Arial" panose="020B0604020202020204"/>
              <a:ea typeface="Calibri"/>
              <a:cs typeface="Calibri"/>
              <a:sym typeface="Calibri"/>
            </a:endParaRPr>
          </a:p>
        </p:txBody>
      </p:sp>
      <p:sp>
        <p:nvSpPr>
          <p:cNvPr id="310" name="Google Shape;310;p8"/>
          <p:cNvSpPr/>
          <p:nvPr/>
        </p:nvSpPr>
        <p:spPr>
          <a:xfrm>
            <a:off x="4693097" y="5706697"/>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 (Rating 6, 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32" name="Google Shape;573;p15">
            <a:extLst>
              <a:ext uri="{FF2B5EF4-FFF2-40B4-BE49-F238E27FC236}">
                <a16:creationId xmlns:a16="http://schemas.microsoft.com/office/drawing/2014/main" id="{5610D01E-FE0D-4FB2-B0FA-818AD4F1B66A}"/>
              </a:ext>
            </a:extLst>
          </p:cNvPr>
          <p:cNvSpPr/>
          <p:nvPr/>
        </p:nvSpPr>
        <p:spPr>
          <a:xfrm>
            <a:off x="2116357" y="701476"/>
            <a:ext cx="4838099"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on Select Key Attributes</a:t>
            </a:r>
            <a:endParaRPr kumimoji="0" lang="en-IN" sz="1400" b="0" i="0" u="none" strike="noStrike" kern="0" cap="none" spc="0" normalizeH="0" baseline="0" noProof="0">
              <a:ln>
                <a:noFill/>
              </a:ln>
              <a:solidFill>
                <a:srgbClr val="000000"/>
              </a:solidFill>
              <a:effectLst/>
              <a:uLnTx/>
              <a:uFillTx/>
              <a:latin typeface="Arial"/>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pl-PL"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sp>
        <p:nvSpPr>
          <p:cNvPr id="29" name="Google Shape;1582;p40">
            <a:extLst>
              <a:ext uri="{FF2B5EF4-FFF2-40B4-BE49-F238E27FC236}">
                <a16:creationId xmlns:a16="http://schemas.microsoft.com/office/drawing/2014/main" id="{394E0CD7-91AB-44B1-BB3E-6DE61301D640}"/>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n - No. of HCPs | </a:t>
            </a:r>
            <a:r>
              <a:rPr kumimoji="0" lang="en-US" sz="900" b="0" i="0" u="none" strike="noStrike" kern="0" cap="none" spc="0" normalizeH="0" baseline="30000" noProof="0">
                <a:ln>
                  <a:noFill/>
                </a:ln>
                <a:solidFill>
                  <a:srgbClr val="001D49"/>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Asked to HCPs who reported In-Person / virtual rep details |     Statistically significant (p&lt;.05) difference between CREON &amp; ZENPEP |     Statistically significant (p&lt;.05) difference between recent waves</a:t>
            </a:r>
            <a:endParaRPr kumimoji="0" lang="en-US" sz="900" b="0" i="0" u="none" strike="noStrike" kern="0" cap="none" spc="0" normalizeH="0" baseline="0" noProof="0">
              <a:ln>
                <a:noFill/>
              </a:ln>
              <a:solidFill>
                <a:prstClr val="white"/>
              </a:solidFill>
              <a:effectLst/>
              <a:uLnTx/>
              <a:uFillTx/>
              <a:latin typeface="Arial"/>
              <a:ea typeface="Calibri"/>
              <a:cs typeface="Calibri"/>
              <a:sym typeface="Arial"/>
            </a:endParaRPr>
          </a:p>
        </p:txBody>
      </p:sp>
      <p:grpSp>
        <p:nvGrpSpPr>
          <p:cNvPr id="35" name="Google Shape;762;p18">
            <a:extLst>
              <a:ext uri="{FF2B5EF4-FFF2-40B4-BE49-F238E27FC236}">
                <a16:creationId xmlns:a16="http://schemas.microsoft.com/office/drawing/2014/main" id="{5E6184E9-69D7-5BF3-6174-2FED03985532}"/>
              </a:ext>
            </a:extLst>
          </p:cNvPr>
          <p:cNvGrpSpPr/>
          <p:nvPr/>
        </p:nvGrpSpPr>
        <p:grpSpPr>
          <a:xfrm>
            <a:off x="7288430" y="1052600"/>
            <a:ext cx="1724109" cy="246181"/>
            <a:chOff x="4463437" y="6228283"/>
            <a:chExt cx="1724109" cy="246181"/>
          </a:xfrm>
        </p:grpSpPr>
        <p:sp>
          <p:nvSpPr>
            <p:cNvPr id="45" name="Google Shape;763;p18">
              <a:extLst>
                <a:ext uri="{FF2B5EF4-FFF2-40B4-BE49-F238E27FC236}">
                  <a16:creationId xmlns:a16="http://schemas.microsoft.com/office/drawing/2014/main" id="{D353D6CB-F451-7F6F-AC7B-D64C939216A9}"/>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6" name="Google Shape;764;p18">
              <a:extLst>
                <a:ext uri="{FF2B5EF4-FFF2-40B4-BE49-F238E27FC236}">
                  <a16:creationId xmlns:a16="http://schemas.microsoft.com/office/drawing/2014/main" id="{F32F3E59-CC1B-902D-AC6F-0CE9DA477C18}"/>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7" name="Google Shape;765;p18">
              <a:extLst>
                <a:ext uri="{FF2B5EF4-FFF2-40B4-BE49-F238E27FC236}">
                  <a16:creationId xmlns:a16="http://schemas.microsoft.com/office/drawing/2014/main" id="{695633CB-A63C-6940-1683-E3D2129CC34C}"/>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8" name="Google Shape;766;p18">
              <a:extLst>
                <a:ext uri="{FF2B5EF4-FFF2-40B4-BE49-F238E27FC236}">
                  <a16:creationId xmlns:a16="http://schemas.microsoft.com/office/drawing/2014/main" id="{D5B8A7D6-5773-B024-EBB6-103C28F7DBFB}"/>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grpSp>
      <p:graphicFrame>
        <p:nvGraphicFramePr>
          <p:cNvPr id="9" name="Overall quality of the Rep’s interaction">
            <a:extLst>
              <a:ext uri="{FF2B5EF4-FFF2-40B4-BE49-F238E27FC236}">
                <a16:creationId xmlns:a16="http://schemas.microsoft.com/office/drawing/2014/main" id="{ED4F58FB-C1CC-527A-94C4-5B7A1CAAA598}"/>
              </a:ext>
            </a:extLst>
          </p:cNvPr>
          <p:cNvGraphicFramePr/>
          <p:nvPr>
            <p:custDataLst>
              <p:tags r:id="rId3"/>
            </p:custDataLst>
          </p:nvPr>
        </p:nvGraphicFramePr>
        <p:xfrm>
          <a:off x="3189560" y="1889945"/>
          <a:ext cx="4960925" cy="684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0" name="Rep's knowledge">
            <a:extLst>
              <a:ext uri="{FF2B5EF4-FFF2-40B4-BE49-F238E27FC236}">
                <a16:creationId xmlns:a16="http://schemas.microsoft.com/office/drawing/2014/main" id="{6F473846-9A86-A107-94CE-4A1C9E262570}"/>
              </a:ext>
            </a:extLst>
          </p:cNvPr>
          <p:cNvGraphicFramePr/>
          <p:nvPr>
            <p:custDataLst>
              <p:tags r:id="rId4"/>
            </p:custDataLst>
          </p:nvPr>
        </p:nvGraphicFramePr>
        <p:xfrm>
          <a:off x="3189560" y="3248583"/>
          <a:ext cx="4960925" cy="684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2" name="Rep Preparedness">
            <a:extLst>
              <a:ext uri="{FF2B5EF4-FFF2-40B4-BE49-F238E27FC236}">
                <a16:creationId xmlns:a16="http://schemas.microsoft.com/office/drawing/2014/main" id="{A9FD0825-9C9A-73BB-F36E-22B9E7341F87}"/>
              </a:ext>
            </a:extLst>
          </p:cNvPr>
          <p:cNvGraphicFramePr/>
          <p:nvPr>
            <p:custDataLst>
              <p:tags r:id="rId5"/>
            </p:custDataLst>
          </p:nvPr>
        </p:nvGraphicFramePr>
        <p:xfrm>
          <a:off x="3189560" y="2569264"/>
          <a:ext cx="4960925" cy="684000"/>
        </p:xfrm>
        <a:graphic>
          <a:graphicData uri="http://schemas.openxmlformats.org/drawingml/2006/chart">
            <c:chart xmlns:c="http://schemas.openxmlformats.org/drawingml/2006/chart" xmlns:r="http://schemas.openxmlformats.org/officeDocument/2006/relationships" r:id="rId14"/>
          </a:graphicData>
        </a:graphic>
      </p:graphicFrame>
      <p:sp>
        <p:nvSpPr>
          <p:cNvPr id="17" name="Google Shape;561;p14">
            <a:extLst>
              <a:ext uri="{FF2B5EF4-FFF2-40B4-BE49-F238E27FC236}">
                <a16:creationId xmlns:a16="http://schemas.microsoft.com/office/drawing/2014/main" id="{B0D40DBC-A106-26B7-A1A4-07C525CC5CFB}"/>
              </a:ext>
            </a:extLst>
          </p:cNvPr>
          <p:cNvSpPr/>
          <p:nvPr/>
        </p:nvSpPr>
        <p:spPr>
          <a:xfrm>
            <a:off x="4029140" y="6152072"/>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 name="Google Shape;561;p14">
            <a:extLst>
              <a:ext uri="{FF2B5EF4-FFF2-40B4-BE49-F238E27FC236}">
                <a16:creationId xmlns:a16="http://schemas.microsoft.com/office/drawing/2014/main" id="{1C4926E3-D240-8BFA-51C4-D36635618401}"/>
              </a:ext>
            </a:extLst>
          </p:cNvPr>
          <p:cNvSpPr/>
          <p:nvPr/>
        </p:nvSpPr>
        <p:spPr>
          <a:xfrm>
            <a:off x="7468423" y="6008564"/>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aphicFrame>
        <p:nvGraphicFramePr>
          <p:cNvPr id="13" name="wave table OCQ">
            <a:extLst>
              <a:ext uri="{FF2B5EF4-FFF2-40B4-BE49-F238E27FC236}">
                <a16:creationId xmlns:a16="http://schemas.microsoft.com/office/drawing/2014/main" id="{6DA98CBE-D60C-FE87-8FF1-EA9BB257B914}"/>
              </a:ext>
            </a:extLst>
          </p:cNvPr>
          <p:cNvGraphicFramePr>
            <a:graphicFrameLocks noGrp="1"/>
          </p:cNvGraphicFramePr>
          <p:nvPr>
            <p:custDataLst>
              <p:tags r:id="rId6"/>
            </p:custDataLst>
          </p:nvPr>
        </p:nvGraphicFramePr>
        <p:xfrm>
          <a:off x="3323807" y="1507167"/>
          <a:ext cx="4610256" cy="274320"/>
        </p:xfrm>
        <a:graphic>
          <a:graphicData uri="http://schemas.openxmlformats.org/drawingml/2006/table">
            <a:tbl>
              <a:tblPr firstRow="1" bandRow="1">
                <a:tableStyleId>{B301B821-A1FF-4177-AEE7-76D212191A09}</a:tableStyleId>
              </a:tblPr>
              <a:tblGrid>
                <a:gridCol w="768376">
                  <a:extLst>
                    <a:ext uri="{9D8B030D-6E8A-4147-A177-3AD203B41FA5}">
                      <a16:colId xmlns:a16="http://schemas.microsoft.com/office/drawing/2014/main" val="3554599800"/>
                    </a:ext>
                  </a:extLst>
                </a:gridCol>
                <a:gridCol w="768376">
                  <a:extLst>
                    <a:ext uri="{9D8B030D-6E8A-4147-A177-3AD203B41FA5}">
                      <a16:colId xmlns:a16="http://schemas.microsoft.com/office/drawing/2014/main" val="2914776207"/>
                    </a:ext>
                  </a:extLst>
                </a:gridCol>
                <a:gridCol w="768376">
                  <a:extLst>
                    <a:ext uri="{9D8B030D-6E8A-4147-A177-3AD203B41FA5}">
                      <a16:colId xmlns:a16="http://schemas.microsoft.com/office/drawing/2014/main" val="2088702262"/>
                    </a:ext>
                  </a:extLst>
                </a:gridCol>
                <a:gridCol w="768376">
                  <a:extLst>
                    <a:ext uri="{9D8B030D-6E8A-4147-A177-3AD203B41FA5}">
                      <a16:colId xmlns:a16="http://schemas.microsoft.com/office/drawing/2014/main" val="192097877"/>
                    </a:ext>
                  </a:extLst>
                </a:gridCol>
                <a:gridCol w="768376">
                  <a:extLst>
                    <a:ext uri="{9D8B030D-6E8A-4147-A177-3AD203B41FA5}">
                      <a16:colId xmlns:a16="http://schemas.microsoft.com/office/drawing/2014/main" val="1326389649"/>
                    </a:ext>
                  </a:extLst>
                </a:gridCol>
                <a:gridCol w="768376">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7" name="Smooth Interaction">
            <a:extLst>
              <a:ext uri="{FF2B5EF4-FFF2-40B4-BE49-F238E27FC236}">
                <a16:creationId xmlns:a16="http://schemas.microsoft.com/office/drawing/2014/main" id="{A1FDA1A9-FA4A-9707-557D-9CF70869C292}"/>
              </a:ext>
            </a:extLst>
          </p:cNvPr>
          <p:cNvGraphicFramePr/>
          <p:nvPr>
            <p:custDataLst>
              <p:tags r:id="rId7"/>
            </p:custDataLst>
          </p:nvPr>
        </p:nvGraphicFramePr>
        <p:xfrm>
          <a:off x="3200951" y="3927902"/>
          <a:ext cx="4960925" cy="684000"/>
        </p:xfrm>
        <a:graphic>
          <a:graphicData uri="http://schemas.openxmlformats.org/drawingml/2006/chart">
            <c:chart xmlns:c="http://schemas.openxmlformats.org/drawingml/2006/chart" xmlns:r="http://schemas.openxmlformats.org/officeDocument/2006/relationships" r:id="rId15"/>
          </a:graphicData>
        </a:graphic>
      </p:graphicFrame>
      <p:sp>
        <p:nvSpPr>
          <p:cNvPr id="11" name="TextBox 10">
            <a:extLst>
              <a:ext uri="{FF2B5EF4-FFF2-40B4-BE49-F238E27FC236}">
                <a16:creationId xmlns:a16="http://schemas.microsoft.com/office/drawing/2014/main" id="{9E93EB92-5562-0555-9E31-FB0483014575}"/>
              </a:ext>
            </a:extLst>
          </p:cNvPr>
          <p:cNvSpPr txBox="1"/>
          <p:nvPr/>
        </p:nvSpPr>
        <p:spPr>
          <a:xfrm>
            <a:off x="140951" y="1612947"/>
            <a:ext cx="3049439"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graphicFrame>
        <p:nvGraphicFramePr>
          <p:cNvPr id="20" name="Understanding insurance coverage / Access">
            <a:extLst>
              <a:ext uri="{FF2B5EF4-FFF2-40B4-BE49-F238E27FC236}">
                <a16:creationId xmlns:a16="http://schemas.microsoft.com/office/drawing/2014/main" id="{1A7A87F5-1BEF-23D9-3706-16A94E9813D7}"/>
              </a:ext>
            </a:extLst>
          </p:cNvPr>
          <p:cNvGraphicFramePr/>
          <p:nvPr>
            <p:custDataLst>
              <p:tags r:id="rId8"/>
            </p:custDataLst>
          </p:nvPr>
        </p:nvGraphicFramePr>
        <p:xfrm>
          <a:off x="3189560" y="4595536"/>
          <a:ext cx="4960925" cy="68400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4" name="Table 3">
            <a:extLst>
              <a:ext uri="{FF2B5EF4-FFF2-40B4-BE49-F238E27FC236}">
                <a16:creationId xmlns:a16="http://schemas.microsoft.com/office/drawing/2014/main" id="{63E9E44C-7053-3897-7C5E-F685D5CFC430}"/>
              </a:ext>
            </a:extLst>
          </p:cNvPr>
          <p:cNvGraphicFramePr>
            <a:graphicFrameLocks noGrp="1"/>
          </p:cNvGraphicFramePr>
          <p:nvPr/>
        </p:nvGraphicFramePr>
        <p:xfrm>
          <a:off x="7989665" y="1408732"/>
          <a:ext cx="1088554" cy="4485649"/>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300658">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7969">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67283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67283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67283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67283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672837">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672837">
                <a:tc>
                  <a:txBody>
                    <a:bodyPr/>
                    <a:lstStyle/>
                    <a:p>
                      <a:pPr algn="ct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endParaRPr lang="en-IN"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bl>
          </a:graphicData>
        </a:graphic>
      </p:graphicFrame>
      <p:sp>
        <p:nvSpPr>
          <p:cNvPr id="15" name="TextBox 14">
            <a:extLst>
              <a:ext uri="{FF2B5EF4-FFF2-40B4-BE49-F238E27FC236}">
                <a16:creationId xmlns:a16="http://schemas.microsoft.com/office/drawing/2014/main" id="{A6BE0882-8073-658A-E440-3B634324B8FA}"/>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17"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
        <p:nvSpPr>
          <p:cNvPr id="25" name="Google Shape;561;p14">
            <a:extLst>
              <a:ext uri="{FF2B5EF4-FFF2-40B4-BE49-F238E27FC236}">
                <a16:creationId xmlns:a16="http://schemas.microsoft.com/office/drawing/2014/main" id="{BDAA626C-5D15-9203-1060-BA709892FF60}"/>
              </a:ext>
            </a:extLst>
          </p:cNvPr>
          <p:cNvSpPr/>
          <p:nvPr/>
        </p:nvSpPr>
        <p:spPr>
          <a:xfrm>
            <a:off x="6249560" y="1921509"/>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561;p14">
            <a:extLst>
              <a:ext uri="{FF2B5EF4-FFF2-40B4-BE49-F238E27FC236}">
                <a16:creationId xmlns:a16="http://schemas.microsoft.com/office/drawing/2014/main" id="{41D25260-5F2A-2D42-75C7-CEE56B5B3957}"/>
              </a:ext>
            </a:extLst>
          </p:cNvPr>
          <p:cNvSpPr/>
          <p:nvPr/>
        </p:nvSpPr>
        <p:spPr>
          <a:xfrm>
            <a:off x="6249560" y="2610897"/>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561;p14">
            <a:extLst>
              <a:ext uri="{FF2B5EF4-FFF2-40B4-BE49-F238E27FC236}">
                <a16:creationId xmlns:a16="http://schemas.microsoft.com/office/drawing/2014/main" id="{AF07DF95-D0FD-D426-9C27-37111BD87E18}"/>
              </a:ext>
            </a:extLst>
          </p:cNvPr>
          <p:cNvSpPr/>
          <p:nvPr/>
        </p:nvSpPr>
        <p:spPr>
          <a:xfrm>
            <a:off x="6249560" y="3980691"/>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561;p14">
            <a:extLst>
              <a:ext uri="{FF2B5EF4-FFF2-40B4-BE49-F238E27FC236}">
                <a16:creationId xmlns:a16="http://schemas.microsoft.com/office/drawing/2014/main" id="{CB7F536D-1674-70A2-37B4-C72ED9C9C140}"/>
              </a:ext>
            </a:extLst>
          </p:cNvPr>
          <p:cNvSpPr/>
          <p:nvPr/>
        </p:nvSpPr>
        <p:spPr>
          <a:xfrm>
            <a:off x="3874937" y="4658082"/>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cs typeface="Arial"/>
                <a:sym typeface="Arial"/>
              </a:rPr>
              <a:t>S</a:t>
            </a: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934514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2DAE64D0-0361-DAB2-24DE-9BA424EE1C3A}"/>
            </a:ext>
          </a:extLst>
        </p:cNvPr>
        <p:cNvGrpSpPr/>
        <p:nvPr/>
      </p:nvGrpSpPr>
      <p:grpSpPr>
        <a:xfrm>
          <a:off x="0" y="0"/>
          <a:ext cx="0" cy="0"/>
          <a:chOff x="0" y="0"/>
          <a:chExt cx="0" cy="0"/>
        </a:xfrm>
      </p:grpSpPr>
      <p:sp>
        <p:nvSpPr>
          <p:cNvPr id="8" name="Google Shape;573;p15">
            <a:extLst>
              <a:ext uri="{FF2B5EF4-FFF2-40B4-BE49-F238E27FC236}">
                <a16:creationId xmlns:a16="http://schemas.microsoft.com/office/drawing/2014/main" id="{7F9FCDE0-5EA5-E71D-A514-EBE496D22EB0}"/>
              </a:ext>
            </a:extLst>
          </p:cNvPr>
          <p:cNvSpPr/>
          <p:nvPr/>
        </p:nvSpPr>
        <p:spPr>
          <a:xfrm>
            <a:off x="2152951" y="701476"/>
            <a:ext cx="4838099"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a:t>
            </a:r>
            <a:b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b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pl-PL"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graphicFrame>
        <p:nvGraphicFramePr>
          <p:cNvPr id="1360" name="Google Shape;303;p8">
            <a:extLst>
              <a:ext uri="{FF2B5EF4-FFF2-40B4-BE49-F238E27FC236}">
                <a16:creationId xmlns:a16="http://schemas.microsoft.com/office/drawing/2014/main" id="{FCC23E27-62CE-C3E8-96AB-09ACD527780F}"/>
              </a:ext>
            </a:extLst>
          </p:cNvPr>
          <p:cNvGraphicFramePr/>
          <p:nvPr>
            <p:custDataLst>
              <p:tags r:id="rId1"/>
            </p:custDataLst>
          </p:nvPr>
        </p:nvGraphicFramePr>
        <p:xfrm>
          <a:off x="140951" y="1580995"/>
          <a:ext cx="3497918" cy="3932418"/>
        </p:xfrm>
        <a:graphic>
          <a:graphicData uri="http://schemas.openxmlformats.org/drawingml/2006/table">
            <a:tbl>
              <a:tblPr>
                <a:noFill/>
              </a:tblPr>
              <a:tblGrid>
                <a:gridCol w="3497918">
                  <a:extLst>
                    <a:ext uri="{9D8B030D-6E8A-4147-A177-3AD203B41FA5}">
                      <a16:colId xmlns:a16="http://schemas.microsoft.com/office/drawing/2014/main" val="20000"/>
                    </a:ext>
                  </a:extLst>
                </a:gridCol>
              </a:tblGrid>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How well the rep performed in discussing </a:t>
                      </a:r>
                      <a:r>
                        <a:rPr lang="en-US" sz="1100" b="1" i="0" u="none" strike="noStrike" kern="1200">
                          <a:solidFill>
                            <a:srgbClr val="071D49"/>
                          </a:solidFill>
                          <a:effectLst/>
                          <a:latin typeface="Arial" panose="020B0604020202020204" pitchFamily="34" charset="0"/>
                          <a:ea typeface="+mn-ea"/>
                          <a:cs typeface="+mn-cs"/>
                        </a:rPr>
                        <a:t>efficacy</a:t>
                      </a:r>
                      <a:r>
                        <a:rPr lang="en-US" sz="1100" b="0" i="0" u="none" strike="noStrike" kern="1200">
                          <a:solidFill>
                            <a:srgbClr val="071D49"/>
                          </a:solidFill>
                          <a:effectLst/>
                          <a:latin typeface="Arial" panose="020B0604020202020204" pitchFamily="34" charset="0"/>
                          <a:ea typeface="+mn-ea"/>
                          <a:cs typeface="+mn-cs"/>
                        </a:rPr>
                        <a:t> for CREON</a:t>
                      </a:r>
                    </a:p>
                  </a:txBody>
                  <a:tcPr marL="76200" marR="6350" marT="6350" marB="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707069353"/>
                  </a:ext>
                </a:extLst>
              </a:tr>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How well the rep performed on providing </a:t>
                      </a:r>
                      <a:r>
                        <a:rPr lang="en-US" sz="1100" b="1" i="0" u="none" strike="noStrike" kern="1200">
                          <a:solidFill>
                            <a:srgbClr val="071D49"/>
                          </a:solidFill>
                          <a:effectLst/>
                          <a:latin typeface="Arial" panose="020B0604020202020204" pitchFamily="34" charset="0"/>
                          <a:ea typeface="+mn-ea"/>
                          <a:cs typeface="+mn-cs"/>
                        </a:rPr>
                        <a:t>credible support</a:t>
                      </a:r>
                      <a:r>
                        <a:rPr lang="en-US" sz="1100" b="0" i="0" u="none" strike="noStrike" kern="1200">
                          <a:solidFill>
                            <a:srgbClr val="071D49"/>
                          </a:solidFill>
                          <a:effectLst/>
                          <a:latin typeface="Arial" panose="020B0604020202020204" pitchFamily="34" charset="0"/>
                          <a:ea typeface="+mn-ea"/>
                          <a:cs typeface="+mn-cs"/>
                        </a:rPr>
                        <a:t> for product claims</a:t>
                      </a:r>
                    </a:p>
                  </a:txBody>
                  <a:tcPr marL="76200" marR="6350" marT="6350" marB="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622309934"/>
                  </a:ext>
                </a:extLst>
              </a:tr>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The rep’s </a:t>
                      </a:r>
                      <a:r>
                        <a:rPr lang="en-US" sz="1100" b="1" i="0" u="none" strike="noStrike" kern="1200">
                          <a:solidFill>
                            <a:srgbClr val="071D49"/>
                          </a:solidFill>
                          <a:effectLst/>
                          <a:latin typeface="Arial" panose="020B0604020202020204" pitchFamily="34" charset="0"/>
                          <a:ea typeface="+mn-ea"/>
                          <a:cs typeface="+mn-cs"/>
                        </a:rPr>
                        <a:t>knowledge</a:t>
                      </a:r>
                      <a:r>
                        <a:rPr lang="en-US" sz="1100" b="0" i="0" u="none" strike="noStrike" kern="1200">
                          <a:solidFill>
                            <a:srgbClr val="071D49"/>
                          </a:solidFill>
                          <a:effectLst/>
                          <a:latin typeface="Arial" panose="020B0604020202020204" pitchFamily="34" charset="0"/>
                          <a:ea typeface="+mn-ea"/>
                          <a:cs typeface="+mn-cs"/>
                        </a:rPr>
                        <a:t> of EPI and its associated illnesses</a:t>
                      </a:r>
                    </a:p>
                  </a:txBody>
                  <a:tcPr marL="76200" marR="6350" marT="6350" marB="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907779933"/>
                  </a:ext>
                </a:extLst>
              </a:tr>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How well the rep explained </a:t>
                      </a:r>
                      <a:r>
                        <a:rPr lang="en-US" sz="1100" b="1" i="0" u="none" strike="noStrike" kern="1200">
                          <a:solidFill>
                            <a:srgbClr val="071D49"/>
                          </a:solidFill>
                          <a:effectLst/>
                          <a:latin typeface="Arial" panose="020B0604020202020204" pitchFamily="34" charset="0"/>
                          <a:ea typeface="+mn-ea"/>
                          <a:cs typeface="+mn-cs"/>
                        </a:rPr>
                        <a:t>dosing guidelines </a:t>
                      </a:r>
                      <a:r>
                        <a:rPr lang="en-US" sz="1100" b="0" i="0" u="none" strike="noStrike" kern="1200">
                          <a:solidFill>
                            <a:srgbClr val="071D49"/>
                          </a:solidFill>
                          <a:effectLst/>
                          <a:latin typeface="Arial" panose="020B0604020202020204" pitchFamily="34" charset="0"/>
                          <a:ea typeface="+mn-ea"/>
                          <a:cs typeface="+mn-cs"/>
                        </a:rPr>
                        <a:t>and </a:t>
                      </a:r>
                      <a:r>
                        <a:rPr lang="en-US" sz="1100" b="1" i="0" u="none" strike="noStrike" kern="1200">
                          <a:solidFill>
                            <a:srgbClr val="071D49"/>
                          </a:solidFill>
                          <a:effectLst/>
                          <a:latin typeface="Arial" panose="020B0604020202020204" pitchFamily="34" charset="0"/>
                          <a:ea typeface="+mn-ea"/>
                          <a:cs typeface="+mn-cs"/>
                        </a:rPr>
                        <a:t>considerations</a:t>
                      </a:r>
                      <a:r>
                        <a:rPr lang="en-US" sz="1100" b="0" i="0" u="none" strike="noStrike" kern="1200">
                          <a:solidFill>
                            <a:srgbClr val="071D49"/>
                          </a:solidFill>
                          <a:effectLst/>
                          <a:latin typeface="Arial" panose="020B0604020202020204" pitchFamily="34" charset="0"/>
                          <a:ea typeface="+mn-ea"/>
                          <a:cs typeface="+mn-cs"/>
                        </a:rPr>
                        <a:t> for CREON</a:t>
                      </a:r>
                    </a:p>
                  </a:txBody>
                  <a:tcPr marL="76200" marR="6350" marT="6350" marB="0" anchor="ctr">
                    <a:lnL w="12700" cap="flat" cmpd="sng">
                      <a:noFill/>
                      <a:prstDash val="solid"/>
                      <a:round/>
                      <a:headEnd type="none" w="sm" len="sm"/>
                      <a:tailEnd type="none" w="sm" len="sm"/>
                    </a:lnL>
                    <a:lnR w="12700" cap="flat" cmpd="sng">
                      <a:noFill/>
                      <a:prstDash val="solid"/>
                      <a:round/>
                      <a:headEnd type="none" w="sm" len="sm"/>
                      <a:tailEnd type="none" w="sm" len="sm"/>
                    </a:lnR>
                    <a:lnT w="6350" cap="flat" cmpd="sng" algn="ctr">
                      <a:noFill/>
                      <a:prstDash val="dash"/>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1"/>
                  </a:ext>
                </a:extLst>
              </a:tr>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How well the rep performed in discussing </a:t>
                      </a:r>
                      <a:r>
                        <a:rPr lang="en-US" sz="1100" b="1" i="0" u="none" strike="noStrike" kern="1200">
                          <a:solidFill>
                            <a:srgbClr val="071D49"/>
                          </a:solidFill>
                          <a:effectLst/>
                          <a:latin typeface="Arial" panose="020B0604020202020204" pitchFamily="34" charset="0"/>
                          <a:ea typeface="+mn-ea"/>
                          <a:cs typeface="+mn-cs"/>
                        </a:rPr>
                        <a:t>safety</a:t>
                      </a:r>
                      <a:r>
                        <a:rPr lang="en-US" sz="1100" b="0" i="0" u="none" strike="noStrike" kern="1200">
                          <a:solidFill>
                            <a:srgbClr val="071D49"/>
                          </a:solidFill>
                          <a:effectLst/>
                          <a:latin typeface="Arial" panose="020B0604020202020204" pitchFamily="34" charset="0"/>
                          <a:ea typeface="+mn-ea"/>
                          <a:cs typeface="+mn-cs"/>
                        </a:rPr>
                        <a:t> for CREON</a:t>
                      </a:r>
                    </a:p>
                  </a:txBody>
                  <a:tcPr marL="76200" marR="6350" marT="6350" marB="0"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55403">
                <a:tc>
                  <a:txBody>
                    <a:bodyPr/>
                    <a:lstStyle/>
                    <a:p>
                      <a:pPr algn="l" fontAlgn="ctr">
                        <a:buNone/>
                      </a:pPr>
                      <a:r>
                        <a:rPr lang="en-US" sz="1100" b="0" i="0" u="none" strike="noStrike" kern="1200">
                          <a:solidFill>
                            <a:srgbClr val="071D49"/>
                          </a:solidFill>
                          <a:effectLst/>
                          <a:latin typeface="Arial" panose="020B0604020202020204" pitchFamily="34" charset="0"/>
                          <a:ea typeface="+mn-ea"/>
                          <a:cs typeface="+mn-cs"/>
                        </a:rPr>
                        <a:t>How well the rep articulated CREON’s </a:t>
                      </a:r>
                      <a:r>
                        <a:rPr lang="en-US" sz="1100" b="1" i="0" u="none" strike="noStrike" kern="1200">
                          <a:solidFill>
                            <a:srgbClr val="071D49"/>
                          </a:solidFill>
                          <a:effectLst/>
                          <a:latin typeface="Arial" panose="020B0604020202020204" pitchFamily="34" charset="0"/>
                          <a:ea typeface="+mn-ea"/>
                          <a:cs typeface="+mn-cs"/>
                        </a:rPr>
                        <a:t>differentiation</a:t>
                      </a:r>
                      <a:r>
                        <a:rPr lang="en-US" sz="1100" b="0" i="0" u="none" strike="noStrike" kern="1200">
                          <a:solidFill>
                            <a:srgbClr val="071D49"/>
                          </a:solidFill>
                          <a:effectLst/>
                          <a:latin typeface="Arial" panose="020B0604020202020204" pitchFamily="34" charset="0"/>
                          <a:ea typeface="+mn-ea"/>
                          <a:cs typeface="+mn-cs"/>
                        </a:rPr>
                        <a:t> as a treatment for exocrine pancreatic insufficiency</a:t>
                      </a:r>
                    </a:p>
                  </a:txBody>
                  <a:tcPr marL="76200" marR="6350" marT="6350" marB="0"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lgn="ctr">
                      <a:noFill/>
                      <a:prstDash val="solid"/>
                      <a:round/>
                      <a:headEnd type="none" w="sm" len="sm"/>
                      <a:tailEnd type="none" w="sm" len="sm"/>
                    </a:lnT>
                    <a:lnB w="6350" cap="flat" cmpd="sng" algn="ctr">
                      <a:noFill/>
                      <a:prstDash val="sys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419085563"/>
                  </a:ext>
                </a:extLst>
              </a:tr>
            </a:tbl>
          </a:graphicData>
        </a:graphic>
      </p:graphicFrame>
      <p:sp>
        <p:nvSpPr>
          <p:cNvPr id="1361" name="TextBox 1360">
            <a:extLst>
              <a:ext uri="{FF2B5EF4-FFF2-40B4-BE49-F238E27FC236}">
                <a16:creationId xmlns:a16="http://schemas.microsoft.com/office/drawing/2014/main" id="{8B81C160-4E2C-B41D-2819-600435B5DBBE}"/>
              </a:ext>
            </a:extLst>
          </p:cNvPr>
          <p:cNvSpPr txBox="1"/>
          <p:nvPr/>
        </p:nvSpPr>
        <p:spPr>
          <a:xfrm>
            <a:off x="140951" y="1298749"/>
            <a:ext cx="349791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26" name="wave table OCQ">
            <a:extLst>
              <a:ext uri="{FF2B5EF4-FFF2-40B4-BE49-F238E27FC236}">
                <a16:creationId xmlns:a16="http://schemas.microsoft.com/office/drawing/2014/main" id="{69D1A72B-9352-9A4D-66E6-0AE5104F68A7}"/>
              </a:ext>
            </a:extLst>
          </p:cNvPr>
          <p:cNvGraphicFramePr>
            <a:graphicFrameLocks noGrp="1"/>
          </p:cNvGraphicFramePr>
          <p:nvPr>
            <p:custDataLst>
              <p:tags r:id="rId2"/>
            </p:custDataLst>
          </p:nvPr>
        </p:nvGraphicFramePr>
        <p:xfrm>
          <a:off x="3579369" y="1247518"/>
          <a:ext cx="4375470" cy="274320"/>
        </p:xfrm>
        <a:graphic>
          <a:graphicData uri="http://schemas.openxmlformats.org/drawingml/2006/table">
            <a:tbl>
              <a:tblPr firstRow="1" bandRow="1">
                <a:tableStyleId>{B301B821-A1FF-4177-AEE7-76D212191A09}</a:tableStyleId>
              </a:tblPr>
              <a:tblGrid>
                <a:gridCol w="729245">
                  <a:extLst>
                    <a:ext uri="{9D8B030D-6E8A-4147-A177-3AD203B41FA5}">
                      <a16:colId xmlns:a16="http://schemas.microsoft.com/office/drawing/2014/main" val="3554599800"/>
                    </a:ext>
                  </a:extLst>
                </a:gridCol>
                <a:gridCol w="729245">
                  <a:extLst>
                    <a:ext uri="{9D8B030D-6E8A-4147-A177-3AD203B41FA5}">
                      <a16:colId xmlns:a16="http://schemas.microsoft.com/office/drawing/2014/main" val="2914776207"/>
                    </a:ext>
                  </a:extLst>
                </a:gridCol>
                <a:gridCol w="729245">
                  <a:extLst>
                    <a:ext uri="{9D8B030D-6E8A-4147-A177-3AD203B41FA5}">
                      <a16:colId xmlns:a16="http://schemas.microsoft.com/office/drawing/2014/main" val="2088702262"/>
                    </a:ext>
                  </a:extLst>
                </a:gridCol>
                <a:gridCol w="729245">
                  <a:extLst>
                    <a:ext uri="{9D8B030D-6E8A-4147-A177-3AD203B41FA5}">
                      <a16:colId xmlns:a16="http://schemas.microsoft.com/office/drawing/2014/main" val="192097877"/>
                    </a:ext>
                  </a:extLst>
                </a:gridCol>
                <a:gridCol w="729245">
                  <a:extLst>
                    <a:ext uri="{9D8B030D-6E8A-4147-A177-3AD203B41FA5}">
                      <a16:colId xmlns:a16="http://schemas.microsoft.com/office/drawing/2014/main" val="1326389649"/>
                    </a:ext>
                  </a:extLst>
                </a:gridCol>
                <a:gridCol w="729245">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28" name="Table 27">
            <a:extLst>
              <a:ext uri="{FF2B5EF4-FFF2-40B4-BE49-F238E27FC236}">
                <a16:creationId xmlns:a16="http://schemas.microsoft.com/office/drawing/2014/main" id="{1EB40103-E83B-BF53-FB8E-403B96D7DC29}"/>
              </a:ext>
            </a:extLst>
          </p:cNvPr>
          <p:cNvGraphicFramePr>
            <a:graphicFrameLocks noGrp="1"/>
          </p:cNvGraphicFramePr>
          <p:nvPr/>
        </p:nvGraphicFramePr>
        <p:xfrm>
          <a:off x="7989665" y="1149083"/>
          <a:ext cx="1088554" cy="4382275"/>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180000">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250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65836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65836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65836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65836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658368">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658368">
                <a:tc>
                  <a:txBody>
                    <a:bodyPr/>
                    <a:lstStyle/>
                    <a:p>
                      <a:pPr algn="ct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endParaRPr lang="en-IN"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bl>
          </a:graphicData>
        </a:graphic>
      </p:graphicFrame>
      <p:grpSp>
        <p:nvGrpSpPr>
          <p:cNvPr id="42" name="Group 41">
            <a:extLst>
              <a:ext uri="{FF2B5EF4-FFF2-40B4-BE49-F238E27FC236}">
                <a16:creationId xmlns:a16="http://schemas.microsoft.com/office/drawing/2014/main" id="{880B45EB-291A-433C-8A6A-699E15D39DE2}"/>
              </a:ext>
            </a:extLst>
          </p:cNvPr>
          <p:cNvGrpSpPr/>
          <p:nvPr/>
        </p:nvGrpSpPr>
        <p:grpSpPr>
          <a:xfrm>
            <a:off x="902079" y="5950659"/>
            <a:ext cx="7389312" cy="369291"/>
            <a:chOff x="902079" y="5950659"/>
            <a:chExt cx="7389312" cy="369291"/>
          </a:xfrm>
        </p:grpSpPr>
        <p:sp>
          <p:nvSpPr>
            <p:cNvPr id="43" name="Google Shape;1582;p40">
              <a:extLst>
                <a:ext uri="{FF2B5EF4-FFF2-40B4-BE49-F238E27FC236}">
                  <a16:creationId xmlns:a16="http://schemas.microsoft.com/office/drawing/2014/main" id="{F1384713-18BB-8CBC-3EF5-7D2FCECE6D2A}"/>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n - No. of HCPs | </a:t>
              </a:r>
              <a:r>
                <a:rPr kumimoji="0" lang="en-US" sz="900" b="0" i="0" u="none" strike="noStrike" kern="0" cap="none" spc="0" normalizeH="0" baseline="30000" noProof="0">
                  <a:ln>
                    <a:noFill/>
                  </a:ln>
                  <a:solidFill>
                    <a:srgbClr val="001D49"/>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Asked to HCPs who reported In-Person / virtual rep details |     Statistically significant (p&lt;.05) difference between CREON &amp; ZENPEP |     Statistically significant (p&lt;.05) difference between previous waves</a:t>
              </a:r>
              <a:endParaRPr kumimoji="0" lang="en-US" sz="900" b="0" i="0" u="none" strike="noStrike" kern="0" cap="none" spc="0" normalizeH="0" baseline="0" noProof="0">
                <a:ln>
                  <a:noFill/>
                </a:ln>
                <a:solidFill>
                  <a:prstClr val="white"/>
                </a:solidFill>
                <a:effectLst/>
                <a:uLnTx/>
                <a:uFillTx/>
                <a:latin typeface="Arial"/>
                <a:ea typeface="Calibri"/>
                <a:cs typeface="Calibri"/>
                <a:sym typeface="Arial"/>
              </a:endParaRPr>
            </a:p>
          </p:txBody>
        </p:sp>
        <p:sp>
          <p:nvSpPr>
            <p:cNvPr id="44" name="Google Shape;561;p14">
              <a:extLst>
                <a:ext uri="{FF2B5EF4-FFF2-40B4-BE49-F238E27FC236}">
                  <a16:creationId xmlns:a16="http://schemas.microsoft.com/office/drawing/2014/main" id="{F06BFAB2-1D32-8DF8-9AE3-C028BC07AC04}"/>
                </a:ext>
              </a:extLst>
            </p:cNvPr>
            <p:cNvSpPr/>
            <p:nvPr/>
          </p:nvSpPr>
          <p:spPr>
            <a:xfrm>
              <a:off x="4029140" y="6152072"/>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 name="Google Shape;561;p14">
              <a:extLst>
                <a:ext uri="{FF2B5EF4-FFF2-40B4-BE49-F238E27FC236}">
                  <a16:creationId xmlns:a16="http://schemas.microsoft.com/office/drawing/2014/main" id="{9B240D56-D64B-B5D0-7575-4543BA6BDDA5}"/>
                </a:ext>
              </a:extLst>
            </p:cNvPr>
            <p:cNvSpPr/>
            <p:nvPr/>
          </p:nvSpPr>
          <p:spPr>
            <a:xfrm>
              <a:off x="7468423" y="6008564"/>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 name="Google Shape;297;p8">
            <a:extLst>
              <a:ext uri="{FF2B5EF4-FFF2-40B4-BE49-F238E27FC236}">
                <a16:creationId xmlns:a16="http://schemas.microsoft.com/office/drawing/2014/main" id="{5B81B710-5959-ECFB-8246-0E20B7ECD1E5}"/>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CREON’s rep performance increased notably on “dosing guidelines and considerations” and “discussing safety”, while ZENPEP saw declines in “safety” and “rep knowledge”</a:t>
            </a:r>
          </a:p>
        </p:txBody>
      </p:sp>
      <p:graphicFrame>
        <p:nvGraphicFramePr>
          <p:cNvPr id="5" name="Discussing efficacy">
            <a:extLst>
              <a:ext uri="{FF2B5EF4-FFF2-40B4-BE49-F238E27FC236}">
                <a16:creationId xmlns:a16="http://schemas.microsoft.com/office/drawing/2014/main" id="{66FCB8D5-5977-DBF3-C495-26C245A6466E}"/>
              </a:ext>
            </a:extLst>
          </p:cNvPr>
          <p:cNvGraphicFramePr/>
          <p:nvPr>
            <p:custDataLst>
              <p:tags r:id="rId3"/>
            </p:custDataLst>
          </p:nvPr>
        </p:nvGraphicFramePr>
        <p:xfrm>
          <a:off x="3673695" y="1580995"/>
          <a:ext cx="4281144" cy="658368"/>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 name="providing credible support for product claims">
            <a:extLst>
              <a:ext uri="{FF2B5EF4-FFF2-40B4-BE49-F238E27FC236}">
                <a16:creationId xmlns:a16="http://schemas.microsoft.com/office/drawing/2014/main" id="{257F7DEE-1912-50A0-C710-3D9AB99F136E}"/>
              </a:ext>
            </a:extLst>
          </p:cNvPr>
          <p:cNvGraphicFramePr/>
          <p:nvPr>
            <p:custDataLst>
              <p:tags r:id="rId4"/>
            </p:custDataLst>
          </p:nvPr>
        </p:nvGraphicFramePr>
        <p:xfrm>
          <a:off x="3673695" y="2235805"/>
          <a:ext cx="4281144" cy="658368"/>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3" name="knowledge of EPI and its associated">
            <a:extLst>
              <a:ext uri="{FF2B5EF4-FFF2-40B4-BE49-F238E27FC236}">
                <a16:creationId xmlns:a16="http://schemas.microsoft.com/office/drawing/2014/main" id="{26CD2E8E-82A5-A7B1-8AEA-C36FCD984C59}"/>
              </a:ext>
            </a:extLst>
          </p:cNvPr>
          <p:cNvGraphicFramePr/>
          <p:nvPr>
            <p:custDataLst>
              <p:tags r:id="rId5"/>
            </p:custDataLst>
          </p:nvPr>
        </p:nvGraphicFramePr>
        <p:xfrm>
          <a:off x="3673695" y="2890615"/>
          <a:ext cx="4281144" cy="658368"/>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5" name="dosing guidelines and considerations">
            <a:extLst>
              <a:ext uri="{FF2B5EF4-FFF2-40B4-BE49-F238E27FC236}">
                <a16:creationId xmlns:a16="http://schemas.microsoft.com/office/drawing/2014/main" id="{75193904-B4CE-4BB7-154B-4799D350208E}"/>
              </a:ext>
            </a:extLst>
          </p:cNvPr>
          <p:cNvGraphicFramePr/>
          <p:nvPr>
            <p:custDataLst>
              <p:tags r:id="rId6"/>
            </p:custDataLst>
          </p:nvPr>
        </p:nvGraphicFramePr>
        <p:xfrm>
          <a:off x="3673695" y="3545425"/>
          <a:ext cx="4281144" cy="658368"/>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6" name="discussing safety">
            <a:extLst>
              <a:ext uri="{FF2B5EF4-FFF2-40B4-BE49-F238E27FC236}">
                <a16:creationId xmlns:a16="http://schemas.microsoft.com/office/drawing/2014/main" id="{B5FFD38F-F5A8-F5B4-A901-D7C3397E34AD}"/>
              </a:ext>
            </a:extLst>
          </p:cNvPr>
          <p:cNvGraphicFramePr/>
          <p:nvPr>
            <p:custDataLst>
              <p:tags r:id="rId7"/>
            </p:custDataLst>
          </p:nvPr>
        </p:nvGraphicFramePr>
        <p:xfrm>
          <a:off x="3673695" y="4200235"/>
          <a:ext cx="4281144" cy="658368"/>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7" name="articulated CREON’s differentiation">
            <a:extLst>
              <a:ext uri="{FF2B5EF4-FFF2-40B4-BE49-F238E27FC236}">
                <a16:creationId xmlns:a16="http://schemas.microsoft.com/office/drawing/2014/main" id="{62B26461-2B18-CECB-C50C-C438B7D98193}"/>
              </a:ext>
            </a:extLst>
          </p:cNvPr>
          <p:cNvGraphicFramePr/>
          <p:nvPr>
            <p:custDataLst>
              <p:tags r:id="rId8"/>
            </p:custDataLst>
          </p:nvPr>
        </p:nvGraphicFramePr>
        <p:xfrm>
          <a:off x="3673695" y="4855045"/>
          <a:ext cx="4281144" cy="658368"/>
        </p:xfrm>
        <a:graphic>
          <a:graphicData uri="http://schemas.openxmlformats.org/drawingml/2006/chart">
            <c:chart xmlns:c="http://schemas.openxmlformats.org/drawingml/2006/chart" xmlns:r="http://schemas.openxmlformats.org/officeDocument/2006/relationships" r:id="rId16"/>
          </a:graphicData>
        </a:graphic>
      </p:graphicFrame>
      <p:sp>
        <p:nvSpPr>
          <p:cNvPr id="4" name="Google Shape;310;p8">
            <a:extLst>
              <a:ext uri="{FF2B5EF4-FFF2-40B4-BE49-F238E27FC236}">
                <a16:creationId xmlns:a16="http://schemas.microsoft.com/office/drawing/2014/main" id="{7B40A12C-131E-7C49-BC98-86618D1B86C9}"/>
              </a:ext>
            </a:extLst>
          </p:cNvPr>
          <p:cNvSpPr/>
          <p:nvPr/>
        </p:nvSpPr>
        <p:spPr>
          <a:xfrm>
            <a:off x="4847073" y="5481654"/>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 (Rating 6, 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grpSp>
        <p:nvGrpSpPr>
          <p:cNvPr id="6" name="Google Shape;762;p18">
            <a:extLst>
              <a:ext uri="{FF2B5EF4-FFF2-40B4-BE49-F238E27FC236}">
                <a16:creationId xmlns:a16="http://schemas.microsoft.com/office/drawing/2014/main" id="{4211B2C5-1EBC-7951-C372-A7FD3BDD3FC2}"/>
              </a:ext>
            </a:extLst>
          </p:cNvPr>
          <p:cNvGrpSpPr/>
          <p:nvPr/>
        </p:nvGrpSpPr>
        <p:grpSpPr>
          <a:xfrm>
            <a:off x="7419891" y="865121"/>
            <a:ext cx="1724109" cy="246181"/>
            <a:chOff x="4463437" y="6228283"/>
            <a:chExt cx="1724109" cy="246181"/>
          </a:xfrm>
        </p:grpSpPr>
        <p:sp>
          <p:nvSpPr>
            <p:cNvPr id="19" name="Google Shape;763;p18">
              <a:extLst>
                <a:ext uri="{FF2B5EF4-FFF2-40B4-BE49-F238E27FC236}">
                  <a16:creationId xmlns:a16="http://schemas.microsoft.com/office/drawing/2014/main" id="{FC8B4175-DB04-78B9-B262-51E2FA9EA805}"/>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0" name="Google Shape;764;p18">
              <a:extLst>
                <a:ext uri="{FF2B5EF4-FFF2-40B4-BE49-F238E27FC236}">
                  <a16:creationId xmlns:a16="http://schemas.microsoft.com/office/drawing/2014/main" id="{07CE1C7A-927D-ED41-0C83-0028AFF59EF6}"/>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1" name="Google Shape;765;p18">
              <a:extLst>
                <a:ext uri="{FF2B5EF4-FFF2-40B4-BE49-F238E27FC236}">
                  <a16:creationId xmlns:a16="http://schemas.microsoft.com/office/drawing/2014/main" id="{A78183DD-EC22-F324-F18D-0565B3E6F3C8}"/>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2" name="Google Shape;766;p18">
              <a:extLst>
                <a:ext uri="{FF2B5EF4-FFF2-40B4-BE49-F238E27FC236}">
                  <a16:creationId xmlns:a16="http://schemas.microsoft.com/office/drawing/2014/main" id="{587109ED-CEEF-9C21-D44B-6D255A293AB6}"/>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grpSp>
      <p:sp>
        <p:nvSpPr>
          <p:cNvPr id="37" name="Google Shape;561;p14">
            <a:extLst>
              <a:ext uri="{FF2B5EF4-FFF2-40B4-BE49-F238E27FC236}">
                <a16:creationId xmlns:a16="http://schemas.microsoft.com/office/drawing/2014/main" id="{C567ADB2-9B75-4848-AF13-80DB1F6F58CD}"/>
              </a:ext>
            </a:extLst>
          </p:cNvPr>
          <p:cNvSpPr/>
          <p:nvPr/>
        </p:nvSpPr>
        <p:spPr>
          <a:xfrm>
            <a:off x="7000575" y="3602575"/>
            <a:ext cx="111501" cy="111600"/>
          </a:xfrm>
          <a:prstGeom prst="ellipse">
            <a:avLst/>
          </a:prstGeom>
          <a:solidFill>
            <a:srgbClr val="00B0F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 name="Google Shape;561;p14">
            <a:extLst>
              <a:ext uri="{FF2B5EF4-FFF2-40B4-BE49-F238E27FC236}">
                <a16:creationId xmlns:a16="http://schemas.microsoft.com/office/drawing/2014/main" id="{151B2D73-6A15-C87E-6D51-72FBA36B39F3}"/>
              </a:ext>
            </a:extLst>
          </p:cNvPr>
          <p:cNvSpPr/>
          <p:nvPr/>
        </p:nvSpPr>
        <p:spPr>
          <a:xfrm>
            <a:off x="6318588" y="2366231"/>
            <a:ext cx="111501" cy="111600"/>
          </a:xfrm>
          <a:prstGeom prst="ellips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 name="Highlight#32">
            <a:extLst>
              <a:ext uri="{FF2B5EF4-FFF2-40B4-BE49-F238E27FC236}">
                <a16:creationId xmlns:a16="http://schemas.microsoft.com/office/drawing/2014/main" id="{28403B0C-91AC-21E6-FD1B-A261104F4D52}"/>
              </a:ext>
            </a:extLst>
          </p:cNvPr>
          <p:cNvSpPr txBox="1"/>
          <p:nvPr/>
        </p:nvSpPr>
        <p:spPr>
          <a:xfrm>
            <a:off x="128874" y="3545425"/>
            <a:ext cx="7800532" cy="1309619"/>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41158085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96">
          <a:extLst>
            <a:ext uri="{FF2B5EF4-FFF2-40B4-BE49-F238E27FC236}">
              <a16:creationId xmlns:a16="http://schemas.microsoft.com/office/drawing/2014/main" id="{1D437648-ABCB-C6F4-0DA5-9DF9EF0D904A}"/>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696345F0-DCF7-E839-0636-8EB1A086D775}"/>
              </a:ext>
            </a:extLst>
          </p:cNvPr>
          <p:cNvSpPr/>
          <p:nvPr/>
        </p:nvSpPr>
        <p:spPr>
          <a:xfrm>
            <a:off x="140951" y="1630295"/>
            <a:ext cx="7784056" cy="656599"/>
          </a:xfrm>
          <a:prstGeom prst="rect">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IN" sz="1400" b="0" i="0" u="none" strike="noStrike" kern="0" cap="none" spc="0" normalizeH="0" baseline="0" noProof="0">
              <a:ln>
                <a:noFill/>
              </a:ln>
              <a:solidFill>
                <a:srgbClr val="FFFFFF"/>
              </a:solidFill>
              <a:effectLst/>
              <a:uLnTx/>
              <a:uFillTx/>
              <a:latin typeface="Arial" panose="020B0604020202020204"/>
              <a:ea typeface="+mn-ea"/>
              <a:cs typeface="+mn-cs"/>
              <a:sym typeface="Arial"/>
            </a:endParaRPr>
          </a:p>
        </p:txBody>
      </p:sp>
      <p:graphicFrame>
        <p:nvGraphicFramePr>
          <p:cNvPr id="25" name="Google Shape;303;p8">
            <a:extLst>
              <a:ext uri="{FF2B5EF4-FFF2-40B4-BE49-F238E27FC236}">
                <a16:creationId xmlns:a16="http://schemas.microsoft.com/office/drawing/2014/main" id="{C73FE83D-8A8F-25B8-869B-0F83A71C9B13}"/>
              </a:ext>
            </a:extLst>
          </p:cNvPr>
          <p:cNvGraphicFramePr/>
          <p:nvPr>
            <p:custDataLst>
              <p:tags r:id="rId1"/>
            </p:custDataLst>
          </p:nvPr>
        </p:nvGraphicFramePr>
        <p:xfrm>
          <a:off x="140951" y="1630296"/>
          <a:ext cx="3060000" cy="4004436"/>
        </p:xfrm>
        <a:graphic>
          <a:graphicData uri="http://schemas.openxmlformats.org/drawingml/2006/table">
            <a:tbl>
              <a:tblPr>
                <a:noFill/>
                <a:tableStyleId>{96BACEE3-1A1D-4107-9369-2142449FF59F}</a:tableStyleId>
              </a:tblPr>
              <a:tblGrid>
                <a:gridCol w="3060000">
                  <a:extLst>
                    <a:ext uri="{9D8B030D-6E8A-4147-A177-3AD203B41FA5}">
                      <a16:colId xmlns:a16="http://schemas.microsoft.com/office/drawing/2014/main" val="20000"/>
                    </a:ext>
                  </a:extLst>
                </a:gridCol>
              </a:tblGrid>
              <a:tr h="667406">
                <a:tc>
                  <a:txBody>
                    <a:bodyPr/>
                    <a:lstStyle/>
                    <a:p>
                      <a:pPr marL="0" marR="0" algn="r">
                        <a:lnSpc>
                          <a:spcPct val="115000"/>
                        </a:lnSpc>
                        <a:spcBef>
                          <a:spcPts val="0"/>
                        </a:spcBef>
                        <a:spcAft>
                          <a:spcPts val="0"/>
                        </a:spcAft>
                      </a:pPr>
                      <a:r>
                        <a:rPr lang="en-US" sz="1100" b="1">
                          <a:solidFill>
                            <a:srgbClr val="071D49"/>
                          </a:solidFill>
                          <a:effectLst/>
                          <a:latin typeface="+mj-lt"/>
                          <a:ea typeface="Calibri" panose="020F0502020204030204" pitchFamily="34" charset="0"/>
                        </a:rPr>
                        <a:t>Overall quality of the Rep’s interaction </a:t>
                      </a:r>
                      <a:endParaRPr lang="en-US" sz="1100" b="1">
                        <a:solidFill>
                          <a:srgbClr val="071D49"/>
                        </a:solidFill>
                        <a:effectLst/>
                        <a:latin typeface="+mj-lt"/>
                        <a:ea typeface="Arial" panose="020B0604020202020204" pitchFamily="34" charset="0"/>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rPr>
                        <a:t>The rep’s preparedness</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1"/>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Rep’s</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knowledge</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of the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product</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being discussed</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Arial"/>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The rep’s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ability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to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execute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smooth interaction</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Calibri"/>
                      </a:endParaRPr>
                    </a:p>
                  </a:txBody>
                  <a:tcPr marL="36000" marR="7200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419085563"/>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Understanding</a:t>
                      </a: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insurance coverage </a:t>
                      </a: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a:t>
                      </a: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Access</a:t>
                      </a:r>
                      <a:endPar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19155106"/>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mj-lt"/>
                          <a:ea typeface="Arial"/>
                          <a:cs typeface="Arial"/>
                          <a:sym typeface="Arial"/>
                        </a:rPr>
                        <a:t>Compelling reason to prescribe</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97852835"/>
                  </a:ext>
                </a:extLst>
              </a:tr>
            </a:tbl>
          </a:graphicData>
        </a:graphic>
      </p:graphicFrame>
      <p:sp>
        <p:nvSpPr>
          <p:cNvPr id="9" name="Highlight#32">
            <a:extLst>
              <a:ext uri="{FF2B5EF4-FFF2-40B4-BE49-F238E27FC236}">
                <a16:creationId xmlns:a16="http://schemas.microsoft.com/office/drawing/2014/main" id="{742B7C45-0661-C3A4-6103-2A6B2BD9C39E}"/>
              </a:ext>
            </a:extLst>
          </p:cNvPr>
          <p:cNvSpPr txBox="1"/>
          <p:nvPr/>
        </p:nvSpPr>
        <p:spPr>
          <a:xfrm>
            <a:off x="140951" y="1620191"/>
            <a:ext cx="7812160" cy="642182"/>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7" name="Google Shape;1582;p40">
            <a:extLst>
              <a:ext uri="{FF2B5EF4-FFF2-40B4-BE49-F238E27FC236}">
                <a16:creationId xmlns:a16="http://schemas.microsoft.com/office/drawing/2014/main" id="{81C47083-2A9F-0CCC-176C-4ACBE4719A5A}"/>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n - No. of HCPs | </a:t>
            </a:r>
            <a:r>
              <a:rPr kumimoji="0" lang="en-US" sz="900" b="0" i="0" u="none" strike="noStrike" kern="0" cap="none" spc="0" normalizeH="0" baseline="30000" noProof="0">
                <a:ln>
                  <a:noFill/>
                </a:ln>
                <a:solidFill>
                  <a:srgbClr val="001D49"/>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Asked to HCPs who reported In-Person / virtual rep details | No statistically significant (p&lt;.05) difference between CREON &amp; ZENPEP |     statistically significant (p&lt;.05) difference between recent waves</a:t>
            </a:r>
          </a:p>
        </p:txBody>
      </p:sp>
      <p:sp>
        <p:nvSpPr>
          <p:cNvPr id="310" name="Google Shape;310;p8">
            <a:extLst>
              <a:ext uri="{FF2B5EF4-FFF2-40B4-BE49-F238E27FC236}">
                <a16:creationId xmlns:a16="http://schemas.microsoft.com/office/drawing/2014/main" id="{13E089F4-CB46-96CA-ACF4-44B06778493D}"/>
              </a:ext>
            </a:extLst>
          </p:cNvPr>
          <p:cNvSpPr/>
          <p:nvPr/>
        </p:nvSpPr>
        <p:spPr>
          <a:xfrm>
            <a:off x="4693097" y="5671264"/>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 (Rating 6, 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32" name="Google Shape;573;p15">
            <a:extLst>
              <a:ext uri="{FF2B5EF4-FFF2-40B4-BE49-F238E27FC236}">
                <a16:creationId xmlns:a16="http://schemas.microsoft.com/office/drawing/2014/main" id="{025279A8-96B1-3EB3-3927-DC23FC9F49B5}"/>
              </a:ext>
            </a:extLst>
          </p:cNvPr>
          <p:cNvSpPr/>
          <p:nvPr/>
        </p:nvSpPr>
        <p:spPr>
          <a:xfrm>
            <a:off x="2116357" y="701476"/>
            <a:ext cx="4838099"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Tx/>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on Select Key Attributes – Gastros</a:t>
            </a:r>
            <a:endParaRPr kumimoji="0" lang="en-IN" sz="1400" b="0" i="0"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grpSp>
        <p:nvGrpSpPr>
          <p:cNvPr id="35" name="Google Shape;762;p18">
            <a:extLst>
              <a:ext uri="{FF2B5EF4-FFF2-40B4-BE49-F238E27FC236}">
                <a16:creationId xmlns:a16="http://schemas.microsoft.com/office/drawing/2014/main" id="{F8FEF534-DD25-7498-3D8A-3BD657E002BA}"/>
              </a:ext>
            </a:extLst>
          </p:cNvPr>
          <p:cNvGrpSpPr/>
          <p:nvPr/>
        </p:nvGrpSpPr>
        <p:grpSpPr>
          <a:xfrm>
            <a:off x="7100526" y="691985"/>
            <a:ext cx="1724109" cy="246181"/>
            <a:chOff x="4463437" y="6228283"/>
            <a:chExt cx="1724109" cy="246181"/>
          </a:xfrm>
        </p:grpSpPr>
        <p:sp>
          <p:nvSpPr>
            <p:cNvPr id="45" name="Google Shape;763;p18">
              <a:extLst>
                <a:ext uri="{FF2B5EF4-FFF2-40B4-BE49-F238E27FC236}">
                  <a16:creationId xmlns:a16="http://schemas.microsoft.com/office/drawing/2014/main" id="{550F3413-9893-8506-E092-BD8BD32E1E31}"/>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6" name="Google Shape;764;p18">
              <a:extLst>
                <a:ext uri="{FF2B5EF4-FFF2-40B4-BE49-F238E27FC236}">
                  <a16:creationId xmlns:a16="http://schemas.microsoft.com/office/drawing/2014/main" id="{BE899F36-5D0B-07DA-2382-D4B0F8986FC0}"/>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7" name="Google Shape;765;p18">
              <a:extLst>
                <a:ext uri="{FF2B5EF4-FFF2-40B4-BE49-F238E27FC236}">
                  <a16:creationId xmlns:a16="http://schemas.microsoft.com/office/drawing/2014/main" id="{869570E8-9DC0-E42E-8BEE-7C69A6E2912A}"/>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48" name="Google Shape;766;p18">
              <a:extLst>
                <a:ext uri="{FF2B5EF4-FFF2-40B4-BE49-F238E27FC236}">
                  <a16:creationId xmlns:a16="http://schemas.microsoft.com/office/drawing/2014/main" id="{952502FE-9E9D-CF32-45A4-65CEC7C6C9B9}"/>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grpSp>
      <p:sp>
        <p:nvSpPr>
          <p:cNvPr id="14" name="Google Shape;561;p14">
            <a:extLst>
              <a:ext uri="{FF2B5EF4-FFF2-40B4-BE49-F238E27FC236}">
                <a16:creationId xmlns:a16="http://schemas.microsoft.com/office/drawing/2014/main" id="{F0FCC73C-3197-782E-498F-7B68F91052C9}"/>
              </a:ext>
            </a:extLst>
          </p:cNvPr>
          <p:cNvSpPr/>
          <p:nvPr/>
        </p:nvSpPr>
        <p:spPr>
          <a:xfrm>
            <a:off x="4591800" y="6156524"/>
            <a:ext cx="111501" cy="111600"/>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graphicFrame>
        <p:nvGraphicFramePr>
          <p:cNvPr id="4" name="Overall_Quality_Gastro">
            <a:extLst>
              <a:ext uri="{FF2B5EF4-FFF2-40B4-BE49-F238E27FC236}">
                <a16:creationId xmlns:a16="http://schemas.microsoft.com/office/drawing/2014/main" id="{A9282C01-7F5B-3DF0-7B84-40C0F4330061}"/>
              </a:ext>
            </a:extLst>
          </p:cNvPr>
          <p:cNvGraphicFramePr/>
          <p:nvPr>
            <p:custDataLst>
              <p:tags r:id="rId2"/>
            </p:custDataLst>
          </p:nvPr>
        </p:nvGraphicFramePr>
        <p:xfrm>
          <a:off x="3082115" y="1630296"/>
          <a:ext cx="5156352" cy="648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 name="Gastro Rep Preparedness">
            <a:extLst>
              <a:ext uri="{FF2B5EF4-FFF2-40B4-BE49-F238E27FC236}">
                <a16:creationId xmlns:a16="http://schemas.microsoft.com/office/drawing/2014/main" id="{20ED54ED-5629-8ECB-4AE4-AE29D608ECAE}"/>
              </a:ext>
            </a:extLst>
          </p:cNvPr>
          <p:cNvGraphicFramePr/>
          <p:nvPr>
            <p:custDataLst>
              <p:tags r:id="rId3"/>
            </p:custDataLst>
          </p:nvPr>
        </p:nvGraphicFramePr>
        <p:xfrm>
          <a:off x="3082115" y="2301583"/>
          <a:ext cx="5156352" cy="648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6" name="Understanding_Gastro">
            <a:extLst>
              <a:ext uri="{FF2B5EF4-FFF2-40B4-BE49-F238E27FC236}">
                <a16:creationId xmlns:a16="http://schemas.microsoft.com/office/drawing/2014/main" id="{4FF8B389-1393-10B6-37E5-15FA8EF06363}"/>
              </a:ext>
            </a:extLst>
          </p:cNvPr>
          <p:cNvGraphicFramePr/>
          <p:nvPr>
            <p:custDataLst>
              <p:tags r:id="rId4"/>
            </p:custDataLst>
          </p:nvPr>
        </p:nvGraphicFramePr>
        <p:xfrm>
          <a:off x="3082115" y="4315444"/>
          <a:ext cx="5156352" cy="648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7" name="Compeling_Gastro">
            <a:extLst>
              <a:ext uri="{FF2B5EF4-FFF2-40B4-BE49-F238E27FC236}">
                <a16:creationId xmlns:a16="http://schemas.microsoft.com/office/drawing/2014/main" id="{9272085A-C312-A563-EA29-664DB9FB11D5}"/>
              </a:ext>
            </a:extLst>
          </p:cNvPr>
          <p:cNvGraphicFramePr/>
          <p:nvPr>
            <p:custDataLst>
              <p:tags r:id="rId5"/>
            </p:custDataLst>
          </p:nvPr>
        </p:nvGraphicFramePr>
        <p:xfrm>
          <a:off x="3082115" y="4986732"/>
          <a:ext cx="5156352" cy="648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8" name="Gastro Rep knowledge">
            <a:extLst>
              <a:ext uri="{FF2B5EF4-FFF2-40B4-BE49-F238E27FC236}">
                <a16:creationId xmlns:a16="http://schemas.microsoft.com/office/drawing/2014/main" id="{C0530696-FA8F-8913-B557-1D352A3EA3B7}"/>
              </a:ext>
            </a:extLst>
          </p:cNvPr>
          <p:cNvGraphicFramePr/>
          <p:nvPr>
            <p:custDataLst>
              <p:tags r:id="rId6"/>
            </p:custDataLst>
          </p:nvPr>
        </p:nvGraphicFramePr>
        <p:xfrm>
          <a:off x="3082115" y="2972870"/>
          <a:ext cx="5156352" cy="648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9" name="Gastro Smooth intereaction">
            <a:extLst>
              <a:ext uri="{FF2B5EF4-FFF2-40B4-BE49-F238E27FC236}">
                <a16:creationId xmlns:a16="http://schemas.microsoft.com/office/drawing/2014/main" id="{5628B38C-7864-7F73-1B6B-89C393313F38}"/>
              </a:ext>
            </a:extLst>
          </p:cNvPr>
          <p:cNvGraphicFramePr/>
          <p:nvPr>
            <p:custDataLst>
              <p:tags r:id="rId7"/>
            </p:custDataLst>
          </p:nvPr>
        </p:nvGraphicFramePr>
        <p:xfrm>
          <a:off x="3082115" y="3644157"/>
          <a:ext cx="5156352" cy="64800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5" name="Table 4">
            <a:extLst>
              <a:ext uri="{FF2B5EF4-FFF2-40B4-BE49-F238E27FC236}">
                <a16:creationId xmlns:a16="http://schemas.microsoft.com/office/drawing/2014/main" id="{03EFE74A-76E2-DE21-33E5-769629F1CC15}"/>
              </a:ext>
            </a:extLst>
          </p:cNvPr>
          <p:cNvGraphicFramePr>
            <a:graphicFrameLocks noGrp="1"/>
          </p:cNvGraphicFramePr>
          <p:nvPr/>
        </p:nvGraphicFramePr>
        <p:xfrm>
          <a:off x="7989665" y="1149083"/>
          <a:ext cx="1088554" cy="4320067"/>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180000">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250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64800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bl>
          </a:graphicData>
        </a:graphic>
      </p:graphicFrame>
      <p:sp>
        <p:nvSpPr>
          <p:cNvPr id="10" name="Google Shape;297;p8">
            <a:extLst>
              <a:ext uri="{FF2B5EF4-FFF2-40B4-BE49-F238E27FC236}">
                <a16:creationId xmlns:a16="http://schemas.microsoft.com/office/drawing/2014/main" id="{A7B49360-27EB-A742-51C1-78859F99E83E}"/>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Among Gastros, CREON saw an increase across all the attributes while ZENPEP declined on “rep’s preparedness” and “insurance coverage / access” from last wave  </a:t>
            </a:r>
          </a:p>
        </p:txBody>
      </p:sp>
      <p:sp>
        <p:nvSpPr>
          <p:cNvPr id="12" name="TextBox 11">
            <a:extLst>
              <a:ext uri="{FF2B5EF4-FFF2-40B4-BE49-F238E27FC236}">
                <a16:creationId xmlns:a16="http://schemas.microsoft.com/office/drawing/2014/main" id="{C3F0F4CE-E76F-787E-D14E-05A63F1AE412}"/>
              </a:ext>
            </a:extLst>
          </p:cNvPr>
          <p:cNvSpPr txBox="1"/>
          <p:nvPr/>
        </p:nvSpPr>
        <p:spPr>
          <a:xfrm>
            <a:off x="140951" y="1045676"/>
            <a:ext cx="2451617" cy="261610"/>
          </a:xfrm>
          <a:prstGeom prst="rect">
            <a:avLst/>
          </a:prstGeom>
          <a:noFill/>
          <a:ln w="9525">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hlinkClick r:id="rId17" action="ppaction://hlinksldjump"/>
              </a:rPr>
              <a:t>Link to other – Attributes slide</a:t>
            </a:r>
            <a:endPar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endParaRPr>
          </a:p>
        </p:txBody>
      </p:sp>
      <p:graphicFrame>
        <p:nvGraphicFramePr>
          <p:cNvPr id="24" name="wave table OCQ">
            <a:extLst>
              <a:ext uri="{FF2B5EF4-FFF2-40B4-BE49-F238E27FC236}">
                <a16:creationId xmlns:a16="http://schemas.microsoft.com/office/drawing/2014/main" id="{DC813B85-2D83-80C7-B140-332951F00618}"/>
              </a:ext>
            </a:extLst>
          </p:cNvPr>
          <p:cNvGraphicFramePr>
            <a:graphicFrameLocks noGrp="1"/>
          </p:cNvGraphicFramePr>
          <p:nvPr>
            <p:custDataLst>
              <p:tags r:id="rId8"/>
            </p:custDataLst>
          </p:nvPr>
        </p:nvGraphicFramePr>
        <p:xfrm>
          <a:off x="3323807" y="1247518"/>
          <a:ext cx="4610256" cy="274320"/>
        </p:xfrm>
        <a:graphic>
          <a:graphicData uri="http://schemas.openxmlformats.org/drawingml/2006/table">
            <a:tbl>
              <a:tblPr firstRow="1" bandRow="1">
                <a:tableStyleId>{B301B821-A1FF-4177-AEE7-76D212191A09}</a:tableStyleId>
              </a:tblPr>
              <a:tblGrid>
                <a:gridCol w="768376">
                  <a:extLst>
                    <a:ext uri="{9D8B030D-6E8A-4147-A177-3AD203B41FA5}">
                      <a16:colId xmlns:a16="http://schemas.microsoft.com/office/drawing/2014/main" val="3554599800"/>
                    </a:ext>
                  </a:extLst>
                </a:gridCol>
                <a:gridCol w="768376">
                  <a:extLst>
                    <a:ext uri="{9D8B030D-6E8A-4147-A177-3AD203B41FA5}">
                      <a16:colId xmlns:a16="http://schemas.microsoft.com/office/drawing/2014/main" val="2914776207"/>
                    </a:ext>
                  </a:extLst>
                </a:gridCol>
                <a:gridCol w="768376">
                  <a:extLst>
                    <a:ext uri="{9D8B030D-6E8A-4147-A177-3AD203B41FA5}">
                      <a16:colId xmlns:a16="http://schemas.microsoft.com/office/drawing/2014/main" val="2088702262"/>
                    </a:ext>
                  </a:extLst>
                </a:gridCol>
                <a:gridCol w="768376">
                  <a:extLst>
                    <a:ext uri="{9D8B030D-6E8A-4147-A177-3AD203B41FA5}">
                      <a16:colId xmlns:a16="http://schemas.microsoft.com/office/drawing/2014/main" val="192097877"/>
                    </a:ext>
                  </a:extLst>
                </a:gridCol>
                <a:gridCol w="768376">
                  <a:extLst>
                    <a:ext uri="{9D8B030D-6E8A-4147-A177-3AD203B41FA5}">
                      <a16:colId xmlns:a16="http://schemas.microsoft.com/office/drawing/2014/main" val="1326389649"/>
                    </a:ext>
                  </a:extLst>
                </a:gridCol>
                <a:gridCol w="768376">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26" name="TextBox 25">
            <a:extLst>
              <a:ext uri="{FF2B5EF4-FFF2-40B4-BE49-F238E27FC236}">
                <a16:creationId xmlns:a16="http://schemas.microsoft.com/office/drawing/2014/main" id="{95DABA9C-3D79-C0A8-26CE-A1EA52A08EAC}"/>
              </a:ext>
            </a:extLst>
          </p:cNvPr>
          <p:cNvSpPr txBox="1"/>
          <p:nvPr/>
        </p:nvSpPr>
        <p:spPr>
          <a:xfrm>
            <a:off x="140951" y="1353298"/>
            <a:ext cx="3049439"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sp>
        <p:nvSpPr>
          <p:cNvPr id="6" name="Google Shape;561;p14">
            <a:extLst>
              <a:ext uri="{FF2B5EF4-FFF2-40B4-BE49-F238E27FC236}">
                <a16:creationId xmlns:a16="http://schemas.microsoft.com/office/drawing/2014/main" id="{0DD02BDD-C465-BBB8-9249-973EA789DE89}"/>
              </a:ext>
            </a:extLst>
          </p:cNvPr>
          <p:cNvSpPr/>
          <p:nvPr/>
        </p:nvSpPr>
        <p:spPr>
          <a:xfrm>
            <a:off x="7038412" y="1947251"/>
            <a:ext cx="111501" cy="111600"/>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mn-ea"/>
                <a:cs typeface="Arial"/>
                <a:sym typeface="Arial"/>
              </a:rPr>
              <a:t>S</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 name="TextBox 2">
            <a:extLst>
              <a:ext uri="{FF2B5EF4-FFF2-40B4-BE49-F238E27FC236}">
                <a16:creationId xmlns:a16="http://schemas.microsoft.com/office/drawing/2014/main" id="{223E8C9E-B04E-4507-BFA0-077240B5B3F9}"/>
              </a:ext>
            </a:extLst>
          </p:cNvPr>
          <p:cNvSpPr txBox="1"/>
          <p:nvPr/>
        </p:nvSpPr>
        <p:spPr>
          <a:xfrm>
            <a:off x="140951"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18"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37785993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96">
          <a:extLst>
            <a:ext uri="{FF2B5EF4-FFF2-40B4-BE49-F238E27FC236}">
              <a16:creationId xmlns:a16="http://schemas.microsoft.com/office/drawing/2014/main" id="{904071EF-D52E-A9A8-9001-BDE3C6D6BC04}"/>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C406A25B-E5DE-C0EF-1333-D69DE97BB0E4}"/>
              </a:ext>
            </a:extLst>
          </p:cNvPr>
          <p:cNvSpPr/>
          <p:nvPr/>
        </p:nvSpPr>
        <p:spPr>
          <a:xfrm>
            <a:off x="140951" y="1669441"/>
            <a:ext cx="7784056" cy="598791"/>
          </a:xfrm>
          <a:prstGeom prst="rect">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IN" sz="1400" b="0" i="0" u="none" strike="noStrike" kern="0" cap="none" spc="0" normalizeH="0" baseline="0" noProof="0">
              <a:ln>
                <a:noFill/>
              </a:ln>
              <a:solidFill>
                <a:srgbClr val="FFFFFF"/>
              </a:solidFill>
              <a:effectLst/>
              <a:uLnTx/>
              <a:uFillTx/>
              <a:latin typeface="Arial" panose="020B0604020202020204"/>
              <a:ea typeface="+mn-ea"/>
              <a:cs typeface="+mn-cs"/>
              <a:sym typeface="Arial"/>
            </a:endParaRPr>
          </a:p>
        </p:txBody>
      </p:sp>
      <p:sp>
        <p:nvSpPr>
          <p:cNvPr id="297" name="Google Shape;297;p8">
            <a:extLst>
              <a:ext uri="{FF2B5EF4-FFF2-40B4-BE49-F238E27FC236}">
                <a16:creationId xmlns:a16="http://schemas.microsoft.com/office/drawing/2014/main" id="{77404E85-2BE5-339D-880C-0CA42635261C}"/>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CREON’s ratings continued to decline on “rep’s preparedness” and “knowledge of product” among PCPs, while ZENPEP saw a notable decline in “quality of rep interactions” this wave</a:t>
            </a:r>
            <a:endPar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10" name="Google Shape;310;p8">
            <a:extLst>
              <a:ext uri="{FF2B5EF4-FFF2-40B4-BE49-F238E27FC236}">
                <a16:creationId xmlns:a16="http://schemas.microsoft.com/office/drawing/2014/main" id="{15361167-102F-B138-1F10-A286F61C8E68}"/>
              </a:ext>
            </a:extLst>
          </p:cNvPr>
          <p:cNvSpPr/>
          <p:nvPr/>
        </p:nvSpPr>
        <p:spPr>
          <a:xfrm>
            <a:off x="4693097" y="5671264"/>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 (Rating 6, 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32" name="Google Shape;573;p15">
            <a:extLst>
              <a:ext uri="{FF2B5EF4-FFF2-40B4-BE49-F238E27FC236}">
                <a16:creationId xmlns:a16="http://schemas.microsoft.com/office/drawing/2014/main" id="{77A27D21-8302-FC25-D39D-8B7C30B178BC}"/>
              </a:ext>
            </a:extLst>
          </p:cNvPr>
          <p:cNvSpPr/>
          <p:nvPr/>
        </p:nvSpPr>
        <p:spPr>
          <a:xfrm>
            <a:off x="2116357" y="701476"/>
            <a:ext cx="4838099"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on Select Key Attributes – PCPs</a:t>
            </a:r>
            <a:r>
              <a:rPr kumimoji="0" lang="en-IN" sz="1400" b="1" i="0" u="none" strike="noStrike" kern="0" cap="none" spc="0" normalizeH="0" baseline="30000" noProof="0">
                <a:ln>
                  <a:noFill/>
                </a:ln>
                <a:solidFill>
                  <a:srgbClr val="FF0000"/>
                </a:solidFill>
                <a:effectLst/>
                <a:uLnTx/>
                <a:uFillTx/>
                <a:latin typeface="Arial"/>
                <a:ea typeface="Calibri"/>
                <a:cs typeface="Calibri" panose="020F0502020204030204" pitchFamily="34" charset="0"/>
                <a:sym typeface="Calibri"/>
              </a:rPr>
              <a:t>*</a:t>
            </a:r>
            <a:endParaRPr kumimoji="0" lang="en-IN" sz="1400" b="0" i="0" u="none" strike="noStrike" kern="0" cap="none" spc="0" normalizeH="0" baseline="30000" noProof="0">
              <a:ln>
                <a:noFill/>
              </a:ln>
              <a:solidFill>
                <a:srgbClr val="FF0000"/>
              </a:solidFill>
              <a:effectLst/>
              <a:uLnTx/>
              <a:uFillTx/>
              <a:latin typeface="Arial"/>
              <a:ea typeface="+mn-ea"/>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sp>
        <p:nvSpPr>
          <p:cNvPr id="29" name="Google Shape;1582;p40">
            <a:extLst>
              <a:ext uri="{FF2B5EF4-FFF2-40B4-BE49-F238E27FC236}">
                <a16:creationId xmlns:a16="http://schemas.microsoft.com/office/drawing/2014/main" id="{5F543D6E-29FC-33B9-B397-55D359C1DB05}"/>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n - No. of HCPs | </a:t>
            </a:r>
            <a:r>
              <a:rPr kumimoji="0" lang="en-US" sz="900" b="0" i="0" u="none" strike="noStrike" kern="0" cap="none" spc="0" normalizeH="0" baseline="30000" noProof="0">
                <a:ln>
                  <a:noFill/>
                </a:ln>
                <a:solidFill>
                  <a:srgbClr val="001D49"/>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Asked to HCPs who reported In-Person / virtual rep details | Stat test was not performed due to low sample size (n value &lt; 30)</a:t>
            </a:r>
            <a:endParaRPr kumimoji="0" lang="en-US" sz="900" b="0" i="0" u="none" strike="noStrike" kern="0" cap="none" spc="0" normalizeH="0" baseline="0" noProof="0">
              <a:ln>
                <a:noFill/>
              </a:ln>
              <a:solidFill>
                <a:prstClr val="white"/>
              </a:solidFill>
              <a:effectLst/>
              <a:uLnTx/>
              <a:uFillTx/>
              <a:latin typeface="Arial"/>
              <a:ea typeface="Calibri"/>
              <a:cs typeface="Calibri"/>
              <a:sym typeface="Arial"/>
            </a:endParaRPr>
          </a:p>
        </p:txBody>
      </p:sp>
      <p:sp>
        <p:nvSpPr>
          <p:cNvPr id="5" name="Google Shape;1583;p40">
            <a:extLst>
              <a:ext uri="{FF2B5EF4-FFF2-40B4-BE49-F238E27FC236}">
                <a16:creationId xmlns:a16="http://schemas.microsoft.com/office/drawing/2014/main" id="{787A5B02-8469-9413-8E7B-B92840BCB2D5}"/>
              </a:ext>
            </a:extLst>
          </p:cNvPr>
          <p:cNvSpPr/>
          <p:nvPr/>
        </p:nvSpPr>
        <p:spPr>
          <a:xfrm>
            <a:off x="6047121" y="6575654"/>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4" name="Overall_Quality_PCPs">
            <a:extLst>
              <a:ext uri="{FF2B5EF4-FFF2-40B4-BE49-F238E27FC236}">
                <a16:creationId xmlns:a16="http://schemas.microsoft.com/office/drawing/2014/main" id="{41A4A254-4EF5-C0C8-E7C0-CBCB6E39EDE1}"/>
              </a:ext>
            </a:extLst>
          </p:cNvPr>
          <p:cNvGraphicFramePr/>
          <p:nvPr>
            <p:custDataLst>
              <p:tags r:id="rId1"/>
            </p:custDataLst>
          </p:nvPr>
        </p:nvGraphicFramePr>
        <p:xfrm>
          <a:off x="3082115" y="1629715"/>
          <a:ext cx="5156352" cy="648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 name="PCPS Rep preparedness">
            <a:extLst>
              <a:ext uri="{FF2B5EF4-FFF2-40B4-BE49-F238E27FC236}">
                <a16:creationId xmlns:a16="http://schemas.microsoft.com/office/drawing/2014/main" id="{0759C1C4-7642-9106-20B7-6005E70173E1}"/>
              </a:ext>
            </a:extLst>
          </p:cNvPr>
          <p:cNvGraphicFramePr/>
          <p:nvPr>
            <p:custDataLst>
              <p:tags r:id="rId2"/>
            </p:custDataLst>
          </p:nvPr>
        </p:nvGraphicFramePr>
        <p:xfrm>
          <a:off x="3082115" y="2301118"/>
          <a:ext cx="5156352" cy="648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4" name="Understanding_PCPS">
            <a:extLst>
              <a:ext uri="{FF2B5EF4-FFF2-40B4-BE49-F238E27FC236}">
                <a16:creationId xmlns:a16="http://schemas.microsoft.com/office/drawing/2014/main" id="{175814BB-240A-98F3-5383-7A93513C449A}"/>
              </a:ext>
            </a:extLst>
          </p:cNvPr>
          <p:cNvGraphicFramePr/>
          <p:nvPr>
            <p:custDataLst>
              <p:tags r:id="rId3"/>
            </p:custDataLst>
          </p:nvPr>
        </p:nvGraphicFramePr>
        <p:xfrm>
          <a:off x="3082115" y="4315327"/>
          <a:ext cx="5156352" cy="648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6" name="Compeling_PCPS">
            <a:extLst>
              <a:ext uri="{FF2B5EF4-FFF2-40B4-BE49-F238E27FC236}">
                <a16:creationId xmlns:a16="http://schemas.microsoft.com/office/drawing/2014/main" id="{BEBF1606-22C1-BAF8-9F6A-62110E083A8C}"/>
              </a:ext>
            </a:extLst>
          </p:cNvPr>
          <p:cNvGraphicFramePr/>
          <p:nvPr>
            <p:custDataLst>
              <p:tags r:id="rId4"/>
            </p:custDataLst>
          </p:nvPr>
        </p:nvGraphicFramePr>
        <p:xfrm>
          <a:off x="3082115" y="4986732"/>
          <a:ext cx="5156352" cy="648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7" name="PCPS rep knowledge">
            <a:extLst>
              <a:ext uri="{FF2B5EF4-FFF2-40B4-BE49-F238E27FC236}">
                <a16:creationId xmlns:a16="http://schemas.microsoft.com/office/drawing/2014/main" id="{8E511743-A09C-6820-68E0-5E3730982029}"/>
              </a:ext>
            </a:extLst>
          </p:cNvPr>
          <p:cNvGraphicFramePr/>
          <p:nvPr>
            <p:custDataLst>
              <p:tags r:id="rId5"/>
            </p:custDataLst>
          </p:nvPr>
        </p:nvGraphicFramePr>
        <p:xfrm>
          <a:off x="3082115" y="2972521"/>
          <a:ext cx="5156352" cy="648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8" name="PCPS Smooth Interaction">
            <a:extLst>
              <a:ext uri="{FF2B5EF4-FFF2-40B4-BE49-F238E27FC236}">
                <a16:creationId xmlns:a16="http://schemas.microsoft.com/office/drawing/2014/main" id="{E37C6A52-6356-89E2-E537-8EBB93BF1CC2}"/>
              </a:ext>
            </a:extLst>
          </p:cNvPr>
          <p:cNvGraphicFramePr/>
          <p:nvPr>
            <p:custDataLst>
              <p:tags r:id="rId6"/>
            </p:custDataLst>
          </p:nvPr>
        </p:nvGraphicFramePr>
        <p:xfrm>
          <a:off x="3082115" y="3643924"/>
          <a:ext cx="5156352" cy="648000"/>
        </p:xfrm>
        <a:graphic>
          <a:graphicData uri="http://schemas.openxmlformats.org/drawingml/2006/chart">
            <c:chart xmlns:c="http://schemas.openxmlformats.org/drawingml/2006/chart" xmlns:r="http://schemas.openxmlformats.org/officeDocument/2006/relationships" r:id="rId16"/>
          </a:graphicData>
        </a:graphic>
      </p:graphicFrame>
      <p:grpSp>
        <p:nvGrpSpPr>
          <p:cNvPr id="21" name="Google Shape;762;p18">
            <a:extLst>
              <a:ext uri="{FF2B5EF4-FFF2-40B4-BE49-F238E27FC236}">
                <a16:creationId xmlns:a16="http://schemas.microsoft.com/office/drawing/2014/main" id="{F9A2256C-564F-0757-6BE0-4B7A54CA0CFB}"/>
              </a:ext>
            </a:extLst>
          </p:cNvPr>
          <p:cNvGrpSpPr/>
          <p:nvPr/>
        </p:nvGrpSpPr>
        <p:grpSpPr>
          <a:xfrm>
            <a:off x="7100526" y="691985"/>
            <a:ext cx="1724109" cy="246181"/>
            <a:chOff x="4463437" y="6228283"/>
            <a:chExt cx="1724109" cy="246181"/>
          </a:xfrm>
        </p:grpSpPr>
        <p:sp>
          <p:nvSpPr>
            <p:cNvPr id="22" name="Google Shape;763;p18">
              <a:extLst>
                <a:ext uri="{FF2B5EF4-FFF2-40B4-BE49-F238E27FC236}">
                  <a16:creationId xmlns:a16="http://schemas.microsoft.com/office/drawing/2014/main" id="{00599C13-1C1A-ACAF-2F84-2254400FDDA7}"/>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3" name="Google Shape;764;p18">
              <a:extLst>
                <a:ext uri="{FF2B5EF4-FFF2-40B4-BE49-F238E27FC236}">
                  <a16:creationId xmlns:a16="http://schemas.microsoft.com/office/drawing/2014/main" id="{4BA11D09-3591-39B5-9AD6-4B5231713A3B}"/>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4" name="Google Shape;765;p18">
              <a:extLst>
                <a:ext uri="{FF2B5EF4-FFF2-40B4-BE49-F238E27FC236}">
                  <a16:creationId xmlns:a16="http://schemas.microsoft.com/office/drawing/2014/main" id="{B6334655-4F82-62CC-2063-9F10531E8C91}"/>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5" name="Google Shape;766;p18">
              <a:extLst>
                <a:ext uri="{FF2B5EF4-FFF2-40B4-BE49-F238E27FC236}">
                  <a16:creationId xmlns:a16="http://schemas.microsoft.com/office/drawing/2014/main" id="{08B64A2A-7330-D8CE-14BF-A4716BE86FD1}"/>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grpSp>
      <p:sp>
        <p:nvSpPr>
          <p:cNvPr id="7" name="TextBox 6">
            <a:extLst>
              <a:ext uri="{FF2B5EF4-FFF2-40B4-BE49-F238E27FC236}">
                <a16:creationId xmlns:a16="http://schemas.microsoft.com/office/drawing/2014/main" id="{ACF17F00-DA3C-56A2-EA74-B497A512E872}"/>
              </a:ext>
            </a:extLst>
          </p:cNvPr>
          <p:cNvSpPr txBox="1"/>
          <p:nvPr/>
        </p:nvSpPr>
        <p:spPr>
          <a:xfrm>
            <a:off x="140951" y="1045676"/>
            <a:ext cx="2451617" cy="261610"/>
          </a:xfrm>
          <a:prstGeom prst="rect">
            <a:avLst/>
          </a:prstGeom>
          <a:noFill/>
          <a:ln w="19050">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hlinkClick r:id="rId17" action="ppaction://hlinksldjump"/>
              </a:rPr>
              <a:t>Link to other – Attributes slide</a:t>
            </a:r>
            <a:endPar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endParaRPr>
          </a:p>
        </p:txBody>
      </p:sp>
      <p:graphicFrame>
        <p:nvGraphicFramePr>
          <p:cNvPr id="6" name="wave table OCQ">
            <a:extLst>
              <a:ext uri="{FF2B5EF4-FFF2-40B4-BE49-F238E27FC236}">
                <a16:creationId xmlns:a16="http://schemas.microsoft.com/office/drawing/2014/main" id="{E3BDE418-52FD-9C60-CCE3-E2168486D32B}"/>
              </a:ext>
            </a:extLst>
          </p:cNvPr>
          <p:cNvGraphicFramePr>
            <a:graphicFrameLocks noGrp="1"/>
          </p:cNvGraphicFramePr>
          <p:nvPr>
            <p:custDataLst>
              <p:tags r:id="rId7"/>
            </p:custDataLst>
          </p:nvPr>
        </p:nvGraphicFramePr>
        <p:xfrm>
          <a:off x="3323807" y="1247518"/>
          <a:ext cx="4610256" cy="274320"/>
        </p:xfrm>
        <a:graphic>
          <a:graphicData uri="http://schemas.openxmlformats.org/drawingml/2006/table">
            <a:tbl>
              <a:tblPr firstRow="1" bandRow="1">
                <a:tableStyleId>{B301B821-A1FF-4177-AEE7-76D212191A09}</a:tableStyleId>
              </a:tblPr>
              <a:tblGrid>
                <a:gridCol w="768376">
                  <a:extLst>
                    <a:ext uri="{9D8B030D-6E8A-4147-A177-3AD203B41FA5}">
                      <a16:colId xmlns:a16="http://schemas.microsoft.com/office/drawing/2014/main" val="3554599800"/>
                    </a:ext>
                  </a:extLst>
                </a:gridCol>
                <a:gridCol w="768376">
                  <a:extLst>
                    <a:ext uri="{9D8B030D-6E8A-4147-A177-3AD203B41FA5}">
                      <a16:colId xmlns:a16="http://schemas.microsoft.com/office/drawing/2014/main" val="2914776207"/>
                    </a:ext>
                  </a:extLst>
                </a:gridCol>
                <a:gridCol w="768376">
                  <a:extLst>
                    <a:ext uri="{9D8B030D-6E8A-4147-A177-3AD203B41FA5}">
                      <a16:colId xmlns:a16="http://schemas.microsoft.com/office/drawing/2014/main" val="2088702262"/>
                    </a:ext>
                  </a:extLst>
                </a:gridCol>
                <a:gridCol w="768376">
                  <a:extLst>
                    <a:ext uri="{9D8B030D-6E8A-4147-A177-3AD203B41FA5}">
                      <a16:colId xmlns:a16="http://schemas.microsoft.com/office/drawing/2014/main" val="192097877"/>
                    </a:ext>
                  </a:extLst>
                </a:gridCol>
                <a:gridCol w="768376">
                  <a:extLst>
                    <a:ext uri="{9D8B030D-6E8A-4147-A177-3AD203B41FA5}">
                      <a16:colId xmlns:a16="http://schemas.microsoft.com/office/drawing/2014/main" val="1326389649"/>
                    </a:ext>
                  </a:extLst>
                </a:gridCol>
                <a:gridCol w="768376">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12" name="Google Shape;303;p8">
            <a:extLst>
              <a:ext uri="{FF2B5EF4-FFF2-40B4-BE49-F238E27FC236}">
                <a16:creationId xmlns:a16="http://schemas.microsoft.com/office/drawing/2014/main" id="{87E19690-6E05-7C3C-C180-CB99337439E1}"/>
              </a:ext>
            </a:extLst>
          </p:cNvPr>
          <p:cNvGraphicFramePr/>
          <p:nvPr>
            <p:custDataLst>
              <p:tags r:id="rId8"/>
            </p:custDataLst>
          </p:nvPr>
        </p:nvGraphicFramePr>
        <p:xfrm>
          <a:off x="140951" y="1630296"/>
          <a:ext cx="3060000" cy="4004436"/>
        </p:xfrm>
        <a:graphic>
          <a:graphicData uri="http://schemas.openxmlformats.org/drawingml/2006/table">
            <a:tbl>
              <a:tblPr>
                <a:noFill/>
                <a:tableStyleId>{96BACEE3-1A1D-4107-9369-2142449FF59F}</a:tableStyleId>
              </a:tblPr>
              <a:tblGrid>
                <a:gridCol w="3060000">
                  <a:extLst>
                    <a:ext uri="{9D8B030D-6E8A-4147-A177-3AD203B41FA5}">
                      <a16:colId xmlns:a16="http://schemas.microsoft.com/office/drawing/2014/main" val="20000"/>
                    </a:ext>
                  </a:extLst>
                </a:gridCol>
              </a:tblGrid>
              <a:tr h="667406">
                <a:tc>
                  <a:txBody>
                    <a:bodyPr/>
                    <a:lstStyle/>
                    <a:p>
                      <a:pPr marL="0" marR="0" algn="r">
                        <a:lnSpc>
                          <a:spcPct val="115000"/>
                        </a:lnSpc>
                        <a:spcBef>
                          <a:spcPts val="0"/>
                        </a:spcBef>
                        <a:spcAft>
                          <a:spcPts val="0"/>
                        </a:spcAft>
                      </a:pPr>
                      <a:r>
                        <a:rPr lang="en-US" sz="1100" b="1">
                          <a:solidFill>
                            <a:srgbClr val="071D49"/>
                          </a:solidFill>
                          <a:effectLst/>
                          <a:latin typeface="+mj-lt"/>
                          <a:ea typeface="Calibri" panose="020F0502020204030204" pitchFamily="34" charset="0"/>
                        </a:rPr>
                        <a:t>Overall quality of the Rep’s interaction </a:t>
                      </a:r>
                      <a:endParaRPr lang="en-US" sz="1100" b="1">
                        <a:solidFill>
                          <a:srgbClr val="071D49"/>
                        </a:solidFill>
                        <a:effectLst/>
                        <a:latin typeface="+mj-lt"/>
                        <a:ea typeface="Arial" panose="020B0604020202020204" pitchFamily="34" charset="0"/>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rPr>
                        <a:t>The rep’s preparedness</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1"/>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Rep’s</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knowledge</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of the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product</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being discussed</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Arial"/>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The rep’s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ability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to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execute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smooth interaction</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Calibri"/>
                      </a:endParaRPr>
                    </a:p>
                  </a:txBody>
                  <a:tcPr marL="36000" marR="7200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419085563"/>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Understanding</a:t>
                      </a: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insurance coverage </a:t>
                      </a: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a:t>
                      </a: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Access</a:t>
                      </a:r>
                      <a:endPar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19155106"/>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mj-lt"/>
                          <a:ea typeface="Arial"/>
                          <a:cs typeface="Arial"/>
                          <a:sym typeface="Arial"/>
                        </a:rPr>
                        <a:t>Compelling reason to prescribe</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97852835"/>
                  </a:ext>
                </a:extLst>
              </a:tr>
            </a:tbl>
          </a:graphicData>
        </a:graphic>
      </p:graphicFrame>
      <p:sp>
        <p:nvSpPr>
          <p:cNvPr id="13" name="TextBox 12">
            <a:extLst>
              <a:ext uri="{FF2B5EF4-FFF2-40B4-BE49-F238E27FC236}">
                <a16:creationId xmlns:a16="http://schemas.microsoft.com/office/drawing/2014/main" id="{9644A17F-0353-5B7F-8370-4D36D96F0C34}"/>
              </a:ext>
            </a:extLst>
          </p:cNvPr>
          <p:cNvSpPr txBox="1"/>
          <p:nvPr/>
        </p:nvSpPr>
        <p:spPr>
          <a:xfrm>
            <a:off x="140951" y="1353298"/>
            <a:ext cx="3049439"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sp>
        <p:nvSpPr>
          <p:cNvPr id="10" name="Highlight#32">
            <a:extLst>
              <a:ext uri="{FF2B5EF4-FFF2-40B4-BE49-F238E27FC236}">
                <a16:creationId xmlns:a16="http://schemas.microsoft.com/office/drawing/2014/main" id="{F16BFD36-ECE3-E810-50C7-000DAE73D3C4}"/>
              </a:ext>
            </a:extLst>
          </p:cNvPr>
          <p:cNvSpPr txBox="1"/>
          <p:nvPr/>
        </p:nvSpPr>
        <p:spPr>
          <a:xfrm>
            <a:off x="124475" y="2304915"/>
            <a:ext cx="7800532" cy="1339007"/>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688175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96">
          <a:extLst>
            <a:ext uri="{FF2B5EF4-FFF2-40B4-BE49-F238E27FC236}">
              <a16:creationId xmlns:a16="http://schemas.microsoft.com/office/drawing/2014/main" id="{0ADE4BBC-D929-7D88-4A0B-3615D2E2DE3D}"/>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5596D78F-A597-CF44-AB42-7215D9B3A211}"/>
              </a:ext>
            </a:extLst>
          </p:cNvPr>
          <p:cNvSpPr/>
          <p:nvPr/>
        </p:nvSpPr>
        <p:spPr>
          <a:xfrm>
            <a:off x="140950" y="1640477"/>
            <a:ext cx="7802995" cy="648000"/>
          </a:xfrm>
          <a:prstGeom prst="rect">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IN" sz="1400" b="0" i="0" u="none" strike="noStrike" kern="0" cap="none" spc="0" normalizeH="0" baseline="0" noProof="0">
              <a:ln>
                <a:noFill/>
              </a:ln>
              <a:solidFill>
                <a:srgbClr val="FFFFFF"/>
              </a:solidFill>
              <a:effectLst/>
              <a:uLnTx/>
              <a:uFillTx/>
              <a:latin typeface="Arial" panose="020B0604020202020204"/>
              <a:ea typeface="+mn-ea"/>
              <a:cs typeface="+mn-cs"/>
              <a:sym typeface="Arial"/>
            </a:endParaRPr>
          </a:p>
        </p:txBody>
      </p:sp>
      <p:sp>
        <p:nvSpPr>
          <p:cNvPr id="297" name="Google Shape;297;p8">
            <a:extLst>
              <a:ext uri="{FF2B5EF4-FFF2-40B4-BE49-F238E27FC236}">
                <a16:creationId xmlns:a16="http://schemas.microsoft.com/office/drawing/2014/main" id="{ECAF1BDE-3B49-B08B-6D88-0F70748E2392}"/>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Among NP/PAs, ZENPEP declined across nearly all rep performance attributes, while CREON showed an increase in “compelling reason to prescribe” this wave</a:t>
            </a:r>
          </a:p>
        </p:txBody>
      </p:sp>
      <p:sp>
        <p:nvSpPr>
          <p:cNvPr id="310" name="Google Shape;310;p8">
            <a:extLst>
              <a:ext uri="{FF2B5EF4-FFF2-40B4-BE49-F238E27FC236}">
                <a16:creationId xmlns:a16="http://schemas.microsoft.com/office/drawing/2014/main" id="{DA5A8B42-52B5-46FD-B999-40DA3F1EAB87}"/>
              </a:ext>
            </a:extLst>
          </p:cNvPr>
          <p:cNvSpPr/>
          <p:nvPr/>
        </p:nvSpPr>
        <p:spPr>
          <a:xfrm>
            <a:off x="4693097" y="5671264"/>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 (Rating 6, 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32" name="Google Shape;573;p15">
            <a:extLst>
              <a:ext uri="{FF2B5EF4-FFF2-40B4-BE49-F238E27FC236}">
                <a16:creationId xmlns:a16="http://schemas.microsoft.com/office/drawing/2014/main" id="{96B61E6A-C88E-C606-A89A-C6F9DC804E78}"/>
              </a:ext>
            </a:extLst>
          </p:cNvPr>
          <p:cNvSpPr/>
          <p:nvPr/>
        </p:nvSpPr>
        <p:spPr>
          <a:xfrm>
            <a:off x="2116357" y="701476"/>
            <a:ext cx="4838099"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Tx/>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on Select Key Attributes – NP/PAs</a:t>
            </a:r>
            <a:r>
              <a:rPr kumimoji="0" lang="en-IN" sz="1400" b="1" i="0" u="none" strike="noStrike" kern="0" cap="none" spc="0" normalizeH="0" baseline="30000" noProof="0">
                <a:ln>
                  <a:noFill/>
                </a:ln>
                <a:solidFill>
                  <a:srgbClr val="FF0000"/>
                </a:solidFill>
                <a:effectLst/>
                <a:uLnTx/>
                <a:uFillTx/>
                <a:latin typeface="Arial"/>
                <a:ea typeface="Calibri"/>
                <a:cs typeface="Calibri" panose="020F0502020204030204" pitchFamily="34" charset="0"/>
                <a:sym typeface="Calibri"/>
              </a:rPr>
              <a:t>*</a:t>
            </a:r>
            <a:endParaRPr kumimoji="0" lang="en-IN" sz="1400" b="0" i="0"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Jan</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1000" b="0" i="0" u="sng" strike="noStrike" kern="0" cap="none" spc="0" normalizeH="0" baseline="0" noProof="0">
                <a:ln>
                  <a:noFill/>
                </a:ln>
                <a:solidFill>
                  <a:srgbClr val="071D49"/>
                </a:solidFill>
                <a:effectLst/>
                <a:uLnTx/>
                <a:uFillTx/>
                <a:latin typeface="Arial"/>
                <a:ea typeface="Calibri"/>
                <a:cs typeface="Calibri"/>
                <a:sym typeface="Calibri"/>
              </a:rPr>
              <a:t>Dec</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’2</a:t>
            </a: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10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sp>
        <p:nvSpPr>
          <p:cNvPr id="29" name="Google Shape;1582;p40">
            <a:extLst>
              <a:ext uri="{FF2B5EF4-FFF2-40B4-BE49-F238E27FC236}">
                <a16:creationId xmlns:a16="http://schemas.microsoft.com/office/drawing/2014/main" id="{2D9382C2-C532-452D-6F2A-84524100BB80}"/>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and sample size in speaker notes | n - No. of HCPs | </a:t>
            </a:r>
            <a:r>
              <a:rPr kumimoji="0" lang="en-US" sz="900" b="0" i="0" u="none" strike="noStrike" kern="0" cap="none" spc="0" normalizeH="0" baseline="30000" noProof="0">
                <a:ln>
                  <a:noFill/>
                </a:ln>
                <a:solidFill>
                  <a:srgbClr val="001D49"/>
                </a:solidFill>
                <a:effectLst/>
                <a:uLnTx/>
                <a:uFillTx/>
                <a:latin typeface="Arial"/>
                <a:ea typeface="Calibri"/>
                <a:cs typeface="Calibri"/>
                <a:sym typeface="Calibri"/>
              </a:rPr>
              <a:t>#</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Asked to HCPs who reported In-Person / virtual rep details | Stat test was not performed due to low sample size (n value &lt; 30)</a:t>
            </a:r>
            <a:endParaRPr kumimoji="0" lang="en-US" sz="900" b="0" i="0" u="none" strike="noStrike" kern="0" cap="none" spc="0" normalizeH="0" baseline="0" noProof="0">
              <a:ln>
                <a:noFill/>
              </a:ln>
              <a:solidFill>
                <a:prstClr val="white"/>
              </a:solidFill>
              <a:effectLst/>
              <a:uLnTx/>
              <a:uFillTx/>
              <a:latin typeface="Arial"/>
              <a:ea typeface="Calibri"/>
              <a:cs typeface="Calibri"/>
              <a:sym typeface="Arial"/>
            </a:endParaRPr>
          </a:p>
        </p:txBody>
      </p:sp>
      <p:graphicFrame>
        <p:nvGraphicFramePr>
          <p:cNvPr id="3" name="Overall_Quality_PCPs">
            <a:extLst>
              <a:ext uri="{FF2B5EF4-FFF2-40B4-BE49-F238E27FC236}">
                <a16:creationId xmlns:a16="http://schemas.microsoft.com/office/drawing/2014/main" id="{6A960A16-C3C3-A7D6-2652-7A98B2F06CA8}"/>
              </a:ext>
            </a:extLst>
          </p:cNvPr>
          <p:cNvGraphicFramePr/>
          <p:nvPr>
            <p:custDataLst>
              <p:tags r:id="rId1"/>
            </p:custDataLst>
          </p:nvPr>
        </p:nvGraphicFramePr>
        <p:xfrm>
          <a:off x="3082115" y="1630296"/>
          <a:ext cx="5156352" cy="648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 name="Np/pA rep prepardness">
            <a:extLst>
              <a:ext uri="{FF2B5EF4-FFF2-40B4-BE49-F238E27FC236}">
                <a16:creationId xmlns:a16="http://schemas.microsoft.com/office/drawing/2014/main" id="{842413A4-8AF1-B86F-F66F-6ECE49F63756}"/>
              </a:ext>
            </a:extLst>
          </p:cNvPr>
          <p:cNvGraphicFramePr/>
          <p:nvPr>
            <p:custDataLst>
              <p:tags r:id="rId2"/>
            </p:custDataLst>
          </p:nvPr>
        </p:nvGraphicFramePr>
        <p:xfrm>
          <a:off x="3082115" y="2301583"/>
          <a:ext cx="5156352" cy="648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8" name="Understanding_PCPS">
            <a:extLst>
              <a:ext uri="{FF2B5EF4-FFF2-40B4-BE49-F238E27FC236}">
                <a16:creationId xmlns:a16="http://schemas.microsoft.com/office/drawing/2014/main" id="{16ADCE48-DDD0-A859-654C-C481DC340423}"/>
              </a:ext>
            </a:extLst>
          </p:cNvPr>
          <p:cNvGraphicFramePr/>
          <p:nvPr>
            <p:custDataLst>
              <p:tags r:id="rId3"/>
            </p:custDataLst>
          </p:nvPr>
        </p:nvGraphicFramePr>
        <p:xfrm>
          <a:off x="3082115" y="4315444"/>
          <a:ext cx="5156352" cy="648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4" name="Compeling_PCPS">
            <a:extLst>
              <a:ext uri="{FF2B5EF4-FFF2-40B4-BE49-F238E27FC236}">
                <a16:creationId xmlns:a16="http://schemas.microsoft.com/office/drawing/2014/main" id="{B3664808-090E-B760-AA00-4FAEF90A551B}"/>
              </a:ext>
            </a:extLst>
          </p:cNvPr>
          <p:cNvGraphicFramePr/>
          <p:nvPr>
            <p:custDataLst>
              <p:tags r:id="rId4"/>
            </p:custDataLst>
          </p:nvPr>
        </p:nvGraphicFramePr>
        <p:xfrm>
          <a:off x="3082115" y="4986732"/>
          <a:ext cx="5156352" cy="648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6" name="NP/PA rep knowledge">
            <a:extLst>
              <a:ext uri="{FF2B5EF4-FFF2-40B4-BE49-F238E27FC236}">
                <a16:creationId xmlns:a16="http://schemas.microsoft.com/office/drawing/2014/main" id="{AC75D17D-7F94-6550-38A6-CDAB7DA12011}"/>
              </a:ext>
            </a:extLst>
          </p:cNvPr>
          <p:cNvGraphicFramePr/>
          <p:nvPr>
            <p:custDataLst>
              <p:tags r:id="rId5"/>
            </p:custDataLst>
          </p:nvPr>
        </p:nvGraphicFramePr>
        <p:xfrm>
          <a:off x="3082115" y="2972870"/>
          <a:ext cx="5156352" cy="648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7" name="NP/PA smooth interaction">
            <a:extLst>
              <a:ext uri="{FF2B5EF4-FFF2-40B4-BE49-F238E27FC236}">
                <a16:creationId xmlns:a16="http://schemas.microsoft.com/office/drawing/2014/main" id="{419BFD55-1464-836E-8AC5-895C8C846E5F}"/>
              </a:ext>
            </a:extLst>
          </p:cNvPr>
          <p:cNvGraphicFramePr/>
          <p:nvPr>
            <p:custDataLst>
              <p:tags r:id="rId6"/>
            </p:custDataLst>
          </p:nvPr>
        </p:nvGraphicFramePr>
        <p:xfrm>
          <a:off x="3082115" y="3644157"/>
          <a:ext cx="5156352" cy="648000"/>
        </p:xfrm>
        <a:graphic>
          <a:graphicData uri="http://schemas.openxmlformats.org/drawingml/2006/chart">
            <c:chart xmlns:c="http://schemas.openxmlformats.org/drawingml/2006/chart" xmlns:r="http://schemas.openxmlformats.org/officeDocument/2006/relationships" r:id="rId16"/>
          </a:graphicData>
        </a:graphic>
      </p:graphicFrame>
      <p:grpSp>
        <p:nvGrpSpPr>
          <p:cNvPr id="20" name="Google Shape;762;p18">
            <a:extLst>
              <a:ext uri="{FF2B5EF4-FFF2-40B4-BE49-F238E27FC236}">
                <a16:creationId xmlns:a16="http://schemas.microsoft.com/office/drawing/2014/main" id="{B5D16A74-B890-EB46-49FB-2B3C18632538}"/>
              </a:ext>
            </a:extLst>
          </p:cNvPr>
          <p:cNvGrpSpPr/>
          <p:nvPr/>
        </p:nvGrpSpPr>
        <p:grpSpPr>
          <a:xfrm>
            <a:off x="7100526" y="691985"/>
            <a:ext cx="1724109" cy="246181"/>
            <a:chOff x="4463437" y="6228283"/>
            <a:chExt cx="1724109" cy="246181"/>
          </a:xfrm>
        </p:grpSpPr>
        <p:sp>
          <p:nvSpPr>
            <p:cNvPr id="21" name="Google Shape;763;p18">
              <a:extLst>
                <a:ext uri="{FF2B5EF4-FFF2-40B4-BE49-F238E27FC236}">
                  <a16:creationId xmlns:a16="http://schemas.microsoft.com/office/drawing/2014/main" id="{6FC0C51D-68D2-7927-399A-D6B32F72460D}"/>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CREON</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2" name="Google Shape;764;p18">
              <a:extLst>
                <a:ext uri="{FF2B5EF4-FFF2-40B4-BE49-F238E27FC236}">
                  <a16:creationId xmlns:a16="http://schemas.microsoft.com/office/drawing/2014/main" id="{3E732923-3D68-04A4-60A5-AD1CBCA38F5D}"/>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3" name="Google Shape;765;p18">
              <a:extLst>
                <a:ext uri="{FF2B5EF4-FFF2-40B4-BE49-F238E27FC236}">
                  <a16:creationId xmlns:a16="http://schemas.microsoft.com/office/drawing/2014/main" id="{F04E8564-F034-32F2-219A-EAA9219AAA0C}"/>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a:ea typeface="Calibri"/>
                  <a:cs typeface="Calibri"/>
                  <a:sym typeface="Calibri"/>
                </a:rPr>
                <a:t>ZENPEP</a:t>
              </a:r>
              <a:endParaRPr kumimoji="0" sz="1400" b="0" i="0" u="none" strike="noStrike" kern="0" cap="none" spc="0" normalizeH="0" baseline="0" noProof="0">
                <a:ln>
                  <a:noFill/>
                </a:ln>
                <a:solidFill>
                  <a:srgbClr val="070605"/>
                </a:solidFill>
                <a:effectLst/>
                <a:uLnTx/>
                <a:uFillTx/>
                <a:latin typeface="Arial"/>
                <a:ea typeface="Calibri"/>
                <a:cs typeface="Calibri"/>
                <a:sym typeface="Calibri"/>
              </a:endParaRPr>
            </a:p>
          </p:txBody>
        </p:sp>
        <p:sp>
          <p:nvSpPr>
            <p:cNvPr id="24" name="Google Shape;766;p18">
              <a:extLst>
                <a:ext uri="{FF2B5EF4-FFF2-40B4-BE49-F238E27FC236}">
                  <a16:creationId xmlns:a16="http://schemas.microsoft.com/office/drawing/2014/main" id="{A4FE05CB-B2D6-2E52-8FD0-6C2EDC91908A}"/>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a:ea typeface="Calibri"/>
                <a:cs typeface="Calibri"/>
                <a:sym typeface="Calibri"/>
              </a:endParaRPr>
            </a:p>
          </p:txBody>
        </p:sp>
      </p:grpSp>
      <p:sp>
        <p:nvSpPr>
          <p:cNvPr id="9" name="TextBox 8">
            <a:extLst>
              <a:ext uri="{FF2B5EF4-FFF2-40B4-BE49-F238E27FC236}">
                <a16:creationId xmlns:a16="http://schemas.microsoft.com/office/drawing/2014/main" id="{D5049DA1-6ED5-A62E-5E07-24661CD8CE19}"/>
              </a:ext>
            </a:extLst>
          </p:cNvPr>
          <p:cNvSpPr txBox="1"/>
          <p:nvPr/>
        </p:nvSpPr>
        <p:spPr>
          <a:xfrm>
            <a:off x="140951" y="1045676"/>
            <a:ext cx="2451617" cy="261610"/>
          </a:xfrm>
          <a:prstGeom prst="rect">
            <a:avLst/>
          </a:prstGeom>
          <a:noFill/>
          <a:ln w="19050">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hlinkClick r:id="rId17" action="ppaction://hlinksldjump"/>
              </a:rPr>
              <a:t>Link to other – Attributes slide</a:t>
            </a:r>
            <a:endParaRPr kumimoji="0" lang="en-IN" sz="1100" b="1" i="1" u="sng" strike="noStrike" kern="0" cap="none" spc="0" normalizeH="0" baseline="0" noProof="0">
              <a:ln>
                <a:noFill/>
              </a:ln>
              <a:solidFill>
                <a:srgbClr val="071D49"/>
              </a:solidFill>
              <a:effectLst/>
              <a:uLnTx/>
              <a:uFillTx/>
              <a:latin typeface="Arial"/>
              <a:ea typeface="Calibri"/>
              <a:cs typeface="Calibri" panose="020F0502020204030204" pitchFamily="34" charset="0"/>
              <a:sym typeface="Arial"/>
            </a:endParaRPr>
          </a:p>
        </p:txBody>
      </p:sp>
      <p:graphicFrame>
        <p:nvGraphicFramePr>
          <p:cNvPr id="6" name="wave table OCQ">
            <a:extLst>
              <a:ext uri="{FF2B5EF4-FFF2-40B4-BE49-F238E27FC236}">
                <a16:creationId xmlns:a16="http://schemas.microsoft.com/office/drawing/2014/main" id="{D00BF77B-4F99-8AAF-3684-8D2C08441400}"/>
              </a:ext>
            </a:extLst>
          </p:cNvPr>
          <p:cNvGraphicFramePr>
            <a:graphicFrameLocks noGrp="1"/>
          </p:cNvGraphicFramePr>
          <p:nvPr>
            <p:custDataLst>
              <p:tags r:id="rId7"/>
            </p:custDataLst>
          </p:nvPr>
        </p:nvGraphicFramePr>
        <p:xfrm>
          <a:off x="3323807" y="1247518"/>
          <a:ext cx="4610256" cy="274320"/>
        </p:xfrm>
        <a:graphic>
          <a:graphicData uri="http://schemas.openxmlformats.org/drawingml/2006/table">
            <a:tbl>
              <a:tblPr firstRow="1" bandRow="1">
                <a:tableStyleId>{B301B821-A1FF-4177-AEE7-76D212191A09}</a:tableStyleId>
              </a:tblPr>
              <a:tblGrid>
                <a:gridCol w="768376">
                  <a:extLst>
                    <a:ext uri="{9D8B030D-6E8A-4147-A177-3AD203B41FA5}">
                      <a16:colId xmlns:a16="http://schemas.microsoft.com/office/drawing/2014/main" val="3554599800"/>
                    </a:ext>
                  </a:extLst>
                </a:gridCol>
                <a:gridCol w="768376">
                  <a:extLst>
                    <a:ext uri="{9D8B030D-6E8A-4147-A177-3AD203B41FA5}">
                      <a16:colId xmlns:a16="http://schemas.microsoft.com/office/drawing/2014/main" val="2914776207"/>
                    </a:ext>
                  </a:extLst>
                </a:gridCol>
                <a:gridCol w="768376">
                  <a:extLst>
                    <a:ext uri="{9D8B030D-6E8A-4147-A177-3AD203B41FA5}">
                      <a16:colId xmlns:a16="http://schemas.microsoft.com/office/drawing/2014/main" val="2088702262"/>
                    </a:ext>
                  </a:extLst>
                </a:gridCol>
                <a:gridCol w="768376">
                  <a:extLst>
                    <a:ext uri="{9D8B030D-6E8A-4147-A177-3AD203B41FA5}">
                      <a16:colId xmlns:a16="http://schemas.microsoft.com/office/drawing/2014/main" val="192097877"/>
                    </a:ext>
                  </a:extLst>
                </a:gridCol>
                <a:gridCol w="768376">
                  <a:extLst>
                    <a:ext uri="{9D8B030D-6E8A-4147-A177-3AD203B41FA5}">
                      <a16:colId xmlns:a16="http://schemas.microsoft.com/office/drawing/2014/main" val="1326389649"/>
                    </a:ext>
                  </a:extLst>
                </a:gridCol>
                <a:gridCol w="768376">
                  <a:extLst>
                    <a:ext uri="{9D8B030D-6E8A-4147-A177-3AD203B41FA5}">
                      <a16:colId xmlns:a16="http://schemas.microsoft.com/office/drawing/2014/main" val="3544539175"/>
                    </a:ext>
                  </a:extLst>
                </a:gridCol>
              </a:tblGrid>
              <a:tr h="162560">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Jan’25 – 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Mar’25 – 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May’25 – 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Jul’25 – 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Sep’25 – 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900" b="1" i="0" u="none" strike="noStrike" cap="none">
                          <a:solidFill>
                            <a:srgbClr val="071D49"/>
                          </a:solidFill>
                          <a:effectLst/>
                          <a:latin typeface="+mj-lt"/>
                          <a:ea typeface="+mn-ea"/>
                          <a:cs typeface="+mn-cs"/>
                          <a:sym typeface="Arial"/>
                        </a:rPr>
                        <a:t>Nov’25 – 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12" name="Google Shape;303;p8">
            <a:extLst>
              <a:ext uri="{FF2B5EF4-FFF2-40B4-BE49-F238E27FC236}">
                <a16:creationId xmlns:a16="http://schemas.microsoft.com/office/drawing/2014/main" id="{AD857FCC-37A7-4B32-3BD3-4CB6AF210300}"/>
              </a:ext>
            </a:extLst>
          </p:cNvPr>
          <p:cNvGraphicFramePr/>
          <p:nvPr>
            <p:custDataLst>
              <p:tags r:id="rId8"/>
            </p:custDataLst>
          </p:nvPr>
        </p:nvGraphicFramePr>
        <p:xfrm>
          <a:off x="140951" y="1630296"/>
          <a:ext cx="3060000" cy="4004436"/>
        </p:xfrm>
        <a:graphic>
          <a:graphicData uri="http://schemas.openxmlformats.org/drawingml/2006/table">
            <a:tbl>
              <a:tblPr>
                <a:noFill/>
                <a:tableStyleId>{96BACEE3-1A1D-4107-9369-2142449FF59F}</a:tableStyleId>
              </a:tblPr>
              <a:tblGrid>
                <a:gridCol w="3060000">
                  <a:extLst>
                    <a:ext uri="{9D8B030D-6E8A-4147-A177-3AD203B41FA5}">
                      <a16:colId xmlns:a16="http://schemas.microsoft.com/office/drawing/2014/main" val="20000"/>
                    </a:ext>
                  </a:extLst>
                </a:gridCol>
              </a:tblGrid>
              <a:tr h="667406">
                <a:tc>
                  <a:txBody>
                    <a:bodyPr/>
                    <a:lstStyle/>
                    <a:p>
                      <a:pPr marL="0" marR="0" algn="r">
                        <a:lnSpc>
                          <a:spcPct val="115000"/>
                        </a:lnSpc>
                        <a:spcBef>
                          <a:spcPts val="0"/>
                        </a:spcBef>
                        <a:spcAft>
                          <a:spcPts val="0"/>
                        </a:spcAft>
                      </a:pPr>
                      <a:r>
                        <a:rPr lang="en-US" sz="1100" b="1">
                          <a:solidFill>
                            <a:srgbClr val="071D49"/>
                          </a:solidFill>
                          <a:effectLst/>
                          <a:latin typeface="+mj-lt"/>
                          <a:ea typeface="Calibri" panose="020F0502020204030204" pitchFamily="34" charset="0"/>
                        </a:rPr>
                        <a:t>Overall quality of the Rep’s interaction </a:t>
                      </a:r>
                      <a:endParaRPr lang="en-US" sz="1100" b="1">
                        <a:solidFill>
                          <a:srgbClr val="071D49"/>
                        </a:solidFill>
                        <a:effectLst/>
                        <a:latin typeface="+mj-lt"/>
                        <a:ea typeface="Arial" panose="020B0604020202020204" pitchFamily="34" charset="0"/>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rPr>
                        <a:t>The rep’s preparedness</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1"/>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Rep’s</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knowledge</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of the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product</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rPr>
                        <a:t> being discussed</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Arial"/>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The rep’s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ability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to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execute </a:t>
                      </a:r>
                      <a:r>
                        <a:rPr kumimoji="0" lang="en-US" sz="1100" b="0"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a </a:t>
                      </a:r>
                      <a:r>
                        <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Arial"/>
                        </a:rPr>
                        <a:t>smooth interaction</a:t>
                      </a:r>
                      <a:endParaRPr kumimoji="0" lang="en-US" sz="1100" b="1" i="0" u="none" strike="noStrike" kern="0" cap="none" spc="0" normalizeH="0" baseline="0">
                        <a:ln>
                          <a:noFill/>
                        </a:ln>
                        <a:solidFill>
                          <a:srgbClr val="071D49"/>
                        </a:solidFill>
                        <a:effectLst/>
                        <a:uLnTx/>
                        <a:uFillTx/>
                        <a:latin typeface="Arial" panose="020B0604020202020204"/>
                        <a:ea typeface="Calibri" panose="020F0502020204030204" pitchFamily="34" charset="0"/>
                        <a:cs typeface="Arial"/>
                        <a:sym typeface="Calibri"/>
                      </a:endParaRPr>
                    </a:p>
                  </a:txBody>
                  <a:tcPr marL="36000" marR="7200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419085563"/>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Understanding insurance coverage </a:t>
                      </a:r>
                      <a:r>
                        <a:rPr kumimoji="0" lang="en-US" sz="1100" b="0" i="0" u="none" strike="noStrike" kern="0" cap="none" spc="0" normalizeH="0" baseline="0" noProof="0">
                          <a:ln>
                            <a:noFill/>
                          </a:ln>
                          <a:solidFill>
                            <a:srgbClr val="071D49"/>
                          </a:solidFill>
                          <a:effectLst/>
                          <a:uLnTx/>
                          <a:uFillTx/>
                          <a:latin typeface="Arial"/>
                          <a:ea typeface="Calibri" panose="020F0502020204030204" pitchFamily="34" charset="0"/>
                          <a:cs typeface="Arial"/>
                          <a:sym typeface="Arial"/>
                        </a:rPr>
                        <a:t>/ Access</a:t>
                      </a:r>
                      <a:endParaRPr kumimoji="0" lang="en-US" sz="1100" b="1" i="0" u="none" strike="noStrike" kern="0" cap="none" spc="0" normalizeH="0" baseline="0" noProof="0">
                        <a:ln>
                          <a:noFill/>
                        </a:ln>
                        <a:solidFill>
                          <a:srgbClr val="071D49"/>
                        </a:solidFill>
                        <a:effectLst/>
                        <a:uLnTx/>
                        <a:uFillTx/>
                        <a:latin typeface="Arial" panose="020B0604020202020204"/>
                        <a:ea typeface="Calibri" panose="020F0502020204030204" pitchFamily="34" charset="0"/>
                        <a:cs typeface="Arial"/>
                        <a:sym typeface="Calibri"/>
                      </a:endParaRP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19155106"/>
                  </a:ext>
                </a:extLst>
              </a:tr>
              <a:tr h="667406">
                <a:tc>
                  <a:txBody>
                    <a:bodyPr/>
                    <a:lstStyle/>
                    <a:p>
                      <a:pPr marL="0" marR="0" lvl="0" indent="0" algn="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1100" b="1" i="0" u="none" strike="noStrike" kern="0" cap="none" spc="0" normalizeH="0" baseline="0">
                          <a:ln>
                            <a:noFill/>
                          </a:ln>
                          <a:solidFill>
                            <a:srgbClr val="071D49"/>
                          </a:solidFill>
                          <a:effectLst/>
                          <a:uLnTx/>
                          <a:uFillTx/>
                          <a:latin typeface="+mj-lt"/>
                          <a:ea typeface="Arial"/>
                          <a:cs typeface="Arial"/>
                          <a:sym typeface="Arial"/>
                        </a:rPr>
                        <a:t>Compelling reason to prescribe</a:t>
                      </a:r>
                    </a:p>
                  </a:txBody>
                  <a:tcPr marL="68575" marR="685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97852835"/>
                  </a:ext>
                </a:extLst>
              </a:tr>
            </a:tbl>
          </a:graphicData>
        </a:graphic>
      </p:graphicFrame>
      <p:sp>
        <p:nvSpPr>
          <p:cNvPr id="13" name="TextBox 12">
            <a:extLst>
              <a:ext uri="{FF2B5EF4-FFF2-40B4-BE49-F238E27FC236}">
                <a16:creationId xmlns:a16="http://schemas.microsoft.com/office/drawing/2014/main" id="{72E84525-82BA-055D-97B7-F872B4F73779}"/>
              </a:ext>
            </a:extLst>
          </p:cNvPr>
          <p:cNvSpPr txBox="1"/>
          <p:nvPr/>
        </p:nvSpPr>
        <p:spPr>
          <a:xfrm>
            <a:off x="140951" y="1353298"/>
            <a:ext cx="3049439"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sp>
        <p:nvSpPr>
          <p:cNvPr id="11" name="Google Shape;1583;p40">
            <a:extLst>
              <a:ext uri="{FF2B5EF4-FFF2-40B4-BE49-F238E27FC236}">
                <a16:creationId xmlns:a16="http://schemas.microsoft.com/office/drawing/2014/main" id="{49CC132E-6D44-E8F2-2C96-89BA77C9F08B}"/>
              </a:ext>
            </a:extLst>
          </p:cNvPr>
          <p:cNvSpPr/>
          <p:nvPr/>
        </p:nvSpPr>
        <p:spPr>
          <a:xfrm>
            <a:off x="6047121" y="6575654"/>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5" name="Highlight#32">
            <a:extLst>
              <a:ext uri="{FF2B5EF4-FFF2-40B4-BE49-F238E27FC236}">
                <a16:creationId xmlns:a16="http://schemas.microsoft.com/office/drawing/2014/main" id="{17F9C072-0C4B-2897-F2D5-C7D356D4743A}"/>
              </a:ext>
            </a:extLst>
          </p:cNvPr>
          <p:cNvSpPr txBox="1"/>
          <p:nvPr/>
        </p:nvSpPr>
        <p:spPr>
          <a:xfrm>
            <a:off x="128874" y="4979873"/>
            <a:ext cx="7800532" cy="645574"/>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24955932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58903-333F-27B5-AD21-57DC307180E0}"/>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744865C2-6CEC-C659-F94F-3A40FA53134A}"/>
              </a:ext>
            </a:extLst>
          </p:cNvPr>
          <p:cNvSpPr txBox="1"/>
          <p:nvPr/>
        </p:nvSpPr>
        <p:spPr>
          <a:xfrm>
            <a:off x="217239" y="720000"/>
            <a:ext cx="4448384" cy="1269578"/>
          </a:xfrm>
          <a:prstGeom prst="rect">
            <a:avLst/>
          </a:prstGeom>
          <a:noFill/>
        </p:spPr>
        <p:txBody>
          <a:bodyPr wrap="square" lIns="91440" tIns="45720" rIns="91440" bIns="4572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Overall sales Call Quality (OSQ) Overview:</a:t>
            </a:r>
            <a:endParaRPr kumimoji="0" lang="en-US" sz="11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Time Period: Jan 2025 – Dec 2025 | </a:t>
            </a:r>
            <a:r>
              <a:rPr kumimoji="0" lang="en-US" sz="1000" b="0" i="0" u="none"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rPr>
              <a:t>Sample Size: 589 Interactions</a:t>
            </a:r>
            <a:endPar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Overall OSQ Performance: </a:t>
            </a:r>
            <a:r>
              <a:rPr kumimoji="0" lang="en-US" sz="10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79%</a:t>
            </a: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 Top-2 Box (ratings 6-7)</a:t>
            </a:r>
            <a:br>
              <a:rPr kumimoji="0" lang="en-US" sz="10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br>
            <a:r>
              <a:rPr kumimoji="0" lang="en-US" sz="10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HIGH IMPACT METRICS (&gt;45% difference)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 </a:t>
            </a:r>
            <a:r>
              <a:rPr kumimoji="0" lang="en-US" sz="9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(cut-off determined based on the observed deltas)</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71D49"/>
              </a:solidFill>
              <a:effectLst/>
              <a:highlight>
                <a:srgbClr val="FFFF00"/>
              </a:highlight>
              <a:uLnTx/>
              <a:uFillTx/>
              <a:latin typeface="Arial" panose="020B0604020202020204" pitchFamily="34" charset="0"/>
              <a:ea typeface="+mn-ea"/>
              <a:cs typeface="Arial" panose="020B0604020202020204" pitchFamily="34" charset="0"/>
              <a:sym typeface="Arial"/>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13" name="Table 12">
            <a:extLst>
              <a:ext uri="{FF2B5EF4-FFF2-40B4-BE49-F238E27FC236}">
                <a16:creationId xmlns:a16="http://schemas.microsoft.com/office/drawing/2014/main" id="{570A73C5-CB79-BCBC-3D59-0A7CDCBE9066}"/>
              </a:ext>
            </a:extLst>
          </p:cNvPr>
          <p:cNvGraphicFramePr>
            <a:graphicFrameLocks noGrp="1"/>
          </p:cNvGraphicFramePr>
          <p:nvPr/>
        </p:nvGraphicFramePr>
        <p:xfrm>
          <a:off x="360000" y="1577892"/>
          <a:ext cx="4212000" cy="3349510"/>
        </p:xfrm>
        <a:graphic>
          <a:graphicData uri="http://schemas.openxmlformats.org/drawingml/2006/table">
            <a:tbl>
              <a:tblPr/>
              <a:tblGrid>
                <a:gridCol w="396000">
                  <a:extLst>
                    <a:ext uri="{9D8B030D-6E8A-4147-A177-3AD203B41FA5}">
                      <a16:colId xmlns:a16="http://schemas.microsoft.com/office/drawing/2014/main" val="1275676343"/>
                    </a:ext>
                  </a:extLst>
                </a:gridCol>
                <a:gridCol w="1152000">
                  <a:extLst>
                    <a:ext uri="{9D8B030D-6E8A-4147-A177-3AD203B41FA5}">
                      <a16:colId xmlns:a16="http://schemas.microsoft.com/office/drawing/2014/main" val="1927233965"/>
                    </a:ext>
                  </a:extLst>
                </a:gridCol>
                <a:gridCol w="612000">
                  <a:extLst>
                    <a:ext uri="{9D8B030D-6E8A-4147-A177-3AD203B41FA5}">
                      <a16:colId xmlns:a16="http://schemas.microsoft.com/office/drawing/2014/main" val="1696003672"/>
                    </a:ext>
                  </a:extLst>
                </a:gridCol>
                <a:gridCol w="2052000">
                  <a:extLst>
                    <a:ext uri="{9D8B030D-6E8A-4147-A177-3AD203B41FA5}">
                      <a16:colId xmlns:a16="http://schemas.microsoft.com/office/drawing/2014/main" val="3516844335"/>
                    </a:ext>
                  </a:extLst>
                </a:gridCol>
              </a:tblGrid>
              <a:tr h="469510">
                <a:tc>
                  <a:txBody>
                    <a:bodyPr/>
                    <a:lstStyle/>
                    <a:p>
                      <a:pPr algn="ctr" fontAlgn="b"/>
                      <a:r>
                        <a:rPr lang="en-IN" sz="900" b="1">
                          <a:solidFill>
                            <a:srgbClr val="000000"/>
                          </a:solidFill>
                          <a:effectLst/>
                        </a:rPr>
                        <a:t>Rank</a:t>
                      </a: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Metric</a:t>
                      </a: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Impact </a:t>
                      </a:r>
                    </a:p>
                    <a:p>
                      <a:pPr algn="ctr" fontAlgn="b"/>
                      <a:r>
                        <a:rPr lang="en-IN" sz="900" b="1">
                          <a:solidFill>
                            <a:srgbClr val="000000"/>
                          </a:solidFill>
                          <a:effectLst/>
                        </a:rPr>
                        <a:t>(high vs. low OSQ)</a:t>
                      </a: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Explanation</a:t>
                      </a: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extLst>
                  <a:ext uri="{0D108BD9-81ED-4DB2-BD59-A6C34878D82A}">
                    <a16:rowId xmlns:a16="http://schemas.microsoft.com/office/drawing/2014/main" val="2240289558"/>
                  </a:ext>
                </a:extLst>
              </a:tr>
              <a:tr h="576000">
                <a:tc>
                  <a:txBody>
                    <a:bodyPr/>
                    <a:lstStyle/>
                    <a:p>
                      <a:pPr algn="ctr" fontAlgn="base"/>
                      <a:r>
                        <a:rPr lang="en-IN" sz="900" b="1">
                          <a:solidFill>
                            <a:srgbClr val="000000"/>
                          </a:solidFill>
                          <a:effectLst/>
                        </a:rPr>
                        <a:t>1</a:t>
                      </a: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b="1" kern="1200">
                          <a:solidFill>
                            <a:srgbClr val="000000"/>
                          </a:solidFill>
                          <a:effectLst/>
                          <a:latin typeface="+mn-lt"/>
                          <a:ea typeface="+mn-ea"/>
                          <a:cs typeface="+mn-cs"/>
                        </a:rPr>
                        <a:t>Rep - Compelling reason to prescribe</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56.2%</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Strong compelling reason to prescribe led to 56.2% more high OSQ interactions vs. low OSQ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819772961"/>
                  </a:ext>
                </a:extLst>
              </a:tr>
              <a:tr h="576000">
                <a:tc>
                  <a:txBody>
                    <a:bodyPr/>
                    <a:lstStyle/>
                    <a:p>
                      <a:pPr algn="ctr" fontAlgn="base"/>
                      <a:r>
                        <a:rPr lang="en-IN" sz="900" b="1">
                          <a:solidFill>
                            <a:srgbClr val="000000"/>
                          </a:solidFill>
                          <a:effectLst/>
                        </a:rPr>
                        <a:t>2</a:t>
                      </a:r>
                      <a:endParaRPr lang="en-IN" sz="900">
                        <a:solidFill>
                          <a:srgbClr val="000000"/>
                        </a:solidFill>
                        <a:effectLst/>
                      </a:endParaRP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Credible Support</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54.9%</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Reps rated high for offering credible support had 54.9% more high OSQ interactions vs. low OSQ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519902895"/>
                  </a:ext>
                </a:extLst>
              </a:tr>
              <a:tr h="576000">
                <a:tc>
                  <a:txBody>
                    <a:bodyPr/>
                    <a:lstStyle/>
                    <a:p>
                      <a:pPr algn="ctr" fontAlgn="base"/>
                      <a:r>
                        <a:rPr lang="en-IN" sz="900" b="1">
                          <a:solidFill>
                            <a:srgbClr val="000000"/>
                          </a:solidFill>
                          <a:effectLst/>
                        </a:rPr>
                        <a:t>3</a:t>
                      </a:r>
                      <a:endParaRPr lang="en-IN" sz="900">
                        <a:solidFill>
                          <a:srgbClr val="000000"/>
                        </a:solidFill>
                        <a:effectLst/>
                      </a:endParaRP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Provided Material</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53.2%</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Providing supporting materials during the interaction was 53.2% more likely to lead to high OSQ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3570072057"/>
                  </a:ext>
                </a:extLst>
              </a:tr>
              <a:tr h="576000">
                <a:tc>
                  <a:txBody>
                    <a:bodyPr/>
                    <a:lstStyle/>
                    <a:p>
                      <a:pPr algn="ctr" fontAlgn="base"/>
                      <a:r>
                        <a:rPr lang="en-IN" sz="900" b="1">
                          <a:solidFill>
                            <a:srgbClr val="000000"/>
                          </a:solidFill>
                          <a:effectLst/>
                        </a:rPr>
                        <a:t>4</a:t>
                      </a:r>
                      <a:endParaRPr lang="en-IN" sz="900">
                        <a:solidFill>
                          <a:srgbClr val="000000"/>
                        </a:solidFill>
                        <a:effectLst/>
                      </a:endParaRP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Indication Knowledge</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52.5%</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Strong indication knowledge by the rep led to 52.5% more high OSQ interactions vs. low OSQ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084564901"/>
                  </a:ext>
                </a:extLst>
              </a:tr>
              <a:tr h="576000">
                <a:tc>
                  <a:txBody>
                    <a:bodyPr/>
                    <a:lstStyle/>
                    <a:p>
                      <a:pPr algn="ctr" fontAlgn="base"/>
                      <a:r>
                        <a:rPr lang="en-IN" sz="900" b="1">
                          <a:solidFill>
                            <a:srgbClr val="000000"/>
                          </a:solidFill>
                          <a:effectLst/>
                        </a:rPr>
                        <a:t>5</a:t>
                      </a:r>
                      <a:endParaRPr lang="en-IN" sz="900">
                        <a:solidFill>
                          <a:srgbClr val="000000"/>
                        </a:solidFill>
                        <a:effectLst/>
                      </a:endParaRPr>
                    </a:p>
                  </a:txBody>
                  <a:tcPr marL="45445" marR="45445" marT="22722" marB="22722"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IN" sz="900" b="1" kern="1200">
                          <a:solidFill>
                            <a:srgbClr val="000000"/>
                          </a:solidFill>
                          <a:effectLst/>
                          <a:latin typeface="+mn-lt"/>
                          <a:ea typeface="+mn-ea"/>
                          <a:cs typeface="+mn-cs"/>
                        </a:rPr>
                        <a:t>Rep - Preparedness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IN" sz="900" b="1" kern="1200">
                          <a:solidFill>
                            <a:srgbClr val="000000"/>
                          </a:solidFill>
                          <a:effectLst/>
                          <a:latin typeface="+mn-lt"/>
                          <a:ea typeface="+mn-ea"/>
                          <a:cs typeface="+mn-cs"/>
                        </a:rPr>
                        <a:t>49.4%</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US" sz="900" kern="1200">
                          <a:solidFill>
                            <a:srgbClr val="000000"/>
                          </a:solidFill>
                          <a:effectLst/>
                          <a:latin typeface="+mn-lt"/>
                          <a:ea typeface="+mn-ea"/>
                          <a:cs typeface="+mn-cs"/>
                        </a:rPr>
                        <a:t>Preparedness of the rep led to 49.4% more high OSQ  interactions vs. low OSQ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465504249"/>
                  </a:ext>
                </a:extLst>
              </a:tr>
            </a:tbl>
          </a:graphicData>
        </a:graphic>
      </p:graphicFrame>
      <p:sp>
        <p:nvSpPr>
          <p:cNvPr id="5" name="TextBox 4">
            <a:extLst>
              <a:ext uri="{FF2B5EF4-FFF2-40B4-BE49-F238E27FC236}">
                <a16:creationId xmlns:a16="http://schemas.microsoft.com/office/drawing/2014/main" id="{B1515DC2-68BC-AA86-CA52-F56BC628AC4C}"/>
              </a:ext>
            </a:extLst>
          </p:cNvPr>
          <p:cNvSpPr txBox="1"/>
          <p:nvPr/>
        </p:nvSpPr>
        <p:spPr>
          <a:xfrm>
            <a:off x="274388" y="5770165"/>
            <a:ext cx="8595224" cy="5078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 typeface="Arial"/>
              <a:buNone/>
              <a:tabLst/>
              <a:defRPr/>
            </a:pPr>
            <a:r>
              <a:rPr kumimoji="0" lang="en-US" sz="900" b="0" i="1"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rPr>
              <a:t>NOTE: This analysis assesses the delta between PET metrics when OSQ / </a:t>
            </a:r>
            <a:r>
              <a:rPr kumimoji="0" lang="en-US" sz="900" b="0" i="1" u="none" strike="noStrike" kern="1200" cap="none" spc="0" normalizeH="0" baseline="0" noProof="0">
                <a:ln>
                  <a:noFill/>
                </a:ln>
                <a:solidFill>
                  <a:srgbClr val="FF0000"/>
                </a:solidFill>
                <a:effectLst/>
                <a:uLnTx/>
                <a:uFillTx/>
                <a:latin typeface="Arial" panose="020B0604020202020204" pitchFamily="34" charset="0"/>
                <a:cs typeface="Arial" panose="020B0604020202020204" pitchFamily="34" charset="0"/>
                <a:sym typeface="Arial"/>
              </a:rPr>
              <a:t>LTIP </a:t>
            </a:r>
            <a:r>
              <a:rPr kumimoji="0" lang="en-US" sz="900" b="0" i="1"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rPr>
              <a:t>ratings are high (6,7) vs. low (1-5). Given that </a:t>
            </a:r>
            <a:r>
              <a:rPr kumimoji="0" lang="en-US" sz="900" b="0" i="1" u="none" strike="noStrike" kern="1200" cap="none" spc="0" normalizeH="0" baseline="0" noProof="0">
                <a:ln>
                  <a:noFill/>
                </a:ln>
                <a:solidFill>
                  <a:srgbClr val="FF0000"/>
                </a:solidFill>
                <a:effectLst/>
                <a:uLnTx/>
                <a:uFillTx/>
                <a:latin typeface="Arial" panose="020B0604020202020204" pitchFamily="34" charset="0"/>
                <a:cs typeface="Arial" panose="020B0604020202020204" pitchFamily="34" charset="0"/>
                <a:sym typeface="Arial"/>
              </a:rPr>
              <a:t>OSQ / LTIP </a:t>
            </a:r>
            <a:r>
              <a:rPr kumimoji="0" lang="en-US" sz="900" b="0" i="1"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rPr>
              <a:t>is a standalone metric (rated on a 1–7 scale), it may also reflect HCPs impressions influenced by factors beyond the PET metrics (e.g., general representative demeanor, hospitality, etc.). These aspects are not captured within the survey and therefore fall outside the scope of validation in this analysis</a:t>
            </a:r>
          </a:p>
        </p:txBody>
      </p:sp>
      <p:sp>
        <p:nvSpPr>
          <p:cNvPr id="7" name="Google Shape;297;p8">
            <a:extLst>
              <a:ext uri="{FF2B5EF4-FFF2-40B4-BE49-F238E27FC236}">
                <a16:creationId xmlns:a16="http://schemas.microsoft.com/office/drawing/2014/main" id="{1DE31501-24D6-192A-F571-613E2E592A24}"/>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rPr>
              <a:t>Across the last 12 months, Reps’ compelling reasons to prescribe has consistently been the leading driver of both OSQ and LTIP for CREON</a:t>
            </a:r>
          </a:p>
        </p:txBody>
      </p:sp>
      <p:sp>
        <p:nvSpPr>
          <p:cNvPr id="2" name="Title 1">
            <a:extLst>
              <a:ext uri="{FF2B5EF4-FFF2-40B4-BE49-F238E27FC236}">
                <a16:creationId xmlns:a16="http://schemas.microsoft.com/office/drawing/2014/main" id="{7864C904-D39C-B312-B44B-5831AB580B29}"/>
              </a:ext>
            </a:extLst>
          </p:cNvPr>
          <p:cNvSpPr>
            <a:spLocks noGrp="1"/>
          </p:cNvSpPr>
          <p:nvPr>
            <p:ph type="title" idx="4294967295"/>
          </p:nvPr>
        </p:nvSpPr>
        <p:spPr>
          <a:xfrm>
            <a:off x="0" y="4981575"/>
            <a:ext cx="4114800" cy="576263"/>
          </a:xfrm>
          <a:ln>
            <a:solidFill>
              <a:srgbClr val="FFC000"/>
            </a:solidFill>
            <a:prstDash val="lgDash"/>
          </a:ln>
        </p:spPr>
        <p:txBody>
          <a:bodyPr wrap="square" lIns="36000" tIns="36000" rIns="36000" bIns="36000" anchor="ctr"/>
          <a:lstStyle/>
          <a:p>
            <a:pPr defTabSz="914400" eaLnBrk="1" fontAlgn="auto" hangingPunct="1">
              <a:spcBef>
                <a:spcPts val="0"/>
              </a:spcBef>
              <a:spcAft>
                <a:spcPts val="0"/>
              </a:spcAft>
              <a:defRPr/>
            </a:pPr>
            <a:r>
              <a:rPr lang="en-US" sz="900" i="1">
                <a:solidFill>
                  <a:srgbClr val="FF0000"/>
                </a:solidFill>
                <a:latin typeface="Arial" panose="020B0604020202020204" pitchFamily="34" charset="0"/>
                <a:cs typeface="Arial" panose="020B0604020202020204" pitchFamily="34" charset="0"/>
              </a:rPr>
              <a:t>What are other ways to understand these metrics?</a:t>
            </a:r>
            <a:br>
              <a:rPr lang="en-US" sz="900">
                <a:latin typeface="Arial" panose="020B0604020202020204" pitchFamily="34" charset="0"/>
                <a:cs typeface="Arial" panose="020B0604020202020204" pitchFamily="34" charset="0"/>
              </a:rPr>
            </a:br>
            <a:r>
              <a:rPr lang="en-US" sz="900" b="1">
                <a:latin typeface="Arial" panose="020B0604020202020204" pitchFamily="34" charset="0"/>
                <a:cs typeface="Arial" panose="020B0604020202020204" pitchFamily="34" charset="0"/>
              </a:rPr>
              <a:t>OSQ Impact Analysis</a:t>
            </a:r>
            <a:r>
              <a:rPr lang="en-US" sz="900">
                <a:latin typeface="Arial" panose="020B0604020202020204" pitchFamily="34" charset="0"/>
                <a:cs typeface="Arial" panose="020B0604020202020204" pitchFamily="34" charset="0"/>
              </a:rPr>
              <a:t>: This analysis identifies the key drivers of high Overall sales Call Quality (OSQ) ratings for CREON, ranking all available tagged PET metrics by their impact on achieving high ratings (6,7).</a:t>
            </a:r>
          </a:p>
        </p:txBody>
      </p:sp>
      <p:sp>
        <p:nvSpPr>
          <p:cNvPr id="8" name="TextBox 7">
            <a:extLst>
              <a:ext uri="{FF2B5EF4-FFF2-40B4-BE49-F238E27FC236}">
                <a16:creationId xmlns:a16="http://schemas.microsoft.com/office/drawing/2014/main" id="{BC3A044A-7834-1844-057A-7D65AF138C0B}"/>
              </a:ext>
            </a:extLst>
          </p:cNvPr>
          <p:cNvSpPr txBox="1"/>
          <p:nvPr/>
        </p:nvSpPr>
        <p:spPr>
          <a:xfrm>
            <a:off x="274388" y="5590699"/>
            <a:ext cx="8473804"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srgbClr val="45AB00"/>
                </a:solidFill>
                <a:effectLst/>
                <a:uLnTx/>
                <a:uFillTx/>
                <a:latin typeface="Arial" panose="020B0604020202020204" pitchFamily="34" charset="0"/>
                <a:ea typeface="+mn-ea"/>
                <a:cs typeface="Arial" panose="020B0604020202020204" pitchFamily="34" charset="0"/>
                <a:sym typeface="Arial"/>
              </a:rPr>
              <a:t>NOTE: Green highlighted attributes are common attributes between the LTIP and OSQ impact analysis</a:t>
            </a:r>
          </a:p>
        </p:txBody>
      </p:sp>
      <p:sp>
        <p:nvSpPr>
          <p:cNvPr id="3" name="TextBox 2">
            <a:extLst>
              <a:ext uri="{FF2B5EF4-FFF2-40B4-BE49-F238E27FC236}">
                <a16:creationId xmlns:a16="http://schemas.microsoft.com/office/drawing/2014/main" id="{4A1CD1D0-5C50-84AB-60E3-88DD0E3A59D4}"/>
              </a:ext>
            </a:extLst>
          </p:cNvPr>
          <p:cNvSpPr txBox="1"/>
          <p:nvPr/>
        </p:nvSpPr>
        <p:spPr>
          <a:xfrm>
            <a:off x="4722774" y="720000"/>
            <a:ext cx="4535521" cy="1223412"/>
          </a:xfrm>
          <a:prstGeom prst="rect">
            <a:avLst/>
          </a:prstGeom>
          <a:noFill/>
        </p:spPr>
        <p:txBody>
          <a:bodyPr wrap="square" lIns="91440" tIns="45720" rIns="91440" bIns="4572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Likelihood to Prescribe (LTIP) Overview:</a:t>
            </a:r>
            <a:endParaRPr kumimoji="0" lang="en-US" sz="11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Time Period: </a:t>
            </a:r>
            <a:r>
              <a:rPr kumimoji="0" lang="en-US" sz="1000" b="0" i="0" u="none" strike="noStrike" kern="120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rPr>
              <a:t>Jan 2025 – Dec 2025 | Sample Size: 644 Interactions</a:t>
            </a:r>
            <a:endPar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Overall LTIP Performance: </a:t>
            </a:r>
            <a:r>
              <a:rPr kumimoji="0" lang="en-US" sz="10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61%</a:t>
            </a:r>
            <a:r>
              <a:rPr kumimoji="0" lang="en-US" sz="10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 Top-2 Box (ratings 6-7)</a:t>
            </a:r>
            <a:br>
              <a:rPr kumimoji="0" lang="en-US" sz="11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br>
            <a:r>
              <a:rPr kumimoji="0" lang="en-US" sz="10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HIGH IMPACT METRICS (&gt;25% difference)</a:t>
            </a:r>
            <a:r>
              <a:rPr kumimoji="0" lang="en-US" sz="10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 </a:t>
            </a:r>
            <a:endParaRPr kumimoji="0" lang="en-US" sz="11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(cut-off determined based on the observed deltas)</a:t>
            </a:r>
            <a:endParaRPr kumimoji="0" lang="en-US" sz="900" b="1"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71D49"/>
              </a:solidFill>
              <a:effectLst/>
              <a:highlight>
                <a:srgbClr val="FFFF00"/>
              </a:highlight>
              <a:uLnTx/>
              <a:uFillTx/>
              <a:latin typeface="Arial" panose="020B0604020202020204" pitchFamily="34" charset="0"/>
              <a:ea typeface="+mn-ea"/>
              <a:cs typeface="Arial" panose="020B0604020202020204" pitchFamily="34" charset="0"/>
              <a:sym typeface="Arial"/>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4" name="Table 3">
            <a:extLst>
              <a:ext uri="{FF2B5EF4-FFF2-40B4-BE49-F238E27FC236}">
                <a16:creationId xmlns:a16="http://schemas.microsoft.com/office/drawing/2014/main" id="{743AFFCC-6BD7-BF77-96A4-52B9A65D99D6}"/>
              </a:ext>
            </a:extLst>
          </p:cNvPr>
          <p:cNvGraphicFramePr>
            <a:graphicFrameLocks noGrp="1"/>
          </p:cNvGraphicFramePr>
          <p:nvPr/>
        </p:nvGraphicFramePr>
        <p:xfrm>
          <a:off x="4717125" y="1577892"/>
          <a:ext cx="4213041" cy="3336696"/>
        </p:xfrm>
        <a:graphic>
          <a:graphicData uri="http://schemas.openxmlformats.org/drawingml/2006/table">
            <a:tbl>
              <a:tblPr/>
              <a:tblGrid>
                <a:gridCol w="395692">
                  <a:extLst>
                    <a:ext uri="{9D8B030D-6E8A-4147-A177-3AD203B41FA5}">
                      <a16:colId xmlns:a16="http://schemas.microsoft.com/office/drawing/2014/main" val="1275676343"/>
                    </a:ext>
                  </a:extLst>
                </a:gridCol>
                <a:gridCol w="1152144">
                  <a:extLst>
                    <a:ext uri="{9D8B030D-6E8A-4147-A177-3AD203B41FA5}">
                      <a16:colId xmlns:a16="http://schemas.microsoft.com/office/drawing/2014/main" val="1927233965"/>
                    </a:ext>
                  </a:extLst>
                </a:gridCol>
                <a:gridCol w="611523">
                  <a:extLst>
                    <a:ext uri="{9D8B030D-6E8A-4147-A177-3AD203B41FA5}">
                      <a16:colId xmlns:a16="http://schemas.microsoft.com/office/drawing/2014/main" val="1696003672"/>
                    </a:ext>
                  </a:extLst>
                </a:gridCol>
                <a:gridCol w="2053682">
                  <a:extLst>
                    <a:ext uri="{9D8B030D-6E8A-4147-A177-3AD203B41FA5}">
                      <a16:colId xmlns:a16="http://schemas.microsoft.com/office/drawing/2014/main" val="3516844335"/>
                    </a:ext>
                  </a:extLst>
                </a:gridCol>
              </a:tblGrid>
              <a:tr h="556116">
                <a:tc>
                  <a:txBody>
                    <a:bodyPr/>
                    <a:lstStyle/>
                    <a:p>
                      <a:pPr algn="ctr" fontAlgn="b"/>
                      <a:r>
                        <a:rPr lang="en-IN" sz="900" b="1">
                          <a:solidFill>
                            <a:srgbClr val="000000"/>
                          </a:solidFill>
                          <a:effectLst/>
                        </a:rPr>
                        <a:t>Rank</a:t>
                      </a:r>
                    </a:p>
                  </a:txBody>
                  <a:tcPr marL="0" marR="0" marT="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Metric</a:t>
                      </a:r>
                    </a:p>
                  </a:txBody>
                  <a:tcPr marL="0" marR="0" marT="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Impact </a:t>
                      </a:r>
                    </a:p>
                    <a:p>
                      <a:pPr algn="ctr" fontAlgn="b"/>
                      <a:r>
                        <a:rPr lang="en-IN" sz="900" b="1">
                          <a:solidFill>
                            <a:srgbClr val="000000"/>
                          </a:solidFill>
                          <a:effectLst/>
                        </a:rPr>
                        <a:t>(high vs. low LTIP)</a:t>
                      </a:r>
                    </a:p>
                  </a:txBody>
                  <a:tcPr marL="0" marR="0" marT="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tc>
                  <a:txBody>
                    <a:bodyPr/>
                    <a:lstStyle/>
                    <a:p>
                      <a:pPr algn="ctr" fontAlgn="b"/>
                      <a:r>
                        <a:rPr lang="en-IN" sz="900" b="1">
                          <a:solidFill>
                            <a:srgbClr val="000000"/>
                          </a:solidFill>
                          <a:effectLst/>
                        </a:rPr>
                        <a:t>Explanation</a:t>
                      </a:r>
                    </a:p>
                  </a:txBody>
                  <a:tcPr marL="0" marR="0" marT="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762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noFill/>
                  </a:tcPr>
                </a:tc>
                <a:extLst>
                  <a:ext uri="{0D108BD9-81ED-4DB2-BD59-A6C34878D82A}">
                    <a16:rowId xmlns:a16="http://schemas.microsoft.com/office/drawing/2014/main" val="2240289558"/>
                  </a:ext>
                </a:extLst>
              </a:tr>
              <a:tr h="556116">
                <a:tc>
                  <a:txBody>
                    <a:bodyPr/>
                    <a:lstStyle/>
                    <a:p>
                      <a:pPr algn="ctr" fontAlgn="b">
                        <a:buNone/>
                      </a:pPr>
                      <a:r>
                        <a:rPr lang="en-IN" sz="900" b="1" kern="1200">
                          <a:solidFill>
                            <a:srgbClr val="000000"/>
                          </a:solidFill>
                          <a:effectLst/>
                          <a:latin typeface="+mn-lt"/>
                          <a:ea typeface="+mn-ea"/>
                          <a:cs typeface="+mn-cs"/>
                        </a:rPr>
                        <a:t>1</a:t>
                      </a:r>
                    </a:p>
                  </a:txBody>
                  <a:tcPr marL="45720" marR="4572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b="1" kern="1200">
                          <a:solidFill>
                            <a:srgbClr val="000000"/>
                          </a:solidFill>
                          <a:effectLst/>
                          <a:latin typeface="+mn-lt"/>
                          <a:ea typeface="+mn-ea"/>
                          <a:cs typeface="+mn-cs"/>
                        </a:rPr>
                        <a:t>Rep - Compelling reason to prescribe</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28.8%</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Delivering a compelling reason to prescribe led to 28.8% more high LTIP interactions vs. low LTIP</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819772961"/>
                  </a:ext>
                </a:extLst>
              </a:tr>
              <a:tr h="556116">
                <a:tc>
                  <a:txBody>
                    <a:bodyPr/>
                    <a:lstStyle/>
                    <a:p>
                      <a:pPr algn="ctr" fontAlgn="b">
                        <a:buNone/>
                      </a:pPr>
                      <a:r>
                        <a:rPr lang="en-IN" sz="900" b="1" kern="1200">
                          <a:solidFill>
                            <a:srgbClr val="000000"/>
                          </a:solidFill>
                          <a:effectLst/>
                          <a:latin typeface="+mn-lt"/>
                          <a:ea typeface="+mn-ea"/>
                          <a:cs typeface="+mn-cs"/>
                        </a:rPr>
                        <a:t>2</a:t>
                      </a:r>
                    </a:p>
                  </a:txBody>
                  <a:tcPr marL="45720" marR="4572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Provided Material</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25.3%</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Providing supporting materials during the interaction was 25.3% more likely to lead to high LTIP engagements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519902895"/>
                  </a:ext>
                </a:extLst>
              </a:tr>
              <a:tr h="556116">
                <a:tc>
                  <a:txBody>
                    <a:bodyPr/>
                    <a:lstStyle/>
                    <a:p>
                      <a:pPr algn="ctr" fontAlgn="b">
                        <a:buNone/>
                      </a:pPr>
                      <a:r>
                        <a:rPr lang="en-IN" sz="900" b="1" kern="1200">
                          <a:solidFill>
                            <a:srgbClr val="000000"/>
                          </a:solidFill>
                          <a:effectLst/>
                          <a:latin typeface="+mn-lt"/>
                          <a:ea typeface="+mn-ea"/>
                          <a:cs typeface="+mn-cs"/>
                        </a:rPr>
                        <a:t>3</a:t>
                      </a:r>
                    </a:p>
                  </a:txBody>
                  <a:tcPr marL="45720" marR="4572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Credible Support</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23.7%</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Reps rated high for offering credible support had 23.7% more high LTIP interactions vs. low LTIP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3570072057"/>
                  </a:ext>
                </a:extLst>
              </a:tr>
              <a:tr h="556116">
                <a:tc>
                  <a:txBody>
                    <a:bodyPr/>
                    <a:lstStyle/>
                    <a:p>
                      <a:pPr algn="ctr" fontAlgn="b">
                        <a:buNone/>
                      </a:pPr>
                      <a:r>
                        <a:rPr lang="en-IN" sz="900" b="1" kern="1200">
                          <a:solidFill>
                            <a:srgbClr val="000000"/>
                          </a:solidFill>
                          <a:effectLst/>
                          <a:latin typeface="+mn-lt"/>
                          <a:ea typeface="+mn-ea"/>
                          <a:cs typeface="+mn-cs"/>
                        </a:rPr>
                        <a:t>4</a:t>
                      </a:r>
                    </a:p>
                  </a:txBody>
                  <a:tcPr marL="45720" marR="4572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Rep - Indication Knowledge</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IN" sz="900" b="1" kern="1200">
                          <a:solidFill>
                            <a:srgbClr val="000000"/>
                          </a:solidFill>
                          <a:effectLst/>
                          <a:latin typeface="+mn-lt"/>
                          <a:ea typeface="+mn-ea"/>
                          <a:cs typeface="+mn-cs"/>
                        </a:rPr>
                        <a:t>20.2%</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tc>
                  <a:txBody>
                    <a:bodyPr/>
                    <a:lstStyle/>
                    <a:p>
                      <a:pPr algn="ctr" fontAlgn="b">
                        <a:buNone/>
                      </a:pPr>
                      <a:r>
                        <a:rPr lang="en-US" sz="900" kern="1200">
                          <a:solidFill>
                            <a:srgbClr val="000000"/>
                          </a:solidFill>
                          <a:effectLst/>
                          <a:latin typeface="+mn-lt"/>
                          <a:ea typeface="+mn-ea"/>
                          <a:cs typeface="+mn-cs"/>
                        </a:rPr>
                        <a:t>Strong indication knowledge by the rep led to 20.2% more high LTIP interactions vs. low LTIP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rgbClr val="D7FFBB"/>
                    </a:solidFill>
                  </a:tcPr>
                </a:tc>
                <a:extLst>
                  <a:ext uri="{0D108BD9-81ED-4DB2-BD59-A6C34878D82A}">
                    <a16:rowId xmlns:a16="http://schemas.microsoft.com/office/drawing/2014/main" val="2084564901"/>
                  </a:ext>
                </a:extLst>
              </a:tr>
              <a:tr h="556116">
                <a:tc>
                  <a:txBody>
                    <a:bodyPr/>
                    <a:lstStyle/>
                    <a:p>
                      <a:pPr algn="ctr" fontAlgn="b">
                        <a:buNone/>
                      </a:pPr>
                      <a:r>
                        <a:rPr lang="en-IN" sz="900" b="1" kern="1200">
                          <a:solidFill>
                            <a:srgbClr val="000000"/>
                          </a:solidFill>
                          <a:effectLst/>
                          <a:latin typeface="+mn-lt"/>
                          <a:ea typeface="+mn-ea"/>
                          <a:cs typeface="+mn-cs"/>
                        </a:rPr>
                        <a:t>5</a:t>
                      </a:r>
                    </a:p>
                  </a:txBody>
                  <a:tcPr marL="45720" marR="4572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IN" sz="900" b="1" kern="1200">
                          <a:solidFill>
                            <a:srgbClr val="000000"/>
                          </a:solidFill>
                          <a:effectLst/>
                          <a:latin typeface="+mn-lt"/>
                          <a:ea typeface="+mn-ea"/>
                          <a:cs typeface="+mn-cs"/>
                        </a:rPr>
                        <a:t>Rep - Preparedness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IN" sz="900" b="1" kern="1200">
                          <a:solidFill>
                            <a:srgbClr val="000000"/>
                          </a:solidFill>
                          <a:effectLst/>
                          <a:latin typeface="+mn-lt"/>
                          <a:ea typeface="+mn-ea"/>
                          <a:cs typeface="+mn-cs"/>
                        </a:rPr>
                        <a:t>17.5%</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tc>
                  <a:txBody>
                    <a:bodyPr/>
                    <a:lstStyle/>
                    <a:p>
                      <a:pPr algn="ctr" fontAlgn="b">
                        <a:buNone/>
                      </a:pPr>
                      <a:r>
                        <a:rPr lang="en-US" sz="900" kern="1200">
                          <a:solidFill>
                            <a:srgbClr val="000000"/>
                          </a:solidFill>
                          <a:effectLst/>
                          <a:latin typeface="+mn-lt"/>
                          <a:ea typeface="+mn-ea"/>
                          <a:cs typeface="+mn-cs"/>
                        </a:rPr>
                        <a:t>Preparedness of the rep led to 17.5% more high LTIP interactions vs. low LTIP interactions</a:t>
                      </a:r>
                    </a:p>
                  </a:txBody>
                  <a:tcPr marL="6350" marR="6350" marT="6350" marB="0" anchor="ctr">
                    <a:lnL w="7620" cap="flat" cmpd="sng" algn="ctr">
                      <a:solidFill>
                        <a:srgbClr val="424242"/>
                      </a:solidFill>
                      <a:prstDash val="solid"/>
                      <a:round/>
                      <a:headEnd type="none" w="med" len="med"/>
                      <a:tailEnd type="none" w="med" len="med"/>
                    </a:lnL>
                    <a:lnR w="7620" cap="flat" cmpd="sng" algn="ctr">
                      <a:solidFill>
                        <a:srgbClr val="424242"/>
                      </a:solidFill>
                      <a:prstDash val="solid"/>
                      <a:round/>
                      <a:headEnd type="none" w="med" len="med"/>
                      <a:tailEnd type="none" w="med" len="med"/>
                    </a:lnR>
                    <a:lnT w="12700" cap="flat" cmpd="sng" algn="ctr">
                      <a:solidFill>
                        <a:srgbClr val="424242"/>
                      </a:solidFill>
                      <a:prstDash val="solid"/>
                      <a:round/>
                      <a:headEnd type="none" w="med" len="med"/>
                      <a:tailEnd type="none" w="med" len="med"/>
                    </a:lnT>
                    <a:lnB w="12700" cap="flat" cmpd="sng" algn="ctr">
                      <a:solidFill>
                        <a:srgbClr val="424242"/>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465504249"/>
                  </a:ext>
                </a:extLst>
              </a:tr>
            </a:tbl>
          </a:graphicData>
        </a:graphic>
      </p:graphicFrame>
      <p:cxnSp>
        <p:nvCxnSpPr>
          <p:cNvPr id="10" name="Straight Connector 9">
            <a:extLst>
              <a:ext uri="{FF2B5EF4-FFF2-40B4-BE49-F238E27FC236}">
                <a16:creationId xmlns:a16="http://schemas.microsoft.com/office/drawing/2014/main" id="{69E5DF7A-6281-1BC7-58F0-27EC2F5BB798}"/>
              </a:ext>
            </a:extLst>
          </p:cNvPr>
          <p:cNvCxnSpPr>
            <a:cxnSpLocks/>
          </p:cNvCxnSpPr>
          <p:nvPr/>
        </p:nvCxnSpPr>
        <p:spPr>
          <a:xfrm>
            <a:off x="4626864" y="809625"/>
            <a:ext cx="0" cy="4754880"/>
          </a:xfrm>
          <a:prstGeom prst="line">
            <a:avLst/>
          </a:prstGeom>
          <a:ln w="12700"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14" name="Title 1">
            <a:extLst>
              <a:ext uri="{FF2B5EF4-FFF2-40B4-BE49-F238E27FC236}">
                <a16:creationId xmlns:a16="http://schemas.microsoft.com/office/drawing/2014/main" id="{88A0657F-018C-B372-B0E5-FF28048CAEAE}"/>
              </a:ext>
            </a:extLst>
          </p:cNvPr>
          <p:cNvSpPr txBox="1">
            <a:spLocks/>
          </p:cNvSpPr>
          <p:nvPr/>
        </p:nvSpPr>
        <p:spPr bwMode="auto">
          <a:xfrm>
            <a:off x="4717125" y="4981822"/>
            <a:ext cx="4212000" cy="576000"/>
          </a:xfrm>
          <a:prstGeom prst="rect">
            <a:avLst/>
          </a:prstGeom>
          <a:noFill/>
          <a:ln w="9525">
            <a:solidFill>
              <a:srgbClr val="FFC000"/>
            </a:solidFill>
            <a:prstDash val="lgDash"/>
            <a:miter lim="800000"/>
            <a:headEnd/>
            <a:tailEnd/>
          </a:ln>
        </p:spPr>
        <p:txBody>
          <a:bodyPr vert="horz" wrap="square" lIns="36000" tIns="36000" rIns="36000" bIns="36000" numCol="1" anchor="b" anchorCtr="0" compatLnSpc="1">
            <a:prstTxWarp prst="textNoShape">
              <a:avLst/>
            </a:prstTxWarp>
          </a:bodyPr>
          <a:lstStyle>
            <a:lvl1pPr algn="l" defTabSz="342906" rtl="0" eaLnBrk="0" fontAlgn="base" hangingPunct="0">
              <a:lnSpc>
                <a:spcPct val="90000"/>
              </a:lnSpc>
              <a:spcBef>
                <a:spcPct val="0"/>
              </a:spcBef>
              <a:spcAft>
                <a:spcPct val="0"/>
              </a:spcAft>
              <a:defRPr lang="en-US" sz="1800" kern="1200" dirty="0">
                <a:solidFill>
                  <a:schemeClr val="tx1"/>
                </a:solidFill>
                <a:latin typeface="+mj-lt"/>
                <a:ea typeface="+mj-ea"/>
                <a:cs typeface="+mj-cs"/>
              </a:defRPr>
            </a:lvl1pPr>
            <a:lvl2pPr algn="l" defTabSz="342906" rtl="0" eaLnBrk="0" fontAlgn="base" hangingPunct="0">
              <a:lnSpc>
                <a:spcPct val="90000"/>
              </a:lnSpc>
              <a:spcBef>
                <a:spcPct val="0"/>
              </a:spcBef>
              <a:spcAft>
                <a:spcPct val="0"/>
              </a:spcAft>
              <a:defRPr sz="1800">
                <a:solidFill>
                  <a:schemeClr val="tx2"/>
                </a:solidFill>
                <a:latin typeface="Calibri" pitchFamily="34" charset="0"/>
              </a:defRPr>
            </a:lvl2pPr>
            <a:lvl3pPr algn="l" defTabSz="342906" rtl="0" eaLnBrk="0" fontAlgn="base" hangingPunct="0">
              <a:lnSpc>
                <a:spcPct val="90000"/>
              </a:lnSpc>
              <a:spcBef>
                <a:spcPct val="0"/>
              </a:spcBef>
              <a:spcAft>
                <a:spcPct val="0"/>
              </a:spcAft>
              <a:defRPr sz="1800">
                <a:solidFill>
                  <a:schemeClr val="tx2"/>
                </a:solidFill>
                <a:latin typeface="Calibri" pitchFamily="34" charset="0"/>
              </a:defRPr>
            </a:lvl3pPr>
            <a:lvl4pPr algn="l" defTabSz="342906" rtl="0" eaLnBrk="0" fontAlgn="base" hangingPunct="0">
              <a:lnSpc>
                <a:spcPct val="90000"/>
              </a:lnSpc>
              <a:spcBef>
                <a:spcPct val="0"/>
              </a:spcBef>
              <a:spcAft>
                <a:spcPct val="0"/>
              </a:spcAft>
              <a:defRPr sz="1800">
                <a:solidFill>
                  <a:schemeClr val="tx2"/>
                </a:solidFill>
                <a:latin typeface="Calibri" pitchFamily="34" charset="0"/>
              </a:defRPr>
            </a:lvl4pPr>
            <a:lvl5pPr algn="l" defTabSz="342906" rtl="0" eaLnBrk="0" fontAlgn="base" hangingPunct="0">
              <a:lnSpc>
                <a:spcPct val="90000"/>
              </a:lnSpc>
              <a:spcBef>
                <a:spcPct val="0"/>
              </a:spcBef>
              <a:spcAft>
                <a:spcPct val="0"/>
              </a:spcAft>
              <a:defRPr sz="1800">
                <a:solidFill>
                  <a:schemeClr val="tx2"/>
                </a:solidFill>
                <a:latin typeface="Calibri" pitchFamily="34" charset="0"/>
              </a:defRPr>
            </a:lvl5pPr>
            <a:lvl6pPr marL="342906" algn="l" defTabSz="342906" rtl="0" eaLnBrk="1" fontAlgn="base" hangingPunct="1">
              <a:lnSpc>
                <a:spcPct val="90000"/>
              </a:lnSpc>
              <a:spcBef>
                <a:spcPct val="0"/>
              </a:spcBef>
              <a:spcAft>
                <a:spcPct val="0"/>
              </a:spcAft>
              <a:defRPr sz="1800">
                <a:solidFill>
                  <a:srgbClr val="071D49"/>
                </a:solidFill>
                <a:latin typeface="Calibri" pitchFamily="34" charset="0"/>
              </a:defRPr>
            </a:lvl6pPr>
            <a:lvl7pPr marL="685811" algn="l" defTabSz="342906" rtl="0" eaLnBrk="1" fontAlgn="base" hangingPunct="1">
              <a:lnSpc>
                <a:spcPct val="90000"/>
              </a:lnSpc>
              <a:spcBef>
                <a:spcPct val="0"/>
              </a:spcBef>
              <a:spcAft>
                <a:spcPct val="0"/>
              </a:spcAft>
              <a:defRPr sz="1800">
                <a:solidFill>
                  <a:srgbClr val="071D49"/>
                </a:solidFill>
                <a:latin typeface="Calibri" pitchFamily="34" charset="0"/>
              </a:defRPr>
            </a:lvl7pPr>
            <a:lvl8pPr marL="1028717" algn="l" defTabSz="342906" rtl="0" eaLnBrk="1" fontAlgn="base" hangingPunct="1">
              <a:lnSpc>
                <a:spcPct val="90000"/>
              </a:lnSpc>
              <a:spcBef>
                <a:spcPct val="0"/>
              </a:spcBef>
              <a:spcAft>
                <a:spcPct val="0"/>
              </a:spcAft>
              <a:defRPr sz="1800">
                <a:solidFill>
                  <a:srgbClr val="071D49"/>
                </a:solidFill>
                <a:latin typeface="Calibri" pitchFamily="34" charset="0"/>
              </a:defRPr>
            </a:lvl8pPr>
            <a:lvl9pPr marL="1371623" algn="l" defTabSz="342906" rtl="0" eaLnBrk="1" fontAlgn="base" hangingPunct="1">
              <a:lnSpc>
                <a:spcPct val="90000"/>
              </a:lnSpc>
              <a:spcBef>
                <a:spcPct val="0"/>
              </a:spcBef>
              <a:spcAft>
                <a:spcPct val="0"/>
              </a:spcAft>
              <a:defRPr sz="1800">
                <a:solidFill>
                  <a:srgbClr val="071D49"/>
                </a:solidFill>
                <a:latin typeface="Calibri" pitchFamily="34"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900" b="0" i="1"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What are other ways to understand these metrics?</a:t>
            </a:r>
            <a:br>
              <a:rPr kumimoji="0" lang="en-US" sz="900" b="0" i="1"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br>
            <a:r>
              <a:rPr kumimoji="0" lang="en-US" sz="900" b="1"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rPr>
              <a:t>LTIP Impact Analysis: </a:t>
            </a:r>
            <a:r>
              <a:rPr kumimoji="0" lang="en-US" sz="9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rPr>
              <a:t>This analysis identifies the key drivers of high Likelihood to Prescribe (LTIP) ratings for CREON, ranking all available tagged PET metrics by their statistical impact on achieving ratings of 6-7.</a:t>
            </a:r>
            <a:endParaRPr kumimoji="0" lang="en-US" sz="900" b="0" i="0" u="none" strike="noStrike" kern="1200" cap="none" spc="0" normalizeH="0" baseline="0" noProof="0">
              <a:ln>
                <a:noFill/>
              </a:ln>
              <a:solidFill>
                <a:srgbClr val="071D49"/>
              </a:solidFill>
              <a:effectLst/>
              <a:uLnTx/>
              <a:uFillTx/>
              <a:latin typeface="Arial" panose="020B0604020202020204" pitchFamily="34" charset="0"/>
              <a:ea typeface="+mj-ea"/>
              <a:cs typeface="Arial" panose="020B0604020202020204" pitchFamily="34" charset="0"/>
              <a:sym typeface="Arial"/>
            </a:endParaRPr>
          </a:p>
        </p:txBody>
      </p:sp>
      <p:sp>
        <p:nvSpPr>
          <p:cNvPr id="9" name="TextBox 8">
            <a:extLst>
              <a:ext uri="{FF2B5EF4-FFF2-40B4-BE49-F238E27FC236}">
                <a16:creationId xmlns:a16="http://schemas.microsoft.com/office/drawing/2014/main" id="{F9689598-FB5B-FF0E-1DEA-3F1012815FD0}"/>
              </a:ext>
            </a:extLst>
          </p:cNvPr>
          <p:cNvSpPr txBox="1"/>
          <p:nvPr/>
        </p:nvSpPr>
        <p:spPr>
          <a:xfrm>
            <a:off x="7416000" y="548015"/>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2"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41490883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Manufacturer Perceptions</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3" name="TextBox 2">
            <a:extLst>
              <a:ext uri="{FF2B5EF4-FFF2-40B4-BE49-F238E27FC236}">
                <a16:creationId xmlns:a16="http://schemas.microsoft.com/office/drawing/2014/main" id="{6E455395-281A-54EA-4B5F-A2B0057D4BF5}"/>
              </a:ext>
            </a:extLst>
          </p:cNvPr>
          <p:cNvSpPr txBox="1"/>
          <p:nvPr/>
        </p:nvSpPr>
        <p:spPr>
          <a:xfrm>
            <a:off x="396000" y="4320000"/>
            <a:ext cx="8192693" cy="896849"/>
          </a:xfrm>
          <a:prstGeom prst="rect">
            <a:avLst/>
          </a:prstGeom>
          <a:noFill/>
        </p:spPr>
        <p:txBody>
          <a:bodyPr wrap="square" rtlCol="0">
            <a:spAutoFit/>
          </a:bodyPr>
          <a:lstStyle/>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AbbVie’s manufacturer perceptions strengthened significantly</a:t>
            </a:r>
            <a:r>
              <a:rPr kumimoji="0" lang="en-GB" sz="1200" b="0" i="0" u="none" strike="noStrike" kern="0" cap="none" spc="0" normalizeH="0" baseline="0" noProof="0">
                <a:ln>
                  <a:noFill/>
                </a:ln>
                <a:solidFill>
                  <a:srgbClr val="000000"/>
                </a:solidFill>
                <a:effectLst/>
                <a:uLnTx/>
                <a:uFillTx/>
                <a:latin typeface="Arial"/>
                <a:cs typeface="Arial"/>
                <a:sym typeface="Arial"/>
              </a:rPr>
              <a:t>, with ratings increasing sharply from last wave, while Nestlé Health Science saw a slight decline.</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AbbVie outperformed across all manufacturer attributes</a:t>
            </a:r>
            <a:r>
              <a:rPr kumimoji="0" lang="en-GB" sz="1200" b="0" i="0" u="none" strike="noStrike" kern="0" cap="none" spc="0" normalizeH="0" baseline="0" noProof="0">
                <a:ln>
                  <a:noFill/>
                </a:ln>
                <a:solidFill>
                  <a:srgbClr val="000000"/>
                </a:solidFill>
                <a:effectLst/>
                <a:uLnTx/>
                <a:uFillTx/>
                <a:latin typeface="Arial"/>
                <a:cs typeface="Arial"/>
                <a:sym typeface="Arial"/>
              </a:rPr>
              <a:t>, with the largest advantages in “best-in-class sales reps”, “support provided to HCPs”, and “affordability/access”.</a:t>
            </a:r>
          </a:p>
        </p:txBody>
      </p:sp>
    </p:spTree>
    <p:extLst>
      <p:ext uri="{BB962C8B-B14F-4D97-AF65-F5344CB8AC3E}">
        <p14:creationId xmlns:p14="http://schemas.microsoft.com/office/powerpoint/2010/main" val="39239927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graphicFrame>
        <p:nvGraphicFramePr>
          <p:cNvPr id="23" name="Chart 22">
            <a:extLst>
              <a:ext uri="{FF2B5EF4-FFF2-40B4-BE49-F238E27FC236}">
                <a16:creationId xmlns:a16="http://schemas.microsoft.com/office/drawing/2014/main" id="{5A4FBBB2-962A-E270-A9F7-513262880465}"/>
              </a:ext>
            </a:extLst>
          </p:cNvPr>
          <p:cNvGraphicFramePr/>
          <p:nvPr>
            <p:custDataLst>
              <p:tags r:id="rId1"/>
            </p:custDataLst>
            <p:extLst>
              <p:ext uri="{D42A27DB-BD31-4B8C-83A1-F6EECF244321}">
                <p14:modId xmlns:p14="http://schemas.microsoft.com/office/powerpoint/2010/main" val="224983627"/>
              </p:ext>
            </p:extLst>
          </p:nvPr>
        </p:nvGraphicFramePr>
        <p:xfrm>
          <a:off x="788198" y="1909554"/>
          <a:ext cx="6869945" cy="3357935"/>
        </p:xfrm>
        <a:graphic>
          <a:graphicData uri="http://schemas.openxmlformats.org/drawingml/2006/chart">
            <c:chart xmlns:c="http://schemas.openxmlformats.org/drawingml/2006/chart" xmlns:r="http://schemas.openxmlformats.org/officeDocument/2006/relationships" r:id="rId5"/>
          </a:graphicData>
        </a:graphic>
      </p:graphicFrame>
      <p:sp>
        <p:nvSpPr>
          <p:cNvPr id="19" name="Google Shape;1359;p33">
            <a:extLst>
              <a:ext uri="{FF2B5EF4-FFF2-40B4-BE49-F238E27FC236}">
                <a16:creationId xmlns:a16="http://schemas.microsoft.com/office/drawing/2014/main" id="{BEF15143-8DC2-258D-2A37-F8DC4031C32A}"/>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AbbVie’s manufacturer ratings declined by 4 pp from Dec ’25 to Feb ’26, followed by a marginal 1 pp increase in Mar ’26; Nestlé Health Science’s ratings remained stable over the same period</a:t>
            </a:r>
            <a:endParaRPr kumimoji="0" lang="en-US" sz="1400" b="0" i="0" u="none" strike="sngStrike" kern="0" cap="none" spc="0" normalizeH="0" baseline="0" noProof="0">
              <a:ln>
                <a:noFill/>
              </a:ln>
              <a:solidFill>
                <a:srgbClr val="002060"/>
              </a:solidFill>
              <a:effectLst/>
              <a:uLnTx/>
              <a:uFillTx/>
              <a:latin typeface="+mn-lt"/>
              <a:ea typeface="Calibri"/>
              <a:cs typeface="Arial" panose="020B0604020202020204" pitchFamily="34" charset="0"/>
              <a:sym typeface="Calibri"/>
            </a:endParaRPr>
          </a:p>
        </p:txBody>
      </p:sp>
      <p:sp>
        <p:nvSpPr>
          <p:cNvPr id="25" name="Rectangle 24">
            <a:extLst>
              <a:ext uri="{FF2B5EF4-FFF2-40B4-BE49-F238E27FC236}">
                <a16:creationId xmlns:a16="http://schemas.microsoft.com/office/drawing/2014/main" id="{9D35E4F3-71A4-8525-7DB3-DB9DC460B752}"/>
              </a:ext>
            </a:extLst>
          </p:cNvPr>
          <p:cNvSpPr/>
          <p:nvPr/>
        </p:nvSpPr>
        <p:spPr>
          <a:xfrm rot="16200000">
            <a:off x="475785" y="3370305"/>
            <a:ext cx="180000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71D49"/>
                </a:solidFill>
                <a:effectLst/>
                <a:uLnTx/>
                <a:uFillTx/>
                <a:ea typeface="+mn-ea"/>
                <a:cs typeface="Arial" panose="020B0604020202020204" pitchFamily="34" charset="0"/>
                <a:sym typeface="Arial"/>
              </a:rPr>
              <a:t>% of HCPs Rating  (6,7)</a:t>
            </a:r>
          </a:p>
        </p:txBody>
      </p:sp>
      <p:sp>
        <p:nvSpPr>
          <p:cNvPr id="3" name="TextBox 2">
            <a:extLst>
              <a:ext uri="{FF2B5EF4-FFF2-40B4-BE49-F238E27FC236}">
                <a16:creationId xmlns:a16="http://schemas.microsoft.com/office/drawing/2014/main" id="{C820F1EF-04A5-8E2A-9E15-4106DB8D7B1F}"/>
              </a:ext>
            </a:extLst>
          </p:cNvPr>
          <p:cNvSpPr txBox="1"/>
          <p:nvPr/>
        </p:nvSpPr>
        <p:spPr>
          <a:xfrm>
            <a:off x="1002941" y="2087653"/>
            <a:ext cx="599773"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00000"/>
                </a:solidFill>
                <a:effectLst/>
                <a:uLnTx/>
                <a:uFillTx/>
                <a:latin typeface="+mn-lt"/>
                <a:cs typeface="Arial" panose="020B0604020202020204" pitchFamily="34" charset="0"/>
                <a:sym typeface="Arial"/>
              </a:rPr>
              <a:t>100%</a:t>
            </a:r>
            <a:endParaRPr kumimoji="0" lang="en-IN" sz="10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27" name="TextBox 26">
            <a:extLst>
              <a:ext uri="{FF2B5EF4-FFF2-40B4-BE49-F238E27FC236}">
                <a16:creationId xmlns:a16="http://schemas.microsoft.com/office/drawing/2014/main" id="{F767B5C8-98F5-9F6F-ACED-FD3A52C67A48}"/>
              </a:ext>
            </a:extLst>
          </p:cNvPr>
          <p:cNvSpPr txBox="1"/>
          <p:nvPr/>
        </p:nvSpPr>
        <p:spPr>
          <a:xfrm>
            <a:off x="1002941" y="4579150"/>
            <a:ext cx="599773"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00000"/>
                </a:solidFill>
                <a:effectLst/>
                <a:uLnTx/>
                <a:uFillTx/>
                <a:latin typeface="+mn-lt"/>
                <a:cs typeface="Arial" panose="020B0604020202020204" pitchFamily="34" charset="0"/>
                <a:sym typeface="Arial"/>
              </a:rPr>
              <a:t>0%</a:t>
            </a:r>
            <a:endParaRPr kumimoji="0" lang="en-IN" sz="10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0" name="Google Shape;2605;p68">
            <a:extLst>
              <a:ext uri="{FF2B5EF4-FFF2-40B4-BE49-F238E27FC236}">
                <a16:creationId xmlns:a16="http://schemas.microsoft.com/office/drawing/2014/main" id="{034CDC8C-1DA6-C70C-F32D-3D064F18C3C7}"/>
              </a:ext>
            </a:extLst>
          </p:cNvPr>
          <p:cNvSpPr/>
          <p:nvPr/>
        </p:nvSpPr>
        <p:spPr>
          <a:xfrm>
            <a:off x="358775" y="941198"/>
            <a:ext cx="8426450"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EPI Manufacturer Rating</a:t>
            </a:r>
            <a:r>
              <a:rPr kumimoji="0" lang="en-US" sz="1400" b="1" i="0" u="sng" strike="noStrike" kern="0" cap="none" spc="0" normalizeH="0" baseline="30000" noProof="0">
                <a:ln>
                  <a:noFill/>
                </a:ln>
                <a:solidFill>
                  <a:srgbClr val="071D49"/>
                </a:solidFill>
                <a:effectLst/>
                <a:uLnTx/>
                <a:uFillTx/>
                <a:latin typeface="+mn-lt"/>
                <a:ea typeface="Calibri"/>
                <a:cs typeface="Arial" panose="020B0604020202020204" pitchFamily="34" charset="0"/>
                <a:sym typeface="Calibri"/>
              </a:rPr>
              <a:t>#</a:t>
            </a:r>
            <a:endParaRPr kumimoji="0" lang="en-US" sz="900" b="0" i="0" u="sng" strike="noStrike" kern="0" cap="none" spc="0" normalizeH="0" baseline="30000" noProof="0">
              <a:ln>
                <a:noFill/>
              </a:ln>
              <a:solidFill>
                <a:srgbClr val="071D49"/>
              </a:solidFill>
              <a:effectLst/>
              <a:uLnTx/>
              <a:uFillTx/>
              <a:latin typeface="+mn-lt"/>
              <a:ea typeface="Calibri"/>
              <a:cs typeface="Arial" panose="020B0604020202020204" pitchFamily="34" charset="0"/>
              <a:sym typeface="Calibri"/>
            </a:endParaRPr>
          </a:p>
        </p:txBody>
      </p:sp>
      <p:grpSp>
        <p:nvGrpSpPr>
          <p:cNvPr id="4" name="Group 3">
            <a:extLst>
              <a:ext uri="{FF2B5EF4-FFF2-40B4-BE49-F238E27FC236}">
                <a16:creationId xmlns:a16="http://schemas.microsoft.com/office/drawing/2014/main" id="{CAF29DB8-971D-6BC9-2E03-E083E5D0BDC0}"/>
              </a:ext>
            </a:extLst>
          </p:cNvPr>
          <p:cNvGrpSpPr/>
          <p:nvPr/>
        </p:nvGrpSpPr>
        <p:grpSpPr>
          <a:xfrm>
            <a:off x="7083496" y="3011877"/>
            <a:ext cx="1888031" cy="1153287"/>
            <a:chOff x="6849142" y="2271401"/>
            <a:chExt cx="1888030" cy="1153287"/>
          </a:xfrm>
        </p:grpSpPr>
        <p:sp>
          <p:nvSpPr>
            <p:cNvPr id="37" name="Google Shape;2335;p60">
              <a:extLst>
                <a:ext uri="{FF2B5EF4-FFF2-40B4-BE49-F238E27FC236}">
                  <a16:creationId xmlns:a16="http://schemas.microsoft.com/office/drawing/2014/main" id="{BBCB71E7-A33E-A61A-CFA4-56773F12FC5A}"/>
                </a:ext>
              </a:extLst>
            </p:cNvPr>
            <p:cNvSpPr txBox="1"/>
            <p:nvPr/>
          </p:nvSpPr>
          <p:spPr>
            <a:xfrm>
              <a:off x="7126473" y="2271401"/>
              <a:ext cx="1610699"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AbbVie</a:t>
              </a:r>
              <a:endParaRPr kumimoji="0"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8" name="Google Shape;2338;p60">
              <a:extLst>
                <a:ext uri="{FF2B5EF4-FFF2-40B4-BE49-F238E27FC236}">
                  <a16:creationId xmlns:a16="http://schemas.microsoft.com/office/drawing/2014/main" id="{88A191A1-5FCA-7F52-A021-A7E3EF1D2344}"/>
                </a:ext>
              </a:extLst>
            </p:cNvPr>
            <p:cNvSpPr txBox="1"/>
            <p:nvPr/>
          </p:nvSpPr>
          <p:spPr>
            <a:xfrm>
              <a:off x="7126474" y="2573770"/>
              <a:ext cx="1581641"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Nestlé Health Science</a:t>
              </a:r>
              <a:endParaRPr kumimoji="0"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39" name="Google Shape;2341;p60">
              <a:extLst>
                <a:ext uri="{FF2B5EF4-FFF2-40B4-BE49-F238E27FC236}">
                  <a16:creationId xmlns:a16="http://schemas.microsoft.com/office/drawing/2014/main" id="{EB80AD0D-DB31-9764-1FA3-C2BC302F840C}"/>
                </a:ext>
              </a:extLst>
            </p:cNvPr>
            <p:cNvSpPr txBox="1"/>
            <p:nvPr/>
          </p:nvSpPr>
          <p:spPr>
            <a:xfrm>
              <a:off x="7126473" y="2876139"/>
              <a:ext cx="161069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err="1">
                  <a:ln>
                    <a:noFill/>
                  </a:ln>
                  <a:solidFill>
                    <a:srgbClr val="070605"/>
                  </a:solidFill>
                  <a:effectLst/>
                  <a:uLnTx/>
                  <a:uFillTx/>
                  <a:latin typeface="+mn-lt"/>
                  <a:ea typeface="Calibri"/>
                  <a:cs typeface="Arial" panose="020B0604020202020204" pitchFamily="34" charset="0"/>
                  <a:sym typeface="Calibri"/>
                </a:rPr>
                <a:t>Vivus</a:t>
              </a:r>
              <a:endParaRPr kumimoji="0"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4" name="Google Shape;2344;p60">
              <a:extLst>
                <a:ext uri="{FF2B5EF4-FFF2-40B4-BE49-F238E27FC236}">
                  <a16:creationId xmlns:a16="http://schemas.microsoft.com/office/drawing/2014/main" id="{E34700F8-3009-8931-3833-046F0E7F069A}"/>
                </a:ext>
              </a:extLst>
            </p:cNvPr>
            <p:cNvSpPr txBox="1"/>
            <p:nvPr/>
          </p:nvSpPr>
          <p:spPr>
            <a:xfrm>
              <a:off x="7126474" y="3178507"/>
              <a:ext cx="1581641"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Digestive Care, Inc</a:t>
              </a:r>
              <a:endParaRPr kumimoji="0"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5" name="Google Shape;2336;p60">
              <a:extLst>
                <a:ext uri="{FF2B5EF4-FFF2-40B4-BE49-F238E27FC236}">
                  <a16:creationId xmlns:a16="http://schemas.microsoft.com/office/drawing/2014/main" id="{CA914B41-AAA5-C36E-9C26-EB76FDE9049B}"/>
                </a:ext>
              </a:extLst>
            </p:cNvPr>
            <p:cNvSpPr/>
            <p:nvPr/>
          </p:nvSpPr>
          <p:spPr>
            <a:xfrm>
              <a:off x="6849142" y="2348952"/>
              <a:ext cx="90000" cy="91119"/>
            </a:xfrm>
            <a:prstGeom prst="rect">
              <a:avLst/>
            </a:prstGeom>
            <a:solidFill>
              <a:srgbClr val="36729C"/>
            </a:solidFill>
            <a:ln w="12700" cap="flat" cmpd="sng">
              <a:solidFill>
                <a:srgbClr val="36729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52" name="Google Shape;2339;p60">
              <a:extLst>
                <a:ext uri="{FF2B5EF4-FFF2-40B4-BE49-F238E27FC236}">
                  <a16:creationId xmlns:a16="http://schemas.microsoft.com/office/drawing/2014/main" id="{1198E234-70DB-01A8-EB94-49A1038B6EA1}"/>
                </a:ext>
              </a:extLst>
            </p:cNvPr>
            <p:cNvSpPr/>
            <p:nvPr/>
          </p:nvSpPr>
          <p:spPr>
            <a:xfrm>
              <a:off x="6849142" y="2651321"/>
              <a:ext cx="90000" cy="91119"/>
            </a:xfrm>
            <a:prstGeom prst="rect">
              <a:avLst/>
            </a:prstGeom>
            <a:solidFill>
              <a:srgbClr val="9778D4"/>
            </a:solidFill>
            <a:ln w="12700" cap="flat" cmpd="sng">
              <a:solidFill>
                <a:srgbClr val="9778D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56" name="Google Shape;2342;p60">
              <a:extLst>
                <a:ext uri="{FF2B5EF4-FFF2-40B4-BE49-F238E27FC236}">
                  <a16:creationId xmlns:a16="http://schemas.microsoft.com/office/drawing/2014/main" id="{859659E9-54D4-6B03-9CDF-4BFD25C1159A}"/>
                </a:ext>
              </a:extLst>
            </p:cNvPr>
            <p:cNvSpPr/>
            <p:nvPr/>
          </p:nvSpPr>
          <p:spPr>
            <a:xfrm>
              <a:off x="6849142" y="2953690"/>
              <a:ext cx="90000" cy="91119"/>
            </a:xfrm>
            <a:prstGeom prst="rect">
              <a:avLst/>
            </a:prstGeom>
            <a:solidFill>
              <a:srgbClr val="FF8813"/>
            </a:solidFill>
            <a:ln w="12700" cap="flat" cmpd="sng">
              <a:solidFill>
                <a:srgbClr val="FF881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57" name="Google Shape;2345;p60">
              <a:extLst>
                <a:ext uri="{FF2B5EF4-FFF2-40B4-BE49-F238E27FC236}">
                  <a16:creationId xmlns:a16="http://schemas.microsoft.com/office/drawing/2014/main" id="{F0C2138E-9F19-D35A-68EC-96A4F646805A}"/>
                </a:ext>
              </a:extLst>
            </p:cNvPr>
            <p:cNvSpPr/>
            <p:nvPr/>
          </p:nvSpPr>
          <p:spPr>
            <a:xfrm>
              <a:off x="6849142" y="3256058"/>
              <a:ext cx="90000" cy="91119"/>
            </a:xfrm>
            <a:prstGeom prst="rect">
              <a:avLst/>
            </a:prstGeom>
            <a:solidFill>
              <a:srgbClr val="00B3C8"/>
            </a:solidFill>
            <a:ln w="12700" cap="flat" cmpd="sng">
              <a:solidFill>
                <a:srgbClr val="00B3C8"/>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grpSp>
      <p:sp>
        <p:nvSpPr>
          <p:cNvPr id="58" name="Google Shape;560;p14">
            <a:extLst>
              <a:ext uri="{FF2B5EF4-FFF2-40B4-BE49-F238E27FC236}">
                <a16:creationId xmlns:a16="http://schemas.microsoft.com/office/drawing/2014/main" id="{4A83EED3-2C16-943A-7209-60CD397245A0}"/>
              </a:ext>
            </a:extLst>
          </p:cNvPr>
          <p:cNvSpPr txBox="1"/>
          <p:nvPr/>
        </p:nvSpPr>
        <p:spPr>
          <a:xfrm>
            <a:off x="1063975" y="5952496"/>
            <a:ext cx="8114200"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No statistically significant (p&lt;.05) difference between waves</a:t>
            </a:r>
            <a:endParaRPr kumimoji="0" lang="en-US" sz="1400" b="0" i="0" u="none" strike="noStrike" kern="0" cap="none" spc="0" normalizeH="0" baseline="0" noProof="0">
              <a:ln>
                <a:noFill/>
              </a:ln>
              <a:solidFill>
                <a:srgbClr val="001D49"/>
              </a:solidFill>
              <a:effectLst/>
              <a:uLnTx/>
              <a:uFillTx/>
              <a:latin typeface="+mn-lt"/>
              <a:cs typeface="Arial" panose="020B0604020202020204" pitchFamily="34"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      Statistically significant (p&lt;.05) difference among Products </a:t>
            </a:r>
            <a:endParaRPr kumimoji="0" lang="en-US" sz="1400" b="0" i="0" u="none" strike="noStrike" kern="0" cap="none" spc="0" normalizeH="0" baseline="0" noProof="0">
              <a:ln>
                <a:noFill/>
              </a:ln>
              <a:solidFill>
                <a:srgbClr val="001D49"/>
              </a:solidFill>
              <a:effectLst/>
              <a:uLnTx/>
              <a:uFillTx/>
              <a:latin typeface="+mn-lt"/>
              <a:cs typeface="Arial" panose="020B0604020202020204" pitchFamily="34" charset="0"/>
              <a:sym typeface="Arial"/>
            </a:endParaRPr>
          </a:p>
        </p:txBody>
      </p:sp>
      <p:sp>
        <p:nvSpPr>
          <p:cNvPr id="59" name="Google Shape;562;p14">
            <a:extLst>
              <a:ext uri="{FF2B5EF4-FFF2-40B4-BE49-F238E27FC236}">
                <a16:creationId xmlns:a16="http://schemas.microsoft.com/office/drawing/2014/main" id="{71302E87-1A0C-CA3D-7176-CF19B94616DC}"/>
              </a:ext>
            </a:extLst>
          </p:cNvPr>
          <p:cNvSpPr/>
          <p:nvPr/>
        </p:nvSpPr>
        <p:spPr>
          <a:xfrm>
            <a:off x="1178097" y="6145093"/>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9" name="Google Shape;562;p14">
            <a:extLst>
              <a:ext uri="{FF2B5EF4-FFF2-40B4-BE49-F238E27FC236}">
                <a16:creationId xmlns:a16="http://schemas.microsoft.com/office/drawing/2014/main" id="{58327BC5-F292-BCB6-28E1-49C5EEAB1B53}"/>
              </a:ext>
            </a:extLst>
          </p:cNvPr>
          <p:cNvSpPr/>
          <p:nvPr/>
        </p:nvSpPr>
        <p:spPr>
          <a:xfrm>
            <a:off x="3071178" y="2592769"/>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0" name="Google Shape;562;p14">
            <a:extLst>
              <a:ext uri="{FF2B5EF4-FFF2-40B4-BE49-F238E27FC236}">
                <a16:creationId xmlns:a16="http://schemas.microsoft.com/office/drawing/2014/main" id="{AADCAAFB-4B7A-FE5B-53C6-5C9EDB5BF921}"/>
              </a:ext>
            </a:extLst>
          </p:cNvPr>
          <p:cNvSpPr/>
          <p:nvPr/>
        </p:nvSpPr>
        <p:spPr>
          <a:xfrm>
            <a:off x="3982510" y="24983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7" name="Google Shape;562;p14">
            <a:extLst>
              <a:ext uri="{FF2B5EF4-FFF2-40B4-BE49-F238E27FC236}">
                <a16:creationId xmlns:a16="http://schemas.microsoft.com/office/drawing/2014/main" id="{47D3FB33-5817-6043-264F-79F49DDDCA81}"/>
              </a:ext>
            </a:extLst>
          </p:cNvPr>
          <p:cNvSpPr/>
          <p:nvPr/>
        </p:nvSpPr>
        <p:spPr>
          <a:xfrm>
            <a:off x="4879682" y="26099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1" name="Google Shape;562;p14">
            <a:extLst>
              <a:ext uri="{FF2B5EF4-FFF2-40B4-BE49-F238E27FC236}">
                <a16:creationId xmlns:a16="http://schemas.microsoft.com/office/drawing/2014/main" id="{D6A054E6-FE37-AEC8-62D9-4EE4FB238579}"/>
              </a:ext>
            </a:extLst>
          </p:cNvPr>
          <p:cNvSpPr/>
          <p:nvPr/>
        </p:nvSpPr>
        <p:spPr>
          <a:xfrm>
            <a:off x="2180416" y="2646868"/>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4" name="Highlight#32">
            <a:extLst>
              <a:ext uri="{FF2B5EF4-FFF2-40B4-BE49-F238E27FC236}">
                <a16:creationId xmlns:a16="http://schemas.microsoft.com/office/drawing/2014/main" id="{C0073317-8FD5-CE55-F9F2-20F55C96091A}"/>
              </a:ext>
            </a:extLst>
          </p:cNvPr>
          <p:cNvSpPr txBox="1"/>
          <p:nvPr/>
        </p:nvSpPr>
        <p:spPr>
          <a:xfrm>
            <a:off x="5206257" y="2365773"/>
            <a:ext cx="1581642" cy="1163169"/>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2" name="Google Shape;562;p14">
            <a:extLst>
              <a:ext uri="{FF2B5EF4-FFF2-40B4-BE49-F238E27FC236}">
                <a16:creationId xmlns:a16="http://schemas.microsoft.com/office/drawing/2014/main" id="{F36D073D-ED45-A1E9-D93E-F8C95B40BF2C}"/>
              </a:ext>
            </a:extLst>
          </p:cNvPr>
          <p:cNvSpPr/>
          <p:nvPr/>
        </p:nvSpPr>
        <p:spPr>
          <a:xfrm>
            <a:off x="5717358" y="2609932"/>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2" name="Google Shape;562;p14">
            <a:extLst>
              <a:ext uri="{FF2B5EF4-FFF2-40B4-BE49-F238E27FC236}">
                <a16:creationId xmlns:a16="http://schemas.microsoft.com/office/drawing/2014/main" id="{82DF87B4-6348-1855-F3DC-F6D6811FCBCF}"/>
              </a:ext>
            </a:extLst>
          </p:cNvPr>
          <p:cNvSpPr/>
          <p:nvPr/>
        </p:nvSpPr>
        <p:spPr>
          <a:xfrm>
            <a:off x="6598475" y="2607314"/>
            <a:ext cx="111501" cy="111600"/>
          </a:xfrm>
          <a:prstGeom prst="ellipse">
            <a:avLst/>
          </a:prstGeom>
          <a:solidFill>
            <a:srgbClr val="870F3D"/>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 name="Rectangle 5">
            <a:extLst>
              <a:ext uri="{FF2B5EF4-FFF2-40B4-BE49-F238E27FC236}">
                <a16:creationId xmlns:a16="http://schemas.microsoft.com/office/drawing/2014/main" id="{430AD64B-CAA3-7D06-282B-564BBB1A45D7}"/>
              </a:ext>
            </a:extLst>
          </p:cNvPr>
          <p:cNvSpPr/>
          <p:nvPr/>
        </p:nvSpPr>
        <p:spPr>
          <a:xfrm>
            <a:off x="3690938" y="0"/>
            <a:ext cx="1762125" cy="181373"/>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i="1">
                <a:solidFill>
                  <a:schemeClr val="bg2">
                    <a:lumMod val="10000"/>
                  </a:schemeClr>
                </a:solidFill>
              </a:rPr>
              <a:t>VP Updated </a:t>
            </a:r>
          </a:p>
        </p:txBody>
      </p:sp>
      <p:graphicFrame>
        <p:nvGraphicFramePr>
          <p:cNvPr id="8" name="wave table OCQ">
            <a:extLst>
              <a:ext uri="{FF2B5EF4-FFF2-40B4-BE49-F238E27FC236}">
                <a16:creationId xmlns:a16="http://schemas.microsoft.com/office/drawing/2014/main" id="{B6E87F7C-300C-1474-4417-5901D55C9372}"/>
              </a:ext>
            </a:extLst>
          </p:cNvPr>
          <p:cNvGraphicFramePr>
            <a:graphicFrameLocks noGrp="1"/>
          </p:cNvGraphicFramePr>
          <p:nvPr>
            <p:custDataLst>
              <p:tags r:id="rId2"/>
            </p:custDataLst>
            <p:extLst>
              <p:ext uri="{D42A27DB-BD31-4B8C-83A1-F6EECF244321}">
                <p14:modId xmlns:p14="http://schemas.microsoft.com/office/powerpoint/2010/main" val="3475616930"/>
              </p:ext>
            </p:extLst>
          </p:nvPr>
        </p:nvGraphicFramePr>
        <p:xfrm>
          <a:off x="1218613" y="5083796"/>
          <a:ext cx="5682455" cy="27432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868680">
                  <a:extLst>
                    <a:ext uri="{9D8B030D-6E8A-4147-A177-3AD203B41FA5}">
                      <a16:colId xmlns:a16="http://schemas.microsoft.com/office/drawing/2014/main" val="3554599800"/>
                    </a:ext>
                  </a:extLst>
                </a:gridCol>
                <a:gridCol w="868680">
                  <a:extLst>
                    <a:ext uri="{9D8B030D-6E8A-4147-A177-3AD203B41FA5}">
                      <a16:colId xmlns:a16="http://schemas.microsoft.com/office/drawing/2014/main" val="2914776207"/>
                    </a:ext>
                  </a:extLst>
                </a:gridCol>
                <a:gridCol w="868680">
                  <a:extLst>
                    <a:ext uri="{9D8B030D-6E8A-4147-A177-3AD203B41FA5}">
                      <a16:colId xmlns:a16="http://schemas.microsoft.com/office/drawing/2014/main" val="2088702262"/>
                    </a:ext>
                  </a:extLst>
                </a:gridCol>
                <a:gridCol w="868680">
                  <a:extLst>
                    <a:ext uri="{9D8B030D-6E8A-4147-A177-3AD203B41FA5}">
                      <a16:colId xmlns:a16="http://schemas.microsoft.com/office/drawing/2014/main" val="192097877"/>
                    </a:ext>
                  </a:extLst>
                </a:gridCol>
                <a:gridCol w="868680">
                  <a:extLst>
                    <a:ext uri="{9D8B030D-6E8A-4147-A177-3AD203B41FA5}">
                      <a16:colId xmlns:a16="http://schemas.microsoft.com/office/drawing/2014/main" val="1326389649"/>
                    </a:ext>
                  </a:extLst>
                </a:gridCol>
                <a:gridCol w="86868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1" u="none" strike="noStrike" kern="1200">
                          <a:solidFill>
                            <a:srgbClr val="071D49"/>
                          </a:solidFill>
                          <a:effectLst/>
                          <a:latin typeface="+mn-lt"/>
                          <a:ea typeface="+mn-ea"/>
                          <a:cs typeface="+mn-cs"/>
                        </a:rPr>
                        <a:t>n size</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124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150</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132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spTree>
    <p:extLst>
      <p:ext uri="{BB962C8B-B14F-4D97-AF65-F5344CB8AC3E}">
        <p14:creationId xmlns:p14="http://schemas.microsoft.com/office/powerpoint/2010/main" val="3678348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graphicFrame>
        <p:nvGraphicFramePr>
          <p:cNvPr id="33" name="I consider the COMPANY rep a &quot;Best in Class&quot; sales representative">
            <a:extLst>
              <a:ext uri="{FF2B5EF4-FFF2-40B4-BE49-F238E27FC236}">
                <a16:creationId xmlns:a16="http://schemas.microsoft.com/office/drawing/2014/main" id="{E499DD3B-DDBA-D79F-B2C9-B933EC30FA2A}"/>
              </a:ext>
            </a:extLst>
          </p:cNvPr>
          <p:cNvGraphicFramePr/>
          <p:nvPr>
            <p:custDataLst>
              <p:tags r:id="rId1"/>
            </p:custDataLst>
            <p:extLst>
              <p:ext uri="{D42A27DB-BD31-4B8C-83A1-F6EECF244321}">
                <p14:modId xmlns:p14="http://schemas.microsoft.com/office/powerpoint/2010/main" val="3341201853"/>
              </p:ext>
            </p:extLst>
          </p:nvPr>
        </p:nvGraphicFramePr>
        <p:xfrm>
          <a:off x="4572000" y="1755589"/>
          <a:ext cx="3600000" cy="684000"/>
        </p:xfrm>
        <a:graphic>
          <a:graphicData uri="http://schemas.openxmlformats.org/drawingml/2006/chart">
            <c:chart xmlns:c="http://schemas.openxmlformats.org/drawingml/2006/chart" xmlns:r="http://schemas.openxmlformats.org/officeDocument/2006/relationships" r:id="rId11"/>
          </a:graphicData>
        </a:graphic>
      </p:graphicFrame>
      <p:sp>
        <p:nvSpPr>
          <p:cNvPr id="19" name="Google Shape;1359;p33">
            <a:extLst>
              <a:ext uri="{FF2B5EF4-FFF2-40B4-BE49-F238E27FC236}">
                <a16:creationId xmlns:a16="http://schemas.microsoft.com/office/drawing/2014/main" id="{BEF15143-8DC2-258D-2A37-F8DC4031C32A}"/>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AbbVie outperformed Nestlé Health Science across all manufacturer perception statements, with significant differences except for “offers innovative and differentiating EPI,” where the gap was notable but not significant</a:t>
            </a:r>
            <a:endParaRPr kumimoji="0" lang="en-US" sz="1400" b="0" i="1" u="none" strike="sngStrike" kern="0" cap="none" spc="0" normalizeH="0" baseline="0" noProof="0">
              <a:ln>
                <a:noFill/>
              </a:ln>
              <a:solidFill>
                <a:srgbClr val="002060"/>
              </a:solidFill>
              <a:effectLst/>
              <a:uLnTx/>
              <a:uFillTx/>
              <a:latin typeface="+mn-lt"/>
              <a:ea typeface="Calibri"/>
              <a:cs typeface="Arial" panose="020B0604020202020204" pitchFamily="34" charset="0"/>
              <a:sym typeface="Calibri"/>
            </a:endParaRPr>
          </a:p>
        </p:txBody>
      </p:sp>
      <p:sp>
        <p:nvSpPr>
          <p:cNvPr id="30" name="Google Shape;2605;p68">
            <a:extLst>
              <a:ext uri="{FF2B5EF4-FFF2-40B4-BE49-F238E27FC236}">
                <a16:creationId xmlns:a16="http://schemas.microsoft.com/office/drawing/2014/main" id="{034CDC8C-1DA6-C70C-F32D-3D064F18C3C7}"/>
              </a:ext>
            </a:extLst>
          </p:cNvPr>
          <p:cNvSpPr/>
          <p:nvPr/>
        </p:nvSpPr>
        <p:spPr>
          <a:xfrm>
            <a:off x="406170" y="824916"/>
            <a:ext cx="8331661" cy="307736"/>
          </a:xfrm>
          <a:prstGeom prst="rect">
            <a:avLst/>
          </a:prstGeom>
          <a:noFill/>
          <a:ln>
            <a:noFill/>
          </a:ln>
        </p:spPr>
        <p:txBody>
          <a:bodyPr spcFirstLastPara="1" wrap="square" lIns="72000"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Manufacturer Perceptions</a:t>
            </a:r>
            <a:r>
              <a:rPr kumimoji="0" lang="en-US" sz="1400" b="1" i="0" u="sng" strike="noStrike" kern="0" cap="none" spc="0" normalizeH="0" baseline="30000" noProof="0">
                <a:ln>
                  <a:noFill/>
                </a:ln>
                <a:solidFill>
                  <a:srgbClr val="071D49"/>
                </a:solidFill>
                <a:effectLst/>
                <a:uLnTx/>
                <a:uFillTx/>
                <a:latin typeface="+mn-lt"/>
                <a:ea typeface="Calibri"/>
                <a:cs typeface="Arial" panose="020B0604020202020204" pitchFamily="34" charset="0"/>
                <a:sym typeface="Calibri"/>
              </a:rPr>
              <a:t>#</a:t>
            </a:r>
            <a:endParaRPr kumimoji="0" lang="en-US" sz="900" b="0" i="0" u="sng" strike="noStrike" kern="0" cap="none" spc="0" normalizeH="0" baseline="30000" noProof="0">
              <a:ln>
                <a:noFill/>
              </a:ln>
              <a:solidFill>
                <a:srgbClr val="071D49"/>
              </a:solidFill>
              <a:effectLst/>
              <a:uLnTx/>
              <a:uFillTx/>
              <a:latin typeface="+mn-lt"/>
              <a:ea typeface="Calibri"/>
              <a:cs typeface="Arial" panose="020B0604020202020204" pitchFamily="34" charset="0"/>
              <a:sym typeface="Calibri"/>
            </a:endParaRPr>
          </a:p>
        </p:txBody>
      </p:sp>
      <p:sp>
        <p:nvSpPr>
          <p:cNvPr id="58" name="Google Shape;560;p14">
            <a:extLst>
              <a:ext uri="{FF2B5EF4-FFF2-40B4-BE49-F238E27FC236}">
                <a16:creationId xmlns:a16="http://schemas.microsoft.com/office/drawing/2014/main" id="{4A83EED3-2C16-943A-7209-60CD397245A0}"/>
              </a:ext>
            </a:extLst>
          </p:cNvPr>
          <p:cNvSpPr txBox="1"/>
          <p:nvPr/>
        </p:nvSpPr>
        <p:spPr>
          <a:xfrm>
            <a:off x="1063537" y="5952001"/>
            <a:ext cx="8114200"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Statistically significant (p&lt;.05) difference between CREON &amp; ZENPEP </a:t>
            </a:r>
            <a:b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 No statistically significant (p&lt;.05) difference between previous waves </a:t>
            </a:r>
            <a:endParaRPr kumimoji="0" lang="en-US" sz="1400" b="0" i="0" u="none" strike="noStrike" kern="0" cap="none" spc="0" normalizeH="0" baseline="0" noProof="0">
              <a:ln>
                <a:noFill/>
              </a:ln>
              <a:solidFill>
                <a:srgbClr val="001D49"/>
              </a:solidFill>
              <a:effectLst/>
              <a:uLnTx/>
              <a:uFillTx/>
              <a:latin typeface="+mn-lt"/>
              <a:cs typeface="Arial" panose="020B0604020202020204" pitchFamily="34" charset="0"/>
              <a:sym typeface="Arial"/>
            </a:endParaRPr>
          </a:p>
        </p:txBody>
      </p:sp>
      <p:graphicFrame>
        <p:nvGraphicFramePr>
          <p:cNvPr id="34" name="COMPANY is focused on exocrine pancreatic insufficiency (EPI) patients">
            <a:extLst>
              <a:ext uri="{FF2B5EF4-FFF2-40B4-BE49-F238E27FC236}">
                <a16:creationId xmlns:a16="http://schemas.microsoft.com/office/drawing/2014/main" id="{FD38A94B-1C2C-15B1-B047-CBC235E7F28C}"/>
              </a:ext>
            </a:extLst>
          </p:cNvPr>
          <p:cNvGraphicFramePr/>
          <p:nvPr>
            <p:custDataLst>
              <p:tags r:id="rId2"/>
            </p:custDataLst>
            <p:extLst>
              <p:ext uri="{D42A27DB-BD31-4B8C-83A1-F6EECF244321}">
                <p14:modId xmlns:p14="http://schemas.microsoft.com/office/powerpoint/2010/main" val="63229428"/>
              </p:ext>
            </p:extLst>
          </p:nvPr>
        </p:nvGraphicFramePr>
        <p:xfrm>
          <a:off x="4633478" y="3808981"/>
          <a:ext cx="3600000" cy="684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40" name="COMPANY reps provide better support than the average exocrine pancreatic insufficiency (EPI) rep">
            <a:extLst>
              <a:ext uri="{FF2B5EF4-FFF2-40B4-BE49-F238E27FC236}">
                <a16:creationId xmlns:a16="http://schemas.microsoft.com/office/drawing/2014/main" id="{58B3440E-922C-4E1C-93C4-B805D9121240}"/>
              </a:ext>
            </a:extLst>
          </p:cNvPr>
          <p:cNvGraphicFramePr/>
          <p:nvPr>
            <p:custDataLst>
              <p:tags r:id="rId3"/>
            </p:custDataLst>
            <p:extLst>
              <p:ext uri="{D42A27DB-BD31-4B8C-83A1-F6EECF244321}">
                <p14:modId xmlns:p14="http://schemas.microsoft.com/office/powerpoint/2010/main" val="1943102662"/>
              </p:ext>
            </p:extLst>
          </p:nvPr>
        </p:nvGraphicFramePr>
        <p:xfrm>
          <a:off x="4572000" y="3123368"/>
          <a:ext cx="3600000" cy="684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41" name="COMPANY offers innovative and differentiating exocrine pancreatic insufficiency (EPI) therapies">
            <a:extLst>
              <a:ext uri="{FF2B5EF4-FFF2-40B4-BE49-F238E27FC236}">
                <a16:creationId xmlns:a16="http://schemas.microsoft.com/office/drawing/2014/main" id="{FC58FC72-60E7-643C-5FD5-2CE85B87E6C2}"/>
              </a:ext>
            </a:extLst>
          </p:cNvPr>
          <p:cNvGraphicFramePr/>
          <p:nvPr>
            <p:custDataLst>
              <p:tags r:id="rId4"/>
            </p:custDataLst>
            <p:extLst>
              <p:ext uri="{D42A27DB-BD31-4B8C-83A1-F6EECF244321}">
                <p14:modId xmlns:p14="http://schemas.microsoft.com/office/powerpoint/2010/main" val="1729822981"/>
              </p:ext>
            </p:extLst>
          </p:nvPr>
        </p:nvGraphicFramePr>
        <p:xfrm>
          <a:off x="4572000" y="5147094"/>
          <a:ext cx="3600000" cy="684000"/>
        </p:xfrm>
        <a:graphic>
          <a:graphicData uri="http://schemas.openxmlformats.org/drawingml/2006/chart">
            <c:chart xmlns:c="http://schemas.openxmlformats.org/drawingml/2006/chart" xmlns:r="http://schemas.openxmlformats.org/officeDocument/2006/relationships" r:id="rId14"/>
          </a:graphicData>
        </a:graphic>
      </p:graphicFrame>
      <p:grpSp>
        <p:nvGrpSpPr>
          <p:cNvPr id="5" name="Group 4">
            <a:extLst>
              <a:ext uri="{FF2B5EF4-FFF2-40B4-BE49-F238E27FC236}">
                <a16:creationId xmlns:a16="http://schemas.microsoft.com/office/drawing/2014/main" id="{A94880A4-13E1-79EA-6FD1-D5D31E718FCC}"/>
              </a:ext>
            </a:extLst>
          </p:cNvPr>
          <p:cNvGrpSpPr/>
          <p:nvPr/>
        </p:nvGrpSpPr>
        <p:grpSpPr>
          <a:xfrm>
            <a:off x="6564763" y="761132"/>
            <a:ext cx="2293486" cy="207719"/>
            <a:chOff x="6564764" y="761132"/>
            <a:chExt cx="2293486" cy="207719"/>
          </a:xfrm>
        </p:grpSpPr>
        <p:sp>
          <p:nvSpPr>
            <p:cNvPr id="43" name="Google Shape;461;p6">
              <a:extLst>
                <a:ext uri="{FF2B5EF4-FFF2-40B4-BE49-F238E27FC236}">
                  <a16:creationId xmlns:a16="http://schemas.microsoft.com/office/drawing/2014/main" id="{1EE8D429-649D-4155-5F8F-CEE25923AED6}"/>
                </a:ext>
              </a:extLst>
            </p:cNvPr>
            <p:cNvSpPr txBox="1"/>
            <p:nvPr/>
          </p:nvSpPr>
          <p:spPr>
            <a:xfrm>
              <a:off x="6635787" y="761132"/>
              <a:ext cx="1016010" cy="207719"/>
            </a:xfrm>
            <a:prstGeom prst="rect">
              <a:avLst/>
            </a:prstGeom>
            <a:noFill/>
            <a:ln>
              <a:noFill/>
            </a:ln>
          </p:spPr>
          <p:txBody>
            <a:bodyPr spcFirstLastPara="1" wrap="square" lIns="68569" tIns="34275" rIns="68569" bIns="34275" anchor="t" anchorCtr="0">
              <a:spAutoFit/>
            </a:bodyPr>
            <a:lstStyle/>
            <a:p>
              <a:pPr marL="0" marR="0" lvl="0" indent="0" algn="l" defTabSz="685783" rtl="0" eaLnBrk="1" fontAlgn="auto"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AbbVie </a:t>
              </a:r>
              <a:endParaRPr kumimoji="0" sz="9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46" name="Google Shape;459;p6">
              <a:extLst>
                <a:ext uri="{FF2B5EF4-FFF2-40B4-BE49-F238E27FC236}">
                  <a16:creationId xmlns:a16="http://schemas.microsoft.com/office/drawing/2014/main" id="{CE60B53D-8880-C3E2-1185-ECD944582782}"/>
                </a:ext>
              </a:extLst>
            </p:cNvPr>
            <p:cNvSpPr/>
            <p:nvPr/>
          </p:nvSpPr>
          <p:spPr>
            <a:xfrm>
              <a:off x="7439928" y="824491"/>
              <a:ext cx="90980" cy="81000"/>
            </a:xfrm>
            <a:prstGeom prst="ellipse">
              <a:avLst/>
            </a:prstGeom>
            <a:solidFill>
              <a:srgbClr val="9778D4"/>
            </a:solidFill>
            <a:ln>
              <a:noFill/>
            </a:ln>
          </p:spPr>
          <p:txBody>
            <a:bodyPr spcFirstLastPara="1" wrap="square" lIns="54000" tIns="54000" rIns="54000" bIns="54000" anchor="t" anchorCtr="0">
              <a:noAutofit/>
            </a:bodyPr>
            <a:lstStyle/>
            <a:p>
              <a:pPr marL="0" marR="0" lvl="0" indent="0" algn="l" defTabSz="685783" rtl="0" eaLnBrk="1" fontAlgn="auto" latinLnBrk="0" hangingPunct="1">
                <a:lnSpc>
                  <a:spcPct val="100000"/>
                </a:lnSpc>
                <a:spcBef>
                  <a:spcPts val="0"/>
                </a:spcBef>
                <a:spcAft>
                  <a:spcPts val="0"/>
                </a:spcAft>
                <a:buClr>
                  <a:srgbClr val="FFFFFF"/>
                </a:buClr>
                <a:buSzPts val="1000"/>
                <a:buFont typeface="Arial"/>
                <a:buNone/>
                <a:tabLst/>
                <a:defRPr/>
              </a:pPr>
              <a:endParaRPr kumimoji="0" sz="900" b="0" i="0" u="none" strike="noStrike" kern="0" cap="none" spc="0" normalizeH="0" baseline="0" noProof="0">
                <a:ln>
                  <a:noFill/>
                </a:ln>
                <a:solidFill>
                  <a:srgbClr val="6F97BF"/>
                </a:solidFill>
                <a:effectLst/>
                <a:uLnTx/>
                <a:uFillTx/>
                <a:latin typeface="+mn-lt"/>
                <a:cs typeface="Arial" panose="020B0604020202020204" pitchFamily="34" charset="0"/>
                <a:sym typeface="Arial"/>
              </a:endParaRPr>
            </a:p>
          </p:txBody>
        </p:sp>
        <p:sp>
          <p:nvSpPr>
            <p:cNvPr id="47" name="Google Shape;462;p6">
              <a:extLst>
                <a:ext uri="{FF2B5EF4-FFF2-40B4-BE49-F238E27FC236}">
                  <a16:creationId xmlns:a16="http://schemas.microsoft.com/office/drawing/2014/main" id="{67F738FE-905E-5EA4-4B45-06FA99C90AFD}"/>
                </a:ext>
              </a:extLst>
            </p:cNvPr>
            <p:cNvSpPr/>
            <p:nvPr/>
          </p:nvSpPr>
          <p:spPr>
            <a:xfrm>
              <a:off x="6564764" y="824491"/>
              <a:ext cx="89222" cy="81000"/>
            </a:xfrm>
            <a:prstGeom prst="ellipse">
              <a:avLst/>
            </a:prstGeom>
            <a:solidFill>
              <a:srgbClr val="36729C"/>
            </a:solidFill>
            <a:ln>
              <a:noFill/>
            </a:ln>
          </p:spPr>
          <p:txBody>
            <a:bodyPr spcFirstLastPara="1" wrap="square" lIns="54000" tIns="54000" rIns="54000" bIns="54000" anchor="t" anchorCtr="0">
              <a:noAutofit/>
            </a:bodyPr>
            <a:lstStyle/>
            <a:p>
              <a:pPr marL="0" marR="0" lvl="0" indent="0" algn="l" defTabSz="685783" rtl="0" eaLnBrk="1" fontAlgn="auto" latinLnBrk="0" hangingPunct="1">
                <a:lnSpc>
                  <a:spcPct val="100000"/>
                </a:lnSpc>
                <a:spcBef>
                  <a:spcPts val="0"/>
                </a:spcBef>
                <a:spcAft>
                  <a:spcPts val="0"/>
                </a:spcAft>
                <a:buClr>
                  <a:srgbClr val="FFFFFF"/>
                </a:buClr>
                <a:buSzPts val="1000"/>
                <a:buFont typeface="Arial"/>
                <a:buNone/>
                <a:tabLst/>
                <a:defRPr/>
              </a:pPr>
              <a:endParaRPr kumimoji="0" sz="900" b="0" i="0" u="none" strike="noStrike" kern="0" cap="none" spc="0" normalizeH="0" baseline="0" noProof="0">
                <a:ln>
                  <a:noFill/>
                </a:ln>
                <a:solidFill>
                  <a:srgbClr val="544332"/>
                </a:solidFill>
                <a:effectLst/>
                <a:uLnTx/>
                <a:uFillTx/>
                <a:latin typeface="+mn-lt"/>
                <a:cs typeface="Arial" panose="020B0604020202020204" pitchFamily="34" charset="0"/>
                <a:sym typeface="Arial"/>
              </a:endParaRPr>
            </a:p>
          </p:txBody>
        </p:sp>
        <p:sp>
          <p:nvSpPr>
            <p:cNvPr id="48" name="Google Shape;458;p6">
              <a:extLst>
                <a:ext uri="{FF2B5EF4-FFF2-40B4-BE49-F238E27FC236}">
                  <a16:creationId xmlns:a16="http://schemas.microsoft.com/office/drawing/2014/main" id="{4625DE39-4123-3B5A-61D4-6061ABBB7C69}"/>
                </a:ext>
              </a:extLst>
            </p:cNvPr>
            <p:cNvSpPr txBox="1"/>
            <p:nvPr/>
          </p:nvSpPr>
          <p:spPr>
            <a:xfrm>
              <a:off x="7509144" y="761132"/>
              <a:ext cx="1349106" cy="207719"/>
            </a:xfrm>
            <a:prstGeom prst="rect">
              <a:avLst/>
            </a:prstGeom>
            <a:noFill/>
            <a:ln>
              <a:noFill/>
            </a:ln>
          </p:spPr>
          <p:txBody>
            <a:bodyPr spcFirstLastPara="1" wrap="square" lIns="68569" tIns="34275" rIns="68569" bIns="34275" anchor="t" anchorCtr="0">
              <a:spAutoFit/>
            </a:bodyPr>
            <a:lstStyle/>
            <a:p>
              <a:pPr marL="0" marR="0" lvl="0" indent="0" algn="l" defTabSz="685783" rtl="0" eaLnBrk="1" fontAlgn="auto" latinLnBrk="0" hangingPunct="1">
                <a:lnSpc>
                  <a:spcPct val="100000"/>
                </a:lnSpc>
                <a:spcBef>
                  <a:spcPts val="0"/>
                </a:spcBef>
                <a:spcAft>
                  <a:spcPts val="0"/>
                </a:spcAft>
                <a:buClr>
                  <a:srgbClr val="000000"/>
                </a:buClr>
                <a:buSzTx/>
                <a:buFont typeface="Arial"/>
                <a:buNone/>
                <a:tabLst/>
                <a:defRPr/>
              </a:pPr>
              <a:r>
                <a:rPr kumimoji="0" lang="en-GB" sz="9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Nestlé Health Science</a:t>
              </a:r>
            </a:p>
          </p:txBody>
        </p:sp>
      </p:grpSp>
      <p:sp>
        <p:nvSpPr>
          <p:cNvPr id="49" name="Google Shape;310;p8">
            <a:extLst>
              <a:ext uri="{FF2B5EF4-FFF2-40B4-BE49-F238E27FC236}">
                <a16:creationId xmlns:a16="http://schemas.microsoft.com/office/drawing/2014/main" id="{7B80CB9C-7B6A-1A86-924D-688F06E7032B}"/>
              </a:ext>
            </a:extLst>
          </p:cNvPr>
          <p:cNvSpPr/>
          <p:nvPr/>
        </p:nvSpPr>
        <p:spPr>
          <a:xfrm>
            <a:off x="5369343" y="5678106"/>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HCPs (Rating 6, 7)</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65" name="Google Shape;562;p14">
            <a:extLst>
              <a:ext uri="{FF2B5EF4-FFF2-40B4-BE49-F238E27FC236}">
                <a16:creationId xmlns:a16="http://schemas.microsoft.com/office/drawing/2014/main" id="{D577943E-7273-7477-9A63-9D3C95D8CFA0}"/>
              </a:ext>
            </a:extLst>
          </p:cNvPr>
          <p:cNvSpPr/>
          <p:nvPr/>
        </p:nvSpPr>
        <p:spPr>
          <a:xfrm>
            <a:off x="3689898" y="6010803"/>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8" name="Google Shape;347;p10">
            <a:extLst>
              <a:ext uri="{FF2B5EF4-FFF2-40B4-BE49-F238E27FC236}">
                <a16:creationId xmlns:a16="http://schemas.microsoft.com/office/drawing/2014/main" id="{E603120B-8864-4F7B-157E-258691432990}"/>
              </a:ext>
            </a:extLst>
          </p:cNvPr>
          <p:cNvSpPr/>
          <p:nvPr/>
        </p:nvSpPr>
        <p:spPr>
          <a:xfrm>
            <a:off x="1002371" y="6635088"/>
            <a:ext cx="2484000" cy="230792"/>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prstClr val="white"/>
                </a:solidFill>
                <a:effectLst/>
                <a:uLnTx/>
                <a:uFillTx/>
                <a:latin typeface="+mn-lt"/>
                <a:ea typeface="Calibri"/>
                <a:cs typeface="Arial" panose="020B0604020202020204" pitchFamily="34" charset="0"/>
                <a:sym typeface="Calibri"/>
              </a:rPr>
              <a:t>Sorted in decreasing order of CREON rating</a:t>
            </a:r>
          </a:p>
        </p:txBody>
      </p:sp>
      <p:graphicFrame>
        <p:nvGraphicFramePr>
          <p:cNvPr id="4" name="COMPANY is focused on affordability and access">
            <a:extLst>
              <a:ext uri="{FF2B5EF4-FFF2-40B4-BE49-F238E27FC236}">
                <a16:creationId xmlns:a16="http://schemas.microsoft.com/office/drawing/2014/main" id="{57196817-5BA3-496D-2FF0-2235DAFA1AEB}"/>
              </a:ext>
            </a:extLst>
          </p:cNvPr>
          <p:cNvGraphicFramePr/>
          <p:nvPr>
            <p:custDataLst>
              <p:tags r:id="rId5"/>
            </p:custDataLst>
            <p:extLst>
              <p:ext uri="{D42A27DB-BD31-4B8C-83A1-F6EECF244321}">
                <p14:modId xmlns:p14="http://schemas.microsoft.com/office/powerpoint/2010/main" val="4028924796"/>
              </p:ext>
            </p:extLst>
          </p:nvPr>
        </p:nvGraphicFramePr>
        <p:xfrm>
          <a:off x="4572000" y="4494373"/>
          <a:ext cx="3600000" cy="68400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7" name="COMPANY is a leader">
            <a:extLst>
              <a:ext uri="{FF2B5EF4-FFF2-40B4-BE49-F238E27FC236}">
                <a16:creationId xmlns:a16="http://schemas.microsoft.com/office/drawing/2014/main" id="{C3CB76E9-B8C8-DD98-847E-E7400C5EA3F4}"/>
              </a:ext>
            </a:extLst>
          </p:cNvPr>
          <p:cNvGraphicFramePr/>
          <p:nvPr>
            <p:custDataLst>
              <p:tags r:id="rId6"/>
            </p:custDataLst>
            <p:extLst>
              <p:ext uri="{D42A27DB-BD31-4B8C-83A1-F6EECF244321}">
                <p14:modId xmlns:p14="http://schemas.microsoft.com/office/powerpoint/2010/main" val="4176834383"/>
              </p:ext>
            </p:extLst>
          </p:nvPr>
        </p:nvGraphicFramePr>
        <p:xfrm>
          <a:off x="4572000" y="2439589"/>
          <a:ext cx="3600000" cy="684000"/>
        </p:xfrm>
        <a:graphic>
          <a:graphicData uri="http://schemas.openxmlformats.org/drawingml/2006/chart">
            <c:chart xmlns:c="http://schemas.openxmlformats.org/drawingml/2006/chart" xmlns:r="http://schemas.openxmlformats.org/officeDocument/2006/relationships" r:id="rId16"/>
          </a:graphicData>
        </a:graphic>
      </p:graphicFrame>
      <p:sp>
        <p:nvSpPr>
          <p:cNvPr id="28" name="Google Shape;562;p14">
            <a:extLst>
              <a:ext uri="{FF2B5EF4-FFF2-40B4-BE49-F238E27FC236}">
                <a16:creationId xmlns:a16="http://schemas.microsoft.com/office/drawing/2014/main" id="{CA963AB5-884B-EA18-1852-0FB15DE49824}"/>
              </a:ext>
            </a:extLst>
          </p:cNvPr>
          <p:cNvSpPr/>
          <p:nvPr/>
        </p:nvSpPr>
        <p:spPr>
          <a:xfrm>
            <a:off x="5144264"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29" name="Google Shape;562;p14">
            <a:extLst>
              <a:ext uri="{FF2B5EF4-FFF2-40B4-BE49-F238E27FC236}">
                <a16:creationId xmlns:a16="http://schemas.microsoft.com/office/drawing/2014/main" id="{22D1F906-FEE2-5523-C150-5F63E8DF3B1E}"/>
              </a:ext>
            </a:extLst>
          </p:cNvPr>
          <p:cNvSpPr/>
          <p:nvPr/>
        </p:nvSpPr>
        <p:spPr>
          <a:xfrm>
            <a:off x="5144264"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31" name="Google Shape;562;p14">
            <a:extLst>
              <a:ext uri="{FF2B5EF4-FFF2-40B4-BE49-F238E27FC236}">
                <a16:creationId xmlns:a16="http://schemas.microsoft.com/office/drawing/2014/main" id="{428F2D49-00AD-7707-3EF6-7D94F05AF1A4}"/>
              </a:ext>
            </a:extLst>
          </p:cNvPr>
          <p:cNvSpPr/>
          <p:nvPr/>
        </p:nvSpPr>
        <p:spPr>
          <a:xfrm>
            <a:off x="5136168" y="3162170"/>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graphicFrame>
        <p:nvGraphicFramePr>
          <p:cNvPr id="6" name="wave table OCQ">
            <a:extLst>
              <a:ext uri="{FF2B5EF4-FFF2-40B4-BE49-F238E27FC236}">
                <a16:creationId xmlns:a16="http://schemas.microsoft.com/office/drawing/2014/main" id="{90BDAA58-21B9-FAF9-3F26-9FFBAE2D64AE}"/>
              </a:ext>
            </a:extLst>
          </p:cNvPr>
          <p:cNvGraphicFramePr>
            <a:graphicFrameLocks noGrp="1"/>
          </p:cNvGraphicFramePr>
          <p:nvPr>
            <p:custDataLst>
              <p:tags r:id="rId7"/>
            </p:custDataLst>
            <p:extLst>
              <p:ext uri="{D42A27DB-BD31-4B8C-83A1-F6EECF244321}">
                <p14:modId xmlns:p14="http://schemas.microsoft.com/office/powerpoint/2010/main" val="3027121596"/>
              </p:ext>
            </p:extLst>
          </p:nvPr>
        </p:nvGraphicFramePr>
        <p:xfrm>
          <a:off x="4275996" y="1482397"/>
          <a:ext cx="3762215" cy="27432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548640">
                  <a:extLst>
                    <a:ext uri="{9D8B030D-6E8A-4147-A177-3AD203B41FA5}">
                      <a16:colId xmlns:a16="http://schemas.microsoft.com/office/drawing/2014/main" val="3554599800"/>
                    </a:ext>
                  </a:extLst>
                </a:gridCol>
                <a:gridCol w="548640">
                  <a:extLst>
                    <a:ext uri="{9D8B030D-6E8A-4147-A177-3AD203B41FA5}">
                      <a16:colId xmlns:a16="http://schemas.microsoft.com/office/drawing/2014/main" val="2914776207"/>
                    </a:ext>
                  </a:extLst>
                </a:gridCol>
                <a:gridCol w="548640">
                  <a:extLst>
                    <a:ext uri="{9D8B030D-6E8A-4147-A177-3AD203B41FA5}">
                      <a16:colId xmlns:a16="http://schemas.microsoft.com/office/drawing/2014/main" val="2088702262"/>
                    </a:ext>
                  </a:extLst>
                </a:gridCol>
                <a:gridCol w="548640">
                  <a:extLst>
                    <a:ext uri="{9D8B030D-6E8A-4147-A177-3AD203B41FA5}">
                      <a16:colId xmlns:a16="http://schemas.microsoft.com/office/drawing/2014/main" val="192097877"/>
                    </a:ext>
                  </a:extLst>
                </a:gridCol>
                <a:gridCol w="548640">
                  <a:extLst>
                    <a:ext uri="{9D8B030D-6E8A-4147-A177-3AD203B41FA5}">
                      <a16:colId xmlns:a16="http://schemas.microsoft.com/office/drawing/2014/main" val="1326389649"/>
                    </a:ext>
                  </a:extLst>
                </a:gridCol>
                <a:gridCol w="54864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1" u="none" strike="noStrike" kern="1200">
                          <a:solidFill>
                            <a:srgbClr val="071D49"/>
                          </a:solidFill>
                          <a:effectLst/>
                          <a:latin typeface="+mn-lt"/>
                          <a:ea typeface="+mn-ea"/>
                          <a:cs typeface="+mn-cs"/>
                        </a:rPr>
                        <a:t>n size</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124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150</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132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147</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164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sp>
        <p:nvSpPr>
          <p:cNvPr id="15" name="TextBox 14">
            <a:extLst>
              <a:ext uri="{FF2B5EF4-FFF2-40B4-BE49-F238E27FC236}">
                <a16:creationId xmlns:a16="http://schemas.microsoft.com/office/drawing/2014/main" id="{87F58613-95A4-78C7-3B64-1E01F4244A43}"/>
              </a:ext>
            </a:extLst>
          </p:cNvPr>
          <p:cNvSpPr txBox="1"/>
          <p:nvPr/>
        </p:nvSpPr>
        <p:spPr>
          <a:xfrm>
            <a:off x="133480" y="1492775"/>
            <a:ext cx="4157072"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mn-lt"/>
                <a:ea typeface="Calibri"/>
                <a:cs typeface="Arial" panose="020B0604020202020204" pitchFamily="34" charset="0"/>
                <a:sym typeface="Calibri"/>
              </a:rPr>
              <a:t>Statements</a:t>
            </a:r>
          </a:p>
        </p:txBody>
      </p:sp>
      <p:graphicFrame>
        <p:nvGraphicFramePr>
          <p:cNvPr id="26" name="statement table">
            <a:extLst>
              <a:ext uri="{FF2B5EF4-FFF2-40B4-BE49-F238E27FC236}">
                <a16:creationId xmlns:a16="http://schemas.microsoft.com/office/drawing/2014/main" id="{EEEF7C9C-25D1-1DF7-70FB-4D65E81B37B9}"/>
              </a:ext>
            </a:extLst>
          </p:cNvPr>
          <p:cNvGraphicFramePr/>
          <p:nvPr>
            <p:custDataLst>
              <p:tags r:id="rId8"/>
            </p:custDataLst>
            <p:extLst>
              <p:ext uri="{D42A27DB-BD31-4B8C-83A1-F6EECF244321}">
                <p14:modId xmlns:p14="http://schemas.microsoft.com/office/powerpoint/2010/main" val="3431560571"/>
              </p:ext>
            </p:extLst>
          </p:nvPr>
        </p:nvGraphicFramePr>
        <p:xfrm>
          <a:off x="133477" y="1755589"/>
          <a:ext cx="4142519" cy="4104000"/>
        </p:xfrm>
        <a:graphic>
          <a:graphicData uri="http://schemas.openxmlformats.org/drawingml/2006/table">
            <a:tbl>
              <a:tblPr>
                <a:noFill/>
                <a:tableStyleId>{96BACEE3-1A1D-4107-9369-2142449FF59F}</a:tableStyleId>
              </a:tblPr>
              <a:tblGrid>
                <a:gridCol w="4142519">
                  <a:extLst>
                    <a:ext uri="{9D8B030D-6E8A-4147-A177-3AD203B41FA5}">
                      <a16:colId xmlns:a16="http://schemas.microsoft.com/office/drawing/2014/main" val="20000"/>
                    </a:ext>
                  </a:extLst>
                </a:gridCol>
              </a:tblGrid>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cs typeface="Arial"/>
                          <a:sym typeface="Arial"/>
                        </a:rPr>
                        <a:t>I consider the COMPANY rep a "</a:t>
                      </a:r>
                      <a:r>
                        <a:rPr kumimoji="0" lang="en-US" sz="1100" b="1" i="0" u="none" strike="noStrike" kern="0" cap="none" spc="0" normalizeH="0" baseline="0" noProof="0">
                          <a:ln>
                            <a:noFill/>
                          </a:ln>
                          <a:solidFill>
                            <a:srgbClr val="071D49"/>
                          </a:solidFill>
                          <a:effectLst/>
                          <a:uLnTx/>
                          <a:uFillTx/>
                          <a:latin typeface="Arial" panose="020B0604020202020204"/>
                          <a:cs typeface="Arial"/>
                          <a:sym typeface="Arial"/>
                        </a:rPr>
                        <a:t>Best in Class</a:t>
                      </a:r>
                      <a:r>
                        <a:rPr kumimoji="0" lang="en-US" sz="1100" b="0" i="0" u="none" strike="noStrike" kern="0" cap="none" spc="0" normalizeH="0" baseline="0" noProof="0">
                          <a:ln>
                            <a:noFill/>
                          </a:ln>
                          <a:solidFill>
                            <a:srgbClr val="071D49"/>
                          </a:solidFill>
                          <a:effectLst/>
                          <a:uLnTx/>
                          <a:uFillTx/>
                          <a:latin typeface="Arial" panose="020B0604020202020204"/>
                          <a:cs typeface="Arial"/>
                          <a:sym typeface="Arial"/>
                        </a:rPr>
                        <a:t>" sales representative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7E0EA"/>
                    </a:solidFill>
                  </a:tcPr>
                </a:tc>
                <a:extLst>
                  <a:ext uri="{0D108BD9-81ED-4DB2-BD59-A6C34878D82A}">
                    <a16:rowId xmlns:a16="http://schemas.microsoft.com/office/drawing/2014/main" val="10000"/>
                  </a:ext>
                </a:extLst>
              </a:tr>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COMPANY is a </a:t>
                      </a:r>
                      <a:r>
                        <a:rPr kumimoji="0" lang="en-US" sz="1100" b="1" i="0" u="none" strike="noStrike" kern="1200" cap="none" spc="0" normalizeH="0" baseline="0" noProof="0">
                          <a:ln>
                            <a:noFill/>
                          </a:ln>
                          <a:solidFill>
                            <a:srgbClr val="071D49"/>
                          </a:solidFill>
                          <a:effectLst/>
                          <a:uLnTx/>
                          <a:uFillTx/>
                          <a:latin typeface="Arial" panose="020B0604020202020204"/>
                          <a:cs typeface="Arial"/>
                          <a:sym typeface="Arial"/>
                        </a:rPr>
                        <a:t>leader in the exocrine pancreatic insufficiency </a:t>
                      </a: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(EPI) space.</a:t>
                      </a:r>
                      <a:endParaRPr lang="en-US" sz="1100" b="0" i="0" u="none" strike="noStrike" kern="1200" cap="none">
                        <a:solidFill>
                          <a:srgbClr val="071D49"/>
                        </a:solidFill>
                        <a:effectLst/>
                        <a:latin typeface="Arial"/>
                        <a:ea typeface="Arial"/>
                        <a:cs typeface="Arial"/>
                        <a:sym typeface="Aria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F0F5"/>
                    </a:solidFill>
                  </a:tcPr>
                </a:tc>
                <a:extLst>
                  <a:ext uri="{0D108BD9-81ED-4DB2-BD59-A6C34878D82A}">
                    <a16:rowId xmlns:a16="http://schemas.microsoft.com/office/drawing/2014/main" val="10001"/>
                  </a:ext>
                </a:extLst>
              </a:tr>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COMPANY reps provide </a:t>
                      </a:r>
                      <a:r>
                        <a:rPr kumimoji="0" lang="en-US" sz="1100" b="1" i="0" u="none" strike="noStrike" kern="1200" cap="none" spc="0" normalizeH="0" baseline="0" noProof="0">
                          <a:ln>
                            <a:noFill/>
                          </a:ln>
                          <a:solidFill>
                            <a:srgbClr val="071D49"/>
                          </a:solidFill>
                          <a:effectLst/>
                          <a:uLnTx/>
                          <a:uFillTx/>
                          <a:latin typeface="Arial" panose="020B0604020202020204"/>
                          <a:cs typeface="Arial"/>
                          <a:sym typeface="Arial"/>
                        </a:rPr>
                        <a:t>better support </a:t>
                      </a: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than the average exocrine pancreatic insufficiency (EPI) rep</a:t>
                      </a:r>
                      <a:endParaRPr lang="en-US" sz="1100" b="0" i="0" u="none" strike="noStrike" kern="1200" cap="none">
                        <a:solidFill>
                          <a:srgbClr val="071D49"/>
                        </a:solidFill>
                        <a:effectLst/>
                        <a:latin typeface="Arial"/>
                        <a:ea typeface="Arial"/>
                        <a:cs typeface="Arial"/>
                        <a:sym typeface="Aria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7E0EA"/>
                    </a:solidFill>
                  </a:tcPr>
                </a:tc>
                <a:extLst>
                  <a:ext uri="{0D108BD9-81ED-4DB2-BD59-A6C34878D82A}">
                    <a16:rowId xmlns:a16="http://schemas.microsoft.com/office/drawing/2014/main" val="10002"/>
                  </a:ext>
                </a:extLst>
              </a:tr>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COMPANY is </a:t>
                      </a:r>
                      <a:r>
                        <a:rPr kumimoji="0" lang="en-US" sz="1100" b="1" i="0" u="none" strike="noStrike" kern="1200" cap="none" spc="0" normalizeH="0" baseline="0" noProof="0">
                          <a:ln>
                            <a:noFill/>
                          </a:ln>
                          <a:solidFill>
                            <a:srgbClr val="071D49"/>
                          </a:solidFill>
                          <a:effectLst/>
                          <a:uLnTx/>
                          <a:uFillTx/>
                          <a:latin typeface="Arial" panose="020B0604020202020204"/>
                          <a:cs typeface="Arial"/>
                          <a:sym typeface="Arial"/>
                        </a:rPr>
                        <a:t>focused on exocrine pancreatic insufficiency (EPI) patients </a:t>
                      </a: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(e.g., offers patient-focused programs for financial support, treatment logistics, disease education, etc.)</a:t>
                      </a:r>
                      <a:endParaRPr lang="en-US" sz="1100" b="0" i="0" u="none" strike="noStrike" kern="1200" cap="none">
                        <a:solidFill>
                          <a:srgbClr val="071D49"/>
                        </a:solidFill>
                        <a:effectLst/>
                        <a:latin typeface="Arial"/>
                        <a:ea typeface="Arial"/>
                        <a:cs typeface="Arial"/>
                        <a:sym typeface="Aria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F0F5"/>
                    </a:solidFill>
                  </a:tcPr>
                </a:tc>
                <a:extLst>
                  <a:ext uri="{0D108BD9-81ED-4DB2-BD59-A6C34878D82A}">
                    <a16:rowId xmlns:a16="http://schemas.microsoft.com/office/drawing/2014/main" val="1419085563"/>
                  </a:ext>
                </a:extLst>
              </a:tr>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71D49"/>
                          </a:solidFill>
                          <a:effectLst/>
                          <a:uLnTx/>
                          <a:uFillTx/>
                          <a:latin typeface="Arial" panose="020B0604020202020204"/>
                          <a:cs typeface="Arial"/>
                          <a:sym typeface="Arial"/>
                        </a:rPr>
                        <a:t>COMPANY is focused on </a:t>
                      </a:r>
                      <a:r>
                        <a:rPr kumimoji="0" lang="en-US" sz="1100" b="1" i="0" u="none" strike="noStrike" kern="0" cap="none" spc="0" normalizeH="0" baseline="0" noProof="0">
                          <a:ln>
                            <a:noFill/>
                          </a:ln>
                          <a:solidFill>
                            <a:srgbClr val="071D49"/>
                          </a:solidFill>
                          <a:effectLst/>
                          <a:uLnTx/>
                          <a:uFillTx/>
                          <a:latin typeface="Arial" panose="020B0604020202020204"/>
                          <a:cs typeface="Arial"/>
                          <a:sym typeface="Arial"/>
                        </a:rPr>
                        <a:t>affordability and access </a:t>
                      </a:r>
                      <a:br>
                        <a:rPr kumimoji="0" lang="en-US" sz="1100" b="0" i="0" u="none" strike="noStrike" kern="0" cap="none" spc="0" normalizeH="0" baseline="0" noProof="0">
                          <a:ln>
                            <a:noFill/>
                          </a:ln>
                          <a:solidFill>
                            <a:srgbClr val="071D49"/>
                          </a:solidFill>
                          <a:effectLst/>
                          <a:uLnTx/>
                          <a:uFillTx/>
                          <a:latin typeface="Arial" panose="020B0604020202020204"/>
                          <a:cs typeface="Arial"/>
                          <a:sym typeface="Arial"/>
                        </a:rPr>
                      </a:br>
                      <a:r>
                        <a:rPr kumimoji="0" lang="en-US" sz="1100" b="0" i="0" u="none" strike="noStrike" kern="0" cap="none" spc="0" normalizeH="0" baseline="0" noProof="0">
                          <a:ln>
                            <a:noFill/>
                          </a:ln>
                          <a:solidFill>
                            <a:srgbClr val="071D49"/>
                          </a:solidFill>
                          <a:effectLst/>
                          <a:uLnTx/>
                          <a:uFillTx/>
                          <a:latin typeface="Arial" panose="020B0604020202020204"/>
                          <a:cs typeface="Arial"/>
                          <a:sym typeface="Arial"/>
                        </a:rPr>
                        <a:t>(e.g., offers reimbursement support programs; product pricing reflects value; products are well-covered by insurers, etc.)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7E0EA"/>
                    </a:solidFill>
                  </a:tcPr>
                </a:tc>
                <a:extLst>
                  <a:ext uri="{0D108BD9-81ED-4DB2-BD59-A6C34878D82A}">
                    <a16:rowId xmlns:a16="http://schemas.microsoft.com/office/drawing/2014/main" val="1719155106"/>
                  </a:ext>
                </a:extLst>
              </a:tr>
              <a:tr h="684000">
                <a:tc>
                  <a:txBody>
                    <a:bodyPr/>
                    <a:lstStyle/>
                    <a:p>
                      <a:pPr marL="0" marR="0" lvl="0" indent="0" algn="r" defTabSz="685800" rtl="0" eaLnBrk="1" fontAlgn="b" latinLnBrk="0" hangingPunct="1">
                        <a:lnSpc>
                          <a:spcPct val="115000"/>
                        </a:lnSpc>
                        <a:spcBef>
                          <a:spcPts val="0"/>
                        </a:spcBef>
                        <a:spcAft>
                          <a:spcPts val="0"/>
                        </a:spcAft>
                        <a:buClr>
                          <a:srgbClr val="000000"/>
                        </a:buClr>
                        <a:buSzTx/>
                        <a:buFont typeface="Arial"/>
                        <a:buNone/>
                        <a:tabLst/>
                        <a:defRPr/>
                      </a:pP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COMPANY offers </a:t>
                      </a:r>
                      <a:r>
                        <a:rPr kumimoji="0" lang="en-US" sz="1100" b="1" i="0" u="none" strike="noStrike" kern="1200" cap="none" spc="0" normalizeH="0" baseline="0" noProof="0">
                          <a:ln>
                            <a:noFill/>
                          </a:ln>
                          <a:solidFill>
                            <a:srgbClr val="071D49"/>
                          </a:solidFill>
                          <a:effectLst/>
                          <a:uLnTx/>
                          <a:uFillTx/>
                          <a:latin typeface="Arial" panose="020B0604020202020204"/>
                          <a:cs typeface="Arial"/>
                          <a:sym typeface="Arial"/>
                        </a:rPr>
                        <a:t>innovative and differentiating </a:t>
                      </a:r>
                      <a:r>
                        <a:rPr kumimoji="0" lang="en-US" sz="1100" b="0" i="0" u="none" strike="noStrike" kern="1200" cap="none" spc="0" normalizeH="0" baseline="0" noProof="0">
                          <a:ln>
                            <a:noFill/>
                          </a:ln>
                          <a:solidFill>
                            <a:srgbClr val="071D49"/>
                          </a:solidFill>
                          <a:effectLst/>
                          <a:uLnTx/>
                          <a:uFillTx/>
                          <a:latin typeface="Arial" panose="020B0604020202020204"/>
                          <a:cs typeface="Arial"/>
                          <a:sym typeface="Arial"/>
                        </a:rPr>
                        <a:t>exocrine pancreatic insufficiency (EPI) therapies</a:t>
                      </a:r>
                      <a:endParaRPr lang="en-US" sz="1100" b="0" i="0" u="none" strike="noStrike" kern="1200" cap="none">
                        <a:solidFill>
                          <a:srgbClr val="071D49"/>
                        </a:solidFill>
                        <a:effectLst/>
                        <a:latin typeface="Arial"/>
                        <a:ea typeface="Arial"/>
                        <a:cs typeface="Arial"/>
                        <a:sym typeface="Aria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ECF0F5"/>
                    </a:solidFill>
                  </a:tcPr>
                </a:tc>
                <a:extLst>
                  <a:ext uri="{0D108BD9-81ED-4DB2-BD59-A6C34878D82A}">
                    <a16:rowId xmlns:a16="http://schemas.microsoft.com/office/drawing/2014/main" val="2180492820"/>
                  </a:ext>
                </a:extLst>
              </a:tr>
            </a:tbl>
          </a:graphicData>
        </a:graphic>
      </p:graphicFrame>
      <p:sp>
        <p:nvSpPr>
          <p:cNvPr id="7" name="Google Shape;562;p14">
            <a:extLst>
              <a:ext uri="{FF2B5EF4-FFF2-40B4-BE49-F238E27FC236}">
                <a16:creationId xmlns:a16="http://schemas.microsoft.com/office/drawing/2014/main" id="{387F27DB-D28C-89D0-125B-870D54A53FC1}"/>
              </a:ext>
            </a:extLst>
          </p:cNvPr>
          <p:cNvSpPr/>
          <p:nvPr/>
        </p:nvSpPr>
        <p:spPr>
          <a:xfrm>
            <a:off x="5700336"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3" name="Google Shape;562;p14">
            <a:extLst>
              <a:ext uri="{FF2B5EF4-FFF2-40B4-BE49-F238E27FC236}">
                <a16:creationId xmlns:a16="http://schemas.microsoft.com/office/drawing/2014/main" id="{554397C8-BB62-F9F8-39B1-2A03F1C96100}"/>
              </a:ext>
            </a:extLst>
          </p:cNvPr>
          <p:cNvSpPr/>
          <p:nvPr/>
        </p:nvSpPr>
        <p:spPr>
          <a:xfrm>
            <a:off x="5700336"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18" name="Google Shape;562;p14">
            <a:extLst>
              <a:ext uri="{FF2B5EF4-FFF2-40B4-BE49-F238E27FC236}">
                <a16:creationId xmlns:a16="http://schemas.microsoft.com/office/drawing/2014/main" id="{FED0A707-E84F-C3C3-C292-4B2726681D0E}"/>
              </a:ext>
            </a:extLst>
          </p:cNvPr>
          <p:cNvSpPr/>
          <p:nvPr/>
        </p:nvSpPr>
        <p:spPr>
          <a:xfrm>
            <a:off x="5694952" y="3197648"/>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20" name="Google Shape;562;p14">
            <a:extLst>
              <a:ext uri="{FF2B5EF4-FFF2-40B4-BE49-F238E27FC236}">
                <a16:creationId xmlns:a16="http://schemas.microsoft.com/office/drawing/2014/main" id="{44BCD728-D649-FA2E-293B-3CF2C5690EF0}"/>
              </a:ext>
            </a:extLst>
          </p:cNvPr>
          <p:cNvSpPr/>
          <p:nvPr/>
        </p:nvSpPr>
        <p:spPr>
          <a:xfrm>
            <a:off x="5710192" y="3864855"/>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21" name="Google Shape;562;p14">
            <a:extLst>
              <a:ext uri="{FF2B5EF4-FFF2-40B4-BE49-F238E27FC236}">
                <a16:creationId xmlns:a16="http://schemas.microsoft.com/office/drawing/2014/main" id="{856C6DB6-95CA-863C-2833-514F87F5A6BC}"/>
              </a:ext>
            </a:extLst>
          </p:cNvPr>
          <p:cNvSpPr/>
          <p:nvPr/>
        </p:nvSpPr>
        <p:spPr>
          <a:xfrm>
            <a:off x="5710192" y="4573376"/>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27" name="Google Shape;562;p14">
            <a:extLst>
              <a:ext uri="{FF2B5EF4-FFF2-40B4-BE49-F238E27FC236}">
                <a16:creationId xmlns:a16="http://schemas.microsoft.com/office/drawing/2014/main" id="{326D12EC-2C5B-59F3-8A7A-427F794ABE6F}"/>
              </a:ext>
            </a:extLst>
          </p:cNvPr>
          <p:cNvSpPr/>
          <p:nvPr/>
        </p:nvSpPr>
        <p:spPr>
          <a:xfrm>
            <a:off x="6216344"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42" name="Google Shape;562;p14">
            <a:extLst>
              <a:ext uri="{FF2B5EF4-FFF2-40B4-BE49-F238E27FC236}">
                <a16:creationId xmlns:a16="http://schemas.microsoft.com/office/drawing/2014/main" id="{A36E2FF4-8AF9-5DCB-2A2F-D2998DCB9514}"/>
              </a:ext>
            </a:extLst>
          </p:cNvPr>
          <p:cNvSpPr/>
          <p:nvPr/>
        </p:nvSpPr>
        <p:spPr>
          <a:xfrm>
            <a:off x="6216344"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44" name="Google Shape;562;p14">
            <a:extLst>
              <a:ext uri="{FF2B5EF4-FFF2-40B4-BE49-F238E27FC236}">
                <a16:creationId xmlns:a16="http://schemas.microsoft.com/office/drawing/2014/main" id="{7C3926F0-6868-A0BD-8243-C734D9D8119C}"/>
              </a:ext>
            </a:extLst>
          </p:cNvPr>
          <p:cNvSpPr/>
          <p:nvPr/>
        </p:nvSpPr>
        <p:spPr>
          <a:xfrm>
            <a:off x="6210960" y="3197648"/>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45" name="Google Shape;562;p14">
            <a:extLst>
              <a:ext uri="{FF2B5EF4-FFF2-40B4-BE49-F238E27FC236}">
                <a16:creationId xmlns:a16="http://schemas.microsoft.com/office/drawing/2014/main" id="{359377B5-693C-9B77-1CC5-DF7CB477A566}"/>
              </a:ext>
            </a:extLst>
          </p:cNvPr>
          <p:cNvSpPr/>
          <p:nvPr/>
        </p:nvSpPr>
        <p:spPr>
          <a:xfrm>
            <a:off x="6226200" y="4573376"/>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0" name="Google Shape;562;p14">
            <a:extLst>
              <a:ext uri="{FF2B5EF4-FFF2-40B4-BE49-F238E27FC236}">
                <a16:creationId xmlns:a16="http://schemas.microsoft.com/office/drawing/2014/main" id="{3F63B63A-2B2A-9A9F-6DBA-8C287AD35464}"/>
              </a:ext>
            </a:extLst>
          </p:cNvPr>
          <p:cNvSpPr/>
          <p:nvPr/>
        </p:nvSpPr>
        <p:spPr>
          <a:xfrm>
            <a:off x="6779286"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1" name="Google Shape;562;p14">
            <a:extLst>
              <a:ext uri="{FF2B5EF4-FFF2-40B4-BE49-F238E27FC236}">
                <a16:creationId xmlns:a16="http://schemas.microsoft.com/office/drawing/2014/main" id="{9227251C-79D3-9CDA-7AEE-2BBFB5FA3B80}"/>
              </a:ext>
            </a:extLst>
          </p:cNvPr>
          <p:cNvSpPr/>
          <p:nvPr/>
        </p:nvSpPr>
        <p:spPr>
          <a:xfrm>
            <a:off x="6779286"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2" name="Google Shape;562;p14">
            <a:extLst>
              <a:ext uri="{FF2B5EF4-FFF2-40B4-BE49-F238E27FC236}">
                <a16:creationId xmlns:a16="http://schemas.microsoft.com/office/drawing/2014/main" id="{138F1920-9D70-D862-C757-AA779331B85B}"/>
              </a:ext>
            </a:extLst>
          </p:cNvPr>
          <p:cNvSpPr/>
          <p:nvPr/>
        </p:nvSpPr>
        <p:spPr>
          <a:xfrm>
            <a:off x="6779286" y="3197648"/>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3" name="Google Shape;562;p14">
            <a:extLst>
              <a:ext uri="{FF2B5EF4-FFF2-40B4-BE49-F238E27FC236}">
                <a16:creationId xmlns:a16="http://schemas.microsoft.com/office/drawing/2014/main" id="{FFF5F7FA-F72C-C4FE-7C85-9C07D436A905}"/>
              </a:ext>
            </a:extLst>
          </p:cNvPr>
          <p:cNvSpPr/>
          <p:nvPr/>
        </p:nvSpPr>
        <p:spPr>
          <a:xfrm>
            <a:off x="6779286" y="4573376"/>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4" name="Google Shape;562;p14">
            <a:extLst>
              <a:ext uri="{FF2B5EF4-FFF2-40B4-BE49-F238E27FC236}">
                <a16:creationId xmlns:a16="http://schemas.microsoft.com/office/drawing/2014/main" id="{39FB7345-EF71-0C95-3880-28F7C2F9B6AF}"/>
              </a:ext>
            </a:extLst>
          </p:cNvPr>
          <p:cNvSpPr/>
          <p:nvPr/>
        </p:nvSpPr>
        <p:spPr>
          <a:xfrm>
            <a:off x="7342228"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5" name="Google Shape;562;p14">
            <a:extLst>
              <a:ext uri="{FF2B5EF4-FFF2-40B4-BE49-F238E27FC236}">
                <a16:creationId xmlns:a16="http://schemas.microsoft.com/office/drawing/2014/main" id="{865317D5-D80F-798E-43B8-98A3FE3D8F6D}"/>
              </a:ext>
            </a:extLst>
          </p:cNvPr>
          <p:cNvSpPr/>
          <p:nvPr/>
        </p:nvSpPr>
        <p:spPr>
          <a:xfrm>
            <a:off x="7342228"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6" name="Google Shape;562;p14">
            <a:extLst>
              <a:ext uri="{FF2B5EF4-FFF2-40B4-BE49-F238E27FC236}">
                <a16:creationId xmlns:a16="http://schemas.microsoft.com/office/drawing/2014/main" id="{9F83F725-03EA-431D-B2AB-9477D5FE1FEA}"/>
              </a:ext>
            </a:extLst>
          </p:cNvPr>
          <p:cNvSpPr/>
          <p:nvPr/>
        </p:nvSpPr>
        <p:spPr>
          <a:xfrm>
            <a:off x="7342228" y="3197648"/>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57" name="Google Shape;562;p14">
            <a:extLst>
              <a:ext uri="{FF2B5EF4-FFF2-40B4-BE49-F238E27FC236}">
                <a16:creationId xmlns:a16="http://schemas.microsoft.com/office/drawing/2014/main" id="{7CDD0B8E-728A-1E66-873D-0BD6F27913D1}"/>
              </a:ext>
            </a:extLst>
          </p:cNvPr>
          <p:cNvSpPr/>
          <p:nvPr/>
        </p:nvSpPr>
        <p:spPr>
          <a:xfrm>
            <a:off x="7920410" y="248006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3" name="Google Shape;562;p14">
            <a:extLst>
              <a:ext uri="{FF2B5EF4-FFF2-40B4-BE49-F238E27FC236}">
                <a16:creationId xmlns:a16="http://schemas.microsoft.com/office/drawing/2014/main" id="{376AC8C5-D681-7F88-BE28-E51C4E82DD8E}"/>
              </a:ext>
            </a:extLst>
          </p:cNvPr>
          <p:cNvSpPr/>
          <p:nvPr/>
        </p:nvSpPr>
        <p:spPr>
          <a:xfrm>
            <a:off x="7920410" y="1807692"/>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4" name="Google Shape;562;p14">
            <a:extLst>
              <a:ext uri="{FF2B5EF4-FFF2-40B4-BE49-F238E27FC236}">
                <a16:creationId xmlns:a16="http://schemas.microsoft.com/office/drawing/2014/main" id="{42E00D45-FCB2-365E-9E45-3C7E40DA8AF7}"/>
              </a:ext>
            </a:extLst>
          </p:cNvPr>
          <p:cNvSpPr/>
          <p:nvPr/>
        </p:nvSpPr>
        <p:spPr>
          <a:xfrm>
            <a:off x="7920410" y="3197648"/>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6" name="Google Shape;562;p14">
            <a:extLst>
              <a:ext uri="{FF2B5EF4-FFF2-40B4-BE49-F238E27FC236}">
                <a16:creationId xmlns:a16="http://schemas.microsoft.com/office/drawing/2014/main" id="{3437A3C3-DDB2-022C-ADF4-369F0FC5C612}"/>
              </a:ext>
            </a:extLst>
          </p:cNvPr>
          <p:cNvSpPr/>
          <p:nvPr/>
        </p:nvSpPr>
        <p:spPr>
          <a:xfrm>
            <a:off x="7920410" y="3857120"/>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7" name="Google Shape;562;p14">
            <a:extLst>
              <a:ext uri="{FF2B5EF4-FFF2-40B4-BE49-F238E27FC236}">
                <a16:creationId xmlns:a16="http://schemas.microsoft.com/office/drawing/2014/main" id="{9A24ECF6-5B13-19AD-6FAE-A982CC3A0EE5}"/>
              </a:ext>
            </a:extLst>
          </p:cNvPr>
          <p:cNvSpPr/>
          <p:nvPr/>
        </p:nvSpPr>
        <p:spPr>
          <a:xfrm>
            <a:off x="7920410" y="4574699"/>
            <a:ext cx="111501" cy="111600"/>
          </a:xfrm>
          <a:prstGeom prst="ellipse">
            <a:avLst/>
          </a:prstGeom>
          <a:solidFill>
            <a:schemeClr val="tx1">
              <a:lumMod val="90000"/>
              <a:lumOff val="10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mn-lt"/>
                <a:cs typeface="Arial" panose="020B0604020202020204" pitchFamily="34" charset="0"/>
                <a:sym typeface="Arial"/>
              </a:rPr>
              <a:t>S</a:t>
            </a:r>
            <a:endParaRPr kumimoji="0" lang="en-US"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69" name="Rectangle 68">
            <a:extLst>
              <a:ext uri="{FF2B5EF4-FFF2-40B4-BE49-F238E27FC236}">
                <a16:creationId xmlns:a16="http://schemas.microsoft.com/office/drawing/2014/main" id="{6525AA7A-687F-DEB1-590D-338A38CFF572}"/>
              </a:ext>
            </a:extLst>
          </p:cNvPr>
          <p:cNvSpPr/>
          <p:nvPr/>
        </p:nvSpPr>
        <p:spPr>
          <a:xfrm>
            <a:off x="3690938" y="0"/>
            <a:ext cx="1762125" cy="181373"/>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i="1">
                <a:solidFill>
                  <a:schemeClr val="bg2">
                    <a:lumMod val="10000"/>
                  </a:schemeClr>
                </a:solidFill>
              </a:rPr>
              <a:t>VP Updated </a:t>
            </a:r>
          </a:p>
        </p:txBody>
      </p:sp>
    </p:spTree>
    <p:extLst>
      <p:ext uri="{BB962C8B-B14F-4D97-AF65-F5344CB8AC3E}">
        <p14:creationId xmlns:p14="http://schemas.microsoft.com/office/powerpoint/2010/main" val="1392273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EPI Patient Share &amp; Dynamics</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
        <p:nvSpPr>
          <p:cNvPr id="3" name="TextBox 2">
            <a:extLst>
              <a:ext uri="{FF2B5EF4-FFF2-40B4-BE49-F238E27FC236}">
                <a16:creationId xmlns:a16="http://schemas.microsoft.com/office/drawing/2014/main" id="{E9910E94-D4EC-B41C-391E-28D1EA32A7DC}"/>
              </a:ext>
            </a:extLst>
          </p:cNvPr>
          <p:cNvSpPr txBox="1"/>
          <p:nvPr/>
        </p:nvSpPr>
        <p:spPr>
          <a:xfrm>
            <a:off x="396000" y="4320000"/>
            <a:ext cx="7444597" cy="1717586"/>
          </a:xfrm>
          <a:prstGeom prst="rect">
            <a:avLst/>
          </a:prstGeom>
          <a:noFill/>
        </p:spPr>
        <p:txBody>
          <a:bodyPr wrap="square" rtlCol="0">
            <a:spAutoFit/>
          </a:bodyPr>
          <a:lstStyle/>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CREON remained the market leader, but lost patient share this wave</a:t>
            </a:r>
            <a:r>
              <a:rPr kumimoji="0" lang="en-GB" sz="1200" b="0" i="0" u="none" strike="noStrike" kern="0" cap="none" spc="0" normalizeH="0" baseline="0" noProof="0">
                <a:ln>
                  <a:noFill/>
                </a:ln>
                <a:solidFill>
                  <a:srgbClr val="000000"/>
                </a:solidFill>
                <a:effectLst/>
                <a:uLnTx/>
                <a:uFillTx/>
                <a:latin typeface="Arial"/>
                <a:cs typeface="Arial"/>
                <a:sym typeface="Arial"/>
              </a:rPr>
              <a:t>, driven primarily by a decline in its 36K dose, while ZENPEP gained share with stable performance across its higher-dose offerings.</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0" i="0" u="none" strike="noStrike" kern="0" cap="none" spc="0" normalizeH="0" baseline="0" noProof="0">
                <a:ln>
                  <a:noFill/>
                </a:ln>
                <a:solidFill>
                  <a:srgbClr val="000000"/>
                </a:solidFill>
                <a:effectLst/>
                <a:uLnTx/>
                <a:uFillTx/>
                <a:latin typeface="Arial"/>
                <a:cs typeface="Arial"/>
                <a:sym typeface="Arial"/>
              </a:rPr>
              <a:t>Patient flow dynamics shifted, </a:t>
            </a:r>
            <a:r>
              <a:rPr kumimoji="0" lang="en-GB" sz="1200" b="1" i="0" u="none" strike="noStrike" kern="0" cap="none" spc="0" normalizeH="0" baseline="0" noProof="0">
                <a:ln>
                  <a:noFill/>
                </a:ln>
                <a:solidFill>
                  <a:srgbClr val="000000"/>
                </a:solidFill>
                <a:effectLst/>
                <a:uLnTx/>
                <a:uFillTx/>
                <a:latin typeface="Arial"/>
                <a:cs typeface="Arial"/>
                <a:sym typeface="Arial"/>
              </a:rPr>
              <a:t>with CREON maintaining leadership in initiation and maintenance</a:t>
            </a:r>
            <a:r>
              <a:rPr kumimoji="0" lang="en-GB" sz="1200" b="0" i="0" u="none" strike="noStrike" kern="0" cap="none" spc="0" normalizeH="0" baseline="0" noProof="0">
                <a:ln>
                  <a:noFill/>
                </a:ln>
                <a:solidFill>
                  <a:srgbClr val="000000"/>
                </a:solidFill>
                <a:effectLst/>
                <a:uLnTx/>
                <a:uFillTx/>
                <a:latin typeface="Arial"/>
                <a:cs typeface="Arial"/>
                <a:sym typeface="Arial"/>
              </a:rPr>
              <a:t> (maintenance increasing), but experiencing fewer switches due to reduced switching into CREON; insurance coverage remained the primary switch driver, with dosing more influential for ZENPEP.</a:t>
            </a:r>
          </a:p>
          <a:p>
            <a:pPr marL="171450" marR="0" lvl="0" indent="-171450" algn="l" defTabSz="914400" rtl="0" eaLnBrk="1" fontAlgn="auto" latinLnBrk="0" hangingPunct="1">
              <a:lnSpc>
                <a:spcPts val="1600"/>
              </a:lnSpc>
              <a:spcBef>
                <a:spcPts val="0"/>
              </a:spcBef>
              <a:spcAft>
                <a:spcPts val="0"/>
              </a:spcAft>
              <a:buClr>
                <a:srgbClr val="000000"/>
              </a:buClr>
              <a:buSzTx/>
              <a:buFont typeface="Arial" panose="020B0604020202020204" pitchFamily="34" charset="0"/>
              <a:buChar char="•"/>
              <a:tabLst/>
              <a:defRPr/>
            </a:pPr>
            <a:r>
              <a:rPr kumimoji="0" lang="en-GB" sz="1200" b="1" i="0" u="none" strike="noStrike" kern="0" cap="none" spc="0" normalizeH="0" baseline="0" noProof="0">
                <a:ln>
                  <a:noFill/>
                </a:ln>
                <a:solidFill>
                  <a:srgbClr val="000000"/>
                </a:solidFill>
                <a:effectLst/>
                <a:uLnTx/>
                <a:uFillTx/>
                <a:latin typeface="Arial"/>
                <a:cs typeface="Arial"/>
                <a:sym typeface="Arial"/>
              </a:rPr>
              <a:t>Patient pull continued to favour CREON</a:t>
            </a:r>
            <a:r>
              <a:rPr kumimoji="0" lang="en-GB" sz="1200" b="0" i="0" u="none" strike="noStrike" kern="0" cap="none" spc="0" normalizeH="0" baseline="0" noProof="0">
                <a:ln>
                  <a:noFill/>
                </a:ln>
                <a:solidFill>
                  <a:srgbClr val="000000"/>
                </a:solidFill>
                <a:effectLst/>
                <a:uLnTx/>
                <a:uFillTx/>
                <a:latin typeface="Arial"/>
                <a:cs typeface="Arial"/>
                <a:sym typeface="Arial"/>
              </a:rPr>
              <a:t>, reflected in higher patient requests, HCP acceptance, and sampling/prescription, alongside increased discussion of CREON 36K and ZENPEP’s higher-dose options</a:t>
            </a:r>
          </a:p>
        </p:txBody>
      </p:sp>
    </p:spTree>
    <p:extLst>
      <p:ext uri="{BB962C8B-B14F-4D97-AF65-F5344CB8AC3E}">
        <p14:creationId xmlns:p14="http://schemas.microsoft.com/office/powerpoint/2010/main" val="2081519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753"/>
        <p:cNvGrpSpPr/>
        <p:nvPr/>
      </p:nvGrpSpPr>
      <p:grpSpPr>
        <a:xfrm>
          <a:off x="0" y="0"/>
          <a:ext cx="0" cy="0"/>
          <a:chOff x="0" y="0"/>
          <a:chExt cx="0" cy="0"/>
        </a:xfrm>
      </p:grpSpPr>
      <p:graphicFrame>
        <p:nvGraphicFramePr>
          <p:cNvPr id="23" name="Q4_36Z">
            <a:extLst>
              <a:ext uri="{FF2B5EF4-FFF2-40B4-BE49-F238E27FC236}">
                <a16:creationId xmlns:a16="http://schemas.microsoft.com/office/drawing/2014/main" id="{64A651CB-BED3-36C2-F6D8-888CD6EBF222}"/>
              </a:ext>
            </a:extLst>
          </p:cNvPr>
          <p:cNvGraphicFramePr/>
          <p:nvPr>
            <p:custDataLst>
              <p:tags r:id="rId1"/>
            </p:custDataLst>
            <p:extLst>
              <p:ext uri="{D42A27DB-BD31-4B8C-83A1-F6EECF244321}">
                <p14:modId xmlns:p14="http://schemas.microsoft.com/office/powerpoint/2010/main" val="3730710403"/>
              </p:ext>
            </p:extLst>
          </p:nvPr>
        </p:nvGraphicFramePr>
        <p:xfrm>
          <a:off x="4628713" y="1741147"/>
          <a:ext cx="3276935" cy="4193936"/>
        </p:xfrm>
        <a:graphic>
          <a:graphicData uri="http://schemas.openxmlformats.org/drawingml/2006/chart">
            <c:chart xmlns:c="http://schemas.openxmlformats.org/drawingml/2006/chart" xmlns:r="http://schemas.openxmlformats.org/officeDocument/2006/relationships" r:id="rId5"/>
          </a:graphicData>
        </a:graphic>
      </p:graphicFrame>
      <p:sp>
        <p:nvSpPr>
          <p:cNvPr id="27" name="Google Shape;1359;p33">
            <a:extLst>
              <a:ext uri="{FF2B5EF4-FFF2-40B4-BE49-F238E27FC236}">
                <a16:creationId xmlns:a16="http://schemas.microsoft.com/office/drawing/2014/main" id="{35340DE7-E41B-46BC-8720-5EE6E0C12E51}"/>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kern="0" cap="none" spc="0" normalizeH="0" baseline="0" noProof="0">
                <a:ln>
                  <a:noFill/>
                </a:ln>
                <a:solidFill>
                  <a:srgbClr val="002060"/>
                </a:solidFill>
                <a:effectLst/>
                <a:uLnTx/>
                <a:uFillTx/>
                <a:latin typeface="+mn-lt"/>
                <a:ea typeface="Calibri"/>
                <a:cs typeface="Arial" panose="020B0604020202020204" pitchFamily="34" charset="0"/>
                <a:sym typeface="Arial"/>
              </a:rPr>
              <a:t>Directionally, HCPs reported that “seen more patients with chronic pancreatitis” was the main </a:t>
            </a:r>
            <a:r>
              <a:rPr lang="en-US">
                <a:solidFill>
                  <a:srgbClr val="002060"/>
                </a:solidFill>
                <a:latin typeface="+mn-lt"/>
                <a:ea typeface="Calibri"/>
                <a:cs typeface="Arial" panose="020B0604020202020204" pitchFamily="34" charset="0"/>
              </a:rPr>
              <a:t>driver of increased patient load followed by </a:t>
            </a:r>
            <a:r>
              <a:rPr kumimoji="0" lang="en-US" sz="1400" b="0" i="0" u="none" kern="0" cap="none" spc="0" normalizeH="0" baseline="0" noProof="0">
                <a:ln>
                  <a:noFill/>
                </a:ln>
                <a:solidFill>
                  <a:srgbClr val="002060"/>
                </a:solidFill>
                <a:effectLst/>
                <a:uLnTx/>
                <a:uFillTx/>
                <a:latin typeface="+mn-lt"/>
                <a:ea typeface="Calibri"/>
                <a:cs typeface="Arial" panose="020B0604020202020204" pitchFamily="34" charset="0"/>
                <a:sym typeface="Arial"/>
              </a:rPr>
              <a:t>“higher patient awareness of EPI”</a:t>
            </a:r>
            <a:endParaRPr kumimoji="0" lang="en-US" sz="1400" b="0" i="0" u="none" kern="0" cap="none" spc="0" normalizeH="0" baseline="0" noProof="0">
              <a:ln>
                <a:noFill/>
              </a:ln>
              <a:solidFill>
                <a:srgbClr val="002060"/>
              </a:solidFill>
              <a:effectLst/>
              <a:uLnTx/>
              <a:uFillTx/>
              <a:latin typeface="+mn-lt"/>
              <a:ea typeface="Calibri"/>
              <a:cs typeface="Arial" panose="020B0604020202020204" pitchFamily="34" charset="0"/>
              <a:sym typeface="Calibri"/>
            </a:endParaRPr>
          </a:p>
        </p:txBody>
      </p:sp>
      <p:sp>
        <p:nvSpPr>
          <p:cNvPr id="1755" name="Google Shape;1755;p46"/>
          <p:cNvSpPr/>
          <p:nvPr/>
        </p:nvSpPr>
        <p:spPr>
          <a:xfrm>
            <a:off x="595785" y="922910"/>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Arial" panose="020B0604020202020204" pitchFamily="34" charset="0"/>
                <a:sym typeface="Calibri"/>
              </a:rPr>
              <a:t>Understanding EPI Patient Load for Past 3 Months </a:t>
            </a:r>
            <a:endParaRPr kumimoji="0" lang="en-GB"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1000" b="0"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a:t>
            </a:r>
            <a:r>
              <a:rPr kumimoji="0" lang="en-US" sz="1000" b="0"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Mar’25</a:t>
            </a:r>
            <a:r>
              <a:rPr kumimoji="0" lang="pl-PL" sz="1000" b="0"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a:t>
            </a:r>
            <a:endParaRPr kumimoji="0" lang="pl-PL" sz="1000" b="0" i="0" u="sng" strike="noStrike" kern="0" cap="none" spc="0" normalizeH="0" baseline="30000" noProof="0">
              <a:ln>
                <a:noFill/>
              </a:ln>
              <a:solidFill>
                <a:srgbClr val="9778D4"/>
              </a:solidFill>
              <a:effectLst/>
              <a:uLnTx/>
              <a:uFillTx/>
              <a:latin typeface="+mn-lt"/>
              <a:ea typeface="Calibri"/>
              <a:cs typeface="Arial" panose="020B0604020202020204" pitchFamily="34" charset="0"/>
              <a:sym typeface="Calibri"/>
            </a:endParaRPr>
          </a:p>
        </p:txBody>
      </p:sp>
      <p:sp>
        <p:nvSpPr>
          <p:cNvPr id="1785" name="Google Shape;1785;p46"/>
          <p:cNvSpPr txBox="1"/>
          <p:nvPr/>
        </p:nvSpPr>
        <p:spPr>
          <a:xfrm>
            <a:off x="928803" y="6098180"/>
            <a:ext cx="7275999"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in speaker notes | n - No. of HCPs | Sorted based on CREON attributes | * Full text in speaker notes</a:t>
            </a:r>
          </a:p>
        </p:txBody>
      </p:sp>
      <p:graphicFrame>
        <p:nvGraphicFramePr>
          <p:cNvPr id="24" name="Q4_36zT">
            <a:extLst>
              <a:ext uri="{FF2B5EF4-FFF2-40B4-BE49-F238E27FC236}">
                <a16:creationId xmlns:a16="http://schemas.microsoft.com/office/drawing/2014/main" id="{B5D9BB74-7DB8-6373-12E7-EDD3E2FBE3E9}"/>
              </a:ext>
            </a:extLst>
          </p:cNvPr>
          <p:cNvGraphicFramePr>
            <a:graphicFrameLocks noGrp="1"/>
          </p:cNvGraphicFramePr>
          <p:nvPr>
            <p:custDataLst>
              <p:tags r:id="rId2"/>
            </p:custDataLst>
            <p:extLst>
              <p:ext uri="{D42A27DB-BD31-4B8C-83A1-F6EECF244321}">
                <p14:modId xmlns:p14="http://schemas.microsoft.com/office/powerpoint/2010/main" val="1866163745"/>
              </p:ext>
            </p:extLst>
          </p:nvPr>
        </p:nvGraphicFramePr>
        <p:xfrm>
          <a:off x="82204" y="1741150"/>
          <a:ext cx="4489796" cy="4193932"/>
        </p:xfrm>
        <a:graphic>
          <a:graphicData uri="http://schemas.openxmlformats.org/drawingml/2006/table">
            <a:tbl>
              <a:tblPr>
                <a:noFill/>
                <a:tableStyleId>{96BACEE3-1A1D-4107-9369-2142449FF59F}</a:tableStyleId>
              </a:tblPr>
              <a:tblGrid>
                <a:gridCol w="4489796">
                  <a:extLst>
                    <a:ext uri="{9D8B030D-6E8A-4147-A177-3AD203B41FA5}">
                      <a16:colId xmlns:a16="http://schemas.microsoft.com/office/drawing/2014/main" val="1864261893"/>
                    </a:ext>
                  </a:extLst>
                </a:gridCol>
              </a:tblGrid>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chronic pancreatitis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4661780"/>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Increased patient awareness of exocrine pancreatic insufficiency EPI</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5582207"/>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Increased referrals of patients with EPI</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6450716"/>
                  </a:ext>
                </a:extLst>
              </a:tr>
              <a:tr h="28557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Recent increase in performing confirmatory tests related to EPI</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3491810"/>
                  </a:ext>
                </a:extLst>
              </a:tr>
              <a:tr h="28557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Recent increase in performing clinical tests related to EPI</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7445253"/>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type 2 diabetes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28875035"/>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acute pancreatitis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3497640"/>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pancreatic cancer</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0946829"/>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celiac disease</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4019345"/>
                  </a:ext>
                </a:extLst>
              </a:tr>
              <a:tr h="226424">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cs typeface="Calibri" panose="020F0502020204030204" pitchFamily="34" charset="0"/>
                        </a:rPr>
                        <a:t>I have seen more patients with inflammatory bowel disease</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9133615"/>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who have had recent surgery on the digestive tract</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8482496"/>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type 1 diabetes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8896245"/>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performed more colonoscopies due to increased patient volume</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73037844"/>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Crohn's disease</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2728910"/>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performed more colonoscopies based on updated screening guidelines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4066200"/>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who have underwent a pancreatectomy</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7222900"/>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I have seen more patients with cystic fibrosis</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7297257"/>
                  </a:ext>
                </a:extLst>
              </a:tr>
              <a:tr h="226424">
                <a:tc>
                  <a:txBody>
                    <a:bodyPr/>
                    <a:lstStyle/>
                    <a:p>
                      <a:pPr algn="r" fontAlgn="b">
                        <a:buNone/>
                      </a:pPr>
                      <a:r>
                        <a:rPr kumimoji="0" lang="en-US" sz="1000" b="0" i="0" u="none" strike="noStrike" kern="0" cap="none" spc="0" normalizeH="0" baseline="0">
                          <a:ln>
                            <a:noFill/>
                          </a:ln>
                          <a:solidFill>
                            <a:srgbClr val="071D49"/>
                          </a:solidFill>
                          <a:effectLst/>
                          <a:uLnTx/>
                          <a:uFillTx/>
                          <a:latin typeface="+mn-lt"/>
                          <a:cs typeface="Calibri" panose="020F0502020204030204" pitchFamily="34" charset="0"/>
                        </a:rPr>
                        <a:t>Other</a:t>
                      </a:r>
                    </a:p>
                  </a:txBody>
                  <a:tcPr marL="6350" marR="7200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0341009"/>
                  </a:ext>
                </a:extLst>
              </a:tr>
            </a:tbl>
          </a:graphicData>
        </a:graphic>
      </p:graphicFrame>
      <p:sp>
        <p:nvSpPr>
          <p:cNvPr id="25" name="Google Shape;310;p8">
            <a:extLst>
              <a:ext uri="{FF2B5EF4-FFF2-40B4-BE49-F238E27FC236}">
                <a16:creationId xmlns:a16="http://schemas.microsoft.com/office/drawing/2014/main" id="{0FDC163F-764B-42BC-89C3-814E784BEA9D}"/>
              </a:ext>
            </a:extLst>
          </p:cNvPr>
          <p:cNvSpPr/>
          <p:nvPr/>
        </p:nvSpPr>
        <p:spPr>
          <a:xfrm>
            <a:off x="5299986" y="5841080"/>
            <a:ext cx="193438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 of HCPs</a:t>
            </a:r>
            <a:endParaRPr kumimoji="0" lang="en-US" sz="14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endParaRPr>
          </a:p>
        </p:txBody>
      </p:sp>
      <p:sp>
        <p:nvSpPr>
          <p:cNvPr id="26" name="Google Shape;310;p8">
            <a:extLst>
              <a:ext uri="{FF2B5EF4-FFF2-40B4-BE49-F238E27FC236}">
                <a16:creationId xmlns:a16="http://schemas.microsoft.com/office/drawing/2014/main" id="{1319E443-31B5-EA51-64C8-46D62D4E73B3}"/>
              </a:ext>
            </a:extLst>
          </p:cNvPr>
          <p:cNvSpPr/>
          <p:nvPr/>
        </p:nvSpPr>
        <p:spPr>
          <a:xfrm>
            <a:off x="2543129" y="1357432"/>
            <a:ext cx="4171167" cy="43084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mn-lt"/>
                <a:ea typeface="Calibri"/>
                <a:cs typeface="Arial" panose="020B0604020202020204" pitchFamily="34" charset="0"/>
                <a:sym typeface="Calibri"/>
              </a:rPr>
              <a:t>Reason for increase in Patient Load (Past 3 Months)</a:t>
            </a:r>
            <a:br>
              <a:rPr kumimoji="0" lang="en-US" sz="1100" b="1" i="0" u="none" strike="noStrike" kern="1200" cap="none" spc="0" normalizeH="0" baseline="0" noProof="0">
                <a:ln>
                  <a:noFill/>
                </a:ln>
                <a:solidFill>
                  <a:srgbClr val="071D49"/>
                </a:solidFill>
                <a:effectLst/>
                <a:uLnTx/>
                <a:uFillTx/>
                <a:latin typeface="+mn-lt"/>
                <a:ea typeface="Calibri"/>
                <a:cs typeface="Arial" panose="020B0604020202020204" pitchFamily="34" charset="0"/>
                <a:sym typeface="Calibri"/>
              </a:rPr>
            </a:b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(n</a:t>
            </a: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Arial"/>
              </a:rPr>
              <a:t> = 45</a:t>
            </a:r>
            <a:r>
              <a:rPr kumimoji="0" lang="en-US" sz="10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a:t>
            </a:r>
          </a:p>
        </p:txBody>
      </p:sp>
      <p:sp>
        <p:nvSpPr>
          <p:cNvPr id="2" name="Highlight#32">
            <a:extLst>
              <a:ext uri="{FF2B5EF4-FFF2-40B4-BE49-F238E27FC236}">
                <a16:creationId xmlns:a16="http://schemas.microsoft.com/office/drawing/2014/main" id="{0B2E702F-3FD4-9B10-B7CB-EEC8E8A1B4AD}"/>
              </a:ext>
            </a:extLst>
          </p:cNvPr>
          <p:cNvSpPr txBox="1"/>
          <p:nvPr/>
        </p:nvSpPr>
        <p:spPr>
          <a:xfrm>
            <a:off x="414004" y="1735963"/>
            <a:ext cx="7511004" cy="246181"/>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panose="020B0604020202020204" pitchFamily="34" charset="0"/>
              <a:sym typeface="Arial"/>
            </a:endParaRPr>
          </a:p>
        </p:txBody>
      </p:sp>
      <p:sp>
        <p:nvSpPr>
          <p:cNvPr id="4" name="Rectangle 3">
            <a:extLst>
              <a:ext uri="{FF2B5EF4-FFF2-40B4-BE49-F238E27FC236}">
                <a16:creationId xmlns:a16="http://schemas.microsoft.com/office/drawing/2014/main" id="{A7D3953F-3D40-180A-08B0-2B0D78B4C702}"/>
              </a:ext>
            </a:extLst>
          </p:cNvPr>
          <p:cNvSpPr/>
          <p:nvPr/>
        </p:nvSpPr>
        <p:spPr>
          <a:xfrm>
            <a:off x="3690938" y="0"/>
            <a:ext cx="1762125" cy="181373"/>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i="1">
                <a:solidFill>
                  <a:schemeClr val="bg2">
                    <a:lumMod val="10000"/>
                  </a:schemeClr>
                </a:solidFill>
              </a:rPr>
              <a:t>VP Updated </a:t>
            </a:r>
          </a:p>
        </p:txBody>
      </p:sp>
    </p:spTree>
    <p:extLst>
      <p:ext uri="{BB962C8B-B14F-4D97-AF65-F5344CB8AC3E}">
        <p14:creationId xmlns:p14="http://schemas.microsoft.com/office/powerpoint/2010/main" val="126308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30" name="Google Shape;2605;p68">
            <a:extLst>
              <a:ext uri="{FF2B5EF4-FFF2-40B4-BE49-F238E27FC236}">
                <a16:creationId xmlns:a16="http://schemas.microsoft.com/office/drawing/2014/main" id="{034CDC8C-1DA6-C70C-F32D-3D064F18C3C7}"/>
              </a:ext>
            </a:extLst>
          </p:cNvPr>
          <p:cNvSpPr/>
          <p:nvPr/>
        </p:nvSpPr>
        <p:spPr>
          <a:xfrm>
            <a:off x="595782" y="941197"/>
            <a:ext cx="7952437" cy="59499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1" i="0" u="sng" strike="noStrike" kern="0" cap="none" spc="0" normalizeH="0" baseline="0" noProof="0">
                <a:ln>
                  <a:noFill/>
                </a:ln>
                <a:solidFill>
                  <a:srgbClr val="071D49"/>
                </a:solidFill>
                <a:effectLst/>
                <a:uLnTx/>
                <a:uFillTx/>
                <a:latin typeface="+mn-lt"/>
                <a:cs typeface="Calibri"/>
                <a:sym typeface="Calibri"/>
              </a:rPr>
              <a:t>Patient Requests for EPI Products</a:t>
            </a:r>
          </a:p>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endParaRPr kumimoji="0" lang="en-GB" sz="1400" b="1" i="0" u="sng" strike="noStrike" kern="0" cap="none" spc="0" normalizeH="0" baseline="30000" noProof="0">
              <a:ln>
                <a:noFill/>
              </a:ln>
              <a:solidFill>
                <a:srgbClr val="071D49"/>
              </a:solidFill>
              <a:effectLst/>
              <a:uLnTx/>
              <a:uFillTx/>
              <a:latin typeface="+mn-lt"/>
              <a:ea typeface="Calibri"/>
              <a:cs typeface="Calibri"/>
              <a:sym typeface="Calibri"/>
            </a:endParaRPr>
          </a:p>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GB" sz="1400" b="0" i="0" u="sng" strike="noStrike" kern="0" cap="none" spc="0" normalizeH="0" baseline="30000" noProof="0">
                <a:ln>
                  <a:noFill/>
                </a:ln>
                <a:solidFill>
                  <a:srgbClr val="071D49"/>
                </a:solidFill>
                <a:effectLst/>
                <a:uLnTx/>
                <a:uFillTx/>
                <a:latin typeface="+mn-lt"/>
                <a:ea typeface="Calibri"/>
                <a:cs typeface="Calibri"/>
                <a:sym typeface="Calibri"/>
              </a:rPr>
              <a:t>(% of HCPs among those who reported a recent increase in patients visiting them to ask about EPI)</a:t>
            </a:r>
            <a:endParaRPr kumimoji="0" lang="en-US" sz="1000" b="0" i="0" u="sng" strike="noStrike" kern="0" cap="none" spc="0" normalizeH="0" baseline="30000" noProof="0">
              <a:ln>
                <a:noFill/>
              </a:ln>
              <a:solidFill>
                <a:srgbClr val="071D49"/>
              </a:solidFill>
              <a:effectLst/>
              <a:uLnTx/>
              <a:uFillTx/>
              <a:latin typeface="+mn-lt"/>
              <a:ea typeface="Calibri"/>
              <a:cs typeface="Calibri"/>
              <a:sym typeface="Calibri"/>
            </a:endParaRPr>
          </a:p>
        </p:txBody>
      </p:sp>
      <p:sp>
        <p:nvSpPr>
          <p:cNvPr id="37" name="Google Shape;1359;p33">
            <a:extLst>
              <a:ext uri="{FF2B5EF4-FFF2-40B4-BE49-F238E27FC236}">
                <a16:creationId xmlns:a16="http://schemas.microsoft.com/office/drawing/2014/main" id="{DF235BF8-AC2F-BE77-E024-B9D6E429764C}"/>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lvl="0">
              <a:lnSpc>
                <a:spcPct val="90000"/>
              </a:lnSpc>
              <a:buSzPts val="1800"/>
              <a:defRPr/>
            </a:pPr>
            <a:r>
              <a:rPr lang="en-GB"/>
              <a:t>Among HCPs reporting higher EPI inquiries, requests for CREON declined in Jan ’26 but increased marginally from Jan ’26 to Mar ’26; ZENPEP requests declined notably from Feb ’26 to Mar ’26</a:t>
            </a:r>
            <a:endParaRPr kumimoji="0" lang="en-US" sz="1100" b="0" i="1" u="none" strike="sngStrike" kern="0" cap="none" spc="0" normalizeH="0" baseline="0" noProof="0">
              <a:ln>
                <a:noFill/>
              </a:ln>
              <a:solidFill>
                <a:srgbClr val="071D49"/>
              </a:solidFill>
              <a:effectLst/>
              <a:uLnTx/>
              <a:uFillTx/>
              <a:latin typeface="+mn-lt"/>
              <a:ea typeface="Calibri"/>
              <a:cs typeface="Calibri"/>
              <a:sym typeface="Calibri"/>
            </a:endParaRPr>
          </a:p>
        </p:txBody>
      </p:sp>
      <p:graphicFrame>
        <p:nvGraphicFramePr>
          <p:cNvPr id="39" name="Q4_35zT">
            <a:extLst>
              <a:ext uri="{FF2B5EF4-FFF2-40B4-BE49-F238E27FC236}">
                <a16:creationId xmlns:a16="http://schemas.microsoft.com/office/drawing/2014/main" id="{168A8B9C-3CFC-3AFC-4213-239081706749}"/>
              </a:ext>
            </a:extLst>
          </p:cNvPr>
          <p:cNvGraphicFramePr>
            <a:graphicFrameLocks noGrp="1"/>
          </p:cNvGraphicFramePr>
          <p:nvPr>
            <p:custDataLst>
              <p:tags r:id="rId1"/>
            </p:custDataLst>
            <p:extLst>
              <p:ext uri="{D42A27DB-BD31-4B8C-83A1-F6EECF244321}">
                <p14:modId xmlns:p14="http://schemas.microsoft.com/office/powerpoint/2010/main" val="625816875"/>
              </p:ext>
            </p:extLst>
          </p:nvPr>
        </p:nvGraphicFramePr>
        <p:xfrm>
          <a:off x="1131820" y="2125743"/>
          <a:ext cx="1465118" cy="2704225"/>
        </p:xfrm>
        <a:graphic>
          <a:graphicData uri="http://schemas.openxmlformats.org/drawingml/2006/table">
            <a:tbl>
              <a:tblPr>
                <a:noFill/>
              </a:tblPr>
              <a:tblGrid>
                <a:gridCol w="1465118">
                  <a:extLst>
                    <a:ext uri="{9D8B030D-6E8A-4147-A177-3AD203B41FA5}">
                      <a16:colId xmlns:a16="http://schemas.microsoft.com/office/drawing/2014/main" val="1864261893"/>
                    </a:ext>
                  </a:extLst>
                </a:gridCol>
              </a:tblGrid>
              <a:tr h="540845">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a:ln>
                            <a:noFill/>
                          </a:ln>
                          <a:solidFill>
                            <a:schemeClr val="tx1"/>
                          </a:solidFill>
                          <a:effectLst/>
                          <a:uLnTx/>
                          <a:uFillTx/>
                          <a:latin typeface="+mn-lt"/>
                          <a:cs typeface="Calibri" panose="020F0502020204030204" pitchFamily="34" charset="0"/>
                        </a:rPr>
                        <a:t>CREON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4661780"/>
                  </a:ext>
                </a:extLst>
              </a:tr>
              <a:tr h="540845">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a:ln>
                            <a:noFill/>
                          </a:ln>
                          <a:solidFill>
                            <a:schemeClr val="tx1"/>
                          </a:solidFill>
                          <a:effectLst/>
                          <a:uLnTx/>
                          <a:uFillTx/>
                          <a:latin typeface="+mn-lt"/>
                          <a:cs typeface="Calibri" panose="020F0502020204030204" pitchFamily="34" charset="0"/>
                        </a:rPr>
                        <a:t>ZENPEP</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6860615"/>
                  </a:ext>
                </a:extLst>
              </a:tr>
              <a:tr h="540845">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a:ln>
                            <a:noFill/>
                          </a:ln>
                          <a:solidFill>
                            <a:schemeClr val="tx1"/>
                          </a:solidFill>
                          <a:effectLst/>
                          <a:uLnTx/>
                          <a:uFillTx/>
                          <a:latin typeface="+mn-lt"/>
                          <a:cs typeface="Calibri" panose="020F0502020204030204" pitchFamily="34" charset="0"/>
                        </a:rPr>
                        <a:t>PANCREAZE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02314106"/>
                  </a:ext>
                </a:extLst>
              </a:tr>
              <a:tr h="540845">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a:ln>
                            <a:noFill/>
                          </a:ln>
                          <a:solidFill>
                            <a:schemeClr val="tx1"/>
                          </a:solidFill>
                          <a:effectLst/>
                          <a:uLnTx/>
                          <a:uFillTx/>
                          <a:latin typeface="+mn-lt"/>
                          <a:cs typeface="Calibri" panose="020F0502020204030204" pitchFamily="34" charset="0"/>
                        </a:rPr>
                        <a:t>PERTZYE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5582207"/>
                  </a:ext>
                </a:extLst>
              </a:tr>
              <a:tr h="540845">
                <a:tc>
                  <a:txBody>
                    <a:bodyPr/>
                    <a:lstStyle/>
                    <a:p>
                      <a:pPr marL="0" marR="0" lvl="0" indent="0" algn="r" defTabSz="914400" rtl="0" eaLnBrk="1" fontAlgn="b"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a:ln>
                            <a:noFill/>
                          </a:ln>
                          <a:solidFill>
                            <a:schemeClr val="tx1"/>
                          </a:solidFill>
                          <a:effectLst/>
                          <a:uLnTx/>
                          <a:uFillTx/>
                          <a:latin typeface="+mn-lt"/>
                          <a:cs typeface="Calibri" panose="020F0502020204030204" pitchFamily="34" charset="0"/>
                        </a:rPr>
                        <a:t>None of the above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6450716"/>
                  </a:ext>
                </a:extLst>
              </a:tr>
            </a:tbl>
          </a:graphicData>
        </a:graphic>
      </p:graphicFrame>
      <p:sp>
        <p:nvSpPr>
          <p:cNvPr id="4" name="Highlight#32">
            <a:extLst>
              <a:ext uri="{FF2B5EF4-FFF2-40B4-BE49-F238E27FC236}">
                <a16:creationId xmlns:a16="http://schemas.microsoft.com/office/drawing/2014/main" id="{BE85662F-3322-99E6-A398-45DAC34D060A}"/>
              </a:ext>
            </a:extLst>
          </p:cNvPr>
          <p:cNvSpPr txBox="1"/>
          <p:nvPr/>
        </p:nvSpPr>
        <p:spPr>
          <a:xfrm>
            <a:off x="1742518" y="2012529"/>
            <a:ext cx="6268006" cy="663270"/>
          </a:xfrm>
          <a:prstGeom prst="rect">
            <a:avLst/>
          </a:prstGeom>
          <a:noFill/>
          <a:ln w="19050">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mn-lt"/>
              <a:cs typeface="Arial"/>
              <a:sym typeface="Arial"/>
            </a:endParaRPr>
          </a:p>
        </p:txBody>
      </p:sp>
      <p:graphicFrame>
        <p:nvGraphicFramePr>
          <p:cNvPr id="6" name="Chart 5">
            <a:extLst>
              <a:ext uri="{FF2B5EF4-FFF2-40B4-BE49-F238E27FC236}">
                <a16:creationId xmlns:a16="http://schemas.microsoft.com/office/drawing/2014/main" id="{9416C2E7-CC2E-B159-67EB-DF1AE8428AC5}"/>
              </a:ext>
            </a:extLst>
          </p:cNvPr>
          <p:cNvGraphicFramePr/>
          <p:nvPr>
            <p:custDataLst>
              <p:tags r:id="rId2"/>
            </p:custDataLst>
            <p:extLst>
              <p:ext uri="{D42A27DB-BD31-4B8C-83A1-F6EECF244321}">
                <p14:modId xmlns:p14="http://schemas.microsoft.com/office/powerpoint/2010/main" val="2290998305"/>
              </p:ext>
            </p:extLst>
          </p:nvPr>
        </p:nvGraphicFramePr>
        <p:xfrm>
          <a:off x="2369839" y="2125743"/>
          <a:ext cx="5906707" cy="50400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0" name="Chart 9">
            <a:extLst>
              <a:ext uri="{FF2B5EF4-FFF2-40B4-BE49-F238E27FC236}">
                <a16:creationId xmlns:a16="http://schemas.microsoft.com/office/drawing/2014/main" id="{C8F0D6E3-8BD5-841C-552E-3670998CB72C}"/>
              </a:ext>
            </a:extLst>
          </p:cNvPr>
          <p:cNvGraphicFramePr/>
          <p:nvPr>
            <p:custDataLst>
              <p:tags r:id="rId3"/>
            </p:custDataLst>
            <p:extLst>
              <p:ext uri="{D42A27DB-BD31-4B8C-83A1-F6EECF244321}">
                <p14:modId xmlns:p14="http://schemas.microsoft.com/office/powerpoint/2010/main" val="2335127762"/>
              </p:ext>
            </p:extLst>
          </p:nvPr>
        </p:nvGraphicFramePr>
        <p:xfrm>
          <a:off x="2369839" y="4325968"/>
          <a:ext cx="5906707" cy="504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 name="Chart 11">
            <a:extLst>
              <a:ext uri="{FF2B5EF4-FFF2-40B4-BE49-F238E27FC236}">
                <a16:creationId xmlns:a16="http://schemas.microsoft.com/office/drawing/2014/main" id="{2C7F5F77-EAE4-BC3C-2EA2-3D9BC2C9BCA9}"/>
              </a:ext>
            </a:extLst>
          </p:cNvPr>
          <p:cNvGraphicFramePr/>
          <p:nvPr>
            <p:custDataLst>
              <p:tags r:id="rId4"/>
            </p:custDataLst>
            <p:extLst>
              <p:ext uri="{D42A27DB-BD31-4B8C-83A1-F6EECF244321}">
                <p14:modId xmlns:p14="http://schemas.microsoft.com/office/powerpoint/2010/main" val="501459215"/>
              </p:ext>
            </p:extLst>
          </p:nvPr>
        </p:nvGraphicFramePr>
        <p:xfrm>
          <a:off x="2369839" y="3775911"/>
          <a:ext cx="5906707" cy="504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3" name="Chart 12">
            <a:extLst>
              <a:ext uri="{FF2B5EF4-FFF2-40B4-BE49-F238E27FC236}">
                <a16:creationId xmlns:a16="http://schemas.microsoft.com/office/drawing/2014/main" id="{903BA085-F5E6-239A-B4E3-AE497486C017}"/>
              </a:ext>
            </a:extLst>
          </p:cNvPr>
          <p:cNvGraphicFramePr/>
          <p:nvPr>
            <p:custDataLst>
              <p:tags r:id="rId5"/>
            </p:custDataLst>
            <p:extLst>
              <p:ext uri="{D42A27DB-BD31-4B8C-83A1-F6EECF244321}">
                <p14:modId xmlns:p14="http://schemas.microsoft.com/office/powerpoint/2010/main" val="3644456017"/>
              </p:ext>
            </p:extLst>
          </p:nvPr>
        </p:nvGraphicFramePr>
        <p:xfrm>
          <a:off x="2369839" y="2675799"/>
          <a:ext cx="5906707" cy="504000"/>
        </p:xfrm>
        <a:graphic>
          <a:graphicData uri="http://schemas.openxmlformats.org/drawingml/2006/chart">
            <c:chart xmlns:c="http://schemas.openxmlformats.org/drawingml/2006/chart" xmlns:r="http://schemas.openxmlformats.org/officeDocument/2006/relationships" r:id="rId13"/>
          </a:graphicData>
        </a:graphic>
      </p:graphicFrame>
      <p:sp>
        <p:nvSpPr>
          <p:cNvPr id="3" name="Google Shape;1785;p46">
            <a:extLst>
              <a:ext uri="{FF2B5EF4-FFF2-40B4-BE49-F238E27FC236}">
                <a16:creationId xmlns:a16="http://schemas.microsoft.com/office/drawing/2014/main" id="{BB67976B-860A-FFCE-6B6B-C493AB1757FD}"/>
              </a:ext>
            </a:extLst>
          </p:cNvPr>
          <p:cNvSpPr txBox="1"/>
          <p:nvPr/>
        </p:nvSpPr>
        <p:spPr>
          <a:xfrm>
            <a:off x="928803" y="6082791"/>
            <a:ext cx="7275999" cy="230792"/>
          </a:xfrm>
          <a:prstGeom prst="rect">
            <a:avLst/>
          </a:prstGeom>
          <a:noFill/>
          <a:ln>
            <a:noFill/>
          </a:ln>
        </p:spPr>
        <p:txBody>
          <a:bodyPr spcFirstLastPara="1" wrap="square" lIns="91425" tIns="45700" rIns="91425" bIns="45700" anchor="t" anchorCtr="0">
            <a:spAutoFit/>
          </a:bodyPr>
          <a:lstStyle/>
          <a:p>
            <a:pPr lvl="0">
              <a:defRPr/>
            </a:pPr>
            <a:r>
              <a:rPr kumimoji="0" lang="en-US" sz="900" b="0" i="0" u="none" strike="noStrike" kern="0" cap="none" spc="0" normalizeH="0" baseline="0" noProof="0">
                <a:ln>
                  <a:noFill/>
                </a:ln>
                <a:solidFill>
                  <a:srgbClr val="001D49"/>
                </a:solidFill>
                <a:effectLst/>
                <a:uLnTx/>
                <a:uFillTx/>
                <a:latin typeface="+mn-lt"/>
                <a:ea typeface="Calibri"/>
                <a:cs typeface="Calibri"/>
                <a:sym typeface="Calibri"/>
              </a:rPr>
              <a:t>Question text in speaker notes | n - No. of HCPs |</a:t>
            </a:r>
            <a:r>
              <a:rPr lang="en-US" sz="900">
                <a:solidFill>
                  <a:srgbClr val="001D49"/>
                </a:solidFill>
                <a:latin typeface="+mn-lt"/>
                <a:ea typeface="Calibri"/>
                <a:cs typeface="Arial" panose="020B0604020202020204" pitchFamily="34" charset="0"/>
                <a:sym typeface="Calibri"/>
              </a:rPr>
              <a:t> No statistically significant (p&lt;.05) difference between previous waves </a:t>
            </a:r>
            <a:endParaRPr kumimoji="0" lang="en-US" sz="1400" b="0" i="0" u="none" strike="noStrike" kern="0" cap="none" spc="0" normalizeH="0" baseline="0" noProof="0">
              <a:ln>
                <a:noFill/>
              </a:ln>
              <a:solidFill>
                <a:srgbClr val="001D49"/>
              </a:solidFill>
              <a:effectLst/>
              <a:uLnTx/>
              <a:uFillTx/>
              <a:latin typeface="+mn-lt"/>
              <a:sym typeface="Arial"/>
            </a:endParaRPr>
          </a:p>
        </p:txBody>
      </p:sp>
      <p:graphicFrame>
        <p:nvGraphicFramePr>
          <p:cNvPr id="5" name="Chart 4">
            <a:extLst>
              <a:ext uri="{FF2B5EF4-FFF2-40B4-BE49-F238E27FC236}">
                <a16:creationId xmlns:a16="http://schemas.microsoft.com/office/drawing/2014/main" id="{C5C1012B-818A-7297-47F0-9403E7CBE9A0}"/>
              </a:ext>
            </a:extLst>
          </p:cNvPr>
          <p:cNvGraphicFramePr/>
          <p:nvPr>
            <p:custDataLst>
              <p:tags r:id="rId6"/>
            </p:custDataLst>
            <p:extLst>
              <p:ext uri="{D42A27DB-BD31-4B8C-83A1-F6EECF244321}">
                <p14:modId xmlns:p14="http://schemas.microsoft.com/office/powerpoint/2010/main" val="488468041"/>
              </p:ext>
            </p:extLst>
          </p:nvPr>
        </p:nvGraphicFramePr>
        <p:xfrm>
          <a:off x="2369839" y="3225855"/>
          <a:ext cx="5906707" cy="50400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7" name="wave table OCQ">
            <a:extLst>
              <a:ext uri="{FF2B5EF4-FFF2-40B4-BE49-F238E27FC236}">
                <a16:creationId xmlns:a16="http://schemas.microsoft.com/office/drawing/2014/main" id="{9E73EC2B-4682-EB6B-2A9B-C935AC78F339}"/>
              </a:ext>
            </a:extLst>
          </p:cNvPr>
          <p:cNvGraphicFramePr>
            <a:graphicFrameLocks noGrp="1"/>
          </p:cNvGraphicFramePr>
          <p:nvPr>
            <p:custDataLst>
              <p:tags r:id="rId7"/>
            </p:custDataLst>
            <p:extLst>
              <p:ext uri="{D42A27DB-BD31-4B8C-83A1-F6EECF244321}">
                <p14:modId xmlns:p14="http://schemas.microsoft.com/office/powerpoint/2010/main" val="2651660721"/>
              </p:ext>
            </p:extLst>
          </p:nvPr>
        </p:nvGraphicFramePr>
        <p:xfrm>
          <a:off x="2053749" y="4815377"/>
          <a:ext cx="5956775" cy="27432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914400">
                  <a:extLst>
                    <a:ext uri="{9D8B030D-6E8A-4147-A177-3AD203B41FA5}">
                      <a16:colId xmlns:a16="http://schemas.microsoft.com/office/drawing/2014/main" val="3554599800"/>
                    </a:ext>
                  </a:extLst>
                </a:gridCol>
                <a:gridCol w="914400">
                  <a:extLst>
                    <a:ext uri="{9D8B030D-6E8A-4147-A177-3AD203B41FA5}">
                      <a16:colId xmlns:a16="http://schemas.microsoft.com/office/drawing/2014/main" val="2914776207"/>
                    </a:ext>
                  </a:extLst>
                </a:gridCol>
                <a:gridCol w="914400">
                  <a:extLst>
                    <a:ext uri="{9D8B030D-6E8A-4147-A177-3AD203B41FA5}">
                      <a16:colId xmlns:a16="http://schemas.microsoft.com/office/drawing/2014/main" val="2088702262"/>
                    </a:ext>
                  </a:extLst>
                </a:gridCol>
                <a:gridCol w="914400">
                  <a:extLst>
                    <a:ext uri="{9D8B030D-6E8A-4147-A177-3AD203B41FA5}">
                      <a16:colId xmlns:a16="http://schemas.microsoft.com/office/drawing/2014/main" val="192097877"/>
                    </a:ext>
                  </a:extLst>
                </a:gridCol>
                <a:gridCol w="914400">
                  <a:extLst>
                    <a:ext uri="{9D8B030D-6E8A-4147-A177-3AD203B41FA5}">
                      <a16:colId xmlns:a16="http://schemas.microsoft.com/office/drawing/2014/main" val="1326389649"/>
                    </a:ext>
                  </a:extLst>
                </a:gridCol>
                <a:gridCol w="91440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r h="137160">
                <a:tc>
                  <a:txBody>
                    <a:bodyPr/>
                    <a:lstStyle/>
                    <a:p>
                      <a:pPr algn="ctr" fontAlgn="ctr">
                        <a:buNone/>
                      </a:pPr>
                      <a:r>
                        <a:rPr lang="en-IN" sz="800" b="1" i="0" u="none" strike="noStrike" kern="1200">
                          <a:solidFill>
                            <a:srgbClr val="071D49"/>
                          </a:solidFill>
                          <a:effectLst/>
                          <a:latin typeface="+mn-lt"/>
                          <a:ea typeface="+mn-ea"/>
                          <a:cs typeface="+mn-cs"/>
                        </a:rPr>
                        <a:t>n size</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39</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34</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1" u="none" strike="noStrike" kern="1200">
                          <a:solidFill>
                            <a:srgbClr val="071D49"/>
                          </a:solidFill>
                          <a:effectLst/>
                          <a:latin typeface="+mn-lt"/>
                          <a:ea typeface="+mn-ea"/>
                          <a:cs typeface="+mn-cs"/>
                        </a:rPr>
                        <a:t>42</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7650429"/>
                  </a:ext>
                </a:extLst>
              </a:tr>
            </a:tbl>
          </a:graphicData>
        </a:graphic>
      </p:graphicFrame>
      <p:sp>
        <p:nvSpPr>
          <p:cNvPr id="8" name="Rectangle 7">
            <a:extLst>
              <a:ext uri="{FF2B5EF4-FFF2-40B4-BE49-F238E27FC236}">
                <a16:creationId xmlns:a16="http://schemas.microsoft.com/office/drawing/2014/main" id="{18F12A0D-98C5-0239-F2DB-296C3319FC8F}"/>
              </a:ext>
            </a:extLst>
          </p:cNvPr>
          <p:cNvSpPr/>
          <p:nvPr/>
        </p:nvSpPr>
        <p:spPr>
          <a:xfrm>
            <a:off x="3690938" y="0"/>
            <a:ext cx="1762125" cy="181373"/>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i="1">
                <a:solidFill>
                  <a:schemeClr val="bg2">
                    <a:lumMod val="10000"/>
                  </a:schemeClr>
                </a:solidFill>
              </a:rPr>
              <a:t>VP Updated </a:t>
            </a:r>
          </a:p>
        </p:txBody>
      </p:sp>
    </p:spTree>
    <p:extLst>
      <p:ext uri="{BB962C8B-B14F-4D97-AF65-F5344CB8AC3E}">
        <p14:creationId xmlns:p14="http://schemas.microsoft.com/office/powerpoint/2010/main" val="27173095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Discussed Product and Gave Patient a Sample and/or Prescription for Product">
            <a:extLst>
              <a:ext uri="{FF2B5EF4-FFF2-40B4-BE49-F238E27FC236}">
                <a16:creationId xmlns:a16="http://schemas.microsoft.com/office/drawing/2014/main" id="{96DCE697-494D-76A4-A83B-0477AF0660A8}"/>
              </a:ext>
            </a:extLst>
          </p:cNvPr>
          <p:cNvGraphicFramePr/>
          <p:nvPr>
            <p:custDataLst>
              <p:tags r:id="rId1"/>
            </p:custDataLst>
            <p:extLst>
              <p:ext uri="{D42A27DB-BD31-4B8C-83A1-F6EECF244321}">
                <p14:modId xmlns:p14="http://schemas.microsoft.com/office/powerpoint/2010/main" val="3425748899"/>
              </p:ext>
            </p:extLst>
          </p:nvPr>
        </p:nvGraphicFramePr>
        <p:xfrm>
          <a:off x="2330450" y="1529586"/>
          <a:ext cx="4483100" cy="1673441"/>
        </p:xfrm>
        <a:graphic>
          <a:graphicData uri="http://schemas.openxmlformats.org/drawingml/2006/chart">
            <c:chart xmlns:c="http://schemas.openxmlformats.org/drawingml/2006/chart" xmlns:r="http://schemas.openxmlformats.org/officeDocument/2006/relationships" r:id="rId9"/>
          </a:graphicData>
        </a:graphic>
      </p:graphicFrame>
      <p:sp>
        <p:nvSpPr>
          <p:cNvPr id="60" name="Rectangle 59">
            <a:extLst>
              <a:ext uri="{FF2B5EF4-FFF2-40B4-BE49-F238E27FC236}">
                <a16:creationId xmlns:a16="http://schemas.microsoft.com/office/drawing/2014/main" id="{51AAB9C9-C761-974B-3EA1-61B7778AC308}"/>
              </a:ext>
            </a:extLst>
          </p:cNvPr>
          <p:cNvSpPr/>
          <p:nvPr/>
        </p:nvSpPr>
        <p:spPr>
          <a:xfrm rot="16200000">
            <a:off x="1723654" y="2101648"/>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patients)</a:t>
            </a:r>
          </a:p>
        </p:txBody>
      </p:sp>
      <p:graphicFrame>
        <p:nvGraphicFramePr>
          <p:cNvPr id="62" name="Discussed product and decided to recommend another Rx PERT medication instead">
            <a:extLst>
              <a:ext uri="{FF2B5EF4-FFF2-40B4-BE49-F238E27FC236}">
                <a16:creationId xmlns:a16="http://schemas.microsoft.com/office/drawing/2014/main" id="{F30BA9D3-E633-F93B-3EF4-F36E3F8E7A10}"/>
              </a:ext>
            </a:extLst>
          </p:cNvPr>
          <p:cNvGraphicFramePr/>
          <p:nvPr>
            <p:custDataLst>
              <p:tags r:id="rId2"/>
            </p:custDataLst>
            <p:extLst>
              <p:ext uri="{D42A27DB-BD31-4B8C-83A1-F6EECF244321}">
                <p14:modId xmlns:p14="http://schemas.microsoft.com/office/powerpoint/2010/main" val="2425351392"/>
              </p:ext>
            </p:extLst>
          </p:nvPr>
        </p:nvGraphicFramePr>
        <p:xfrm>
          <a:off x="-75717" y="3982719"/>
          <a:ext cx="5148776" cy="1771137"/>
        </p:xfrm>
        <a:graphic>
          <a:graphicData uri="http://schemas.openxmlformats.org/drawingml/2006/chart">
            <c:chart xmlns:c="http://schemas.openxmlformats.org/drawingml/2006/chart" xmlns:r="http://schemas.openxmlformats.org/officeDocument/2006/relationships" r:id="rId10"/>
          </a:graphicData>
        </a:graphic>
      </p:graphicFrame>
      <p:sp>
        <p:nvSpPr>
          <p:cNvPr id="63" name="Google Shape;741;p13">
            <a:extLst>
              <a:ext uri="{FF2B5EF4-FFF2-40B4-BE49-F238E27FC236}">
                <a16:creationId xmlns:a16="http://schemas.microsoft.com/office/drawing/2014/main" id="{E3E2B076-F0FC-1A9E-3FF2-FA1400FE340B}"/>
              </a:ext>
            </a:extLst>
          </p:cNvPr>
          <p:cNvSpPr/>
          <p:nvPr/>
        </p:nvSpPr>
        <p:spPr>
          <a:xfrm>
            <a:off x="546243" y="3622495"/>
            <a:ext cx="3904863" cy="446242"/>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Patient Asked for Product, HCP Decided to Recommend Another Rx PERT Medication Instead</a:t>
            </a:r>
            <a:endParaRPr kumimoji="0" lang="en-US" sz="12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graphicFrame>
        <p:nvGraphicFramePr>
          <p:cNvPr id="66" name="Discussed product and decided to recommend an OTC product or supplement instead">
            <a:extLst>
              <a:ext uri="{FF2B5EF4-FFF2-40B4-BE49-F238E27FC236}">
                <a16:creationId xmlns:a16="http://schemas.microsoft.com/office/drawing/2014/main" id="{6B0353C2-AD02-F154-FD35-1F75BAF0B809}"/>
              </a:ext>
            </a:extLst>
          </p:cNvPr>
          <p:cNvGraphicFramePr/>
          <p:nvPr>
            <p:custDataLst>
              <p:tags r:id="rId3"/>
            </p:custDataLst>
            <p:extLst>
              <p:ext uri="{D42A27DB-BD31-4B8C-83A1-F6EECF244321}">
                <p14:modId xmlns:p14="http://schemas.microsoft.com/office/powerpoint/2010/main" val="4122451950"/>
              </p:ext>
            </p:extLst>
          </p:nvPr>
        </p:nvGraphicFramePr>
        <p:xfrm>
          <a:off x="4180644" y="3982719"/>
          <a:ext cx="5148776" cy="1771137"/>
        </p:xfrm>
        <a:graphic>
          <a:graphicData uri="http://schemas.openxmlformats.org/drawingml/2006/chart">
            <c:chart xmlns:c="http://schemas.openxmlformats.org/drawingml/2006/chart" xmlns:r="http://schemas.openxmlformats.org/officeDocument/2006/relationships" r:id="rId11"/>
          </a:graphicData>
        </a:graphic>
      </p:graphicFrame>
      <p:sp>
        <p:nvSpPr>
          <p:cNvPr id="67" name="Google Shape;741;p13">
            <a:extLst>
              <a:ext uri="{FF2B5EF4-FFF2-40B4-BE49-F238E27FC236}">
                <a16:creationId xmlns:a16="http://schemas.microsoft.com/office/drawing/2014/main" id="{FA14A8D2-8A76-8EF4-648A-832523311BF9}"/>
              </a:ext>
            </a:extLst>
          </p:cNvPr>
          <p:cNvSpPr/>
          <p:nvPr/>
        </p:nvSpPr>
        <p:spPr>
          <a:xfrm>
            <a:off x="4796888" y="3622495"/>
            <a:ext cx="3904863" cy="446242"/>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Patient Asked For Product, HCP Decided to Recommend An OTC Product or Supplement Instead</a:t>
            </a:r>
            <a:endParaRPr kumimoji="0" lang="en-US" sz="12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grpSp>
        <p:nvGrpSpPr>
          <p:cNvPr id="9" name="Group 8">
            <a:extLst>
              <a:ext uri="{FF2B5EF4-FFF2-40B4-BE49-F238E27FC236}">
                <a16:creationId xmlns:a16="http://schemas.microsoft.com/office/drawing/2014/main" id="{1C6E137F-0BE5-E2A9-9597-175973C6300F}"/>
              </a:ext>
            </a:extLst>
          </p:cNvPr>
          <p:cNvGrpSpPr/>
          <p:nvPr/>
        </p:nvGrpSpPr>
        <p:grpSpPr>
          <a:xfrm>
            <a:off x="2798476" y="796136"/>
            <a:ext cx="3547049" cy="330417"/>
            <a:chOff x="215621" y="2825775"/>
            <a:chExt cx="3547049" cy="330417"/>
          </a:xfrm>
        </p:grpSpPr>
        <p:grpSp>
          <p:nvGrpSpPr>
            <p:cNvPr id="8" name="Group 7">
              <a:extLst>
                <a:ext uri="{FF2B5EF4-FFF2-40B4-BE49-F238E27FC236}">
                  <a16:creationId xmlns:a16="http://schemas.microsoft.com/office/drawing/2014/main" id="{B6BCFACB-D28C-2F89-11A8-C19EB322C7B4}"/>
                </a:ext>
              </a:extLst>
            </p:cNvPr>
            <p:cNvGrpSpPr/>
            <p:nvPr/>
          </p:nvGrpSpPr>
          <p:grpSpPr>
            <a:xfrm>
              <a:off x="384432" y="2871911"/>
              <a:ext cx="3378238" cy="246181"/>
              <a:chOff x="384432" y="2871911"/>
              <a:chExt cx="3378238" cy="246181"/>
            </a:xfrm>
          </p:grpSpPr>
          <p:sp>
            <p:nvSpPr>
              <p:cNvPr id="72" name="Google Shape;2335;p60">
                <a:extLst>
                  <a:ext uri="{FF2B5EF4-FFF2-40B4-BE49-F238E27FC236}">
                    <a16:creationId xmlns:a16="http://schemas.microsoft.com/office/drawing/2014/main" id="{B582A7EF-5DBE-9C6F-93F9-6011BE61FB9F}"/>
                  </a:ext>
                </a:extLst>
              </p:cNvPr>
              <p:cNvSpPr txBox="1"/>
              <p:nvPr/>
            </p:nvSpPr>
            <p:spPr>
              <a:xfrm>
                <a:off x="434349" y="2871911"/>
                <a:ext cx="879993"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CREON</a:t>
                </a:r>
                <a:endParaRPr kumimoji="0"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73" name="Google Shape;2338;p60">
                <a:extLst>
                  <a:ext uri="{FF2B5EF4-FFF2-40B4-BE49-F238E27FC236}">
                    <a16:creationId xmlns:a16="http://schemas.microsoft.com/office/drawing/2014/main" id="{B311C09A-306E-6F90-BEB9-E6D4231AFC31}"/>
                  </a:ext>
                </a:extLst>
              </p:cNvPr>
              <p:cNvSpPr txBox="1"/>
              <p:nvPr/>
            </p:nvSpPr>
            <p:spPr>
              <a:xfrm>
                <a:off x="1119079" y="2871911"/>
                <a:ext cx="86411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ZENPEP</a:t>
                </a:r>
                <a:endParaRPr kumimoji="0"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74" name="Google Shape;2341;p60">
                <a:extLst>
                  <a:ext uri="{FF2B5EF4-FFF2-40B4-BE49-F238E27FC236}">
                    <a16:creationId xmlns:a16="http://schemas.microsoft.com/office/drawing/2014/main" id="{5CFFAEFD-ABFE-DD07-5AE3-D4A05E029F50}"/>
                  </a:ext>
                </a:extLst>
              </p:cNvPr>
              <p:cNvSpPr txBox="1"/>
              <p:nvPr/>
            </p:nvSpPr>
            <p:spPr>
              <a:xfrm>
                <a:off x="1862729" y="2871911"/>
                <a:ext cx="1006989"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PANCREAZE</a:t>
                </a:r>
                <a:endParaRPr kumimoji="0"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75" name="Google Shape;2344;p60">
                <a:extLst>
                  <a:ext uri="{FF2B5EF4-FFF2-40B4-BE49-F238E27FC236}">
                    <a16:creationId xmlns:a16="http://schemas.microsoft.com/office/drawing/2014/main" id="{365F796F-594F-68E9-C9E3-A8244E2369B9}"/>
                  </a:ext>
                </a:extLst>
              </p:cNvPr>
              <p:cNvSpPr txBox="1"/>
              <p:nvPr/>
            </p:nvSpPr>
            <p:spPr>
              <a:xfrm>
                <a:off x="2898552" y="2871911"/>
                <a:ext cx="86411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B1F65"/>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rPr>
                  <a:t>PERTZYE</a:t>
                </a:r>
                <a:endParaRPr kumimoji="0" sz="14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76" name="Google Shape;2336;p60">
                <a:extLst>
                  <a:ext uri="{FF2B5EF4-FFF2-40B4-BE49-F238E27FC236}">
                    <a16:creationId xmlns:a16="http://schemas.microsoft.com/office/drawing/2014/main" id="{D1FD583D-0089-253C-AAAF-3BA7B635C33E}"/>
                  </a:ext>
                </a:extLst>
              </p:cNvPr>
              <p:cNvSpPr/>
              <p:nvPr/>
            </p:nvSpPr>
            <p:spPr>
              <a:xfrm>
                <a:off x="384432" y="2949442"/>
                <a:ext cx="90000" cy="91119"/>
              </a:xfrm>
              <a:prstGeom prst="rect">
                <a:avLst/>
              </a:prstGeom>
              <a:solidFill>
                <a:srgbClr val="36729C"/>
              </a:solidFill>
              <a:ln w="12700" cap="flat" cmpd="sng">
                <a:solidFill>
                  <a:srgbClr val="36729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77" name="Google Shape;2339;p60">
                <a:extLst>
                  <a:ext uri="{FF2B5EF4-FFF2-40B4-BE49-F238E27FC236}">
                    <a16:creationId xmlns:a16="http://schemas.microsoft.com/office/drawing/2014/main" id="{B5677247-8702-19F4-A865-B3A2BB5F8A15}"/>
                  </a:ext>
                </a:extLst>
              </p:cNvPr>
              <p:cNvSpPr/>
              <p:nvPr/>
            </p:nvSpPr>
            <p:spPr>
              <a:xfrm>
                <a:off x="1069160" y="2949442"/>
                <a:ext cx="90000" cy="91119"/>
              </a:xfrm>
              <a:prstGeom prst="rect">
                <a:avLst/>
              </a:prstGeom>
              <a:solidFill>
                <a:srgbClr val="9778D4"/>
              </a:solidFill>
              <a:ln w="12700" cap="flat" cmpd="sng">
                <a:solidFill>
                  <a:srgbClr val="9778D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78" name="Google Shape;2342;p60">
                <a:extLst>
                  <a:ext uri="{FF2B5EF4-FFF2-40B4-BE49-F238E27FC236}">
                    <a16:creationId xmlns:a16="http://schemas.microsoft.com/office/drawing/2014/main" id="{0DABDAB5-5566-9F18-BB81-D02067BA4EC3}"/>
                  </a:ext>
                </a:extLst>
              </p:cNvPr>
              <p:cNvSpPr/>
              <p:nvPr/>
            </p:nvSpPr>
            <p:spPr>
              <a:xfrm>
                <a:off x="1812812" y="2949442"/>
                <a:ext cx="90000" cy="91119"/>
              </a:xfrm>
              <a:prstGeom prst="rect">
                <a:avLst/>
              </a:prstGeom>
              <a:solidFill>
                <a:srgbClr val="FF8813"/>
              </a:solidFill>
              <a:ln w="12700" cap="flat" cmpd="sng">
                <a:solidFill>
                  <a:srgbClr val="FF881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sp>
            <p:nvSpPr>
              <p:cNvPr id="79" name="Google Shape;2345;p60">
                <a:extLst>
                  <a:ext uri="{FF2B5EF4-FFF2-40B4-BE49-F238E27FC236}">
                    <a16:creationId xmlns:a16="http://schemas.microsoft.com/office/drawing/2014/main" id="{CF41CAED-E207-777C-A085-8FE99F4BDDD4}"/>
                  </a:ext>
                </a:extLst>
              </p:cNvPr>
              <p:cNvSpPr/>
              <p:nvPr/>
            </p:nvSpPr>
            <p:spPr>
              <a:xfrm>
                <a:off x="2848633" y="2949442"/>
                <a:ext cx="90000" cy="91119"/>
              </a:xfrm>
              <a:prstGeom prst="rect">
                <a:avLst/>
              </a:prstGeom>
              <a:solidFill>
                <a:srgbClr val="00B3C8"/>
              </a:solidFill>
              <a:ln w="12700" cap="flat" cmpd="sng">
                <a:solidFill>
                  <a:srgbClr val="00B3C8"/>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B1F65"/>
                  </a:buClr>
                  <a:buSzPts val="1100"/>
                  <a:buFont typeface="Arial"/>
                  <a:buNone/>
                  <a:tabLst/>
                  <a:defRPr/>
                </a:pPr>
                <a:endParaRPr kumimoji="0" sz="1100" b="0" i="0" u="none" strike="noStrike" kern="0" cap="none" spc="0" normalizeH="0" baseline="0" noProof="0">
                  <a:ln>
                    <a:noFill/>
                  </a:ln>
                  <a:solidFill>
                    <a:srgbClr val="070605"/>
                  </a:solidFill>
                  <a:effectLst/>
                  <a:uLnTx/>
                  <a:uFillTx/>
                  <a:latin typeface="+mn-lt"/>
                  <a:ea typeface="Calibri"/>
                  <a:cs typeface="Arial" panose="020B0604020202020204" pitchFamily="34" charset="0"/>
                  <a:sym typeface="Calibri"/>
                </a:endParaRPr>
              </a:p>
            </p:txBody>
          </p:sp>
        </p:grpSp>
        <p:sp>
          <p:nvSpPr>
            <p:cNvPr id="71" name="Rectangle 70">
              <a:extLst>
                <a:ext uri="{FF2B5EF4-FFF2-40B4-BE49-F238E27FC236}">
                  <a16:creationId xmlns:a16="http://schemas.microsoft.com/office/drawing/2014/main" id="{FF3CC964-81F0-E634-1D9C-0B4546048FA1}"/>
                </a:ext>
              </a:extLst>
            </p:cNvPr>
            <p:cNvSpPr/>
            <p:nvPr/>
          </p:nvSpPr>
          <p:spPr>
            <a:xfrm>
              <a:off x="215621" y="2825775"/>
              <a:ext cx="3547049" cy="330417"/>
            </a:xfrm>
            <a:prstGeom prst="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ea typeface="+mn-ea"/>
                <a:cs typeface="Arial" panose="020B0604020202020204" pitchFamily="34" charset="0"/>
                <a:sym typeface="Arial"/>
              </a:endParaRPr>
            </a:p>
          </p:txBody>
        </p:sp>
      </p:grpSp>
      <p:sp>
        <p:nvSpPr>
          <p:cNvPr id="97" name="Google Shape;741;p13">
            <a:extLst>
              <a:ext uri="{FF2B5EF4-FFF2-40B4-BE49-F238E27FC236}">
                <a16:creationId xmlns:a16="http://schemas.microsoft.com/office/drawing/2014/main" id="{40D78F35-BF96-1B3A-FB9F-E4E064B2313F}"/>
              </a:ext>
            </a:extLst>
          </p:cNvPr>
          <p:cNvSpPr/>
          <p:nvPr/>
        </p:nvSpPr>
        <p:spPr>
          <a:xfrm>
            <a:off x="2481463" y="1215604"/>
            <a:ext cx="4181075" cy="446242"/>
          </a:xfrm>
          <a:prstGeom prst="rect">
            <a:avLst/>
          </a:prstGeom>
          <a:noFill/>
          <a:ln>
            <a:noFill/>
          </a:ln>
        </p:spPr>
        <p:txBody>
          <a:bodyPr spcFirstLastPara="1" wrap="square" lIns="76188" tIns="38083" rIns="76188" bIns="38083"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200" b="1" i="0" u="sng" strike="noStrike" kern="0" cap="none" spc="0" normalizeH="0" baseline="0" noProof="0">
                <a:ln>
                  <a:noFill/>
                </a:ln>
                <a:solidFill>
                  <a:srgbClr val="071D49"/>
                </a:solidFill>
                <a:effectLst/>
                <a:uLnTx/>
                <a:uFillTx/>
                <a:latin typeface="+mn-lt"/>
                <a:ea typeface="Calibri"/>
                <a:cs typeface="Arial" panose="020B0604020202020204" pitchFamily="34" charset="0"/>
                <a:sym typeface="Calibri"/>
              </a:rPr>
              <a:t>Patient Asked for Product, HCP Gave Patient a Sample and/or Prescription for Product</a:t>
            </a:r>
            <a:endParaRPr kumimoji="0" lang="en-GB" sz="1200" b="0" i="0" u="none" strike="noStrike" kern="0" cap="none" spc="0" normalizeH="0" baseline="0" noProof="0">
              <a:ln>
                <a:noFill/>
              </a:ln>
              <a:solidFill>
                <a:srgbClr val="000000"/>
              </a:solidFill>
              <a:effectLst/>
              <a:uLnTx/>
              <a:uFillTx/>
              <a:latin typeface="+mn-lt"/>
              <a:ea typeface="+mn-ea"/>
              <a:cs typeface="Arial" panose="020B0604020202020204" pitchFamily="34" charset="0"/>
              <a:sym typeface="Arial"/>
            </a:endParaRPr>
          </a:p>
        </p:txBody>
      </p:sp>
      <p:sp>
        <p:nvSpPr>
          <p:cNvPr id="23" name="Google Shape;1595;p41">
            <a:extLst>
              <a:ext uri="{FF2B5EF4-FFF2-40B4-BE49-F238E27FC236}">
                <a16:creationId xmlns:a16="http://schemas.microsoft.com/office/drawing/2014/main" id="{CCF5F349-3C8B-2A13-E2C1-5F666C707E4E}"/>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sngStrike" kern="0" cap="none" spc="0" normalizeH="0" baseline="0" noProof="0">
                <a:ln>
                  <a:noFill/>
                </a:ln>
                <a:solidFill>
                  <a:srgbClr val="001D49"/>
                </a:solidFill>
                <a:effectLst/>
                <a:uLnTx/>
                <a:uFillTx/>
                <a:latin typeface="+mn-lt"/>
                <a:ea typeface="Calibri"/>
                <a:cs typeface="Arial" panose="020B0604020202020204" pitchFamily="34" charset="0"/>
                <a:sym typeface="Calibri"/>
              </a:rPr>
              <a:t>This wave, CREON saw the highest patient requests and HCP’s acceptance of those requests by providing them a sample/prescription, while PERTZYE and PANCREAZE both saw notable increases</a:t>
            </a:r>
            <a:endParaRPr kumimoji="0" lang="en-IN" sz="1400" b="0" i="0" u="none" strike="sngStrike" kern="0" cap="none" spc="0" normalizeH="0" baseline="0" noProof="0">
              <a:ln>
                <a:noFill/>
              </a:ln>
              <a:solidFill>
                <a:srgbClr val="001D49"/>
              </a:solidFill>
              <a:effectLst/>
              <a:uLnTx/>
              <a:uFillTx/>
              <a:latin typeface="+mn-lt"/>
              <a:ea typeface="Calibri"/>
              <a:cs typeface="Arial" panose="020B0604020202020204" pitchFamily="34" charset="0"/>
              <a:sym typeface="Calibri"/>
            </a:endParaRPr>
          </a:p>
        </p:txBody>
      </p:sp>
      <p:sp>
        <p:nvSpPr>
          <p:cNvPr id="2" name="Rectangle 1">
            <a:extLst>
              <a:ext uri="{FF2B5EF4-FFF2-40B4-BE49-F238E27FC236}">
                <a16:creationId xmlns:a16="http://schemas.microsoft.com/office/drawing/2014/main" id="{02C8D919-5C66-C880-2406-6E264F1DA3E6}"/>
              </a:ext>
            </a:extLst>
          </p:cNvPr>
          <p:cNvSpPr/>
          <p:nvPr/>
        </p:nvSpPr>
        <p:spPr>
          <a:xfrm rot="16200000">
            <a:off x="-348253" y="4650070"/>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patients)</a:t>
            </a:r>
          </a:p>
        </p:txBody>
      </p:sp>
      <p:sp>
        <p:nvSpPr>
          <p:cNvPr id="11" name="Rectangle 10">
            <a:extLst>
              <a:ext uri="{FF2B5EF4-FFF2-40B4-BE49-F238E27FC236}">
                <a16:creationId xmlns:a16="http://schemas.microsoft.com/office/drawing/2014/main" id="{804997B2-563B-1BAF-D3DF-157666699B05}"/>
              </a:ext>
            </a:extLst>
          </p:cNvPr>
          <p:cNvSpPr/>
          <p:nvPr/>
        </p:nvSpPr>
        <p:spPr>
          <a:xfrm rot="16200000">
            <a:off x="3958339" y="4650070"/>
            <a:ext cx="1341120" cy="436435"/>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800" b="0" i="0" u="none" strike="noStrike" kern="0" cap="none" spc="0" normalizeH="0" baseline="0" noProof="0">
                <a:ln>
                  <a:noFill/>
                </a:ln>
                <a:solidFill>
                  <a:srgbClr val="071D49"/>
                </a:solidFill>
                <a:effectLst/>
                <a:uLnTx/>
                <a:uFillTx/>
                <a:ea typeface="+mn-ea"/>
                <a:cs typeface="Arial" panose="020B0604020202020204" pitchFamily="34" charset="0"/>
                <a:sym typeface="Arial"/>
              </a:rPr>
              <a:t>(% of patients)</a:t>
            </a:r>
          </a:p>
        </p:txBody>
      </p:sp>
      <p:sp>
        <p:nvSpPr>
          <p:cNvPr id="6" name="Google Shape;1785;p46">
            <a:extLst>
              <a:ext uri="{FF2B5EF4-FFF2-40B4-BE49-F238E27FC236}">
                <a16:creationId xmlns:a16="http://schemas.microsoft.com/office/drawing/2014/main" id="{05A86807-5684-5118-835E-A94C5BE4DC9B}"/>
              </a:ext>
            </a:extLst>
          </p:cNvPr>
          <p:cNvSpPr txBox="1"/>
          <p:nvPr/>
        </p:nvSpPr>
        <p:spPr>
          <a:xfrm>
            <a:off x="928803" y="6082791"/>
            <a:ext cx="7275999"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mn-lt"/>
                <a:ea typeface="Calibri"/>
                <a:cs typeface="Arial" panose="020B0604020202020204" pitchFamily="34" charset="0"/>
                <a:sym typeface="Calibri"/>
              </a:rPr>
              <a:t>Question text and sample size in speaker notes | s - % of patient</a:t>
            </a:r>
            <a:endParaRPr kumimoji="0" lang="en-US" sz="1400" b="0" i="0" u="none" strike="noStrike" kern="0" cap="none" spc="0" normalizeH="0" baseline="0" noProof="0">
              <a:ln>
                <a:noFill/>
              </a:ln>
              <a:solidFill>
                <a:srgbClr val="001D49"/>
              </a:solidFill>
              <a:effectLst/>
              <a:uLnTx/>
              <a:uFillTx/>
              <a:latin typeface="+mn-lt"/>
              <a:cs typeface="Arial" panose="020B0604020202020204" pitchFamily="34" charset="0"/>
              <a:sym typeface="Arial"/>
            </a:endParaRPr>
          </a:p>
        </p:txBody>
      </p:sp>
      <p:graphicFrame>
        <p:nvGraphicFramePr>
          <p:cNvPr id="3" name="wave table OCQ">
            <a:extLst>
              <a:ext uri="{FF2B5EF4-FFF2-40B4-BE49-F238E27FC236}">
                <a16:creationId xmlns:a16="http://schemas.microsoft.com/office/drawing/2014/main" id="{6E7608ED-30B6-4496-5BD1-72DCCE0C86EE}"/>
              </a:ext>
            </a:extLst>
          </p:cNvPr>
          <p:cNvGraphicFramePr>
            <a:graphicFrameLocks noGrp="1"/>
          </p:cNvGraphicFramePr>
          <p:nvPr>
            <p:custDataLst>
              <p:tags r:id="rId4"/>
            </p:custDataLst>
            <p:extLst>
              <p:ext uri="{D42A27DB-BD31-4B8C-83A1-F6EECF244321}">
                <p14:modId xmlns:p14="http://schemas.microsoft.com/office/powerpoint/2010/main" val="344970375"/>
              </p:ext>
            </p:extLst>
          </p:nvPr>
        </p:nvGraphicFramePr>
        <p:xfrm>
          <a:off x="2394214" y="3176654"/>
          <a:ext cx="4310855" cy="13716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640080">
                  <a:extLst>
                    <a:ext uri="{9D8B030D-6E8A-4147-A177-3AD203B41FA5}">
                      <a16:colId xmlns:a16="http://schemas.microsoft.com/office/drawing/2014/main" val="3554599800"/>
                    </a:ext>
                  </a:extLst>
                </a:gridCol>
                <a:gridCol w="640080">
                  <a:extLst>
                    <a:ext uri="{9D8B030D-6E8A-4147-A177-3AD203B41FA5}">
                      <a16:colId xmlns:a16="http://schemas.microsoft.com/office/drawing/2014/main" val="2914776207"/>
                    </a:ext>
                  </a:extLst>
                </a:gridCol>
                <a:gridCol w="640080">
                  <a:extLst>
                    <a:ext uri="{9D8B030D-6E8A-4147-A177-3AD203B41FA5}">
                      <a16:colId xmlns:a16="http://schemas.microsoft.com/office/drawing/2014/main" val="2088702262"/>
                    </a:ext>
                  </a:extLst>
                </a:gridCol>
                <a:gridCol w="640080">
                  <a:extLst>
                    <a:ext uri="{9D8B030D-6E8A-4147-A177-3AD203B41FA5}">
                      <a16:colId xmlns:a16="http://schemas.microsoft.com/office/drawing/2014/main" val="192097877"/>
                    </a:ext>
                  </a:extLst>
                </a:gridCol>
                <a:gridCol w="640080">
                  <a:extLst>
                    <a:ext uri="{9D8B030D-6E8A-4147-A177-3AD203B41FA5}">
                      <a16:colId xmlns:a16="http://schemas.microsoft.com/office/drawing/2014/main" val="1326389649"/>
                    </a:ext>
                  </a:extLst>
                </a:gridCol>
                <a:gridCol w="64008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bl>
          </a:graphicData>
        </a:graphic>
      </p:graphicFrame>
      <p:graphicFrame>
        <p:nvGraphicFramePr>
          <p:cNvPr id="7" name="wave table OCQ">
            <a:extLst>
              <a:ext uri="{FF2B5EF4-FFF2-40B4-BE49-F238E27FC236}">
                <a16:creationId xmlns:a16="http://schemas.microsoft.com/office/drawing/2014/main" id="{2C745D71-5EAE-198C-DB0B-D4A15E7B6E52}"/>
              </a:ext>
            </a:extLst>
          </p:cNvPr>
          <p:cNvGraphicFramePr>
            <a:graphicFrameLocks noGrp="1"/>
          </p:cNvGraphicFramePr>
          <p:nvPr>
            <p:custDataLst>
              <p:tags r:id="rId5"/>
            </p:custDataLst>
            <p:extLst>
              <p:ext uri="{D42A27DB-BD31-4B8C-83A1-F6EECF244321}">
                <p14:modId xmlns:p14="http://schemas.microsoft.com/office/powerpoint/2010/main" val="4038216136"/>
              </p:ext>
            </p:extLst>
          </p:nvPr>
        </p:nvGraphicFramePr>
        <p:xfrm>
          <a:off x="84812" y="5781163"/>
          <a:ext cx="4310855" cy="13716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640080">
                  <a:extLst>
                    <a:ext uri="{9D8B030D-6E8A-4147-A177-3AD203B41FA5}">
                      <a16:colId xmlns:a16="http://schemas.microsoft.com/office/drawing/2014/main" val="3554599800"/>
                    </a:ext>
                  </a:extLst>
                </a:gridCol>
                <a:gridCol w="640080">
                  <a:extLst>
                    <a:ext uri="{9D8B030D-6E8A-4147-A177-3AD203B41FA5}">
                      <a16:colId xmlns:a16="http://schemas.microsoft.com/office/drawing/2014/main" val="2914776207"/>
                    </a:ext>
                  </a:extLst>
                </a:gridCol>
                <a:gridCol w="640080">
                  <a:extLst>
                    <a:ext uri="{9D8B030D-6E8A-4147-A177-3AD203B41FA5}">
                      <a16:colId xmlns:a16="http://schemas.microsoft.com/office/drawing/2014/main" val="2088702262"/>
                    </a:ext>
                  </a:extLst>
                </a:gridCol>
                <a:gridCol w="640080">
                  <a:extLst>
                    <a:ext uri="{9D8B030D-6E8A-4147-A177-3AD203B41FA5}">
                      <a16:colId xmlns:a16="http://schemas.microsoft.com/office/drawing/2014/main" val="192097877"/>
                    </a:ext>
                  </a:extLst>
                </a:gridCol>
                <a:gridCol w="640080">
                  <a:extLst>
                    <a:ext uri="{9D8B030D-6E8A-4147-A177-3AD203B41FA5}">
                      <a16:colId xmlns:a16="http://schemas.microsoft.com/office/drawing/2014/main" val="1326389649"/>
                    </a:ext>
                  </a:extLst>
                </a:gridCol>
                <a:gridCol w="64008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bl>
          </a:graphicData>
        </a:graphic>
      </p:graphicFrame>
      <p:graphicFrame>
        <p:nvGraphicFramePr>
          <p:cNvPr id="10" name="wave table OCQ">
            <a:extLst>
              <a:ext uri="{FF2B5EF4-FFF2-40B4-BE49-F238E27FC236}">
                <a16:creationId xmlns:a16="http://schemas.microsoft.com/office/drawing/2014/main" id="{3F9E081E-6682-D645-CFD4-82D5C3A14867}"/>
              </a:ext>
            </a:extLst>
          </p:cNvPr>
          <p:cNvGraphicFramePr>
            <a:graphicFrameLocks noGrp="1"/>
          </p:cNvGraphicFramePr>
          <p:nvPr>
            <p:custDataLst>
              <p:tags r:id="rId6"/>
            </p:custDataLst>
            <p:extLst>
              <p:ext uri="{D42A27DB-BD31-4B8C-83A1-F6EECF244321}">
                <p14:modId xmlns:p14="http://schemas.microsoft.com/office/powerpoint/2010/main" val="4038216136"/>
              </p:ext>
            </p:extLst>
          </p:nvPr>
        </p:nvGraphicFramePr>
        <p:xfrm>
          <a:off x="4390896" y="5781163"/>
          <a:ext cx="4310855" cy="137160"/>
        </p:xfrm>
        <a:graphic>
          <a:graphicData uri="http://schemas.openxmlformats.org/drawingml/2006/table">
            <a:tbl>
              <a:tblPr firstRow="1" bandRow="1">
                <a:tableStyleId>{B301B821-A1FF-4177-AEE7-76D212191A09}</a:tableStyleId>
              </a:tblPr>
              <a:tblGrid>
                <a:gridCol w="470375">
                  <a:extLst>
                    <a:ext uri="{9D8B030D-6E8A-4147-A177-3AD203B41FA5}">
                      <a16:colId xmlns:a16="http://schemas.microsoft.com/office/drawing/2014/main" val="2807840572"/>
                    </a:ext>
                  </a:extLst>
                </a:gridCol>
                <a:gridCol w="640080">
                  <a:extLst>
                    <a:ext uri="{9D8B030D-6E8A-4147-A177-3AD203B41FA5}">
                      <a16:colId xmlns:a16="http://schemas.microsoft.com/office/drawing/2014/main" val="3554599800"/>
                    </a:ext>
                  </a:extLst>
                </a:gridCol>
                <a:gridCol w="640080">
                  <a:extLst>
                    <a:ext uri="{9D8B030D-6E8A-4147-A177-3AD203B41FA5}">
                      <a16:colId xmlns:a16="http://schemas.microsoft.com/office/drawing/2014/main" val="2914776207"/>
                    </a:ext>
                  </a:extLst>
                </a:gridCol>
                <a:gridCol w="640080">
                  <a:extLst>
                    <a:ext uri="{9D8B030D-6E8A-4147-A177-3AD203B41FA5}">
                      <a16:colId xmlns:a16="http://schemas.microsoft.com/office/drawing/2014/main" val="2088702262"/>
                    </a:ext>
                  </a:extLst>
                </a:gridCol>
                <a:gridCol w="640080">
                  <a:extLst>
                    <a:ext uri="{9D8B030D-6E8A-4147-A177-3AD203B41FA5}">
                      <a16:colId xmlns:a16="http://schemas.microsoft.com/office/drawing/2014/main" val="192097877"/>
                    </a:ext>
                  </a:extLst>
                </a:gridCol>
                <a:gridCol w="640080">
                  <a:extLst>
                    <a:ext uri="{9D8B030D-6E8A-4147-A177-3AD203B41FA5}">
                      <a16:colId xmlns:a16="http://schemas.microsoft.com/office/drawing/2014/main" val="1326389649"/>
                    </a:ext>
                  </a:extLst>
                </a:gridCol>
                <a:gridCol w="640080">
                  <a:extLst>
                    <a:ext uri="{9D8B030D-6E8A-4147-A177-3AD203B41FA5}">
                      <a16:colId xmlns:a16="http://schemas.microsoft.com/office/drawing/2014/main" val="3544539175"/>
                    </a:ext>
                  </a:extLst>
                </a:gridCol>
              </a:tblGrid>
              <a:tr h="137160">
                <a:tc>
                  <a:txBody>
                    <a:bodyPr/>
                    <a:lstStyle/>
                    <a:p>
                      <a:pPr algn="ctr" fontAlgn="ctr">
                        <a:buNone/>
                      </a:pPr>
                      <a:r>
                        <a:rPr lang="en-IN" sz="800" b="1" i="0" u="none" strike="noStrike" kern="1200">
                          <a:solidFill>
                            <a:srgbClr val="071D49"/>
                          </a:solidFill>
                          <a:effectLst/>
                          <a:latin typeface="+mn-lt"/>
                          <a:ea typeface="+mn-ea"/>
                          <a:cs typeface="+mn-cs"/>
                        </a:rPr>
                        <a:t>R3M</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Oct’25 </a:t>
                      </a:r>
                    </a:p>
                  </a:txBody>
                  <a:tcPr marL="0" marR="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Nov'25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Dec'25</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Jan’26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Feb’26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IN" sz="800" b="1" i="0" u="none" strike="noStrike" kern="1200">
                          <a:solidFill>
                            <a:srgbClr val="071D49"/>
                          </a:solidFill>
                          <a:effectLst/>
                          <a:latin typeface="+mn-lt"/>
                          <a:ea typeface="+mn-ea"/>
                          <a:cs typeface="+mn-cs"/>
                        </a:rPr>
                        <a:t>Mar’26</a:t>
                      </a:r>
                    </a:p>
                  </a:txBody>
                  <a:tcPr marL="6350" marR="6350" marT="635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3893500"/>
                  </a:ext>
                </a:extLst>
              </a:tr>
            </a:tbl>
          </a:graphicData>
        </a:graphic>
      </p:graphicFrame>
      <p:sp>
        <p:nvSpPr>
          <p:cNvPr id="12" name="Rectangle 11">
            <a:extLst>
              <a:ext uri="{FF2B5EF4-FFF2-40B4-BE49-F238E27FC236}">
                <a16:creationId xmlns:a16="http://schemas.microsoft.com/office/drawing/2014/main" id="{F3A435BC-AC7D-F541-F0EC-8526B27878F3}"/>
              </a:ext>
            </a:extLst>
          </p:cNvPr>
          <p:cNvSpPr/>
          <p:nvPr/>
        </p:nvSpPr>
        <p:spPr>
          <a:xfrm>
            <a:off x="3690938" y="0"/>
            <a:ext cx="1762125" cy="181373"/>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i="1">
                <a:solidFill>
                  <a:schemeClr val="bg2">
                    <a:lumMod val="10000"/>
                  </a:schemeClr>
                </a:solidFill>
              </a:rPr>
              <a:t>VP Updated </a:t>
            </a:r>
          </a:p>
        </p:txBody>
      </p:sp>
    </p:spTree>
    <p:extLst>
      <p:ext uri="{BB962C8B-B14F-4D97-AF65-F5344CB8AC3E}">
        <p14:creationId xmlns:p14="http://schemas.microsoft.com/office/powerpoint/2010/main" val="32893371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322">
          <a:extLst>
            <a:ext uri="{FF2B5EF4-FFF2-40B4-BE49-F238E27FC236}">
              <a16:creationId xmlns:a16="http://schemas.microsoft.com/office/drawing/2014/main" id="{8BD68FD4-60A4-5BCF-17FD-44C9025CDC3A}"/>
            </a:ext>
          </a:extLst>
        </p:cNvPr>
        <p:cNvGrpSpPr/>
        <p:nvPr/>
      </p:nvGrpSpPr>
      <p:grpSpPr>
        <a:xfrm>
          <a:off x="0" y="0"/>
          <a:ext cx="0" cy="0"/>
          <a:chOff x="0" y="0"/>
          <a:chExt cx="0" cy="0"/>
        </a:xfrm>
      </p:grpSpPr>
      <p:graphicFrame>
        <p:nvGraphicFramePr>
          <p:cNvPr id="1326" name="Google Shape;1326;p31">
            <a:extLst>
              <a:ext uri="{FF2B5EF4-FFF2-40B4-BE49-F238E27FC236}">
                <a16:creationId xmlns:a16="http://schemas.microsoft.com/office/drawing/2014/main" id="{8A31659A-BBEE-08FD-91D3-5C11759133DE}"/>
              </a:ext>
            </a:extLst>
          </p:cNvPr>
          <p:cNvGraphicFramePr/>
          <p:nvPr>
            <p:custDataLst>
              <p:tags r:id="rId1"/>
            </p:custDataLst>
          </p:nvPr>
        </p:nvGraphicFramePr>
        <p:xfrm>
          <a:off x="211130" y="2001141"/>
          <a:ext cx="4856896" cy="3754338"/>
        </p:xfrm>
        <a:graphic>
          <a:graphicData uri="http://schemas.openxmlformats.org/drawingml/2006/table">
            <a:tbl>
              <a:tblPr>
                <a:noFill/>
              </a:tblPr>
              <a:tblGrid>
                <a:gridCol w="2910624">
                  <a:extLst>
                    <a:ext uri="{9D8B030D-6E8A-4147-A177-3AD203B41FA5}">
                      <a16:colId xmlns:a16="http://schemas.microsoft.com/office/drawing/2014/main" val="20000"/>
                    </a:ext>
                  </a:extLst>
                </a:gridCol>
                <a:gridCol w="973136">
                  <a:extLst>
                    <a:ext uri="{9D8B030D-6E8A-4147-A177-3AD203B41FA5}">
                      <a16:colId xmlns:a16="http://schemas.microsoft.com/office/drawing/2014/main" val="20001"/>
                    </a:ext>
                  </a:extLst>
                </a:gridCol>
                <a:gridCol w="973136">
                  <a:extLst>
                    <a:ext uri="{9D8B030D-6E8A-4147-A177-3AD203B41FA5}">
                      <a16:colId xmlns:a16="http://schemas.microsoft.com/office/drawing/2014/main" val="614017571"/>
                    </a:ext>
                  </a:extLst>
                </a:gridCol>
              </a:tblGrid>
              <a:tr h="873978">
                <a:tc>
                  <a:txBody>
                    <a:bodyPr/>
                    <a:lstStyle/>
                    <a:p>
                      <a:pPr marL="0" marR="0" lvl="0" indent="0" algn="l" defTabSz="342906"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mn-lt"/>
                          <a:ea typeface="Calibri"/>
                          <a:cs typeface="Calibri" panose="020F0502020204030204" pitchFamily="34" charset="0"/>
                          <a:sym typeface="Calibri"/>
                        </a:rPr>
                        <a:t>Reasons to Switch</a:t>
                      </a:r>
                      <a:endParaRPr lang="en-US" sz="1800" kern="1200">
                        <a:solidFill>
                          <a:schemeClr val="lt1"/>
                        </a:solidFill>
                        <a:latin typeface="+mn-lt"/>
                        <a:ea typeface="Calibri"/>
                        <a:cs typeface="Calibri" panose="020F0502020204030204" pitchFamily="34" charset="0"/>
                        <a:sym typeface="Calibri"/>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tc>
                  <a:txBody>
                    <a:bodyPr/>
                    <a:lstStyle/>
                    <a:p>
                      <a:pPr marL="0" marR="0" lvl="0" indent="0" algn="ctr" rtl="0">
                        <a:lnSpc>
                          <a:spcPct val="100000"/>
                        </a:lnSpc>
                        <a:spcBef>
                          <a:spcPts val="0"/>
                        </a:spcBef>
                        <a:spcAft>
                          <a:spcPts val="0"/>
                        </a:spcAft>
                        <a:buClr>
                          <a:schemeClr val="lt1"/>
                        </a:buClr>
                        <a:buSzPts val="1000"/>
                        <a:buFont typeface="Calibri"/>
                        <a:buNone/>
                      </a:pPr>
                      <a:r>
                        <a:rPr lang="en-US" sz="1100" b="1">
                          <a:solidFill>
                            <a:schemeClr val="lt1"/>
                          </a:solidFill>
                          <a:latin typeface="+mj-lt"/>
                          <a:ea typeface="Calibri"/>
                          <a:cs typeface="Calibri" panose="020F0502020204030204" pitchFamily="34" charset="0"/>
                          <a:sym typeface="Calibri"/>
                        </a:rPr>
                        <a:t>Switching to CREON</a:t>
                      </a:r>
                      <a:br>
                        <a:rPr lang="en-US" sz="1100" b="1">
                          <a:solidFill>
                            <a:schemeClr val="lt1"/>
                          </a:solidFill>
                          <a:latin typeface="+mj-lt"/>
                          <a:ea typeface="Calibri"/>
                          <a:cs typeface="Calibri" panose="020F0502020204030204" pitchFamily="34" charset="0"/>
                          <a:sym typeface="Calibri"/>
                        </a:rPr>
                      </a:br>
                      <a:r>
                        <a:rPr lang="en-US" sz="900" b="0" i="0" u="none" strike="noStrike" kern="1200" cap="none">
                          <a:solidFill>
                            <a:srgbClr val="FFFFFF"/>
                          </a:solidFill>
                          <a:latin typeface="+mj-lt"/>
                          <a:ea typeface="Calibri"/>
                          <a:cs typeface="Calibri" panose="020F0502020204030204" pitchFamily="34" charset="0"/>
                          <a:sym typeface="Calibri"/>
                        </a:rPr>
                        <a:t> (n = 44)</a:t>
                      </a:r>
                      <a:endParaRPr lang="en-US" sz="900" b="0">
                        <a:solidFill>
                          <a:schemeClr val="lt1"/>
                        </a:solidFill>
                        <a:latin typeface="+mj-lt"/>
                        <a:ea typeface="Calibri"/>
                        <a:cs typeface="Calibri" panose="020F0502020204030204" pitchFamily="34" charset="0"/>
                        <a:sym typeface="Calibri"/>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36729C"/>
                    </a:solidFill>
                  </a:tcPr>
                </a:tc>
                <a:tc>
                  <a:txBody>
                    <a:bodyPr/>
                    <a:lstStyle/>
                    <a:p>
                      <a:pPr marL="0" marR="0" lvl="0" indent="0" algn="ctr" defTabSz="914400" rtl="0" eaLnBrk="1" fontAlgn="auto" latinLnBrk="0" hangingPunct="1">
                        <a:lnSpc>
                          <a:spcPct val="100000"/>
                        </a:lnSpc>
                        <a:spcBef>
                          <a:spcPts val="0"/>
                        </a:spcBef>
                        <a:spcAft>
                          <a:spcPts val="0"/>
                        </a:spcAft>
                        <a:buClr>
                          <a:schemeClr val="lt1"/>
                        </a:buClr>
                        <a:buSzPts val="1000"/>
                        <a:buFont typeface="Calibri"/>
                        <a:buNone/>
                        <a:tabLst/>
                        <a:defRPr/>
                      </a:pPr>
                      <a:r>
                        <a:rPr lang="en-US" sz="1100" b="1" kern="1200">
                          <a:solidFill>
                            <a:schemeClr val="lt1"/>
                          </a:solidFill>
                          <a:latin typeface="+mj-lt"/>
                          <a:ea typeface="Calibri"/>
                          <a:cs typeface="Calibri" panose="020F0502020204030204" pitchFamily="34" charset="0"/>
                          <a:sym typeface="Calibri"/>
                        </a:rPr>
                        <a:t>Switching to </a:t>
                      </a:r>
                      <a:r>
                        <a:rPr lang="en-US" sz="1100" b="1" i="0">
                          <a:solidFill>
                            <a:schemeClr val="bg1"/>
                          </a:solidFill>
                          <a:latin typeface="+mj-lt"/>
                          <a:cs typeface="Calibri" panose="020F0502020204030204" pitchFamily="34" charset="0"/>
                        </a:rPr>
                        <a:t>ZENPEP</a:t>
                      </a:r>
                      <a:br>
                        <a:rPr lang="en-US" sz="1100" i="0">
                          <a:solidFill>
                            <a:schemeClr val="bg1"/>
                          </a:solidFill>
                          <a:latin typeface="+mj-lt"/>
                          <a:cs typeface="Calibri" panose="020F0502020204030204" pitchFamily="34" charset="0"/>
                        </a:rPr>
                      </a:br>
                      <a:r>
                        <a:rPr lang="en-US" sz="900" i="0">
                          <a:solidFill>
                            <a:schemeClr val="bg1"/>
                          </a:solidFill>
                          <a:latin typeface="+mj-lt"/>
                          <a:cs typeface="Calibri" panose="020F0502020204030204" pitchFamily="34" charset="0"/>
                        </a:rPr>
                        <a:t>(n = 49)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778D4"/>
                    </a:solidFill>
                  </a:tcPr>
                </a:tc>
                <a:extLst>
                  <a:ext uri="{0D108BD9-81ED-4DB2-BD59-A6C34878D82A}">
                    <a16:rowId xmlns:a16="http://schemas.microsoft.com/office/drawing/2014/main" val="10001"/>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Insurance coverage / formulary</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extLst>
                  <a:ext uri="{0D108BD9-81ED-4DB2-BD59-A6C34878D82A}">
                    <a16:rowId xmlns:a16="http://schemas.microsoft.com/office/drawing/2014/main" val="358050678"/>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Out-of-Pocket Cost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23%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16%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extLst>
                  <a:ext uri="{0D108BD9-81ED-4DB2-BD59-A6C34878D82A}">
                    <a16:rowId xmlns:a16="http://schemas.microsoft.com/office/drawing/2014/main" val="10002"/>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Symptom Persistence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18%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extLst>
                  <a:ext uri="{0D108BD9-81ED-4DB2-BD59-A6C34878D82A}">
                    <a16:rowId xmlns:a16="http://schemas.microsoft.com/office/drawing/2014/main" val="10004"/>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Dosing</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16%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29%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extLst>
                  <a:ext uri="{0D108BD9-81ED-4DB2-BD59-A6C34878D82A}">
                    <a16:rowId xmlns:a16="http://schemas.microsoft.com/office/drawing/2014/main" val="10005"/>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Efficacy</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14%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10%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extLst>
                  <a:ext uri="{0D108BD9-81ED-4DB2-BD59-A6C34878D82A}">
                    <a16:rowId xmlns:a16="http://schemas.microsoft.com/office/drawing/2014/main" val="10007"/>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Safety / Side Effects / Tolerability</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0F5"/>
                    </a:solidFill>
                  </a:tcPr>
                </a:tc>
                <a:extLst>
                  <a:ext uri="{0D108BD9-81ED-4DB2-BD59-A6C34878D82A}">
                    <a16:rowId xmlns:a16="http://schemas.microsoft.com/office/drawing/2014/main" val="10009"/>
                  </a:ext>
                </a:extLst>
              </a:tr>
              <a:tr h="411480">
                <a:tc>
                  <a:txBody>
                    <a:bodyPr/>
                    <a:lstStyle/>
                    <a:p>
                      <a:pPr algn="ctr" fontAlgn="b">
                        <a:buNone/>
                      </a:pPr>
                      <a:r>
                        <a:rPr lang="en-IN" sz="1100" b="0" i="0" u="none" strike="noStrike" kern="1200">
                          <a:solidFill>
                            <a:srgbClr val="071D49"/>
                          </a:solidFill>
                          <a:effectLst/>
                          <a:latin typeface="Arial" panose="020B0604020202020204" pitchFamily="34" charset="0"/>
                          <a:ea typeface="+mn-ea"/>
                          <a:cs typeface="+mn-cs"/>
                        </a:rPr>
                        <a:t>Patient preference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tc>
                  <a:txBody>
                    <a:bodyPr/>
                    <a:lstStyle/>
                    <a:p>
                      <a:pPr algn="ctr" fontAlgn="b">
                        <a:buNone/>
                      </a:pPr>
                      <a:r>
                        <a:rPr lang="en-IN" sz="1000" b="0" i="0" u="none" strike="noStrike" kern="1200">
                          <a:solidFill>
                            <a:srgbClr val="071D49"/>
                          </a:solidFill>
                          <a:effectLst/>
                          <a:latin typeface="Arial" panose="020B0604020202020204" pitchFamily="34" charset="0"/>
                          <a:ea typeface="+mn-ea"/>
                          <a:cs typeface="Arial"/>
                        </a:rPr>
                        <a:t>22%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7E0EA"/>
                    </a:solidFill>
                  </a:tcPr>
                </a:tc>
                <a:extLst>
                  <a:ext uri="{0D108BD9-81ED-4DB2-BD59-A6C34878D82A}">
                    <a16:rowId xmlns:a16="http://schemas.microsoft.com/office/drawing/2014/main" val="10010"/>
                  </a:ext>
                </a:extLst>
              </a:tr>
            </a:tbl>
          </a:graphicData>
        </a:graphic>
      </p:graphicFrame>
      <p:sp>
        <p:nvSpPr>
          <p:cNvPr id="1323" name="Google Shape;1323;p31">
            <a:extLst>
              <a:ext uri="{FF2B5EF4-FFF2-40B4-BE49-F238E27FC236}">
                <a16:creationId xmlns:a16="http://schemas.microsoft.com/office/drawing/2014/main" id="{4FC1CAF4-37A6-44F5-1AEA-7FF0AB009F03}"/>
              </a:ext>
            </a:extLst>
          </p:cNvPr>
          <p:cNvSpPr/>
          <p:nvPr/>
        </p:nvSpPr>
        <p:spPr>
          <a:xfrm>
            <a:off x="595785" y="941198"/>
            <a:ext cx="7952437" cy="4744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Unaided: HCPs Reasons to Switch from One Product to Another</a:t>
            </a: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a:p>
            <a:pPr marL="0" marR="0" lvl="0" indent="0" algn="ctr" defTabSz="914400" rtl="0" eaLnBrk="1" fontAlgn="auto" latinLnBrk="0" hangingPunct="1">
              <a:lnSpc>
                <a:spcPct val="100000"/>
              </a:lnSpc>
              <a:spcBef>
                <a:spcPts val="91"/>
              </a:spcBef>
              <a:spcAft>
                <a:spcPts val="0"/>
              </a:spcAft>
              <a:buClr>
                <a:srgbClr val="071D49"/>
              </a:buClr>
              <a:buSzPts val="900"/>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a:t>
            </a:r>
            <a:r>
              <a:rPr kumimoji="0" lang="en-IN"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 | (%  of HCPs)</a:t>
            </a:r>
            <a:endParaRPr kumimoji="0" lang="en-US" sz="1000" b="0" i="0" u="sng" strike="noStrike" kern="0" cap="none" spc="0" normalizeH="0" baseline="30000" noProof="0">
              <a:ln>
                <a:noFill/>
              </a:ln>
              <a:solidFill>
                <a:srgbClr val="36729C"/>
              </a:solidFill>
              <a:effectLst/>
              <a:uLnTx/>
              <a:uFillTx/>
              <a:latin typeface="Arial" panose="020B0604020202020204" pitchFamily="34" charset="0"/>
              <a:ea typeface="Calibri"/>
              <a:cs typeface="Arial" panose="020B0604020202020204" pitchFamily="34" charset="0"/>
              <a:sym typeface="Calibri"/>
            </a:endParaRPr>
          </a:p>
        </p:txBody>
      </p:sp>
      <p:sp>
        <p:nvSpPr>
          <p:cNvPr id="22" name="Google Shape;1747;p45">
            <a:extLst>
              <a:ext uri="{FF2B5EF4-FFF2-40B4-BE49-F238E27FC236}">
                <a16:creationId xmlns:a16="http://schemas.microsoft.com/office/drawing/2014/main" id="{8DC5F74F-61EF-1823-19A7-F155E9D4A872}"/>
              </a:ext>
            </a:extLst>
          </p:cNvPr>
          <p:cNvSpPr/>
          <p:nvPr/>
        </p:nvSpPr>
        <p:spPr>
          <a:xfrm>
            <a:off x="0" y="1091507"/>
            <a:ext cx="1368000" cy="188655"/>
          </a:xfrm>
          <a:prstGeom prst="homePlate">
            <a:avLst/>
          </a:prstGeom>
          <a:solidFill>
            <a:srgbClr val="071D4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900"/>
              <a:buFont typeface="Arial"/>
              <a:buNone/>
              <a:tabLst/>
              <a:defRPr/>
            </a:pPr>
            <a:r>
              <a:rPr kumimoji="0" lang="en-US" sz="1051"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Calibri"/>
              </a:rPr>
              <a:t>Unaided</a:t>
            </a:r>
            <a:endParaRPr kumimoji="0" lang="en-US" sz="1051"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endParaRPr>
          </a:p>
        </p:txBody>
      </p:sp>
      <p:sp>
        <p:nvSpPr>
          <p:cNvPr id="12" name="Google Shape;2465;p63">
            <a:extLst>
              <a:ext uri="{FF2B5EF4-FFF2-40B4-BE49-F238E27FC236}">
                <a16:creationId xmlns:a16="http://schemas.microsoft.com/office/drawing/2014/main" id="{9017459C-DDDF-14C4-1C92-8A7BA0EB492F}"/>
              </a:ext>
            </a:extLst>
          </p:cNvPr>
          <p:cNvSpPr/>
          <p:nvPr/>
        </p:nvSpPr>
        <p:spPr>
          <a:xfrm>
            <a:off x="5473297" y="1966721"/>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Arial" panose="020B0604020202020204" pitchFamily="34" charset="0"/>
              <a:ea typeface="Calibri"/>
              <a:cs typeface="Arial" panose="020B0604020202020204" pitchFamily="34" charset="0"/>
              <a:sym typeface="Calibri"/>
            </a:endParaRPr>
          </a:p>
        </p:txBody>
      </p:sp>
      <p:sp>
        <p:nvSpPr>
          <p:cNvPr id="7" name="Google Shape;2465;p63">
            <a:extLst>
              <a:ext uri="{FF2B5EF4-FFF2-40B4-BE49-F238E27FC236}">
                <a16:creationId xmlns:a16="http://schemas.microsoft.com/office/drawing/2014/main" id="{6F406DE3-0739-D2BF-3D72-500DA9E246E6}"/>
              </a:ext>
            </a:extLst>
          </p:cNvPr>
          <p:cNvSpPr/>
          <p:nvPr/>
        </p:nvSpPr>
        <p:spPr>
          <a:xfrm>
            <a:off x="5678610" y="1746215"/>
            <a:ext cx="3254260" cy="440949"/>
          </a:xfrm>
          <a:prstGeom prst="rect">
            <a:avLst/>
          </a:prstGeom>
          <a:noFill/>
          <a:ln>
            <a:noFill/>
          </a:ln>
        </p:spPr>
        <p:txBody>
          <a:bodyPr spcFirstLastPara="1" wrap="square" lIns="91425" tIns="83100" rIns="91425" bIns="831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50"/>
              <a:buFont typeface="Arial"/>
              <a:buNone/>
              <a:tabLst/>
              <a:defRPr/>
            </a:pPr>
            <a:endParaRPr kumimoji="0" lang="en-US" sz="1051" b="0" i="0" u="none" strike="noStrike" kern="0" cap="none" spc="0" normalizeH="0" baseline="0" noProof="0">
              <a:ln>
                <a:noFill/>
              </a:ln>
              <a:solidFill>
                <a:srgbClr val="595959"/>
              </a:solidFill>
              <a:effectLst/>
              <a:uLnTx/>
              <a:uFillTx/>
              <a:latin typeface="Arial" panose="020B0604020202020204" pitchFamily="34" charset="0"/>
              <a:ea typeface="Calibri"/>
              <a:cs typeface="Arial" panose="020B0604020202020204" pitchFamily="34" charset="0"/>
              <a:sym typeface="Calibri"/>
            </a:endParaRPr>
          </a:p>
        </p:txBody>
      </p:sp>
      <p:cxnSp>
        <p:nvCxnSpPr>
          <p:cNvPr id="10" name="Google Shape;2466;p63">
            <a:extLst>
              <a:ext uri="{FF2B5EF4-FFF2-40B4-BE49-F238E27FC236}">
                <a16:creationId xmlns:a16="http://schemas.microsoft.com/office/drawing/2014/main" id="{B29C74B2-9E7F-EA21-E6D6-BADCE8D236E6}"/>
              </a:ext>
            </a:extLst>
          </p:cNvPr>
          <p:cNvCxnSpPr/>
          <p:nvPr/>
        </p:nvCxnSpPr>
        <p:spPr>
          <a:xfrm>
            <a:off x="5740628" y="1867544"/>
            <a:ext cx="3192243" cy="0"/>
          </a:xfrm>
          <a:prstGeom prst="straightConnector1">
            <a:avLst/>
          </a:prstGeom>
          <a:noFill/>
          <a:ln w="19050" cap="rnd" cmpd="sng">
            <a:solidFill>
              <a:srgbClr val="787474"/>
            </a:solidFill>
            <a:prstDash val="solid"/>
            <a:round/>
            <a:headEnd type="none" w="sm" len="sm"/>
            <a:tailEnd type="none" w="sm" len="sm"/>
          </a:ln>
        </p:spPr>
      </p:cxnSp>
      <p:sp>
        <p:nvSpPr>
          <p:cNvPr id="11" name="Google Shape;2467;p63">
            <a:extLst>
              <a:ext uri="{FF2B5EF4-FFF2-40B4-BE49-F238E27FC236}">
                <a16:creationId xmlns:a16="http://schemas.microsoft.com/office/drawing/2014/main" id="{F99CA2B9-025A-4209-FC63-741663B952A1}"/>
              </a:ext>
            </a:extLst>
          </p:cNvPr>
          <p:cNvSpPr/>
          <p:nvPr/>
        </p:nvSpPr>
        <p:spPr>
          <a:xfrm>
            <a:off x="5640475" y="1580950"/>
            <a:ext cx="3470065" cy="286595"/>
          </a:xfrm>
          <a:prstGeom prst="rect">
            <a:avLst/>
          </a:prstGeom>
          <a:noFill/>
          <a:ln>
            <a:noFill/>
          </a:ln>
        </p:spPr>
        <p:txBody>
          <a:bodyPr spcFirstLastPara="1" wrap="square" lIns="91425" tIns="83100" rIns="91425" bIns="831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100" b="1" i="0" u="none" strike="noStrike" kern="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Unaided responses - </a:t>
            </a:r>
            <a:r>
              <a:rPr kumimoji="0" lang="en-US" sz="1100" b="1" i="0" u="none"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Reasons to switch</a:t>
            </a:r>
            <a:endParaRPr kumimoji="0" lang="en-US" sz="1100" b="0" i="0" u="none"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pic>
        <p:nvPicPr>
          <p:cNvPr id="32" name="Picture 2">
            <a:extLst>
              <a:ext uri="{FF2B5EF4-FFF2-40B4-BE49-F238E27FC236}">
                <a16:creationId xmlns:a16="http://schemas.microsoft.com/office/drawing/2014/main" id="{186C1D96-303B-502F-CA13-9D01059F556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55427" y="1556977"/>
            <a:ext cx="254300" cy="29248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4" name="Table 33">
            <a:extLst>
              <a:ext uri="{FF2B5EF4-FFF2-40B4-BE49-F238E27FC236}">
                <a16:creationId xmlns:a16="http://schemas.microsoft.com/office/drawing/2014/main" id="{23C3B0DB-0FC2-60C1-4DDE-0E5B57528A1E}"/>
              </a:ext>
            </a:extLst>
          </p:cNvPr>
          <p:cNvGraphicFramePr>
            <a:graphicFrameLocks noGrp="1"/>
          </p:cNvGraphicFramePr>
          <p:nvPr>
            <p:custDataLst>
              <p:tags r:id="rId2"/>
            </p:custDataLst>
          </p:nvPr>
        </p:nvGraphicFramePr>
        <p:xfrm>
          <a:off x="5678609" y="2022986"/>
          <a:ext cx="3230381" cy="3768134"/>
        </p:xfrm>
        <a:graphic>
          <a:graphicData uri="http://schemas.openxmlformats.org/drawingml/2006/table">
            <a:tbl>
              <a:tblPr firstRow="1" bandRow="1"/>
              <a:tblGrid>
                <a:gridCol w="3230381">
                  <a:extLst>
                    <a:ext uri="{9D8B030D-6E8A-4147-A177-3AD203B41FA5}">
                      <a16:colId xmlns:a16="http://schemas.microsoft.com/office/drawing/2014/main" val="4062741633"/>
                    </a:ext>
                  </a:extLst>
                </a:gridCol>
              </a:tblGrid>
              <a:tr h="864121">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rPr>
                        <a:t>“</a:t>
                      </a:r>
                      <a:r>
                        <a:rPr kumimoji="0" lang="en-US" sz="1100" b="0"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rPr>
                        <a:t>CREON has better </a:t>
                      </a:r>
                      <a:r>
                        <a:rPr kumimoji="0" lang="en-US" sz="1100" b="1"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rPr>
                        <a:t>insurance coverage </a:t>
                      </a:r>
                      <a:r>
                        <a:rPr kumimoji="0" lang="en-US" sz="1100" b="0"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rPr>
                        <a:t>for some plans.</a:t>
                      </a:r>
                      <a:r>
                        <a:rPr kumimoji="0" lang="en-GB" sz="1100" b="0"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rPr>
                        <a:t>” </a:t>
                      </a:r>
                      <a:endParaRPr kumimoji="0" lang="en-US" sz="1100" b="0" i="1" u="none" strike="noStrike" kern="1200" cap="none" spc="0" normalizeH="0" baseline="0" noProof="0">
                        <a:ln>
                          <a:noFill/>
                        </a:ln>
                        <a:solidFill>
                          <a:srgbClr val="000000"/>
                        </a:solidFill>
                        <a:effectLst/>
                        <a:uLnTx/>
                        <a:uFillTx/>
                        <a:latin typeface="+mj-lt"/>
                        <a:ea typeface="+mn-ea"/>
                        <a:cs typeface="Calibri" panose="020F0502020204030204" pitchFamily="34" charset="0"/>
                        <a:sym typeface="Calibri"/>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tx1">
                        <a:lumMod val="10000"/>
                        <a:lumOff val="90000"/>
                      </a:schemeClr>
                    </a:solidFill>
                  </a:tcPr>
                </a:tc>
                <a:extLst>
                  <a:ext uri="{0D108BD9-81ED-4DB2-BD59-A6C34878D82A}">
                    <a16:rowId xmlns:a16="http://schemas.microsoft.com/office/drawing/2014/main" val="1855684948"/>
                  </a:ext>
                </a:extLst>
              </a:tr>
              <a:tr h="864121">
                <a:tc>
                  <a:txBody>
                    <a:bodyPr/>
                    <a:lstStyle/>
                    <a:p>
                      <a:pPr marL="171450" indent="-171450" algn="l" fontAlgn="b">
                        <a:buFont typeface="Arial" panose="020B0604020202020204" pitchFamily="34" charset="0"/>
                        <a:buChar char="•"/>
                      </a:pP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rPr>
                        <a:t>“ZENPEP has the highest dose available in a single capsule; patients prefer </a:t>
                      </a:r>
                      <a:r>
                        <a:rPr kumimoji="0" lang="en-US" sz="1100" b="0" i="1" u="none" strike="noStrike" kern="1200" cap="none" spc="0" normalizeH="0" baseline="0">
                          <a:ln>
                            <a:noFill/>
                          </a:ln>
                          <a:solidFill>
                            <a:srgbClr val="000000"/>
                          </a:solidFill>
                          <a:effectLst/>
                          <a:uLnTx/>
                          <a:uFillTx/>
                          <a:latin typeface="+mn-lt"/>
                          <a:ea typeface="+mn-ea"/>
                          <a:cs typeface="Calibri" panose="020F0502020204030204" pitchFamily="34" charset="0"/>
                        </a:rPr>
                        <a:t>ZENPEP </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rPr>
                        <a:t>because they don’t need to take multiple doses to improve their symptoms of EPI”</a:t>
                      </a:r>
                    </a:p>
                  </a:txBody>
                  <a:tcPr marL="6350" marR="6350" marT="635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4232191850"/>
                  </a:ext>
                </a:extLst>
              </a:tr>
              <a:tr h="864121">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“Switch to CREON from ZENPEP was made based on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patient preference</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 He felt that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similar dose </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of CREON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provided more benefit </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to his EPI symptoms.</a:t>
                      </a:r>
                      <a:r>
                        <a:rPr kumimoji="0" lang="en-GB"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a:t>
                      </a:r>
                      <a:endParaRPr kumimoji="0" lang="en-IN"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tx1">
                        <a:lumMod val="10000"/>
                        <a:lumOff val="90000"/>
                      </a:schemeClr>
                    </a:solidFill>
                  </a:tcPr>
                </a:tc>
                <a:extLst>
                  <a:ext uri="{0D108BD9-81ED-4DB2-BD59-A6C34878D82A}">
                    <a16:rowId xmlns:a16="http://schemas.microsoft.com/office/drawing/2014/main" val="3692321109"/>
                  </a:ext>
                </a:extLst>
              </a:tr>
              <a:tr h="1175771">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“Essentially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two reasons</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 One was the need for a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higher dose</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 which was the ZENPEP 60,000 Unit, and the other was preferred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insurance coverage </a:t>
                      </a:r>
                      <a:r>
                        <a:rPr kumimoji="0" lang="en-US"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with a </a:t>
                      </a:r>
                      <a:r>
                        <a:rPr kumimoji="0" lang="en-US" sz="1100" b="1"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lower copay</a:t>
                      </a:r>
                      <a:r>
                        <a:rPr kumimoji="0" lang="en-GB"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rPr>
                        <a:t>.” </a:t>
                      </a:r>
                      <a:endParaRPr kumimoji="0" lang="en-IN" sz="1100" b="0" i="1" u="none" strike="noStrike" kern="1200" cap="none" spc="0" normalizeH="0" baseline="0">
                        <a:ln>
                          <a:noFill/>
                        </a:ln>
                        <a:solidFill>
                          <a:srgbClr val="000000"/>
                        </a:solidFill>
                        <a:effectLst/>
                        <a:uLnTx/>
                        <a:uFillTx/>
                        <a:latin typeface="+mj-lt"/>
                        <a:ea typeface="+mn-ea"/>
                        <a:cs typeface="Calibri" panose="020F0502020204030204" pitchFamily="34" charset="0"/>
                        <a:sym typeface="Arial"/>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E8D5F5"/>
                    </a:solidFill>
                  </a:tcPr>
                </a:tc>
                <a:extLst>
                  <a:ext uri="{0D108BD9-81ED-4DB2-BD59-A6C34878D82A}">
                    <a16:rowId xmlns:a16="http://schemas.microsoft.com/office/drawing/2014/main" val="4066059447"/>
                  </a:ext>
                </a:extLst>
              </a:tr>
            </a:tbl>
          </a:graphicData>
        </a:graphic>
      </p:graphicFrame>
      <p:sp>
        <p:nvSpPr>
          <p:cNvPr id="2" name="Google Shape;1359;p33">
            <a:extLst>
              <a:ext uri="{FF2B5EF4-FFF2-40B4-BE49-F238E27FC236}">
                <a16:creationId xmlns:a16="http://schemas.microsoft.com/office/drawing/2014/main" id="{68A9F2BC-648D-5C9F-74DB-5B408DD1D3C2}"/>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Arial"/>
              </a:rPr>
              <a:t>Switches to both CREON and ZENPEP were primarily driven by insurance coverage while dosing played a strong role in switching to ZENPEP</a:t>
            </a:r>
            <a:endPar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endParaRPr>
          </a:p>
        </p:txBody>
      </p:sp>
      <p:sp>
        <p:nvSpPr>
          <p:cNvPr id="16" name="Google Shape;1498;p37">
            <a:extLst>
              <a:ext uri="{FF2B5EF4-FFF2-40B4-BE49-F238E27FC236}">
                <a16:creationId xmlns:a16="http://schemas.microsoft.com/office/drawing/2014/main" id="{F9143790-533D-F1B6-7A17-61FB628DE8E0}"/>
              </a:ext>
            </a:extLst>
          </p:cNvPr>
          <p:cNvSpPr txBox="1"/>
          <p:nvPr/>
        </p:nvSpPr>
        <p:spPr>
          <a:xfrm>
            <a:off x="928800" y="6097950"/>
            <a:ext cx="6843600"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No statistically significant (p&lt;.05) difference between CREON &amp; ZENPEP </a:t>
            </a:r>
            <a:endParaRPr kumimoji="0" lang="en-IN" sz="1400" b="0" i="0" u="none" strike="noStrike" kern="0" cap="none" spc="0" normalizeH="0" baseline="0" noProof="0">
              <a:ln>
                <a:noFill/>
              </a:ln>
              <a:solidFill>
                <a:srgbClr val="001D49"/>
              </a:solidFill>
              <a:effectLst/>
              <a:uLnTx/>
              <a:uFillTx/>
              <a:latin typeface="Arial" panose="020B0604020202020204" pitchFamily="34" charset="0"/>
              <a:cs typeface="Arial" panose="020B0604020202020204" pitchFamily="34" charset="0"/>
              <a:sym typeface="Arial"/>
            </a:endParaRPr>
          </a:p>
        </p:txBody>
      </p:sp>
      <p:sp>
        <p:nvSpPr>
          <p:cNvPr id="3" name="Highlight#32">
            <a:extLst>
              <a:ext uri="{FF2B5EF4-FFF2-40B4-BE49-F238E27FC236}">
                <a16:creationId xmlns:a16="http://schemas.microsoft.com/office/drawing/2014/main" id="{32AA9315-9A96-8792-7A5C-0B096DD04A3B}"/>
              </a:ext>
            </a:extLst>
          </p:cNvPr>
          <p:cNvSpPr txBox="1"/>
          <p:nvPr/>
        </p:nvSpPr>
        <p:spPr>
          <a:xfrm>
            <a:off x="211131" y="2919812"/>
            <a:ext cx="4856896" cy="324536"/>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 name="Highlight#32">
            <a:extLst>
              <a:ext uri="{FF2B5EF4-FFF2-40B4-BE49-F238E27FC236}">
                <a16:creationId xmlns:a16="http://schemas.microsoft.com/office/drawing/2014/main" id="{AA81C42E-0B08-18C9-2586-0D43064EDBAC}"/>
              </a:ext>
            </a:extLst>
          </p:cNvPr>
          <p:cNvSpPr txBox="1"/>
          <p:nvPr/>
        </p:nvSpPr>
        <p:spPr>
          <a:xfrm>
            <a:off x="187250" y="4106788"/>
            <a:ext cx="4846911" cy="397835"/>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6129239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438">
          <a:extLst>
            <a:ext uri="{FF2B5EF4-FFF2-40B4-BE49-F238E27FC236}">
              <a16:creationId xmlns:a16="http://schemas.microsoft.com/office/drawing/2014/main" id="{9A9396E9-B3B3-B363-4C59-1A9815E18CB9}"/>
            </a:ext>
          </a:extLst>
        </p:cNvPr>
        <p:cNvGrpSpPr/>
        <p:nvPr/>
      </p:nvGrpSpPr>
      <p:grpSpPr>
        <a:xfrm>
          <a:off x="0" y="0"/>
          <a:ext cx="0" cy="0"/>
          <a:chOff x="0" y="0"/>
          <a:chExt cx="0" cy="0"/>
        </a:xfrm>
      </p:grpSpPr>
      <p:sp>
        <p:nvSpPr>
          <p:cNvPr id="2440" name="Google Shape;2440;p63">
            <a:extLst>
              <a:ext uri="{FF2B5EF4-FFF2-40B4-BE49-F238E27FC236}">
                <a16:creationId xmlns:a16="http://schemas.microsoft.com/office/drawing/2014/main" id="{A684E194-0E24-D294-6B31-E3E08708E196}"/>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rPr>
              <a:t>Awareness of different dosing options stayed relatively stable for both CREON and ZENPEP this wave, with high-strength dosages for both CREON and ZENPEP remaining the most recognized</a:t>
            </a:r>
          </a:p>
        </p:txBody>
      </p:sp>
      <p:sp>
        <p:nvSpPr>
          <p:cNvPr id="35" name="Google Shape;6149;p177">
            <a:extLst>
              <a:ext uri="{FF2B5EF4-FFF2-40B4-BE49-F238E27FC236}">
                <a16:creationId xmlns:a16="http://schemas.microsoft.com/office/drawing/2014/main" id="{4F40AF8C-AC46-FF5F-9B35-B7D7D8068742}"/>
              </a:ext>
            </a:extLst>
          </p:cNvPr>
          <p:cNvSpPr txBox="1">
            <a:spLocks/>
          </p:cNvSpPr>
          <p:nvPr/>
        </p:nvSpPr>
        <p:spPr>
          <a:xfrm>
            <a:off x="2443848" y="964056"/>
            <a:ext cx="4256307" cy="419312"/>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CREON &amp; ZENPEP Dosing Options Awareness</a:t>
            </a:r>
            <a:r>
              <a:rPr kumimoji="0" lang="en-US" sz="1400" b="1" i="0" u="sng" strike="noStrike" kern="1200" cap="none" spc="0" normalizeH="0" baseline="3000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a:t>
            </a:r>
          </a:p>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 of HCPs indicating awareness of specific dosage of PERT product]</a:t>
            </a:r>
          </a:p>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endParaRPr kumimoji="0" lang="en-GB" sz="600" b="0" i="0" u="sng"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8" name="Table 7">
            <a:extLst>
              <a:ext uri="{FF2B5EF4-FFF2-40B4-BE49-F238E27FC236}">
                <a16:creationId xmlns:a16="http://schemas.microsoft.com/office/drawing/2014/main" id="{ACB9C284-CB51-D19D-4014-A35831D3F519}"/>
              </a:ext>
            </a:extLst>
          </p:cNvPr>
          <p:cNvGraphicFramePr>
            <a:graphicFrameLocks noGrp="1"/>
          </p:cNvGraphicFramePr>
          <p:nvPr>
            <p:custDataLst>
              <p:tags r:id="rId1"/>
            </p:custDataLst>
          </p:nvPr>
        </p:nvGraphicFramePr>
        <p:xfrm>
          <a:off x="576072" y="1913126"/>
          <a:ext cx="3665514" cy="3627120"/>
        </p:xfrm>
        <a:graphic>
          <a:graphicData uri="http://schemas.openxmlformats.org/drawingml/2006/table">
            <a:tbl>
              <a:tblPr>
                <a:tableStyleId>{96BACEE3-1A1D-4107-9369-2142449FF59F}</a:tableStyleId>
              </a:tblPr>
              <a:tblGrid>
                <a:gridCol w="610919">
                  <a:extLst>
                    <a:ext uri="{9D8B030D-6E8A-4147-A177-3AD203B41FA5}">
                      <a16:colId xmlns:a16="http://schemas.microsoft.com/office/drawing/2014/main" val="316151380"/>
                    </a:ext>
                  </a:extLst>
                </a:gridCol>
                <a:gridCol w="610919">
                  <a:extLst>
                    <a:ext uri="{9D8B030D-6E8A-4147-A177-3AD203B41FA5}">
                      <a16:colId xmlns:a16="http://schemas.microsoft.com/office/drawing/2014/main" val="3764984295"/>
                    </a:ext>
                  </a:extLst>
                </a:gridCol>
                <a:gridCol w="610919">
                  <a:extLst>
                    <a:ext uri="{9D8B030D-6E8A-4147-A177-3AD203B41FA5}">
                      <a16:colId xmlns:a16="http://schemas.microsoft.com/office/drawing/2014/main" val="3512191463"/>
                    </a:ext>
                  </a:extLst>
                </a:gridCol>
                <a:gridCol w="610919">
                  <a:extLst>
                    <a:ext uri="{9D8B030D-6E8A-4147-A177-3AD203B41FA5}">
                      <a16:colId xmlns:a16="http://schemas.microsoft.com/office/drawing/2014/main" val="1755058803"/>
                    </a:ext>
                  </a:extLst>
                </a:gridCol>
                <a:gridCol w="610919">
                  <a:extLst>
                    <a:ext uri="{9D8B030D-6E8A-4147-A177-3AD203B41FA5}">
                      <a16:colId xmlns:a16="http://schemas.microsoft.com/office/drawing/2014/main" val="3289495119"/>
                    </a:ext>
                  </a:extLst>
                </a:gridCol>
                <a:gridCol w="610919">
                  <a:extLst>
                    <a:ext uri="{9D8B030D-6E8A-4147-A177-3AD203B41FA5}">
                      <a16:colId xmlns:a16="http://schemas.microsoft.com/office/drawing/2014/main" val="4279690195"/>
                    </a:ext>
                  </a:extLst>
                </a:gridCol>
              </a:tblGrid>
              <a:tr h="274320">
                <a:tc gridSpan="6">
                  <a:txBody>
                    <a:bodyPr/>
                    <a:lstStyle/>
                    <a:p>
                      <a:pPr algn="ctr" fontAlgn="ctr"/>
                      <a:r>
                        <a:rPr lang="en-US" sz="1200" b="0" i="0" u="none" strike="noStrike">
                          <a:solidFill>
                            <a:schemeClr val="bg1"/>
                          </a:solidFill>
                          <a:effectLst/>
                          <a:latin typeface="+mj-lt"/>
                          <a:ea typeface="Calibri" panose="020F0502020204030204" pitchFamily="34" charset="0"/>
                          <a:cs typeface="Calibri" panose="020F0502020204030204" pitchFamily="34" charset="0"/>
                        </a:rPr>
                        <a:t>ZENPEP Dosing Awareness</a:t>
                      </a:r>
                    </a:p>
                  </a:txBody>
                  <a:tcPr anchor="ctr">
                    <a:solidFill>
                      <a:srgbClr val="9778D4"/>
                    </a:solidFill>
                  </a:tcPr>
                </a:tc>
                <a:tc hMerge="1">
                  <a:txBody>
                    <a:bodyPr/>
                    <a:lstStyle/>
                    <a:p>
                      <a:pPr algn="ctr" fontAlgn="ctr"/>
                      <a:endParaRPr lang="en-US" sz="1000" b="0" i="0" u="none" strike="noStrike">
                        <a:solidFill>
                          <a:srgbClr val="333333"/>
                        </a:solidFill>
                        <a:effectLst/>
                        <a:highlight>
                          <a:srgbClr val="F8F6F6"/>
                        </a:highlight>
                        <a:latin typeface="+mj-lt"/>
                        <a:ea typeface="Calibri" panose="020F0502020204030204" pitchFamily="34" charset="0"/>
                        <a:cs typeface="Calibri" panose="020F0502020204030204" pitchFamily="34" charset="0"/>
                      </a:endParaRPr>
                    </a:p>
                  </a:txBody>
                  <a:tcPr marL="7620" marR="7620" marT="7620" marB="0" anchor="ct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9778D4"/>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9778D4"/>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9778D4"/>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9778D4"/>
                    </a:solidFill>
                  </a:tcPr>
                </a:tc>
                <a:extLst>
                  <a:ext uri="{0D108BD9-81ED-4DB2-BD59-A6C34878D82A}">
                    <a16:rowId xmlns:a16="http://schemas.microsoft.com/office/drawing/2014/main" val="3383241735"/>
                  </a:ext>
                </a:extLst>
              </a:tr>
              <a:tr h="416560">
                <a:tc>
                  <a:txBody>
                    <a:bodyPr/>
                    <a:lstStyle/>
                    <a:p>
                      <a:pPr algn="ctr" fontAlgn="ctr"/>
                      <a:r>
                        <a:rPr lang="en-US" sz="1100" b="0" i="0" u="none" strike="noStrike">
                          <a:solidFill>
                            <a:srgbClr val="333333"/>
                          </a:solidFill>
                          <a:effectLst/>
                          <a:latin typeface="+mj-lt"/>
                          <a:ea typeface="Calibri" panose="020F0502020204030204" pitchFamily="34" charset="0"/>
                          <a:cs typeface="Calibri" panose="020F0502020204030204" pitchFamily="34" charset="0"/>
                        </a:rPr>
                        <a:t>Dosage</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Mar’25 – Apr’25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154)</a:t>
                      </a:r>
                      <a:endPar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endParaRP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May’25 – Jun’25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163)</a:t>
                      </a:r>
                      <a:endPar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endParaRP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Jul’25 – </a:t>
                      </a: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Aug</a:t>
                      </a: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152)</a:t>
                      </a:r>
                      <a:endPar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endParaRP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Sep’25 – </a:t>
                      </a: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Oct</a:t>
                      </a:r>
                      <a:r>
                        <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rPr>
                        <a:t>’25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149)</a:t>
                      </a:r>
                      <a:endParaRPr lang="en-US" sz="900" b="0" i="0" u="none" strike="noStrike" cap="none">
                        <a:solidFill>
                          <a:srgbClr val="333333"/>
                        </a:solidFill>
                        <a:effectLst/>
                        <a:latin typeface="+mj-lt"/>
                        <a:ea typeface="Calibri" panose="020F0502020204030204" pitchFamily="34" charset="0"/>
                        <a:cs typeface="Calibri" panose="020F0502020204030204" pitchFamily="34" charset="0"/>
                        <a:sym typeface="Arial"/>
                      </a:endParaRP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Nov’25 – Dec’25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147)</a:t>
                      </a:r>
                    </a:p>
                  </a:txBody>
                  <a:tcPr marL="45720" marR="45720" anchor="ctr"/>
                </a:tc>
                <a:extLst>
                  <a:ext uri="{0D108BD9-81ED-4DB2-BD59-A6C34878D82A}">
                    <a16:rowId xmlns:a16="http://schemas.microsoft.com/office/drawing/2014/main" val="3480392896"/>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3K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32%</a:t>
                      </a:r>
                    </a:p>
                  </a:txBody>
                  <a:tcPr marL="6350" marR="6350" marT="6350" marB="0" anchor="ctr">
                    <a:solidFill>
                      <a:srgbClr val="D0ECD7"/>
                    </a:solidFill>
                  </a:tcPr>
                </a:tc>
                <a:tc>
                  <a:txBody>
                    <a:bodyPr/>
                    <a:lstStyle/>
                    <a:p>
                      <a:pPr algn="ctr" fontAlgn="ctr">
                        <a:buNone/>
                      </a:pPr>
                      <a:r>
                        <a:rPr lang="en-IN" sz="1000" b="0" i="0" u="none" strike="noStrike" kern="1200">
                          <a:solidFill>
                            <a:srgbClr val="333333"/>
                          </a:solidFill>
                          <a:effectLst/>
                          <a:latin typeface="+mj-lt"/>
                          <a:cs typeface="Arial"/>
                        </a:rPr>
                        <a:t>32%</a:t>
                      </a:r>
                    </a:p>
                  </a:txBody>
                  <a:tcPr marL="6350" marR="6350" marT="6350" marB="0" anchor="ctr">
                    <a:solidFill>
                      <a:srgbClr val="D0ECD7"/>
                    </a:solidFill>
                  </a:tcPr>
                </a:tc>
                <a:tc>
                  <a:txBody>
                    <a:bodyPr/>
                    <a:lstStyle/>
                    <a:p>
                      <a:pPr algn="ctr" fontAlgn="ctr">
                        <a:buNone/>
                      </a:pPr>
                      <a:r>
                        <a:rPr lang="en-IN" sz="1000" b="0" i="0" u="none" strike="noStrike" kern="1200">
                          <a:solidFill>
                            <a:srgbClr val="333333"/>
                          </a:solidFill>
                          <a:effectLst/>
                          <a:latin typeface="+mj-lt"/>
                          <a:cs typeface="Arial"/>
                        </a:rPr>
                        <a:t>34%</a:t>
                      </a:r>
                    </a:p>
                  </a:txBody>
                  <a:tcPr marL="6350" marR="6350" marT="6350" marB="0" anchor="ctr">
                    <a:solidFill>
                      <a:srgbClr val="CBEAD3"/>
                    </a:solidFill>
                  </a:tcPr>
                </a:tc>
                <a:tc>
                  <a:txBody>
                    <a:bodyPr/>
                    <a:lstStyle/>
                    <a:p>
                      <a:pPr algn="ctr" fontAlgn="ctr">
                        <a:buNone/>
                      </a:pPr>
                      <a:r>
                        <a:rPr lang="en-IN" sz="1000" b="0" i="0" u="none" strike="noStrike" kern="1200">
                          <a:solidFill>
                            <a:srgbClr val="333333"/>
                          </a:solidFill>
                          <a:effectLst/>
                          <a:latin typeface="+mj-lt"/>
                          <a:cs typeface="Arial"/>
                        </a:rPr>
                        <a:t>34%</a:t>
                      </a:r>
                    </a:p>
                  </a:txBody>
                  <a:tcPr marL="6350" marR="6350" marT="6350" marB="0" anchor="ctr">
                    <a:solidFill>
                      <a:srgbClr val="CBEAD3"/>
                    </a:solidFill>
                  </a:tcPr>
                </a:tc>
                <a:tc>
                  <a:txBody>
                    <a:bodyPr/>
                    <a:lstStyle/>
                    <a:p>
                      <a:pPr algn="ctr" fontAlgn="ctr">
                        <a:buNone/>
                      </a:pPr>
                      <a:r>
                        <a:rPr lang="en-IN" sz="1000" b="0" i="0" u="none" strike="noStrike" kern="1200">
                          <a:solidFill>
                            <a:srgbClr val="333333"/>
                          </a:solidFill>
                          <a:effectLst/>
                          <a:latin typeface="+mj-lt"/>
                          <a:cs typeface="Arial"/>
                        </a:rPr>
                        <a:t>37%</a:t>
                      </a:r>
                    </a:p>
                  </a:txBody>
                  <a:tcPr marL="6350" marR="6350" marT="6350" marB="0" anchor="ctr">
                    <a:solidFill>
                      <a:srgbClr val="D2ECD9"/>
                    </a:solidFill>
                  </a:tcPr>
                </a:tc>
                <a:extLst>
                  <a:ext uri="{0D108BD9-81ED-4DB2-BD59-A6C34878D82A}">
                    <a16:rowId xmlns:a16="http://schemas.microsoft.com/office/drawing/2014/main" val="4055169075"/>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5K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36%</a:t>
                      </a:r>
                    </a:p>
                  </a:txBody>
                  <a:tcPr marL="6350" marR="6350" marT="6350" marB="0" anchor="ctr">
                    <a:solidFill>
                      <a:srgbClr val="C7E8D0"/>
                    </a:solidFill>
                  </a:tcPr>
                </a:tc>
                <a:tc>
                  <a:txBody>
                    <a:bodyPr/>
                    <a:lstStyle/>
                    <a:p>
                      <a:pPr algn="ctr" fontAlgn="ctr">
                        <a:buNone/>
                      </a:pPr>
                      <a:r>
                        <a:rPr lang="en-IN" sz="1000" b="0" i="0" u="none" strike="noStrike" kern="1200">
                          <a:solidFill>
                            <a:srgbClr val="333333"/>
                          </a:solidFill>
                          <a:effectLst/>
                          <a:latin typeface="+mj-lt"/>
                          <a:cs typeface="Arial"/>
                        </a:rPr>
                        <a:t>38%</a:t>
                      </a:r>
                    </a:p>
                  </a:txBody>
                  <a:tcPr marL="6350" marR="6350" marT="6350" marB="0" anchor="ctr">
                    <a:solidFill>
                      <a:srgbClr val="C2E6CC"/>
                    </a:solidFill>
                  </a:tcPr>
                </a:tc>
                <a:tc>
                  <a:txBody>
                    <a:bodyPr/>
                    <a:lstStyle/>
                    <a:p>
                      <a:pPr algn="ctr" fontAlgn="ctr">
                        <a:buNone/>
                      </a:pPr>
                      <a:r>
                        <a:rPr lang="en-IN" sz="1000" b="0" i="0" u="none" strike="noStrike" kern="1200">
                          <a:solidFill>
                            <a:srgbClr val="333333"/>
                          </a:solidFill>
                          <a:effectLst/>
                          <a:latin typeface="+mj-lt"/>
                          <a:cs typeface="Arial"/>
                        </a:rPr>
                        <a:t>41%</a:t>
                      </a:r>
                    </a:p>
                  </a:txBody>
                  <a:tcPr marL="6350" marR="6350" marT="6350" marB="0" anchor="ctr">
                    <a:solidFill>
                      <a:srgbClr val="BCE3C6"/>
                    </a:solidFill>
                  </a:tcPr>
                </a:tc>
                <a:tc>
                  <a:txBody>
                    <a:bodyPr/>
                    <a:lstStyle/>
                    <a:p>
                      <a:pPr algn="ctr" fontAlgn="ctr">
                        <a:buNone/>
                      </a:pPr>
                      <a:r>
                        <a:rPr lang="en-IN" sz="1000" b="0" i="0" u="none" strike="noStrike" kern="1200">
                          <a:solidFill>
                            <a:srgbClr val="333333"/>
                          </a:solidFill>
                          <a:effectLst/>
                          <a:latin typeface="+mj-lt"/>
                          <a:cs typeface="Arial"/>
                        </a:rPr>
                        <a:t>42%</a:t>
                      </a:r>
                    </a:p>
                  </a:txBody>
                  <a:tcPr marL="6350" marR="6350" marT="6350" marB="0" anchor="ctr">
                    <a:solidFill>
                      <a:srgbClr val="B9E2C4"/>
                    </a:solidFill>
                  </a:tcPr>
                </a:tc>
                <a:tc>
                  <a:txBody>
                    <a:bodyPr/>
                    <a:lstStyle/>
                    <a:p>
                      <a:pPr algn="ctr" fontAlgn="ctr">
                        <a:buNone/>
                      </a:pPr>
                      <a:r>
                        <a:rPr lang="en-IN" sz="1000" b="0" i="0" u="none" strike="noStrike" kern="1200">
                          <a:solidFill>
                            <a:srgbClr val="333333"/>
                          </a:solidFill>
                          <a:effectLst/>
                          <a:latin typeface="+mj-lt"/>
                          <a:cs typeface="Arial"/>
                        </a:rPr>
                        <a:t>44%</a:t>
                      </a:r>
                    </a:p>
                  </a:txBody>
                  <a:tcPr marL="6350" marR="6350" marT="6350" marB="0" anchor="ctr">
                    <a:solidFill>
                      <a:srgbClr val="C1E5CB"/>
                    </a:solidFill>
                  </a:tcPr>
                </a:tc>
                <a:extLst>
                  <a:ext uri="{0D108BD9-81ED-4DB2-BD59-A6C34878D82A}">
                    <a16:rowId xmlns:a16="http://schemas.microsoft.com/office/drawing/2014/main" val="1240190496"/>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10K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43%</a:t>
                      </a:r>
                    </a:p>
                  </a:txBody>
                  <a:tcPr marL="6350" marR="6350" marT="6350" marB="0" anchor="ctr">
                    <a:solidFill>
                      <a:srgbClr val="B7E1C2"/>
                    </a:solidFill>
                  </a:tcPr>
                </a:tc>
                <a:tc>
                  <a:txBody>
                    <a:bodyPr/>
                    <a:lstStyle/>
                    <a:p>
                      <a:pPr algn="ctr" fontAlgn="ctr">
                        <a:buNone/>
                      </a:pPr>
                      <a:r>
                        <a:rPr lang="en-IN" sz="1000" b="0" i="0" u="none" strike="noStrike" kern="1200">
                          <a:solidFill>
                            <a:srgbClr val="333333"/>
                          </a:solidFill>
                          <a:effectLst/>
                          <a:latin typeface="+mj-lt"/>
                          <a:cs typeface="Arial"/>
                        </a:rPr>
                        <a:t>47%</a:t>
                      </a:r>
                    </a:p>
                  </a:txBody>
                  <a:tcPr marL="6350" marR="6350" marT="6350" marB="0" anchor="ctr">
                    <a:solidFill>
                      <a:srgbClr val="AEDEBB"/>
                    </a:solidFill>
                  </a:tcPr>
                </a:tc>
                <a:tc>
                  <a:txBody>
                    <a:bodyPr/>
                    <a:lstStyle/>
                    <a:p>
                      <a:pPr algn="ctr" fontAlgn="ctr">
                        <a:buNone/>
                      </a:pPr>
                      <a:r>
                        <a:rPr lang="en-IN" sz="1000" b="0" i="0" u="none" strike="noStrike" kern="1200">
                          <a:solidFill>
                            <a:srgbClr val="333333"/>
                          </a:solidFill>
                          <a:effectLst/>
                          <a:latin typeface="+mj-lt"/>
                          <a:cs typeface="Arial"/>
                        </a:rPr>
                        <a:t>45%</a:t>
                      </a:r>
                    </a:p>
                  </a:txBody>
                  <a:tcPr marL="6350" marR="6350" marT="6350" marB="0" anchor="ctr">
                    <a:solidFill>
                      <a:srgbClr val="B3DFBE"/>
                    </a:solidFill>
                  </a:tcPr>
                </a:tc>
                <a:tc>
                  <a:txBody>
                    <a:bodyPr/>
                    <a:lstStyle/>
                    <a:p>
                      <a:pPr algn="ctr" fontAlgn="ctr">
                        <a:buNone/>
                      </a:pPr>
                      <a:r>
                        <a:rPr lang="en-IN" sz="1000" b="0" i="0" u="none" strike="noStrike" kern="1200">
                          <a:solidFill>
                            <a:srgbClr val="333333"/>
                          </a:solidFill>
                          <a:effectLst/>
                          <a:latin typeface="+mj-lt"/>
                          <a:cs typeface="Arial"/>
                        </a:rPr>
                        <a:t>50%</a:t>
                      </a:r>
                    </a:p>
                  </a:txBody>
                  <a:tcPr marL="6350" marR="6350" marT="6350" marB="0" anchor="ctr">
                    <a:solidFill>
                      <a:srgbClr val="A7DBB5"/>
                    </a:solidFill>
                  </a:tcPr>
                </a:tc>
                <a:tc>
                  <a:txBody>
                    <a:bodyPr/>
                    <a:lstStyle/>
                    <a:p>
                      <a:pPr algn="ctr" fontAlgn="ctr">
                        <a:buNone/>
                      </a:pPr>
                      <a:r>
                        <a:rPr lang="en-IN" sz="1000" b="0" i="0" u="none" strike="noStrike" kern="1200">
                          <a:solidFill>
                            <a:srgbClr val="333333"/>
                          </a:solidFill>
                          <a:effectLst/>
                          <a:latin typeface="+mj-lt"/>
                          <a:cs typeface="Arial"/>
                        </a:rPr>
                        <a:t>54%</a:t>
                      </a:r>
                    </a:p>
                  </a:txBody>
                  <a:tcPr marL="6350" marR="6350" marT="6350" marB="0" anchor="ctr">
                    <a:solidFill>
                      <a:srgbClr val="A9DBB6"/>
                    </a:solidFill>
                  </a:tcPr>
                </a:tc>
                <a:extLst>
                  <a:ext uri="{0D108BD9-81ED-4DB2-BD59-A6C34878D82A}">
                    <a16:rowId xmlns:a16="http://schemas.microsoft.com/office/drawing/2014/main" val="4084553074"/>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15K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38%</a:t>
                      </a:r>
                    </a:p>
                  </a:txBody>
                  <a:tcPr marL="6350" marR="6350" marT="6350" marB="0" anchor="ctr">
                    <a:solidFill>
                      <a:srgbClr val="C2E6CC"/>
                    </a:solidFill>
                  </a:tcPr>
                </a:tc>
                <a:tc>
                  <a:txBody>
                    <a:bodyPr/>
                    <a:lstStyle/>
                    <a:p>
                      <a:pPr algn="ctr" fontAlgn="ctr">
                        <a:buNone/>
                      </a:pPr>
                      <a:r>
                        <a:rPr lang="en-IN" sz="1000" b="0" i="0" u="none" strike="noStrike" kern="1200">
                          <a:solidFill>
                            <a:srgbClr val="333333"/>
                          </a:solidFill>
                          <a:effectLst/>
                          <a:latin typeface="+mj-lt"/>
                          <a:cs typeface="Arial"/>
                        </a:rPr>
                        <a:t>40%</a:t>
                      </a:r>
                    </a:p>
                  </a:txBody>
                  <a:tcPr marL="6350" marR="6350" marT="6350" marB="0" anchor="ctr">
                    <a:solidFill>
                      <a:srgbClr val="BEE4C8"/>
                    </a:solidFill>
                  </a:tcPr>
                </a:tc>
                <a:tc>
                  <a:txBody>
                    <a:bodyPr/>
                    <a:lstStyle/>
                    <a:p>
                      <a:pPr algn="ctr" fontAlgn="ctr">
                        <a:buNone/>
                      </a:pPr>
                      <a:r>
                        <a:rPr lang="en-IN" sz="1000" b="0" i="0" u="none" strike="noStrike" kern="1200">
                          <a:solidFill>
                            <a:srgbClr val="333333"/>
                          </a:solidFill>
                          <a:effectLst/>
                          <a:latin typeface="+mj-lt"/>
                          <a:cs typeface="Arial"/>
                        </a:rPr>
                        <a:t>45%</a:t>
                      </a:r>
                    </a:p>
                  </a:txBody>
                  <a:tcPr marL="6350" marR="6350" marT="6350" marB="0" anchor="ctr">
                    <a:solidFill>
                      <a:srgbClr val="B3DFBE"/>
                    </a:solidFill>
                  </a:tcPr>
                </a:tc>
                <a:tc>
                  <a:txBody>
                    <a:bodyPr/>
                    <a:lstStyle/>
                    <a:p>
                      <a:pPr algn="ctr" fontAlgn="ctr">
                        <a:buNone/>
                      </a:pPr>
                      <a:r>
                        <a:rPr lang="en-IN" sz="1000" b="0" i="0" u="none" strike="noStrike" kern="1200">
                          <a:solidFill>
                            <a:srgbClr val="333333"/>
                          </a:solidFill>
                          <a:effectLst/>
                          <a:latin typeface="+mj-lt"/>
                          <a:cs typeface="Arial"/>
                        </a:rPr>
                        <a:t>44%</a:t>
                      </a:r>
                    </a:p>
                  </a:txBody>
                  <a:tcPr marL="6350" marR="6350" marT="6350" marB="0" anchor="ctr">
                    <a:solidFill>
                      <a:srgbClr val="B5E0C0"/>
                    </a:solidFill>
                  </a:tcPr>
                </a:tc>
                <a:tc>
                  <a:txBody>
                    <a:bodyPr/>
                    <a:lstStyle/>
                    <a:p>
                      <a:pPr algn="ctr" fontAlgn="ctr">
                        <a:buNone/>
                      </a:pPr>
                      <a:r>
                        <a:rPr lang="en-IN" sz="1000" b="0" i="0" u="none" strike="noStrike" kern="1200">
                          <a:solidFill>
                            <a:srgbClr val="333333"/>
                          </a:solidFill>
                          <a:effectLst/>
                          <a:latin typeface="+mj-lt"/>
                          <a:cs typeface="Arial"/>
                        </a:rPr>
                        <a:t>40%</a:t>
                      </a:r>
                    </a:p>
                  </a:txBody>
                  <a:tcPr marL="6350" marR="6350" marT="6350" marB="0" anchor="ctr">
                    <a:solidFill>
                      <a:srgbClr val="CBE9D3"/>
                    </a:solidFill>
                  </a:tcPr>
                </a:tc>
                <a:extLst>
                  <a:ext uri="{0D108BD9-81ED-4DB2-BD59-A6C34878D82A}">
                    <a16:rowId xmlns:a16="http://schemas.microsoft.com/office/drawing/2014/main" val="1646336441"/>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20K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49%</a:t>
                      </a:r>
                    </a:p>
                  </a:txBody>
                  <a:tcPr marL="6350" marR="6350" marT="6350" marB="0" anchor="ctr">
                    <a:solidFill>
                      <a:srgbClr val="AADCB7"/>
                    </a:solidFill>
                  </a:tcPr>
                </a:tc>
                <a:tc>
                  <a:txBody>
                    <a:bodyPr/>
                    <a:lstStyle/>
                    <a:p>
                      <a:pPr algn="ctr" fontAlgn="ctr">
                        <a:buNone/>
                      </a:pPr>
                      <a:r>
                        <a:rPr lang="en-IN" sz="1000" b="0" i="0" u="none" strike="noStrike" kern="1200">
                          <a:solidFill>
                            <a:srgbClr val="333333"/>
                          </a:solidFill>
                          <a:effectLst/>
                          <a:latin typeface="+mj-lt"/>
                          <a:cs typeface="Arial"/>
                        </a:rPr>
                        <a:t>48%</a:t>
                      </a:r>
                    </a:p>
                  </a:txBody>
                  <a:tcPr marL="6350" marR="6350" marT="6350" marB="0" anchor="ctr">
                    <a:solidFill>
                      <a:srgbClr val="ACDDB9"/>
                    </a:solidFill>
                  </a:tcPr>
                </a:tc>
                <a:tc>
                  <a:txBody>
                    <a:bodyPr/>
                    <a:lstStyle/>
                    <a:p>
                      <a:pPr algn="ctr" fontAlgn="ctr">
                        <a:buNone/>
                      </a:pPr>
                      <a:r>
                        <a:rPr lang="en-IN" sz="1000" b="0" i="0" u="none" strike="noStrike" kern="1200">
                          <a:solidFill>
                            <a:srgbClr val="333333"/>
                          </a:solidFill>
                          <a:effectLst/>
                          <a:latin typeface="+mj-lt"/>
                          <a:cs typeface="Arial"/>
                        </a:rPr>
                        <a:t>50%</a:t>
                      </a:r>
                    </a:p>
                  </a:txBody>
                  <a:tcPr marL="6350" marR="6350" marT="6350" marB="0" anchor="ctr">
                    <a:solidFill>
                      <a:srgbClr val="A7DBB5"/>
                    </a:solidFill>
                  </a:tcPr>
                </a:tc>
                <a:tc>
                  <a:txBody>
                    <a:bodyPr/>
                    <a:lstStyle/>
                    <a:p>
                      <a:pPr algn="ctr" fontAlgn="ctr">
                        <a:buNone/>
                      </a:pPr>
                      <a:r>
                        <a:rPr lang="en-IN" sz="1000" b="0" i="0" u="none" strike="noStrike" kern="1200">
                          <a:solidFill>
                            <a:srgbClr val="333333"/>
                          </a:solidFill>
                          <a:effectLst/>
                          <a:latin typeface="+mj-lt"/>
                          <a:cs typeface="Arial"/>
                        </a:rPr>
                        <a:t>60%</a:t>
                      </a:r>
                    </a:p>
                  </a:txBody>
                  <a:tcPr marL="6350" marR="6350" marT="6350" marB="0" anchor="ctr">
                    <a:solidFill>
                      <a:srgbClr val="91D1A2"/>
                    </a:solidFill>
                  </a:tcPr>
                </a:tc>
                <a:tc>
                  <a:txBody>
                    <a:bodyPr/>
                    <a:lstStyle/>
                    <a:p>
                      <a:pPr algn="ctr" fontAlgn="ctr">
                        <a:buNone/>
                      </a:pPr>
                      <a:r>
                        <a:rPr lang="en-IN" sz="1000" b="0" i="0" u="none" strike="noStrike" kern="1200">
                          <a:solidFill>
                            <a:srgbClr val="333333"/>
                          </a:solidFill>
                          <a:effectLst/>
                          <a:latin typeface="+mj-lt"/>
                          <a:cs typeface="Arial"/>
                        </a:rPr>
                        <a:t>56%</a:t>
                      </a:r>
                    </a:p>
                  </a:txBody>
                  <a:tcPr marL="6350" marR="6350" marT="6350" marB="0" anchor="ctr">
                    <a:solidFill>
                      <a:srgbClr val="A4D9B2"/>
                    </a:solidFill>
                  </a:tcPr>
                </a:tc>
                <a:extLst>
                  <a:ext uri="{0D108BD9-81ED-4DB2-BD59-A6C34878D82A}">
                    <a16:rowId xmlns:a16="http://schemas.microsoft.com/office/drawing/2014/main" val="2903854521"/>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25K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46%</a:t>
                      </a:r>
                    </a:p>
                  </a:txBody>
                  <a:tcPr marL="6350" marR="6350" marT="6350" marB="0" anchor="ctr">
                    <a:solidFill>
                      <a:srgbClr val="B0DFBD"/>
                    </a:solidFill>
                  </a:tcPr>
                </a:tc>
                <a:tc>
                  <a:txBody>
                    <a:bodyPr/>
                    <a:lstStyle/>
                    <a:p>
                      <a:pPr algn="ctr" fontAlgn="ctr">
                        <a:buNone/>
                      </a:pPr>
                      <a:r>
                        <a:rPr lang="en-IN" sz="1000" b="0" i="0" u="none" strike="noStrike" kern="1200">
                          <a:solidFill>
                            <a:srgbClr val="333333"/>
                          </a:solidFill>
                          <a:effectLst/>
                          <a:latin typeface="+mj-lt"/>
                          <a:cs typeface="Arial"/>
                        </a:rPr>
                        <a:t>48%</a:t>
                      </a:r>
                    </a:p>
                  </a:txBody>
                  <a:tcPr marL="6350" marR="6350" marT="6350" marB="0" anchor="ctr">
                    <a:solidFill>
                      <a:srgbClr val="ACDDB9"/>
                    </a:solidFill>
                  </a:tcPr>
                </a:tc>
                <a:tc>
                  <a:txBody>
                    <a:bodyPr/>
                    <a:lstStyle/>
                    <a:p>
                      <a:pPr algn="ctr" fontAlgn="ctr">
                        <a:buNone/>
                      </a:pPr>
                      <a:r>
                        <a:rPr lang="en-IN" sz="1000" b="0" i="0" u="none" strike="noStrike" kern="1200">
                          <a:solidFill>
                            <a:srgbClr val="333333"/>
                          </a:solidFill>
                          <a:effectLst/>
                          <a:latin typeface="+mj-lt"/>
                          <a:cs typeface="Arial"/>
                        </a:rPr>
                        <a:t>51%</a:t>
                      </a:r>
                    </a:p>
                  </a:txBody>
                  <a:tcPr marL="6350" marR="6350" marT="6350" marB="0" anchor="ctr">
                    <a:solidFill>
                      <a:srgbClr val="A5DAB3"/>
                    </a:solidFill>
                  </a:tcPr>
                </a:tc>
                <a:tc>
                  <a:txBody>
                    <a:bodyPr/>
                    <a:lstStyle/>
                    <a:p>
                      <a:pPr algn="ctr" fontAlgn="ctr">
                        <a:buNone/>
                      </a:pPr>
                      <a:r>
                        <a:rPr lang="en-IN" sz="1000" b="0" i="0" u="none" strike="noStrike" kern="1200">
                          <a:solidFill>
                            <a:srgbClr val="333333"/>
                          </a:solidFill>
                          <a:effectLst/>
                          <a:latin typeface="+mj-lt"/>
                          <a:cs typeface="Arial"/>
                        </a:rPr>
                        <a:t>46%</a:t>
                      </a:r>
                    </a:p>
                  </a:txBody>
                  <a:tcPr marL="6350" marR="6350" marT="6350" marB="0" anchor="ctr">
                    <a:solidFill>
                      <a:srgbClr val="B0DFBD"/>
                    </a:solidFill>
                  </a:tcPr>
                </a:tc>
                <a:tc>
                  <a:txBody>
                    <a:bodyPr/>
                    <a:lstStyle/>
                    <a:p>
                      <a:pPr algn="ctr" fontAlgn="ctr">
                        <a:buNone/>
                      </a:pPr>
                      <a:r>
                        <a:rPr lang="en-IN" sz="1000" b="0" i="0" u="none" strike="noStrike" kern="1200">
                          <a:solidFill>
                            <a:srgbClr val="333333"/>
                          </a:solidFill>
                          <a:effectLst/>
                          <a:latin typeface="+mj-lt"/>
                          <a:cs typeface="Arial"/>
                        </a:rPr>
                        <a:t>51%</a:t>
                      </a:r>
                    </a:p>
                  </a:txBody>
                  <a:tcPr marL="6350" marR="6350" marT="6350" marB="0" anchor="ctr">
                    <a:solidFill>
                      <a:srgbClr val="B0DEBC"/>
                    </a:solidFill>
                  </a:tcPr>
                </a:tc>
                <a:extLst>
                  <a:ext uri="{0D108BD9-81ED-4DB2-BD59-A6C34878D82A}">
                    <a16:rowId xmlns:a16="http://schemas.microsoft.com/office/drawing/2014/main" val="3541102209"/>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30K*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34%</a:t>
                      </a:r>
                    </a:p>
                  </a:txBody>
                  <a:tcPr marL="6350" marR="6350" marT="6350" marB="0" anchor="ctr">
                    <a:solidFill>
                      <a:srgbClr val="CBEAD3"/>
                    </a:solidFill>
                  </a:tcPr>
                </a:tc>
                <a:tc>
                  <a:txBody>
                    <a:bodyPr/>
                    <a:lstStyle/>
                    <a:p>
                      <a:pPr algn="ctr" fontAlgn="ctr">
                        <a:buNone/>
                      </a:pPr>
                      <a:r>
                        <a:rPr lang="en-IN" sz="1000" b="0" i="0" u="none" strike="noStrike" kern="1200">
                          <a:solidFill>
                            <a:srgbClr val="333333"/>
                          </a:solidFill>
                          <a:effectLst/>
                          <a:latin typeface="+mj-lt"/>
                          <a:cs typeface="Arial"/>
                        </a:rPr>
                        <a:t>28%</a:t>
                      </a:r>
                    </a:p>
                  </a:txBody>
                  <a:tcPr marL="6350" marR="6350" marT="6350" marB="0" anchor="ctr">
                    <a:solidFill>
                      <a:srgbClr val="D9EFDF"/>
                    </a:solidFill>
                  </a:tcPr>
                </a:tc>
                <a:tc>
                  <a:txBody>
                    <a:bodyPr/>
                    <a:lstStyle/>
                    <a:p>
                      <a:pPr algn="ctr" fontAlgn="ctr">
                        <a:buNone/>
                      </a:pPr>
                      <a:r>
                        <a:rPr lang="en-IN" sz="1000" b="0" i="0" u="none" strike="noStrike" kern="1200">
                          <a:solidFill>
                            <a:srgbClr val="333333"/>
                          </a:solidFill>
                          <a:effectLst/>
                          <a:latin typeface="+mj-lt"/>
                          <a:cs typeface="Arial"/>
                        </a:rPr>
                        <a:t>33%</a:t>
                      </a:r>
                    </a:p>
                  </a:txBody>
                  <a:tcPr marL="6350" marR="6350" marT="6350" marB="0" anchor="ctr">
                    <a:solidFill>
                      <a:srgbClr val="CEEBD5"/>
                    </a:solidFill>
                  </a:tcPr>
                </a:tc>
                <a:tc>
                  <a:txBody>
                    <a:bodyPr/>
                    <a:lstStyle/>
                    <a:p>
                      <a:pPr algn="ctr" fontAlgn="ctr">
                        <a:buNone/>
                      </a:pPr>
                      <a:r>
                        <a:rPr lang="en-IN" sz="1000" b="0" i="0" u="none" strike="noStrike" kern="1200">
                          <a:solidFill>
                            <a:srgbClr val="333333"/>
                          </a:solidFill>
                          <a:effectLst/>
                          <a:latin typeface="+mj-lt"/>
                          <a:cs typeface="Arial"/>
                        </a:rPr>
                        <a:t>30%</a:t>
                      </a:r>
                    </a:p>
                  </a:txBody>
                  <a:tcPr marL="6350" marR="6350" marT="6350" marB="0" anchor="ctr">
                    <a:solidFill>
                      <a:srgbClr val="D5EEDB"/>
                    </a:solidFill>
                  </a:tcPr>
                </a:tc>
                <a:tc>
                  <a:txBody>
                    <a:bodyPr/>
                    <a:lstStyle/>
                    <a:p>
                      <a:pPr algn="ctr" fontAlgn="ctr">
                        <a:buNone/>
                      </a:pPr>
                      <a:r>
                        <a:rPr lang="en-IN" sz="1000" b="0" i="0" u="none" strike="noStrike" kern="1200">
                          <a:solidFill>
                            <a:srgbClr val="333333"/>
                          </a:solidFill>
                          <a:effectLst/>
                          <a:latin typeface="+mj-lt"/>
                          <a:cs typeface="Arial"/>
                        </a:rPr>
                        <a:t>32%</a:t>
                      </a:r>
                    </a:p>
                  </a:txBody>
                  <a:tcPr marL="6350" marR="6350" marT="6350" marB="0" anchor="ctr">
                    <a:solidFill>
                      <a:srgbClr val="DEF1E3"/>
                    </a:solidFill>
                  </a:tcPr>
                </a:tc>
                <a:extLst>
                  <a:ext uri="{0D108BD9-81ED-4DB2-BD59-A6C34878D82A}">
                    <a16:rowId xmlns:a16="http://schemas.microsoft.com/office/drawing/2014/main" val="2596665801"/>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40K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78%</a:t>
                      </a:r>
                    </a:p>
                  </a:txBody>
                  <a:tcPr marL="6350" marR="6350" marT="6350" marB="0" anchor="ctr">
                    <a:solidFill>
                      <a:srgbClr val="68C07F"/>
                    </a:solidFill>
                  </a:tcPr>
                </a:tc>
                <a:tc>
                  <a:txBody>
                    <a:bodyPr/>
                    <a:lstStyle/>
                    <a:p>
                      <a:pPr algn="ctr" fontAlgn="ctr">
                        <a:buNone/>
                      </a:pPr>
                      <a:r>
                        <a:rPr lang="en-IN" sz="1000" b="0" i="0" u="none" strike="noStrike" kern="1200">
                          <a:solidFill>
                            <a:srgbClr val="333333"/>
                          </a:solidFill>
                          <a:effectLst/>
                          <a:latin typeface="+mj-lt"/>
                          <a:cs typeface="Arial"/>
                        </a:rPr>
                        <a:t>75%</a:t>
                      </a:r>
                    </a:p>
                  </a:txBody>
                  <a:tcPr marL="6350" marR="6350" marT="6350" marB="0" anchor="ctr">
                    <a:solidFill>
                      <a:srgbClr val="6FC385"/>
                    </a:solidFill>
                  </a:tcPr>
                </a:tc>
                <a:tc>
                  <a:txBody>
                    <a:bodyPr/>
                    <a:lstStyle/>
                    <a:p>
                      <a:pPr algn="ctr" fontAlgn="ctr">
                        <a:buNone/>
                      </a:pPr>
                      <a:r>
                        <a:rPr lang="en-IN" sz="1000" b="0" i="0" u="none" strike="noStrike" kern="1200">
                          <a:solidFill>
                            <a:srgbClr val="333333"/>
                          </a:solidFill>
                          <a:effectLst/>
                          <a:latin typeface="+mj-lt"/>
                          <a:cs typeface="Arial"/>
                        </a:rPr>
                        <a:t>76%</a:t>
                      </a:r>
                    </a:p>
                  </a:txBody>
                  <a:tcPr marL="6350" marR="6350" marT="6350" marB="0" anchor="ctr">
                    <a:solidFill>
                      <a:srgbClr val="6DC283"/>
                    </a:solidFill>
                  </a:tcPr>
                </a:tc>
                <a:tc>
                  <a:txBody>
                    <a:bodyPr/>
                    <a:lstStyle/>
                    <a:p>
                      <a:pPr algn="ctr" fontAlgn="ctr">
                        <a:buNone/>
                      </a:pPr>
                      <a:r>
                        <a:rPr lang="en-IN" sz="1000" b="0" i="0" u="none" strike="noStrike" kern="1200">
                          <a:solidFill>
                            <a:srgbClr val="333333"/>
                          </a:solidFill>
                          <a:effectLst/>
                          <a:latin typeface="+mj-lt"/>
                          <a:cs typeface="Arial"/>
                        </a:rPr>
                        <a:t>80%</a:t>
                      </a:r>
                    </a:p>
                  </a:txBody>
                  <a:tcPr marL="6350" marR="6350" marT="6350" marB="0" anchor="ctr">
                    <a:solidFill>
                      <a:srgbClr val="63BE7B"/>
                    </a:solidFill>
                  </a:tcPr>
                </a:tc>
                <a:tc>
                  <a:txBody>
                    <a:bodyPr/>
                    <a:lstStyle/>
                    <a:p>
                      <a:pPr algn="ctr" fontAlgn="ctr">
                        <a:buNone/>
                      </a:pPr>
                      <a:r>
                        <a:rPr lang="en-IN" sz="1000" b="0" i="0" u="none" strike="noStrike" kern="1200">
                          <a:solidFill>
                            <a:srgbClr val="333333"/>
                          </a:solidFill>
                          <a:effectLst/>
                          <a:latin typeface="+mj-lt"/>
                          <a:cs typeface="Arial"/>
                        </a:rPr>
                        <a:t>83%</a:t>
                      </a:r>
                    </a:p>
                  </a:txBody>
                  <a:tcPr marL="6350" marR="6350" marT="6350" marB="0" anchor="ctr">
                    <a:solidFill>
                      <a:srgbClr val="63BE7B"/>
                    </a:solidFill>
                  </a:tcPr>
                </a:tc>
                <a:extLst>
                  <a:ext uri="{0D108BD9-81ED-4DB2-BD59-A6C34878D82A}">
                    <a16:rowId xmlns:a16="http://schemas.microsoft.com/office/drawing/2014/main" val="2331000715"/>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50K</a:t>
                      </a:r>
                      <a:r>
                        <a:rPr lang="en-US" sz="1100" u="none" strike="noStrike" kern="1200">
                          <a:solidFill>
                            <a:srgbClr val="000000"/>
                          </a:solidFill>
                          <a:effectLst/>
                          <a:latin typeface="+mj-lt"/>
                          <a:ea typeface="Calibri" panose="020F0502020204030204" pitchFamily="34" charset="0"/>
                          <a:cs typeface="Calibri" panose="020F0502020204030204" pitchFamily="34" charset="0"/>
                        </a:rPr>
                        <a:t>*</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14%</a:t>
                      </a:r>
                    </a:p>
                  </a:txBody>
                  <a:tcPr marL="6350" marR="6350" marT="6350" marB="0" anchor="ctr">
                    <a:solidFill>
                      <a:srgbClr val="F9FDFA"/>
                    </a:solidFill>
                  </a:tcPr>
                </a:tc>
                <a:tc>
                  <a:txBody>
                    <a:bodyPr/>
                    <a:lstStyle/>
                    <a:p>
                      <a:pPr algn="ctr" fontAlgn="ctr">
                        <a:buNone/>
                      </a:pPr>
                      <a:r>
                        <a:rPr lang="en-IN" sz="1000" b="0" i="0" u="none" strike="noStrike" kern="1200">
                          <a:solidFill>
                            <a:srgbClr val="333333"/>
                          </a:solidFill>
                          <a:effectLst/>
                          <a:latin typeface="+mj-lt"/>
                          <a:cs typeface="Arial"/>
                        </a:rPr>
                        <a:t>11%</a:t>
                      </a:r>
                    </a:p>
                  </a:txBody>
                  <a:tcPr marL="6350" marR="6350" marT="6350" marB="0" anchor="ctr">
                    <a:solidFill>
                      <a:srgbClr val="FFFFFF"/>
                    </a:solidFill>
                  </a:tcPr>
                </a:tc>
                <a:tc>
                  <a:txBody>
                    <a:bodyPr/>
                    <a:lstStyle/>
                    <a:p>
                      <a:pPr algn="ctr" fontAlgn="ctr">
                        <a:buNone/>
                      </a:pPr>
                      <a:r>
                        <a:rPr lang="en-IN" sz="1000" b="0" i="0" u="none" strike="noStrike" kern="1200">
                          <a:solidFill>
                            <a:srgbClr val="333333"/>
                          </a:solidFill>
                          <a:effectLst/>
                          <a:latin typeface="+mj-lt"/>
                          <a:cs typeface="Arial"/>
                        </a:rPr>
                        <a:t>16%</a:t>
                      </a:r>
                    </a:p>
                  </a:txBody>
                  <a:tcPr marL="6350" marR="6350" marT="6350" marB="0" anchor="ctr">
                    <a:solidFill>
                      <a:srgbClr val="F4FBF6"/>
                    </a:solidFill>
                  </a:tcPr>
                </a:tc>
                <a:tc>
                  <a:txBody>
                    <a:bodyPr/>
                    <a:lstStyle/>
                    <a:p>
                      <a:pPr algn="ctr" fontAlgn="ctr">
                        <a:buNone/>
                      </a:pPr>
                      <a:r>
                        <a:rPr lang="en-IN" sz="1000" b="0" i="0" u="none" strike="noStrike" kern="1200">
                          <a:solidFill>
                            <a:srgbClr val="333333"/>
                          </a:solidFill>
                          <a:effectLst/>
                          <a:latin typeface="+mj-lt"/>
                          <a:cs typeface="Arial"/>
                        </a:rPr>
                        <a:t>13%</a:t>
                      </a:r>
                    </a:p>
                  </a:txBody>
                  <a:tcPr marL="6350" marR="6350" marT="6350" marB="0" anchor="ctr">
                    <a:solidFill>
                      <a:srgbClr val="FBFEFC"/>
                    </a:solidFill>
                  </a:tcPr>
                </a:tc>
                <a:tc>
                  <a:txBody>
                    <a:bodyPr/>
                    <a:lstStyle/>
                    <a:p>
                      <a:pPr algn="ctr" fontAlgn="ctr">
                        <a:buNone/>
                      </a:pPr>
                      <a:r>
                        <a:rPr lang="en-IN" sz="1000" b="0" i="0" u="none" strike="noStrike" kern="1200">
                          <a:solidFill>
                            <a:srgbClr val="333333"/>
                          </a:solidFill>
                          <a:effectLst/>
                          <a:latin typeface="+mj-lt"/>
                          <a:cs typeface="Arial"/>
                        </a:rPr>
                        <a:t>18%</a:t>
                      </a:r>
                    </a:p>
                  </a:txBody>
                  <a:tcPr marL="6350" marR="6350" marT="6350" marB="0" anchor="ctr">
                    <a:solidFill>
                      <a:srgbClr val="FFFFFF"/>
                    </a:solidFill>
                  </a:tcPr>
                </a:tc>
                <a:extLst>
                  <a:ext uri="{0D108BD9-81ED-4DB2-BD59-A6C34878D82A}">
                    <a16:rowId xmlns:a16="http://schemas.microsoft.com/office/drawing/2014/main" val="2227232518"/>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60K</a:t>
                      </a:r>
                      <a:r>
                        <a:rPr lang="en-US" sz="1100" u="none" strike="noStrike" baseline="30000">
                          <a:effectLst/>
                          <a:latin typeface="+mj-lt"/>
                          <a:ea typeface="Calibri" panose="020F0502020204030204" pitchFamily="34" charset="0"/>
                          <a:cs typeface="Calibri" panose="020F0502020204030204" pitchFamily="34" charset="0"/>
                        </a:rPr>
                        <a:t>#</a:t>
                      </a:r>
                      <a:endParaRPr lang="en-US" sz="1100" b="0" i="0" u="none" strike="noStrike" baseline="30000">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r>
                        <a:rPr lang="en-IN" sz="1000" b="0" i="0" u="none" strike="noStrike" kern="1200">
                          <a:solidFill>
                            <a:srgbClr val="333333"/>
                          </a:solidFill>
                          <a:effectLst/>
                          <a:latin typeface="+mj-lt"/>
                          <a:cs typeface="Arial"/>
                        </a:rPr>
                        <a:t>73%</a:t>
                      </a:r>
                    </a:p>
                  </a:txBody>
                  <a:tcPr marL="6350" marR="6350" marT="6350" marB="0" anchor="ctr">
                    <a:solidFill>
                      <a:srgbClr val="73C589"/>
                    </a:solidFill>
                  </a:tcPr>
                </a:tc>
                <a:tc>
                  <a:txBody>
                    <a:bodyPr/>
                    <a:lstStyle/>
                    <a:p>
                      <a:pPr algn="ctr" fontAlgn="ctr">
                        <a:buNone/>
                      </a:pPr>
                      <a:r>
                        <a:rPr lang="en-IN" sz="1000" b="0" i="0" u="none" strike="noStrike" kern="1200">
                          <a:solidFill>
                            <a:srgbClr val="333333"/>
                          </a:solidFill>
                          <a:effectLst/>
                          <a:latin typeface="+mj-lt"/>
                          <a:cs typeface="Arial"/>
                        </a:rPr>
                        <a:t>67%</a:t>
                      </a:r>
                    </a:p>
                  </a:txBody>
                  <a:tcPr marL="6350" marR="6350" marT="6350" marB="0" anchor="ctr">
                    <a:solidFill>
                      <a:srgbClr val="81CB94"/>
                    </a:solidFill>
                  </a:tcPr>
                </a:tc>
                <a:tc>
                  <a:txBody>
                    <a:bodyPr/>
                    <a:lstStyle/>
                    <a:p>
                      <a:pPr algn="ctr" fontAlgn="ctr">
                        <a:buNone/>
                      </a:pPr>
                      <a:r>
                        <a:rPr lang="en-IN" sz="1000" b="0" i="0" u="none" strike="noStrike" kern="1200">
                          <a:solidFill>
                            <a:srgbClr val="333333"/>
                          </a:solidFill>
                          <a:effectLst/>
                          <a:latin typeface="+mj-lt"/>
                          <a:cs typeface="Arial"/>
                        </a:rPr>
                        <a:t>66%</a:t>
                      </a:r>
                    </a:p>
                  </a:txBody>
                  <a:tcPr marL="6350" marR="6350" marT="6350" marB="0" anchor="ctr">
                    <a:solidFill>
                      <a:srgbClr val="83CC96"/>
                    </a:solidFill>
                  </a:tcPr>
                </a:tc>
                <a:tc>
                  <a:txBody>
                    <a:bodyPr/>
                    <a:lstStyle/>
                    <a:p>
                      <a:pPr algn="ctr" fontAlgn="ctr">
                        <a:buNone/>
                      </a:pPr>
                      <a:r>
                        <a:rPr lang="en-IN" sz="1000" b="0" i="0" u="none" strike="noStrike" kern="1200">
                          <a:solidFill>
                            <a:srgbClr val="333333"/>
                          </a:solidFill>
                          <a:effectLst/>
                          <a:latin typeface="+mj-lt"/>
                          <a:cs typeface="Arial"/>
                        </a:rPr>
                        <a:t>74%</a:t>
                      </a:r>
                    </a:p>
                  </a:txBody>
                  <a:tcPr marL="6350" marR="6350" marT="6350" marB="0" anchor="ctr">
                    <a:solidFill>
                      <a:srgbClr val="71C487"/>
                    </a:solidFill>
                  </a:tcPr>
                </a:tc>
                <a:tc>
                  <a:txBody>
                    <a:bodyPr/>
                    <a:lstStyle/>
                    <a:p>
                      <a:pPr algn="ctr" fontAlgn="ctr">
                        <a:buNone/>
                      </a:pPr>
                      <a:r>
                        <a:rPr lang="en-IN" sz="1000" b="0" i="0" u="none" strike="noStrike" kern="1200">
                          <a:solidFill>
                            <a:srgbClr val="333333"/>
                          </a:solidFill>
                          <a:effectLst/>
                          <a:latin typeface="+mj-lt"/>
                          <a:cs typeface="Arial"/>
                        </a:rPr>
                        <a:t>81%</a:t>
                      </a:r>
                    </a:p>
                  </a:txBody>
                  <a:tcPr marL="6350" marR="6350" marT="6350" marB="0" anchor="ctr">
                    <a:solidFill>
                      <a:srgbClr val="68C080"/>
                    </a:solidFill>
                  </a:tcPr>
                </a:tc>
                <a:extLst>
                  <a:ext uri="{0D108BD9-81ED-4DB2-BD59-A6C34878D82A}">
                    <a16:rowId xmlns:a16="http://schemas.microsoft.com/office/drawing/2014/main" val="4266566491"/>
                  </a:ext>
                </a:extLst>
              </a:tr>
              <a:tr h="254000">
                <a:tc>
                  <a:txBody>
                    <a:bodyPr/>
                    <a:lstStyle/>
                    <a:p>
                      <a:pPr algn="ctr" fontAlgn="ctr"/>
                      <a:r>
                        <a:rPr lang="en-US" sz="1100" u="none" strike="noStrike">
                          <a:effectLst/>
                          <a:latin typeface="+mj-lt"/>
                          <a:ea typeface="Calibri" panose="020F0502020204030204" pitchFamily="34" charset="0"/>
                          <a:cs typeface="Calibri" panose="020F0502020204030204" pitchFamily="34" charset="0"/>
                        </a:rPr>
                        <a:t>80K*</a:t>
                      </a:r>
                      <a:endParaRPr lang="en-US" sz="1100" b="0" i="0" u="none" strike="noStrike">
                        <a:solidFill>
                          <a:srgbClr val="333333"/>
                        </a:solidFill>
                        <a:effectLst/>
                        <a:latin typeface="+mj-lt"/>
                        <a:ea typeface="Calibri" panose="020F0502020204030204" pitchFamily="34" charset="0"/>
                        <a:cs typeface="Calibri" panose="020F0502020204030204" pitchFamily="34" charset="0"/>
                      </a:endParaRPr>
                    </a:p>
                  </a:txBody>
                  <a:tcPr marL="45720" marR="45720" anchor="ctr"/>
                </a:tc>
                <a:tc>
                  <a:txBody>
                    <a:bodyPr/>
                    <a:lstStyle/>
                    <a:p>
                      <a:pPr algn="ctr" fontAlgn="ctr">
                        <a:buNone/>
                      </a:pPr>
                      <a:r>
                        <a:rPr lang="en-IN" sz="1000" b="0" i="0" u="none" strike="noStrike" kern="1200">
                          <a:solidFill>
                            <a:srgbClr val="333333"/>
                          </a:solidFill>
                          <a:effectLst/>
                          <a:latin typeface="+mj-lt"/>
                          <a:cs typeface="Arial"/>
                        </a:rPr>
                        <a:t>14% </a:t>
                      </a:r>
                    </a:p>
                  </a:txBody>
                  <a:tcPr marL="6350" marR="6350" marT="6350" marB="0" anchor="ctr">
                    <a:solidFill>
                      <a:srgbClr val="F9FDFA"/>
                    </a:solidFill>
                  </a:tcPr>
                </a:tc>
                <a:tc>
                  <a:txBody>
                    <a:bodyPr/>
                    <a:lstStyle/>
                    <a:p>
                      <a:pPr algn="ctr" fontAlgn="b">
                        <a:buNone/>
                      </a:pPr>
                      <a:r>
                        <a:rPr lang="en-IN" sz="1000" b="0" i="0" u="none" strike="noStrike" kern="1200">
                          <a:solidFill>
                            <a:srgbClr val="333333"/>
                          </a:solidFill>
                          <a:effectLst/>
                          <a:latin typeface="+mj-lt"/>
                          <a:cs typeface="Arial"/>
                        </a:rPr>
                        <a:t>14%</a:t>
                      </a:r>
                    </a:p>
                  </a:txBody>
                  <a:tcPr marL="6350" marR="6350" marT="6350" marB="0" anchor="ctr">
                    <a:solidFill>
                      <a:srgbClr val="F9FDFA"/>
                    </a:solidFill>
                  </a:tcPr>
                </a:tc>
                <a:tc>
                  <a:txBody>
                    <a:bodyPr/>
                    <a:lstStyle/>
                    <a:p>
                      <a:pPr algn="ctr" fontAlgn="ctr">
                        <a:buNone/>
                      </a:pPr>
                      <a:r>
                        <a:rPr lang="en-IN" sz="1000" b="0" i="0" u="none" strike="noStrike" kern="1200">
                          <a:solidFill>
                            <a:srgbClr val="333333"/>
                          </a:solidFill>
                          <a:effectLst/>
                          <a:latin typeface="+mj-lt"/>
                          <a:cs typeface="Arial"/>
                        </a:rPr>
                        <a:t>14%</a:t>
                      </a:r>
                    </a:p>
                  </a:txBody>
                  <a:tcPr marL="6350" marR="6350" marT="6350" marB="0" anchor="ctr">
                    <a:solidFill>
                      <a:srgbClr val="F9FDFA"/>
                    </a:solidFill>
                  </a:tcPr>
                </a:tc>
                <a:tc>
                  <a:txBody>
                    <a:bodyPr/>
                    <a:lstStyle/>
                    <a:p>
                      <a:pPr algn="ctr" fontAlgn="ctr">
                        <a:buNone/>
                      </a:pPr>
                      <a:r>
                        <a:rPr lang="en-IN" sz="1000" b="0" i="0" u="none" strike="noStrike" kern="1200">
                          <a:solidFill>
                            <a:srgbClr val="333333"/>
                          </a:solidFill>
                          <a:effectLst/>
                          <a:latin typeface="+mj-lt"/>
                          <a:cs typeface="Arial"/>
                        </a:rPr>
                        <a:t>14%</a:t>
                      </a:r>
                    </a:p>
                  </a:txBody>
                  <a:tcPr marL="6350" marR="6350" marT="6350" marB="0" anchor="ctr">
                    <a:solidFill>
                      <a:srgbClr val="F9FDFA"/>
                    </a:solidFill>
                  </a:tcPr>
                </a:tc>
                <a:tc>
                  <a:txBody>
                    <a:bodyPr/>
                    <a:lstStyle/>
                    <a:p>
                      <a:pPr algn="ctr" fontAlgn="ctr">
                        <a:buNone/>
                      </a:pPr>
                      <a:r>
                        <a:rPr lang="en-IN" sz="1000" b="0" i="0" u="none" strike="noStrike" kern="1200">
                          <a:solidFill>
                            <a:srgbClr val="333333"/>
                          </a:solidFill>
                          <a:effectLst/>
                          <a:latin typeface="+mj-lt"/>
                          <a:cs typeface="Arial"/>
                        </a:rPr>
                        <a:t>18%</a:t>
                      </a:r>
                    </a:p>
                  </a:txBody>
                  <a:tcPr marL="6350" marR="6350" marT="6350" marB="0" anchor="ctr">
                    <a:solidFill>
                      <a:srgbClr val="FFFFFF"/>
                    </a:solidFill>
                  </a:tcPr>
                </a:tc>
                <a:extLst>
                  <a:ext uri="{0D108BD9-81ED-4DB2-BD59-A6C34878D82A}">
                    <a16:rowId xmlns:a16="http://schemas.microsoft.com/office/drawing/2014/main" val="3333591618"/>
                  </a:ext>
                </a:extLst>
              </a:tr>
            </a:tbl>
          </a:graphicData>
        </a:graphic>
      </p:graphicFrame>
      <p:graphicFrame>
        <p:nvGraphicFramePr>
          <p:cNvPr id="10" name="Table 9">
            <a:extLst>
              <a:ext uri="{FF2B5EF4-FFF2-40B4-BE49-F238E27FC236}">
                <a16:creationId xmlns:a16="http://schemas.microsoft.com/office/drawing/2014/main" id="{7E5999C7-0B4C-8950-34F5-5015094301CE}"/>
              </a:ext>
            </a:extLst>
          </p:cNvPr>
          <p:cNvGraphicFramePr>
            <a:graphicFrameLocks noGrp="1"/>
          </p:cNvGraphicFramePr>
          <p:nvPr>
            <p:custDataLst>
              <p:tags r:id="rId2"/>
            </p:custDataLst>
          </p:nvPr>
        </p:nvGraphicFramePr>
        <p:xfrm>
          <a:off x="4822852" y="2120706"/>
          <a:ext cx="3665514" cy="3108960"/>
        </p:xfrm>
        <a:graphic>
          <a:graphicData uri="http://schemas.openxmlformats.org/drawingml/2006/table">
            <a:tbl>
              <a:tblPr>
                <a:tableStyleId>{96BACEE3-1A1D-4107-9369-2142449FF59F}</a:tableStyleId>
              </a:tblPr>
              <a:tblGrid>
                <a:gridCol w="610919">
                  <a:extLst>
                    <a:ext uri="{9D8B030D-6E8A-4147-A177-3AD203B41FA5}">
                      <a16:colId xmlns:a16="http://schemas.microsoft.com/office/drawing/2014/main" val="316151380"/>
                    </a:ext>
                  </a:extLst>
                </a:gridCol>
                <a:gridCol w="610919">
                  <a:extLst>
                    <a:ext uri="{9D8B030D-6E8A-4147-A177-3AD203B41FA5}">
                      <a16:colId xmlns:a16="http://schemas.microsoft.com/office/drawing/2014/main" val="3764984295"/>
                    </a:ext>
                  </a:extLst>
                </a:gridCol>
                <a:gridCol w="610919">
                  <a:extLst>
                    <a:ext uri="{9D8B030D-6E8A-4147-A177-3AD203B41FA5}">
                      <a16:colId xmlns:a16="http://schemas.microsoft.com/office/drawing/2014/main" val="3184306679"/>
                    </a:ext>
                  </a:extLst>
                </a:gridCol>
                <a:gridCol w="610919">
                  <a:extLst>
                    <a:ext uri="{9D8B030D-6E8A-4147-A177-3AD203B41FA5}">
                      <a16:colId xmlns:a16="http://schemas.microsoft.com/office/drawing/2014/main" val="3273817868"/>
                    </a:ext>
                  </a:extLst>
                </a:gridCol>
                <a:gridCol w="610919">
                  <a:extLst>
                    <a:ext uri="{9D8B030D-6E8A-4147-A177-3AD203B41FA5}">
                      <a16:colId xmlns:a16="http://schemas.microsoft.com/office/drawing/2014/main" val="2106840292"/>
                    </a:ext>
                  </a:extLst>
                </a:gridCol>
                <a:gridCol w="610919">
                  <a:extLst>
                    <a:ext uri="{9D8B030D-6E8A-4147-A177-3AD203B41FA5}">
                      <a16:colId xmlns:a16="http://schemas.microsoft.com/office/drawing/2014/main" val="114888697"/>
                    </a:ext>
                  </a:extLst>
                </a:gridCol>
              </a:tblGrid>
              <a:tr h="274320">
                <a:tc gridSpan="6">
                  <a:txBody>
                    <a:bodyPr/>
                    <a:lstStyle/>
                    <a:p>
                      <a:pPr algn="ctr" fontAlgn="ctr"/>
                      <a:r>
                        <a:rPr lang="en-US" sz="1200" b="0" i="0" u="none" strike="noStrike">
                          <a:solidFill>
                            <a:schemeClr val="bg1"/>
                          </a:solidFill>
                          <a:effectLst/>
                          <a:latin typeface="+mj-lt"/>
                          <a:ea typeface="Calibri" panose="020F0502020204030204" pitchFamily="34" charset="0"/>
                          <a:cs typeface="Calibri" panose="020F0502020204030204" pitchFamily="34" charset="0"/>
                        </a:rPr>
                        <a:t>CREON Dosing Awareness</a:t>
                      </a:r>
                    </a:p>
                  </a:txBody>
                  <a:tcPr anchor="ctr">
                    <a:solidFill>
                      <a:srgbClr val="36729C"/>
                    </a:solidFill>
                  </a:tcPr>
                </a:tc>
                <a:tc hMerge="1">
                  <a:txBody>
                    <a:bodyPr/>
                    <a:lstStyle/>
                    <a:p>
                      <a:pPr algn="ctr" fontAlgn="ctr"/>
                      <a:endParaRPr lang="en-US" sz="1000" b="0" i="0" u="none" strike="noStrike">
                        <a:solidFill>
                          <a:srgbClr val="333333"/>
                        </a:solidFill>
                        <a:effectLst/>
                        <a:highlight>
                          <a:srgbClr val="F8F6F6"/>
                        </a:highlight>
                        <a:latin typeface="+mj-lt"/>
                        <a:ea typeface="Calibri" panose="020F0502020204030204" pitchFamily="34" charset="0"/>
                        <a:cs typeface="Calibri" panose="020F0502020204030204" pitchFamily="34" charset="0"/>
                      </a:endParaRPr>
                    </a:p>
                  </a:txBody>
                  <a:tcPr marL="7620" marR="7620" marT="7620" marB="0" anchor="ct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36729C"/>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36729C"/>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36729C"/>
                    </a:solidFill>
                  </a:tcPr>
                </a:tc>
                <a:tc hMerge="1">
                  <a:txBody>
                    <a:bodyPr/>
                    <a:lstStyle/>
                    <a:p>
                      <a:pPr algn="ctr" fontAlgn="ctr"/>
                      <a:endParaRPr lang="en-US" sz="1200" b="0" i="0" u="none" strike="noStrike">
                        <a:solidFill>
                          <a:schemeClr val="bg1"/>
                        </a:solidFill>
                        <a:effectLst/>
                        <a:latin typeface="+mj-lt"/>
                        <a:ea typeface="Calibri" panose="020F0502020204030204" pitchFamily="34" charset="0"/>
                        <a:cs typeface="Calibri" panose="020F0502020204030204" pitchFamily="34" charset="0"/>
                      </a:endParaRPr>
                    </a:p>
                  </a:txBody>
                  <a:tcPr anchor="ctr">
                    <a:solidFill>
                      <a:srgbClr val="36729C"/>
                    </a:solidFill>
                  </a:tcPr>
                </a:tc>
                <a:extLst>
                  <a:ext uri="{0D108BD9-81ED-4DB2-BD59-A6C34878D82A}">
                    <a16:rowId xmlns:a16="http://schemas.microsoft.com/office/drawing/2014/main" val="3383241735"/>
                  </a:ext>
                </a:extLst>
              </a:tr>
              <a:tr h="416560">
                <a:tc>
                  <a:txBody>
                    <a:bodyPr/>
                    <a:lstStyle/>
                    <a:p>
                      <a:pPr algn="ctr" fontAlgn="ctr"/>
                      <a:r>
                        <a:rPr lang="en-US" sz="1100" b="0" i="0" u="none" strike="noStrike">
                          <a:solidFill>
                            <a:srgbClr val="333333"/>
                          </a:solidFill>
                          <a:effectLst/>
                          <a:latin typeface="+mj-lt"/>
                          <a:ea typeface="Calibri" panose="020F0502020204030204" pitchFamily="34" charset="0"/>
                          <a:cs typeface="Calibri" panose="020F0502020204030204" pitchFamily="34" charset="0"/>
                        </a:rPr>
                        <a:t>Dosage</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Mar’25 – Apr’25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154)</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May’25 – Jun’25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163)</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Jul’25 – Aug’25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152)</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Sep’25 – Oct’25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149)</a:t>
                      </a:r>
                    </a:p>
                  </a:txBody>
                  <a:tcPr marL="45720" marR="45720" anchor="ct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Nov’25 – Dec’25 </a:t>
                      </a:r>
                    </a:p>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900" b="0" i="0" u="none" strike="noStrike" kern="1200" cap="none">
                          <a:solidFill>
                            <a:srgbClr val="333333"/>
                          </a:solidFill>
                          <a:effectLst/>
                          <a:latin typeface="Arial"/>
                          <a:ea typeface="Calibri" panose="020F0502020204030204" pitchFamily="34" charset="0"/>
                          <a:cs typeface="Calibri" panose="020F0502020204030204" pitchFamily="34" charset="0"/>
                          <a:sym typeface="Arial"/>
                        </a:rPr>
                        <a:t>(n = 147)</a:t>
                      </a:r>
                    </a:p>
                  </a:txBody>
                  <a:tcPr marL="45720" marR="45720" anchor="ctr"/>
                </a:tc>
                <a:extLst>
                  <a:ext uri="{0D108BD9-81ED-4DB2-BD59-A6C34878D82A}">
                    <a16:rowId xmlns:a16="http://schemas.microsoft.com/office/drawing/2014/main" val="3480392896"/>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3K</a:t>
                      </a:r>
                    </a:p>
                  </a:txBody>
                  <a:tcPr marL="45720" marR="45720" anchor="ctr"/>
                </a:tc>
                <a:tc>
                  <a:txBody>
                    <a:bodyPr/>
                    <a:lstStyle/>
                    <a:p>
                      <a:pPr algn="ctr" fontAlgn="ctr"/>
                      <a:r>
                        <a:rPr lang="en-IN" sz="1000" b="0" i="0" u="none" strike="noStrike" kern="1200">
                          <a:solidFill>
                            <a:srgbClr val="333333"/>
                          </a:solidFill>
                          <a:effectLst/>
                          <a:latin typeface="+mj-lt"/>
                          <a:cs typeface="Arial"/>
                        </a:rPr>
                        <a:t>43%</a:t>
                      </a:r>
                    </a:p>
                  </a:txBody>
                  <a:tcPr marL="6350" marR="6350" marT="6350" marB="0" anchor="ctr">
                    <a:solidFill>
                      <a:srgbClr val="BCE3C6"/>
                    </a:solidFill>
                  </a:tcPr>
                </a:tc>
                <a:tc>
                  <a:txBody>
                    <a:bodyPr/>
                    <a:lstStyle/>
                    <a:p>
                      <a:pPr algn="ctr" fontAlgn="ctr">
                        <a:buNone/>
                      </a:pPr>
                      <a:r>
                        <a:rPr lang="en-IN" sz="1000" b="0" i="0" u="none" strike="noStrike" kern="1200">
                          <a:solidFill>
                            <a:srgbClr val="333333"/>
                          </a:solidFill>
                          <a:effectLst/>
                          <a:latin typeface="+mj-lt"/>
                          <a:cs typeface="Arial"/>
                        </a:rPr>
                        <a:t>39%</a:t>
                      </a:r>
                    </a:p>
                  </a:txBody>
                  <a:tcPr marL="6350" marR="6350" marT="6350" marB="0" anchor="ctr">
                    <a:solidFill>
                      <a:srgbClr val="C3E6CD"/>
                    </a:solidFill>
                  </a:tcPr>
                </a:tc>
                <a:tc>
                  <a:txBody>
                    <a:bodyPr/>
                    <a:lstStyle/>
                    <a:p>
                      <a:pPr algn="ctr" fontAlgn="ctr">
                        <a:buNone/>
                      </a:pPr>
                      <a:r>
                        <a:rPr lang="en-IN" sz="1000" b="0" i="0" u="none" strike="noStrike" kern="1200">
                          <a:solidFill>
                            <a:srgbClr val="333333"/>
                          </a:solidFill>
                          <a:effectLst/>
                          <a:latin typeface="+mj-lt"/>
                          <a:cs typeface="Arial"/>
                        </a:rPr>
                        <a:t>41%</a:t>
                      </a:r>
                    </a:p>
                  </a:txBody>
                  <a:tcPr marL="6350" marR="6350" marT="6350" marB="0" anchor="ctr">
                    <a:solidFill>
                      <a:srgbClr val="C0E5C9"/>
                    </a:solidFill>
                  </a:tcPr>
                </a:tc>
                <a:tc>
                  <a:txBody>
                    <a:bodyPr/>
                    <a:lstStyle/>
                    <a:p>
                      <a:pPr algn="ctr" fontAlgn="ctr">
                        <a:buNone/>
                      </a:pPr>
                      <a:r>
                        <a:rPr lang="en-IN" sz="1000" b="0" i="0" u="none" strike="noStrike" kern="1200">
                          <a:solidFill>
                            <a:srgbClr val="333333"/>
                          </a:solidFill>
                          <a:effectLst/>
                          <a:latin typeface="+mj-lt"/>
                          <a:cs typeface="Arial"/>
                        </a:rPr>
                        <a:t>42%</a:t>
                      </a:r>
                    </a:p>
                  </a:txBody>
                  <a:tcPr marL="6350" marR="6350" marT="6350" marB="0" anchor="ctr">
                    <a:solidFill>
                      <a:srgbClr val="BEE4C8"/>
                    </a:solidFill>
                  </a:tcPr>
                </a:tc>
                <a:tc>
                  <a:txBody>
                    <a:bodyPr/>
                    <a:lstStyle/>
                    <a:p>
                      <a:pPr algn="ctr" fontAlgn="ctr">
                        <a:buNone/>
                      </a:pPr>
                      <a:r>
                        <a:rPr lang="en-IN" sz="1000" b="0" i="0" u="none" strike="noStrike" kern="1200">
                          <a:solidFill>
                            <a:srgbClr val="333333"/>
                          </a:solidFill>
                          <a:effectLst/>
                          <a:latin typeface="+mj-lt"/>
                          <a:cs typeface="Arial"/>
                        </a:rPr>
                        <a:t>41%</a:t>
                      </a:r>
                    </a:p>
                  </a:txBody>
                  <a:tcPr marL="6350" marR="6350" marT="6350" marB="0" anchor="ctr">
                    <a:solidFill>
                      <a:srgbClr val="C2E6CC"/>
                    </a:solidFill>
                  </a:tcPr>
                </a:tc>
                <a:extLst>
                  <a:ext uri="{0D108BD9-81ED-4DB2-BD59-A6C34878D82A}">
                    <a16:rowId xmlns:a16="http://schemas.microsoft.com/office/drawing/2014/main" val="4055169075"/>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6K</a:t>
                      </a:r>
                    </a:p>
                  </a:txBody>
                  <a:tcPr marL="45720" marR="45720" anchor="ctr"/>
                </a:tc>
                <a:tc>
                  <a:txBody>
                    <a:bodyPr/>
                    <a:lstStyle/>
                    <a:p>
                      <a:pPr algn="ctr" fontAlgn="ctr"/>
                      <a:r>
                        <a:rPr lang="en-IN" sz="1000" b="0" i="0" u="none" strike="noStrike" kern="1200">
                          <a:solidFill>
                            <a:srgbClr val="333333"/>
                          </a:solidFill>
                          <a:effectLst/>
                          <a:latin typeface="+mj-lt"/>
                          <a:cs typeface="Arial"/>
                        </a:rPr>
                        <a:t>45%</a:t>
                      </a:r>
                    </a:p>
                  </a:txBody>
                  <a:tcPr marL="6350" marR="6350" marT="6350" marB="0" anchor="ctr">
                    <a:solidFill>
                      <a:srgbClr val="B8E2C3"/>
                    </a:solidFill>
                  </a:tcPr>
                </a:tc>
                <a:tc>
                  <a:txBody>
                    <a:bodyPr/>
                    <a:lstStyle/>
                    <a:p>
                      <a:pPr algn="ctr" fontAlgn="ctr">
                        <a:buNone/>
                      </a:pPr>
                      <a:r>
                        <a:rPr lang="en-IN" sz="1000" b="0" i="0" u="none" strike="noStrike" kern="1200">
                          <a:solidFill>
                            <a:srgbClr val="333333"/>
                          </a:solidFill>
                          <a:effectLst/>
                          <a:latin typeface="+mj-lt"/>
                          <a:cs typeface="Arial"/>
                        </a:rPr>
                        <a:t>47%</a:t>
                      </a:r>
                    </a:p>
                  </a:txBody>
                  <a:tcPr marL="6350" marR="6350" marT="6350" marB="0" anchor="ctr">
                    <a:solidFill>
                      <a:srgbClr val="B4E0C0"/>
                    </a:solidFill>
                  </a:tcPr>
                </a:tc>
                <a:tc>
                  <a:txBody>
                    <a:bodyPr/>
                    <a:lstStyle/>
                    <a:p>
                      <a:pPr algn="ctr" fontAlgn="ctr">
                        <a:buNone/>
                      </a:pPr>
                      <a:r>
                        <a:rPr lang="en-IN" sz="1000" b="0" i="0" u="none" strike="noStrike" kern="1200">
                          <a:solidFill>
                            <a:srgbClr val="333333"/>
                          </a:solidFill>
                          <a:effectLst/>
                          <a:latin typeface="+mj-lt"/>
                          <a:cs typeface="Arial"/>
                        </a:rPr>
                        <a:t>43%</a:t>
                      </a:r>
                    </a:p>
                  </a:txBody>
                  <a:tcPr marL="6350" marR="6350" marT="6350" marB="0" anchor="ctr">
                    <a:solidFill>
                      <a:srgbClr val="BCE3C6"/>
                    </a:solidFill>
                  </a:tcPr>
                </a:tc>
                <a:tc>
                  <a:txBody>
                    <a:bodyPr/>
                    <a:lstStyle/>
                    <a:p>
                      <a:pPr algn="ctr" fontAlgn="ctr">
                        <a:buNone/>
                      </a:pPr>
                      <a:r>
                        <a:rPr lang="en-IN" sz="1000" b="0" i="0" u="none" strike="noStrike" kern="1200">
                          <a:solidFill>
                            <a:srgbClr val="333333"/>
                          </a:solidFill>
                          <a:effectLst/>
                          <a:latin typeface="+mj-lt"/>
                          <a:cs typeface="Arial"/>
                        </a:rPr>
                        <a:t>50%</a:t>
                      </a:r>
                    </a:p>
                  </a:txBody>
                  <a:tcPr marL="6350" marR="6350" marT="6350" marB="0" anchor="ctr">
                    <a:solidFill>
                      <a:srgbClr val="AFDEBB"/>
                    </a:solidFill>
                  </a:tcPr>
                </a:tc>
                <a:tc>
                  <a:txBody>
                    <a:bodyPr/>
                    <a:lstStyle/>
                    <a:p>
                      <a:pPr algn="ctr" fontAlgn="ctr">
                        <a:buNone/>
                      </a:pPr>
                      <a:r>
                        <a:rPr lang="en-IN" sz="1000" b="0" i="0" u="none" strike="noStrike" kern="1200">
                          <a:solidFill>
                            <a:srgbClr val="333333"/>
                          </a:solidFill>
                          <a:effectLst/>
                          <a:latin typeface="+mj-lt"/>
                          <a:cs typeface="Arial"/>
                        </a:rPr>
                        <a:t>48%</a:t>
                      </a:r>
                    </a:p>
                  </a:txBody>
                  <a:tcPr marL="6350" marR="6350" marT="6350" marB="0" anchor="ctr">
                    <a:solidFill>
                      <a:srgbClr val="B4E0C0"/>
                    </a:solidFill>
                  </a:tcPr>
                </a:tc>
                <a:extLst>
                  <a:ext uri="{0D108BD9-81ED-4DB2-BD59-A6C34878D82A}">
                    <a16:rowId xmlns:a16="http://schemas.microsoft.com/office/drawing/2014/main" val="1240190496"/>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12K</a:t>
                      </a:r>
                    </a:p>
                  </a:txBody>
                  <a:tcPr marL="45720" marR="45720" anchor="ctr"/>
                </a:tc>
                <a:tc>
                  <a:txBody>
                    <a:bodyPr/>
                    <a:lstStyle/>
                    <a:p>
                      <a:pPr algn="ctr" fontAlgn="ctr"/>
                      <a:r>
                        <a:rPr lang="en-IN" sz="1000" b="0" i="0" u="none" strike="noStrike" kern="1200">
                          <a:solidFill>
                            <a:srgbClr val="333333"/>
                          </a:solidFill>
                          <a:effectLst/>
                          <a:latin typeface="+mj-lt"/>
                          <a:cs typeface="Arial"/>
                        </a:rPr>
                        <a:t>64%</a:t>
                      </a:r>
                    </a:p>
                  </a:txBody>
                  <a:tcPr marL="6350" marR="6350" marT="6350" marB="0" anchor="ctr">
                    <a:solidFill>
                      <a:srgbClr val="94D3A5"/>
                    </a:solidFill>
                  </a:tcPr>
                </a:tc>
                <a:tc>
                  <a:txBody>
                    <a:bodyPr/>
                    <a:lstStyle/>
                    <a:p>
                      <a:pPr algn="ctr" fontAlgn="ctr">
                        <a:buNone/>
                      </a:pPr>
                      <a:r>
                        <a:rPr lang="en-IN" sz="1000" b="0" i="0" u="none" strike="noStrike" kern="1200">
                          <a:solidFill>
                            <a:srgbClr val="333333"/>
                          </a:solidFill>
                          <a:effectLst/>
                          <a:latin typeface="+mj-lt"/>
                          <a:cs typeface="Arial"/>
                        </a:rPr>
                        <a:t>64%</a:t>
                      </a:r>
                    </a:p>
                  </a:txBody>
                  <a:tcPr marL="6350" marR="6350" marT="6350" marB="0" anchor="ctr">
                    <a:solidFill>
                      <a:srgbClr val="94D3A5"/>
                    </a:solidFill>
                  </a:tcPr>
                </a:tc>
                <a:tc>
                  <a:txBody>
                    <a:bodyPr/>
                    <a:lstStyle/>
                    <a:p>
                      <a:pPr algn="ctr" fontAlgn="ctr">
                        <a:buNone/>
                      </a:pPr>
                      <a:r>
                        <a:rPr lang="en-IN" sz="1000" b="0" i="0" u="none" strike="noStrike" kern="1200">
                          <a:solidFill>
                            <a:srgbClr val="333333"/>
                          </a:solidFill>
                          <a:effectLst/>
                          <a:latin typeface="+mj-lt"/>
                          <a:cs typeface="Arial"/>
                        </a:rPr>
                        <a:t>59%</a:t>
                      </a:r>
                    </a:p>
                  </a:txBody>
                  <a:tcPr marL="6350" marR="6350" marT="6350" marB="0" anchor="ctr">
                    <a:solidFill>
                      <a:srgbClr val="9ED7AD"/>
                    </a:solidFill>
                  </a:tcPr>
                </a:tc>
                <a:tc>
                  <a:txBody>
                    <a:bodyPr/>
                    <a:lstStyle/>
                    <a:p>
                      <a:pPr algn="ctr" fontAlgn="ctr">
                        <a:buNone/>
                      </a:pPr>
                      <a:r>
                        <a:rPr lang="en-IN" sz="1000" b="0" i="0" u="none" strike="noStrike" kern="1200">
                          <a:solidFill>
                            <a:srgbClr val="333333"/>
                          </a:solidFill>
                          <a:effectLst/>
                          <a:latin typeface="+mj-lt"/>
                          <a:cs typeface="Arial"/>
                        </a:rPr>
                        <a:t>66%</a:t>
                      </a:r>
                    </a:p>
                  </a:txBody>
                  <a:tcPr marL="6350" marR="6350" marT="6350" marB="0" anchor="ctr">
                    <a:solidFill>
                      <a:srgbClr val="91D1A2"/>
                    </a:solidFill>
                  </a:tcPr>
                </a:tc>
                <a:tc>
                  <a:txBody>
                    <a:bodyPr/>
                    <a:lstStyle/>
                    <a:p>
                      <a:pPr algn="ctr" fontAlgn="ctr">
                        <a:buNone/>
                      </a:pPr>
                      <a:r>
                        <a:rPr lang="en-IN" sz="1000" b="0" i="0" u="none" strike="noStrike" kern="1200">
                          <a:solidFill>
                            <a:srgbClr val="333333"/>
                          </a:solidFill>
                          <a:effectLst/>
                          <a:latin typeface="+mj-lt"/>
                          <a:cs typeface="Arial"/>
                        </a:rPr>
                        <a:t>70%</a:t>
                      </a:r>
                    </a:p>
                  </a:txBody>
                  <a:tcPr marL="6350" marR="6350" marT="6350" marB="0" anchor="ctr">
                    <a:solidFill>
                      <a:srgbClr val="89CE9B"/>
                    </a:solidFill>
                  </a:tcPr>
                </a:tc>
                <a:extLst>
                  <a:ext uri="{0D108BD9-81ED-4DB2-BD59-A6C34878D82A}">
                    <a16:rowId xmlns:a16="http://schemas.microsoft.com/office/drawing/2014/main" val="4084553074"/>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15K</a:t>
                      </a:r>
                    </a:p>
                  </a:txBody>
                  <a:tcPr marL="45720" marR="45720" anchor="ctr"/>
                </a:tc>
                <a:tc>
                  <a:txBody>
                    <a:bodyPr/>
                    <a:lstStyle/>
                    <a:p>
                      <a:pPr algn="ctr" fontAlgn="ctr"/>
                      <a:r>
                        <a:rPr lang="en-IN" sz="1000" b="0" i="0" u="none" strike="noStrike" kern="1200">
                          <a:solidFill>
                            <a:srgbClr val="333333"/>
                          </a:solidFill>
                          <a:effectLst/>
                          <a:latin typeface="+mj-lt"/>
                          <a:cs typeface="Arial"/>
                        </a:rPr>
                        <a:t>14%</a:t>
                      </a:r>
                    </a:p>
                  </a:txBody>
                  <a:tcPr marL="6350" marR="6350" marT="6350" marB="0" anchor="ctr">
                    <a:solidFill>
                      <a:srgbClr val="F2FAF4"/>
                    </a:solidFill>
                  </a:tcPr>
                </a:tc>
                <a:tc>
                  <a:txBody>
                    <a:bodyPr/>
                    <a:lstStyle/>
                    <a:p>
                      <a:pPr algn="ctr" fontAlgn="ctr">
                        <a:buNone/>
                      </a:pPr>
                      <a:r>
                        <a:rPr lang="en-IN" sz="1000" b="0" i="0" u="none" strike="noStrike" kern="1200">
                          <a:solidFill>
                            <a:srgbClr val="333333"/>
                          </a:solidFill>
                          <a:effectLst/>
                          <a:latin typeface="+mj-lt"/>
                          <a:cs typeface="Arial"/>
                        </a:rPr>
                        <a:t>18%</a:t>
                      </a:r>
                    </a:p>
                  </a:txBody>
                  <a:tcPr marL="6350" marR="6350" marT="6350" marB="0" anchor="ctr">
                    <a:solidFill>
                      <a:srgbClr val="EBF7EE"/>
                    </a:solidFill>
                  </a:tcPr>
                </a:tc>
                <a:tc>
                  <a:txBody>
                    <a:bodyPr/>
                    <a:lstStyle/>
                    <a:p>
                      <a:pPr algn="ctr" fontAlgn="ctr">
                        <a:buNone/>
                      </a:pPr>
                      <a:r>
                        <a:rPr lang="en-IN" sz="1000" b="0" i="0" u="none" strike="noStrike" kern="1200">
                          <a:solidFill>
                            <a:srgbClr val="333333"/>
                          </a:solidFill>
                          <a:effectLst/>
                          <a:latin typeface="+mj-lt"/>
                          <a:cs typeface="Arial"/>
                        </a:rPr>
                        <a:t>17%</a:t>
                      </a:r>
                    </a:p>
                  </a:txBody>
                  <a:tcPr marL="6350" marR="6350" marT="6350" marB="0" anchor="ctr">
                    <a:solidFill>
                      <a:srgbClr val="EDF8F0"/>
                    </a:solidFill>
                  </a:tcPr>
                </a:tc>
                <a:tc>
                  <a:txBody>
                    <a:bodyPr/>
                    <a:lstStyle/>
                    <a:p>
                      <a:pPr algn="ctr" fontAlgn="ctr">
                        <a:buNone/>
                      </a:pPr>
                      <a:r>
                        <a:rPr lang="en-IN" sz="1000" b="0" i="0" u="none" strike="noStrike" kern="1200">
                          <a:solidFill>
                            <a:srgbClr val="333333"/>
                          </a:solidFill>
                          <a:effectLst/>
                          <a:latin typeface="+mj-lt"/>
                          <a:cs typeface="Arial"/>
                        </a:rPr>
                        <a:t>17%</a:t>
                      </a:r>
                    </a:p>
                  </a:txBody>
                  <a:tcPr marL="6350" marR="6350" marT="6350" marB="0" anchor="ctr">
                    <a:solidFill>
                      <a:srgbClr val="EDF8F0"/>
                    </a:solidFill>
                  </a:tcPr>
                </a:tc>
                <a:tc>
                  <a:txBody>
                    <a:bodyPr/>
                    <a:lstStyle/>
                    <a:p>
                      <a:pPr algn="ctr" fontAlgn="ctr">
                        <a:buNone/>
                      </a:pPr>
                      <a:r>
                        <a:rPr lang="en-IN" sz="1000" b="0" i="0" u="none" strike="noStrike" kern="1200">
                          <a:solidFill>
                            <a:srgbClr val="333333"/>
                          </a:solidFill>
                          <a:effectLst/>
                          <a:latin typeface="+mj-lt"/>
                          <a:cs typeface="Arial"/>
                        </a:rPr>
                        <a:t>21%</a:t>
                      </a:r>
                    </a:p>
                  </a:txBody>
                  <a:tcPr marL="6350" marR="6350" marT="6350" marB="0" anchor="ctr">
                    <a:solidFill>
                      <a:srgbClr val="EAF6ED"/>
                    </a:solidFill>
                  </a:tcPr>
                </a:tc>
                <a:extLst>
                  <a:ext uri="{0D108BD9-81ED-4DB2-BD59-A6C34878D82A}">
                    <a16:rowId xmlns:a16="http://schemas.microsoft.com/office/drawing/2014/main" val="1646336441"/>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24K</a:t>
                      </a:r>
                    </a:p>
                  </a:txBody>
                  <a:tcPr marL="45720" marR="45720" anchor="ctr"/>
                </a:tc>
                <a:tc>
                  <a:txBody>
                    <a:bodyPr/>
                    <a:lstStyle/>
                    <a:p>
                      <a:pPr algn="ctr" fontAlgn="ctr"/>
                      <a:r>
                        <a:rPr lang="en-IN" sz="1000" b="0" i="0" u="none" strike="noStrike" kern="1200">
                          <a:solidFill>
                            <a:srgbClr val="333333"/>
                          </a:solidFill>
                          <a:effectLst/>
                          <a:latin typeface="+mj-lt"/>
                          <a:cs typeface="Arial"/>
                        </a:rPr>
                        <a:t>82%</a:t>
                      </a:r>
                    </a:p>
                  </a:txBody>
                  <a:tcPr marL="6350" marR="6350" marT="6350" marB="0" anchor="ctr">
                    <a:solidFill>
                      <a:srgbClr val="73C588"/>
                    </a:solidFill>
                  </a:tcPr>
                </a:tc>
                <a:tc>
                  <a:txBody>
                    <a:bodyPr/>
                    <a:lstStyle/>
                    <a:p>
                      <a:pPr algn="ctr" fontAlgn="ctr">
                        <a:buNone/>
                      </a:pPr>
                      <a:r>
                        <a:rPr lang="en-IN" sz="1000" b="0" i="0" u="none" strike="noStrike" kern="1200">
                          <a:solidFill>
                            <a:srgbClr val="333333"/>
                          </a:solidFill>
                          <a:effectLst/>
                          <a:latin typeface="+mj-lt"/>
                          <a:cs typeface="Arial"/>
                        </a:rPr>
                        <a:t>74%</a:t>
                      </a:r>
                    </a:p>
                  </a:txBody>
                  <a:tcPr marL="6350" marR="6350" marT="6350" marB="0" anchor="ctr">
                    <a:solidFill>
                      <a:srgbClr val="82CB95"/>
                    </a:solidFill>
                  </a:tcPr>
                </a:tc>
                <a:tc>
                  <a:txBody>
                    <a:bodyPr/>
                    <a:lstStyle/>
                    <a:p>
                      <a:pPr algn="ctr" fontAlgn="ctr">
                        <a:buNone/>
                      </a:pPr>
                      <a:r>
                        <a:rPr lang="en-IN" sz="1000" b="0" i="0" u="none" strike="noStrike" kern="1200">
                          <a:solidFill>
                            <a:srgbClr val="333333"/>
                          </a:solidFill>
                          <a:effectLst/>
                          <a:latin typeface="+mj-lt"/>
                          <a:cs typeface="Arial"/>
                        </a:rPr>
                        <a:t>75%</a:t>
                      </a:r>
                    </a:p>
                  </a:txBody>
                  <a:tcPr marL="6350" marR="6350" marT="6350" marB="0" anchor="ctr">
                    <a:solidFill>
                      <a:srgbClr val="80CA93"/>
                    </a:solidFill>
                  </a:tcPr>
                </a:tc>
                <a:tc>
                  <a:txBody>
                    <a:bodyPr/>
                    <a:lstStyle/>
                    <a:p>
                      <a:pPr algn="ctr" fontAlgn="ctr">
                        <a:buNone/>
                      </a:pPr>
                      <a:r>
                        <a:rPr lang="en-IN" sz="1000" b="0" i="0" u="none" strike="noStrike" kern="1200">
                          <a:solidFill>
                            <a:srgbClr val="333333"/>
                          </a:solidFill>
                          <a:effectLst/>
                          <a:latin typeface="+mj-lt"/>
                          <a:cs typeface="Arial"/>
                        </a:rPr>
                        <a:t>80%</a:t>
                      </a:r>
                    </a:p>
                  </a:txBody>
                  <a:tcPr marL="6350" marR="6350" marT="6350" marB="0" anchor="ctr">
                    <a:solidFill>
                      <a:srgbClr val="76C68B"/>
                    </a:solidFill>
                  </a:tcPr>
                </a:tc>
                <a:tc>
                  <a:txBody>
                    <a:bodyPr/>
                    <a:lstStyle/>
                    <a:p>
                      <a:pPr algn="ctr" fontAlgn="ctr">
                        <a:buNone/>
                      </a:pPr>
                      <a:r>
                        <a:rPr lang="en-IN" sz="1000" b="0" i="0" u="none" strike="noStrike" kern="1200">
                          <a:solidFill>
                            <a:srgbClr val="333333"/>
                          </a:solidFill>
                          <a:effectLst/>
                          <a:latin typeface="+mj-lt"/>
                          <a:cs typeface="Arial"/>
                        </a:rPr>
                        <a:t>80%</a:t>
                      </a:r>
                    </a:p>
                  </a:txBody>
                  <a:tcPr marL="6350" marR="6350" marT="6350" marB="0" anchor="ctr">
                    <a:solidFill>
                      <a:srgbClr val="75C68B"/>
                    </a:solidFill>
                  </a:tcPr>
                </a:tc>
                <a:extLst>
                  <a:ext uri="{0D108BD9-81ED-4DB2-BD59-A6C34878D82A}">
                    <a16:rowId xmlns:a16="http://schemas.microsoft.com/office/drawing/2014/main" val="2903854521"/>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30K*</a:t>
                      </a:r>
                    </a:p>
                  </a:txBody>
                  <a:tcPr marL="45720" marR="45720" anchor="ctr"/>
                </a:tc>
                <a:tc>
                  <a:txBody>
                    <a:bodyPr/>
                    <a:lstStyle/>
                    <a:p>
                      <a:pPr algn="ctr" fontAlgn="ctr"/>
                      <a:r>
                        <a:rPr lang="en-IN" sz="1000" b="0" i="0" u="none" strike="noStrike" kern="1200">
                          <a:solidFill>
                            <a:srgbClr val="333333"/>
                          </a:solidFill>
                          <a:effectLst/>
                          <a:latin typeface="+mj-lt"/>
                          <a:cs typeface="Arial"/>
                        </a:rPr>
                        <a:t>17%</a:t>
                      </a:r>
                    </a:p>
                  </a:txBody>
                  <a:tcPr marL="6350" marR="6350" marT="6350" marB="0" anchor="ctr">
                    <a:solidFill>
                      <a:srgbClr val="EDF8F0"/>
                    </a:solidFill>
                  </a:tcPr>
                </a:tc>
                <a:tc>
                  <a:txBody>
                    <a:bodyPr/>
                    <a:lstStyle/>
                    <a:p>
                      <a:pPr algn="ctr" fontAlgn="ctr">
                        <a:buNone/>
                      </a:pPr>
                      <a:r>
                        <a:rPr lang="en-IN" sz="1000" b="0" i="0" u="none" strike="noStrike" kern="1200">
                          <a:solidFill>
                            <a:srgbClr val="333333"/>
                          </a:solidFill>
                          <a:effectLst/>
                          <a:latin typeface="+mj-lt"/>
                          <a:cs typeface="Arial"/>
                        </a:rPr>
                        <a:t>19%</a:t>
                      </a:r>
                    </a:p>
                  </a:txBody>
                  <a:tcPr marL="6350" marR="6350" marT="6350" marB="0" anchor="ctr">
                    <a:solidFill>
                      <a:srgbClr val="E9F6EC"/>
                    </a:solidFill>
                  </a:tcPr>
                </a:tc>
                <a:tc>
                  <a:txBody>
                    <a:bodyPr/>
                    <a:lstStyle/>
                    <a:p>
                      <a:pPr algn="ctr" fontAlgn="ctr">
                        <a:buNone/>
                      </a:pPr>
                      <a:r>
                        <a:rPr lang="en-IN" sz="1000" b="0" i="0" u="none" strike="noStrike" kern="1200">
                          <a:solidFill>
                            <a:srgbClr val="333333"/>
                          </a:solidFill>
                          <a:effectLst/>
                          <a:latin typeface="+mj-lt"/>
                          <a:cs typeface="Arial"/>
                        </a:rPr>
                        <a:t>25%</a:t>
                      </a:r>
                    </a:p>
                  </a:txBody>
                  <a:tcPr marL="6350" marR="6350" marT="6350" marB="0" anchor="ctr">
                    <a:solidFill>
                      <a:srgbClr val="DEF1E3"/>
                    </a:solidFill>
                  </a:tcPr>
                </a:tc>
                <a:tc>
                  <a:txBody>
                    <a:bodyPr/>
                    <a:lstStyle/>
                    <a:p>
                      <a:pPr algn="ctr" fontAlgn="ctr">
                        <a:buNone/>
                      </a:pPr>
                      <a:r>
                        <a:rPr lang="en-IN" sz="1000" b="0" i="0" u="none" strike="noStrike" kern="1200">
                          <a:solidFill>
                            <a:srgbClr val="333333"/>
                          </a:solidFill>
                          <a:effectLst/>
                          <a:latin typeface="+mj-lt"/>
                          <a:cs typeface="Arial"/>
                        </a:rPr>
                        <a:t>25%</a:t>
                      </a:r>
                    </a:p>
                  </a:txBody>
                  <a:tcPr marL="6350" marR="6350" marT="6350" marB="0" anchor="ctr">
                    <a:solidFill>
                      <a:srgbClr val="DEF1E3"/>
                    </a:solidFill>
                  </a:tcPr>
                </a:tc>
                <a:tc>
                  <a:txBody>
                    <a:bodyPr/>
                    <a:lstStyle/>
                    <a:p>
                      <a:pPr algn="ctr" fontAlgn="ctr">
                        <a:buNone/>
                      </a:pPr>
                      <a:r>
                        <a:rPr lang="en-IN" sz="1000" b="0" i="0" u="none" strike="noStrike" kern="1200">
                          <a:solidFill>
                            <a:srgbClr val="333333"/>
                          </a:solidFill>
                          <a:effectLst/>
                          <a:latin typeface="+mj-lt"/>
                          <a:cs typeface="Arial"/>
                        </a:rPr>
                        <a:t>28%</a:t>
                      </a:r>
                    </a:p>
                  </a:txBody>
                  <a:tcPr marL="6350" marR="6350" marT="6350" marB="0" anchor="ctr">
                    <a:solidFill>
                      <a:srgbClr val="DCF1E1"/>
                    </a:solidFill>
                  </a:tcPr>
                </a:tc>
                <a:extLst>
                  <a:ext uri="{0D108BD9-81ED-4DB2-BD59-A6C34878D82A}">
                    <a16:rowId xmlns:a16="http://schemas.microsoft.com/office/drawing/2014/main" val="3541102209"/>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36K</a:t>
                      </a:r>
                    </a:p>
                  </a:txBody>
                  <a:tcPr marL="45720" marR="45720" anchor="ctr"/>
                </a:tc>
                <a:tc>
                  <a:txBody>
                    <a:bodyPr/>
                    <a:lstStyle/>
                    <a:p>
                      <a:pPr algn="ctr" fontAlgn="ctr"/>
                      <a:r>
                        <a:rPr lang="en-IN" sz="1000" b="0" i="0" u="none" strike="noStrike" kern="1200">
                          <a:solidFill>
                            <a:srgbClr val="333333"/>
                          </a:solidFill>
                          <a:effectLst/>
                          <a:latin typeface="+mj-lt"/>
                          <a:cs typeface="Arial"/>
                        </a:rPr>
                        <a:t>89%</a:t>
                      </a:r>
                    </a:p>
                  </a:txBody>
                  <a:tcPr marL="6350" marR="6350" marT="6350" marB="0" anchor="ctr">
                    <a:solidFill>
                      <a:srgbClr val="65BF7D"/>
                    </a:solidFill>
                  </a:tcPr>
                </a:tc>
                <a:tc>
                  <a:txBody>
                    <a:bodyPr/>
                    <a:lstStyle/>
                    <a:p>
                      <a:pPr algn="ctr" fontAlgn="ctr">
                        <a:buNone/>
                      </a:pPr>
                      <a:r>
                        <a:rPr lang="en-IN" sz="1000" b="0" i="0" u="none" strike="noStrike" kern="1200">
                          <a:solidFill>
                            <a:srgbClr val="333333"/>
                          </a:solidFill>
                          <a:effectLst/>
                          <a:latin typeface="+mj-lt"/>
                          <a:cs typeface="Arial"/>
                        </a:rPr>
                        <a:t>84%</a:t>
                      </a:r>
                    </a:p>
                  </a:txBody>
                  <a:tcPr marL="6350" marR="6350" marT="6350" marB="0" anchor="ctr">
                    <a:solidFill>
                      <a:srgbClr val="6FC385"/>
                    </a:solidFill>
                  </a:tcPr>
                </a:tc>
                <a:tc>
                  <a:txBody>
                    <a:bodyPr/>
                    <a:lstStyle/>
                    <a:p>
                      <a:pPr algn="ctr" fontAlgn="ctr">
                        <a:buNone/>
                      </a:pPr>
                      <a:r>
                        <a:rPr lang="en-IN" sz="1000" b="0" i="0" u="none" strike="noStrike" kern="1200">
                          <a:solidFill>
                            <a:srgbClr val="333333"/>
                          </a:solidFill>
                          <a:effectLst/>
                          <a:latin typeface="+mj-lt"/>
                          <a:cs typeface="Arial"/>
                        </a:rPr>
                        <a:t>85%</a:t>
                      </a:r>
                    </a:p>
                  </a:txBody>
                  <a:tcPr marL="6350" marR="6350" marT="6350" marB="0" anchor="ctr">
                    <a:solidFill>
                      <a:srgbClr val="6DC283"/>
                    </a:solidFill>
                  </a:tcPr>
                </a:tc>
                <a:tc>
                  <a:txBody>
                    <a:bodyPr/>
                    <a:lstStyle/>
                    <a:p>
                      <a:pPr algn="ctr" fontAlgn="ctr">
                        <a:buNone/>
                      </a:pPr>
                      <a:r>
                        <a:rPr lang="en-IN" sz="1000" b="0" i="0" u="none" strike="noStrike" kern="1200">
                          <a:solidFill>
                            <a:srgbClr val="333333"/>
                          </a:solidFill>
                          <a:effectLst/>
                          <a:latin typeface="+mj-lt"/>
                          <a:cs typeface="Arial"/>
                        </a:rPr>
                        <a:t>90%</a:t>
                      </a:r>
                    </a:p>
                  </a:txBody>
                  <a:tcPr marL="6350" marR="6350" marT="6350" marB="0" anchor="ctr">
                    <a:solidFill>
                      <a:srgbClr val="63BE7B"/>
                    </a:solidFill>
                  </a:tcPr>
                </a:tc>
                <a:tc>
                  <a:txBody>
                    <a:bodyPr/>
                    <a:lstStyle/>
                    <a:p>
                      <a:pPr algn="ctr" fontAlgn="ctr">
                        <a:buNone/>
                      </a:pPr>
                      <a:r>
                        <a:rPr lang="en-IN" sz="1000" b="0" i="0" u="none" strike="noStrike" kern="1200">
                          <a:solidFill>
                            <a:srgbClr val="333333"/>
                          </a:solidFill>
                          <a:effectLst/>
                          <a:latin typeface="+mj-lt"/>
                          <a:cs typeface="Arial"/>
                        </a:rPr>
                        <a:t>89%</a:t>
                      </a:r>
                    </a:p>
                  </a:txBody>
                  <a:tcPr marL="6350" marR="6350" marT="6350" marB="0" anchor="ctr">
                    <a:solidFill>
                      <a:srgbClr val="63BE7B"/>
                    </a:solidFill>
                  </a:tcPr>
                </a:tc>
                <a:extLst>
                  <a:ext uri="{0D108BD9-81ED-4DB2-BD59-A6C34878D82A}">
                    <a16:rowId xmlns:a16="http://schemas.microsoft.com/office/drawing/2014/main" val="2596665801"/>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50K</a:t>
                      </a:r>
                      <a:r>
                        <a:rPr lang="en-US" sz="1100" b="0" i="0" u="none" strike="noStrike" kern="1200" cap="none">
                          <a:solidFill>
                            <a:srgbClr val="000000"/>
                          </a:solidFill>
                          <a:effectLst/>
                          <a:latin typeface="Arial"/>
                          <a:ea typeface="Calibri" panose="020F0502020204030204" pitchFamily="34" charset="0"/>
                          <a:cs typeface="Calibri" panose="020F0502020204030204" pitchFamily="34" charset="0"/>
                          <a:sym typeface="Arial"/>
                        </a:rPr>
                        <a:t>*</a:t>
                      </a:r>
                      <a:endPar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endParaRPr>
                    </a:p>
                  </a:txBody>
                  <a:tcPr marL="45720" marR="45720" anchor="ctr"/>
                </a:tc>
                <a:tc>
                  <a:txBody>
                    <a:bodyPr/>
                    <a:lstStyle/>
                    <a:p>
                      <a:pPr algn="ctr" fontAlgn="ctr"/>
                      <a:r>
                        <a:rPr lang="en-IN" sz="1000" b="0" i="0" u="none" strike="noStrike" kern="1200">
                          <a:solidFill>
                            <a:srgbClr val="333333"/>
                          </a:solidFill>
                          <a:effectLst/>
                          <a:latin typeface="+mj-lt"/>
                          <a:cs typeface="Arial"/>
                        </a:rPr>
                        <a:t>9%</a:t>
                      </a:r>
                    </a:p>
                  </a:txBody>
                  <a:tcPr marL="6350" marR="6350" marT="6350" marB="0" anchor="ctr">
                    <a:solidFill>
                      <a:srgbClr val="FCFEFC"/>
                    </a:solidFill>
                  </a:tcPr>
                </a:tc>
                <a:tc>
                  <a:txBody>
                    <a:bodyPr/>
                    <a:lstStyle/>
                    <a:p>
                      <a:pPr algn="ctr" fontAlgn="ctr">
                        <a:buNone/>
                      </a:pPr>
                      <a:r>
                        <a:rPr lang="en-IN" sz="1000" b="0" i="0" u="none" strike="noStrike" kern="1200">
                          <a:solidFill>
                            <a:srgbClr val="333333"/>
                          </a:solidFill>
                          <a:effectLst/>
                          <a:latin typeface="+mj-lt"/>
                          <a:cs typeface="Arial"/>
                        </a:rPr>
                        <a:t>14%</a:t>
                      </a:r>
                    </a:p>
                  </a:txBody>
                  <a:tcPr marL="6350" marR="6350" marT="6350" marB="0" anchor="ctr">
                    <a:solidFill>
                      <a:srgbClr val="F2FAF4"/>
                    </a:solidFill>
                  </a:tcPr>
                </a:tc>
                <a:tc>
                  <a:txBody>
                    <a:bodyPr/>
                    <a:lstStyle/>
                    <a:p>
                      <a:pPr algn="ctr" fontAlgn="ctr">
                        <a:buNone/>
                      </a:pPr>
                      <a:r>
                        <a:rPr lang="en-IN" sz="1000" b="0" i="0" u="none" strike="noStrike" kern="1200">
                          <a:solidFill>
                            <a:srgbClr val="333333"/>
                          </a:solidFill>
                          <a:effectLst/>
                          <a:latin typeface="+mj-lt"/>
                          <a:cs typeface="Arial"/>
                        </a:rPr>
                        <a:t>11%</a:t>
                      </a:r>
                    </a:p>
                  </a:txBody>
                  <a:tcPr marL="6350" marR="6350" marT="6350" marB="0" anchor="ctr">
                    <a:solidFill>
                      <a:srgbClr val="F8FCF9"/>
                    </a:solidFill>
                  </a:tcPr>
                </a:tc>
                <a:tc>
                  <a:txBody>
                    <a:bodyPr/>
                    <a:lstStyle/>
                    <a:p>
                      <a:pPr algn="ctr" fontAlgn="ctr">
                        <a:buNone/>
                      </a:pPr>
                      <a:r>
                        <a:rPr lang="en-IN" sz="1000" b="0" i="0" u="none" strike="noStrike" kern="1200">
                          <a:solidFill>
                            <a:srgbClr val="333333"/>
                          </a:solidFill>
                          <a:effectLst/>
                          <a:latin typeface="+mj-lt"/>
                          <a:cs typeface="Arial"/>
                        </a:rPr>
                        <a:t>9%</a:t>
                      </a:r>
                    </a:p>
                  </a:txBody>
                  <a:tcPr marL="6350" marR="6350" marT="6350" marB="0" anchor="ctr">
                    <a:solidFill>
                      <a:srgbClr val="FCFEFC"/>
                    </a:solidFill>
                  </a:tcPr>
                </a:tc>
                <a:tc>
                  <a:txBody>
                    <a:bodyPr/>
                    <a:lstStyle/>
                    <a:p>
                      <a:pPr algn="ctr" fontAlgn="ctr">
                        <a:buNone/>
                      </a:pPr>
                      <a:r>
                        <a:rPr lang="en-IN" sz="1000" b="0" i="0" u="none" strike="noStrike" kern="1200">
                          <a:solidFill>
                            <a:srgbClr val="333333"/>
                          </a:solidFill>
                          <a:effectLst/>
                          <a:latin typeface="+mj-lt"/>
                          <a:cs typeface="Arial"/>
                        </a:rPr>
                        <a:t>15%</a:t>
                      </a:r>
                    </a:p>
                  </a:txBody>
                  <a:tcPr marL="6350" marR="6350" marT="6350" marB="0" anchor="ctr">
                    <a:solidFill>
                      <a:srgbClr val="F6FBF7"/>
                    </a:solidFill>
                  </a:tcPr>
                </a:tc>
                <a:extLst>
                  <a:ext uri="{0D108BD9-81ED-4DB2-BD59-A6C34878D82A}">
                    <a16:rowId xmlns:a16="http://schemas.microsoft.com/office/drawing/2014/main" val="2331000715"/>
                  </a:ext>
                </a:extLst>
              </a:tr>
              <a:tr h="254000">
                <a:tc>
                  <a:txBody>
                    <a:bodyPr/>
                    <a:lstStyle/>
                    <a:p>
                      <a:pPr marR="0" algn="ctr" rtl="0" fontAlgn="ctr">
                        <a:lnSpc>
                          <a:spcPct val="100000"/>
                        </a:lnSpc>
                        <a:spcBef>
                          <a:spcPts val="0"/>
                        </a:spcBef>
                        <a:spcAft>
                          <a:spcPts val="0"/>
                        </a:spcAft>
                        <a:buClr>
                          <a:srgbClr val="000000"/>
                        </a:buClr>
                        <a:buFont typeface="Arial"/>
                      </a:pPr>
                      <a:r>
                        <a:rPr lang="en-US" sz="1100" b="0" i="0" u="none" strike="noStrike" cap="none">
                          <a:solidFill>
                            <a:srgbClr val="000000"/>
                          </a:solidFill>
                          <a:effectLst/>
                          <a:latin typeface="+mj-lt"/>
                          <a:ea typeface="Calibri" panose="020F0502020204030204" pitchFamily="34" charset="0"/>
                          <a:cs typeface="Calibri" panose="020F0502020204030204" pitchFamily="34" charset="0"/>
                          <a:sym typeface="Arial"/>
                        </a:rPr>
                        <a:t>80K*</a:t>
                      </a:r>
                    </a:p>
                  </a:txBody>
                  <a:tcPr marL="45720" marR="45720" anchor="ctr"/>
                </a:tc>
                <a:tc>
                  <a:txBody>
                    <a:bodyPr/>
                    <a:lstStyle/>
                    <a:p>
                      <a:pPr algn="ctr" fontAlgn="ctr"/>
                      <a:r>
                        <a:rPr lang="en-IN" sz="1000" b="0" i="0" u="none" strike="noStrike" kern="1200">
                          <a:solidFill>
                            <a:srgbClr val="333333"/>
                          </a:solidFill>
                          <a:effectLst/>
                          <a:latin typeface="+mj-lt"/>
                          <a:cs typeface="Arial"/>
                        </a:rPr>
                        <a:t>8%</a:t>
                      </a:r>
                    </a:p>
                  </a:txBody>
                  <a:tcPr marL="6350" marR="6350" marT="6350" marB="0" anchor="ctr">
                    <a:solidFill>
                      <a:srgbClr val="FEFFFE"/>
                    </a:solidFill>
                  </a:tcPr>
                </a:tc>
                <a:tc>
                  <a:txBody>
                    <a:bodyPr/>
                    <a:lstStyle/>
                    <a:p>
                      <a:pPr algn="ctr" fontAlgn="ctr">
                        <a:buNone/>
                      </a:pPr>
                      <a:r>
                        <a:rPr lang="en-IN" sz="1000" b="0" i="0" u="none" strike="noStrike" kern="1200">
                          <a:solidFill>
                            <a:srgbClr val="333333"/>
                          </a:solidFill>
                          <a:effectLst/>
                          <a:latin typeface="+mj-lt"/>
                          <a:cs typeface="Arial"/>
                        </a:rPr>
                        <a:t>10%</a:t>
                      </a:r>
                    </a:p>
                  </a:txBody>
                  <a:tcPr marL="6350" marR="6350" marT="6350" marB="0" anchor="ctr">
                    <a:solidFill>
                      <a:srgbClr val="FAFDFB"/>
                    </a:solidFill>
                  </a:tcPr>
                </a:tc>
                <a:tc>
                  <a:txBody>
                    <a:bodyPr/>
                    <a:lstStyle/>
                    <a:p>
                      <a:pPr algn="ctr" fontAlgn="ctr">
                        <a:buNone/>
                      </a:pPr>
                      <a:r>
                        <a:rPr lang="en-IN" sz="1000" b="0" i="0" u="none" strike="noStrike" kern="1200">
                          <a:solidFill>
                            <a:srgbClr val="333333"/>
                          </a:solidFill>
                          <a:effectLst/>
                          <a:latin typeface="+mj-lt"/>
                          <a:cs typeface="Arial"/>
                        </a:rPr>
                        <a:t>11%</a:t>
                      </a:r>
                    </a:p>
                  </a:txBody>
                  <a:tcPr marL="6350" marR="6350" marT="6350" marB="0" anchor="ctr">
                    <a:solidFill>
                      <a:srgbClr val="F8FCF9"/>
                    </a:solidFill>
                  </a:tcPr>
                </a:tc>
                <a:tc>
                  <a:txBody>
                    <a:bodyPr/>
                    <a:lstStyle/>
                    <a:p>
                      <a:pPr algn="ctr" fontAlgn="ctr">
                        <a:buNone/>
                      </a:pPr>
                      <a:r>
                        <a:rPr lang="en-IN" sz="1000" b="0" i="0" u="none" strike="noStrike" kern="1200">
                          <a:solidFill>
                            <a:srgbClr val="333333"/>
                          </a:solidFill>
                          <a:effectLst/>
                          <a:latin typeface="+mj-lt"/>
                          <a:cs typeface="Arial"/>
                        </a:rPr>
                        <a:t>8%</a:t>
                      </a:r>
                    </a:p>
                  </a:txBody>
                  <a:tcPr marL="6350" marR="6350" marT="6350" marB="0" anchor="ctr">
                    <a:solidFill>
                      <a:srgbClr val="FEFFFE"/>
                    </a:solidFill>
                  </a:tcPr>
                </a:tc>
                <a:tc>
                  <a:txBody>
                    <a:bodyPr/>
                    <a:lstStyle/>
                    <a:p>
                      <a:pPr algn="ctr" fontAlgn="ctr">
                        <a:buNone/>
                      </a:pPr>
                      <a:r>
                        <a:rPr lang="en-IN" sz="1000" b="0" i="0" u="none" strike="noStrike" kern="1200">
                          <a:solidFill>
                            <a:srgbClr val="333333"/>
                          </a:solidFill>
                          <a:effectLst/>
                          <a:latin typeface="+mj-lt"/>
                          <a:cs typeface="Arial"/>
                        </a:rPr>
                        <a:t>10%</a:t>
                      </a:r>
                    </a:p>
                  </a:txBody>
                  <a:tcPr marL="6350" marR="6350" marT="6350" marB="0" anchor="ctr">
                    <a:solidFill>
                      <a:srgbClr val="FFFFFF"/>
                    </a:solidFill>
                  </a:tcPr>
                </a:tc>
                <a:extLst>
                  <a:ext uri="{0D108BD9-81ED-4DB2-BD59-A6C34878D82A}">
                    <a16:rowId xmlns:a16="http://schemas.microsoft.com/office/drawing/2014/main" val="2227232518"/>
                  </a:ext>
                </a:extLst>
              </a:tr>
            </a:tbl>
          </a:graphicData>
        </a:graphic>
      </p:graphicFrame>
      <p:sp>
        <p:nvSpPr>
          <p:cNvPr id="3" name="Highlight#32">
            <a:extLst>
              <a:ext uri="{FF2B5EF4-FFF2-40B4-BE49-F238E27FC236}">
                <a16:creationId xmlns:a16="http://schemas.microsoft.com/office/drawing/2014/main" id="{F38751DC-3069-E36C-39B0-208D6CF14DFB}"/>
              </a:ext>
            </a:extLst>
          </p:cNvPr>
          <p:cNvSpPr txBox="1"/>
          <p:nvPr/>
        </p:nvSpPr>
        <p:spPr>
          <a:xfrm>
            <a:off x="569584" y="5029567"/>
            <a:ext cx="3672000" cy="2347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 name="Highlight#32">
            <a:extLst>
              <a:ext uri="{FF2B5EF4-FFF2-40B4-BE49-F238E27FC236}">
                <a16:creationId xmlns:a16="http://schemas.microsoft.com/office/drawing/2014/main" id="{62690D97-29F8-697C-A6B3-49E9FEEEAD3C}"/>
              </a:ext>
            </a:extLst>
          </p:cNvPr>
          <p:cNvSpPr txBox="1"/>
          <p:nvPr/>
        </p:nvSpPr>
        <p:spPr>
          <a:xfrm>
            <a:off x="576072" y="4504593"/>
            <a:ext cx="3672000" cy="251203"/>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 name="Highlight#32">
            <a:extLst>
              <a:ext uri="{FF2B5EF4-FFF2-40B4-BE49-F238E27FC236}">
                <a16:creationId xmlns:a16="http://schemas.microsoft.com/office/drawing/2014/main" id="{0B037D8C-17BC-B374-A420-D7404BB87BBA}"/>
              </a:ext>
            </a:extLst>
          </p:cNvPr>
          <p:cNvSpPr txBox="1"/>
          <p:nvPr/>
        </p:nvSpPr>
        <p:spPr>
          <a:xfrm>
            <a:off x="4825277" y="4451737"/>
            <a:ext cx="3669576" cy="2520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 name="Google Shape;560;p14">
            <a:extLst>
              <a:ext uri="{FF2B5EF4-FFF2-40B4-BE49-F238E27FC236}">
                <a16:creationId xmlns:a16="http://schemas.microsoft.com/office/drawing/2014/main" id="{DA68F563-8212-F226-DB07-CBCD7027C939}"/>
              </a:ext>
            </a:extLst>
          </p:cNvPr>
          <p:cNvSpPr txBox="1"/>
          <p:nvPr/>
        </p:nvSpPr>
        <p:spPr>
          <a:xfrm>
            <a:off x="928803" y="5952001"/>
            <a:ext cx="8114200" cy="369291"/>
          </a:xfrm>
          <a:prstGeom prst="rect">
            <a:avLst/>
          </a:prstGeom>
          <a:noFill/>
          <a:ln>
            <a:noFill/>
          </a:ln>
        </p:spPr>
        <p:txBody>
          <a:bodyPr spcFirstLastPara="1" wrap="square" lIns="91425" tIns="45700" rIns="0"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Questions added in Feb ’24 | </a:t>
            </a:r>
            <a:r>
              <a:rPr kumimoji="0" lang="en-US" sz="9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a:t>
            </a:r>
            <a:r>
              <a:rPr kumimoji="0" lang="en-US" sz="900" b="1" i="0" u="none" strike="noStrike" kern="0" cap="none" spc="0" normalizeH="0" baseline="3000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Local outliers removed |  </a:t>
            </a:r>
            <a:r>
              <a:rPr kumimoji="0" lang="en-US" sz="900" b="0" i="0" u="none" strike="noStrike" kern="0" cap="none" spc="0" normalizeH="0" baseline="30000" noProof="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sym typeface="Arial"/>
              </a:rPr>
              <a:t>#</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Option started fielding from Mar’24</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No statistically significant (p&lt;.05) difference between previous waves | * Dosages that are currently not available in the market</a:t>
            </a:r>
          </a:p>
        </p:txBody>
      </p:sp>
    </p:spTree>
    <p:extLst>
      <p:ext uri="{BB962C8B-B14F-4D97-AF65-F5344CB8AC3E}">
        <p14:creationId xmlns:p14="http://schemas.microsoft.com/office/powerpoint/2010/main" val="2007453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438"/>
        <p:cNvGrpSpPr/>
        <p:nvPr/>
      </p:nvGrpSpPr>
      <p:grpSpPr>
        <a:xfrm>
          <a:off x="0" y="0"/>
          <a:ext cx="0" cy="0"/>
          <a:chOff x="0" y="0"/>
          <a:chExt cx="0" cy="0"/>
        </a:xfrm>
      </p:grpSpPr>
      <p:graphicFrame>
        <p:nvGraphicFramePr>
          <p:cNvPr id="39" name="creon">
            <a:extLst>
              <a:ext uri="{FF2B5EF4-FFF2-40B4-BE49-F238E27FC236}">
                <a16:creationId xmlns:a16="http://schemas.microsoft.com/office/drawing/2014/main" id="{95C5B627-3988-3139-2607-F021E729CBCE}"/>
              </a:ext>
            </a:extLst>
          </p:cNvPr>
          <p:cNvGraphicFramePr/>
          <p:nvPr>
            <p:custDataLst>
              <p:tags r:id="rId1"/>
            </p:custDataLst>
          </p:nvPr>
        </p:nvGraphicFramePr>
        <p:xfrm>
          <a:off x="14963" y="1542015"/>
          <a:ext cx="5400000" cy="3220100"/>
        </p:xfrm>
        <a:graphic>
          <a:graphicData uri="http://schemas.openxmlformats.org/drawingml/2006/chart">
            <c:chart xmlns:c="http://schemas.openxmlformats.org/drawingml/2006/chart" xmlns:r="http://schemas.openxmlformats.org/officeDocument/2006/relationships" r:id="rId5"/>
          </a:graphicData>
        </a:graphic>
      </p:graphicFrame>
      <p:sp>
        <p:nvSpPr>
          <p:cNvPr id="2440" name="Google Shape;2440;p6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Calibri"/>
              </a:rPr>
              <a:t>Discussion of CREON’s 36K &amp; ZENPEP’s 40K doses increased this wave, with ZENPEP’s 60K dose as the most discussed</a:t>
            </a:r>
            <a:endPar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Arial"/>
            </a:endParaRPr>
          </a:p>
        </p:txBody>
      </p:sp>
      <p:sp>
        <p:nvSpPr>
          <p:cNvPr id="2462" name="Google Shape;2462;p63"/>
          <p:cNvSpPr txBox="1"/>
          <p:nvPr/>
        </p:nvSpPr>
        <p:spPr>
          <a:xfrm>
            <a:off x="928803" y="5967328"/>
            <a:ext cx="647458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Questions added in Feb ’23</a:t>
            </a:r>
            <a:b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b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No statistically significant (p&lt;.05) difference between previous waves | </a:t>
            </a:r>
            <a:r>
              <a:rPr kumimoji="0" lang="en-US" sz="900" b="0" i="0" u="none" strike="noStrike" kern="0" cap="none" spc="0" normalizeH="0" baseline="30000" noProof="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sym typeface="Arial"/>
              </a:rPr>
              <a:t>#</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Option started fielding from Mar’24</a:t>
            </a:r>
            <a:endPar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Arial"/>
            </a:endParaRPr>
          </a:p>
        </p:txBody>
      </p:sp>
      <p:sp>
        <p:nvSpPr>
          <p:cNvPr id="35" name="Google Shape;6149;p177">
            <a:extLst>
              <a:ext uri="{FF2B5EF4-FFF2-40B4-BE49-F238E27FC236}">
                <a16:creationId xmlns:a16="http://schemas.microsoft.com/office/drawing/2014/main" id="{244A3457-A457-A195-4E03-3F6120C42D90}"/>
              </a:ext>
            </a:extLst>
          </p:cNvPr>
          <p:cNvSpPr txBox="1">
            <a:spLocks/>
          </p:cNvSpPr>
          <p:nvPr/>
        </p:nvSpPr>
        <p:spPr>
          <a:xfrm>
            <a:off x="2443848" y="964056"/>
            <a:ext cx="4256307"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CREON &amp; ZENPEP Dosing Options Discussed</a:t>
            </a:r>
          </a:p>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[Rebased by CREON/ZENPEP Interactions]</a:t>
            </a:r>
            <a:b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br>
            <a: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(Nov’25 – Dec’25 &amp; Sep’25 – Oct’25) | [% of HCPs]</a:t>
            </a:r>
            <a:endParaRPr kumimoji="0" lang="en-GB" sz="600" b="0" i="0" u="sng"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36" name="Chart 35">
            <a:extLst>
              <a:ext uri="{FF2B5EF4-FFF2-40B4-BE49-F238E27FC236}">
                <a16:creationId xmlns:a16="http://schemas.microsoft.com/office/drawing/2014/main" id="{C755AC0E-C89F-4D45-8ABA-00558D178FB1}"/>
              </a:ext>
            </a:extLst>
          </p:cNvPr>
          <p:cNvGraphicFramePr/>
          <p:nvPr>
            <p:custDataLst>
              <p:tags r:id="rId2"/>
            </p:custDataLst>
          </p:nvPr>
        </p:nvGraphicFramePr>
        <p:xfrm>
          <a:off x="3685281" y="1542016"/>
          <a:ext cx="5400000" cy="3220100"/>
        </p:xfrm>
        <a:graphic>
          <a:graphicData uri="http://schemas.openxmlformats.org/drawingml/2006/chart">
            <c:chart xmlns:c="http://schemas.openxmlformats.org/drawingml/2006/chart" xmlns:r="http://schemas.openxmlformats.org/officeDocument/2006/relationships" r:id="rId6"/>
          </a:graphicData>
        </a:graphic>
      </p:graphicFrame>
      <p:sp>
        <p:nvSpPr>
          <p:cNvPr id="15" name="Highlight#32">
            <a:extLst>
              <a:ext uri="{FF2B5EF4-FFF2-40B4-BE49-F238E27FC236}">
                <a16:creationId xmlns:a16="http://schemas.microsoft.com/office/drawing/2014/main" id="{08C6F0C3-5039-19D1-A605-F6131560F97B}"/>
              </a:ext>
            </a:extLst>
          </p:cNvPr>
          <p:cNvSpPr txBox="1"/>
          <p:nvPr/>
        </p:nvSpPr>
        <p:spPr>
          <a:xfrm>
            <a:off x="33074" y="1072245"/>
            <a:ext cx="2338340" cy="1267971"/>
          </a:xfrm>
          <a:prstGeom prst="rect">
            <a:avLst/>
          </a:prstGeom>
          <a:noFill/>
          <a:ln>
            <a:solidFill>
              <a:srgbClr val="00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4" name="Group 13">
            <a:extLst>
              <a:ext uri="{FF2B5EF4-FFF2-40B4-BE49-F238E27FC236}">
                <a16:creationId xmlns:a16="http://schemas.microsoft.com/office/drawing/2014/main" id="{00813E96-3191-5297-B11E-0ED909C5BAA2}"/>
              </a:ext>
            </a:extLst>
          </p:cNvPr>
          <p:cNvGrpSpPr/>
          <p:nvPr/>
        </p:nvGrpSpPr>
        <p:grpSpPr>
          <a:xfrm>
            <a:off x="76686" y="1085273"/>
            <a:ext cx="2371664" cy="1246956"/>
            <a:chOff x="6539385" y="1196544"/>
            <a:chExt cx="2371664" cy="1246956"/>
          </a:xfrm>
        </p:grpSpPr>
        <p:grpSp>
          <p:nvGrpSpPr>
            <p:cNvPr id="60" name="Group 59">
              <a:extLst>
                <a:ext uri="{FF2B5EF4-FFF2-40B4-BE49-F238E27FC236}">
                  <a16:creationId xmlns:a16="http://schemas.microsoft.com/office/drawing/2014/main" id="{865F5FDB-86DD-0112-E2BD-27DBFBD9242A}"/>
                </a:ext>
              </a:extLst>
            </p:cNvPr>
            <p:cNvGrpSpPr/>
            <p:nvPr/>
          </p:nvGrpSpPr>
          <p:grpSpPr>
            <a:xfrm>
              <a:off x="6700153" y="2043390"/>
              <a:ext cx="1861756" cy="400110"/>
              <a:chOff x="570805" y="5247607"/>
              <a:chExt cx="1861756" cy="400110"/>
            </a:xfrm>
          </p:grpSpPr>
          <p:sp>
            <p:nvSpPr>
              <p:cNvPr id="2432" name="Legend_series_1">
                <a:extLst>
                  <a:ext uri="{FF2B5EF4-FFF2-40B4-BE49-F238E27FC236}">
                    <a16:creationId xmlns:a16="http://schemas.microsoft.com/office/drawing/2014/main" id="{697A94A3-6D40-6FCF-93C4-55E556445C5F}"/>
                  </a:ext>
                </a:extLst>
              </p:cNvPr>
              <p:cNvSpPr/>
              <p:nvPr/>
            </p:nvSpPr>
            <p:spPr>
              <a:xfrm>
                <a:off x="570805" y="5393661"/>
                <a:ext cx="108000" cy="108000"/>
              </a:xfrm>
              <a:prstGeom prst="rect">
                <a:avLst/>
              </a:prstGeom>
              <a:solidFill>
                <a:schemeClr val="bg1">
                  <a:lumMod val="50000"/>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2433" name="Textbox_series_1">
                <a:extLst>
                  <a:ext uri="{FF2B5EF4-FFF2-40B4-BE49-F238E27FC236}">
                    <a16:creationId xmlns:a16="http://schemas.microsoft.com/office/drawing/2014/main" id="{6E23B24F-308E-7DFE-B938-A5917B40E68A}"/>
                  </a:ext>
                </a:extLst>
              </p:cNvPr>
              <p:cNvSpPr txBox="1"/>
              <p:nvPr/>
            </p:nvSpPr>
            <p:spPr>
              <a:xfrm>
                <a:off x="687388" y="5247607"/>
                <a:ext cx="1745173" cy="400110"/>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10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Dosages that are currently not available in the market</a:t>
                </a:r>
              </a:p>
            </p:txBody>
          </p:sp>
        </p:grpSp>
        <p:grpSp>
          <p:nvGrpSpPr>
            <p:cNvPr id="2" name="Group 1">
              <a:extLst>
                <a:ext uri="{FF2B5EF4-FFF2-40B4-BE49-F238E27FC236}">
                  <a16:creationId xmlns:a16="http://schemas.microsoft.com/office/drawing/2014/main" id="{665C9A05-CE3B-3992-FF8A-364253F9E62D}"/>
                </a:ext>
              </a:extLst>
            </p:cNvPr>
            <p:cNvGrpSpPr/>
            <p:nvPr/>
          </p:nvGrpSpPr>
          <p:grpSpPr>
            <a:xfrm>
              <a:off x="6539385" y="1196545"/>
              <a:ext cx="1173815" cy="461665"/>
              <a:chOff x="410037" y="4935482"/>
              <a:chExt cx="1173815" cy="461665"/>
            </a:xfrm>
          </p:grpSpPr>
          <p:sp>
            <p:nvSpPr>
              <p:cNvPr id="3" name="Legend_series_1">
                <a:extLst>
                  <a:ext uri="{FF2B5EF4-FFF2-40B4-BE49-F238E27FC236}">
                    <a16:creationId xmlns:a16="http://schemas.microsoft.com/office/drawing/2014/main" id="{3A7A0F19-0359-F06D-FEE6-5124AE18B2AB}"/>
                  </a:ext>
                </a:extLst>
              </p:cNvPr>
              <p:cNvSpPr/>
              <p:nvPr/>
            </p:nvSpPr>
            <p:spPr>
              <a:xfrm>
                <a:off x="410037" y="5112315"/>
                <a:ext cx="108000" cy="108000"/>
              </a:xfrm>
              <a:prstGeom prst="rect">
                <a:avLst/>
              </a:prstGeom>
              <a:solidFill>
                <a:srgbClr val="36729C"/>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 name="Textbox_series_1">
                <a:extLst>
                  <a:ext uri="{FF2B5EF4-FFF2-40B4-BE49-F238E27FC236}">
                    <a16:creationId xmlns:a16="http://schemas.microsoft.com/office/drawing/2014/main" id="{E3AF4C10-492D-8644-B000-2A9A249C7007}"/>
                  </a:ext>
                </a:extLst>
              </p:cNvPr>
              <p:cNvSpPr txBox="1"/>
              <p:nvPr/>
            </p:nvSpPr>
            <p:spPr>
              <a:xfrm>
                <a:off x="526620" y="4935482"/>
                <a:ext cx="1057232" cy="461665"/>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CREON </a:t>
                </a:r>
                <a:b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b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(Nov’25 – Dec’25)</a:t>
                </a: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GB"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(n = 108)</a:t>
                </a:r>
                <a:endPar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endParaRPr>
              </a:p>
            </p:txBody>
          </p:sp>
        </p:grpSp>
        <p:grpSp>
          <p:nvGrpSpPr>
            <p:cNvPr id="5" name="Group 4">
              <a:extLst>
                <a:ext uri="{FF2B5EF4-FFF2-40B4-BE49-F238E27FC236}">
                  <a16:creationId xmlns:a16="http://schemas.microsoft.com/office/drawing/2014/main" id="{1F445E24-B38E-396A-F7C5-76713DAAFF61}"/>
                </a:ext>
              </a:extLst>
            </p:cNvPr>
            <p:cNvGrpSpPr/>
            <p:nvPr/>
          </p:nvGrpSpPr>
          <p:grpSpPr>
            <a:xfrm>
              <a:off x="7677490" y="1196544"/>
              <a:ext cx="1233559" cy="461665"/>
              <a:chOff x="600954" y="4935482"/>
              <a:chExt cx="1233559" cy="461665"/>
            </a:xfrm>
          </p:grpSpPr>
          <p:sp>
            <p:nvSpPr>
              <p:cNvPr id="6" name="Legend_series_1">
                <a:extLst>
                  <a:ext uri="{FF2B5EF4-FFF2-40B4-BE49-F238E27FC236}">
                    <a16:creationId xmlns:a16="http://schemas.microsoft.com/office/drawing/2014/main" id="{3ADDB936-DAB4-40D0-4E7C-B351156E2164}"/>
                  </a:ext>
                </a:extLst>
              </p:cNvPr>
              <p:cNvSpPr/>
              <p:nvPr/>
            </p:nvSpPr>
            <p:spPr>
              <a:xfrm>
                <a:off x="600954" y="5112315"/>
                <a:ext cx="108000" cy="108000"/>
              </a:xfrm>
              <a:prstGeom prst="rect">
                <a:avLst/>
              </a:prstGeom>
              <a:solidFill>
                <a:srgbClr val="9778D4"/>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7" name="Textbox_series_1">
                <a:extLst>
                  <a:ext uri="{FF2B5EF4-FFF2-40B4-BE49-F238E27FC236}">
                    <a16:creationId xmlns:a16="http://schemas.microsoft.com/office/drawing/2014/main" id="{1731CD7C-4D5F-4473-DE0C-3F2FE9E30F48}"/>
                  </a:ext>
                </a:extLst>
              </p:cNvPr>
              <p:cNvSpPr txBox="1"/>
              <p:nvPr/>
            </p:nvSpPr>
            <p:spPr>
              <a:xfrm>
                <a:off x="717535" y="4935482"/>
                <a:ext cx="1116978" cy="461665"/>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ZENPEP </a:t>
                </a:r>
                <a:b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b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(Nov’25 – Dec’25)</a:t>
                </a: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GB"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(n = 102)	</a:t>
                </a:r>
                <a:endPar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endParaRPr>
              </a:p>
            </p:txBody>
          </p:sp>
        </p:grpSp>
      </p:grpSp>
      <p:sp>
        <p:nvSpPr>
          <p:cNvPr id="28" name="Highlight#32">
            <a:extLst>
              <a:ext uri="{FF2B5EF4-FFF2-40B4-BE49-F238E27FC236}">
                <a16:creationId xmlns:a16="http://schemas.microsoft.com/office/drawing/2014/main" id="{1FC655EE-CF85-AB81-2904-80E394346E67}"/>
              </a:ext>
            </a:extLst>
          </p:cNvPr>
          <p:cNvSpPr txBox="1"/>
          <p:nvPr/>
        </p:nvSpPr>
        <p:spPr>
          <a:xfrm>
            <a:off x="76686" y="4851225"/>
            <a:ext cx="8895147" cy="1116103"/>
          </a:xfrm>
          <a:prstGeom prst="rect">
            <a:avLst/>
          </a:prstGeom>
          <a:noFill/>
          <a:ln>
            <a:solidFill>
              <a:srgbClr val="9778D4"/>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40" name="Group 39">
            <a:extLst>
              <a:ext uri="{FF2B5EF4-FFF2-40B4-BE49-F238E27FC236}">
                <a16:creationId xmlns:a16="http://schemas.microsoft.com/office/drawing/2014/main" id="{9788355C-C433-61E4-F0F7-267A304804C7}"/>
              </a:ext>
            </a:extLst>
          </p:cNvPr>
          <p:cNvGrpSpPr/>
          <p:nvPr/>
        </p:nvGrpSpPr>
        <p:grpSpPr>
          <a:xfrm>
            <a:off x="2627120" y="4880304"/>
            <a:ext cx="3846635" cy="321187"/>
            <a:chOff x="3036816" y="4647099"/>
            <a:chExt cx="3846635" cy="321186"/>
          </a:xfrm>
        </p:grpSpPr>
        <p:sp>
          <p:nvSpPr>
            <p:cNvPr id="17" name="Google Shape;2467;p63">
              <a:extLst>
                <a:ext uri="{FF2B5EF4-FFF2-40B4-BE49-F238E27FC236}">
                  <a16:creationId xmlns:a16="http://schemas.microsoft.com/office/drawing/2014/main" id="{3DA63511-3F8A-E76E-3C44-0ED35EA30049}"/>
                </a:ext>
              </a:extLst>
            </p:cNvPr>
            <p:cNvSpPr/>
            <p:nvPr/>
          </p:nvSpPr>
          <p:spPr>
            <a:xfrm>
              <a:off x="3206892" y="4661853"/>
              <a:ext cx="3676559" cy="294861"/>
            </a:xfrm>
            <a:prstGeom prst="rect">
              <a:avLst/>
            </a:prstGeom>
            <a:noFill/>
            <a:ln>
              <a:noFill/>
            </a:ln>
          </p:spPr>
          <p:txBody>
            <a:bodyPr spcFirstLastPara="1" wrap="square" lIns="91425" tIns="83100" rIns="91425" bIns="831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nl-NL" sz="1051" b="1"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Arial"/>
                </a:rPr>
                <a:t>Mention of 60K Dosing in ZENPEP Interactions  </a:t>
              </a:r>
              <a:endParaRPr kumimoji="0" lang="en-US" sz="1051"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pic>
          <p:nvPicPr>
            <p:cNvPr id="18" name="Picture 2">
              <a:extLst>
                <a:ext uri="{FF2B5EF4-FFF2-40B4-BE49-F238E27FC236}">
                  <a16:creationId xmlns:a16="http://schemas.microsoft.com/office/drawing/2014/main" id="{D0D0606C-E71F-23C0-972E-7C8D243140C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36816" y="4647099"/>
              <a:ext cx="279254" cy="32118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 name="Group 18">
            <a:extLst>
              <a:ext uri="{FF2B5EF4-FFF2-40B4-BE49-F238E27FC236}">
                <a16:creationId xmlns:a16="http://schemas.microsoft.com/office/drawing/2014/main" id="{7304B8DE-54F9-0A60-8D21-45775BBD42C5}"/>
              </a:ext>
            </a:extLst>
          </p:cNvPr>
          <p:cNvGrpSpPr/>
          <p:nvPr/>
        </p:nvGrpSpPr>
        <p:grpSpPr>
          <a:xfrm>
            <a:off x="219695" y="5145106"/>
            <a:ext cx="3996000" cy="348182"/>
            <a:chOff x="6645371" y="1939055"/>
            <a:chExt cx="5104847" cy="516824"/>
          </a:xfrm>
        </p:grpSpPr>
        <p:sp>
          <p:nvSpPr>
            <p:cNvPr id="20" name="Rectangle 19">
              <a:extLst>
                <a:ext uri="{FF2B5EF4-FFF2-40B4-BE49-F238E27FC236}">
                  <a16:creationId xmlns:a16="http://schemas.microsoft.com/office/drawing/2014/main" id="{334DD9B4-B60E-3A55-E557-ABAB1C6F98AB}"/>
                </a:ext>
              </a:extLst>
            </p:cNvPr>
            <p:cNvSpPr/>
            <p:nvPr/>
          </p:nvSpPr>
          <p:spPr>
            <a:xfrm>
              <a:off x="6862945" y="2016259"/>
              <a:ext cx="4849473" cy="439620"/>
            </a:xfrm>
            <a:prstGeom prst="rect">
              <a:avLst/>
            </a:prstGeom>
            <a:noFill/>
            <a:ln w="6350" cap="flat" cmpd="sng" algn="ctr">
              <a:noFill/>
              <a:prstDash val="solid"/>
              <a:miter lim="800000"/>
            </a:ln>
            <a:effectLst/>
          </p:spPr>
          <p:txBody>
            <a:bodyPr wrap="square" tIns="90000" bIns="90000" rtlCol="0" anchor="t">
              <a:noAutofit/>
            </a:bodyPr>
            <a:lstStyle/>
            <a:p>
              <a:pPr marL="0" marR="0" lvl="0" indent="0" algn="just" defTabSz="914400" rtl="0" eaLnBrk="1" fontAlgn="auto" latinLnBrk="0" hangingPunct="1">
                <a:lnSpc>
                  <a:spcPct val="100000"/>
                </a:lnSpc>
                <a:spcBef>
                  <a:spcPts val="0"/>
                </a:spcBef>
                <a:spcAft>
                  <a:spcPts val="0"/>
                </a:spcAft>
                <a:buClrTx/>
                <a:buSzTx/>
                <a:buFont typeface="Arial"/>
                <a:buNone/>
                <a:tabLst/>
                <a:defRPr/>
              </a:pPr>
              <a:r>
                <a:rPr kumimoji="0" lang="en-US" sz="10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“The overall efficacy of the medication and clinical benefit of using the 60,000 unit medication.”</a:t>
              </a:r>
            </a:p>
          </p:txBody>
        </p:sp>
        <p:cxnSp>
          <p:nvCxnSpPr>
            <p:cNvPr id="21" name="Straight Connector 20">
              <a:extLst>
                <a:ext uri="{FF2B5EF4-FFF2-40B4-BE49-F238E27FC236}">
                  <a16:creationId xmlns:a16="http://schemas.microsoft.com/office/drawing/2014/main" id="{C3E197A5-501B-28D6-74C9-DE012CC274CA}"/>
                </a:ext>
              </a:extLst>
            </p:cNvPr>
            <p:cNvCxnSpPr>
              <a:cxnSpLocks/>
            </p:cNvCxnSpPr>
            <p:nvPr/>
          </p:nvCxnSpPr>
          <p:spPr>
            <a:xfrm>
              <a:off x="6926218" y="2115230"/>
              <a:ext cx="4824000" cy="0"/>
            </a:xfrm>
            <a:prstGeom prst="line">
              <a:avLst/>
            </a:prstGeom>
            <a:noFill/>
            <a:ln w="19050" cap="rnd" cmpd="sng" algn="ctr">
              <a:solidFill>
                <a:schemeClr val="bg1">
                  <a:lumMod val="75000"/>
                </a:schemeClr>
              </a:solidFill>
              <a:prstDash val="solid"/>
              <a:round/>
            </a:ln>
            <a:effectLst/>
          </p:spPr>
        </p:cxnSp>
        <p:pic>
          <p:nvPicPr>
            <p:cNvPr id="22" name="Picture 2" hidden="1">
              <a:extLst>
                <a:ext uri="{FF2B5EF4-FFF2-40B4-BE49-F238E27FC236}">
                  <a16:creationId xmlns:a16="http://schemas.microsoft.com/office/drawing/2014/main" id="{5ACB83BD-E1A9-B117-D51B-530FC3CBF2C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45371" y="1939055"/>
              <a:ext cx="254300" cy="292485"/>
            </a:xfrm>
            <a:prstGeom prst="rect">
              <a:avLst/>
            </a:prstGeom>
            <a:solidFill>
              <a:schemeClr val="bg1"/>
            </a:solidFill>
          </p:spPr>
        </p:pic>
      </p:grpSp>
      <p:sp>
        <p:nvSpPr>
          <p:cNvPr id="11" name="Rectangle 10">
            <a:extLst>
              <a:ext uri="{FF2B5EF4-FFF2-40B4-BE49-F238E27FC236}">
                <a16:creationId xmlns:a16="http://schemas.microsoft.com/office/drawing/2014/main" id="{34B4A97A-5117-70DD-7E54-B083C9F89676}"/>
              </a:ext>
            </a:extLst>
          </p:cNvPr>
          <p:cNvSpPr/>
          <p:nvPr/>
        </p:nvSpPr>
        <p:spPr>
          <a:xfrm>
            <a:off x="4848225" y="5188225"/>
            <a:ext cx="4112896" cy="296169"/>
          </a:xfrm>
          <a:prstGeom prst="rect">
            <a:avLst/>
          </a:prstGeom>
          <a:noFill/>
          <a:ln w="6350" cap="flat" cmpd="sng" algn="ctr">
            <a:noFill/>
            <a:prstDash val="solid"/>
            <a:miter lim="800000"/>
          </a:ln>
          <a:effectLst/>
        </p:spPr>
        <p:txBody>
          <a:bodyPr wrap="square" tIns="90000" bIns="90000" rtlCol="0" anchor="t">
            <a:noAutofit/>
          </a:bodyPr>
          <a:lstStyle/>
          <a:p>
            <a:pPr marL="0" marR="0" lvl="0" indent="0" algn="just" defTabSz="914400" rtl="0" eaLnBrk="1" fontAlgn="auto" latinLnBrk="0" hangingPunct="1">
              <a:lnSpc>
                <a:spcPct val="100000"/>
              </a:lnSpc>
              <a:spcBef>
                <a:spcPts val="0"/>
              </a:spcBef>
              <a:spcAft>
                <a:spcPts val="0"/>
              </a:spcAft>
              <a:buClrTx/>
              <a:buSzTx/>
              <a:buFont typeface="Arial"/>
              <a:buNone/>
              <a:tabLst/>
              <a:defRPr/>
            </a:pPr>
            <a:r>
              <a:rPr kumimoji="0" lang="en-US" sz="1000" b="0" i="1" u="none" strike="noStrike" kern="120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"ZENPEP has many dosing options, including the highest dosing option available on the market with 60,000 units in one single pill, reducing pill burden for patients and also hopefully reducing cost as well. They have great support programs often covered by many insurances."</a:t>
            </a:r>
            <a:endParaRPr kumimoji="0" lang="en-US" sz="1000" b="0" i="1" u="none" strike="noStrike" kern="1200" cap="none" spc="0" normalizeH="0" baseline="0" noProof="0">
              <a:ln>
                <a:noFill/>
              </a:ln>
              <a:solidFill>
                <a:srgbClr val="071D49"/>
              </a:solidFill>
              <a:effectLst/>
              <a:highlight>
                <a:srgbClr val="FFFF00"/>
              </a:highlight>
              <a:uLnTx/>
              <a:uFillTx/>
              <a:latin typeface="Arial" panose="020B0604020202020204" pitchFamily="34" charset="0"/>
              <a:ea typeface="Calibri"/>
              <a:cs typeface="Arial" panose="020B0604020202020204" pitchFamily="34" charset="0"/>
              <a:sym typeface="Arial"/>
            </a:endParaRPr>
          </a:p>
        </p:txBody>
      </p:sp>
      <p:cxnSp>
        <p:nvCxnSpPr>
          <p:cNvPr id="12" name="Straight Connector 11">
            <a:extLst>
              <a:ext uri="{FF2B5EF4-FFF2-40B4-BE49-F238E27FC236}">
                <a16:creationId xmlns:a16="http://schemas.microsoft.com/office/drawing/2014/main" id="{AB48121D-7DB4-AAD8-947A-7B4DF3D0492F}"/>
              </a:ext>
            </a:extLst>
          </p:cNvPr>
          <p:cNvCxnSpPr>
            <a:cxnSpLocks/>
          </p:cNvCxnSpPr>
          <p:nvPr/>
        </p:nvCxnSpPr>
        <p:spPr>
          <a:xfrm>
            <a:off x="4848225" y="5279031"/>
            <a:ext cx="4112896" cy="0"/>
          </a:xfrm>
          <a:prstGeom prst="line">
            <a:avLst/>
          </a:prstGeom>
          <a:noFill/>
          <a:ln w="19050" cap="rnd" cmpd="sng" algn="ctr">
            <a:solidFill>
              <a:schemeClr val="bg1">
                <a:lumMod val="75000"/>
              </a:schemeClr>
            </a:solidFill>
            <a:prstDash val="solid"/>
            <a:round/>
          </a:ln>
          <a:effectLst/>
        </p:spPr>
      </p:cxnSp>
      <p:pic>
        <p:nvPicPr>
          <p:cNvPr id="13" name="Picture 2" hidden="1">
            <a:extLst>
              <a:ext uri="{FF2B5EF4-FFF2-40B4-BE49-F238E27FC236}">
                <a16:creationId xmlns:a16="http://schemas.microsoft.com/office/drawing/2014/main" id="{4B125193-C66F-F231-00D8-D263148FCC9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88781" y="5160343"/>
            <a:ext cx="199062" cy="197046"/>
          </a:xfrm>
          <a:prstGeom prst="rect">
            <a:avLst/>
          </a:prstGeom>
          <a:solidFill>
            <a:schemeClr val="bg1"/>
          </a:solidFill>
        </p:spPr>
      </p:pic>
      <p:grpSp>
        <p:nvGrpSpPr>
          <p:cNvPr id="8" name="Google Shape;762;p18">
            <a:extLst>
              <a:ext uri="{FF2B5EF4-FFF2-40B4-BE49-F238E27FC236}">
                <a16:creationId xmlns:a16="http://schemas.microsoft.com/office/drawing/2014/main" id="{BD975D6B-B4B6-1B90-76E9-F2ED4236DED5}"/>
              </a:ext>
            </a:extLst>
          </p:cNvPr>
          <p:cNvGrpSpPr/>
          <p:nvPr/>
        </p:nvGrpSpPr>
        <p:grpSpPr>
          <a:xfrm>
            <a:off x="7176293" y="1335539"/>
            <a:ext cx="1724109" cy="246181"/>
            <a:chOff x="4463437" y="6228283"/>
            <a:chExt cx="1724109" cy="246181"/>
          </a:xfrm>
        </p:grpSpPr>
        <p:sp>
          <p:nvSpPr>
            <p:cNvPr id="23" name="Google Shape;763;p18">
              <a:extLst>
                <a:ext uri="{FF2B5EF4-FFF2-40B4-BE49-F238E27FC236}">
                  <a16:creationId xmlns:a16="http://schemas.microsoft.com/office/drawing/2014/main" id="{BC82225C-F34B-B03A-38A6-F3C6D0F39032}"/>
                </a:ext>
              </a:extLst>
            </p:cNvPr>
            <p:cNvSpPr/>
            <p:nvPr/>
          </p:nvSpPr>
          <p:spPr>
            <a:xfrm>
              <a:off x="4463437"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rPr>
                <a:t>CREON</a:t>
              </a:r>
              <a:endParaRPr kumimoji="0" sz="14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endParaRPr>
            </a:p>
          </p:txBody>
        </p:sp>
        <p:sp>
          <p:nvSpPr>
            <p:cNvPr id="24" name="Google Shape;764;p18">
              <a:extLst>
                <a:ext uri="{FF2B5EF4-FFF2-40B4-BE49-F238E27FC236}">
                  <a16:creationId xmlns:a16="http://schemas.microsoft.com/office/drawing/2014/main" id="{85EBDC83-A2B8-7A2D-5D2E-B4568E08B16B}"/>
                </a:ext>
              </a:extLst>
            </p:cNvPr>
            <p:cNvSpPr/>
            <p:nvPr/>
          </p:nvSpPr>
          <p:spPr>
            <a:xfrm>
              <a:off x="4554923" y="6309966"/>
              <a:ext cx="91440" cy="91440"/>
            </a:xfrm>
            <a:prstGeom prst="ellipse">
              <a:avLst/>
            </a:prstGeom>
            <a:solidFill>
              <a:srgbClr val="36729C"/>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endParaRPr>
            </a:p>
          </p:txBody>
        </p:sp>
        <p:sp>
          <p:nvSpPr>
            <p:cNvPr id="25" name="Google Shape;765;p18">
              <a:extLst>
                <a:ext uri="{FF2B5EF4-FFF2-40B4-BE49-F238E27FC236}">
                  <a16:creationId xmlns:a16="http://schemas.microsoft.com/office/drawing/2014/main" id="{0E86B57A-087D-BE0F-FDAA-A036B6A95F34}"/>
                </a:ext>
              </a:extLst>
            </p:cNvPr>
            <p:cNvSpPr/>
            <p:nvPr/>
          </p:nvSpPr>
          <p:spPr>
            <a:xfrm>
              <a:off x="5316022" y="6228283"/>
              <a:ext cx="871524"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en-US" sz="10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rPr>
                <a:t>ZENPEP</a:t>
              </a:r>
              <a:endParaRPr kumimoji="0" sz="14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endParaRPr>
            </a:p>
          </p:txBody>
        </p:sp>
        <p:sp>
          <p:nvSpPr>
            <p:cNvPr id="26" name="Google Shape;766;p18">
              <a:extLst>
                <a:ext uri="{FF2B5EF4-FFF2-40B4-BE49-F238E27FC236}">
                  <a16:creationId xmlns:a16="http://schemas.microsoft.com/office/drawing/2014/main" id="{E2125D71-76FF-C36C-9053-7A5B51895E0C}"/>
                </a:ext>
              </a:extLst>
            </p:cNvPr>
            <p:cNvSpPr/>
            <p:nvPr/>
          </p:nvSpPr>
          <p:spPr>
            <a:xfrm>
              <a:off x="5375437" y="6309966"/>
              <a:ext cx="91440" cy="91440"/>
            </a:xfrm>
            <a:prstGeom prst="ellipse">
              <a:avLst/>
            </a:prstGeom>
            <a:solidFill>
              <a:srgbClr val="9778D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0" cap="none" spc="0" normalizeH="0" baseline="0" noProof="0">
                <a:ln>
                  <a:noFill/>
                </a:ln>
                <a:solidFill>
                  <a:srgbClr val="070605"/>
                </a:solidFill>
                <a:effectLst/>
                <a:uLnTx/>
                <a:uFillTx/>
                <a:latin typeface="Arial" panose="020B0604020202020204" pitchFamily="34" charset="0"/>
                <a:ea typeface="Calibri"/>
                <a:cs typeface="Arial" panose="020B0604020202020204" pitchFamily="34" charset="0"/>
                <a:sym typeface="Calibri"/>
              </a:endParaRPr>
            </a:p>
          </p:txBody>
        </p:sp>
      </p:grpSp>
      <p:sp>
        <p:nvSpPr>
          <p:cNvPr id="27" name="TextBox 26">
            <a:extLst>
              <a:ext uri="{FF2B5EF4-FFF2-40B4-BE49-F238E27FC236}">
                <a16:creationId xmlns:a16="http://schemas.microsoft.com/office/drawing/2014/main" id="{E83CA288-9595-FDA2-DC41-9D3449DC07E3}"/>
              </a:ext>
            </a:extLst>
          </p:cNvPr>
          <p:cNvSpPr txBox="1"/>
          <p:nvPr/>
        </p:nvSpPr>
        <p:spPr>
          <a:xfrm>
            <a:off x="7060562" y="729469"/>
            <a:ext cx="197450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hlinkClick r:id="rId8" action="ppaction://hlinksldjump"/>
              </a:rPr>
              <a:t>ZENPEP wave on wave data</a:t>
            </a:r>
            <a:endParaRPr kumimoji="0" lang="en-US" sz="1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 name="Legend_series_1">
            <a:extLst>
              <a:ext uri="{FF2B5EF4-FFF2-40B4-BE49-F238E27FC236}">
                <a16:creationId xmlns:a16="http://schemas.microsoft.com/office/drawing/2014/main" id="{81E68ED9-DE91-8D83-43C8-611D9CDAD0EB}"/>
              </a:ext>
            </a:extLst>
          </p:cNvPr>
          <p:cNvSpPr/>
          <p:nvPr/>
        </p:nvSpPr>
        <p:spPr>
          <a:xfrm>
            <a:off x="78148" y="1706232"/>
            <a:ext cx="108000" cy="108000"/>
          </a:xfrm>
          <a:prstGeom prst="rect">
            <a:avLst/>
          </a:prstGeom>
          <a:solidFill>
            <a:srgbClr val="009AD9"/>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1" name="Textbox_series_1">
            <a:extLst>
              <a:ext uri="{FF2B5EF4-FFF2-40B4-BE49-F238E27FC236}">
                <a16:creationId xmlns:a16="http://schemas.microsoft.com/office/drawing/2014/main" id="{1496DD8F-82AA-444D-24F2-5ABA28EBC097}"/>
              </a:ext>
            </a:extLst>
          </p:cNvPr>
          <p:cNvSpPr txBox="1"/>
          <p:nvPr/>
        </p:nvSpPr>
        <p:spPr>
          <a:xfrm>
            <a:off x="194731" y="1529399"/>
            <a:ext cx="1057232" cy="461665"/>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CREON </a:t>
            </a:r>
            <a:b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b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(Sep’25 – Oct’25)</a:t>
            </a: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GB" sz="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(n = 104)</a:t>
            </a:r>
            <a:endPar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endParaRPr>
          </a:p>
        </p:txBody>
      </p:sp>
      <p:sp>
        <p:nvSpPr>
          <p:cNvPr id="32" name="Legend_series_1">
            <a:extLst>
              <a:ext uri="{FF2B5EF4-FFF2-40B4-BE49-F238E27FC236}">
                <a16:creationId xmlns:a16="http://schemas.microsoft.com/office/drawing/2014/main" id="{ACE4E9B0-CB8A-718F-A719-CAF35F4C61E1}"/>
              </a:ext>
            </a:extLst>
          </p:cNvPr>
          <p:cNvSpPr/>
          <p:nvPr/>
        </p:nvSpPr>
        <p:spPr>
          <a:xfrm>
            <a:off x="1216253" y="1706231"/>
            <a:ext cx="108000" cy="108000"/>
          </a:xfrm>
          <a:prstGeom prst="rect">
            <a:avLst/>
          </a:prstGeom>
          <a:solidFill>
            <a:srgbClr val="D3B0FF"/>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3" name="Textbox_series_1">
            <a:extLst>
              <a:ext uri="{FF2B5EF4-FFF2-40B4-BE49-F238E27FC236}">
                <a16:creationId xmlns:a16="http://schemas.microsoft.com/office/drawing/2014/main" id="{B578757F-7698-6390-5301-8CFB0A1DE220}"/>
              </a:ext>
            </a:extLst>
          </p:cNvPr>
          <p:cNvSpPr txBox="1"/>
          <p:nvPr/>
        </p:nvSpPr>
        <p:spPr>
          <a:xfrm>
            <a:off x="1332838" y="1529398"/>
            <a:ext cx="1116977" cy="461665"/>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ZENPEP </a:t>
            </a:r>
            <a:b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br>
            <a:r>
              <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rPr>
              <a:t>(Sep’25 – Oct’25)</a:t>
            </a: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GB" sz="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rPr>
              <a:t>(n = 106)	</a:t>
            </a:r>
            <a:endParaRPr kumimoji="0" lang="en-IN" sz="800" b="0" i="0" u="none" strike="noStrike" kern="0" cap="none" spc="0" normalizeH="0" baseline="0" noProof="0">
              <a:ln>
                <a:noFill/>
              </a:ln>
              <a:solidFill>
                <a:srgbClr val="212529"/>
              </a:solidFill>
              <a:effectLst/>
              <a:uLnTx/>
              <a:uFillTx/>
              <a:latin typeface="Arial" panose="020B0604020202020204" pitchFamily="34" charset="0"/>
              <a:cs typeface="Arial" panose="020B0604020202020204" pitchFamily="34" charset="0"/>
              <a:sym typeface="Arial"/>
            </a:endParaRPr>
          </a:p>
        </p:txBody>
      </p:sp>
      <p:sp>
        <p:nvSpPr>
          <p:cNvPr id="34" name="Rectangle 33">
            <a:extLst>
              <a:ext uri="{FF2B5EF4-FFF2-40B4-BE49-F238E27FC236}">
                <a16:creationId xmlns:a16="http://schemas.microsoft.com/office/drawing/2014/main" id="{3B19209C-85CF-A56C-C83D-45EE17EEE895}"/>
              </a:ext>
            </a:extLst>
          </p:cNvPr>
          <p:cNvSpPr/>
          <p:nvPr/>
        </p:nvSpPr>
        <p:spPr>
          <a:xfrm>
            <a:off x="4343580" y="2045218"/>
            <a:ext cx="1585560" cy="1036254"/>
          </a:xfrm>
          <a:prstGeom prst="rect">
            <a:avLst/>
          </a:prstGeom>
          <a:noFill/>
          <a:ln w="19050">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25" b="0" i="0" u="none" strike="noStrike" kern="0" cap="none" spc="0" normalizeH="0" baseline="0" noProof="0">
                <a:ln>
                  <a:noFill/>
                </a:ln>
                <a:solidFill>
                  <a:srgbClr val="990033"/>
                </a:solidFill>
                <a:effectLst/>
                <a:uLnTx/>
                <a:uFillTx/>
                <a:latin typeface="Arial" panose="020B0604020202020204" pitchFamily="34" charset="0"/>
                <a:ea typeface="+mn-ea"/>
                <a:cs typeface="Arial" panose="020B0604020202020204" pitchFamily="34" charset="0"/>
                <a:sym typeface="Arial"/>
              </a:rPr>
              <a:t>ZENPEP’s Z17 message presents its 40K and 60K doses together: </a:t>
            </a:r>
            <a:r>
              <a:rPr kumimoji="0" lang="en-US" sz="800" b="1" i="0" u="none" strike="noStrike" kern="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rPr>
              <a:t>Only ZENPEP offers 40K and 60K lipase-unit capsules, which may help reduce the number of pills your adult patients need to take</a:t>
            </a:r>
            <a:endParaRPr kumimoji="0" lang="en-GB" sz="800" b="1" i="0" u="none" strike="noStrike" kern="0" cap="none" spc="0" normalizeH="0" baseline="0" noProof="0">
              <a:ln>
                <a:noFill/>
              </a:ln>
              <a:solidFill>
                <a:srgbClr val="071D49"/>
              </a:solidFill>
              <a:effectLst/>
              <a:uLnTx/>
              <a:uFillTx/>
              <a:latin typeface="Arial" panose="020B0604020202020204" pitchFamily="34" charset="0"/>
              <a:ea typeface="+mn-ea"/>
              <a:cs typeface="Arial" panose="020B0604020202020204" pitchFamily="34" charset="0"/>
              <a:sym typeface="Arial"/>
            </a:endParaRPr>
          </a:p>
        </p:txBody>
      </p:sp>
      <p:sp>
        <p:nvSpPr>
          <p:cNvPr id="41" name="TextBox 40">
            <a:extLst>
              <a:ext uri="{FF2B5EF4-FFF2-40B4-BE49-F238E27FC236}">
                <a16:creationId xmlns:a16="http://schemas.microsoft.com/office/drawing/2014/main" id="{9F674851-B906-B216-AFBA-A958E0C66E0F}"/>
              </a:ext>
            </a:extLst>
          </p:cNvPr>
          <p:cNvSpPr txBox="1"/>
          <p:nvPr/>
        </p:nvSpPr>
        <p:spPr>
          <a:xfrm>
            <a:off x="6300907" y="3755174"/>
            <a:ext cx="208617"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30000" noProof="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sym typeface="Arial"/>
              </a:rPr>
              <a:t>#</a:t>
            </a:r>
            <a:endParaRPr kumimoji="0" lang="en-IN" sz="11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 name="Highlight#32">
            <a:extLst>
              <a:ext uri="{FF2B5EF4-FFF2-40B4-BE49-F238E27FC236}">
                <a16:creationId xmlns:a16="http://schemas.microsoft.com/office/drawing/2014/main" id="{FD7C682D-E4A7-D58D-4294-525F434CF30D}"/>
              </a:ext>
            </a:extLst>
          </p:cNvPr>
          <p:cNvSpPr txBox="1"/>
          <p:nvPr/>
        </p:nvSpPr>
        <p:spPr>
          <a:xfrm>
            <a:off x="2316320" y="3488529"/>
            <a:ext cx="3105930" cy="2880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 name="Highlight#32">
            <a:extLst>
              <a:ext uri="{FF2B5EF4-FFF2-40B4-BE49-F238E27FC236}">
                <a16:creationId xmlns:a16="http://schemas.microsoft.com/office/drawing/2014/main" id="{D9DF1BC9-CD59-620A-6AE2-22ABBFD49BF5}"/>
              </a:ext>
            </a:extLst>
          </p:cNvPr>
          <p:cNvSpPr txBox="1"/>
          <p:nvPr/>
        </p:nvSpPr>
        <p:spPr>
          <a:xfrm>
            <a:off x="5929140" y="3265043"/>
            <a:ext cx="3105930" cy="2520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 name="Highlight#32">
            <a:extLst>
              <a:ext uri="{FF2B5EF4-FFF2-40B4-BE49-F238E27FC236}">
                <a16:creationId xmlns:a16="http://schemas.microsoft.com/office/drawing/2014/main" id="{49C092EC-ED2E-2456-FEF8-DB1FE53067F9}"/>
              </a:ext>
            </a:extLst>
          </p:cNvPr>
          <p:cNvSpPr txBox="1"/>
          <p:nvPr/>
        </p:nvSpPr>
        <p:spPr>
          <a:xfrm>
            <a:off x="5929139" y="3768383"/>
            <a:ext cx="3156141" cy="2520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1315447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564CF5-8CBE-4B7D-ADC9-85FC77679EE9}"/>
              </a:ext>
            </a:extLst>
          </p:cNvPr>
          <p:cNvSpPr>
            <a:spLocks noGrp="1"/>
          </p:cNvSpPr>
          <p:nvPr>
            <p:ph type="ctrTitle" idx="4294967295"/>
          </p:nvPr>
        </p:nvSpPr>
        <p:spPr>
          <a:xfrm>
            <a:off x="0" y="2235200"/>
            <a:ext cx="6858000" cy="2387600"/>
          </a:xfrm>
        </p:spPr>
        <p:txBody>
          <a:bodyPr/>
          <a:lstStyle/>
          <a:p>
            <a:r>
              <a:rPr lang="en-US"/>
              <a:t>Appendix</a:t>
            </a:r>
          </a:p>
        </p:txBody>
      </p:sp>
    </p:spTree>
    <p:extLst>
      <p:ext uri="{BB962C8B-B14F-4D97-AF65-F5344CB8AC3E}">
        <p14:creationId xmlns:p14="http://schemas.microsoft.com/office/powerpoint/2010/main" val="21649151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76"/>
        <p:cNvGrpSpPr/>
        <p:nvPr/>
      </p:nvGrpSpPr>
      <p:grpSpPr>
        <a:xfrm>
          <a:off x="0" y="0"/>
          <a:ext cx="0" cy="0"/>
          <a:chOff x="0" y="0"/>
          <a:chExt cx="0" cy="0"/>
        </a:xfrm>
      </p:grpSpPr>
      <p:graphicFrame>
        <p:nvGraphicFramePr>
          <p:cNvPr id="177" name="Google Shape;177;p4"/>
          <p:cNvGraphicFramePr/>
          <p:nvPr>
            <p:custDataLst>
              <p:tags r:id="rId1"/>
            </p:custDataLst>
          </p:nvPr>
        </p:nvGraphicFramePr>
        <p:xfrm>
          <a:off x="233444" y="1090534"/>
          <a:ext cx="8712002" cy="5173108"/>
        </p:xfrm>
        <a:graphic>
          <a:graphicData uri="http://schemas.openxmlformats.org/drawingml/2006/table">
            <a:tbl>
              <a:tblPr firstRow="1" firstCol="1" bandRow="1">
                <a:noFill/>
                <a:tableStyleId>{96BACEE3-1A1D-4107-9369-2142449FF59F}</a:tableStyleId>
              </a:tblPr>
              <a:tblGrid>
                <a:gridCol w="2329819">
                  <a:extLst>
                    <a:ext uri="{9D8B030D-6E8A-4147-A177-3AD203B41FA5}">
                      <a16:colId xmlns:a16="http://schemas.microsoft.com/office/drawing/2014/main" val="20000"/>
                    </a:ext>
                  </a:extLst>
                </a:gridCol>
                <a:gridCol w="6382183">
                  <a:extLst>
                    <a:ext uri="{9D8B030D-6E8A-4147-A177-3AD203B41FA5}">
                      <a16:colId xmlns:a16="http://schemas.microsoft.com/office/drawing/2014/main" val="20001"/>
                    </a:ext>
                  </a:extLst>
                </a:gridCol>
              </a:tblGrid>
              <a:tr h="368749">
                <a:tc>
                  <a:txBody>
                    <a:bodyPr/>
                    <a:lstStyle/>
                    <a:p>
                      <a:pPr marL="0" marR="0" lvl="0" indent="0" algn="ctr" rtl="0">
                        <a:spcBef>
                          <a:spcPts val="0"/>
                        </a:spcBef>
                        <a:spcAft>
                          <a:spcPts val="0"/>
                        </a:spcAft>
                        <a:buNone/>
                      </a:pPr>
                      <a:r>
                        <a:rPr lang="en-US" sz="1200" u="none">
                          <a:solidFill>
                            <a:schemeClr val="lt1"/>
                          </a:solidFill>
                          <a:latin typeface="+mj-lt"/>
                          <a:ea typeface="Calibri"/>
                          <a:cs typeface="Calibri"/>
                          <a:sym typeface="Calibri"/>
                        </a:rPr>
                        <a:t>Symbol / Term</a:t>
                      </a:r>
                      <a:endParaRPr sz="1200" u="none">
                        <a:solidFill>
                          <a:schemeClr val="lt1"/>
                        </a:solidFill>
                        <a:latin typeface="+mj-lt"/>
                        <a:ea typeface="Calibri"/>
                        <a:cs typeface="Calibri"/>
                        <a:sym typeface="Calibri"/>
                      </a:endParaRPr>
                    </a:p>
                  </a:txBody>
                  <a:tcPr marL="99725" marR="132975" marT="66475" marB="66475" anchor="ctr">
                    <a:lnL w="9525" cap="flat" cmpd="sng">
                      <a:solidFill>
                        <a:srgbClr val="544332"/>
                      </a:solidFill>
                      <a:prstDash val="solid"/>
                      <a:round/>
                      <a:headEnd type="none" w="sm" len="sm"/>
                      <a:tailEnd type="none" w="sm" len="sm"/>
                    </a:lnL>
                    <a:lnR w="12700" cap="flat" cmpd="sng">
                      <a:solidFill>
                        <a:srgbClr val="A5A5A5"/>
                      </a:solidFill>
                      <a:prstDash val="solid"/>
                      <a:round/>
                      <a:headEnd type="none" w="sm" len="sm"/>
                      <a:tailEnd type="none" w="sm" len="sm"/>
                    </a:lnR>
                    <a:lnT w="9525" cap="flat" cmpd="sng">
                      <a:solidFill>
                        <a:srgbClr val="544332"/>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071D49"/>
                    </a:solidFill>
                  </a:tcPr>
                </a:tc>
                <a:tc>
                  <a:txBody>
                    <a:bodyPr/>
                    <a:lstStyle/>
                    <a:p>
                      <a:pPr marL="0" marR="0" lvl="0" indent="0" algn="ctr" rtl="0">
                        <a:spcBef>
                          <a:spcPts val="0"/>
                        </a:spcBef>
                        <a:spcAft>
                          <a:spcPts val="0"/>
                        </a:spcAft>
                        <a:buNone/>
                      </a:pPr>
                      <a:r>
                        <a:rPr lang="en-US" sz="1200">
                          <a:solidFill>
                            <a:schemeClr val="lt1"/>
                          </a:solidFill>
                          <a:latin typeface="+mj-lt"/>
                          <a:ea typeface="Calibri"/>
                          <a:cs typeface="Calibri"/>
                          <a:sym typeface="Calibri"/>
                        </a:rPr>
                        <a:t>Definition</a:t>
                      </a:r>
                      <a:endParaRPr sz="1200" b="1">
                        <a:solidFill>
                          <a:schemeClr val="lt1"/>
                        </a:solidFill>
                        <a:latin typeface="+mj-lt"/>
                        <a:ea typeface="Calibri"/>
                        <a:cs typeface="Calibri"/>
                        <a:sym typeface="Calibri"/>
                      </a:endParaRPr>
                    </a:p>
                  </a:txBody>
                  <a:tcPr marL="91451" marR="91451" marT="45725" marB="45725" anchor="ctr">
                    <a:lnL w="12700" cap="flat" cmpd="sng">
                      <a:solidFill>
                        <a:srgbClr val="A5A5A5"/>
                      </a:solidFill>
                      <a:prstDash val="solid"/>
                      <a:round/>
                      <a:headEnd type="none" w="sm" len="sm"/>
                      <a:tailEnd type="none" w="sm" len="sm"/>
                    </a:lnL>
                    <a:lnR w="9525" cap="flat" cmpd="sng">
                      <a:solidFill>
                        <a:srgbClr val="544332"/>
                      </a:solidFill>
                      <a:prstDash val="solid"/>
                      <a:round/>
                      <a:headEnd type="none" w="sm" len="sm"/>
                      <a:tailEnd type="none" w="sm" len="sm"/>
                    </a:lnR>
                    <a:lnT w="9525" cap="flat" cmpd="sng">
                      <a:solidFill>
                        <a:srgbClr val="544332"/>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071D49"/>
                    </a:solidFill>
                  </a:tcPr>
                </a:tc>
                <a:extLst>
                  <a:ext uri="{0D108BD9-81ED-4DB2-BD59-A6C34878D82A}">
                    <a16:rowId xmlns:a16="http://schemas.microsoft.com/office/drawing/2014/main" val="10000"/>
                  </a:ext>
                </a:extLst>
              </a:tr>
              <a:tr h="320293">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Interaction / Detail</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lnSpc>
                          <a:spcPct val="100000"/>
                        </a:lnSpc>
                        <a:spcBef>
                          <a:spcPts val="0"/>
                        </a:spcBef>
                        <a:spcAft>
                          <a:spcPts val="0"/>
                        </a:spcAft>
                        <a:buClr>
                          <a:srgbClr val="2F2F26"/>
                        </a:buClr>
                        <a:buSzPts val="1200"/>
                        <a:buFont typeface="Calibri"/>
                        <a:buNone/>
                      </a:pPr>
                      <a:r>
                        <a:rPr lang="en-US" sz="1200" b="0">
                          <a:solidFill>
                            <a:srgbClr val="2F2F26"/>
                          </a:solidFill>
                          <a:latin typeface="+mj-lt"/>
                          <a:ea typeface="Calibri"/>
                          <a:cs typeface="Calibri"/>
                          <a:sym typeface="Calibri"/>
                        </a:rPr>
                        <a:t>A live meeting, either in-person or virtual, between a rep and a physician</a:t>
                      </a:r>
                      <a:endParaRPr lang="en-US" sz="13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1"/>
                  </a:ext>
                </a:extLst>
              </a:tr>
              <a:tr h="320293">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Wave</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lnSpc>
                          <a:spcPct val="100000"/>
                        </a:lnSpc>
                        <a:spcBef>
                          <a:spcPts val="0"/>
                        </a:spcBef>
                        <a:spcAft>
                          <a:spcPts val="0"/>
                        </a:spcAft>
                        <a:buClr>
                          <a:srgbClr val="2F2F26"/>
                        </a:buClr>
                        <a:buSzPts val="1200"/>
                        <a:buFont typeface="Calibri"/>
                        <a:buNone/>
                      </a:pPr>
                      <a:r>
                        <a:rPr lang="en-US" sz="1200" b="0">
                          <a:solidFill>
                            <a:srgbClr val="2F2F26"/>
                          </a:solidFill>
                          <a:latin typeface="+mj-lt"/>
                          <a:ea typeface="Calibri"/>
                          <a:cs typeface="Calibri"/>
                          <a:sym typeface="Calibri"/>
                        </a:rPr>
                        <a:t>Specific time frame during which the survey is fielded</a:t>
                      </a:r>
                      <a:endParaRPr lang="en-US" sz="13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2"/>
                  </a:ext>
                </a:extLst>
              </a:tr>
              <a:tr h="320293">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n-size</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lnSpc>
                          <a:spcPct val="100000"/>
                        </a:lnSpc>
                        <a:spcBef>
                          <a:spcPts val="0"/>
                        </a:spcBef>
                        <a:spcAft>
                          <a:spcPts val="0"/>
                        </a:spcAft>
                        <a:buClr>
                          <a:srgbClr val="2F2F26"/>
                        </a:buClr>
                        <a:buSzPts val="1200"/>
                        <a:buFont typeface="Calibri"/>
                        <a:buNone/>
                      </a:pPr>
                      <a:r>
                        <a:rPr lang="en-US" sz="1200" b="0">
                          <a:solidFill>
                            <a:srgbClr val="2F2F26"/>
                          </a:solidFill>
                          <a:latin typeface="+mj-lt"/>
                          <a:ea typeface="Calibri"/>
                          <a:cs typeface="Calibri"/>
                          <a:sym typeface="Calibri"/>
                        </a:rPr>
                        <a:t>The number of unique HCPs for a given sample</a:t>
                      </a:r>
                      <a:endParaRPr lang="en-US" sz="13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3"/>
                  </a:ext>
                </a:extLst>
              </a:tr>
              <a:tr h="320293">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s-size</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lgn="ctr">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spcBef>
                          <a:spcPts val="0"/>
                        </a:spcBef>
                        <a:spcAft>
                          <a:spcPts val="0"/>
                        </a:spcAft>
                        <a:buNone/>
                      </a:pPr>
                      <a:r>
                        <a:rPr lang="en-US" sz="1200" b="0">
                          <a:solidFill>
                            <a:srgbClr val="2F2F26"/>
                          </a:solidFill>
                          <a:latin typeface="+mj-lt"/>
                          <a:ea typeface="Calibri"/>
                          <a:cs typeface="Calibri"/>
                          <a:sym typeface="Calibri"/>
                        </a:rPr>
                        <a:t>The number of interactions (or details) for a given sample</a:t>
                      </a:r>
                      <a:endParaRPr lang="en-US" sz="1300">
                        <a:latin typeface="+mj-lt"/>
                      </a:endParaRPr>
                    </a:p>
                  </a:txBody>
                  <a:tcPr marL="91451" marR="91451" marT="45725" marB="45725" anchor="ctr">
                    <a:lnL w="9525" cap="flat" cmpd="sng" algn="ctr">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5"/>
                  </a:ext>
                </a:extLst>
              </a:tr>
              <a:tr h="533815">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Reach</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lnSpc>
                          <a:spcPct val="100000"/>
                        </a:lnSpc>
                        <a:spcBef>
                          <a:spcPts val="0"/>
                        </a:spcBef>
                        <a:spcAft>
                          <a:spcPts val="0"/>
                        </a:spcAft>
                        <a:buClr>
                          <a:srgbClr val="2F2F26"/>
                        </a:buClr>
                        <a:buSzPts val="1200"/>
                        <a:buFont typeface="Calibri"/>
                        <a:buNone/>
                      </a:pPr>
                      <a:r>
                        <a:rPr lang="en-US" sz="1200" b="0">
                          <a:solidFill>
                            <a:srgbClr val="2F2F26"/>
                          </a:solidFill>
                          <a:latin typeface="+mj-lt"/>
                          <a:ea typeface="Calibri"/>
                          <a:cs typeface="Calibri"/>
                          <a:sym typeface="Calibri"/>
                        </a:rPr>
                        <a:t>The proportion of HCPs who have had a reported a sales promotion for a product among all HCPs that took the survey (including those that screened out)</a:t>
                      </a:r>
                      <a:endParaRPr lang="en-US" sz="13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6"/>
                  </a:ext>
                </a:extLst>
              </a:tr>
              <a:tr h="320293">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Frequency</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tc>
                  <a:txBody>
                    <a:bodyPr/>
                    <a:lstStyle/>
                    <a:p>
                      <a:pPr marL="0" marR="0" lvl="0" indent="0" algn="ctr" rtl="0">
                        <a:lnSpc>
                          <a:spcPct val="100000"/>
                        </a:lnSpc>
                        <a:spcBef>
                          <a:spcPts val="0"/>
                        </a:spcBef>
                        <a:spcAft>
                          <a:spcPts val="0"/>
                        </a:spcAft>
                        <a:buClr>
                          <a:srgbClr val="2F2F26"/>
                        </a:buClr>
                        <a:buSzPts val="1200"/>
                        <a:buFont typeface="Calibri"/>
                        <a:buNone/>
                      </a:pPr>
                      <a:r>
                        <a:rPr lang="en-US" sz="1200" b="0">
                          <a:solidFill>
                            <a:srgbClr val="2F2F26"/>
                          </a:solidFill>
                          <a:latin typeface="+mj-lt"/>
                          <a:ea typeface="Calibri"/>
                          <a:cs typeface="Calibri"/>
                          <a:sym typeface="Calibri"/>
                        </a:rPr>
                        <a:t>Average number of sales promotions per HCP for a product reported during the wave</a:t>
                      </a:r>
                      <a:endParaRPr lang="en-US" sz="13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extLst>
                  <a:ext uri="{0D108BD9-81ED-4DB2-BD59-A6C34878D82A}">
                    <a16:rowId xmlns:a16="http://schemas.microsoft.com/office/drawing/2014/main" val="10007"/>
                  </a:ext>
                </a:extLst>
              </a:tr>
              <a:tr h="533815">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Share of Voice</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lgn="ctr">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tc>
                  <a:txBody>
                    <a:bodyPr/>
                    <a:lstStyle/>
                    <a:p>
                      <a:pPr marL="0" marR="0" lvl="0" indent="0" algn="ctr" rtl="0">
                        <a:spcBef>
                          <a:spcPts val="0"/>
                        </a:spcBef>
                        <a:spcAft>
                          <a:spcPts val="0"/>
                        </a:spcAft>
                        <a:buNone/>
                      </a:pPr>
                      <a:r>
                        <a:rPr lang="en-US" sz="1200" b="0">
                          <a:solidFill>
                            <a:srgbClr val="2F2F26"/>
                          </a:solidFill>
                          <a:latin typeface="+mj-lt"/>
                          <a:ea typeface="Calibri"/>
                          <a:cs typeface="Calibri"/>
                          <a:sym typeface="Calibri"/>
                        </a:rPr>
                        <a:t>The ratio of promotions regarding a company/product combination to the number of total promotions on all the company/products in the MS market</a:t>
                      </a:r>
                      <a:endParaRPr sz="1200" b="0">
                        <a:solidFill>
                          <a:srgbClr val="2F2F26"/>
                        </a:solidFill>
                        <a:latin typeface="+mj-lt"/>
                        <a:ea typeface="Calibri"/>
                        <a:cs typeface="Calibri"/>
                        <a:sym typeface="Calibri"/>
                      </a:endParaRPr>
                    </a:p>
                  </a:txBody>
                  <a:tcPr marL="91451" marR="91451" marT="45725" marB="45725" anchor="ctr">
                    <a:lnL w="9525" cap="flat" cmpd="sng" algn="ctr">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extLst>
                  <a:ext uri="{0D108BD9-81ED-4DB2-BD59-A6C34878D82A}">
                    <a16:rowId xmlns:a16="http://schemas.microsoft.com/office/drawing/2014/main" val="3179045691"/>
                  </a:ext>
                </a:extLst>
              </a:tr>
              <a:tr h="747339">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Personal Promotions / Personal Promotional Channels</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lgn="ctr">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ctr" rtl="0">
                        <a:spcBef>
                          <a:spcPts val="0"/>
                        </a:spcBef>
                        <a:spcAft>
                          <a:spcPts val="0"/>
                        </a:spcAft>
                        <a:buNone/>
                      </a:pPr>
                      <a:r>
                        <a:rPr lang="en-US" sz="1200" b="1">
                          <a:solidFill>
                            <a:srgbClr val="2F2F26"/>
                          </a:solidFill>
                          <a:latin typeface="+mj-lt"/>
                          <a:ea typeface="Calibri"/>
                          <a:cs typeface="Calibri"/>
                          <a:sym typeface="Calibri"/>
                        </a:rPr>
                        <a:t>Personal Promotions / Personal Promotional Channels</a:t>
                      </a:r>
                      <a:r>
                        <a:rPr lang="en-US" sz="1200" b="0">
                          <a:solidFill>
                            <a:srgbClr val="2F2F26"/>
                          </a:solidFill>
                          <a:latin typeface="+mj-lt"/>
                          <a:ea typeface="Calibri"/>
                          <a:cs typeface="Calibri"/>
                          <a:sym typeface="Calibri"/>
                        </a:rPr>
                        <a:t> include </a:t>
                      </a:r>
                      <a:r>
                        <a:rPr lang="en-US" sz="1200" b="0">
                          <a:solidFill>
                            <a:srgbClr val="2F2F26"/>
                          </a:solidFill>
                          <a:latin typeface="+mj-lt"/>
                          <a:ea typeface="Calibri"/>
                          <a:cs typeface="Calibri"/>
                        </a:rPr>
                        <a:t>In-person/Video/Phone call rep detail, In-person/Virtual lunch and learn, In-person/Virtual speaker program, Live dinner, Email/Text from rep</a:t>
                      </a:r>
                      <a:endParaRPr sz="1200" b="0">
                        <a:solidFill>
                          <a:srgbClr val="2F2F26"/>
                        </a:solidFill>
                        <a:latin typeface="+mj-lt"/>
                        <a:ea typeface="Calibri"/>
                        <a:cs typeface="Calibri"/>
                        <a:sym typeface="Calibri"/>
                      </a:endParaRPr>
                    </a:p>
                  </a:txBody>
                  <a:tcPr marL="91451" marR="91451" marT="45725" marB="45725" anchor="ctr">
                    <a:lnL w="9525" cap="flat" cmpd="sng" algn="ctr">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987294786"/>
                  </a:ext>
                </a:extLst>
              </a:tr>
              <a:tr h="747339">
                <a:tc>
                  <a:txBody>
                    <a:bodyPr/>
                    <a:lstStyle/>
                    <a:p>
                      <a:pPr marL="0" marR="0" lvl="0" indent="0" algn="ctr" rtl="0">
                        <a:spcBef>
                          <a:spcPts val="0"/>
                        </a:spcBef>
                        <a:spcAft>
                          <a:spcPts val="0"/>
                        </a:spcAft>
                        <a:buNone/>
                      </a:pPr>
                      <a:r>
                        <a:rPr kumimoji="0" lang="en-US" sz="1200" b="1" i="0" u="none" strike="noStrike" kern="0" cap="none" spc="0" normalizeH="0" baseline="0" noProof="0">
                          <a:ln>
                            <a:noFill/>
                          </a:ln>
                          <a:solidFill>
                            <a:srgbClr val="2F2F26"/>
                          </a:solidFill>
                          <a:effectLst/>
                          <a:uLnTx/>
                          <a:uFillTx/>
                          <a:latin typeface="+mj-lt"/>
                          <a:ea typeface="Calibri"/>
                          <a:cs typeface="Calibri"/>
                          <a:sym typeface="Calibri"/>
                        </a:rPr>
                        <a:t>Non-Personal Promotions / Non-Personal Promotional Channels</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lgn="ctr">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tc>
                  <a:txBody>
                    <a:bodyPr/>
                    <a:lstStyle/>
                    <a:p>
                      <a:pPr marL="0" marR="0" lvl="0" indent="0" algn="ctr" rtl="0">
                        <a:spcBef>
                          <a:spcPts val="0"/>
                        </a:spcBef>
                        <a:spcAft>
                          <a:spcPts val="0"/>
                        </a:spcAft>
                        <a:buNone/>
                      </a:pPr>
                      <a:r>
                        <a:rPr kumimoji="0" lang="en-US" sz="1200" b="1" i="0" u="none" strike="noStrike" kern="0" cap="none" spc="0" normalizeH="0" baseline="0" noProof="0">
                          <a:ln>
                            <a:noFill/>
                          </a:ln>
                          <a:solidFill>
                            <a:srgbClr val="2F2F26"/>
                          </a:solidFill>
                          <a:effectLst/>
                          <a:uLnTx/>
                          <a:uFillTx/>
                          <a:latin typeface="+mj-lt"/>
                          <a:ea typeface="Calibri"/>
                          <a:cs typeface="Calibri"/>
                          <a:sym typeface="Calibri"/>
                        </a:rPr>
                        <a:t>Non-Personal Promotions / Non-Personal Promotional Channels</a:t>
                      </a:r>
                      <a:r>
                        <a:rPr kumimoji="0" lang="en-US" sz="1200" b="0" i="0" u="none" strike="noStrike" kern="0" cap="none" spc="0" normalizeH="0" baseline="0" noProof="0">
                          <a:ln>
                            <a:noFill/>
                          </a:ln>
                          <a:solidFill>
                            <a:srgbClr val="2F2F26"/>
                          </a:solidFill>
                          <a:effectLst/>
                          <a:uLnTx/>
                          <a:uFillTx/>
                          <a:latin typeface="+mj-lt"/>
                          <a:ea typeface="Calibri"/>
                          <a:cs typeface="Calibri"/>
                          <a:sym typeface="Calibri"/>
                        </a:rPr>
                        <a:t> include Drug Samples, Print/Digital Aids, Email from manufacturer, In-person/Virtual conventions, Websites, Social media posts</a:t>
                      </a:r>
                      <a:endParaRPr sz="1200" b="0">
                        <a:solidFill>
                          <a:srgbClr val="2F2F26"/>
                        </a:solidFill>
                        <a:latin typeface="+mj-lt"/>
                        <a:ea typeface="Calibri"/>
                        <a:cs typeface="Calibri"/>
                        <a:sym typeface="Calibri"/>
                      </a:endParaRPr>
                    </a:p>
                  </a:txBody>
                  <a:tcPr marL="91451" marR="91451" marT="45725" marB="45725" anchor="ctr">
                    <a:lnL w="9525" cap="flat" cmpd="sng" algn="ctr">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extLst>
                  <a:ext uri="{0D108BD9-81ED-4DB2-BD59-A6C34878D82A}">
                    <a16:rowId xmlns:a16="http://schemas.microsoft.com/office/drawing/2014/main" val="1279972269"/>
                  </a:ext>
                </a:extLst>
              </a:tr>
              <a:tr h="320293">
                <a:tc>
                  <a:txBody>
                    <a:bodyPr/>
                    <a:lstStyle/>
                    <a:p>
                      <a:pPr marL="0" marR="0" lvl="0" indent="0" algn="ctr" rtl="0">
                        <a:spcBef>
                          <a:spcPts val="0"/>
                        </a:spcBef>
                        <a:spcAft>
                          <a:spcPts val="0"/>
                        </a:spcAft>
                        <a:buNone/>
                      </a:pPr>
                      <a:r>
                        <a:rPr kumimoji="0" lang="en-US" sz="1200" b="1" i="0" u="none" strike="noStrike" kern="0" cap="none" spc="0" normalizeH="0" baseline="0" noProof="0">
                          <a:ln>
                            <a:noFill/>
                          </a:ln>
                          <a:solidFill>
                            <a:srgbClr val="2F2F26"/>
                          </a:solidFill>
                          <a:effectLst/>
                          <a:uLnTx/>
                          <a:uFillTx/>
                          <a:latin typeface="+mj-lt"/>
                          <a:ea typeface="Calibri"/>
                          <a:cs typeface="Calibri"/>
                          <a:sym typeface="Calibri"/>
                        </a:rPr>
                        <a:t>Consumer Tactics</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tc>
                  <a:txBody>
                    <a:bodyPr/>
                    <a:lstStyle/>
                    <a:p>
                      <a:pPr marL="0" marR="0" lvl="0" indent="0" algn="ctr" rtl="0">
                        <a:spcBef>
                          <a:spcPts val="0"/>
                        </a:spcBef>
                        <a:spcAft>
                          <a:spcPts val="0"/>
                        </a:spcAft>
                        <a:buNone/>
                      </a:pPr>
                      <a:r>
                        <a:rPr kumimoji="0" lang="en-US" sz="1200" b="1" i="0" u="none" strike="noStrike" kern="0" cap="none" spc="0" normalizeH="0" baseline="0" noProof="0">
                          <a:ln>
                            <a:noFill/>
                          </a:ln>
                          <a:solidFill>
                            <a:srgbClr val="2F2F26"/>
                          </a:solidFill>
                          <a:effectLst/>
                          <a:uLnTx/>
                          <a:uFillTx/>
                          <a:latin typeface="+mj-lt"/>
                          <a:ea typeface="Calibri"/>
                          <a:cs typeface="Calibri"/>
                          <a:sym typeface="Calibri"/>
                        </a:rPr>
                        <a:t>Consumer Tactics</a:t>
                      </a:r>
                      <a:r>
                        <a:rPr kumimoji="0" lang="en-US" sz="1200" b="0" i="0" u="none" strike="noStrike" kern="0" cap="none" spc="0" normalizeH="0" baseline="0" noProof="0">
                          <a:ln>
                            <a:noFill/>
                          </a:ln>
                          <a:solidFill>
                            <a:srgbClr val="2F2F26"/>
                          </a:solidFill>
                          <a:effectLst/>
                          <a:uLnTx/>
                          <a:uFillTx/>
                          <a:latin typeface="+mj-lt"/>
                          <a:ea typeface="Calibri"/>
                          <a:cs typeface="Calibri"/>
                          <a:sym typeface="Calibri"/>
                        </a:rPr>
                        <a:t> include In-office advertising to patients, TV ads</a:t>
                      </a:r>
                      <a:endParaRPr sz="1200" b="0">
                        <a:solidFill>
                          <a:srgbClr val="2F2F26"/>
                        </a:solidFill>
                        <a:latin typeface="+mj-lt"/>
                        <a:ea typeface="Calibri"/>
                        <a:cs typeface="Calibri"/>
                        <a:sym typeface="Calibri"/>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lgn="ctr">
                      <a:solidFill>
                        <a:srgbClr val="BFBFBF"/>
                      </a:solidFill>
                      <a:prstDash val="dash"/>
                      <a:round/>
                      <a:headEnd type="none" w="sm" len="sm"/>
                      <a:tailEnd type="none" w="sm" len="sm"/>
                    </a:lnB>
                  </a:tcPr>
                </a:tc>
                <a:extLst>
                  <a:ext uri="{0D108BD9-81ED-4DB2-BD59-A6C34878D82A}">
                    <a16:rowId xmlns:a16="http://schemas.microsoft.com/office/drawing/2014/main" val="10008"/>
                  </a:ext>
                </a:extLst>
              </a:tr>
              <a:tr h="320293">
                <a:tc>
                  <a:txBody>
                    <a:bodyPr/>
                    <a:lstStyle/>
                    <a:p>
                      <a:pPr marL="0" marR="0" lvl="0" indent="0" algn="ctr" defTabSz="685800" rtl="0" eaLnBrk="1" latinLnBrk="0" hangingPunct="1">
                        <a:spcBef>
                          <a:spcPts val="0"/>
                        </a:spcBef>
                        <a:spcAft>
                          <a:spcPts val="0"/>
                        </a:spcAft>
                        <a:buNone/>
                      </a:pPr>
                      <a:r>
                        <a:rPr kumimoji="0" lang="en-IN" sz="1200" b="1" i="0" u="none" strike="noStrike" kern="0" cap="none" spc="0" normalizeH="0" baseline="0">
                          <a:ln>
                            <a:noFill/>
                          </a:ln>
                          <a:solidFill>
                            <a:srgbClr val="2F2F26"/>
                          </a:solidFill>
                          <a:effectLst/>
                          <a:uLnTx/>
                          <a:uFillTx/>
                          <a:latin typeface="+mj-lt"/>
                          <a:ea typeface="Calibri"/>
                          <a:cs typeface="Calibri"/>
                        </a:rPr>
                        <a:t>Orange vertical line</a:t>
                      </a:r>
                      <a:endParaRPr kumimoji="0" sz="1200" b="1" i="0" u="none" strike="noStrike" kern="0" cap="none" spc="0" normalizeH="0" baseline="0">
                        <a:ln>
                          <a:noFill/>
                        </a:ln>
                        <a:solidFill>
                          <a:srgbClr val="2F2F26"/>
                        </a:solidFill>
                        <a:effectLst/>
                        <a:uLnTx/>
                        <a:uFillTx/>
                        <a:latin typeface="+mj-lt"/>
                        <a:ea typeface="Calibri"/>
                        <a:cs typeface="Calibri"/>
                      </a:endParaRPr>
                    </a:p>
                  </a:txBody>
                  <a:tcPr marL="91451" marR="91451" marT="45725" marB="45725" anchor="ctr">
                    <a:lnL w="9525" cap="flat" cmpd="sng">
                      <a:solidFill>
                        <a:srgbClr val="544332"/>
                      </a:solidFill>
                      <a:prstDash val="solid"/>
                      <a:round/>
                      <a:headEnd type="none" w="sm" len="sm"/>
                      <a:tailEnd type="none" w="sm" len="sm"/>
                    </a:lnL>
                    <a:lnR w="9525" cap="flat" cmpd="sng" algn="ctr">
                      <a:solidFill>
                        <a:srgbClr val="BFBFBF"/>
                      </a:solidFill>
                      <a:prstDash val="dash"/>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544332"/>
                      </a:solidFill>
                      <a:prstDash val="solid"/>
                      <a:round/>
                      <a:headEnd type="none" w="sm" len="sm"/>
                      <a:tailEnd type="none" w="sm" len="sm"/>
                    </a:lnB>
                  </a:tcPr>
                </a:tc>
                <a:tc>
                  <a:txBody>
                    <a:bodyPr/>
                    <a:lstStyle/>
                    <a:p>
                      <a:pPr marL="0" marR="0" lvl="0" indent="0" algn="ctr" rtl="0">
                        <a:spcBef>
                          <a:spcPts val="0"/>
                        </a:spcBef>
                        <a:spcAft>
                          <a:spcPts val="0"/>
                        </a:spcAft>
                        <a:buNone/>
                      </a:pPr>
                      <a:r>
                        <a:rPr kumimoji="0" lang="en-IN" sz="1200" b="0" i="0" u="none" strike="noStrike" kern="0" cap="none" spc="0" normalizeH="0" baseline="0">
                          <a:ln>
                            <a:noFill/>
                          </a:ln>
                          <a:solidFill>
                            <a:srgbClr val="2F2F26"/>
                          </a:solidFill>
                          <a:effectLst/>
                          <a:uLnTx/>
                          <a:uFillTx/>
                          <a:latin typeface="+mj-lt"/>
                          <a:ea typeface="Calibri"/>
                          <a:cs typeface="Calibri"/>
                          <a:sym typeface="Calibri"/>
                        </a:rPr>
                        <a:t>To indicate the start of the supply shortage for CREON</a:t>
                      </a:r>
                      <a:endParaRPr kumimoji="0" sz="1200" b="0" i="0" u="none" strike="noStrike" kern="0" cap="none" spc="0" normalizeH="0" baseline="0">
                        <a:ln>
                          <a:noFill/>
                        </a:ln>
                        <a:solidFill>
                          <a:srgbClr val="2F2F26"/>
                        </a:solidFill>
                        <a:effectLst/>
                        <a:uLnTx/>
                        <a:uFillTx/>
                        <a:latin typeface="+mj-lt"/>
                        <a:ea typeface="Calibri"/>
                        <a:cs typeface="Calibri"/>
                        <a:sym typeface="Calibri"/>
                      </a:endParaRPr>
                    </a:p>
                  </a:txBody>
                  <a:tcPr marL="91451" marR="91451" marT="45725" marB="45725" anchor="ctr">
                    <a:lnL w="9525" cap="flat" cmpd="sng" algn="ctr">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lgn="ctr">
                      <a:solidFill>
                        <a:srgbClr val="BFBFBF"/>
                      </a:solidFill>
                      <a:prstDash val="dash"/>
                      <a:round/>
                      <a:headEnd type="none" w="sm" len="sm"/>
                      <a:tailEnd type="none" w="sm" len="sm"/>
                    </a:lnT>
                    <a:lnB w="9525" cap="flat" cmpd="sng">
                      <a:solidFill>
                        <a:srgbClr val="544332"/>
                      </a:solidFill>
                      <a:prstDash val="solid"/>
                      <a:round/>
                      <a:headEnd type="none" w="sm" len="sm"/>
                      <a:tailEnd type="none" w="sm" len="sm"/>
                    </a:lnB>
                  </a:tcPr>
                </a:tc>
                <a:extLst>
                  <a:ext uri="{0D108BD9-81ED-4DB2-BD59-A6C34878D82A}">
                    <a16:rowId xmlns:a16="http://schemas.microsoft.com/office/drawing/2014/main" val="1667973760"/>
                  </a:ext>
                </a:extLst>
              </a:tr>
            </a:tbl>
          </a:graphicData>
        </a:graphic>
      </p:graphicFrame>
      <p:sp>
        <p:nvSpPr>
          <p:cNvPr id="178" name="Google Shape;178;p4"/>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Key Terms</a:t>
            </a:r>
            <a:endParaRPr kumimoji="0" lang="en-US"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8AF2DA-B366-5ED0-A526-5D60C462EE9C}"/>
            </a:ext>
          </a:extLst>
        </p:cNvPr>
        <p:cNvGrpSpPr/>
        <p:nvPr/>
      </p:nvGrpSpPr>
      <p:grpSpPr>
        <a:xfrm>
          <a:off x="0" y="0"/>
          <a:ext cx="0" cy="0"/>
          <a:chOff x="0" y="0"/>
          <a:chExt cx="0" cy="0"/>
        </a:xfrm>
      </p:grpSpPr>
      <p:graphicFrame>
        <p:nvGraphicFramePr>
          <p:cNvPr id="2" name="Google Shape;2164;p58">
            <a:extLst>
              <a:ext uri="{FF2B5EF4-FFF2-40B4-BE49-F238E27FC236}">
                <a16:creationId xmlns:a16="http://schemas.microsoft.com/office/drawing/2014/main" id="{FEEA657E-CBDF-6788-7BAB-BF72C0EECC3E}"/>
              </a:ext>
            </a:extLst>
          </p:cNvPr>
          <p:cNvGraphicFramePr/>
          <p:nvPr>
            <p:custDataLst>
              <p:tags r:id="rId1"/>
            </p:custDataLst>
          </p:nvPr>
        </p:nvGraphicFramePr>
        <p:xfrm>
          <a:off x="194940" y="1062589"/>
          <a:ext cx="4296225" cy="3257202"/>
        </p:xfrm>
        <a:graphic>
          <a:graphicData uri="http://schemas.openxmlformats.org/drawingml/2006/table">
            <a:tbl>
              <a:tblPr firstRow="1" firstCol="1" bandRow="1">
                <a:noFill/>
                <a:tableStyleId>{96BACEE3-1A1D-4107-9369-2142449FF59F}</a:tableStyleId>
              </a:tblPr>
              <a:tblGrid>
                <a:gridCol w="1103425">
                  <a:extLst>
                    <a:ext uri="{9D8B030D-6E8A-4147-A177-3AD203B41FA5}">
                      <a16:colId xmlns:a16="http://schemas.microsoft.com/office/drawing/2014/main" val="20000"/>
                    </a:ext>
                  </a:extLst>
                </a:gridCol>
                <a:gridCol w="3192800">
                  <a:extLst>
                    <a:ext uri="{9D8B030D-6E8A-4147-A177-3AD203B41FA5}">
                      <a16:colId xmlns:a16="http://schemas.microsoft.com/office/drawing/2014/main" val="20001"/>
                    </a:ext>
                  </a:extLst>
                </a:gridCol>
              </a:tblGrid>
              <a:tr h="468231">
                <a:tc>
                  <a:txBody>
                    <a:bodyPr/>
                    <a:lstStyle/>
                    <a:p>
                      <a:pPr marL="0" marR="0" lvl="0" indent="0" algn="ctr" rtl="0">
                        <a:spcBef>
                          <a:spcPts val="0"/>
                        </a:spcBef>
                        <a:spcAft>
                          <a:spcPts val="0"/>
                        </a:spcAft>
                        <a:buNone/>
                      </a:pPr>
                      <a:r>
                        <a:rPr lang="en-US" sz="1100" u="none">
                          <a:solidFill>
                            <a:schemeClr val="lt1"/>
                          </a:solidFill>
                          <a:latin typeface="+mj-lt"/>
                          <a:ea typeface="Calibri"/>
                          <a:cs typeface="Calibri"/>
                          <a:sym typeface="Calibri"/>
                        </a:rPr>
                        <a:t>Message Term</a:t>
                      </a:r>
                      <a:endParaRPr sz="1100" u="none">
                        <a:solidFill>
                          <a:schemeClr val="lt1"/>
                        </a:solidFill>
                        <a:latin typeface="+mj-lt"/>
                        <a:ea typeface="Calibri"/>
                        <a:cs typeface="Calibri"/>
                        <a:sym typeface="Calibri"/>
                      </a:endParaRPr>
                    </a:p>
                  </a:txBody>
                  <a:tcPr marL="99725" marR="132975" marT="66475" marB="66475" anchor="ctr">
                    <a:lnL w="9525" cap="flat" cmpd="sng">
                      <a:solidFill>
                        <a:srgbClr val="544332"/>
                      </a:solidFill>
                      <a:prstDash val="solid"/>
                      <a:round/>
                      <a:headEnd type="none" w="sm" len="sm"/>
                      <a:tailEnd type="none" w="sm" len="sm"/>
                    </a:lnL>
                    <a:lnR w="12700" cap="flat" cmpd="sng">
                      <a:solidFill>
                        <a:srgbClr val="A5A5A5"/>
                      </a:solidFill>
                      <a:prstDash val="solid"/>
                      <a:round/>
                      <a:headEnd type="none" w="sm" len="sm"/>
                      <a:tailEnd type="none" w="sm" len="sm"/>
                    </a:lnR>
                    <a:lnT w="9525" cap="flat" cmpd="sng">
                      <a:solidFill>
                        <a:srgbClr val="544332"/>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071D49"/>
                    </a:solidFill>
                  </a:tcPr>
                </a:tc>
                <a:tc>
                  <a:txBody>
                    <a:bodyPr/>
                    <a:lstStyle/>
                    <a:p>
                      <a:pPr marL="0" marR="0" lvl="0" indent="0" algn="ctr" rtl="0">
                        <a:spcBef>
                          <a:spcPts val="0"/>
                        </a:spcBef>
                        <a:spcAft>
                          <a:spcPts val="0"/>
                        </a:spcAft>
                        <a:buNone/>
                      </a:pPr>
                      <a:r>
                        <a:rPr lang="en-US" sz="1100">
                          <a:solidFill>
                            <a:schemeClr val="lt1"/>
                          </a:solidFill>
                          <a:latin typeface="+mj-lt"/>
                          <a:ea typeface="Calibri"/>
                          <a:cs typeface="Calibri"/>
                          <a:sym typeface="Calibri"/>
                        </a:rPr>
                        <a:t>Definition</a:t>
                      </a:r>
                      <a:endParaRPr sz="1100" b="1">
                        <a:solidFill>
                          <a:schemeClr val="lt1"/>
                        </a:solidFill>
                        <a:latin typeface="+mj-lt"/>
                        <a:ea typeface="Calibri"/>
                        <a:cs typeface="Calibri"/>
                        <a:sym typeface="Calibri"/>
                      </a:endParaRPr>
                    </a:p>
                  </a:txBody>
                  <a:tcPr marL="91451" marR="91451" marT="45725" marB="45725" anchor="ctr">
                    <a:lnL w="12700" cap="flat" cmpd="sng">
                      <a:solidFill>
                        <a:srgbClr val="A5A5A5"/>
                      </a:solidFill>
                      <a:prstDash val="solid"/>
                      <a:round/>
                      <a:headEnd type="none" w="sm" len="sm"/>
                      <a:tailEnd type="none" w="sm" len="sm"/>
                    </a:lnL>
                    <a:lnR w="9525" cap="flat" cmpd="sng">
                      <a:solidFill>
                        <a:srgbClr val="544332"/>
                      </a:solidFill>
                      <a:prstDash val="solid"/>
                      <a:round/>
                      <a:headEnd type="none" w="sm" len="sm"/>
                      <a:tailEnd type="none" w="sm" len="sm"/>
                    </a:lnR>
                    <a:lnT w="9525" cap="flat" cmpd="sng">
                      <a:solidFill>
                        <a:srgbClr val="544332"/>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071D49"/>
                    </a:solidFill>
                  </a:tcPr>
                </a:tc>
                <a:extLst>
                  <a:ext uri="{0D108BD9-81ED-4DB2-BD59-A6C34878D82A}">
                    <a16:rowId xmlns:a16="http://schemas.microsoft.com/office/drawing/2014/main" val="10000"/>
                  </a:ext>
                </a:extLst>
              </a:tr>
              <a:tr h="579131">
                <a:tc>
                  <a:txBody>
                    <a:bodyPr/>
                    <a:lstStyle/>
                    <a:p>
                      <a:pPr marL="0" marR="0" lvl="0" indent="0" algn="ctr" rtl="0">
                        <a:spcBef>
                          <a:spcPts val="0"/>
                        </a:spcBef>
                        <a:spcAft>
                          <a:spcPts val="0"/>
                        </a:spcAft>
                        <a:buNone/>
                      </a:pPr>
                      <a:r>
                        <a:rPr lang="en-US" sz="1100" b="1" i="0">
                          <a:solidFill>
                            <a:srgbClr val="2F2F26"/>
                          </a:solidFill>
                          <a:latin typeface="+mj-lt"/>
                          <a:ea typeface="Calibri"/>
                          <a:cs typeface="Calibri"/>
                          <a:sym typeface="Calibri"/>
                        </a:rPr>
                        <a:t>Message Recall</a:t>
                      </a:r>
                      <a:endParaRPr lang="en-US" sz="1300" b="1">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l" rtl="0">
                        <a:spcBef>
                          <a:spcPts val="0"/>
                        </a:spcBef>
                        <a:spcAft>
                          <a:spcPts val="0"/>
                        </a:spcAft>
                        <a:buClr>
                          <a:srgbClr val="2F2F26"/>
                        </a:buClr>
                        <a:buSzPts val="1100"/>
                        <a:buFont typeface="Arial"/>
                        <a:buNone/>
                      </a:pPr>
                      <a:r>
                        <a:rPr lang="en-US" sz="1100" i="0">
                          <a:solidFill>
                            <a:srgbClr val="2F2F26"/>
                          </a:solidFill>
                          <a:latin typeface="+mj-lt"/>
                          <a:ea typeface="Calibri"/>
                          <a:cs typeface="Calibri"/>
                          <a:sym typeface="Calibri"/>
                        </a:rPr>
                        <a:t>The proportion of HCPs reporting an interaction in the past ___ who recall hearing a specific sales message</a:t>
                      </a:r>
                      <a:endParaRPr lang="en-US" sz="11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1"/>
                  </a:ext>
                </a:extLst>
              </a:tr>
              <a:tr h="741691">
                <a:tc>
                  <a:txBody>
                    <a:bodyPr/>
                    <a:lstStyle/>
                    <a:p>
                      <a:pPr marL="0" marR="0" lvl="0" indent="0" algn="ctr" rtl="0">
                        <a:spcBef>
                          <a:spcPts val="0"/>
                        </a:spcBef>
                        <a:spcAft>
                          <a:spcPts val="0"/>
                        </a:spcAft>
                        <a:buNone/>
                      </a:pPr>
                      <a:r>
                        <a:rPr lang="en-US" sz="1100" b="1" i="0">
                          <a:solidFill>
                            <a:srgbClr val="2F2F26"/>
                          </a:solidFill>
                          <a:latin typeface="+mj-lt"/>
                          <a:ea typeface="Calibri"/>
                          <a:cs typeface="Calibri"/>
                          <a:sym typeface="Calibri"/>
                        </a:rPr>
                        <a:t>Message Effectiveness (ME)</a:t>
                      </a:r>
                      <a:endParaRPr lang="en-US" sz="1300">
                        <a:latin typeface="+mj-lt"/>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l" rtl="0">
                        <a:spcBef>
                          <a:spcPts val="0"/>
                        </a:spcBef>
                        <a:spcAft>
                          <a:spcPts val="0"/>
                        </a:spcAft>
                        <a:buClr>
                          <a:srgbClr val="2F2F26"/>
                        </a:buClr>
                        <a:buSzPts val="1100"/>
                        <a:buFont typeface="Arial"/>
                        <a:buNone/>
                      </a:pPr>
                      <a:r>
                        <a:rPr lang="en-US" sz="1100" i="0">
                          <a:solidFill>
                            <a:srgbClr val="2F2F26"/>
                          </a:solidFill>
                          <a:latin typeface="+mj-lt"/>
                          <a:ea typeface="Calibri"/>
                          <a:cs typeface="Calibri"/>
                          <a:sym typeface="Calibri"/>
                        </a:rPr>
                        <a:t>Message Effectiveness is calculated as the geometric mean of the proportion of HCPs rating the message highly (6,7 out of 7) across </a:t>
                      </a:r>
                      <a:r>
                        <a:rPr lang="en-US" sz="1100" b="0" i="0">
                          <a:solidFill>
                            <a:srgbClr val="2F2F26"/>
                          </a:solidFill>
                          <a:latin typeface="+mj-lt"/>
                          <a:ea typeface="Calibri"/>
                          <a:cs typeface="Calibri"/>
                          <a:sym typeface="Calibri"/>
                        </a:rPr>
                        <a:t>Believability, Motivation and Differentiation</a:t>
                      </a:r>
                      <a:endParaRPr lang="en-US" sz="1100">
                        <a:latin typeface="+mj-lt"/>
                      </a:endParaRP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2"/>
                  </a:ext>
                </a:extLst>
              </a:tr>
              <a:tr h="422688">
                <a:tc>
                  <a:txBody>
                    <a:bodyPr/>
                    <a:lstStyle/>
                    <a:p>
                      <a:pPr marL="0" marR="0" lvl="0" indent="0" algn="ctr" rtl="0">
                        <a:spcBef>
                          <a:spcPts val="0"/>
                        </a:spcBef>
                        <a:spcAft>
                          <a:spcPts val="0"/>
                        </a:spcAft>
                        <a:buNone/>
                      </a:pPr>
                      <a:r>
                        <a:rPr lang="en-US" sz="1100" b="1" i="0">
                          <a:solidFill>
                            <a:srgbClr val="2F2F26"/>
                          </a:solidFill>
                          <a:latin typeface="+mj-lt"/>
                          <a:ea typeface="Calibri"/>
                          <a:cs typeface="Calibri"/>
                          <a:sym typeface="Calibri"/>
                        </a:rPr>
                        <a:t>Differentiated</a:t>
                      </a:r>
                      <a:endParaRPr sz="1100" b="1" i="0">
                        <a:solidFill>
                          <a:srgbClr val="2F2F26"/>
                        </a:solidFill>
                        <a:latin typeface="+mj-lt"/>
                        <a:ea typeface="Calibri"/>
                        <a:cs typeface="Calibri"/>
                        <a:sym typeface="Calibri"/>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l" rtl="0">
                        <a:spcBef>
                          <a:spcPts val="0"/>
                        </a:spcBef>
                        <a:spcAft>
                          <a:spcPts val="0"/>
                        </a:spcAft>
                        <a:buNone/>
                      </a:pPr>
                      <a:r>
                        <a:rPr lang="en-US" sz="1100" i="0">
                          <a:solidFill>
                            <a:srgbClr val="2F2F26"/>
                          </a:solidFill>
                          <a:latin typeface="+mj-lt"/>
                          <a:ea typeface="Calibri"/>
                          <a:cs typeface="Calibri"/>
                          <a:sym typeface="Calibri"/>
                        </a:rPr>
                        <a:t>HCP ratings of how differentiated each message is compared to messages of competing products</a:t>
                      </a: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3"/>
                  </a:ext>
                </a:extLst>
              </a:tr>
              <a:tr h="422688">
                <a:tc>
                  <a:txBody>
                    <a:bodyPr/>
                    <a:lstStyle/>
                    <a:p>
                      <a:pPr marL="0" marR="0" lvl="0" indent="0" algn="ctr" rtl="0">
                        <a:spcBef>
                          <a:spcPts val="0"/>
                        </a:spcBef>
                        <a:spcAft>
                          <a:spcPts val="0"/>
                        </a:spcAft>
                        <a:buNone/>
                      </a:pPr>
                      <a:r>
                        <a:rPr lang="en-US" sz="1100" b="1" i="0">
                          <a:solidFill>
                            <a:srgbClr val="2F2F26"/>
                          </a:solidFill>
                          <a:latin typeface="+mj-lt"/>
                          <a:ea typeface="Calibri"/>
                          <a:cs typeface="Calibri"/>
                          <a:sym typeface="Calibri"/>
                        </a:rPr>
                        <a:t>Believable</a:t>
                      </a:r>
                      <a:endParaRPr sz="1100" b="1" i="0">
                        <a:solidFill>
                          <a:srgbClr val="2F2F26"/>
                        </a:solidFill>
                        <a:latin typeface="+mj-lt"/>
                        <a:ea typeface="Calibri"/>
                        <a:cs typeface="Calibri"/>
                        <a:sym typeface="Calibri"/>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tc>
                  <a:txBody>
                    <a:bodyPr/>
                    <a:lstStyle/>
                    <a:p>
                      <a:pPr marL="0" marR="0" lvl="0" indent="0" algn="l" rtl="0">
                        <a:lnSpc>
                          <a:spcPct val="100000"/>
                        </a:lnSpc>
                        <a:spcBef>
                          <a:spcPts val="0"/>
                        </a:spcBef>
                        <a:spcAft>
                          <a:spcPts val="0"/>
                        </a:spcAft>
                        <a:buClr>
                          <a:srgbClr val="2F2F26"/>
                        </a:buClr>
                        <a:buSzPts val="1100"/>
                        <a:buFont typeface="Calibri"/>
                        <a:buNone/>
                      </a:pPr>
                      <a:r>
                        <a:rPr lang="en-US" sz="1100" i="0">
                          <a:solidFill>
                            <a:srgbClr val="2F2F26"/>
                          </a:solidFill>
                          <a:latin typeface="+mj-lt"/>
                          <a:ea typeface="Calibri"/>
                          <a:cs typeface="Calibri"/>
                          <a:sym typeface="Calibri"/>
                        </a:rPr>
                        <a:t>HCP ratings of how believable each message is in conveying a benefit of the product</a:t>
                      </a: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BFBFBF"/>
                      </a:solidFill>
                      <a:prstDash val="dash"/>
                      <a:round/>
                      <a:headEnd type="none" w="sm" len="sm"/>
                      <a:tailEnd type="none" w="sm" len="sm"/>
                    </a:lnB>
                  </a:tcPr>
                </a:tc>
                <a:extLst>
                  <a:ext uri="{0D108BD9-81ED-4DB2-BD59-A6C34878D82A}">
                    <a16:rowId xmlns:a16="http://schemas.microsoft.com/office/drawing/2014/main" val="10004"/>
                  </a:ext>
                </a:extLst>
              </a:tr>
              <a:tr h="579131">
                <a:tc>
                  <a:txBody>
                    <a:bodyPr/>
                    <a:lstStyle/>
                    <a:p>
                      <a:pPr marL="0" marR="0" lvl="0" indent="0" algn="ctr" rtl="0">
                        <a:spcBef>
                          <a:spcPts val="0"/>
                        </a:spcBef>
                        <a:spcAft>
                          <a:spcPts val="0"/>
                        </a:spcAft>
                        <a:buNone/>
                      </a:pPr>
                      <a:r>
                        <a:rPr lang="en-US" sz="1100" b="1" i="0">
                          <a:solidFill>
                            <a:srgbClr val="2F2F26"/>
                          </a:solidFill>
                          <a:latin typeface="+mj-lt"/>
                          <a:ea typeface="Calibri"/>
                          <a:cs typeface="Calibri"/>
                          <a:sym typeface="Calibri"/>
                        </a:rPr>
                        <a:t>Motivating</a:t>
                      </a:r>
                      <a:endParaRPr sz="1100" b="1" i="0">
                        <a:solidFill>
                          <a:srgbClr val="2F2F26"/>
                        </a:solidFill>
                        <a:latin typeface="+mj-lt"/>
                        <a:ea typeface="Calibri"/>
                        <a:cs typeface="Calibri"/>
                        <a:sym typeface="Calibri"/>
                      </a:endParaRPr>
                    </a:p>
                  </a:txBody>
                  <a:tcPr marL="91451" marR="91451" marT="45725" marB="45725" anchor="ctr">
                    <a:lnL w="9525" cap="flat" cmpd="sng">
                      <a:solidFill>
                        <a:srgbClr val="544332"/>
                      </a:solidFill>
                      <a:prstDash val="solid"/>
                      <a:round/>
                      <a:headEnd type="none" w="sm" len="sm"/>
                      <a:tailEnd type="none" w="sm" len="sm"/>
                    </a:lnL>
                    <a:lnR w="9525" cap="flat" cmpd="sng">
                      <a:solidFill>
                        <a:srgbClr val="BFBFBF"/>
                      </a:solidFill>
                      <a:prstDash val="dash"/>
                      <a:round/>
                      <a:headEnd type="none" w="sm" len="sm"/>
                      <a:tailEnd type="none" w="sm" len="sm"/>
                    </a:lnR>
                    <a:lnT w="9525" cap="flat" cmpd="sng">
                      <a:solidFill>
                        <a:srgbClr val="BFBFBF"/>
                      </a:solidFill>
                      <a:prstDash val="dash"/>
                      <a:round/>
                      <a:headEnd type="none" w="sm" len="sm"/>
                      <a:tailEnd type="none" w="sm" len="sm"/>
                    </a:lnT>
                    <a:lnB w="9525" cap="flat" cmpd="sng">
                      <a:solidFill>
                        <a:srgbClr val="54433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2F2F26"/>
                        </a:buClr>
                        <a:buSzPts val="1100"/>
                        <a:buFont typeface="Calibri"/>
                        <a:buNone/>
                      </a:pPr>
                      <a:r>
                        <a:rPr lang="en-US" sz="1100" i="0">
                          <a:solidFill>
                            <a:srgbClr val="2F2F26"/>
                          </a:solidFill>
                          <a:latin typeface="+mj-lt"/>
                          <a:ea typeface="Calibri"/>
                          <a:cs typeface="Calibri"/>
                          <a:sym typeface="Calibri"/>
                        </a:rPr>
                        <a:t>HCP ratings of how motivating the conveyed benefit is in terms of intent to prescribe the product</a:t>
                      </a:r>
                    </a:p>
                  </a:txBody>
                  <a:tcPr marL="91451" marR="91451" marT="45725" marB="45725" anchor="ctr">
                    <a:lnL w="9525" cap="flat" cmpd="sng">
                      <a:solidFill>
                        <a:srgbClr val="BFBFBF"/>
                      </a:solidFill>
                      <a:prstDash val="dash"/>
                      <a:round/>
                      <a:headEnd type="none" w="sm" len="sm"/>
                      <a:tailEnd type="none" w="sm" len="sm"/>
                    </a:lnL>
                    <a:lnR w="9525" cap="flat" cmpd="sng">
                      <a:solidFill>
                        <a:srgbClr val="544332"/>
                      </a:solidFill>
                      <a:prstDash val="solid"/>
                      <a:round/>
                      <a:headEnd type="none" w="sm" len="sm"/>
                      <a:tailEnd type="none" w="sm" len="sm"/>
                    </a:lnR>
                    <a:lnT w="9525" cap="flat" cmpd="sng">
                      <a:solidFill>
                        <a:srgbClr val="BFBFBF"/>
                      </a:solidFill>
                      <a:prstDash val="dash"/>
                      <a:round/>
                      <a:headEnd type="none" w="sm" len="sm"/>
                      <a:tailEnd type="none" w="sm" len="sm"/>
                    </a:lnT>
                    <a:lnB w="9525" cap="flat" cmpd="sng">
                      <a:solidFill>
                        <a:srgbClr val="54433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3" name="Google Shape;2165;p58">
            <a:extLst>
              <a:ext uri="{FF2B5EF4-FFF2-40B4-BE49-F238E27FC236}">
                <a16:creationId xmlns:a16="http://schemas.microsoft.com/office/drawing/2014/main" id="{07C90C81-5A5E-D3BF-2F18-5002107A9F30}"/>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Message Terms and Key Tags</a:t>
            </a:r>
            <a:endParaRPr kumimoji="0" lang="en-GB"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5" name="Google Shape;2167;p58">
            <a:extLst>
              <a:ext uri="{FF2B5EF4-FFF2-40B4-BE49-F238E27FC236}">
                <a16:creationId xmlns:a16="http://schemas.microsoft.com/office/drawing/2014/main" id="{78D57FDC-4C08-2D22-76D2-C6A90A360A17}"/>
              </a:ext>
            </a:extLst>
          </p:cNvPr>
          <p:cNvSpPr/>
          <p:nvPr/>
        </p:nvSpPr>
        <p:spPr>
          <a:xfrm>
            <a:off x="4676797" y="1340011"/>
            <a:ext cx="839643" cy="134120"/>
          </a:xfrm>
          <a:prstGeom prst="rect">
            <a:avLst/>
          </a:prstGeom>
          <a:noFill/>
          <a:ln w="12700" cap="flat" cmpd="sng">
            <a:solidFill>
              <a:srgbClr val="36729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36729C"/>
              </a:buClr>
              <a:buSzPts val="1000"/>
              <a:buFont typeface="Arial"/>
              <a:buNone/>
              <a:tabLst/>
              <a:defRPr/>
            </a:pPr>
            <a:r>
              <a:rPr kumimoji="0" lang="en-US" sz="700" b="1" i="0" u="none" strike="noStrike" kern="0" cap="none" spc="0" normalizeH="0" baseline="0" noProof="0">
                <a:ln>
                  <a:noFill/>
                </a:ln>
                <a:solidFill>
                  <a:srgbClr val="36729C"/>
                </a:solidFill>
                <a:effectLst/>
                <a:uLnTx/>
                <a:uFillTx/>
                <a:latin typeface="Arial" panose="020B0604020202020204"/>
                <a:ea typeface="Calibri"/>
                <a:cs typeface="Calibri"/>
                <a:sym typeface="Calibri"/>
              </a:rPr>
              <a:t>CREON</a:t>
            </a:r>
            <a:endParaRPr kumimoji="0" lang="en-IN" sz="1051"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6" name="Google Shape;2168;p58">
            <a:extLst>
              <a:ext uri="{FF2B5EF4-FFF2-40B4-BE49-F238E27FC236}">
                <a16:creationId xmlns:a16="http://schemas.microsoft.com/office/drawing/2014/main" id="{D3866795-2EBB-B5CF-DA16-63358E33173B}"/>
              </a:ext>
            </a:extLst>
          </p:cNvPr>
          <p:cNvSpPr/>
          <p:nvPr/>
        </p:nvSpPr>
        <p:spPr>
          <a:xfrm>
            <a:off x="4676797" y="1526399"/>
            <a:ext cx="839643" cy="134120"/>
          </a:xfrm>
          <a:prstGeom prst="rect">
            <a:avLst/>
          </a:prstGeom>
          <a:noFill/>
          <a:ln w="12700" cap="flat" cmpd="sng">
            <a:solidFill>
              <a:srgbClr val="9778D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9778D4"/>
              </a:buClr>
              <a:buSzPts val="1000"/>
              <a:buFont typeface="Arial"/>
              <a:buNone/>
              <a:tabLst/>
              <a:defRPr/>
            </a:pPr>
            <a:r>
              <a:rPr kumimoji="0" lang="en-US" sz="700" b="1" i="0" u="none" strike="noStrike" kern="0" cap="none" spc="0" normalizeH="0" baseline="0" noProof="0">
                <a:ln>
                  <a:noFill/>
                </a:ln>
                <a:solidFill>
                  <a:srgbClr val="9778D4"/>
                </a:solidFill>
                <a:effectLst/>
                <a:uLnTx/>
                <a:uFillTx/>
                <a:latin typeface="Arial" panose="020B0604020202020204"/>
                <a:ea typeface="Calibri"/>
                <a:cs typeface="Calibri"/>
                <a:sym typeface="Calibri"/>
              </a:rPr>
              <a:t>ZENPEP</a:t>
            </a:r>
            <a:endParaRPr kumimoji="0" lang="en-IN" sz="1051"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7" name="Google Shape;2169;p58">
            <a:extLst>
              <a:ext uri="{FF2B5EF4-FFF2-40B4-BE49-F238E27FC236}">
                <a16:creationId xmlns:a16="http://schemas.microsoft.com/office/drawing/2014/main" id="{2303B06D-5D7F-4E35-7617-DB165915BBA7}"/>
              </a:ext>
            </a:extLst>
          </p:cNvPr>
          <p:cNvSpPr txBox="1"/>
          <p:nvPr/>
        </p:nvSpPr>
        <p:spPr>
          <a:xfrm>
            <a:off x="5631225" y="1273339"/>
            <a:ext cx="3037245"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Data points corresponding to CREON</a:t>
            </a:r>
            <a:endParaRPr kumimoji="0" lang="en-GB" sz="1051"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8" name="Google Shape;2170;p58">
            <a:extLst>
              <a:ext uri="{FF2B5EF4-FFF2-40B4-BE49-F238E27FC236}">
                <a16:creationId xmlns:a16="http://schemas.microsoft.com/office/drawing/2014/main" id="{DB3C43A9-1137-390C-24F7-8B090043CABC}"/>
              </a:ext>
            </a:extLst>
          </p:cNvPr>
          <p:cNvSpPr txBox="1"/>
          <p:nvPr/>
        </p:nvSpPr>
        <p:spPr>
          <a:xfrm>
            <a:off x="5631225" y="1470371"/>
            <a:ext cx="3037245"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Data points corresponding to ZENPEP</a:t>
            </a:r>
            <a:endParaRPr kumimoji="0" lang="en-GB" sz="1051"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 name="Google Shape;2171;p58">
            <a:extLst>
              <a:ext uri="{FF2B5EF4-FFF2-40B4-BE49-F238E27FC236}">
                <a16:creationId xmlns:a16="http://schemas.microsoft.com/office/drawing/2014/main" id="{CDF3A9EA-F746-F976-06CF-896B1D9E52FA}"/>
              </a:ext>
            </a:extLst>
          </p:cNvPr>
          <p:cNvSpPr/>
          <p:nvPr/>
        </p:nvSpPr>
        <p:spPr>
          <a:xfrm>
            <a:off x="5561331" y="1076443"/>
            <a:ext cx="2133600" cy="27695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PRODUCT TAGS</a:t>
            </a:r>
            <a:endParaRPr kumimoji="0" lang="en-IN" sz="1200" b="1"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0" name="Google Shape;2172;p58">
            <a:extLst>
              <a:ext uri="{FF2B5EF4-FFF2-40B4-BE49-F238E27FC236}">
                <a16:creationId xmlns:a16="http://schemas.microsoft.com/office/drawing/2014/main" id="{915EDE24-DF00-794E-EC82-7FAE1AF0F2CD}"/>
              </a:ext>
            </a:extLst>
          </p:cNvPr>
          <p:cNvSpPr/>
          <p:nvPr/>
        </p:nvSpPr>
        <p:spPr>
          <a:xfrm>
            <a:off x="4521838" y="1071107"/>
            <a:ext cx="4296225" cy="645445"/>
          </a:xfrm>
          <a:prstGeom prst="rect">
            <a:avLst/>
          </a:prstGeom>
          <a:noFill/>
          <a:ln w="12700" cap="flat" cmpd="sng">
            <a:solidFill>
              <a:srgbClr val="071D49"/>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051" b="0" i="0" u="none" strike="noStrike" kern="0" cap="none" spc="0" normalizeH="0" baseline="0" noProof="0">
              <a:ln>
                <a:noFill/>
              </a:ln>
              <a:solidFill>
                <a:prstClr val="white"/>
              </a:solidFill>
              <a:effectLst/>
              <a:uLnTx/>
              <a:uFillTx/>
              <a:latin typeface="Arial" panose="020B0604020202020204"/>
              <a:ea typeface="Calibri"/>
              <a:cs typeface="Calibri"/>
              <a:sym typeface="Calibri"/>
            </a:endParaRPr>
          </a:p>
        </p:txBody>
      </p:sp>
      <p:sp>
        <p:nvSpPr>
          <p:cNvPr id="52" name="Google Shape;2180;p58">
            <a:extLst>
              <a:ext uri="{FF2B5EF4-FFF2-40B4-BE49-F238E27FC236}">
                <a16:creationId xmlns:a16="http://schemas.microsoft.com/office/drawing/2014/main" id="{56439419-CF81-5C74-92BE-9A38E3C981AE}"/>
              </a:ext>
            </a:extLst>
          </p:cNvPr>
          <p:cNvSpPr/>
          <p:nvPr/>
        </p:nvSpPr>
        <p:spPr>
          <a:xfrm>
            <a:off x="4521838" y="1749007"/>
            <a:ext cx="4296225" cy="4509183"/>
          </a:xfrm>
          <a:prstGeom prst="rect">
            <a:avLst/>
          </a:prstGeom>
          <a:noFill/>
          <a:ln w="12700" cap="flat" cmpd="sng">
            <a:solidFill>
              <a:srgbClr val="071D49"/>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0" cap="none" spc="0" normalizeH="0" baseline="0" noProof="0">
              <a:ln>
                <a:noFill/>
              </a:ln>
              <a:solidFill>
                <a:prstClr val="white"/>
              </a:solidFill>
              <a:effectLst/>
              <a:uLnTx/>
              <a:uFillTx/>
              <a:latin typeface="Arial" panose="020B0604020202020204"/>
              <a:ea typeface="Calibri"/>
              <a:cs typeface="Calibri"/>
              <a:sym typeface="Calibri"/>
            </a:endParaRPr>
          </a:p>
        </p:txBody>
      </p:sp>
      <p:sp>
        <p:nvSpPr>
          <p:cNvPr id="74" name="Google Shape;2190;p58">
            <a:extLst>
              <a:ext uri="{FF2B5EF4-FFF2-40B4-BE49-F238E27FC236}">
                <a16:creationId xmlns:a16="http://schemas.microsoft.com/office/drawing/2014/main" id="{47547DC8-BB34-D378-89EF-5B6738BC533A}"/>
              </a:ext>
            </a:extLst>
          </p:cNvPr>
          <p:cNvSpPr/>
          <p:nvPr/>
        </p:nvSpPr>
        <p:spPr>
          <a:xfrm>
            <a:off x="4884256" y="1814214"/>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W11</a:t>
            </a:r>
          </a:p>
        </p:txBody>
      </p:sp>
      <p:sp>
        <p:nvSpPr>
          <p:cNvPr id="75" name="Google Shape;2196;p58">
            <a:extLst>
              <a:ext uri="{FF2B5EF4-FFF2-40B4-BE49-F238E27FC236}">
                <a16:creationId xmlns:a16="http://schemas.microsoft.com/office/drawing/2014/main" id="{E1534EEE-CBE3-9212-27BC-457ABC0253AB}"/>
              </a:ext>
            </a:extLst>
          </p:cNvPr>
          <p:cNvSpPr txBox="1"/>
          <p:nvPr/>
        </p:nvSpPr>
        <p:spPr>
          <a:xfrm>
            <a:off x="5798206" y="1768820"/>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11 Fielding Period -   May’22  –  Jun’22</a:t>
            </a:r>
          </a:p>
        </p:txBody>
      </p:sp>
      <p:sp>
        <p:nvSpPr>
          <p:cNvPr id="18" name="Google Shape;2190;p58">
            <a:extLst>
              <a:ext uri="{FF2B5EF4-FFF2-40B4-BE49-F238E27FC236}">
                <a16:creationId xmlns:a16="http://schemas.microsoft.com/office/drawing/2014/main" id="{6CFA8D22-281E-EFAE-B44B-C15E229EC0B3}"/>
              </a:ext>
            </a:extLst>
          </p:cNvPr>
          <p:cNvSpPr/>
          <p:nvPr/>
        </p:nvSpPr>
        <p:spPr>
          <a:xfrm>
            <a:off x="4884256" y="2017750"/>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W12</a:t>
            </a:r>
          </a:p>
        </p:txBody>
      </p:sp>
      <p:sp>
        <p:nvSpPr>
          <p:cNvPr id="19" name="Google Shape;2196;p58">
            <a:extLst>
              <a:ext uri="{FF2B5EF4-FFF2-40B4-BE49-F238E27FC236}">
                <a16:creationId xmlns:a16="http://schemas.microsoft.com/office/drawing/2014/main" id="{06E24F5D-5C65-AD8B-60CE-5382C3EF5C26}"/>
              </a:ext>
            </a:extLst>
          </p:cNvPr>
          <p:cNvSpPr txBox="1"/>
          <p:nvPr/>
        </p:nvSpPr>
        <p:spPr>
          <a:xfrm>
            <a:off x="5798206" y="1971084"/>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12 Fielding Period -   Jul’22  –  Aug’22</a:t>
            </a:r>
          </a:p>
        </p:txBody>
      </p:sp>
      <p:sp>
        <p:nvSpPr>
          <p:cNvPr id="4" name="Google Shape;2190;p58">
            <a:extLst>
              <a:ext uri="{FF2B5EF4-FFF2-40B4-BE49-F238E27FC236}">
                <a16:creationId xmlns:a16="http://schemas.microsoft.com/office/drawing/2014/main" id="{576487C2-D834-215B-409D-D6F8690A7185}"/>
              </a:ext>
            </a:extLst>
          </p:cNvPr>
          <p:cNvSpPr/>
          <p:nvPr/>
        </p:nvSpPr>
        <p:spPr>
          <a:xfrm>
            <a:off x="4884256" y="2221286"/>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W13</a:t>
            </a:r>
          </a:p>
        </p:txBody>
      </p:sp>
      <p:sp>
        <p:nvSpPr>
          <p:cNvPr id="11" name="Google Shape;2196;p58">
            <a:extLst>
              <a:ext uri="{FF2B5EF4-FFF2-40B4-BE49-F238E27FC236}">
                <a16:creationId xmlns:a16="http://schemas.microsoft.com/office/drawing/2014/main" id="{C81D5967-A33A-E30E-BDE5-E316563FE38B}"/>
              </a:ext>
            </a:extLst>
          </p:cNvPr>
          <p:cNvSpPr txBox="1"/>
          <p:nvPr/>
        </p:nvSpPr>
        <p:spPr>
          <a:xfrm>
            <a:off x="5798206" y="2173348"/>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13 Fielding Period -   Sep’22  –  Oct’22</a:t>
            </a:r>
          </a:p>
        </p:txBody>
      </p:sp>
      <p:sp>
        <p:nvSpPr>
          <p:cNvPr id="14" name="Google Shape;2190;p58">
            <a:extLst>
              <a:ext uri="{FF2B5EF4-FFF2-40B4-BE49-F238E27FC236}">
                <a16:creationId xmlns:a16="http://schemas.microsoft.com/office/drawing/2014/main" id="{DFF6D98F-BB5E-6A8F-75D9-E81C87611BEE}"/>
              </a:ext>
            </a:extLst>
          </p:cNvPr>
          <p:cNvSpPr/>
          <p:nvPr/>
        </p:nvSpPr>
        <p:spPr>
          <a:xfrm>
            <a:off x="4884256" y="2424822"/>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W14</a:t>
            </a:r>
          </a:p>
        </p:txBody>
      </p:sp>
      <p:sp>
        <p:nvSpPr>
          <p:cNvPr id="15" name="Google Shape;2196;p58">
            <a:extLst>
              <a:ext uri="{FF2B5EF4-FFF2-40B4-BE49-F238E27FC236}">
                <a16:creationId xmlns:a16="http://schemas.microsoft.com/office/drawing/2014/main" id="{0036B1E4-A10E-EAFD-FE49-1565723967CE}"/>
              </a:ext>
            </a:extLst>
          </p:cNvPr>
          <p:cNvSpPr txBox="1"/>
          <p:nvPr/>
        </p:nvSpPr>
        <p:spPr>
          <a:xfrm>
            <a:off x="5798206" y="2375612"/>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14 Fielding Period -   Nov’22  –  Dec’22</a:t>
            </a:r>
          </a:p>
        </p:txBody>
      </p:sp>
      <p:sp>
        <p:nvSpPr>
          <p:cNvPr id="12" name="Google Shape;2190;p58">
            <a:extLst>
              <a:ext uri="{FF2B5EF4-FFF2-40B4-BE49-F238E27FC236}">
                <a16:creationId xmlns:a16="http://schemas.microsoft.com/office/drawing/2014/main" id="{5F2FB6BA-091F-4B94-7692-48753491AD77}"/>
              </a:ext>
            </a:extLst>
          </p:cNvPr>
          <p:cNvSpPr/>
          <p:nvPr/>
        </p:nvSpPr>
        <p:spPr>
          <a:xfrm>
            <a:off x="4884256" y="2628358"/>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W15</a:t>
            </a:r>
          </a:p>
        </p:txBody>
      </p:sp>
      <p:sp>
        <p:nvSpPr>
          <p:cNvPr id="16" name="Google Shape;2196;p58">
            <a:extLst>
              <a:ext uri="{FF2B5EF4-FFF2-40B4-BE49-F238E27FC236}">
                <a16:creationId xmlns:a16="http://schemas.microsoft.com/office/drawing/2014/main" id="{721F9E5D-2DAC-FF36-391F-CE086BA11B65}"/>
              </a:ext>
            </a:extLst>
          </p:cNvPr>
          <p:cNvSpPr txBox="1"/>
          <p:nvPr/>
        </p:nvSpPr>
        <p:spPr>
          <a:xfrm>
            <a:off x="5798206" y="2577876"/>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15 Fielding Period -   Jan’23  –  Feb’23</a:t>
            </a:r>
          </a:p>
        </p:txBody>
      </p:sp>
      <p:sp>
        <p:nvSpPr>
          <p:cNvPr id="20" name="Google Shape;2190;p58">
            <a:extLst>
              <a:ext uri="{FF2B5EF4-FFF2-40B4-BE49-F238E27FC236}">
                <a16:creationId xmlns:a16="http://schemas.microsoft.com/office/drawing/2014/main" id="{0261A4A3-E862-0177-9EB8-18603FE0692C}"/>
              </a:ext>
            </a:extLst>
          </p:cNvPr>
          <p:cNvSpPr/>
          <p:nvPr/>
        </p:nvSpPr>
        <p:spPr>
          <a:xfrm>
            <a:off x="4884256" y="2831894"/>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W16</a:t>
            </a:r>
          </a:p>
        </p:txBody>
      </p:sp>
      <p:sp>
        <p:nvSpPr>
          <p:cNvPr id="21" name="Google Shape;2196;p58">
            <a:extLst>
              <a:ext uri="{FF2B5EF4-FFF2-40B4-BE49-F238E27FC236}">
                <a16:creationId xmlns:a16="http://schemas.microsoft.com/office/drawing/2014/main" id="{69A92114-0E70-295F-6150-EF2B1713F8FB}"/>
              </a:ext>
            </a:extLst>
          </p:cNvPr>
          <p:cNvSpPr txBox="1"/>
          <p:nvPr/>
        </p:nvSpPr>
        <p:spPr>
          <a:xfrm>
            <a:off x="5798206" y="2780140"/>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16 Fielding Period -   Mar’23  –  Apr’23</a:t>
            </a:r>
          </a:p>
        </p:txBody>
      </p:sp>
      <p:sp>
        <p:nvSpPr>
          <p:cNvPr id="24" name="Google Shape;2190;p58">
            <a:extLst>
              <a:ext uri="{FF2B5EF4-FFF2-40B4-BE49-F238E27FC236}">
                <a16:creationId xmlns:a16="http://schemas.microsoft.com/office/drawing/2014/main" id="{60AFBCAF-EDF6-6892-212E-6B2A54E12C42}"/>
              </a:ext>
            </a:extLst>
          </p:cNvPr>
          <p:cNvSpPr/>
          <p:nvPr/>
        </p:nvSpPr>
        <p:spPr>
          <a:xfrm>
            <a:off x="4884256" y="3035430"/>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W17</a:t>
            </a:r>
          </a:p>
        </p:txBody>
      </p:sp>
      <p:sp>
        <p:nvSpPr>
          <p:cNvPr id="25" name="Google Shape;2196;p58">
            <a:extLst>
              <a:ext uri="{FF2B5EF4-FFF2-40B4-BE49-F238E27FC236}">
                <a16:creationId xmlns:a16="http://schemas.microsoft.com/office/drawing/2014/main" id="{C04C33FD-1EDB-D0D2-8934-9766B958E274}"/>
              </a:ext>
            </a:extLst>
          </p:cNvPr>
          <p:cNvSpPr txBox="1"/>
          <p:nvPr/>
        </p:nvSpPr>
        <p:spPr>
          <a:xfrm>
            <a:off x="5798206" y="2982404"/>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17 Fielding Period -   May’23  –  Jun’23</a:t>
            </a:r>
          </a:p>
        </p:txBody>
      </p:sp>
      <p:sp>
        <p:nvSpPr>
          <p:cNvPr id="26" name="Google Shape;2190;p58">
            <a:extLst>
              <a:ext uri="{FF2B5EF4-FFF2-40B4-BE49-F238E27FC236}">
                <a16:creationId xmlns:a16="http://schemas.microsoft.com/office/drawing/2014/main" id="{B33E4ABC-B117-8229-37BD-5F06517E94E9}"/>
              </a:ext>
            </a:extLst>
          </p:cNvPr>
          <p:cNvSpPr/>
          <p:nvPr/>
        </p:nvSpPr>
        <p:spPr>
          <a:xfrm>
            <a:off x="4884256" y="3238966"/>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W18</a:t>
            </a:r>
          </a:p>
        </p:txBody>
      </p:sp>
      <p:sp>
        <p:nvSpPr>
          <p:cNvPr id="33" name="Google Shape;2196;p58">
            <a:extLst>
              <a:ext uri="{FF2B5EF4-FFF2-40B4-BE49-F238E27FC236}">
                <a16:creationId xmlns:a16="http://schemas.microsoft.com/office/drawing/2014/main" id="{1D6503AA-1A61-92CF-D4B4-84A56C3411C7}"/>
              </a:ext>
            </a:extLst>
          </p:cNvPr>
          <p:cNvSpPr txBox="1"/>
          <p:nvPr/>
        </p:nvSpPr>
        <p:spPr>
          <a:xfrm>
            <a:off x="5798206" y="3184668"/>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18 Fielding Period -   Jul’23  –  Aug’23</a:t>
            </a:r>
          </a:p>
        </p:txBody>
      </p:sp>
      <p:sp>
        <p:nvSpPr>
          <p:cNvPr id="38" name="Google Shape;2190;p58">
            <a:extLst>
              <a:ext uri="{FF2B5EF4-FFF2-40B4-BE49-F238E27FC236}">
                <a16:creationId xmlns:a16="http://schemas.microsoft.com/office/drawing/2014/main" id="{88873394-2979-A79D-DDA7-A411F38146AF}"/>
              </a:ext>
            </a:extLst>
          </p:cNvPr>
          <p:cNvSpPr/>
          <p:nvPr/>
        </p:nvSpPr>
        <p:spPr>
          <a:xfrm>
            <a:off x="4884256" y="3442502"/>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W19</a:t>
            </a:r>
          </a:p>
        </p:txBody>
      </p:sp>
      <p:sp>
        <p:nvSpPr>
          <p:cNvPr id="39" name="Google Shape;2196;p58">
            <a:extLst>
              <a:ext uri="{FF2B5EF4-FFF2-40B4-BE49-F238E27FC236}">
                <a16:creationId xmlns:a16="http://schemas.microsoft.com/office/drawing/2014/main" id="{5F29EFF4-8688-7E32-972F-97EE42AAC191}"/>
              </a:ext>
            </a:extLst>
          </p:cNvPr>
          <p:cNvSpPr txBox="1"/>
          <p:nvPr/>
        </p:nvSpPr>
        <p:spPr>
          <a:xfrm>
            <a:off x="5798206" y="3386932"/>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19 Fielding Period -   Sep’23  –  Oct’23</a:t>
            </a:r>
          </a:p>
        </p:txBody>
      </p:sp>
      <p:grpSp>
        <p:nvGrpSpPr>
          <p:cNvPr id="47" name="Group 46">
            <a:extLst>
              <a:ext uri="{FF2B5EF4-FFF2-40B4-BE49-F238E27FC236}">
                <a16:creationId xmlns:a16="http://schemas.microsoft.com/office/drawing/2014/main" id="{85BE443E-637B-CDC3-282C-8FBDAFE1F688}"/>
              </a:ext>
            </a:extLst>
          </p:cNvPr>
          <p:cNvGrpSpPr/>
          <p:nvPr/>
        </p:nvGrpSpPr>
        <p:grpSpPr>
          <a:xfrm>
            <a:off x="241471" y="4355155"/>
            <a:ext cx="4212592" cy="1898499"/>
            <a:chOff x="227613" y="4138579"/>
            <a:chExt cx="4212590" cy="1898499"/>
          </a:xfrm>
        </p:grpSpPr>
        <p:sp>
          <p:nvSpPr>
            <p:cNvPr id="31" name="Google Shape;2188;p58">
              <a:extLst>
                <a:ext uri="{FF2B5EF4-FFF2-40B4-BE49-F238E27FC236}">
                  <a16:creationId xmlns:a16="http://schemas.microsoft.com/office/drawing/2014/main" id="{4BC38FD8-B434-4DF5-72C3-71EAD6EB83CA}"/>
                </a:ext>
              </a:extLst>
            </p:cNvPr>
            <p:cNvSpPr/>
            <p:nvPr/>
          </p:nvSpPr>
          <p:spPr>
            <a:xfrm>
              <a:off x="1267108" y="4198741"/>
              <a:ext cx="2133600" cy="30773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OTHER TAGS</a:t>
              </a:r>
              <a:endParaRPr kumimoji="0" sz="1400" b="1"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32" name="Google Shape;2189;p58">
              <a:extLst>
                <a:ext uri="{FF2B5EF4-FFF2-40B4-BE49-F238E27FC236}">
                  <a16:creationId xmlns:a16="http://schemas.microsoft.com/office/drawing/2014/main" id="{DD8B0203-25E1-101B-3717-99E4AE6AC00A}"/>
                </a:ext>
              </a:extLst>
            </p:cNvPr>
            <p:cNvSpPr/>
            <p:nvPr/>
          </p:nvSpPr>
          <p:spPr>
            <a:xfrm>
              <a:off x="227613" y="4138579"/>
              <a:ext cx="4212590" cy="1898499"/>
            </a:xfrm>
            <a:prstGeom prst="rect">
              <a:avLst/>
            </a:prstGeom>
            <a:noFill/>
            <a:ln w="12700" cap="flat" cmpd="sng">
              <a:solidFill>
                <a:srgbClr val="071D49"/>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51" b="0" i="0" u="none" strike="noStrike" kern="0" cap="none" spc="0" normalizeH="0" baseline="0" noProof="0">
                <a:ln>
                  <a:noFill/>
                </a:ln>
                <a:solidFill>
                  <a:prstClr val="white"/>
                </a:solidFill>
                <a:effectLst/>
                <a:uLnTx/>
                <a:uFillTx/>
                <a:latin typeface="Arial" panose="020B0604020202020204"/>
                <a:ea typeface="Calibri"/>
                <a:cs typeface="Calibri"/>
                <a:sym typeface="Calibri"/>
              </a:endParaRPr>
            </a:p>
          </p:txBody>
        </p:sp>
        <p:sp>
          <p:nvSpPr>
            <p:cNvPr id="35" name="Google Shape;2192;p58">
              <a:extLst>
                <a:ext uri="{FF2B5EF4-FFF2-40B4-BE49-F238E27FC236}">
                  <a16:creationId xmlns:a16="http://schemas.microsoft.com/office/drawing/2014/main" id="{8543E52F-B1B8-A7EF-0549-8FA4090A181A}"/>
                </a:ext>
              </a:extLst>
            </p:cNvPr>
            <p:cNvSpPr txBox="1"/>
            <p:nvPr/>
          </p:nvSpPr>
          <p:spPr>
            <a:xfrm>
              <a:off x="1556455" y="5134833"/>
              <a:ext cx="273134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Collected size of sample lower than 30</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36" name="Google Shape;2193;p58">
              <a:extLst>
                <a:ext uri="{FF2B5EF4-FFF2-40B4-BE49-F238E27FC236}">
                  <a16:creationId xmlns:a16="http://schemas.microsoft.com/office/drawing/2014/main" id="{A72479D4-3A1A-D9EC-2CE7-A92159193886}"/>
                </a:ext>
              </a:extLst>
            </p:cNvPr>
            <p:cNvSpPr/>
            <p:nvPr/>
          </p:nvSpPr>
          <p:spPr>
            <a:xfrm>
              <a:off x="381112" y="5134833"/>
              <a:ext cx="1175345" cy="254004"/>
            </a:xfrm>
            <a:prstGeom prst="rect">
              <a:avLst/>
            </a:prstGeom>
            <a:noFill/>
            <a:ln w="9525" cap="flat" cmpd="sng">
              <a:solidFill>
                <a:srgbClr val="FF0000"/>
              </a:solidFill>
              <a:prstDash val="solid"/>
              <a:round/>
              <a:headEnd type="none" w="sm" len="sm"/>
              <a:tailEnd type="none" w="sm" len="sm"/>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51" b="1" i="1" u="none" strike="noStrike" kern="0" cap="none" spc="0" normalizeH="0" baseline="0" noProof="0">
                  <a:ln>
                    <a:noFill/>
                  </a:ln>
                  <a:solidFill>
                    <a:srgbClr val="FF0000"/>
                  </a:solidFill>
                  <a:effectLst/>
                  <a:uLnTx/>
                  <a:uFillTx/>
                  <a:latin typeface="Arial" panose="020B0604020202020204"/>
                  <a:ea typeface="Calibri"/>
                  <a:cs typeface="Calibri"/>
                  <a:sym typeface="Calibri"/>
                </a:rPr>
                <a:t>*Low Sample Size</a:t>
              </a:r>
              <a:endParaRPr kumimoji="0" sz="12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9" name="Google Shape;2186;p58">
              <a:extLst>
                <a:ext uri="{FF2B5EF4-FFF2-40B4-BE49-F238E27FC236}">
                  <a16:creationId xmlns:a16="http://schemas.microsoft.com/office/drawing/2014/main" id="{F4879F47-2B1C-8A0B-D40F-408E586C79AE}"/>
                </a:ext>
              </a:extLst>
            </p:cNvPr>
            <p:cNvSpPr txBox="1"/>
            <p:nvPr/>
          </p:nvSpPr>
          <p:spPr>
            <a:xfrm>
              <a:off x="1556455" y="4537836"/>
              <a:ext cx="2721821"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Unaided responses captured</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34" name="Google Shape;2191;p58">
              <a:extLst>
                <a:ext uri="{FF2B5EF4-FFF2-40B4-BE49-F238E27FC236}">
                  <a16:creationId xmlns:a16="http://schemas.microsoft.com/office/drawing/2014/main" id="{BDEF93DC-8072-9D5A-2FA3-0156C751A744}"/>
                </a:ext>
              </a:extLst>
            </p:cNvPr>
            <p:cNvSpPr txBox="1"/>
            <p:nvPr/>
          </p:nvSpPr>
          <p:spPr>
            <a:xfrm>
              <a:off x="1556455" y="4826331"/>
              <a:ext cx="273134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Aided responses captured</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22" name="Google Shape;1747;p45">
              <a:extLst>
                <a:ext uri="{FF2B5EF4-FFF2-40B4-BE49-F238E27FC236}">
                  <a16:creationId xmlns:a16="http://schemas.microsoft.com/office/drawing/2014/main" id="{1E639C7A-3D87-04CC-DFE0-067C0DC09A78}"/>
                </a:ext>
              </a:extLst>
            </p:cNvPr>
            <p:cNvSpPr/>
            <p:nvPr/>
          </p:nvSpPr>
          <p:spPr>
            <a:xfrm>
              <a:off x="451258" y="4826331"/>
              <a:ext cx="1035050" cy="239591"/>
            </a:xfrm>
            <a:prstGeom prst="homePlate">
              <a:avLst/>
            </a:prstGeom>
            <a:solidFill>
              <a:srgbClr val="F3F3F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900"/>
                <a:buFont typeface="Arial"/>
                <a:buNone/>
                <a:tabLst/>
                <a:defRPr/>
              </a:pPr>
              <a:r>
                <a:rPr kumimoji="0" lang="en-US" sz="1051" b="1" i="0" u="none" strike="noStrike" kern="0" cap="none" spc="0" normalizeH="0" baseline="0" noProof="0">
                  <a:ln>
                    <a:noFill/>
                  </a:ln>
                  <a:solidFill>
                    <a:srgbClr val="001D49"/>
                  </a:solidFill>
                  <a:effectLst/>
                  <a:uLnTx/>
                  <a:uFillTx/>
                  <a:latin typeface="Arial" panose="020B0604020202020204"/>
                  <a:cs typeface="Calibri"/>
                  <a:sym typeface="Calibri"/>
                </a:rPr>
                <a:t>Aided</a:t>
              </a:r>
              <a:endParaRPr kumimoji="0" sz="1051" b="1" i="0" u="none" strike="noStrike" kern="0" cap="none" spc="0" normalizeH="0" baseline="0" noProof="0">
                <a:ln>
                  <a:noFill/>
                </a:ln>
                <a:solidFill>
                  <a:srgbClr val="001D49"/>
                </a:solidFill>
                <a:effectLst/>
                <a:uLnTx/>
                <a:uFillTx/>
                <a:latin typeface="Arial" panose="020B0604020202020204"/>
                <a:cs typeface="Calibri"/>
                <a:sym typeface="Arial"/>
              </a:endParaRPr>
            </a:p>
          </p:txBody>
        </p:sp>
        <p:sp>
          <p:nvSpPr>
            <p:cNvPr id="23" name="Google Shape;1747;p45">
              <a:extLst>
                <a:ext uri="{FF2B5EF4-FFF2-40B4-BE49-F238E27FC236}">
                  <a16:creationId xmlns:a16="http://schemas.microsoft.com/office/drawing/2014/main" id="{0B5D4AF4-E489-C053-7018-A74E31192694}"/>
                </a:ext>
              </a:extLst>
            </p:cNvPr>
            <p:cNvSpPr/>
            <p:nvPr/>
          </p:nvSpPr>
          <p:spPr>
            <a:xfrm>
              <a:off x="451258" y="4537836"/>
              <a:ext cx="1035050" cy="239591"/>
            </a:xfrm>
            <a:prstGeom prst="homePlate">
              <a:avLst/>
            </a:prstGeom>
            <a:solidFill>
              <a:srgbClr val="F3F3F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900"/>
                <a:buFont typeface="Arial"/>
                <a:buNone/>
                <a:tabLst/>
                <a:defRPr/>
              </a:pPr>
              <a:r>
                <a:rPr kumimoji="0" lang="en-US" sz="1051" b="1" i="0" u="none" strike="noStrike" kern="0" cap="none" spc="0" normalizeH="0" baseline="0" noProof="0">
                  <a:ln>
                    <a:noFill/>
                  </a:ln>
                  <a:solidFill>
                    <a:srgbClr val="001D49"/>
                  </a:solidFill>
                  <a:effectLst/>
                  <a:uLnTx/>
                  <a:uFillTx/>
                  <a:latin typeface="Arial" panose="020B0604020202020204"/>
                  <a:cs typeface="Calibri"/>
                  <a:sym typeface="Calibri"/>
                </a:rPr>
                <a:t>Unaided</a:t>
              </a:r>
              <a:endParaRPr kumimoji="0" lang="en-US" sz="1051" b="1" i="0" u="none" strike="noStrike" kern="0" cap="none" spc="0" normalizeH="0" baseline="0" noProof="0">
                <a:ln>
                  <a:noFill/>
                </a:ln>
                <a:solidFill>
                  <a:srgbClr val="001D49"/>
                </a:solidFill>
                <a:effectLst/>
                <a:uLnTx/>
                <a:uFillTx/>
                <a:latin typeface="Arial" panose="020B0604020202020204"/>
                <a:cs typeface="Calibri"/>
                <a:sym typeface="Arial"/>
              </a:endParaRPr>
            </a:p>
          </p:txBody>
        </p:sp>
        <p:sp>
          <p:nvSpPr>
            <p:cNvPr id="30" name="Google Shape;2187;p58">
              <a:extLst>
                <a:ext uri="{FF2B5EF4-FFF2-40B4-BE49-F238E27FC236}">
                  <a16:creationId xmlns:a16="http://schemas.microsoft.com/office/drawing/2014/main" id="{4FDACB7E-31B9-2C14-4568-3F8D92E5514D}"/>
                </a:ext>
              </a:extLst>
            </p:cNvPr>
            <p:cNvSpPr txBox="1"/>
            <p:nvPr/>
          </p:nvSpPr>
          <p:spPr>
            <a:xfrm>
              <a:off x="1556457" y="5513577"/>
              <a:ext cx="2604064" cy="40006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To indicate the start of the supply shortage for CREON</a:t>
              </a:r>
            </a:p>
          </p:txBody>
        </p:sp>
        <p:cxnSp>
          <p:nvCxnSpPr>
            <p:cNvPr id="37" name="Straight Connector 36">
              <a:extLst>
                <a:ext uri="{FF2B5EF4-FFF2-40B4-BE49-F238E27FC236}">
                  <a16:creationId xmlns:a16="http://schemas.microsoft.com/office/drawing/2014/main" id="{33B78C75-FE6E-BE25-1C34-6843735B22F9}"/>
                </a:ext>
              </a:extLst>
            </p:cNvPr>
            <p:cNvCxnSpPr>
              <a:cxnSpLocks/>
            </p:cNvCxnSpPr>
            <p:nvPr/>
          </p:nvCxnSpPr>
          <p:spPr>
            <a:xfrm flipV="1">
              <a:off x="968783" y="5515850"/>
              <a:ext cx="0" cy="395520"/>
            </a:xfrm>
            <a:prstGeom prst="line">
              <a:avLst/>
            </a:prstGeom>
            <a:ln w="19050">
              <a:solidFill>
                <a:srgbClr val="FFC000"/>
              </a:solidFill>
              <a:prstDash val="dash"/>
            </a:ln>
          </p:spPr>
          <p:style>
            <a:lnRef idx="1">
              <a:schemeClr val="accent1"/>
            </a:lnRef>
            <a:fillRef idx="0">
              <a:schemeClr val="accent1"/>
            </a:fillRef>
            <a:effectRef idx="0">
              <a:schemeClr val="accent1"/>
            </a:effectRef>
            <a:fontRef idx="minor">
              <a:schemeClr val="tx1"/>
            </a:fontRef>
          </p:style>
        </p:cxnSp>
      </p:grpSp>
      <p:sp>
        <p:nvSpPr>
          <p:cNvPr id="13" name="Google Shape;2190;p58">
            <a:extLst>
              <a:ext uri="{FF2B5EF4-FFF2-40B4-BE49-F238E27FC236}">
                <a16:creationId xmlns:a16="http://schemas.microsoft.com/office/drawing/2014/main" id="{D2BAB3DD-30DB-3C86-AC6B-52CC3E7E4D15}"/>
              </a:ext>
            </a:extLst>
          </p:cNvPr>
          <p:cNvSpPr/>
          <p:nvPr/>
        </p:nvSpPr>
        <p:spPr>
          <a:xfrm>
            <a:off x="4884256" y="3646038"/>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W20</a:t>
            </a:r>
          </a:p>
        </p:txBody>
      </p:sp>
      <p:sp>
        <p:nvSpPr>
          <p:cNvPr id="17" name="Google Shape;2196;p58">
            <a:extLst>
              <a:ext uri="{FF2B5EF4-FFF2-40B4-BE49-F238E27FC236}">
                <a16:creationId xmlns:a16="http://schemas.microsoft.com/office/drawing/2014/main" id="{60DEAC6B-86AF-CD14-283A-8E7A06FBDBC2}"/>
              </a:ext>
            </a:extLst>
          </p:cNvPr>
          <p:cNvSpPr txBox="1"/>
          <p:nvPr/>
        </p:nvSpPr>
        <p:spPr>
          <a:xfrm>
            <a:off x="5798206" y="3589196"/>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20 Fielding Period -   Nov’23  –  Dec’23</a:t>
            </a:r>
          </a:p>
        </p:txBody>
      </p:sp>
      <p:sp>
        <p:nvSpPr>
          <p:cNvPr id="41" name="Google Shape;2190;p58">
            <a:extLst>
              <a:ext uri="{FF2B5EF4-FFF2-40B4-BE49-F238E27FC236}">
                <a16:creationId xmlns:a16="http://schemas.microsoft.com/office/drawing/2014/main" id="{4EEE78DB-201B-CF06-13A2-A62355F6BBE4}"/>
              </a:ext>
            </a:extLst>
          </p:cNvPr>
          <p:cNvSpPr/>
          <p:nvPr/>
        </p:nvSpPr>
        <p:spPr>
          <a:xfrm>
            <a:off x="4884256" y="3849574"/>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W21</a:t>
            </a:r>
          </a:p>
        </p:txBody>
      </p:sp>
      <p:sp>
        <p:nvSpPr>
          <p:cNvPr id="42" name="Google Shape;2196;p58">
            <a:extLst>
              <a:ext uri="{FF2B5EF4-FFF2-40B4-BE49-F238E27FC236}">
                <a16:creationId xmlns:a16="http://schemas.microsoft.com/office/drawing/2014/main" id="{D7F2E168-1A02-C8AF-9701-28B945BFE0F5}"/>
              </a:ext>
            </a:extLst>
          </p:cNvPr>
          <p:cNvSpPr txBox="1"/>
          <p:nvPr/>
        </p:nvSpPr>
        <p:spPr>
          <a:xfrm>
            <a:off x="5798206" y="3791460"/>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21 Fielding Period -   Jan’24  –  Feb’24</a:t>
            </a:r>
          </a:p>
        </p:txBody>
      </p:sp>
      <p:sp>
        <p:nvSpPr>
          <p:cNvPr id="27" name="Google Shape;2190;p58">
            <a:extLst>
              <a:ext uri="{FF2B5EF4-FFF2-40B4-BE49-F238E27FC236}">
                <a16:creationId xmlns:a16="http://schemas.microsoft.com/office/drawing/2014/main" id="{FCFA5976-D564-5CD1-6441-ACD9EE9F9255}"/>
              </a:ext>
            </a:extLst>
          </p:cNvPr>
          <p:cNvSpPr/>
          <p:nvPr/>
        </p:nvSpPr>
        <p:spPr>
          <a:xfrm>
            <a:off x="4884256" y="4053110"/>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W22</a:t>
            </a:r>
          </a:p>
        </p:txBody>
      </p:sp>
      <p:sp>
        <p:nvSpPr>
          <p:cNvPr id="28" name="Google Shape;2196;p58">
            <a:extLst>
              <a:ext uri="{FF2B5EF4-FFF2-40B4-BE49-F238E27FC236}">
                <a16:creationId xmlns:a16="http://schemas.microsoft.com/office/drawing/2014/main" id="{9E2D30BB-B3DD-2E7C-F2A5-1485F1DA33AD}"/>
              </a:ext>
            </a:extLst>
          </p:cNvPr>
          <p:cNvSpPr txBox="1"/>
          <p:nvPr/>
        </p:nvSpPr>
        <p:spPr>
          <a:xfrm>
            <a:off x="5798206" y="3993724"/>
            <a:ext cx="2950824"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22 Fielding Period -   Mar’24 – Apr’24</a:t>
            </a:r>
          </a:p>
        </p:txBody>
      </p:sp>
      <p:sp>
        <p:nvSpPr>
          <p:cNvPr id="40" name="Google Shape;2190;p58">
            <a:extLst>
              <a:ext uri="{FF2B5EF4-FFF2-40B4-BE49-F238E27FC236}">
                <a16:creationId xmlns:a16="http://schemas.microsoft.com/office/drawing/2014/main" id="{776BA15F-6AC1-54E1-9AE4-7B92530D9249}"/>
              </a:ext>
            </a:extLst>
          </p:cNvPr>
          <p:cNvSpPr/>
          <p:nvPr/>
        </p:nvSpPr>
        <p:spPr>
          <a:xfrm>
            <a:off x="4884256" y="4256646"/>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W23</a:t>
            </a:r>
          </a:p>
        </p:txBody>
      </p:sp>
      <p:sp>
        <p:nvSpPr>
          <p:cNvPr id="45" name="Google Shape;2196;p58">
            <a:extLst>
              <a:ext uri="{FF2B5EF4-FFF2-40B4-BE49-F238E27FC236}">
                <a16:creationId xmlns:a16="http://schemas.microsoft.com/office/drawing/2014/main" id="{5119564B-6E24-FD2A-B3AA-CCEDD2D7CB67}"/>
              </a:ext>
            </a:extLst>
          </p:cNvPr>
          <p:cNvSpPr txBox="1"/>
          <p:nvPr/>
        </p:nvSpPr>
        <p:spPr>
          <a:xfrm>
            <a:off x="5798206" y="4195988"/>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23 Fielding Period -   May’24 – Jun’24</a:t>
            </a:r>
          </a:p>
        </p:txBody>
      </p:sp>
      <p:sp>
        <p:nvSpPr>
          <p:cNvPr id="46" name="Google Shape;2196;p58">
            <a:extLst>
              <a:ext uri="{FF2B5EF4-FFF2-40B4-BE49-F238E27FC236}">
                <a16:creationId xmlns:a16="http://schemas.microsoft.com/office/drawing/2014/main" id="{AF9AF82F-2D0A-B86B-0E64-DEA8FA7129F4}"/>
              </a:ext>
            </a:extLst>
          </p:cNvPr>
          <p:cNvSpPr txBox="1"/>
          <p:nvPr/>
        </p:nvSpPr>
        <p:spPr>
          <a:xfrm>
            <a:off x="5798206" y="4398252"/>
            <a:ext cx="2852018"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24 Fielding Period -   Jul’24 – Aug’24</a:t>
            </a:r>
          </a:p>
        </p:txBody>
      </p:sp>
      <p:sp>
        <p:nvSpPr>
          <p:cNvPr id="50" name="Google Shape;2190;p58">
            <a:extLst>
              <a:ext uri="{FF2B5EF4-FFF2-40B4-BE49-F238E27FC236}">
                <a16:creationId xmlns:a16="http://schemas.microsoft.com/office/drawing/2014/main" id="{9E44EC76-F5BF-5C5A-D3B6-F2A712B7F3BD}"/>
              </a:ext>
            </a:extLst>
          </p:cNvPr>
          <p:cNvSpPr/>
          <p:nvPr/>
        </p:nvSpPr>
        <p:spPr>
          <a:xfrm>
            <a:off x="4884256" y="4460182"/>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W24</a:t>
            </a:r>
          </a:p>
        </p:txBody>
      </p:sp>
      <p:sp>
        <p:nvSpPr>
          <p:cNvPr id="53" name="Google Shape;2196;p58">
            <a:extLst>
              <a:ext uri="{FF2B5EF4-FFF2-40B4-BE49-F238E27FC236}">
                <a16:creationId xmlns:a16="http://schemas.microsoft.com/office/drawing/2014/main" id="{0D40BBD7-591C-4757-FB70-6CAADE1131C1}"/>
              </a:ext>
            </a:extLst>
          </p:cNvPr>
          <p:cNvSpPr txBox="1"/>
          <p:nvPr/>
        </p:nvSpPr>
        <p:spPr>
          <a:xfrm>
            <a:off x="5798206" y="4600516"/>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25 Fielding Period -   Sep’24 – Oct’24</a:t>
            </a:r>
          </a:p>
        </p:txBody>
      </p:sp>
      <p:sp>
        <p:nvSpPr>
          <p:cNvPr id="54" name="Google Shape;2190;p58">
            <a:extLst>
              <a:ext uri="{FF2B5EF4-FFF2-40B4-BE49-F238E27FC236}">
                <a16:creationId xmlns:a16="http://schemas.microsoft.com/office/drawing/2014/main" id="{068F91BD-7A83-BC39-51CB-6EE56CB06B14}"/>
              </a:ext>
            </a:extLst>
          </p:cNvPr>
          <p:cNvSpPr/>
          <p:nvPr/>
        </p:nvSpPr>
        <p:spPr>
          <a:xfrm>
            <a:off x="4884256" y="4663718"/>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W25</a:t>
            </a:r>
          </a:p>
        </p:txBody>
      </p:sp>
      <p:sp>
        <p:nvSpPr>
          <p:cNvPr id="57" name="Google Shape;2196;p58">
            <a:extLst>
              <a:ext uri="{FF2B5EF4-FFF2-40B4-BE49-F238E27FC236}">
                <a16:creationId xmlns:a16="http://schemas.microsoft.com/office/drawing/2014/main" id="{19DB645A-1948-8480-F8C6-8426AD004C05}"/>
              </a:ext>
            </a:extLst>
          </p:cNvPr>
          <p:cNvSpPr txBox="1"/>
          <p:nvPr/>
        </p:nvSpPr>
        <p:spPr>
          <a:xfrm>
            <a:off x="5798206" y="4802780"/>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25 Fielding Period -   Nov’24 – Dec’24</a:t>
            </a:r>
          </a:p>
        </p:txBody>
      </p:sp>
      <p:sp>
        <p:nvSpPr>
          <p:cNvPr id="59" name="Google Shape;2190;p58">
            <a:extLst>
              <a:ext uri="{FF2B5EF4-FFF2-40B4-BE49-F238E27FC236}">
                <a16:creationId xmlns:a16="http://schemas.microsoft.com/office/drawing/2014/main" id="{F468AF60-8DA8-B803-DFDD-A7924BE2AF4C}"/>
              </a:ext>
            </a:extLst>
          </p:cNvPr>
          <p:cNvSpPr/>
          <p:nvPr/>
        </p:nvSpPr>
        <p:spPr>
          <a:xfrm>
            <a:off x="4884256" y="4867254"/>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W26</a:t>
            </a:r>
          </a:p>
        </p:txBody>
      </p:sp>
      <p:sp>
        <p:nvSpPr>
          <p:cNvPr id="55" name="Google Shape;2196;p58">
            <a:extLst>
              <a:ext uri="{FF2B5EF4-FFF2-40B4-BE49-F238E27FC236}">
                <a16:creationId xmlns:a16="http://schemas.microsoft.com/office/drawing/2014/main" id="{3AC68445-891F-D6EB-1756-958F964D84FF}"/>
              </a:ext>
            </a:extLst>
          </p:cNvPr>
          <p:cNvSpPr txBox="1"/>
          <p:nvPr/>
        </p:nvSpPr>
        <p:spPr>
          <a:xfrm>
            <a:off x="5798206" y="5005044"/>
            <a:ext cx="2852018"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27 Fielding Period -   Jan’25 – Feb’25</a:t>
            </a:r>
          </a:p>
        </p:txBody>
      </p:sp>
      <p:sp>
        <p:nvSpPr>
          <p:cNvPr id="56" name="Google Shape;2190;p58">
            <a:extLst>
              <a:ext uri="{FF2B5EF4-FFF2-40B4-BE49-F238E27FC236}">
                <a16:creationId xmlns:a16="http://schemas.microsoft.com/office/drawing/2014/main" id="{3F73710D-0B81-A0ED-11A8-06338DB9B61B}"/>
              </a:ext>
            </a:extLst>
          </p:cNvPr>
          <p:cNvSpPr/>
          <p:nvPr/>
        </p:nvSpPr>
        <p:spPr>
          <a:xfrm>
            <a:off x="4884256" y="5070790"/>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W27</a:t>
            </a:r>
          </a:p>
        </p:txBody>
      </p:sp>
      <p:sp>
        <p:nvSpPr>
          <p:cNvPr id="58" name="Google Shape;2196;p58">
            <a:extLst>
              <a:ext uri="{FF2B5EF4-FFF2-40B4-BE49-F238E27FC236}">
                <a16:creationId xmlns:a16="http://schemas.microsoft.com/office/drawing/2014/main" id="{0BBE6AFB-5E11-83B2-D24B-87E2475B437F}"/>
              </a:ext>
            </a:extLst>
          </p:cNvPr>
          <p:cNvSpPr txBox="1"/>
          <p:nvPr/>
        </p:nvSpPr>
        <p:spPr>
          <a:xfrm>
            <a:off x="5798206" y="5207308"/>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28 Fielding Period -   Mar’25 – Apr’25</a:t>
            </a:r>
          </a:p>
        </p:txBody>
      </p:sp>
      <p:sp>
        <p:nvSpPr>
          <p:cNvPr id="60" name="Google Shape;2190;p58">
            <a:extLst>
              <a:ext uri="{FF2B5EF4-FFF2-40B4-BE49-F238E27FC236}">
                <a16:creationId xmlns:a16="http://schemas.microsoft.com/office/drawing/2014/main" id="{4F8B112E-88E3-9242-EE9E-80C39688200A}"/>
              </a:ext>
            </a:extLst>
          </p:cNvPr>
          <p:cNvSpPr/>
          <p:nvPr/>
        </p:nvSpPr>
        <p:spPr>
          <a:xfrm>
            <a:off x="4884256" y="5274326"/>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W28</a:t>
            </a:r>
          </a:p>
        </p:txBody>
      </p:sp>
      <p:sp>
        <p:nvSpPr>
          <p:cNvPr id="62" name="Google Shape;2196;p58">
            <a:extLst>
              <a:ext uri="{FF2B5EF4-FFF2-40B4-BE49-F238E27FC236}">
                <a16:creationId xmlns:a16="http://schemas.microsoft.com/office/drawing/2014/main" id="{513CBA9E-6FC8-1395-B08F-7EF928734F5E}"/>
              </a:ext>
            </a:extLst>
          </p:cNvPr>
          <p:cNvSpPr txBox="1"/>
          <p:nvPr/>
        </p:nvSpPr>
        <p:spPr>
          <a:xfrm>
            <a:off x="5798206" y="5409572"/>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29 Fielding Period -   May’25 – Jun’25</a:t>
            </a:r>
          </a:p>
        </p:txBody>
      </p:sp>
      <p:sp>
        <p:nvSpPr>
          <p:cNvPr id="63" name="Google Shape;2190;p58">
            <a:extLst>
              <a:ext uri="{FF2B5EF4-FFF2-40B4-BE49-F238E27FC236}">
                <a16:creationId xmlns:a16="http://schemas.microsoft.com/office/drawing/2014/main" id="{68392D24-0AB5-FC8D-80B2-D811B3079BF5}"/>
              </a:ext>
            </a:extLst>
          </p:cNvPr>
          <p:cNvSpPr/>
          <p:nvPr/>
        </p:nvSpPr>
        <p:spPr>
          <a:xfrm>
            <a:off x="4884256" y="5477862"/>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W29</a:t>
            </a:r>
          </a:p>
        </p:txBody>
      </p:sp>
      <p:sp>
        <p:nvSpPr>
          <p:cNvPr id="43" name="Google Shape;2196;p58">
            <a:extLst>
              <a:ext uri="{FF2B5EF4-FFF2-40B4-BE49-F238E27FC236}">
                <a16:creationId xmlns:a16="http://schemas.microsoft.com/office/drawing/2014/main" id="{512B9320-BD8D-AF94-9E1F-E0343724565B}"/>
              </a:ext>
            </a:extLst>
          </p:cNvPr>
          <p:cNvSpPr txBox="1"/>
          <p:nvPr/>
        </p:nvSpPr>
        <p:spPr>
          <a:xfrm>
            <a:off x="5798206" y="5611844"/>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30 Fielding Period -   Jul’25 – Aug’25</a:t>
            </a:r>
          </a:p>
        </p:txBody>
      </p:sp>
      <p:sp>
        <p:nvSpPr>
          <p:cNvPr id="44" name="Google Shape;2190;p58">
            <a:extLst>
              <a:ext uri="{FF2B5EF4-FFF2-40B4-BE49-F238E27FC236}">
                <a16:creationId xmlns:a16="http://schemas.microsoft.com/office/drawing/2014/main" id="{17D2B4FC-3106-8193-0BF8-DC095BCF5A76}"/>
              </a:ext>
            </a:extLst>
          </p:cNvPr>
          <p:cNvSpPr/>
          <p:nvPr/>
        </p:nvSpPr>
        <p:spPr>
          <a:xfrm>
            <a:off x="4884256" y="5681399"/>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W30</a:t>
            </a:r>
          </a:p>
        </p:txBody>
      </p:sp>
      <p:sp>
        <p:nvSpPr>
          <p:cNvPr id="48" name="Google Shape;2196;p58">
            <a:extLst>
              <a:ext uri="{FF2B5EF4-FFF2-40B4-BE49-F238E27FC236}">
                <a16:creationId xmlns:a16="http://schemas.microsoft.com/office/drawing/2014/main" id="{46EA6803-91B0-9E2B-D2E2-D632454EE90B}"/>
              </a:ext>
            </a:extLst>
          </p:cNvPr>
          <p:cNvSpPr txBox="1"/>
          <p:nvPr/>
        </p:nvSpPr>
        <p:spPr>
          <a:xfrm>
            <a:off x="5798206" y="5814100"/>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31 Fielding Period -   Sep’25 – Oct’25</a:t>
            </a:r>
          </a:p>
        </p:txBody>
      </p:sp>
      <p:sp>
        <p:nvSpPr>
          <p:cNvPr id="49" name="Google Shape;2190;p58">
            <a:extLst>
              <a:ext uri="{FF2B5EF4-FFF2-40B4-BE49-F238E27FC236}">
                <a16:creationId xmlns:a16="http://schemas.microsoft.com/office/drawing/2014/main" id="{FAE8105D-439D-06C4-13DE-7F3E4B371DCD}"/>
              </a:ext>
            </a:extLst>
          </p:cNvPr>
          <p:cNvSpPr/>
          <p:nvPr/>
        </p:nvSpPr>
        <p:spPr>
          <a:xfrm>
            <a:off x="4884256" y="5883655"/>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W31</a:t>
            </a:r>
          </a:p>
        </p:txBody>
      </p:sp>
      <p:sp>
        <p:nvSpPr>
          <p:cNvPr id="51" name="Google Shape;2196;p58">
            <a:extLst>
              <a:ext uri="{FF2B5EF4-FFF2-40B4-BE49-F238E27FC236}">
                <a16:creationId xmlns:a16="http://schemas.microsoft.com/office/drawing/2014/main" id="{EA454890-87B1-8D09-8BDE-3E7466B28EF4}"/>
              </a:ext>
            </a:extLst>
          </p:cNvPr>
          <p:cNvSpPr txBox="1"/>
          <p:nvPr/>
        </p:nvSpPr>
        <p:spPr>
          <a:xfrm>
            <a:off x="5798206" y="6017643"/>
            <a:ext cx="2731347" cy="2307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Wave 32 Fielding Period -   Nov’25 – Dec’25</a:t>
            </a:r>
          </a:p>
        </p:txBody>
      </p:sp>
      <p:sp>
        <p:nvSpPr>
          <p:cNvPr id="61" name="Google Shape;2190;p58">
            <a:extLst>
              <a:ext uri="{FF2B5EF4-FFF2-40B4-BE49-F238E27FC236}">
                <a16:creationId xmlns:a16="http://schemas.microsoft.com/office/drawing/2014/main" id="{57E96AE5-4BAE-55EA-4B6D-6EDEE3CBED02}"/>
              </a:ext>
            </a:extLst>
          </p:cNvPr>
          <p:cNvSpPr/>
          <p:nvPr/>
        </p:nvSpPr>
        <p:spPr>
          <a:xfrm>
            <a:off x="4884256" y="6087198"/>
            <a:ext cx="379267" cy="138499"/>
          </a:xfrm>
          <a:prstGeom prst="rect">
            <a:avLst/>
          </a:prstGeom>
          <a:noFill/>
          <a:ln w="9525" cap="flat" cmpd="sng">
            <a:solidFill>
              <a:srgbClr val="071D49"/>
            </a:solidFill>
            <a:prstDash val="solid"/>
            <a:round/>
            <a:headEnd type="none" w="sm" len="sm"/>
            <a:tailEnd type="none" w="sm" len="sm"/>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9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W32</a:t>
            </a:r>
          </a:p>
        </p:txBody>
      </p:sp>
    </p:spTree>
    <p:extLst>
      <p:ext uri="{BB962C8B-B14F-4D97-AF65-F5344CB8AC3E}">
        <p14:creationId xmlns:p14="http://schemas.microsoft.com/office/powerpoint/2010/main" val="39151958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49" name="Google Shape;539;p14">
            <a:extLst>
              <a:ext uri="{FF2B5EF4-FFF2-40B4-BE49-F238E27FC236}">
                <a16:creationId xmlns:a16="http://schemas.microsoft.com/office/drawing/2014/main" id="{5B31CAEF-DEA4-4980-951A-F9407021CA6B}"/>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Salesforce Activity - Methodology</a:t>
            </a:r>
            <a:endParaRPr kumimoji="0" lang="en-US"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40" name="Rectangle 39">
            <a:extLst>
              <a:ext uri="{FF2B5EF4-FFF2-40B4-BE49-F238E27FC236}">
                <a16:creationId xmlns:a16="http://schemas.microsoft.com/office/drawing/2014/main" id="{ACBF7C30-C1DA-474B-82EC-5C5C5D5A7977}"/>
              </a:ext>
            </a:extLst>
          </p:cNvPr>
          <p:cNvSpPr/>
          <p:nvPr/>
        </p:nvSpPr>
        <p:spPr>
          <a:xfrm>
            <a:off x="1240751" y="2509225"/>
            <a:ext cx="1220176" cy="857251"/>
          </a:xfrm>
          <a:prstGeom prst="rect">
            <a:avLst/>
          </a:prstGeom>
          <a:noFill/>
          <a:ln>
            <a:solidFill>
              <a:srgbClr val="744314"/>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
                <a:srgbClr val="000000"/>
              </a:buClr>
              <a:buSzTx/>
              <a:buFont typeface="Arial"/>
              <a:buNone/>
              <a:tabLst/>
              <a:defRPr/>
            </a:pPr>
            <a:r>
              <a:rPr kumimoji="0" lang="en-IN" sz="1051" b="0" i="0" u="none" strike="noStrike" kern="0" cap="none" spc="0" normalizeH="0" baseline="0" noProof="0">
                <a:ln>
                  <a:noFill/>
                </a:ln>
                <a:solidFill>
                  <a:srgbClr val="744314"/>
                </a:solidFill>
                <a:effectLst/>
                <a:uLnTx/>
                <a:uFillTx/>
                <a:latin typeface="Arial" panose="020B0604020202020204"/>
                <a:ea typeface="Roboto" panose="02000000000000000000" pitchFamily="2" charset="0"/>
                <a:cs typeface="Calibri" panose="020F0502020204030204" pitchFamily="34" charset="0"/>
                <a:sym typeface="Arial"/>
              </a:rPr>
              <a:t>Reps interact with HCPs in the real-world</a:t>
            </a:r>
          </a:p>
        </p:txBody>
      </p:sp>
      <p:grpSp>
        <p:nvGrpSpPr>
          <p:cNvPr id="41" name="Group 40">
            <a:extLst>
              <a:ext uri="{FF2B5EF4-FFF2-40B4-BE49-F238E27FC236}">
                <a16:creationId xmlns:a16="http://schemas.microsoft.com/office/drawing/2014/main" id="{BB46C9A8-F751-4913-8F6C-CB53999DCC80}"/>
              </a:ext>
            </a:extLst>
          </p:cNvPr>
          <p:cNvGrpSpPr/>
          <p:nvPr/>
        </p:nvGrpSpPr>
        <p:grpSpPr>
          <a:xfrm>
            <a:off x="1326961" y="1085279"/>
            <a:ext cx="1047763" cy="1280081"/>
            <a:chOff x="1326958" y="1288475"/>
            <a:chExt cx="1047763" cy="1280081"/>
          </a:xfrm>
        </p:grpSpPr>
        <p:pic>
          <p:nvPicPr>
            <p:cNvPr id="42" name="Picture 41">
              <a:extLst>
                <a:ext uri="{FF2B5EF4-FFF2-40B4-BE49-F238E27FC236}">
                  <a16:creationId xmlns:a16="http://schemas.microsoft.com/office/drawing/2014/main" id="{0A910FF1-4559-4696-BAE1-E4B846367D55}"/>
                </a:ext>
              </a:extLst>
            </p:cNvPr>
            <p:cNvPicPr>
              <a:picLocks noChangeAspect="1"/>
            </p:cNvPicPr>
            <p:nvPr/>
          </p:nvPicPr>
          <p:blipFill>
            <a:blip r:embed="rId4"/>
            <a:stretch>
              <a:fillRect/>
            </a:stretch>
          </p:blipFill>
          <p:spPr>
            <a:xfrm>
              <a:off x="1579633" y="1434312"/>
              <a:ext cx="542412" cy="599816"/>
            </a:xfrm>
            <a:prstGeom prst="rect">
              <a:avLst/>
            </a:prstGeom>
          </p:spPr>
        </p:pic>
        <p:sp>
          <p:nvSpPr>
            <p:cNvPr id="43" name="Oval 42">
              <a:extLst>
                <a:ext uri="{FF2B5EF4-FFF2-40B4-BE49-F238E27FC236}">
                  <a16:creationId xmlns:a16="http://schemas.microsoft.com/office/drawing/2014/main" id="{0DEABD38-02CD-4442-9AE3-2E258F8DA33B}"/>
                </a:ext>
              </a:extLst>
            </p:cNvPr>
            <p:cNvSpPr/>
            <p:nvPr/>
          </p:nvSpPr>
          <p:spPr>
            <a:xfrm>
              <a:off x="1723841" y="2179490"/>
              <a:ext cx="254000" cy="254000"/>
            </a:xfrm>
            <a:prstGeom prst="ellipse">
              <a:avLst/>
            </a:prstGeom>
            <a:solidFill>
              <a:schemeClr val="tx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Tx/>
                <a:buSzTx/>
                <a:buFont typeface="Arial"/>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pitchFamily="34" charset="0"/>
                <a:ea typeface="Roboto" panose="02000000000000000000" pitchFamily="2" charset="0"/>
                <a:cs typeface="Calibri" panose="020F0502020204030204" pitchFamily="34" charset="0"/>
                <a:sym typeface="Arial"/>
              </a:endParaRPr>
            </a:p>
          </p:txBody>
        </p:sp>
        <p:sp>
          <p:nvSpPr>
            <p:cNvPr id="44" name="Rectangle: Rounded Corners 43">
              <a:extLst>
                <a:ext uri="{FF2B5EF4-FFF2-40B4-BE49-F238E27FC236}">
                  <a16:creationId xmlns:a16="http://schemas.microsoft.com/office/drawing/2014/main" id="{418BD62F-8722-4BF9-B570-46E3DF1E577C}"/>
                </a:ext>
              </a:extLst>
            </p:cNvPr>
            <p:cNvSpPr/>
            <p:nvPr/>
          </p:nvSpPr>
          <p:spPr>
            <a:xfrm>
              <a:off x="1326958" y="1288475"/>
              <a:ext cx="1047763" cy="1280081"/>
            </a:xfrm>
            <a:prstGeom prst="roundRect">
              <a:avLst/>
            </a:prstGeom>
            <a:noFill/>
            <a:ln>
              <a:solidFill>
                <a:srgbClr val="74431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prstClr val="white"/>
                </a:buClr>
                <a:buSzTx/>
                <a:buFont typeface="Arial"/>
                <a:buNone/>
                <a:tabLst/>
                <a:defRPr/>
              </a:pPr>
              <a:endParaRPr kumimoji="0" lang="en-IN" sz="1100" b="0" i="0" u="none" strike="noStrike" kern="0" cap="none" spc="0" normalizeH="0" baseline="0" noProof="0" err="1">
                <a:ln>
                  <a:noFill/>
                </a:ln>
                <a:solidFill>
                  <a:prstClr val="white"/>
                </a:solidFill>
                <a:effectLst/>
                <a:uLnTx/>
                <a:uFillTx/>
                <a:latin typeface="Calibri" panose="020F0502020204030204" pitchFamily="34" charset="0"/>
                <a:ea typeface="+mn-ea"/>
                <a:cs typeface="Calibri" panose="020F0502020204030204" pitchFamily="34" charset="0"/>
                <a:sym typeface="Arial"/>
              </a:endParaRPr>
            </a:p>
          </p:txBody>
        </p:sp>
      </p:grpSp>
      <p:sp>
        <p:nvSpPr>
          <p:cNvPr id="48" name="Rectangle 47">
            <a:extLst>
              <a:ext uri="{FF2B5EF4-FFF2-40B4-BE49-F238E27FC236}">
                <a16:creationId xmlns:a16="http://schemas.microsoft.com/office/drawing/2014/main" id="{2C8F7BD0-C3EF-412E-BAFD-7CECD3E237D7}"/>
              </a:ext>
            </a:extLst>
          </p:cNvPr>
          <p:cNvSpPr/>
          <p:nvPr/>
        </p:nvSpPr>
        <p:spPr>
          <a:xfrm>
            <a:off x="3961912" y="2509225"/>
            <a:ext cx="1220176" cy="857251"/>
          </a:xfrm>
          <a:prstGeom prst="rect">
            <a:avLst/>
          </a:prstGeom>
          <a:noFill/>
          <a:ln>
            <a:solidFill>
              <a:srgbClr val="071D49"/>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
                <a:srgbClr val="000000"/>
              </a:buClr>
              <a:buSzTx/>
              <a:buFont typeface="Arial"/>
              <a:buNone/>
              <a:tabLst/>
              <a:defRPr/>
            </a:pPr>
            <a:r>
              <a:rPr kumimoji="0" lang="en-IN" sz="1051" b="0" i="0" u="none" strike="noStrike" kern="0" cap="none" spc="0" normalizeH="0" baseline="0" noProof="0">
                <a:ln>
                  <a:noFill/>
                </a:ln>
                <a:solidFill>
                  <a:srgbClr val="071D49"/>
                </a:solidFill>
                <a:effectLst/>
                <a:uLnTx/>
                <a:uFillTx/>
                <a:latin typeface="Arial" panose="020B0604020202020204"/>
                <a:ea typeface="Roboto" panose="02000000000000000000" pitchFamily="2" charset="0"/>
                <a:cs typeface="Calibri" panose="020F0502020204030204" pitchFamily="34" charset="0"/>
                <a:sym typeface="Arial"/>
              </a:rPr>
              <a:t>AbbVie provides an HCP Target List to ZoomRx</a:t>
            </a:r>
          </a:p>
        </p:txBody>
      </p:sp>
      <p:grpSp>
        <p:nvGrpSpPr>
          <p:cNvPr id="50" name="Group 49">
            <a:extLst>
              <a:ext uri="{FF2B5EF4-FFF2-40B4-BE49-F238E27FC236}">
                <a16:creationId xmlns:a16="http://schemas.microsoft.com/office/drawing/2014/main" id="{333214F0-F1DF-4C3C-B64B-B2385314C195}"/>
              </a:ext>
            </a:extLst>
          </p:cNvPr>
          <p:cNvGrpSpPr/>
          <p:nvPr/>
        </p:nvGrpSpPr>
        <p:grpSpPr>
          <a:xfrm>
            <a:off x="4048122" y="1085279"/>
            <a:ext cx="1047763" cy="1280081"/>
            <a:chOff x="2830813" y="1288475"/>
            <a:chExt cx="1047763" cy="1280081"/>
          </a:xfrm>
        </p:grpSpPr>
        <p:sp>
          <p:nvSpPr>
            <p:cNvPr id="51" name="Oval 50">
              <a:extLst>
                <a:ext uri="{FF2B5EF4-FFF2-40B4-BE49-F238E27FC236}">
                  <a16:creationId xmlns:a16="http://schemas.microsoft.com/office/drawing/2014/main" id="{48AD714B-9EB6-4E63-8CEA-B1E140B89481}"/>
                </a:ext>
              </a:extLst>
            </p:cNvPr>
            <p:cNvSpPr/>
            <p:nvPr/>
          </p:nvSpPr>
          <p:spPr>
            <a:xfrm>
              <a:off x="3227696" y="2179490"/>
              <a:ext cx="254000" cy="254000"/>
            </a:xfrm>
            <a:prstGeom prst="ellipse">
              <a:avLst/>
            </a:prstGeom>
            <a:solidFill>
              <a:srgbClr val="071D4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Tx/>
                <a:buSzTx/>
                <a:buFont typeface="Arial"/>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pitchFamily="34" charset="0"/>
                <a:ea typeface="Roboto" panose="02000000000000000000" pitchFamily="2" charset="0"/>
                <a:cs typeface="Calibri" panose="020F0502020204030204" pitchFamily="34" charset="0"/>
                <a:sym typeface="Arial"/>
              </a:endParaRPr>
            </a:p>
          </p:txBody>
        </p:sp>
        <p:pic>
          <p:nvPicPr>
            <p:cNvPr id="52" name="Picture 51">
              <a:extLst>
                <a:ext uri="{FF2B5EF4-FFF2-40B4-BE49-F238E27FC236}">
                  <a16:creationId xmlns:a16="http://schemas.microsoft.com/office/drawing/2014/main" id="{0AF40A8A-3311-4A0C-B0F7-4B9832B7301C}"/>
                </a:ext>
              </a:extLst>
            </p:cNvPr>
            <p:cNvPicPr>
              <a:picLocks noChangeAspect="1"/>
            </p:cNvPicPr>
            <p:nvPr/>
          </p:nvPicPr>
          <p:blipFill>
            <a:blip r:embed="rId5"/>
            <a:stretch>
              <a:fillRect/>
            </a:stretch>
          </p:blipFill>
          <p:spPr>
            <a:xfrm>
              <a:off x="3086205" y="1388439"/>
              <a:ext cx="536978" cy="691562"/>
            </a:xfrm>
            <a:prstGeom prst="rect">
              <a:avLst/>
            </a:prstGeom>
          </p:spPr>
        </p:pic>
        <p:sp>
          <p:nvSpPr>
            <p:cNvPr id="53" name="Rectangle: Rounded Corners 52">
              <a:extLst>
                <a:ext uri="{FF2B5EF4-FFF2-40B4-BE49-F238E27FC236}">
                  <a16:creationId xmlns:a16="http://schemas.microsoft.com/office/drawing/2014/main" id="{796A5423-3498-425E-8315-C67794074EC2}"/>
                </a:ext>
              </a:extLst>
            </p:cNvPr>
            <p:cNvSpPr/>
            <p:nvPr/>
          </p:nvSpPr>
          <p:spPr>
            <a:xfrm>
              <a:off x="2830813" y="1288475"/>
              <a:ext cx="1047763" cy="1280081"/>
            </a:xfrm>
            <a:prstGeom prst="roundRect">
              <a:avLst/>
            </a:prstGeom>
            <a:no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prstClr val="white"/>
                </a:buClr>
                <a:buSzTx/>
                <a:buFont typeface="Arial"/>
                <a:buNone/>
                <a:tabLst/>
                <a:defRPr/>
              </a:pPr>
              <a:endParaRPr kumimoji="0" lang="en-IN" sz="1100" b="0" i="0" u="none" strike="noStrike" kern="0" cap="none" spc="0" normalizeH="0" baseline="0" noProof="0" err="1">
                <a:ln>
                  <a:noFill/>
                </a:ln>
                <a:solidFill>
                  <a:prstClr val="white"/>
                </a:solidFill>
                <a:effectLst/>
                <a:uLnTx/>
                <a:uFillTx/>
                <a:latin typeface="Calibri" panose="020F0502020204030204" pitchFamily="34" charset="0"/>
                <a:ea typeface="+mn-ea"/>
                <a:cs typeface="Calibri" panose="020F0502020204030204" pitchFamily="34" charset="0"/>
                <a:sym typeface="Arial"/>
              </a:endParaRPr>
            </a:p>
          </p:txBody>
        </p:sp>
      </p:grpSp>
      <p:sp>
        <p:nvSpPr>
          <p:cNvPr id="63" name="Rectangle 62">
            <a:extLst>
              <a:ext uri="{FF2B5EF4-FFF2-40B4-BE49-F238E27FC236}">
                <a16:creationId xmlns:a16="http://schemas.microsoft.com/office/drawing/2014/main" id="{B0ED030E-6BE6-424C-A707-023FFD7A48EB}"/>
              </a:ext>
            </a:extLst>
          </p:cNvPr>
          <p:cNvSpPr/>
          <p:nvPr/>
        </p:nvSpPr>
        <p:spPr>
          <a:xfrm>
            <a:off x="6194553" y="2509225"/>
            <a:ext cx="2197216" cy="857251"/>
          </a:xfrm>
          <a:prstGeom prst="rect">
            <a:avLst/>
          </a:prstGeom>
          <a:noFill/>
          <a:ln>
            <a:solidFill>
              <a:schemeClr val="accent6">
                <a:lumMod val="50000"/>
              </a:schemeClr>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
                <a:srgbClr val="000000"/>
              </a:buClr>
              <a:buSzTx/>
              <a:buFont typeface="Arial"/>
              <a:buNone/>
              <a:tabLst/>
              <a:defRPr/>
            </a:pPr>
            <a:r>
              <a:rPr kumimoji="0" lang="en-IN" sz="1051" b="0" i="0" u="none" strike="noStrike" kern="0" cap="none" spc="0" normalizeH="0" baseline="0" noProof="0">
                <a:ln>
                  <a:noFill/>
                </a:ln>
                <a:solidFill>
                  <a:srgbClr val="00A2FF">
                    <a:lumMod val="50000"/>
                  </a:srgbClr>
                </a:solidFill>
                <a:effectLst/>
                <a:uLnTx/>
                <a:uFillTx/>
                <a:latin typeface="Arial" panose="020B0604020202020204"/>
                <a:ea typeface="Roboto" panose="02000000000000000000" pitchFamily="2" charset="0"/>
                <a:cs typeface="Calibri" panose="020F0502020204030204" pitchFamily="34" charset="0"/>
                <a:sym typeface="Arial"/>
              </a:rPr>
              <a:t>ZoomRx recruits HCPs </a:t>
            </a:r>
            <a:r>
              <a:rPr kumimoji="0" lang="en-IN" sz="1051" b="1" i="0" u="sng" strike="noStrike" kern="0" cap="none" spc="0" normalizeH="0" baseline="0" noProof="0">
                <a:ln>
                  <a:noFill/>
                </a:ln>
                <a:solidFill>
                  <a:srgbClr val="00A2FF">
                    <a:lumMod val="50000"/>
                  </a:srgbClr>
                </a:solidFill>
                <a:effectLst/>
                <a:uLnTx/>
                <a:uFillTx/>
                <a:latin typeface="Arial" panose="020B0604020202020204"/>
                <a:ea typeface="Roboto" panose="02000000000000000000" pitchFamily="2" charset="0"/>
                <a:cs typeface="Calibri" panose="020F0502020204030204" pitchFamily="34" charset="0"/>
                <a:sym typeface="Arial"/>
              </a:rPr>
              <a:t>from the AbbVie Target List</a:t>
            </a:r>
            <a:r>
              <a:rPr kumimoji="0" lang="en-IN" sz="1051" b="0" i="0" u="none" strike="noStrike" kern="0" cap="none" spc="0" normalizeH="0" baseline="0" noProof="0">
                <a:ln>
                  <a:noFill/>
                </a:ln>
                <a:solidFill>
                  <a:srgbClr val="00A2FF">
                    <a:lumMod val="50000"/>
                  </a:srgbClr>
                </a:solidFill>
                <a:effectLst/>
                <a:uLnTx/>
                <a:uFillTx/>
                <a:latin typeface="Arial" panose="020B0604020202020204"/>
                <a:ea typeface="Roboto" panose="02000000000000000000" pitchFamily="2" charset="0"/>
                <a:cs typeface="Calibri" panose="020F0502020204030204" pitchFamily="34" charset="0"/>
                <a:sym typeface="Arial"/>
              </a:rPr>
              <a:t> who also had an AbbVie rep interaction in the past 48 hours</a:t>
            </a:r>
          </a:p>
        </p:txBody>
      </p:sp>
      <p:grpSp>
        <p:nvGrpSpPr>
          <p:cNvPr id="64" name="Group 63">
            <a:extLst>
              <a:ext uri="{FF2B5EF4-FFF2-40B4-BE49-F238E27FC236}">
                <a16:creationId xmlns:a16="http://schemas.microsoft.com/office/drawing/2014/main" id="{B6125408-A060-4DA4-AE1E-3E8003382030}"/>
              </a:ext>
            </a:extLst>
          </p:cNvPr>
          <p:cNvGrpSpPr/>
          <p:nvPr/>
        </p:nvGrpSpPr>
        <p:grpSpPr>
          <a:xfrm>
            <a:off x="6769282" y="1089695"/>
            <a:ext cx="1047763" cy="1280081"/>
            <a:chOff x="4803214" y="1288475"/>
            <a:chExt cx="1047763" cy="1280081"/>
          </a:xfrm>
        </p:grpSpPr>
        <p:sp>
          <p:nvSpPr>
            <p:cNvPr id="65" name="Oval 64">
              <a:extLst>
                <a:ext uri="{FF2B5EF4-FFF2-40B4-BE49-F238E27FC236}">
                  <a16:creationId xmlns:a16="http://schemas.microsoft.com/office/drawing/2014/main" id="{35FA06B0-6ABC-4D6E-893C-20291BDD57CA}"/>
                </a:ext>
              </a:extLst>
            </p:cNvPr>
            <p:cNvSpPr/>
            <p:nvPr/>
          </p:nvSpPr>
          <p:spPr>
            <a:xfrm>
              <a:off x="5200097" y="2179490"/>
              <a:ext cx="254000" cy="254000"/>
            </a:xfrm>
            <a:prstGeom prst="ellipse">
              <a:avLst/>
            </a:prstGeom>
            <a:solidFill>
              <a:schemeClr val="accent6">
                <a:lumMod val="50000"/>
              </a:schemeClr>
            </a:solidFill>
            <a:ln>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189" rtl="0" eaLnBrk="1" fontAlgn="auto" latinLnBrk="0" hangingPunct="1">
                <a:lnSpc>
                  <a:spcPct val="100000"/>
                </a:lnSpc>
                <a:spcBef>
                  <a:spcPts val="0"/>
                </a:spcBef>
                <a:spcAft>
                  <a:spcPts val="0"/>
                </a:spcAft>
                <a:buClrTx/>
                <a:buSzTx/>
                <a:buFont typeface="Arial"/>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pitchFamily="34" charset="0"/>
                <a:ea typeface="Roboto" panose="02000000000000000000" pitchFamily="2" charset="0"/>
                <a:cs typeface="Calibri" panose="020F0502020204030204" pitchFamily="34" charset="0"/>
                <a:sym typeface="Arial"/>
              </a:endParaRPr>
            </a:p>
          </p:txBody>
        </p:sp>
        <p:pic>
          <p:nvPicPr>
            <p:cNvPr id="66" name="Picture 65">
              <a:extLst>
                <a:ext uri="{FF2B5EF4-FFF2-40B4-BE49-F238E27FC236}">
                  <a16:creationId xmlns:a16="http://schemas.microsoft.com/office/drawing/2014/main" id="{18ED14DB-3221-40E7-8A0F-E796107B6F30}"/>
                </a:ext>
              </a:extLst>
            </p:cNvPr>
            <p:cNvPicPr>
              <a:picLocks noChangeAspect="1"/>
            </p:cNvPicPr>
            <p:nvPr/>
          </p:nvPicPr>
          <p:blipFill>
            <a:blip r:embed="rId6"/>
            <a:stretch>
              <a:fillRect/>
            </a:stretch>
          </p:blipFill>
          <p:spPr>
            <a:xfrm>
              <a:off x="4989717" y="1373154"/>
              <a:ext cx="674756" cy="722132"/>
            </a:xfrm>
            <a:prstGeom prst="rect">
              <a:avLst/>
            </a:prstGeom>
          </p:spPr>
        </p:pic>
        <p:sp>
          <p:nvSpPr>
            <p:cNvPr id="67" name="Rectangle: Rounded Corners 66">
              <a:extLst>
                <a:ext uri="{FF2B5EF4-FFF2-40B4-BE49-F238E27FC236}">
                  <a16:creationId xmlns:a16="http://schemas.microsoft.com/office/drawing/2014/main" id="{209A1810-174C-4425-A2AA-230A545A1481}"/>
                </a:ext>
              </a:extLst>
            </p:cNvPr>
            <p:cNvSpPr/>
            <p:nvPr/>
          </p:nvSpPr>
          <p:spPr>
            <a:xfrm>
              <a:off x="4803214" y="1288475"/>
              <a:ext cx="1047763" cy="1280081"/>
            </a:xfrm>
            <a:prstGeom prst="roundRect">
              <a:avLst/>
            </a:prstGeom>
            <a:no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prstClr val="white"/>
                </a:buClr>
                <a:buSzTx/>
                <a:buFont typeface="Arial"/>
                <a:buNone/>
                <a:tabLst/>
                <a:defRPr/>
              </a:pPr>
              <a:endParaRPr kumimoji="0" lang="en-IN" sz="1100" b="0" i="0" u="none" strike="noStrike" kern="0" cap="none" spc="0" normalizeH="0" baseline="0" noProof="0" err="1">
                <a:ln>
                  <a:noFill/>
                </a:ln>
                <a:solidFill>
                  <a:prstClr val="white"/>
                </a:solidFill>
                <a:effectLst/>
                <a:uLnTx/>
                <a:uFillTx/>
                <a:latin typeface="Calibri" panose="020F0502020204030204" pitchFamily="34" charset="0"/>
                <a:ea typeface="+mn-ea"/>
                <a:cs typeface="Calibri" panose="020F0502020204030204" pitchFamily="34" charset="0"/>
                <a:sym typeface="Arial"/>
              </a:endParaRPr>
            </a:p>
          </p:txBody>
        </p:sp>
      </p:grpSp>
      <p:cxnSp>
        <p:nvCxnSpPr>
          <p:cNvPr id="68" name="Straight Connector 67">
            <a:extLst>
              <a:ext uri="{FF2B5EF4-FFF2-40B4-BE49-F238E27FC236}">
                <a16:creationId xmlns:a16="http://schemas.microsoft.com/office/drawing/2014/main" id="{6428102C-25B7-4C02-B8DB-EE1E195188BE}"/>
              </a:ext>
            </a:extLst>
          </p:cNvPr>
          <p:cNvCxnSpPr>
            <a:cxnSpLocks/>
          </p:cNvCxnSpPr>
          <p:nvPr/>
        </p:nvCxnSpPr>
        <p:spPr bwMode="auto">
          <a:xfrm>
            <a:off x="365760" y="3524859"/>
            <a:ext cx="8412480" cy="0"/>
          </a:xfrm>
          <a:prstGeom prst="line">
            <a:avLst/>
          </a:prstGeom>
          <a:solidFill>
            <a:schemeClr val="accent1"/>
          </a:solidFill>
          <a:ln w="9525" cap="flat" cmpd="sng" algn="ctr">
            <a:solidFill>
              <a:srgbClr val="071D49"/>
            </a:solidFill>
            <a:prstDash val="dash"/>
            <a:round/>
            <a:headEnd type="none" w="med" len="med"/>
            <a:tailEnd type="none" w="med" len="med"/>
          </a:ln>
          <a:effectLst/>
        </p:spPr>
      </p:cxnSp>
      <p:graphicFrame>
        <p:nvGraphicFramePr>
          <p:cNvPr id="69" name="Table 2">
            <a:extLst>
              <a:ext uri="{FF2B5EF4-FFF2-40B4-BE49-F238E27FC236}">
                <a16:creationId xmlns:a16="http://schemas.microsoft.com/office/drawing/2014/main" id="{0BA5AC7C-2046-4692-B6C4-A18361282FD2}"/>
              </a:ext>
            </a:extLst>
          </p:cNvPr>
          <p:cNvGraphicFramePr>
            <a:graphicFrameLocks noGrp="1"/>
          </p:cNvGraphicFramePr>
          <p:nvPr>
            <p:custDataLst>
              <p:tags r:id="rId1"/>
            </p:custDataLst>
            <p:extLst>
              <p:ext uri="{D42A27DB-BD31-4B8C-83A1-F6EECF244321}">
                <p14:modId xmlns:p14="http://schemas.microsoft.com/office/powerpoint/2010/main" val="228036628"/>
              </p:ext>
            </p:extLst>
          </p:nvPr>
        </p:nvGraphicFramePr>
        <p:xfrm>
          <a:off x="703993" y="3696838"/>
          <a:ext cx="7736019" cy="2269857"/>
        </p:xfrm>
        <a:graphic>
          <a:graphicData uri="http://schemas.openxmlformats.org/drawingml/2006/table">
            <a:tbl>
              <a:tblPr firstRow="1" bandRow="1">
                <a:tableStyleId>{5C22544A-7EE6-4342-B048-85BDC9FD1C3A}</a:tableStyleId>
              </a:tblPr>
              <a:tblGrid>
                <a:gridCol w="2237203">
                  <a:extLst>
                    <a:ext uri="{9D8B030D-6E8A-4147-A177-3AD203B41FA5}">
                      <a16:colId xmlns:a16="http://schemas.microsoft.com/office/drawing/2014/main" val="867899285"/>
                    </a:ext>
                  </a:extLst>
                </a:gridCol>
                <a:gridCol w="2009495">
                  <a:extLst>
                    <a:ext uri="{9D8B030D-6E8A-4147-A177-3AD203B41FA5}">
                      <a16:colId xmlns:a16="http://schemas.microsoft.com/office/drawing/2014/main" val="1692314510"/>
                    </a:ext>
                  </a:extLst>
                </a:gridCol>
                <a:gridCol w="1163107">
                  <a:extLst>
                    <a:ext uri="{9D8B030D-6E8A-4147-A177-3AD203B41FA5}">
                      <a16:colId xmlns:a16="http://schemas.microsoft.com/office/drawing/2014/main" val="2480659648"/>
                    </a:ext>
                  </a:extLst>
                </a:gridCol>
                <a:gridCol w="1163107">
                  <a:extLst>
                    <a:ext uri="{9D8B030D-6E8A-4147-A177-3AD203B41FA5}">
                      <a16:colId xmlns:a16="http://schemas.microsoft.com/office/drawing/2014/main" val="1955831722"/>
                    </a:ext>
                  </a:extLst>
                </a:gridCol>
                <a:gridCol w="1163107">
                  <a:extLst>
                    <a:ext uri="{9D8B030D-6E8A-4147-A177-3AD203B41FA5}">
                      <a16:colId xmlns:a16="http://schemas.microsoft.com/office/drawing/2014/main" val="3791765255"/>
                    </a:ext>
                  </a:extLst>
                </a:gridCol>
              </a:tblGrid>
              <a:tr h="496751">
                <a:tc>
                  <a:txBody>
                    <a:bodyPr/>
                    <a:lstStyle/>
                    <a:p>
                      <a:pPr algn="ctr"/>
                      <a:r>
                        <a:rPr lang="en-IN" sz="1100" b="1" i="0">
                          <a:solidFill>
                            <a:schemeClr val="bg1"/>
                          </a:solidFill>
                          <a:latin typeface="+mj-lt"/>
                          <a:cs typeface="Calibri" panose="020F0502020204030204" pitchFamily="34" charset="0"/>
                        </a:rPr>
                        <a:t>Sales Force Activity</a:t>
                      </a:r>
                    </a:p>
                  </a:txBody>
                  <a:tcPr anchor="ctr">
                    <a:lnL w="12700" cap="flat" cmpd="sng" algn="ctr">
                      <a:solidFill>
                        <a:srgbClr val="071D49"/>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tcPr>
                </a:tc>
                <a:tc>
                  <a:txBody>
                    <a:bodyPr/>
                    <a:lstStyle/>
                    <a:p>
                      <a:pPr marL="0" marR="0" lvl="0" indent="0" algn="ctr" defTabSz="914400" rtl="0" eaLnBrk="0" fontAlgn="base" latinLnBrk="0" hangingPunct="0">
                        <a:lnSpc>
                          <a:spcPct val="100000"/>
                        </a:lnSpc>
                        <a:spcBef>
                          <a:spcPct val="10000"/>
                        </a:spcBef>
                        <a:spcAft>
                          <a:spcPct val="0"/>
                        </a:spcAft>
                        <a:buClr>
                          <a:srgbClr val="0B1F65"/>
                        </a:buClr>
                        <a:buSzTx/>
                        <a:buFont typeface="Webdings" pitchFamily="18" charset="2"/>
                        <a:buNone/>
                        <a:tabLst/>
                        <a:defRPr/>
                      </a:pPr>
                      <a:r>
                        <a:rPr kumimoji="0" lang="en-US" sz="1100" b="1" i="0" u="none" strike="noStrike" kern="0" cap="none" spc="0" normalizeH="0" baseline="0" noProof="0">
                          <a:ln>
                            <a:noFill/>
                          </a:ln>
                          <a:solidFill>
                            <a:schemeClr val="bg1"/>
                          </a:solidFill>
                          <a:effectLst/>
                          <a:uLnTx/>
                          <a:uFillTx/>
                          <a:latin typeface="+mj-lt"/>
                          <a:ea typeface="+mn-ea"/>
                          <a:cs typeface="Calibri" panose="020F0502020204030204" pitchFamily="34" charset="0"/>
                        </a:rPr>
                        <a:t>Methodology</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tcPr>
                </a:tc>
                <a:tc>
                  <a:txBody>
                    <a:bodyPr/>
                    <a:lstStyle/>
                    <a:p>
                      <a:pPr marL="0" marR="0" lvl="0" indent="0" algn="ctr" defTabSz="914400" rtl="0" eaLnBrk="0" fontAlgn="base" latinLnBrk="0" hangingPunct="0">
                        <a:lnSpc>
                          <a:spcPct val="100000"/>
                        </a:lnSpc>
                        <a:spcBef>
                          <a:spcPct val="10000"/>
                        </a:spcBef>
                        <a:spcAft>
                          <a:spcPct val="0"/>
                        </a:spcAft>
                        <a:buClr>
                          <a:srgbClr val="0B1F65"/>
                        </a:buClr>
                        <a:buSzTx/>
                        <a:buFont typeface="Webdings" pitchFamily="18" charset="2"/>
                        <a:buNone/>
                        <a:tabLst/>
                        <a:defRPr/>
                      </a:pPr>
                      <a:r>
                        <a:rPr kumimoji="0" lang="en-US" sz="1100" b="1" i="0" u="none" strike="noStrike" kern="0" cap="none" spc="0" normalizeH="0" baseline="0" noProof="0">
                          <a:ln>
                            <a:noFill/>
                          </a:ln>
                          <a:solidFill>
                            <a:schemeClr val="bg1"/>
                          </a:solidFill>
                          <a:effectLst/>
                          <a:uLnTx/>
                          <a:uFillTx/>
                          <a:latin typeface="+mj-lt"/>
                          <a:ea typeface="+mn-ea"/>
                          <a:cs typeface="Calibri" panose="020F0502020204030204" pitchFamily="34" charset="0"/>
                        </a:rPr>
                        <a:t>Reach^</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tcPr>
                </a:tc>
                <a:tc>
                  <a:txBody>
                    <a:bodyPr/>
                    <a:lstStyle/>
                    <a:p>
                      <a:pPr marL="0" marR="0" lvl="0" indent="0" algn="ctr" defTabSz="914400" rtl="0" eaLnBrk="0" fontAlgn="base" latinLnBrk="0" hangingPunct="0">
                        <a:lnSpc>
                          <a:spcPct val="100000"/>
                        </a:lnSpc>
                        <a:spcBef>
                          <a:spcPct val="10000"/>
                        </a:spcBef>
                        <a:spcAft>
                          <a:spcPct val="0"/>
                        </a:spcAft>
                        <a:buClr>
                          <a:srgbClr val="0B1F65"/>
                        </a:buClr>
                        <a:buSzTx/>
                        <a:buFont typeface="Webdings" pitchFamily="18" charset="2"/>
                        <a:buNone/>
                        <a:tabLst/>
                        <a:defRPr/>
                      </a:pPr>
                      <a:r>
                        <a:rPr kumimoji="0" lang="en-US" sz="1100" b="1" i="0" u="none" strike="noStrike" kern="0" cap="none" spc="0" normalizeH="0" baseline="0" noProof="0">
                          <a:ln>
                            <a:noFill/>
                          </a:ln>
                          <a:solidFill>
                            <a:schemeClr val="bg1"/>
                          </a:solidFill>
                          <a:effectLst/>
                          <a:uLnTx/>
                          <a:uFillTx/>
                          <a:latin typeface="+mj-lt"/>
                          <a:ea typeface="+mn-ea"/>
                          <a:cs typeface="Calibri" panose="020F0502020204030204" pitchFamily="34" charset="0"/>
                        </a:rPr>
                        <a:t>Frequency^</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tcPr>
                </a:tc>
                <a:tc>
                  <a:txBody>
                    <a:bodyPr/>
                    <a:lstStyle/>
                    <a:p>
                      <a:pPr marL="0" marR="0" lvl="0" indent="0" algn="ctr" defTabSz="914400" rtl="0" eaLnBrk="0" fontAlgn="base" latinLnBrk="0" hangingPunct="0">
                        <a:lnSpc>
                          <a:spcPct val="100000"/>
                        </a:lnSpc>
                        <a:spcBef>
                          <a:spcPct val="10000"/>
                        </a:spcBef>
                        <a:spcAft>
                          <a:spcPct val="0"/>
                        </a:spcAft>
                        <a:buClr>
                          <a:srgbClr val="0B1F65"/>
                        </a:buClr>
                        <a:buSzTx/>
                        <a:buFont typeface="Webdings" pitchFamily="18" charset="2"/>
                        <a:buNone/>
                        <a:tabLst/>
                        <a:defRPr/>
                      </a:pPr>
                      <a:r>
                        <a:rPr kumimoji="0" lang="en-US" sz="1100" b="1" i="0" u="none" strike="noStrike" kern="0" cap="none" spc="0" normalizeH="0" baseline="0" noProof="0">
                          <a:ln>
                            <a:noFill/>
                          </a:ln>
                          <a:solidFill>
                            <a:schemeClr val="bg1"/>
                          </a:solidFill>
                          <a:effectLst/>
                          <a:uLnTx/>
                          <a:uFillTx/>
                          <a:latin typeface="+mj-lt"/>
                          <a:ea typeface="+mn-ea"/>
                          <a:cs typeface="Calibri" panose="020F0502020204030204" pitchFamily="34" charset="0"/>
                        </a:rPr>
                        <a:t>Share of Voice</a:t>
                      </a:r>
                    </a:p>
                  </a:txBody>
                  <a:tcPr anchor="ctr">
                    <a:lnL w="6350" cap="flat" cmpd="sng" algn="ctr">
                      <a:solidFill>
                        <a:schemeClr val="bg1"/>
                      </a:solidFill>
                      <a:prstDash val="solid"/>
                      <a:round/>
                      <a:headEnd type="none" w="med" len="med"/>
                      <a:tailEnd type="none" w="med" len="med"/>
                    </a:lnL>
                    <a:lnR w="1270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tcPr>
                </a:tc>
                <a:extLst>
                  <a:ext uri="{0D108BD9-81ED-4DB2-BD59-A6C34878D82A}">
                    <a16:rowId xmlns:a16="http://schemas.microsoft.com/office/drawing/2014/main" val="1538108974"/>
                  </a:ext>
                </a:extLst>
              </a:tr>
              <a:tr h="886553">
                <a:tc>
                  <a:txBody>
                    <a:bodyPr/>
                    <a:lstStyle/>
                    <a:p>
                      <a:pPr algn="ctr"/>
                      <a:r>
                        <a:rPr lang="en-IN" sz="1100" b="1" i="0">
                          <a:solidFill>
                            <a:srgbClr val="071D49"/>
                          </a:solidFill>
                          <a:latin typeface="+mj-lt"/>
                          <a:cs typeface="Calibri" panose="020F0502020204030204" pitchFamily="34" charset="0"/>
                        </a:rPr>
                        <a:t>Previous Methodology</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solidFill>
                      <a:schemeClr val="bg1">
                        <a:lumMod val="85000"/>
                      </a:schemeClr>
                    </a:solidFill>
                  </a:tcPr>
                </a:tc>
                <a:tc>
                  <a:txBody>
                    <a:bodyPr/>
                    <a:lstStyle/>
                    <a:p>
                      <a:pPr algn="ctr"/>
                      <a:r>
                        <a:rPr lang="en-IN" sz="1100">
                          <a:solidFill>
                            <a:srgbClr val="071D49"/>
                          </a:solidFill>
                          <a:latin typeface="+mj-lt"/>
                          <a:cs typeface="Calibri" panose="020F0502020204030204" pitchFamily="34" charset="0"/>
                        </a:rPr>
                        <a:t>Unique HCPs and interactions considered at a </a:t>
                      </a:r>
                      <a:r>
                        <a:rPr lang="en-IN" sz="1100" b="1">
                          <a:solidFill>
                            <a:srgbClr val="071D49"/>
                          </a:solidFill>
                          <a:latin typeface="+mj-lt"/>
                          <a:cs typeface="Calibri" panose="020F0502020204030204" pitchFamily="34" charset="0"/>
                        </a:rPr>
                        <a:t>Wave Level</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12700" cap="flat" cmpd="sng" algn="ctr">
                      <a:solidFill>
                        <a:srgbClr val="071D49"/>
                      </a:solidFill>
                      <a:prstDash val="solid"/>
                      <a:round/>
                      <a:headEnd type="none" w="med" len="med"/>
                      <a:tailEnd type="none" w="med" len="med"/>
                    </a:lnB>
                    <a:solidFill>
                      <a:schemeClr val="bg1">
                        <a:lumMod val="95000"/>
                      </a:schemeClr>
                    </a:solidFill>
                  </a:tcPr>
                </a:tc>
                <a:tc rowSpan="2">
                  <a:txBody>
                    <a:bodyPr/>
                    <a:lstStyle/>
                    <a:p>
                      <a:pPr algn="ctr"/>
                      <a:r>
                        <a:rPr lang="en-IN" sz="1100">
                          <a:solidFill>
                            <a:srgbClr val="071D49"/>
                          </a:solidFill>
                          <a:latin typeface="+mj-lt"/>
                          <a:cs typeface="Calibri" panose="020F0502020204030204" pitchFamily="34" charset="0"/>
                        </a:rPr>
                        <a:t>Share of HCPs reached [COMPANY] representative</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tc rowSpan="2">
                  <a:txBody>
                    <a:bodyPr/>
                    <a:lstStyle/>
                    <a:p>
                      <a:pPr algn="ctr"/>
                      <a:r>
                        <a:rPr lang="en-IN" sz="1100">
                          <a:solidFill>
                            <a:srgbClr val="071D49"/>
                          </a:solidFill>
                          <a:latin typeface="+mj-lt"/>
                          <a:cs typeface="Calibri" panose="020F0502020204030204" pitchFamily="34" charset="0"/>
                        </a:rPr>
                        <a:t>Average number of times an HCP was visited per month /  wave by [COMPANY] representative</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tc rowSpan="2">
                  <a:txBody>
                    <a:bodyPr/>
                    <a:lstStyle/>
                    <a:p>
                      <a:pPr algn="ctr"/>
                      <a:r>
                        <a:rPr lang="en-IN" sz="1100">
                          <a:solidFill>
                            <a:srgbClr val="071D49"/>
                          </a:solidFill>
                          <a:latin typeface="+mj-lt"/>
                          <a:cs typeface="Calibri" panose="020F0502020204030204" pitchFamily="34" charset="0"/>
                        </a:rPr>
                        <a:t>Share of the total [COMPANY] interactions reported by HCPs for the month / wave</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extLst>
                  <a:ext uri="{0D108BD9-81ED-4DB2-BD59-A6C34878D82A}">
                    <a16:rowId xmlns:a16="http://schemas.microsoft.com/office/drawing/2014/main" val="1741019612"/>
                  </a:ext>
                </a:extLst>
              </a:tr>
              <a:tr h="886553">
                <a:tc>
                  <a:txBody>
                    <a:bodyPr/>
                    <a:lstStyle/>
                    <a:p>
                      <a:pPr algn="ctr"/>
                      <a:r>
                        <a:rPr lang="en-IN" sz="1100" b="1" i="0">
                          <a:solidFill>
                            <a:srgbClr val="071D49"/>
                          </a:solidFill>
                          <a:latin typeface="+mj-lt"/>
                          <a:cs typeface="Calibri" panose="020F0502020204030204" pitchFamily="34" charset="0"/>
                        </a:rPr>
                        <a:t>Current Methodology</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IN" sz="1100">
                          <a:solidFill>
                            <a:srgbClr val="071D49"/>
                          </a:solidFill>
                          <a:latin typeface="+mj-lt"/>
                          <a:cs typeface="Calibri" panose="020F0502020204030204" pitchFamily="34" charset="0"/>
                        </a:rPr>
                        <a:t>Unique HCPs and interactions considered at a </a:t>
                      </a:r>
                      <a:r>
                        <a:rPr lang="en-IN" sz="1100" b="1">
                          <a:solidFill>
                            <a:srgbClr val="071D49"/>
                          </a:solidFill>
                          <a:latin typeface="+mj-lt"/>
                          <a:cs typeface="Calibri" panose="020F0502020204030204" pitchFamily="34" charset="0"/>
                        </a:rPr>
                        <a:t>Monthly Level</a:t>
                      </a: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solidFill>
                      <a:schemeClr val="bg1">
                        <a:lumMod val="95000"/>
                      </a:schemeClr>
                    </a:solidFill>
                  </a:tcPr>
                </a:tc>
                <a:tc vMerge="1">
                  <a:txBody>
                    <a:bodyPr/>
                    <a:lstStyle/>
                    <a:p>
                      <a:pPr algn="l"/>
                      <a:endParaRPr lang="en-IN" sz="1050">
                        <a:solidFill>
                          <a:srgbClr val="071D49"/>
                        </a:solidFill>
                        <a:latin typeface="Calibri" panose="020F0502020204030204" pitchFamily="34" charset="0"/>
                        <a:cs typeface="Calibri" panose="020F0502020204030204" pitchFamily="34" charset="0"/>
                      </a:endParaRP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tc vMerge="1">
                  <a:txBody>
                    <a:bodyPr/>
                    <a:lstStyle/>
                    <a:p>
                      <a:pPr algn="l"/>
                      <a:endParaRPr lang="en-IN" sz="1050">
                        <a:solidFill>
                          <a:srgbClr val="071D49"/>
                        </a:solidFill>
                        <a:latin typeface="Calibri" panose="020F0502020204030204" pitchFamily="34" charset="0"/>
                        <a:cs typeface="Calibri" panose="020F0502020204030204" pitchFamily="34" charset="0"/>
                      </a:endParaRP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tc vMerge="1">
                  <a:txBody>
                    <a:bodyPr/>
                    <a:lstStyle/>
                    <a:p>
                      <a:pPr algn="l"/>
                      <a:endParaRPr lang="en-IN" sz="1050">
                        <a:solidFill>
                          <a:srgbClr val="071D49"/>
                        </a:solidFill>
                        <a:latin typeface="Calibri" panose="020F0502020204030204" pitchFamily="34" charset="0"/>
                        <a:cs typeface="Calibri" panose="020F0502020204030204" pitchFamily="34" charset="0"/>
                      </a:endParaRPr>
                    </a:p>
                  </a:txBody>
                  <a:tcPr anchor="ctr">
                    <a:lnL w="6350" cap="flat" cmpd="sng" algn="ctr">
                      <a:solidFill>
                        <a:srgbClr val="071D49"/>
                      </a:solidFill>
                      <a:prstDash val="solid"/>
                      <a:round/>
                      <a:headEnd type="none" w="med" len="med"/>
                      <a:tailEnd type="none" w="med" len="med"/>
                    </a:lnL>
                    <a:lnR w="6350" cap="flat" cmpd="sng" algn="ctr">
                      <a:solidFill>
                        <a:srgbClr val="071D49"/>
                      </a:solidFill>
                      <a:prstDash val="solid"/>
                      <a:round/>
                      <a:headEnd type="none" w="med" len="med"/>
                      <a:tailEnd type="none" w="med" len="med"/>
                    </a:lnR>
                    <a:lnT w="12700" cap="flat" cmpd="sng" algn="ctr">
                      <a:solidFill>
                        <a:srgbClr val="071D49"/>
                      </a:solidFill>
                      <a:prstDash val="solid"/>
                      <a:round/>
                      <a:headEnd type="none" w="med" len="med"/>
                      <a:tailEnd type="none" w="med" len="med"/>
                    </a:lnT>
                    <a:lnB w="6350" cap="flat" cmpd="sng" algn="ctr">
                      <a:solidFill>
                        <a:srgbClr val="071D49"/>
                      </a:solidFill>
                      <a:prstDash val="solid"/>
                      <a:round/>
                      <a:headEnd type="none" w="med" len="med"/>
                      <a:tailEnd type="none" w="med" len="med"/>
                    </a:lnB>
                    <a:noFill/>
                  </a:tcPr>
                </a:tc>
                <a:extLst>
                  <a:ext uri="{0D108BD9-81ED-4DB2-BD59-A6C34878D82A}">
                    <a16:rowId xmlns:a16="http://schemas.microsoft.com/office/drawing/2014/main" val="2613376002"/>
                  </a:ext>
                </a:extLst>
              </a:tr>
            </a:tbl>
          </a:graphicData>
        </a:graphic>
      </p:graphicFrame>
    </p:spTree>
    <p:extLst>
      <p:ext uri="{BB962C8B-B14F-4D97-AF65-F5344CB8AC3E}">
        <p14:creationId xmlns:p14="http://schemas.microsoft.com/office/powerpoint/2010/main" val="22908589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8" name="Rectangle 7">
            <a:extLst>
              <a:ext uri="{FF2B5EF4-FFF2-40B4-BE49-F238E27FC236}">
                <a16:creationId xmlns:a16="http://schemas.microsoft.com/office/drawing/2014/main" id="{055FDEA3-FC4E-4F5F-9343-EC0CC2370C9A}"/>
              </a:ext>
            </a:extLst>
          </p:cNvPr>
          <p:cNvSpPr/>
          <p:nvPr/>
        </p:nvSpPr>
        <p:spPr>
          <a:xfrm>
            <a:off x="6082824" y="1638302"/>
            <a:ext cx="2133600" cy="1851025"/>
          </a:xfrm>
          <a:prstGeom prst="rect">
            <a:avLst/>
          </a:prstGeom>
          <a:solidFill>
            <a:srgbClr val="36729C">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bIns="365760" rtlCol="0" anchor="b"/>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36729C"/>
                </a:solidFill>
                <a:effectLst/>
                <a:uLnTx/>
                <a:uFillTx/>
                <a:latin typeface="Arial" panose="020B0604020202020204"/>
                <a:ea typeface="+mn-ea"/>
                <a:cs typeface="Calibri" panose="020F0502020204030204" pitchFamily="34" charset="0"/>
                <a:sym typeface="Arial"/>
              </a:rPr>
              <a:t>High Recall</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36729C"/>
                </a:solidFill>
                <a:effectLst/>
                <a:uLnTx/>
                <a:uFillTx/>
                <a:latin typeface="Arial" panose="020B0604020202020204"/>
                <a:ea typeface="+mn-ea"/>
                <a:cs typeface="Calibri" panose="020F0502020204030204" pitchFamily="34" charset="0"/>
                <a:sym typeface="Arial"/>
              </a:rPr>
              <a:t>High Effectiveness</a:t>
            </a:r>
          </a:p>
        </p:txBody>
      </p:sp>
      <p:sp>
        <p:nvSpPr>
          <p:cNvPr id="56" name="Rectangle 55">
            <a:extLst>
              <a:ext uri="{FF2B5EF4-FFF2-40B4-BE49-F238E27FC236}">
                <a16:creationId xmlns:a16="http://schemas.microsoft.com/office/drawing/2014/main" id="{4165ECD2-0FB7-46DD-9EE2-E254D8D7B998}"/>
              </a:ext>
            </a:extLst>
          </p:cNvPr>
          <p:cNvSpPr/>
          <p:nvPr/>
        </p:nvSpPr>
        <p:spPr>
          <a:xfrm>
            <a:off x="6082824" y="3486151"/>
            <a:ext cx="2133600" cy="1689100"/>
          </a:xfrm>
          <a:prstGeom prst="rect">
            <a:avLst/>
          </a:prstGeom>
          <a:solidFill>
            <a:srgbClr val="0066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365760" bIns="365760" rtlCol="0" anchor="t"/>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06600"/>
                </a:solidFill>
                <a:effectLst/>
                <a:uLnTx/>
                <a:uFillTx/>
                <a:latin typeface="Arial" panose="020B0604020202020204"/>
                <a:ea typeface="+mn-ea"/>
                <a:cs typeface="Calibri" panose="020F0502020204030204" pitchFamily="34" charset="0"/>
                <a:sym typeface="Arial"/>
              </a:rPr>
              <a:t>Low Recall</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006600"/>
                </a:solidFill>
                <a:effectLst/>
                <a:uLnTx/>
                <a:uFillTx/>
                <a:latin typeface="Arial" panose="020B0604020202020204"/>
                <a:ea typeface="+mn-ea"/>
                <a:cs typeface="Calibri" panose="020F0502020204030204" pitchFamily="34" charset="0"/>
                <a:sym typeface="Arial"/>
              </a:rPr>
              <a:t>High Effectiveness</a:t>
            </a:r>
          </a:p>
        </p:txBody>
      </p:sp>
      <p:sp>
        <p:nvSpPr>
          <p:cNvPr id="57" name="Rectangle 56">
            <a:extLst>
              <a:ext uri="{FF2B5EF4-FFF2-40B4-BE49-F238E27FC236}">
                <a16:creationId xmlns:a16="http://schemas.microsoft.com/office/drawing/2014/main" id="{AF37ED90-D6AE-43E6-B9E3-DF11826D948F}"/>
              </a:ext>
            </a:extLst>
          </p:cNvPr>
          <p:cNvSpPr/>
          <p:nvPr/>
        </p:nvSpPr>
        <p:spPr>
          <a:xfrm>
            <a:off x="3934920" y="1638302"/>
            <a:ext cx="2133600" cy="1851025"/>
          </a:xfrm>
          <a:prstGeom prst="rect">
            <a:avLst/>
          </a:prstGeom>
          <a:solidFill>
            <a:schemeClr val="bg2">
              <a:lumMod val="75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365760" bIns="365760" rtlCol="0" anchor="b"/>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EDF0FF">
                    <a:lumMod val="50000"/>
                  </a:srgbClr>
                </a:solidFill>
                <a:effectLst/>
                <a:uLnTx/>
                <a:uFillTx/>
                <a:latin typeface="Arial" panose="020B0604020202020204"/>
                <a:ea typeface="+mn-ea"/>
                <a:cs typeface="Calibri" panose="020F0502020204030204" pitchFamily="34" charset="0"/>
                <a:sym typeface="Arial"/>
              </a:rPr>
              <a:t>High Recall</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EDF0FF">
                    <a:lumMod val="50000"/>
                  </a:srgbClr>
                </a:solidFill>
                <a:effectLst/>
                <a:uLnTx/>
                <a:uFillTx/>
                <a:latin typeface="Arial" panose="020B0604020202020204"/>
                <a:ea typeface="+mn-ea"/>
                <a:cs typeface="Calibri" panose="020F0502020204030204" pitchFamily="34" charset="0"/>
                <a:sym typeface="Arial"/>
              </a:rPr>
              <a:t>Low Effectiveness</a:t>
            </a:r>
          </a:p>
        </p:txBody>
      </p:sp>
      <p:sp>
        <p:nvSpPr>
          <p:cNvPr id="58" name="Rectangle 57">
            <a:extLst>
              <a:ext uri="{FF2B5EF4-FFF2-40B4-BE49-F238E27FC236}">
                <a16:creationId xmlns:a16="http://schemas.microsoft.com/office/drawing/2014/main" id="{157A0C39-8C6A-4B6C-85D8-BF48A8EFCEC3}"/>
              </a:ext>
            </a:extLst>
          </p:cNvPr>
          <p:cNvSpPr/>
          <p:nvPr/>
        </p:nvSpPr>
        <p:spPr>
          <a:xfrm>
            <a:off x="3934920" y="3486151"/>
            <a:ext cx="2133600" cy="1689100"/>
          </a:xfrm>
          <a:prstGeom prst="rect">
            <a:avLst/>
          </a:prstGeom>
          <a:solidFill>
            <a:srgbClr val="C0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365760" rIns="365760" bIns="365760" rtlCol="0" anchor="t"/>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C00000"/>
                </a:solidFill>
                <a:effectLst/>
                <a:uLnTx/>
                <a:uFillTx/>
                <a:latin typeface="Arial" panose="020B0604020202020204"/>
                <a:ea typeface="+mn-ea"/>
                <a:cs typeface="Calibri" panose="020F0502020204030204" pitchFamily="34" charset="0"/>
                <a:sym typeface="Arial"/>
              </a:rPr>
              <a:t>Low Recall</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0" i="0" u="none" strike="noStrike" kern="0" cap="none" spc="0" normalizeH="0" baseline="0" noProof="0">
                <a:ln>
                  <a:noFill/>
                </a:ln>
                <a:solidFill>
                  <a:srgbClr val="C00000"/>
                </a:solidFill>
                <a:effectLst/>
                <a:uLnTx/>
                <a:uFillTx/>
                <a:latin typeface="Arial" panose="020B0604020202020204"/>
                <a:ea typeface="+mn-ea"/>
                <a:cs typeface="Calibri" panose="020F0502020204030204" pitchFamily="34" charset="0"/>
                <a:sym typeface="Arial"/>
              </a:rPr>
              <a:t>Low Effectiveness</a:t>
            </a:r>
          </a:p>
        </p:txBody>
      </p:sp>
      <p:grpSp>
        <p:nvGrpSpPr>
          <p:cNvPr id="6" name="Group 5">
            <a:extLst>
              <a:ext uri="{FF2B5EF4-FFF2-40B4-BE49-F238E27FC236}">
                <a16:creationId xmlns:a16="http://schemas.microsoft.com/office/drawing/2014/main" id="{29AD5393-C586-474B-8723-EB9C6E587547}"/>
              </a:ext>
            </a:extLst>
          </p:cNvPr>
          <p:cNvGrpSpPr/>
          <p:nvPr/>
        </p:nvGrpSpPr>
        <p:grpSpPr>
          <a:xfrm>
            <a:off x="3437200" y="1323703"/>
            <a:ext cx="5184282" cy="4605521"/>
            <a:chOff x="1821833" y="1795018"/>
            <a:chExt cx="4302685" cy="4003577"/>
          </a:xfrm>
        </p:grpSpPr>
        <p:graphicFrame>
          <p:nvGraphicFramePr>
            <p:cNvPr id="84" name="Google Shape;1476;p37">
              <a:extLst>
                <a:ext uri="{FF2B5EF4-FFF2-40B4-BE49-F238E27FC236}">
                  <a16:creationId xmlns:a16="http://schemas.microsoft.com/office/drawing/2014/main" id="{665B54D3-C5CE-44D4-9A0F-82BDC92A3989}"/>
                </a:ext>
              </a:extLst>
            </p:cNvPr>
            <p:cNvGraphicFramePr/>
            <p:nvPr>
              <p:custDataLst>
                <p:tags r:id="rId1"/>
              </p:custDataLst>
            </p:nvPr>
          </p:nvGraphicFramePr>
          <p:xfrm>
            <a:off x="1977643" y="1795018"/>
            <a:ext cx="4146875" cy="4003577"/>
          </p:xfrm>
          <a:graphic>
            <a:graphicData uri="http://schemas.openxmlformats.org/drawingml/2006/chart">
              <c:chart xmlns:c="http://schemas.openxmlformats.org/drawingml/2006/chart" xmlns:r="http://schemas.openxmlformats.org/officeDocument/2006/relationships" r:id="rId4"/>
            </a:graphicData>
          </a:graphic>
        </p:graphicFrame>
        <p:grpSp>
          <p:nvGrpSpPr>
            <p:cNvPr id="5" name="Group 4">
              <a:extLst>
                <a:ext uri="{FF2B5EF4-FFF2-40B4-BE49-F238E27FC236}">
                  <a16:creationId xmlns:a16="http://schemas.microsoft.com/office/drawing/2014/main" id="{A7614227-C619-47BB-A4F1-939FD7BBA32A}"/>
                </a:ext>
              </a:extLst>
            </p:cNvPr>
            <p:cNvGrpSpPr/>
            <p:nvPr/>
          </p:nvGrpSpPr>
          <p:grpSpPr>
            <a:xfrm>
              <a:off x="1821833" y="1921627"/>
              <a:ext cx="4092247" cy="3588921"/>
              <a:chOff x="1821833" y="1921627"/>
              <a:chExt cx="4092247" cy="3588921"/>
            </a:xfrm>
          </p:grpSpPr>
          <p:cxnSp>
            <p:nvCxnSpPr>
              <p:cNvPr id="85" name="Google Shape;1477;p37">
                <a:extLst>
                  <a:ext uri="{FF2B5EF4-FFF2-40B4-BE49-F238E27FC236}">
                    <a16:creationId xmlns:a16="http://schemas.microsoft.com/office/drawing/2014/main" id="{11085945-9C7B-4298-9E2E-1A0C94400988}"/>
                  </a:ext>
                </a:extLst>
              </p:cNvPr>
              <p:cNvCxnSpPr>
                <a:cxnSpLocks/>
              </p:cNvCxnSpPr>
              <p:nvPr/>
            </p:nvCxnSpPr>
            <p:spPr>
              <a:xfrm>
                <a:off x="4011617" y="2041590"/>
                <a:ext cx="0" cy="3110006"/>
              </a:xfrm>
              <a:prstGeom prst="straightConnector1">
                <a:avLst/>
              </a:prstGeom>
              <a:solidFill>
                <a:schemeClr val="accent1"/>
              </a:solidFill>
              <a:ln w="9525" cap="flat" cmpd="sng">
                <a:solidFill>
                  <a:srgbClr val="A5A5A5"/>
                </a:solidFill>
                <a:prstDash val="dash"/>
                <a:round/>
                <a:headEnd type="none" w="sm" len="sm"/>
                <a:tailEnd type="none" w="sm" len="sm"/>
              </a:ln>
            </p:spPr>
          </p:cxnSp>
          <p:cxnSp>
            <p:nvCxnSpPr>
              <p:cNvPr id="86" name="Google Shape;1478;p37">
                <a:extLst>
                  <a:ext uri="{FF2B5EF4-FFF2-40B4-BE49-F238E27FC236}">
                    <a16:creationId xmlns:a16="http://schemas.microsoft.com/office/drawing/2014/main" id="{55ADB9EB-8A80-46B6-BBC7-DAF5EEC9459D}"/>
                  </a:ext>
                </a:extLst>
              </p:cNvPr>
              <p:cNvCxnSpPr>
                <a:cxnSpLocks/>
              </p:cNvCxnSpPr>
              <p:nvPr/>
            </p:nvCxnSpPr>
            <p:spPr>
              <a:xfrm>
                <a:off x="2224198" y="3675270"/>
                <a:ext cx="3588794" cy="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87" name="Google Shape;1479;p37">
                <a:extLst>
                  <a:ext uri="{FF2B5EF4-FFF2-40B4-BE49-F238E27FC236}">
                    <a16:creationId xmlns:a16="http://schemas.microsoft.com/office/drawing/2014/main" id="{1AA62D82-8BF8-4A56-A4BA-E8338788DF6C}"/>
                  </a:ext>
                </a:extLst>
              </p:cNvPr>
              <p:cNvSpPr/>
              <p:nvPr/>
            </p:nvSpPr>
            <p:spPr>
              <a:xfrm>
                <a:off x="3968157" y="3624341"/>
                <a:ext cx="88746" cy="96868"/>
              </a:xfrm>
              <a:prstGeom prst="rect">
                <a:avLst/>
              </a:prstGeom>
              <a:solidFill>
                <a:srgbClr val="00B05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88" name="Google Shape;1480;p37">
                <a:extLst>
                  <a:ext uri="{FF2B5EF4-FFF2-40B4-BE49-F238E27FC236}">
                    <a16:creationId xmlns:a16="http://schemas.microsoft.com/office/drawing/2014/main" id="{CACFE6A8-171F-459C-8C82-80F0426BC9C2}"/>
                  </a:ext>
                </a:extLst>
              </p:cNvPr>
              <p:cNvSpPr txBox="1"/>
              <p:nvPr/>
            </p:nvSpPr>
            <p:spPr>
              <a:xfrm>
                <a:off x="5454162" y="5296543"/>
                <a:ext cx="452009" cy="21400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High</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89" name="Google Shape;1481;p37">
                <a:extLst>
                  <a:ext uri="{FF2B5EF4-FFF2-40B4-BE49-F238E27FC236}">
                    <a16:creationId xmlns:a16="http://schemas.microsoft.com/office/drawing/2014/main" id="{8ED5DED8-9A63-49CD-B0D5-A09FA739C471}"/>
                  </a:ext>
                </a:extLst>
              </p:cNvPr>
              <p:cNvSpPr txBox="1"/>
              <p:nvPr/>
            </p:nvSpPr>
            <p:spPr>
              <a:xfrm>
                <a:off x="2124273" y="5296542"/>
                <a:ext cx="465636" cy="21400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Low</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0" name="Google Shape;1482;p37">
                <a:extLst>
                  <a:ext uri="{FF2B5EF4-FFF2-40B4-BE49-F238E27FC236}">
                    <a16:creationId xmlns:a16="http://schemas.microsoft.com/office/drawing/2014/main" id="{5709562D-8D1B-4D3D-8365-05B435C96E60}"/>
                  </a:ext>
                </a:extLst>
              </p:cNvPr>
              <p:cNvSpPr txBox="1"/>
              <p:nvPr/>
            </p:nvSpPr>
            <p:spPr>
              <a:xfrm rot="16200000">
                <a:off x="1686764" y="2056696"/>
                <a:ext cx="474456" cy="20431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High</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1" name="Google Shape;1483;p37">
                <a:extLst>
                  <a:ext uri="{FF2B5EF4-FFF2-40B4-BE49-F238E27FC236}">
                    <a16:creationId xmlns:a16="http://schemas.microsoft.com/office/drawing/2014/main" id="{24647D2F-B7DA-4B95-807A-A9AA0ABF4CDC}"/>
                  </a:ext>
                </a:extLst>
              </p:cNvPr>
              <p:cNvSpPr txBox="1"/>
              <p:nvPr/>
            </p:nvSpPr>
            <p:spPr>
              <a:xfrm>
                <a:off x="3334711" y="5142730"/>
                <a:ext cx="1440983" cy="21400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Message Effectiveness^</a:t>
                </a:r>
                <a:endParaRPr kumimoji="0" sz="1000" b="1"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92" name="Google Shape;1484;p37">
                <a:extLst>
                  <a:ext uri="{FF2B5EF4-FFF2-40B4-BE49-F238E27FC236}">
                    <a16:creationId xmlns:a16="http://schemas.microsoft.com/office/drawing/2014/main" id="{70D59AB2-90E6-4285-88D1-3A5A073BC47D}"/>
                  </a:ext>
                </a:extLst>
              </p:cNvPr>
              <p:cNvSpPr txBox="1"/>
              <p:nvPr/>
            </p:nvSpPr>
            <p:spPr>
              <a:xfrm rot="16200000">
                <a:off x="1626748" y="3539826"/>
                <a:ext cx="995786" cy="20431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a:ea typeface="Calibri"/>
                    <a:cs typeface="Calibri"/>
                    <a:sym typeface="Calibri"/>
                  </a:rPr>
                  <a:t>Message Recall</a:t>
                </a:r>
                <a:endParaRPr kumimoji="0" sz="1000" b="1"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94" name="Google Shape;1488;p37">
                <a:extLst>
                  <a:ext uri="{FF2B5EF4-FFF2-40B4-BE49-F238E27FC236}">
                    <a16:creationId xmlns:a16="http://schemas.microsoft.com/office/drawing/2014/main" id="{24F49919-8478-46D6-8931-C8D65A1B6A65}"/>
                  </a:ext>
                </a:extLst>
              </p:cNvPr>
              <p:cNvSpPr txBox="1"/>
              <p:nvPr/>
            </p:nvSpPr>
            <p:spPr>
              <a:xfrm rot="16200000">
                <a:off x="1726680" y="4886987"/>
                <a:ext cx="417269" cy="20431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Low</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5" name="Google Shape;1489;p37">
                <a:extLst>
                  <a:ext uri="{FF2B5EF4-FFF2-40B4-BE49-F238E27FC236}">
                    <a16:creationId xmlns:a16="http://schemas.microsoft.com/office/drawing/2014/main" id="{020CD54F-6196-450E-A18B-4EBAAB52858F}"/>
                  </a:ext>
                </a:extLst>
              </p:cNvPr>
              <p:cNvSpPr txBox="1"/>
              <p:nvPr/>
            </p:nvSpPr>
            <p:spPr>
              <a:xfrm>
                <a:off x="2145306" y="5142730"/>
                <a:ext cx="435896" cy="21400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40%</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6" name="Google Shape;1490;p37">
                <a:extLst>
                  <a:ext uri="{FF2B5EF4-FFF2-40B4-BE49-F238E27FC236}">
                    <a16:creationId xmlns:a16="http://schemas.microsoft.com/office/drawing/2014/main" id="{F47B6A34-C0F7-49E1-9AF0-B6AFA654064E}"/>
                  </a:ext>
                </a:extLst>
              </p:cNvPr>
              <p:cNvSpPr txBox="1"/>
              <p:nvPr/>
            </p:nvSpPr>
            <p:spPr>
              <a:xfrm>
                <a:off x="5436751" y="5142730"/>
                <a:ext cx="477329" cy="21400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80%</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7" name="Google Shape;1491;p37">
                <a:extLst>
                  <a:ext uri="{FF2B5EF4-FFF2-40B4-BE49-F238E27FC236}">
                    <a16:creationId xmlns:a16="http://schemas.microsoft.com/office/drawing/2014/main" id="{0FAA90D1-9EA4-43A6-B4AA-7A0A8087E1B0}"/>
                  </a:ext>
                </a:extLst>
              </p:cNvPr>
              <p:cNvSpPr txBox="1"/>
              <p:nvPr/>
            </p:nvSpPr>
            <p:spPr>
              <a:xfrm rot="16200000">
                <a:off x="1877299" y="4889053"/>
                <a:ext cx="478594" cy="20431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0%</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8" name="Google Shape;1492;p37">
                <a:extLst>
                  <a:ext uri="{FF2B5EF4-FFF2-40B4-BE49-F238E27FC236}">
                    <a16:creationId xmlns:a16="http://schemas.microsoft.com/office/drawing/2014/main" id="{9439AF8A-D256-4052-A5D8-63D45974F4FB}"/>
                  </a:ext>
                </a:extLst>
              </p:cNvPr>
              <p:cNvSpPr txBox="1"/>
              <p:nvPr/>
            </p:nvSpPr>
            <p:spPr>
              <a:xfrm rot="16200000">
                <a:off x="1884412" y="2066543"/>
                <a:ext cx="480457" cy="20431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80%</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99" name="Google Shape;1493;p37">
                <a:extLst>
                  <a:ext uri="{FF2B5EF4-FFF2-40B4-BE49-F238E27FC236}">
                    <a16:creationId xmlns:a16="http://schemas.microsoft.com/office/drawing/2014/main" id="{9BF94F8B-9C67-4775-9D06-3A898B002358}"/>
                  </a:ext>
                </a:extLst>
              </p:cNvPr>
              <p:cNvSpPr txBox="1"/>
              <p:nvPr/>
            </p:nvSpPr>
            <p:spPr>
              <a:xfrm>
                <a:off x="4629819" y="2063680"/>
                <a:ext cx="1155433" cy="214005"/>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36729C"/>
                    </a:solidFill>
                    <a:effectLst/>
                    <a:uLnTx/>
                    <a:uFillTx/>
                    <a:latin typeface="Arial" panose="020B0604020202020204"/>
                    <a:ea typeface="Calibri"/>
                    <a:cs typeface="Calibri"/>
                    <a:sym typeface="Calibri"/>
                  </a:rPr>
                  <a:t>Most Impactful</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100" name="Google Shape;1494;p37">
                <a:extLst>
                  <a:ext uri="{FF2B5EF4-FFF2-40B4-BE49-F238E27FC236}">
                    <a16:creationId xmlns:a16="http://schemas.microsoft.com/office/drawing/2014/main" id="{821E0F6B-4DFD-49DF-8349-8712F1FF09F5}"/>
                  </a:ext>
                </a:extLst>
              </p:cNvPr>
              <p:cNvSpPr txBox="1"/>
              <p:nvPr/>
            </p:nvSpPr>
            <p:spPr>
              <a:xfrm>
                <a:off x="2234604" y="4903628"/>
                <a:ext cx="1233518" cy="214005"/>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C00000"/>
                    </a:solidFill>
                    <a:effectLst/>
                    <a:uLnTx/>
                    <a:uFillTx/>
                    <a:latin typeface="Arial" panose="020B0604020202020204"/>
                    <a:ea typeface="Calibri"/>
                    <a:cs typeface="Calibri"/>
                    <a:sym typeface="Calibri"/>
                  </a:rPr>
                  <a:t>Least Impactful</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45" name="Google Shape;345;p10">
                <a:extLst>
                  <a:ext uri="{FF2B5EF4-FFF2-40B4-BE49-F238E27FC236}">
                    <a16:creationId xmlns:a16="http://schemas.microsoft.com/office/drawing/2014/main" id="{F2F45C33-0EA6-49FB-8802-AD4F4ACCEF7C}"/>
                  </a:ext>
                </a:extLst>
              </p:cNvPr>
              <p:cNvSpPr/>
              <p:nvPr/>
            </p:nvSpPr>
            <p:spPr>
              <a:xfrm>
                <a:off x="4011617" y="5020399"/>
                <a:ext cx="258489" cy="120397"/>
              </a:xfrm>
              <a:prstGeom prst="rect">
                <a:avLst/>
              </a:prstGeom>
              <a:noFill/>
              <a:ln>
                <a:solidFill>
                  <a:srgbClr val="A5A5A5"/>
                </a:solidFill>
                <a:prstDash val="dash"/>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t>xx%</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46" name="Google Shape;345;p10">
                <a:extLst>
                  <a:ext uri="{FF2B5EF4-FFF2-40B4-BE49-F238E27FC236}">
                    <a16:creationId xmlns:a16="http://schemas.microsoft.com/office/drawing/2014/main" id="{1844C1C2-4A4E-4C86-BE54-0424085FFE3E}"/>
                  </a:ext>
                </a:extLst>
              </p:cNvPr>
              <p:cNvSpPr/>
              <p:nvPr/>
            </p:nvSpPr>
            <p:spPr>
              <a:xfrm>
                <a:off x="2234411" y="3678726"/>
                <a:ext cx="258489" cy="120397"/>
              </a:xfrm>
              <a:prstGeom prst="rect">
                <a:avLst/>
              </a:prstGeom>
              <a:noFill/>
              <a:ln>
                <a:solidFill>
                  <a:srgbClr val="A5A5A5"/>
                </a:solidFill>
                <a:prstDash val="dash"/>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t>yy%</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grpSp>
      </p:grpSp>
      <p:sp>
        <p:nvSpPr>
          <p:cNvPr id="49" name="Google Shape;539;p14">
            <a:extLst>
              <a:ext uri="{FF2B5EF4-FFF2-40B4-BE49-F238E27FC236}">
                <a16:creationId xmlns:a16="http://schemas.microsoft.com/office/drawing/2014/main" id="{5B31CAEF-DEA4-4980-951A-F9407021CA6B}"/>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Message Performance Matrix</a:t>
            </a:r>
            <a:endParaRPr kumimoji="0" lang="en-US"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grpSp>
        <p:nvGrpSpPr>
          <p:cNvPr id="35" name="Group 34">
            <a:extLst>
              <a:ext uri="{FF2B5EF4-FFF2-40B4-BE49-F238E27FC236}">
                <a16:creationId xmlns:a16="http://schemas.microsoft.com/office/drawing/2014/main" id="{017B3CE3-352E-45AD-9B3A-7C7FED523FAA}"/>
              </a:ext>
            </a:extLst>
          </p:cNvPr>
          <p:cNvGrpSpPr/>
          <p:nvPr/>
        </p:nvGrpSpPr>
        <p:grpSpPr>
          <a:xfrm>
            <a:off x="4620850" y="5785686"/>
            <a:ext cx="3056659" cy="369291"/>
            <a:chOff x="6171218" y="5590223"/>
            <a:chExt cx="3056658" cy="369290"/>
          </a:xfrm>
        </p:grpSpPr>
        <p:sp>
          <p:nvSpPr>
            <p:cNvPr id="37" name="Google Shape;345;p10">
              <a:extLst>
                <a:ext uri="{FF2B5EF4-FFF2-40B4-BE49-F238E27FC236}">
                  <a16:creationId xmlns:a16="http://schemas.microsoft.com/office/drawing/2014/main" id="{356EC1D3-57A1-47EF-A0B8-322A47386ED7}"/>
                </a:ext>
              </a:extLst>
            </p:cNvPr>
            <p:cNvSpPr/>
            <p:nvPr/>
          </p:nvSpPr>
          <p:spPr>
            <a:xfrm>
              <a:off x="6252275" y="5590223"/>
              <a:ext cx="2975601" cy="36929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t>EPI Market Average </a:t>
              </a:r>
              <a:b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br>
              <a: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t>(Message Effectiveness - xx%, Message Recall - </a:t>
              </a:r>
              <a:r>
                <a:rPr kumimoji="0" lang="en-US" sz="900" b="0" i="0" u="none" strike="noStrike" kern="0" cap="none" spc="0" normalizeH="0" baseline="0" noProof="0" err="1">
                  <a:ln>
                    <a:noFill/>
                  </a:ln>
                  <a:solidFill>
                    <a:srgbClr val="00B050"/>
                  </a:solidFill>
                  <a:effectLst/>
                  <a:uLnTx/>
                  <a:uFillTx/>
                  <a:latin typeface="Arial" panose="020B0604020202020204"/>
                  <a:ea typeface="Calibri"/>
                  <a:cs typeface="Calibri"/>
                  <a:sym typeface="Calibri"/>
                </a:rPr>
                <a:t>yy</a:t>
              </a:r>
              <a:r>
                <a:rPr kumimoji="0" lang="en-US" sz="900" b="0" i="0" u="none" strike="noStrike" kern="0" cap="none" spc="0" normalizeH="0" baseline="0" noProof="0">
                  <a:ln>
                    <a:noFill/>
                  </a:ln>
                  <a:solidFill>
                    <a:srgbClr val="00B050"/>
                  </a:solidFill>
                  <a:effectLst/>
                  <a:uLnTx/>
                  <a:uFillTx/>
                  <a:latin typeface="Arial" panose="020B0604020202020204"/>
                  <a:ea typeface="Calibri"/>
                  <a:cs typeface="Calibri"/>
                  <a:sym typeface="Calibri"/>
                </a:rPr>
                <a:t>%)</a:t>
              </a:r>
              <a:endParaRPr kumimoji="0" sz="1400" b="0" i="0" u="none" strike="noStrike" kern="0" cap="none" spc="0" normalizeH="0" baseline="0" noProof="0">
                <a:ln>
                  <a:noFill/>
                </a:ln>
                <a:solidFill>
                  <a:srgbClr val="000000"/>
                </a:solidFill>
                <a:effectLst/>
                <a:uLnTx/>
                <a:uFillTx/>
                <a:latin typeface="Arial" panose="020B0604020202020204"/>
                <a:cs typeface="Arial"/>
                <a:sym typeface="Arial"/>
              </a:endParaRPr>
            </a:p>
          </p:txBody>
        </p:sp>
        <p:sp>
          <p:nvSpPr>
            <p:cNvPr id="38" name="Google Shape;346;p10">
              <a:extLst>
                <a:ext uri="{FF2B5EF4-FFF2-40B4-BE49-F238E27FC236}">
                  <a16:creationId xmlns:a16="http://schemas.microsoft.com/office/drawing/2014/main" id="{41A79576-7077-4768-A06D-CB50B32395EB}"/>
                </a:ext>
              </a:extLst>
            </p:cNvPr>
            <p:cNvSpPr/>
            <p:nvPr/>
          </p:nvSpPr>
          <p:spPr>
            <a:xfrm>
              <a:off x="6171218" y="5734667"/>
              <a:ext cx="91440" cy="91440"/>
            </a:xfrm>
            <a:prstGeom prst="rect">
              <a:avLst/>
            </a:prstGeom>
            <a:solidFill>
              <a:srgbClr val="00B050"/>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pSp>
      <p:sp>
        <p:nvSpPr>
          <p:cNvPr id="54" name="Freeform 8">
            <a:extLst>
              <a:ext uri="{FF2B5EF4-FFF2-40B4-BE49-F238E27FC236}">
                <a16:creationId xmlns:a16="http://schemas.microsoft.com/office/drawing/2014/main" id="{B75BF72E-8821-4ADC-BD00-9529DBA955F4}"/>
              </a:ext>
            </a:extLst>
          </p:cNvPr>
          <p:cNvSpPr>
            <a:spLocks/>
          </p:cNvSpPr>
          <p:nvPr/>
        </p:nvSpPr>
        <p:spPr bwMode="gray">
          <a:xfrm>
            <a:off x="2895601" y="1530351"/>
            <a:ext cx="125412" cy="3797300"/>
          </a:xfrm>
          <a:custGeom>
            <a:avLst/>
            <a:gdLst>
              <a:gd name="T0" fmla="*/ 0 w 94692"/>
              <a:gd name="T1" fmla="*/ 0 h 3865545"/>
              <a:gd name="T2" fmla="*/ 0 w 94692"/>
              <a:gd name="T3" fmla="*/ 0 h 3865545"/>
              <a:gd name="T4" fmla="*/ 124765 w 94692"/>
              <a:gd name="T5" fmla="*/ 0 h 3865545"/>
              <a:gd name="T6" fmla="*/ 124765 w 94692"/>
              <a:gd name="T7" fmla="*/ 3797010 h 3865545"/>
              <a:gd name="T8" fmla="*/ 0 w 94692"/>
              <a:gd name="T9" fmla="*/ 3797010 h 3865545"/>
              <a:gd name="T10" fmla="*/ 0 w 94692"/>
              <a:gd name="T11" fmla="*/ 3797010 h 38655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4692" h="3865545">
                <a:moveTo>
                  <a:pt x="0" y="0"/>
                </a:moveTo>
                <a:lnTo>
                  <a:pt x="0" y="0"/>
                </a:lnTo>
                <a:lnTo>
                  <a:pt x="94692" y="0"/>
                </a:lnTo>
                <a:lnTo>
                  <a:pt x="94692" y="3865545"/>
                </a:lnTo>
                <a:lnTo>
                  <a:pt x="0" y="3865545"/>
                </a:lnTo>
              </a:path>
            </a:pathLst>
          </a:custGeom>
          <a:noFill/>
          <a:ln w="25400" cap="flat" cmpd="sng" algn="ctr">
            <a:solidFill>
              <a:srgbClr val="071D49"/>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ctr" defTabSz="457189" rtl="0" eaLnBrk="1" fontAlgn="base" latinLnBrk="0" hangingPunct="1">
              <a:lnSpc>
                <a:spcPct val="90000"/>
              </a:lnSpc>
              <a:spcBef>
                <a:spcPct val="0"/>
              </a:spcBef>
              <a:spcAft>
                <a:spcPct val="0"/>
              </a:spcAft>
              <a:buClr>
                <a:srgbClr val="000000"/>
              </a:buClr>
              <a:buSzTx/>
              <a:buFont typeface="Arial"/>
              <a:buNone/>
              <a:tabLst/>
              <a:defRPr/>
            </a:pPr>
            <a:endParaRPr kumimoji="0" lang="en-US" sz="1400" b="0" i="0" u="none" strike="noStrike" kern="0" cap="none" spc="0" normalizeH="0" baseline="0" noProof="0">
              <a:ln>
                <a:noFill/>
              </a:ln>
              <a:solidFill>
                <a:srgbClr val="070605"/>
              </a:solidFill>
              <a:effectLst/>
              <a:uLnTx/>
              <a:uFillTx/>
              <a:latin typeface="Arial"/>
              <a:cs typeface="Arial"/>
              <a:sym typeface="Arial"/>
            </a:endParaRPr>
          </a:p>
        </p:txBody>
      </p:sp>
      <p:sp>
        <p:nvSpPr>
          <p:cNvPr id="55" name="Title 1">
            <a:extLst>
              <a:ext uri="{FF2B5EF4-FFF2-40B4-BE49-F238E27FC236}">
                <a16:creationId xmlns:a16="http://schemas.microsoft.com/office/drawing/2014/main" id="{BD283420-9798-456A-B297-5E38FF48555C}"/>
              </a:ext>
            </a:extLst>
          </p:cNvPr>
          <p:cNvSpPr txBox="1">
            <a:spLocks/>
          </p:cNvSpPr>
          <p:nvPr/>
        </p:nvSpPr>
        <p:spPr>
          <a:xfrm>
            <a:off x="269967" y="1541420"/>
            <a:ext cx="2751908" cy="3779519"/>
          </a:xfrm>
          <a:prstGeom prst="rect">
            <a:avLst/>
          </a:prstGeom>
        </p:spPr>
        <p:txBody>
          <a:bodyPr lIns="182880" rIns="182880"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Message Recall </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is plotted against</a:t>
            </a:r>
            <a:r>
              <a:rPr kumimoji="0" lang="en-US" sz="1600" b="1"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 </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Message Effectiveness</a:t>
            </a:r>
            <a:r>
              <a:rPr kumimoji="0" lang="en-US" sz="2000" b="0"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 </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endParaRP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in order to visually</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display overall</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800" b="1"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endParaRP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1" i="0" u="none" strike="noStrike" kern="0" cap="none" spc="0" normalizeH="0" baseline="0" noProof="0">
                <a:ln>
                  <a:noFill/>
                </a:ln>
                <a:solidFill>
                  <a:srgbClr val="071D49"/>
                </a:solidFill>
                <a:effectLst/>
                <a:uLnTx/>
                <a:uFillTx/>
                <a:latin typeface="Arial" panose="020B0604020202020204"/>
                <a:cs typeface="Calibri" panose="020F0502020204030204" pitchFamily="34" charset="0"/>
                <a:sym typeface="Arial"/>
              </a:rPr>
              <a:t>Message Impact</a:t>
            </a:r>
          </a:p>
        </p:txBody>
      </p:sp>
      <p:sp>
        <p:nvSpPr>
          <p:cNvPr id="9" name="Rectangle 8">
            <a:extLst>
              <a:ext uri="{FF2B5EF4-FFF2-40B4-BE49-F238E27FC236}">
                <a16:creationId xmlns:a16="http://schemas.microsoft.com/office/drawing/2014/main" id="{8728914C-90DF-4065-9951-300EC545FE7F}"/>
              </a:ext>
            </a:extLst>
          </p:cNvPr>
          <p:cNvSpPr/>
          <p:nvPr/>
        </p:nvSpPr>
        <p:spPr>
          <a:xfrm>
            <a:off x="4298951" y="2203451"/>
            <a:ext cx="1206500" cy="469900"/>
          </a:xfrm>
          <a:prstGeom prst="rect">
            <a:avLst/>
          </a:prstGeom>
          <a:noFill/>
          <a:ln w="6350">
            <a:solidFill>
              <a:srgbClr val="071D49"/>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1" u="none" strike="noStrike" kern="0" cap="none" spc="0" normalizeH="0" baseline="0" noProof="0">
                <a:ln>
                  <a:noFill/>
                </a:ln>
                <a:solidFill>
                  <a:srgbClr val="071D49"/>
                </a:solidFill>
                <a:effectLst/>
                <a:uLnTx/>
                <a:uFillTx/>
                <a:latin typeface="Arial" panose="020B0604020202020204"/>
                <a:ea typeface="+mn-ea"/>
                <a:cs typeface="Calibri" panose="020F0502020204030204" pitchFamily="34" charset="0"/>
                <a:sym typeface="Arial"/>
              </a:rPr>
              <a:t>Messages to be made more effective</a:t>
            </a:r>
          </a:p>
        </p:txBody>
      </p:sp>
      <p:sp>
        <p:nvSpPr>
          <p:cNvPr id="59" name="Rectangle 58">
            <a:extLst>
              <a:ext uri="{FF2B5EF4-FFF2-40B4-BE49-F238E27FC236}">
                <a16:creationId xmlns:a16="http://schemas.microsoft.com/office/drawing/2014/main" id="{674B60C4-D9C4-45A3-B7E1-904A40A7B8D9}"/>
              </a:ext>
            </a:extLst>
          </p:cNvPr>
          <p:cNvSpPr/>
          <p:nvPr/>
        </p:nvSpPr>
        <p:spPr>
          <a:xfrm>
            <a:off x="6819900" y="2203451"/>
            <a:ext cx="1041400" cy="355600"/>
          </a:xfrm>
          <a:prstGeom prst="rect">
            <a:avLst/>
          </a:prstGeom>
          <a:noFill/>
          <a:ln w="6350">
            <a:solidFill>
              <a:srgbClr val="071D49"/>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1" u="none" strike="noStrike" kern="0" cap="none" spc="0" normalizeH="0" baseline="0" noProof="0">
                <a:ln>
                  <a:noFill/>
                </a:ln>
                <a:solidFill>
                  <a:srgbClr val="071D49"/>
                </a:solidFill>
                <a:effectLst/>
                <a:uLnTx/>
                <a:uFillTx/>
                <a:latin typeface="Arial" panose="020B0604020202020204"/>
                <a:ea typeface="+mn-ea"/>
                <a:cs typeface="Calibri" panose="020F0502020204030204" pitchFamily="34" charset="0"/>
                <a:sym typeface="Arial"/>
              </a:rPr>
              <a:t>Messages have High Impact</a:t>
            </a:r>
          </a:p>
        </p:txBody>
      </p:sp>
      <p:sp>
        <p:nvSpPr>
          <p:cNvPr id="60" name="Rectangle 59">
            <a:extLst>
              <a:ext uri="{FF2B5EF4-FFF2-40B4-BE49-F238E27FC236}">
                <a16:creationId xmlns:a16="http://schemas.microsoft.com/office/drawing/2014/main" id="{ADE50145-8E1F-4415-A564-101FB8C9C2E2}"/>
              </a:ext>
            </a:extLst>
          </p:cNvPr>
          <p:cNvSpPr/>
          <p:nvPr/>
        </p:nvSpPr>
        <p:spPr>
          <a:xfrm>
            <a:off x="6819901" y="4438651"/>
            <a:ext cx="1125028" cy="469900"/>
          </a:xfrm>
          <a:prstGeom prst="rect">
            <a:avLst/>
          </a:prstGeom>
          <a:noFill/>
          <a:ln w="6350">
            <a:solidFill>
              <a:srgbClr val="071D49"/>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1" i="1" u="none" strike="noStrike" kern="0" cap="none" spc="0" normalizeH="0" baseline="0" noProof="0">
                <a:ln>
                  <a:noFill/>
                </a:ln>
                <a:solidFill>
                  <a:srgbClr val="071D49"/>
                </a:solidFill>
                <a:effectLst/>
                <a:uLnTx/>
                <a:uFillTx/>
                <a:latin typeface="Arial" panose="020B0604020202020204"/>
                <a:ea typeface="+mn-ea"/>
                <a:cs typeface="Calibri" panose="020F0502020204030204" pitchFamily="34" charset="0"/>
                <a:sym typeface="Arial"/>
              </a:rPr>
              <a:t>Messages need to be delivered more frequently</a:t>
            </a:r>
          </a:p>
        </p:txBody>
      </p:sp>
    </p:spTree>
    <p:extLst>
      <p:ext uri="{BB962C8B-B14F-4D97-AF65-F5344CB8AC3E}">
        <p14:creationId xmlns:p14="http://schemas.microsoft.com/office/powerpoint/2010/main" val="2721695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AEF02A-16C8-4B61-562C-A17E34A1185F}"/>
            </a:ext>
          </a:extLst>
        </p:cNvPr>
        <p:cNvGrpSpPr/>
        <p:nvPr/>
      </p:nvGrpSpPr>
      <p:grpSpPr>
        <a:xfrm>
          <a:off x="0" y="0"/>
          <a:ext cx="0" cy="0"/>
          <a:chOff x="0" y="0"/>
          <a:chExt cx="0" cy="0"/>
        </a:xfrm>
      </p:grpSpPr>
      <p:grpSp>
        <p:nvGrpSpPr>
          <p:cNvPr id="37" name="Group 36">
            <a:extLst>
              <a:ext uri="{FF2B5EF4-FFF2-40B4-BE49-F238E27FC236}">
                <a16:creationId xmlns:a16="http://schemas.microsoft.com/office/drawing/2014/main" id="{6F25BF33-AB32-3CE2-7BBF-E44EAFEBF604}"/>
              </a:ext>
            </a:extLst>
          </p:cNvPr>
          <p:cNvGrpSpPr/>
          <p:nvPr/>
        </p:nvGrpSpPr>
        <p:grpSpPr>
          <a:xfrm>
            <a:off x="1658416" y="1578795"/>
            <a:ext cx="5827175" cy="3700415"/>
            <a:chOff x="1777200" y="2321477"/>
            <a:chExt cx="5827175" cy="3700414"/>
          </a:xfrm>
        </p:grpSpPr>
        <p:cxnSp>
          <p:nvCxnSpPr>
            <p:cNvPr id="12" name="Connector: Elbow 11">
              <a:extLst>
                <a:ext uri="{FF2B5EF4-FFF2-40B4-BE49-F238E27FC236}">
                  <a16:creationId xmlns:a16="http://schemas.microsoft.com/office/drawing/2014/main" id="{9AC6A676-89CC-53F0-5B1C-206D3402A2E6}"/>
                </a:ext>
              </a:extLst>
            </p:cNvPr>
            <p:cNvCxnSpPr>
              <a:cxnSpLocks/>
            </p:cNvCxnSpPr>
            <p:nvPr/>
          </p:nvCxnSpPr>
          <p:spPr>
            <a:xfrm>
              <a:off x="2911200" y="3858940"/>
              <a:ext cx="1347553" cy="946298"/>
            </a:xfrm>
            <a:prstGeom prst="bentConnector3">
              <a:avLst>
                <a:gd name="adj1" fmla="val -214"/>
              </a:avLst>
            </a:prstGeom>
            <a:ln w="38100">
              <a:solidFill>
                <a:srgbClr val="79C03B"/>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D619D204-B708-30BE-3F02-047C4ADB5176}"/>
                </a:ext>
              </a:extLst>
            </p:cNvPr>
            <p:cNvSpPr/>
            <p:nvPr/>
          </p:nvSpPr>
          <p:spPr>
            <a:xfrm>
              <a:off x="1939813" y="5301891"/>
              <a:ext cx="5264374" cy="720000"/>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1"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mn-ea"/>
                  <a:cs typeface="+mn-cs"/>
                  <a:sym typeface="Arial"/>
                </a:rPr>
                <a:t>High-Impact Interactions​</a:t>
              </a:r>
            </a:p>
            <a:p>
              <a:pPr marL="0" marR="0" lvl="1"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mn-ea"/>
                  <a:cs typeface="+mn-cs"/>
                  <a:sym typeface="Arial"/>
                </a:rPr>
                <a:t>(% of interactions where HCPs rated overall quality and likelihood to prescribe product high (6,7))​</a:t>
              </a:r>
              <a:r>
                <a:rPr kumimoji="0" lang="en-GB" sz="1400" b="0" i="0" u="none" strike="noStrike" kern="0" cap="none" spc="0" normalizeH="0" baseline="0" noProof="0">
                  <a:ln>
                    <a:noFill/>
                  </a:ln>
                  <a:solidFill>
                    <a:srgbClr val="000000"/>
                  </a:solidFill>
                  <a:effectLst/>
                  <a:uLnTx/>
                  <a:uFillTx/>
                  <a:latin typeface="Arial" panose="020B0604020202020204"/>
                  <a:ea typeface="+mn-ea"/>
                  <a:cs typeface="+mn-cs"/>
                  <a:sym typeface="Arial"/>
                </a:rPr>
                <a:t>. </a:t>
              </a:r>
              <a:endParaRPr kumimoji="0" lang="en-GB" sz="1151" b="0" i="0" u="none" strike="noStrike" kern="0" cap="none" spc="0" normalizeH="0" baseline="0" noProof="0">
                <a:ln>
                  <a:noFill/>
                </a:ln>
                <a:solidFill>
                  <a:srgbClr val="071D49"/>
                </a:solidFill>
                <a:effectLst/>
                <a:uLnTx/>
                <a:uFillTx/>
                <a:latin typeface="Arial" panose="020B0604020202020204"/>
                <a:ea typeface="+mn-ea"/>
                <a:cs typeface="+mn-cs"/>
                <a:sym typeface="Arial"/>
              </a:endParaRPr>
            </a:p>
          </p:txBody>
        </p:sp>
        <p:grpSp>
          <p:nvGrpSpPr>
            <p:cNvPr id="36" name="Group 35">
              <a:extLst>
                <a:ext uri="{FF2B5EF4-FFF2-40B4-BE49-F238E27FC236}">
                  <a16:creationId xmlns:a16="http://schemas.microsoft.com/office/drawing/2014/main" id="{C1C0A643-72B8-9CE5-525D-021BFCEACB48}"/>
                </a:ext>
              </a:extLst>
            </p:cNvPr>
            <p:cNvGrpSpPr/>
            <p:nvPr/>
          </p:nvGrpSpPr>
          <p:grpSpPr>
            <a:xfrm>
              <a:off x="1777200" y="2321477"/>
              <a:ext cx="2268000" cy="1394196"/>
              <a:chOff x="1777200" y="2321477"/>
              <a:chExt cx="2268000" cy="1394196"/>
            </a:xfrm>
          </p:grpSpPr>
          <p:pic>
            <p:nvPicPr>
              <p:cNvPr id="19" name="Google Shape;260;p7">
                <a:extLst>
                  <a:ext uri="{FF2B5EF4-FFF2-40B4-BE49-F238E27FC236}">
                    <a16:creationId xmlns:a16="http://schemas.microsoft.com/office/drawing/2014/main" id="{878601AE-C0FA-4CF3-35C9-8298DD51EC69}"/>
                  </a:ext>
                </a:extLst>
              </p:cNvPr>
              <p:cNvPicPr preferRelativeResize="0"/>
              <p:nvPr/>
            </p:nvPicPr>
            <p:blipFill rotWithShape="1">
              <a:blip r:embed="rId2">
                <a:alphaModFix/>
              </a:blip>
              <a:srcRect/>
              <a:stretch/>
            </p:blipFill>
            <p:spPr>
              <a:xfrm>
                <a:off x="2587200" y="2321477"/>
                <a:ext cx="648000" cy="648000"/>
              </a:xfrm>
              <a:prstGeom prst="rect">
                <a:avLst/>
              </a:prstGeom>
              <a:noFill/>
              <a:ln>
                <a:noFill/>
              </a:ln>
            </p:spPr>
          </p:pic>
          <p:sp>
            <p:nvSpPr>
              <p:cNvPr id="20" name="Rectangle 19">
                <a:extLst>
                  <a:ext uri="{FF2B5EF4-FFF2-40B4-BE49-F238E27FC236}">
                    <a16:creationId xmlns:a16="http://schemas.microsoft.com/office/drawing/2014/main" id="{9E85510F-B96C-7E80-B90B-D4F574A04103}"/>
                  </a:ext>
                </a:extLst>
              </p:cNvPr>
              <p:cNvSpPr/>
              <p:nvPr/>
            </p:nvSpPr>
            <p:spPr>
              <a:xfrm>
                <a:off x="1777200" y="3194785"/>
                <a:ext cx="2268000" cy="52088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1"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400" b="1" i="0" u="none" strike="noStrike" kern="0" cap="none" spc="0" normalizeH="0" baseline="0" noProof="0">
                    <a:ln>
                      <a:noFill/>
                    </a:ln>
                    <a:solidFill>
                      <a:srgbClr val="79C03B"/>
                    </a:solidFill>
                    <a:effectLst/>
                    <a:uLnTx/>
                    <a:uFillTx/>
                    <a:latin typeface="Arial" panose="020B0604020202020204"/>
                    <a:ea typeface="+mn-ea"/>
                    <a:cs typeface="Calibri"/>
                    <a:sym typeface="Arial"/>
                  </a:rPr>
                  <a:t>Rated highly for </a:t>
                </a:r>
                <a:br>
                  <a:rPr kumimoji="0" lang="en-GB" sz="1400" b="1" i="0" u="none" strike="noStrike" kern="0" cap="none" spc="0" normalizeH="0" baseline="0" noProof="0">
                    <a:ln>
                      <a:noFill/>
                    </a:ln>
                    <a:solidFill>
                      <a:srgbClr val="79C03B"/>
                    </a:solidFill>
                    <a:effectLst/>
                    <a:uLnTx/>
                    <a:uFillTx/>
                    <a:latin typeface="Arial" panose="020B0604020202020204"/>
                    <a:ea typeface="+mn-ea"/>
                    <a:cs typeface="Calibri"/>
                    <a:sym typeface="Arial"/>
                  </a:rPr>
                </a:br>
                <a:r>
                  <a:rPr kumimoji="0" lang="en-GB" sz="1400" b="1" i="0" u="none" strike="noStrike" kern="0" cap="none" spc="0" normalizeH="0" baseline="0" noProof="0">
                    <a:ln>
                      <a:noFill/>
                    </a:ln>
                    <a:solidFill>
                      <a:srgbClr val="79C03B"/>
                    </a:solidFill>
                    <a:effectLst/>
                    <a:uLnTx/>
                    <a:uFillTx/>
                    <a:latin typeface="Arial" panose="020B0604020202020204"/>
                    <a:ea typeface="+mn-ea"/>
                    <a:cs typeface="Calibri"/>
                    <a:sym typeface="Arial"/>
                  </a:rPr>
                  <a:t>overall sales call quality (rated 6,7)</a:t>
                </a:r>
                <a:endParaRPr kumimoji="0" lang="en-US" sz="1400" b="1" i="0" u="none" strike="noStrike" kern="0" cap="none" spc="0" normalizeH="0" baseline="0" noProof="0">
                  <a:ln>
                    <a:noFill/>
                  </a:ln>
                  <a:solidFill>
                    <a:srgbClr val="79C03B"/>
                  </a:solidFill>
                  <a:effectLst/>
                  <a:uLnTx/>
                  <a:uFillTx/>
                  <a:latin typeface="Arial" panose="020B0604020202020204"/>
                  <a:ea typeface="+mn-ea"/>
                  <a:cs typeface="Calibri"/>
                  <a:sym typeface="Arial"/>
                </a:endParaRPr>
              </a:p>
            </p:txBody>
          </p:sp>
        </p:grpSp>
        <p:grpSp>
          <p:nvGrpSpPr>
            <p:cNvPr id="35" name="Group 34">
              <a:extLst>
                <a:ext uri="{FF2B5EF4-FFF2-40B4-BE49-F238E27FC236}">
                  <a16:creationId xmlns:a16="http://schemas.microsoft.com/office/drawing/2014/main" id="{A8977029-8EA0-D80E-B04C-6BB6066C989A}"/>
                </a:ext>
              </a:extLst>
            </p:cNvPr>
            <p:cNvGrpSpPr/>
            <p:nvPr/>
          </p:nvGrpSpPr>
          <p:grpSpPr>
            <a:xfrm>
              <a:off x="4868375" y="2321477"/>
              <a:ext cx="2736000" cy="1462762"/>
              <a:chOff x="4758647" y="2321477"/>
              <a:chExt cx="2736000" cy="1462762"/>
            </a:xfrm>
          </p:grpSpPr>
          <p:sp>
            <p:nvSpPr>
              <p:cNvPr id="10" name="Rectangle 9">
                <a:extLst>
                  <a:ext uri="{FF2B5EF4-FFF2-40B4-BE49-F238E27FC236}">
                    <a16:creationId xmlns:a16="http://schemas.microsoft.com/office/drawing/2014/main" id="{B01DD460-B678-C78C-8F3E-3721C42EAA76}"/>
                  </a:ext>
                </a:extLst>
              </p:cNvPr>
              <p:cNvSpPr/>
              <p:nvPr/>
            </p:nvSpPr>
            <p:spPr>
              <a:xfrm>
                <a:off x="4758647" y="3126220"/>
                <a:ext cx="2736000" cy="658019"/>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1"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C37609"/>
                    </a:solidFill>
                    <a:effectLst/>
                    <a:uLnTx/>
                    <a:uFillTx/>
                    <a:latin typeface="Arial" panose="020B0604020202020204"/>
                    <a:ea typeface="+mn-ea"/>
                    <a:cs typeface="Calibri"/>
                    <a:sym typeface="Arial"/>
                  </a:rPr>
                  <a:t>Rated highly for likelihood to increase product prescription (rated 6,7)</a:t>
                </a:r>
              </a:p>
            </p:txBody>
          </p:sp>
          <p:pic>
            <p:nvPicPr>
              <p:cNvPr id="24" name="Google Shape;2281;p57" descr="A close up of a logo&#10;&#10;Description automatically generated">
                <a:extLst>
                  <a:ext uri="{FF2B5EF4-FFF2-40B4-BE49-F238E27FC236}">
                    <a16:creationId xmlns:a16="http://schemas.microsoft.com/office/drawing/2014/main" id="{0075926D-03FB-6393-1ECB-806FA1940CC5}"/>
                  </a:ext>
                </a:extLst>
              </p:cNvPr>
              <p:cNvPicPr preferRelativeResize="0"/>
              <p:nvPr/>
            </p:nvPicPr>
            <p:blipFill rotWithShape="1">
              <a:blip r:embed="rId3">
                <a:alphaModFix/>
              </a:blip>
              <a:srcRect/>
              <a:stretch/>
            </p:blipFill>
            <p:spPr>
              <a:xfrm>
                <a:off x="5802647" y="2321477"/>
                <a:ext cx="648000" cy="648000"/>
              </a:xfrm>
              <a:prstGeom prst="rect">
                <a:avLst/>
              </a:prstGeom>
              <a:noFill/>
              <a:ln>
                <a:noFill/>
              </a:ln>
            </p:spPr>
          </p:pic>
        </p:grpSp>
        <p:cxnSp>
          <p:nvCxnSpPr>
            <p:cNvPr id="29" name="Connector: Elbow 28">
              <a:extLst>
                <a:ext uri="{FF2B5EF4-FFF2-40B4-BE49-F238E27FC236}">
                  <a16:creationId xmlns:a16="http://schemas.microsoft.com/office/drawing/2014/main" id="{15B2DA14-68E2-6CDF-6B43-0A0A98E05A53}"/>
                </a:ext>
              </a:extLst>
            </p:cNvPr>
            <p:cNvCxnSpPr>
              <a:cxnSpLocks/>
            </p:cNvCxnSpPr>
            <p:nvPr/>
          </p:nvCxnSpPr>
          <p:spPr>
            <a:xfrm rot="10800000" flipV="1">
              <a:off x="4879489" y="3858689"/>
              <a:ext cx="1346400" cy="946800"/>
            </a:xfrm>
            <a:prstGeom prst="bentConnector3">
              <a:avLst>
                <a:gd name="adj1" fmla="val -589"/>
              </a:avLst>
            </a:prstGeom>
            <a:ln w="38100">
              <a:solidFill>
                <a:srgbClr val="C37609"/>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40" name="Title 2">
            <a:extLst>
              <a:ext uri="{FF2B5EF4-FFF2-40B4-BE49-F238E27FC236}">
                <a16:creationId xmlns:a16="http://schemas.microsoft.com/office/drawing/2014/main" id="{05E7B3BD-BA1E-D20A-A4C4-78DCDDF56C16}"/>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cs typeface="Calibri"/>
                <a:sym typeface="Arial"/>
              </a:rPr>
              <a:t>High Impact Interactions</a:t>
            </a:r>
          </a:p>
        </p:txBody>
      </p:sp>
      <p:pic>
        <p:nvPicPr>
          <p:cNvPr id="41" name="Google Shape;618;p14">
            <a:extLst>
              <a:ext uri="{FF2B5EF4-FFF2-40B4-BE49-F238E27FC236}">
                <a16:creationId xmlns:a16="http://schemas.microsoft.com/office/drawing/2014/main" id="{8EF1D0B4-6C63-4898-5A8F-A00501AB6004}"/>
              </a:ext>
            </a:extLst>
          </p:cNvPr>
          <p:cNvPicPr preferRelativeResize="0"/>
          <p:nvPr/>
        </p:nvPicPr>
        <p:blipFill rotWithShape="1">
          <a:blip r:embed="rId4">
            <a:alphaModFix/>
          </a:blip>
          <a:srcRect/>
          <a:stretch/>
        </p:blipFill>
        <p:spPr>
          <a:xfrm>
            <a:off x="4139557" y="3657023"/>
            <a:ext cx="612000" cy="828000"/>
          </a:xfrm>
          <a:prstGeom prst="rect">
            <a:avLst/>
          </a:prstGeom>
          <a:noFill/>
          <a:ln>
            <a:noFill/>
          </a:ln>
        </p:spPr>
      </p:pic>
    </p:spTree>
    <p:extLst>
      <p:ext uri="{BB962C8B-B14F-4D97-AF65-F5344CB8AC3E}">
        <p14:creationId xmlns:p14="http://schemas.microsoft.com/office/powerpoint/2010/main" val="3179753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9" name="Google Shape;1375;p33">
            <a:extLst>
              <a:ext uri="{FF2B5EF4-FFF2-40B4-BE49-F238E27FC236}">
                <a16:creationId xmlns:a16="http://schemas.microsoft.com/office/drawing/2014/main" id="{46CB1740-5384-4056-D05D-6D63CD4A040C}"/>
              </a:ext>
            </a:extLst>
          </p:cNvPr>
          <p:cNvSpPr txBox="1"/>
          <p:nvPr/>
        </p:nvSpPr>
        <p:spPr>
          <a:xfrm>
            <a:off x="228601" y="5957245"/>
            <a:ext cx="8980058"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Statistically significant (p&lt;.05) difference between waves | *Full message text in speaker notes</a:t>
            </a:r>
            <a:endParaRPr kumimoji="0" lang="en-US" sz="900" b="0" i="0" u="none" strike="noStrike" kern="0" cap="none" spc="0" normalizeH="0" baseline="0" noProof="0">
              <a:ln>
                <a:noFill/>
              </a:ln>
              <a:solidFill>
                <a:srgbClr val="001D49"/>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Messages sorted in decreasing order of recall for CREON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
        <p:nvSpPr>
          <p:cNvPr id="1359" name="Google Shape;1359;p3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CREON (Gastros)</a:t>
            </a:r>
          </a:p>
        </p:txBody>
      </p:sp>
      <p:sp>
        <p:nvSpPr>
          <p:cNvPr id="39" name="Google Shape;2197;p58">
            <a:extLst>
              <a:ext uri="{FF2B5EF4-FFF2-40B4-BE49-F238E27FC236}">
                <a16:creationId xmlns:a16="http://schemas.microsoft.com/office/drawing/2014/main" id="{D402FAF4-C80D-5B62-C3DB-423B84414C88}"/>
              </a:ext>
            </a:extLst>
          </p:cNvPr>
          <p:cNvSpPr/>
          <p:nvPr/>
        </p:nvSpPr>
        <p:spPr>
          <a:xfrm>
            <a:off x="2855603" y="6013622"/>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graphicFrame>
        <p:nvGraphicFramePr>
          <p:cNvPr id="7" name="CR_MR_Table">
            <a:extLst>
              <a:ext uri="{FF2B5EF4-FFF2-40B4-BE49-F238E27FC236}">
                <a16:creationId xmlns:a16="http://schemas.microsoft.com/office/drawing/2014/main" id="{D4F15ACA-3130-ABEB-2288-1C8467DB3606}"/>
              </a:ext>
            </a:extLst>
          </p:cNvPr>
          <p:cNvGraphicFramePr/>
          <p:nvPr>
            <p:custDataLst>
              <p:tags r:id="rId1"/>
            </p:custDataLst>
          </p:nvPr>
        </p:nvGraphicFramePr>
        <p:xfrm>
          <a:off x="24501" y="1685312"/>
          <a:ext cx="4685205" cy="4160520"/>
        </p:xfrm>
        <a:graphic>
          <a:graphicData uri="http://schemas.openxmlformats.org/drawingml/2006/table">
            <a:tbl>
              <a:tblPr>
                <a:noFill/>
              </a:tblPr>
              <a:tblGrid>
                <a:gridCol w="341986">
                  <a:extLst>
                    <a:ext uri="{9D8B030D-6E8A-4147-A177-3AD203B41FA5}">
                      <a16:colId xmlns:a16="http://schemas.microsoft.com/office/drawing/2014/main" val="20000"/>
                    </a:ext>
                  </a:extLst>
                </a:gridCol>
                <a:gridCol w="4343219">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C7</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36K capsules can be an appropriate dose for many adults.</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C11</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95% of commercially eligible patients pay $5 or less for their CREON prescription with the CREON Complete Savings card.</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50234294"/>
                  </a:ext>
                </a:extLst>
              </a:tr>
              <a:tr h="320040">
                <a:tc>
                  <a:txBody>
                    <a:bodyPr/>
                    <a:lstStyle/>
                    <a:p>
                      <a:pPr algn="ctr" fontAlgn="ctr"/>
                      <a:r>
                        <a:rPr lang="en-IN" sz="900" b="1" i="0" u="none" strike="noStrike">
                          <a:solidFill>
                            <a:srgbClr val="071D49"/>
                          </a:solidFill>
                          <a:effectLst/>
                          <a:latin typeface="Arial" panose="020B0604020202020204" pitchFamily="34" charset="0"/>
                        </a:rPr>
                        <a:t>C10</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is the #1 PERT prescribed by Gastroenterologists, Primary Care Physicians, Nurse Practitioners and Physician Assistants.</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239748300"/>
                  </a:ext>
                </a:extLst>
              </a:tr>
              <a:tr h="320040">
                <a:tc>
                  <a:txBody>
                    <a:bodyPr/>
                    <a:lstStyle/>
                    <a:p>
                      <a:pPr algn="ctr" fontAlgn="ctr"/>
                      <a:r>
                        <a:rPr lang="en-IN" sz="900" b="1" i="0" u="none" strike="noStrike">
                          <a:solidFill>
                            <a:srgbClr val="071D49"/>
                          </a:solidFill>
                          <a:effectLst/>
                          <a:latin typeface="Arial" panose="020B0604020202020204" pitchFamily="34" charset="0"/>
                        </a:rPr>
                        <a:t>C6</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Take CREON every meal, every snack, every day.</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872338095"/>
                  </a:ext>
                </a:extLst>
              </a:tr>
              <a:tr h="320040">
                <a:tc>
                  <a:txBody>
                    <a:bodyPr/>
                    <a:lstStyle/>
                    <a:p>
                      <a:pPr algn="ctr" fontAlgn="ctr"/>
                      <a:r>
                        <a:rPr lang="en-IN" sz="900" b="1" i="0" u="none" strike="noStrike">
                          <a:solidFill>
                            <a:srgbClr val="071D49"/>
                          </a:solidFill>
                          <a:effectLst/>
                          <a:latin typeface="Arial" panose="020B0604020202020204" pitchFamily="34" charset="0"/>
                        </a:rPr>
                        <a:t>C1</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maintains category leading coverage</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958077961"/>
                  </a:ext>
                </a:extLst>
              </a:tr>
              <a:tr h="320040">
                <a:tc>
                  <a:txBody>
                    <a:bodyPr/>
                    <a:lstStyle/>
                    <a:p>
                      <a:pPr algn="ctr" fontAlgn="ctr"/>
                      <a:r>
                        <a:rPr lang="en-IN" sz="900" b="1" i="0" u="none" strike="noStrike">
                          <a:solidFill>
                            <a:srgbClr val="071D49"/>
                          </a:solidFill>
                          <a:effectLst/>
                          <a:latin typeface="Arial" panose="020B0604020202020204" pitchFamily="34" charset="0"/>
                        </a:rPr>
                        <a:t>C22</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71% of CREON Medicare Part D patients paid less than $30 in 2024.</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629056778"/>
                  </a:ext>
                </a:extLst>
              </a:tr>
              <a:tr h="320040">
                <a:tc>
                  <a:txBody>
                    <a:bodyPr/>
                    <a:lstStyle/>
                    <a:p>
                      <a:pPr algn="ctr" fontAlgn="ctr"/>
                      <a:r>
                        <a:rPr lang="en-IN" sz="900" b="1" i="0" u="none" strike="noStrike">
                          <a:solidFill>
                            <a:srgbClr val="071D49"/>
                          </a:solidFill>
                          <a:effectLst/>
                          <a:latin typeface="Arial" panose="020B0604020202020204" pitchFamily="34" charset="0"/>
                        </a:rPr>
                        <a:t>C4</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EPI is largely a clinical diagnosis based on signs and symptoms and should be considered as part of the differential diagnosis of GI symptoms.</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160127578"/>
                  </a:ext>
                </a:extLst>
              </a:tr>
              <a:tr h="320040">
                <a:tc>
                  <a:txBody>
                    <a:bodyPr/>
                    <a:lstStyle/>
                    <a:p>
                      <a:pPr algn="ctr" fontAlgn="ctr"/>
                      <a:r>
                        <a:rPr lang="en-IN" sz="900" b="1" i="0" u="none" strike="noStrike">
                          <a:solidFill>
                            <a:srgbClr val="071D49"/>
                          </a:solidFill>
                          <a:effectLst/>
                          <a:latin typeface="Arial" panose="020B0604020202020204" pitchFamily="34" charset="0"/>
                        </a:rPr>
                        <a:t>C20</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Significant experience, exceptional patient support, and excellent coverage make CREON a proven partner for patients with EPl.</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767374171"/>
                  </a:ext>
                </a:extLst>
              </a:tr>
              <a:tr h="320040">
                <a:tc>
                  <a:txBody>
                    <a:bodyPr/>
                    <a:lstStyle/>
                    <a:p>
                      <a:pPr algn="ctr" fontAlgn="ctr"/>
                      <a:r>
                        <a:rPr lang="en-IN" sz="900" b="1" i="0" u="none" strike="noStrike">
                          <a:solidFill>
                            <a:srgbClr val="071D49"/>
                          </a:solidFill>
                          <a:effectLst/>
                          <a:latin typeface="Arial" panose="020B0604020202020204" pitchFamily="34" charset="0"/>
                        </a:rPr>
                        <a:t>C9</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significantly improves fat absorption compared with placebo in randomized clinical trials of patients with EPI due to CF, CP, or pancreatectomy.</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965742915"/>
                  </a:ext>
                </a:extLst>
              </a:tr>
              <a:tr h="320040">
                <a:tc>
                  <a:txBody>
                    <a:bodyPr/>
                    <a:lstStyle/>
                    <a:p>
                      <a:pPr algn="ctr" fontAlgn="ctr"/>
                      <a:r>
                        <a:rPr lang="en-IN" sz="900" b="1" i="0" u="none" strike="noStrike">
                          <a:solidFill>
                            <a:srgbClr val="071D49"/>
                          </a:solidFill>
                          <a:effectLst/>
                          <a:latin typeface="Arial" panose="020B0604020202020204" pitchFamily="34" charset="0"/>
                        </a:rPr>
                        <a:t>C3</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Exocrine Pancreatic Insufficiency (EPI) is under-recognized and can have an impact on nutritional health and quality of life</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880461766"/>
                  </a:ext>
                </a:extLst>
              </a:tr>
              <a:tr h="320040">
                <a:tc>
                  <a:txBody>
                    <a:bodyPr/>
                    <a:lstStyle/>
                    <a:p>
                      <a:pPr algn="ctr" fontAlgn="ctr"/>
                      <a:r>
                        <a:rPr lang="en-IN" sz="900" b="1" i="0" u="none" strike="noStrike">
                          <a:solidFill>
                            <a:srgbClr val="071D49"/>
                          </a:solidFill>
                          <a:effectLst/>
                          <a:latin typeface="Arial" panose="020B0604020202020204" pitchFamily="34" charset="0"/>
                        </a:rPr>
                        <a:t>C21</a:t>
                      </a:r>
                      <a:r>
                        <a:rPr lang="en-US" sz="900">
                          <a:solidFill>
                            <a:srgbClr val="001D49"/>
                          </a:solidFill>
                          <a:latin typeface="Arial" panose="020B0604020202020204" pitchFamily="34" charset="0"/>
                          <a:ea typeface="Calibri"/>
                          <a:cs typeface="Arial" panose="020B0604020202020204" pitchFamily="34" charset="0"/>
                          <a:sym typeface="Calibri"/>
                        </a:rPr>
                        <a:t>**</a:t>
                      </a:r>
                      <a:endParaRPr lang="en-IN" sz="900" b="1" i="0" u="none" strike="noStrike">
                        <a:solidFill>
                          <a:srgbClr val="071D49"/>
                        </a:solidFill>
                        <a:effectLst/>
                        <a:latin typeface="Arial" panose="020B0604020202020204" pitchFamily="34" charset="0"/>
                      </a:endParaRP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Complete may help patients start and stay on track with their treatment.</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219248481"/>
                  </a:ext>
                </a:extLst>
              </a:tr>
              <a:tr h="320040">
                <a:tc>
                  <a:txBody>
                    <a:bodyPr/>
                    <a:lstStyle/>
                    <a:p>
                      <a:pPr algn="ctr" fontAlgn="ctr"/>
                      <a:r>
                        <a:rPr lang="en-IN" sz="900" b="1" i="0" u="none" strike="noStrike">
                          <a:solidFill>
                            <a:srgbClr val="071D49"/>
                          </a:solidFill>
                          <a:effectLst/>
                          <a:latin typeface="Arial" panose="020B0604020202020204" pitchFamily="34" charset="0"/>
                        </a:rPr>
                        <a:t>C19</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is the only PERT specifically studied for patients with EPI due to chronic pancreatitis and pancreatectomy, in addition to cystic fibrosis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61383230"/>
                  </a:ext>
                </a:extLst>
              </a:tr>
              <a:tr h="320040">
                <a:tc>
                  <a:txBody>
                    <a:bodyPr/>
                    <a:lstStyle/>
                    <a:p>
                      <a:pPr algn="ctr" fontAlgn="ctr"/>
                      <a:r>
                        <a:rPr lang="en-IN" sz="900" b="1" i="0" u="none" strike="noStrike">
                          <a:solidFill>
                            <a:srgbClr val="071D49"/>
                          </a:solidFill>
                          <a:effectLst/>
                          <a:latin typeface="Arial" panose="020B0604020202020204" pitchFamily="34" charset="0"/>
                        </a:rPr>
                        <a:t>C17</a:t>
                      </a:r>
                    </a:p>
                  </a:txBody>
                  <a:tcPr marL="18288" marR="0" marT="635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More than 8 out of 10 GEs and PCPs prescribe CREON more than other PERTs</a:t>
                      </a:r>
                    </a:p>
                  </a:txBody>
                  <a:tcPr marL="45720" marR="0" marT="0" marB="0" anchor="ctr">
                    <a:lnL w="12700" cap="flat" cmpd="sng" algn="ctr">
                      <a:solidFill>
                        <a:schemeClr val="bg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2005456491"/>
                  </a:ext>
                </a:extLst>
              </a:tr>
            </a:tbl>
          </a:graphicData>
        </a:graphic>
      </p:graphicFrame>
      <p:graphicFrame>
        <p:nvGraphicFramePr>
          <p:cNvPr id="15" name="Aided Message Recall – CREON (Gastros)">
            <a:extLst>
              <a:ext uri="{FF2B5EF4-FFF2-40B4-BE49-F238E27FC236}">
                <a16:creationId xmlns:a16="http://schemas.microsoft.com/office/drawing/2014/main" id="{472E8511-1F9F-AB3D-F800-28DAA9930218}"/>
              </a:ext>
            </a:extLst>
          </p:cNvPr>
          <p:cNvGraphicFramePr/>
          <p:nvPr>
            <p:custDataLst>
              <p:tags r:id="rId2"/>
            </p:custDataLst>
          </p:nvPr>
        </p:nvGraphicFramePr>
        <p:xfrm>
          <a:off x="4434094" y="1685312"/>
          <a:ext cx="3833606"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1352" name="Shape_77705402">
            <a:extLst>
              <a:ext uri="{FF2B5EF4-FFF2-40B4-BE49-F238E27FC236}">
                <a16:creationId xmlns:a16="http://schemas.microsoft.com/office/drawing/2014/main" id="{B8605E25-EC3C-C72A-837D-7B631644527B}"/>
              </a:ext>
            </a:extLst>
          </p:cNvPr>
          <p:cNvGraphicFramePr/>
          <p:nvPr>
            <p:custDataLst>
              <p:tags r:id="rId3"/>
            </p:custDataLst>
          </p:nvPr>
        </p:nvGraphicFramePr>
        <p:xfrm>
          <a:off x="4434094" y="2004422"/>
          <a:ext cx="3833606"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353" name="Shape_26909239">
            <a:extLst>
              <a:ext uri="{FF2B5EF4-FFF2-40B4-BE49-F238E27FC236}">
                <a16:creationId xmlns:a16="http://schemas.microsoft.com/office/drawing/2014/main" id="{6C3ACF01-D73E-F70F-7B77-D09905121FEC}"/>
              </a:ext>
            </a:extLst>
          </p:cNvPr>
          <p:cNvGraphicFramePr/>
          <p:nvPr>
            <p:custDataLst>
              <p:tags r:id="rId4"/>
            </p:custDataLst>
          </p:nvPr>
        </p:nvGraphicFramePr>
        <p:xfrm>
          <a:off x="4434094" y="2323532"/>
          <a:ext cx="3833606"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354" name="Shape_83646601">
            <a:extLst>
              <a:ext uri="{FF2B5EF4-FFF2-40B4-BE49-F238E27FC236}">
                <a16:creationId xmlns:a16="http://schemas.microsoft.com/office/drawing/2014/main" id="{D7102345-B845-40D5-8D8E-DA60E0F82BFB}"/>
              </a:ext>
            </a:extLst>
          </p:cNvPr>
          <p:cNvGraphicFramePr/>
          <p:nvPr>
            <p:custDataLst>
              <p:tags r:id="rId5"/>
            </p:custDataLst>
          </p:nvPr>
        </p:nvGraphicFramePr>
        <p:xfrm>
          <a:off x="4434094" y="2642642"/>
          <a:ext cx="3833606"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55" name="Shape_98027710">
            <a:extLst>
              <a:ext uri="{FF2B5EF4-FFF2-40B4-BE49-F238E27FC236}">
                <a16:creationId xmlns:a16="http://schemas.microsoft.com/office/drawing/2014/main" id="{631C8EC1-FFFF-E4BA-4BE9-AD23A6B919D6}"/>
              </a:ext>
            </a:extLst>
          </p:cNvPr>
          <p:cNvGraphicFramePr/>
          <p:nvPr>
            <p:custDataLst>
              <p:tags r:id="rId6"/>
            </p:custDataLst>
          </p:nvPr>
        </p:nvGraphicFramePr>
        <p:xfrm>
          <a:off x="4434094" y="2961752"/>
          <a:ext cx="3833606"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356" name="Shape_72233373">
            <a:extLst>
              <a:ext uri="{FF2B5EF4-FFF2-40B4-BE49-F238E27FC236}">
                <a16:creationId xmlns:a16="http://schemas.microsoft.com/office/drawing/2014/main" id="{A39F617F-D76B-D672-AAB8-6A144A267DF8}"/>
              </a:ext>
            </a:extLst>
          </p:cNvPr>
          <p:cNvGraphicFramePr/>
          <p:nvPr>
            <p:custDataLst>
              <p:tags r:id="rId7"/>
            </p:custDataLst>
          </p:nvPr>
        </p:nvGraphicFramePr>
        <p:xfrm>
          <a:off x="4434094" y="3280862"/>
          <a:ext cx="3833606"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357" name="Shape_38682855">
            <a:extLst>
              <a:ext uri="{FF2B5EF4-FFF2-40B4-BE49-F238E27FC236}">
                <a16:creationId xmlns:a16="http://schemas.microsoft.com/office/drawing/2014/main" id="{2FCCB811-0C22-7552-22AF-81655FFBEF79}"/>
              </a:ext>
            </a:extLst>
          </p:cNvPr>
          <p:cNvGraphicFramePr/>
          <p:nvPr>
            <p:custDataLst>
              <p:tags r:id="rId8"/>
            </p:custDataLst>
          </p:nvPr>
        </p:nvGraphicFramePr>
        <p:xfrm>
          <a:off x="4434094" y="3599972"/>
          <a:ext cx="3833606"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360" name="Shape_74756276">
            <a:extLst>
              <a:ext uri="{FF2B5EF4-FFF2-40B4-BE49-F238E27FC236}">
                <a16:creationId xmlns:a16="http://schemas.microsoft.com/office/drawing/2014/main" id="{FDF00B0E-CC59-DCA7-41B9-736B159100CC}"/>
              </a:ext>
            </a:extLst>
          </p:cNvPr>
          <p:cNvGraphicFramePr/>
          <p:nvPr>
            <p:custDataLst>
              <p:tags r:id="rId9"/>
            </p:custDataLst>
          </p:nvPr>
        </p:nvGraphicFramePr>
        <p:xfrm>
          <a:off x="4434094" y="3919082"/>
          <a:ext cx="3833606"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361" name="Shape_43109110">
            <a:extLst>
              <a:ext uri="{FF2B5EF4-FFF2-40B4-BE49-F238E27FC236}">
                <a16:creationId xmlns:a16="http://schemas.microsoft.com/office/drawing/2014/main" id="{60DAB47A-D4D4-999E-B49C-8E137BC8B411}"/>
              </a:ext>
            </a:extLst>
          </p:cNvPr>
          <p:cNvGraphicFramePr/>
          <p:nvPr>
            <p:custDataLst>
              <p:tags r:id="rId10"/>
            </p:custDataLst>
          </p:nvPr>
        </p:nvGraphicFramePr>
        <p:xfrm>
          <a:off x="4434094" y="4238192"/>
          <a:ext cx="3833606"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362" name="Shape_82976735">
            <a:extLst>
              <a:ext uri="{FF2B5EF4-FFF2-40B4-BE49-F238E27FC236}">
                <a16:creationId xmlns:a16="http://schemas.microsoft.com/office/drawing/2014/main" id="{297F1707-D390-4FA8-34AC-9EA872DA46BD}"/>
              </a:ext>
            </a:extLst>
          </p:cNvPr>
          <p:cNvGraphicFramePr/>
          <p:nvPr>
            <p:custDataLst>
              <p:tags r:id="rId11"/>
            </p:custDataLst>
          </p:nvPr>
        </p:nvGraphicFramePr>
        <p:xfrm>
          <a:off x="4434094" y="4557302"/>
          <a:ext cx="3833606"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363" name="Shape_22612843">
            <a:extLst>
              <a:ext uri="{FF2B5EF4-FFF2-40B4-BE49-F238E27FC236}">
                <a16:creationId xmlns:a16="http://schemas.microsoft.com/office/drawing/2014/main" id="{1C4E8314-B3E6-22A1-A94E-B445A51C7653}"/>
              </a:ext>
            </a:extLst>
          </p:cNvPr>
          <p:cNvGraphicFramePr/>
          <p:nvPr>
            <p:custDataLst>
              <p:tags r:id="rId12"/>
            </p:custDataLst>
          </p:nvPr>
        </p:nvGraphicFramePr>
        <p:xfrm>
          <a:off x="4434094" y="4876412"/>
          <a:ext cx="3833606"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1364" name="Shape_62389437">
            <a:extLst>
              <a:ext uri="{FF2B5EF4-FFF2-40B4-BE49-F238E27FC236}">
                <a16:creationId xmlns:a16="http://schemas.microsoft.com/office/drawing/2014/main" id="{8AC263E5-09D8-B192-635C-1957635587B1}"/>
              </a:ext>
            </a:extLst>
          </p:cNvPr>
          <p:cNvGraphicFramePr/>
          <p:nvPr>
            <p:custDataLst>
              <p:tags r:id="rId13"/>
            </p:custDataLst>
          </p:nvPr>
        </p:nvGraphicFramePr>
        <p:xfrm>
          <a:off x="4434094" y="5195522"/>
          <a:ext cx="3833606" cy="331200"/>
        </p:xfrm>
        <a:graphic>
          <a:graphicData uri="http://schemas.openxmlformats.org/drawingml/2006/chart">
            <c:chart xmlns:c="http://schemas.openxmlformats.org/drawingml/2006/chart" xmlns:r="http://schemas.openxmlformats.org/officeDocument/2006/relationships" r:id="rId29"/>
          </a:graphicData>
        </a:graphic>
      </p:graphicFrame>
      <p:sp>
        <p:nvSpPr>
          <p:cNvPr id="3" name="Google Shape;1373;p33">
            <a:extLst>
              <a:ext uri="{FF2B5EF4-FFF2-40B4-BE49-F238E27FC236}">
                <a16:creationId xmlns:a16="http://schemas.microsoft.com/office/drawing/2014/main" id="{EF59E7D5-2C08-3A5F-87FF-B09315049CCF}"/>
              </a:ext>
            </a:extLst>
          </p:cNvPr>
          <p:cNvSpPr/>
          <p:nvPr/>
        </p:nvSpPr>
        <p:spPr>
          <a:xfrm>
            <a:off x="534595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11" name="Google Shape;763;p18">
            <a:extLst>
              <a:ext uri="{FF2B5EF4-FFF2-40B4-BE49-F238E27FC236}">
                <a16:creationId xmlns:a16="http://schemas.microsoft.com/office/drawing/2014/main" id="{9F89A037-9C28-2C82-72C4-9D11BED71059}"/>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13" name="Google Shape;1433;p35">
            <a:extLst>
              <a:ext uri="{FF2B5EF4-FFF2-40B4-BE49-F238E27FC236}">
                <a16:creationId xmlns:a16="http://schemas.microsoft.com/office/drawing/2014/main" id="{81045FAA-8687-DD29-8DE0-8DCE19F87CCE}"/>
              </a:ext>
            </a:extLst>
          </p:cNvPr>
          <p:cNvSpPr/>
          <p:nvPr/>
        </p:nvSpPr>
        <p:spPr>
          <a:xfrm>
            <a:off x="555735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16" name="TextBox 15">
            <a:extLst>
              <a:ext uri="{FF2B5EF4-FFF2-40B4-BE49-F238E27FC236}">
                <a16:creationId xmlns:a16="http://schemas.microsoft.com/office/drawing/2014/main" id="{903064B6-3990-D621-519A-6C383E4A93D2}"/>
              </a:ext>
            </a:extLst>
          </p:cNvPr>
          <p:cNvSpPr txBox="1"/>
          <p:nvPr/>
        </p:nvSpPr>
        <p:spPr>
          <a:xfrm>
            <a:off x="24501" y="1401280"/>
            <a:ext cx="4685203"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17" name="Google Shape;1358;p33">
            <a:extLst>
              <a:ext uri="{FF2B5EF4-FFF2-40B4-BE49-F238E27FC236}">
                <a16:creationId xmlns:a16="http://schemas.microsoft.com/office/drawing/2014/main" id="{EBE6B074-5C97-81E5-F995-B259DB8EC632}"/>
              </a:ext>
            </a:extLst>
          </p:cNvPr>
          <p:cNvSpPr/>
          <p:nvPr/>
        </p:nvSpPr>
        <p:spPr>
          <a:xfrm>
            <a:off x="665741" y="825244"/>
            <a:ext cx="7167496"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en-US" sz="1400" b="1" i="0" u="sng" strike="noStrike" kern="0" cap="none" spc="0" normalizeH="0" baseline="0" noProof="0">
                <a:ln>
                  <a:noFill/>
                </a:ln>
                <a:solidFill>
                  <a:srgbClr val="36729C"/>
                </a:solidFill>
                <a:effectLst/>
                <a:uLnTx/>
                <a:uFillTx/>
                <a:latin typeface="Arial" panose="020B0604020202020204"/>
                <a:ea typeface="Calibri"/>
                <a:cs typeface="Calibri"/>
                <a:sym typeface="Calibri"/>
              </a:rPr>
              <a:t>CREON</a:t>
            </a:r>
            <a:r>
              <a:rPr kumimoji="0" lang="en-US"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(Gastros)</a:t>
            </a: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(Jan’25 – Feb’25: n = 60 | Mar’25 – Apr’25: n = 64 | May’25 – Jun’25: n = 52 | Jul’25 – Aug’25: n = 59 | Sep’25 – Oct’25: n = 49 | Nov’25 – Dec’25: n = 57)</a:t>
            </a:r>
            <a:endParaRPr kumimoji="0" lang="en-US" sz="800" b="0" i="0" u="sng" strike="noStrike" kern="0" cap="none" spc="0" normalizeH="0" baseline="30000" noProof="0">
              <a:ln>
                <a:noFill/>
              </a:ln>
              <a:solidFill>
                <a:srgbClr val="9778D4"/>
              </a:solidFill>
              <a:effectLst/>
              <a:uLnTx/>
              <a:uFillTx/>
              <a:latin typeface="Arial" panose="020B0604020202020204"/>
              <a:ea typeface="Calibri"/>
              <a:cs typeface="Calibri"/>
              <a:sym typeface="Calibri"/>
            </a:endParaRPr>
          </a:p>
        </p:txBody>
      </p:sp>
      <p:sp>
        <p:nvSpPr>
          <p:cNvPr id="10" name="TextBox 9">
            <a:extLst>
              <a:ext uri="{FF2B5EF4-FFF2-40B4-BE49-F238E27FC236}">
                <a16:creationId xmlns:a16="http://schemas.microsoft.com/office/drawing/2014/main" id="{74228861-7CB2-6843-ACED-783E6DC90ED4}"/>
              </a:ext>
            </a:extLst>
          </p:cNvPr>
          <p:cNvSpPr txBox="1"/>
          <p:nvPr/>
        </p:nvSpPr>
        <p:spPr>
          <a:xfrm>
            <a:off x="33736" y="718609"/>
            <a:ext cx="1728000" cy="261610"/>
          </a:xfrm>
          <a:prstGeom prst="rect">
            <a:avLst/>
          </a:prstGeom>
          <a:noFill/>
          <a:ln>
            <a:solidFill>
              <a:schemeClr val="accent1"/>
            </a:solidFill>
          </a:ln>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30"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20" name="wave table OCQ">
            <a:extLst>
              <a:ext uri="{FF2B5EF4-FFF2-40B4-BE49-F238E27FC236}">
                <a16:creationId xmlns:a16="http://schemas.microsoft.com/office/drawing/2014/main" id="{E0B1CF46-27E8-4D7C-50D9-4456656A084C}"/>
              </a:ext>
            </a:extLst>
          </p:cNvPr>
          <p:cNvGraphicFramePr>
            <a:graphicFrameLocks noGrp="1"/>
          </p:cNvGraphicFramePr>
          <p:nvPr>
            <p:custDataLst>
              <p:tags r:id="rId14"/>
            </p:custDataLst>
          </p:nvPr>
        </p:nvGraphicFramePr>
        <p:xfrm>
          <a:off x="4623209" y="1449523"/>
          <a:ext cx="3424836" cy="243840"/>
        </p:xfrm>
        <a:graphic>
          <a:graphicData uri="http://schemas.openxmlformats.org/drawingml/2006/table">
            <a:tbl>
              <a:tblPr firstRow="1" bandRow="1">
                <a:tableStyleId>{B301B821-A1FF-4177-AEE7-76D212191A09}</a:tableStyleId>
              </a:tblPr>
              <a:tblGrid>
                <a:gridCol w="570806">
                  <a:extLst>
                    <a:ext uri="{9D8B030D-6E8A-4147-A177-3AD203B41FA5}">
                      <a16:colId xmlns:a16="http://schemas.microsoft.com/office/drawing/2014/main" val="3554599800"/>
                    </a:ext>
                  </a:extLst>
                </a:gridCol>
                <a:gridCol w="570806">
                  <a:extLst>
                    <a:ext uri="{9D8B030D-6E8A-4147-A177-3AD203B41FA5}">
                      <a16:colId xmlns:a16="http://schemas.microsoft.com/office/drawing/2014/main" val="2914776207"/>
                    </a:ext>
                  </a:extLst>
                </a:gridCol>
                <a:gridCol w="570806">
                  <a:extLst>
                    <a:ext uri="{9D8B030D-6E8A-4147-A177-3AD203B41FA5}">
                      <a16:colId xmlns:a16="http://schemas.microsoft.com/office/drawing/2014/main" val="2088702262"/>
                    </a:ext>
                  </a:extLst>
                </a:gridCol>
                <a:gridCol w="570806">
                  <a:extLst>
                    <a:ext uri="{9D8B030D-6E8A-4147-A177-3AD203B41FA5}">
                      <a16:colId xmlns:a16="http://schemas.microsoft.com/office/drawing/2014/main" val="192097877"/>
                    </a:ext>
                  </a:extLst>
                </a:gridCol>
                <a:gridCol w="570806">
                  <a:extLst>
                    <a:ext uri="{9D8B030D-6E8A-4147-A177-3AD203B41FA5}">
                      <a16:colId xmlns:a16="http://schemas.microsoft.com/office/drawing/2014/main" val="1326389649"/>
                    </a:ext>
                  </a:extLst>
                </a:gridCol>
                <a:gridCol w="57080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4" name="Shape_98027710">
            <a:extLst>
              <a:ext uri="{FF2B5EF4-FFF2-40B4-BE49-F238E27FC236}">
                <a16:creationId xmlns:a16="http://schemas.microsoft.com/office/drawing/2014/main" id="{2D50741E-E7DF-7DFB-20F3-C3CC532520D2}"/>
              </a:ext>
            </a:extLst>
          </p:cNvPr>
          <p:cNvGraphicFramePr/>
          <p:nvPr>
            <p:custDataLst>
              <p:tags r:id="rId15"/>
            </p:custDataLst>
          </p:nvPr>
        </p:nvGraphicFramePr>
        <p:xfrm>
          <a:off x="4434094" y="5514632"/>
          <a:ext cx="3833606" cy="3312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18" name="Table 17">
            <a:extLst>
              <a:ext uri="{FF2B5EF4-FFF2-40B4-BE49-F238E27FC236}">
                <a16:creationId xmlns:a16="http://schemas.microsoft.com/office/drawing/2014/main" id="{18B8E3B8-CE0F-A0C2-0C19-A1A7958B4747}"/>
              </a:ext>
            </a:extLst>
          </p:cNvPr>
          <p:cNvGraphicFramePr>
            <a:graphicFrameLocks noGrp="1"/>
          </p:cNvGraphicFramePr>
          <p:nvPr/>
        </p:nvGraphicFramePr>
        <p:xfrm>
          <a:off x="8066349" y="1231965"/>
          <a:ext cx="1044000" cy="4614840"/>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8586">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78761">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46037692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93462500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5045813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5728025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682757009"/>
                  </a:ext>
                </a:extLst>
              </a:tr>
            </a:tbl>
          </a:graphicData>
        </a:graphic>
      </p:graphicFrame>
      <p:sp>
        <p:nvSpPr>
          <p:cNvPr id="19" name="Google Shape;2197;p58">
            <a:extLst>
              <a:ext uri="{FF2B5EF4-FFF2-40B4-BE49-F238E27FC236}">
                <a16:creationId xmlns:a16="http://schemas.microsoft.com/office/drawing/2014/main" id="{95E00F1A-70C0-F608-247D-CD38E3E082DB}"/>
              </a:ext>
            </a:extLst>
          </p:cNvPr>
          <p:cNvSpPr/>
          <p:nvPr/>
        </p:nvSpPr>
        <p:spPr>
          <a:xfrm>
            <a:off x="7954878" y="2023545"/>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21" name="Google Shape;2197;p58">
            <a:extLst>
              <a:ext uri="{FF2B5EF4-FFF2-40B4-BE49-F238E27FC236}">
                <a16:creationId xmlns:a16="http://schemas.microsoft.com/office/drawing/2014/main" id="{B396E381-F7D6-6A8B-E44F-DA0511A88FE8}"/>
              </a:ext>
            </a:extLst>
          </p:cNvPr>
          <p:cNvSpPr/>
          <p:nvPr/>
        </p:nvSpPr>
        <p:spPr>
          <a:xfrm>
            <a:off x="6213051" y="4562881"/>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22" name="Google Shape;2197;p58">
            <a:extLst>
              <a:ext uri="{FF2B5EF4-FFF2-40B4-BE49-F238E27FC236}">
                <a16:creationId xmlns:a16="http://schemas.microsoft.com/office/drawing/2014/main" id="{39A29C4B-B7D6-9207-277D-EECB610E0A3D}"/>
              </a:ext>
            </a:extLst>
          </p:cNvPr>
          <p:cNvSpPr/>
          <p:nvPr/>
        </p:nvSpPr>
        <p:spPr>
          <a:xfrm>
            <a:off x="6803601" y="5536154"/>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Tree>
    <p:extLst>
      <p:ext uri="{BB962C8B-B14F-4D97-AF65-F5344CB8AC3E}">
        <p14:creationId xmlns:p14="http://schemas.microsoft.com/office/powerpoint/2010/main" val="10204681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1358" name="Google Shape;1358;p33"/>
          <p:cNvSpPr/>
          <p:nvPr/>
        </p:nvSpPr>
        <p:spPr>
          <a:xfrm>
            <a:off x="665741" y="825244"/>
            <a:ext cx="7397604"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pl-PL" sz="1400" b="1" i="0" u="sng" strike="noStrike" kern="0" cap="none" spc="0" normalizeH="0" baseline="0" noProof="0">
                <a:ln>
                  <a:noFill/>
                </a:ln>
                <a:solidFill>
                  <a:srgbClr val="36729C"/>
                </a:solidFill>
                <a:effectLst/>
                <a:uLnTx/>
                <a:uFillTx/>
                <a:latin typeface="Arial" panose="020B0604020202020204"/>
                <a:ea typeface="Calibri"/>
                <a:cs typeface="Calibri"/>
                <a:sym typeface="Calibri"/>
              </a:rPr>
              <a:t>CREON</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(PCPs</a:t>
            </a:r>
            <a:r>
              <a:rPr kumimoji="0" lang="pl-PL" sz="1200" b="1" i="0" u="none" strike="noStrike" kern="0" cap="none" spc="0" normalizeH="0" baseline="30000" noProof="0">
                <a:ln>
                  <a:noFill/>
                </a:ln>
                <a:solidFill>
                  <a:srgbClr val="FF0000"/>
                </a:solidFill>
                <a:effectLst/>
                <a:uLnTx/>
                <a:uFillTx/>
                <a:latin typeface="Arial" panose="020B0604020202020204"/>
                <a:ea typeface="Calibri"/>
                <a:cs typeface="Calibri"/>
                <a:sym typeface="Calibri"/>
              </a:rPr>
              <a:t>*</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1400" b="0" i="0" u="none" strike="noStrike" kern="0" cap="none" spc="0" normalizeH="0" baseline="0" noProof="0">
              <a:ln>
                <a:noFill/>
              </a:ln>
              <a:solidFill>
                <a:srgbClr val="36729C"/>
              </a:solidFill>
              <a:effectLst/>
              <a:uLnTx/>
              <a:uFillTx/>
              <a:latin typeface="Arial" panose="020B0604020202020204"/>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Feb’2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28</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20</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May’2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Jun’2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26</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Jul’2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Aug’2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21</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25</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pl-PL" sz="800" b="0" i="0" u="none"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23</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800" b="0" i="0" u="sng" strike="noStrike" kern="0" cap="none" spc="0" normalizeH="0" baseline="30000" noProof="0">
              <a:ln>
                <a:noFill/>
              </a:ln>
              <a:solidFill>
                <a:srgbClr val="9778D4"/>
              </a:solidFill>
              <a:effectLst/>
              <a:uLnTx/>
              <a:uFillTx/>
              <a:latin typeface="Arial" panose="020B0604020202020204"/>
              <a:ea typeface="Calibri"/>
              <a:cs typeface="Calibri"/>
              <a:sym typeface="Calibri"/>
            </a:endParaRPr>
          </a:p>
        </p:txBody>
      </p:sp>
      <p:sp>
        <p:nvSpPr>
          <p:cNvPr id="1359" name="Google Shape;1359;p3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CREON (PCPs)</a:t>
            </a:r>
          </a:p>
        </p:txBody>
      </p:sp>
      <p:sp>
        <p:nvSpPr>
          <p:cNvPr id="1375" name="Google Shape;1375;p33"/>
          <p:cNvSpPr txBox="1"/>
          <p:nvPr/>
        </p:nvSpPr>
        <p:spPr>
          <a:xfrm>
            <a:off x="342901" y="5957245"/>
            <a:ext cx="8865758"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a:t>
            </a:r>
            <a:r>
              <a:rPr kumimoji="0" lang="en-US" sz="900" b="0" i="0" u="none" strike="noStrike" kern="0" cap="none" spc="0" normalizeH="0" baseline="0" noProof="0">
                <a:ln>
                  <a:noFill/>
                </a:ln>
                <a:solidFill>
                  <a:srgbClr val="001D49"/>
                </a:solidFill>
                <a:effectLst/>
                <a:uLnTx/>
                <a:uFillTx/>
                <a:latin typeface="Arial"/>
                <a:ea typeface="Calibri"/>
                <a:cs typeface="Arial"/>
                <a:sym typeface="Arial"/>
              </a:rPr>
              <a:t>|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*Full message text in speaker notes | Messages sorted in decreasing order of recall for CREON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panose="020B0604020202020204"/>
              <a:ea typeface="Calibri"/>
              <a:cs typeface="Calibri"/>
              <a:sym typeface="Calibri"/>
            </a:endParaRPr>
          </a:p>
        </p:txBody>
      </p:sp>
      <p:sp>
        <p:nvSpPr>
          <p:cNvPr id="20" name="Google Shape;1583;p40">
            <a:extLst>
              <a:ext uri="{FF2B5EF4-FFF2-40B4-BE49-F238E27FC236}">
                <a16:creationId xmlns:a16="http://schemas.microsoft.com/office/drawing/2014/main" id="{B072D366-DF10-13C5-FDEB-3F4392C0EC57}"/>
              </a:ext>
            </a:extLst>
          </p:cNvPr>
          <p:cNvSpPr/>
          <p:nvPr/>
        </p:nvSpPr>
        <p:spPr>
          <a:xfrm>
            <a:off x="5880135" y="667619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2" name="CR_MR_Table">
            <a:extLst>
              <a:ext uri="{FF2B5EF4-FFF2-40B4-BE49-F238E27FC236}">
                <a16:creationId xmlns:a16="http://schemas.microsoft.com/office/drawing/2014/main" id="{43447B05-4308-6962-D6BD-2988AFEFE776}"/>
              </a:ext>
            </a:extLst>
          </p:cNvPr>
          <p:cNvGraphicFramePr/>
          <p:nvPr>
            <p:custDataLst>
              <p:tags r:id="rId1"/>
            </p:custDataLst>
          </p:nvPr>
        </p:nvGraphicFramePr>
        <p:xfrm>
          <a:off x="24502" y="1685309"/>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C6^</a:t>
                      </a: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150" marR="0" lvl="0" indent="-6350" algn="l"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900" b="0" i="0" u="none" strike="noStrike" kern="0" cap="none" spc="0" normalizeH="0" baseline="0">
                          <a:ln>
                            <a:noFill/>
                          </a:ln>
                          <a:solidFill>
                            <a:srgbClr val="071D49"/>
                          </a:solidFill>
                          <a:effectLst/>
                          <a:uLnTx/>
                          <a:uFillTx/>
                          <a:latin typeface="Arial" panose="020B0604020202020204" pitchFamily="34" charset="0"/>
                          <a:ea typeface="+mn-ea"/>
                          <a:cs typeface="Calibri"/>
                          <a:sym typeface="Arial"/>
                        </a:rPr>
                        <a:t>Take CREON every meal, every snack, every day.</a:t>
                      </a:r>
                    </a:p>
                  </a:txBody>
                  <a:tcPr marL="36000" marR="3577" marT="2384" marB="238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marL="5080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C7</a:t>
                      </a:r>
                    </a:p>
                  </a:txBody>
                  <a:tcPr marL="3577" marR="3577" marT="2384" marB="2384"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b"/>
                      <a:r>
                        <a:rPr kumimoji="0" lang="en-US" sz="900" b="0" i="0" u="none" strike="noStrike" kern="0" cap="none" spc="0" normalizeH="0" baseline="0">
                          <a:ln>
                            <a:noFill/>
                          </a:ln>
                          <a:solidFill>
                            <a:srgbClr val="071D49"/>
                          </a:solidFill>
                          <a:effectLst/>
                          <a:uLnTx/>
                          <a:uFillTx/>
                          <a:latin typeface="+mn-lt"/>
                          <a:ea typeface="+mn-ea"/>
                          <a:cs typeface="Arial"/>
                        </a:rPr>
                        <a:t>CREON 36K capsules can be an appropriate dose for many adults.</a:t>
                      </a:r>
                    </a:p>
                  </a:txBody>
                  <a:tcPr marL="720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50234294"/>
                  </a:ext>
                </a:extLst>
              </a:tr>
              <a:tr h="320040">
                <a:tc>
                  <a:txBody>
                    <a:bodyPr/>
                    <a:lstStyle/>
                    <a:p>
                      <a:pPr algn="ctr" fontAlgn="b"/>
                      <a:r>
                        <a:rPr lang="en-IN" sz="900" b="1" i="0" u="none" strike="noStrike">
                          <a:solidFill>
                            <a:srgbClr val="071D49"/>
                          </a:solidFill>
                          <a:effectLst/>
                          <a:latin typeface="+mn-lt"/>
                        </a:rPr>
                        <a:t>C10</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CREON is the #1 PERT prescribed by Gastroenterologists, Primary Care Physicians, Nurse Practitioners and Physician Assistants.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034292156"/>
                  </a:ext>
                </a:extLst>
              </a:tr>
              <a:tr h="320040">
                <a:tc>
                  <a:txBody>
                    <a:bodyPr/>
                    <a:lstStyle/>
                    <a:p>
                      <a:pPr algn="ctr" fontAlgn="b"/>
                      <a:r>
                        <a:rPr lang="en-IN" sz="900" b="1" i="0" u="none" strike="noStrike">
                          <a:solidFill>
                            <a:srgbClr val="071D49"/>
                          </a:solidFill>
                          <a:effectLst/>
                          <a:latin typeface="+mn-lt"/>
                        </a:rPr>
                        <a:t>C11</a:t>
                      </a: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a:t>
                      </a:r>
                      <a:endParaRPr lang="en-IN" sz="900" b="1" i="0" u="none" strike="noStrike">
                        <a:solidFill>
                          <a:srgbClr val="071D49"/>
                        </a:solidFill>
                        <a:effectLst/>
                        <a:latin typeface="+mn-lt"/>
                      </a:endParaRP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95% of commercially eligible patients pay $5 or less for their CREON prescription with the CREON Complete Savings card.</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238924380"/>
                  </a:ext>
                </a:extLst>
              </a:tr>
              <a:tr h="320040">
                <a:tc>
                  <a:txBody>
                    <a:bodyPr/>
                    <a:lstStyle/>
                    <a:p>
                      <a:pPr algn="ctr" fontAlgn="b"/>
                      <a:r>
                        <a:rPr lang="en-IN" sz="900" b="1" i="0" u="none" strike="noStrike">
                          <a:solidFill>
                            <a:srgbClr val="071D49"/>
                          </a:solidFill>
                          <a:effectLst/>
                          <a:latin typeface="+mn-lt"/>
                        </a:rPr>
                        <a:t>C3</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Exocrine Pancreatic Insufficiency (EPI) is under-recognized and can have an impact on nutritional health and quality of life</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250413982"/>
                  </a:ext>
                </a:extLst>
              </a:tr>
              <a:tr h="320040">
                <a:tc>
                  <a:txBody>
                    <a:bodyPr/>
                    <a:lstStyle/>
                    <a:p>
                      <a:pPr algn="ctr" fontAlgn="b"/>
                      <a:r>
                        <a:rPr lang="en-IN" sz="900" b="1" i="0" u="none" strike="noStrike">
                          <a:solidFill>
                            <a:srgbClr val="071D49"/>
                          </a:solidFill>
                          <a:effectLst/>
                          <a:latin typeface="+mn-lt"/>
                        </a:rPr>
                        <a:t>C1</a:t>
                      </a: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a:t>
                      </a:r>
                      <a:endParaRPr lang="en-IN" sz="900" b="1" i="0" u="none" strike="noStrike">
                        <a:solidFill>
                          <a:srgbClr val="071D49"/>
                        </a:solidFill>
                        <a:effectLst/>
                        <a:latin typeface="+mn-lt"/>
                      </a:endParaRP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CREON maintains category leading coverage</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633432121"/>
                  </a:ext>
                </a:extLst>
              </a:tr>
              <a:tr h="320040">
                <a:tc>
                  <a:txBody>
                    <a:bodyPr/>
                    <a:lstStyle/>
                    <a:p>
                      <a:pPr algn="ctr" fontAlgn="b"/>
                      <a:r>
                        <a:rPr lang="en-IN" sz="900" b="1" i="0" u="none" strike="noStrike">
                          <a:solidFill>
                            <a:srgbClr val="071D49"/>
                          </a:solidFill>
                          <a:effectLst/>
                          <a:latin typeface="+mn-lt"/>
                        </a:rPr>
                        <a:t>C9</a:t>
                      </a:r>
                      <a:r>
                        <a:rPr kumimoji="0" lang="en-IN" sz="900" b="1" i="0" u="none" strike="noStrike" kern="0" cap="none" spc="0" normalizeH="0" baseline="0">
                          <a:ln>
                            <a:noFill/>
                          </a:ln>
                          <a:solidFill>
                            <a:srgbClr val="071D49"/>
                          </a:solidFill>
                          <a:effectLst/>
                          <a:uLnTx/>
                          <a:uFillTx/>
                          <a:latin typeface="Arial" panose="020B0604020202020204" pitchFamily="34" charset="0"/>
                          <a:cs typeface="Calibri"/>
                          <a:sym typeface="Arial"/>
                        </a:rPr>
                        <a:t>^</a:t>
                      </a:r>
                      <a:endParaRPr lang="en-IN" sz="900" b="1" i="0" u="none" strike="noStrike">
                        <a:solidFill>
                          <a:srgbClr val="071D49"/>
                        </a:solidFill>
                        <a:effectLst/>
                        <a:latin typeface="+mn-lt"/>
                      </a:endParaRP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CREON significantly improves fat absorption compared with placebo in randomized clinical trials of patients with EPI due to CF, CP, or pancreatectomy.</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12297297"/>
                  </a:ext>
                </a:extLst>
              </a:tr>
              <a:tr h="320040">
                <a:tc>
                  <a:txBody>
                    <a:bodyPr/>
                    <a:lstStyle/>
                    <a:p>
                      <a:pPr algn="ctr" fontAlgn="b"/>
                      <a:r>
                        <a:rPr lang="en-IN" sz="900" b="1" i="0" u="none" strike="noStrike">
                          <a:solidFill>
                            <a:srgbClr val="071D49"/>
                          </a:solidFill>
                          <a:effectLst/>
                          <a:latin typeface="+mn-lt"/>
                        </a:rPr>
                        <a:t>C19</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150" marR="0" lvl="0" indent="-635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71D49"/>
                          </a:solidFill>
                          <a:effectLst/>
                          <a:uLnTx/>
                          <a:uFillTx/>
                          <a:latin typeface="Arial" panose="020B0604020202020204" pitchFamily="34" charset="0"/>
                          <a:cs typeface="Calibri"/>
                          <a:sym typeface="Arial"/>
                        </a:rPr>
                        <a:t>CREON is the only PERT specifically studied for patients with EPI due to chronic pancreatitis and pancreatectomy, in addition to cystic fibrosis</a:t>
                      </a:r>
                      <a:endParaRPr kumimoji="0" lang="en-US" sz="900" b="0" i="0" u="none" strike="noStrike" kern="0" cap="none" spc="0" normalizeH="0" baseline="0">
                        <a:ln>
                          <a:noFill/>
                        </a:ln>
                        <a:solidFill>
                          <a:srgbClr val="071D49"/>
                        </a:solidFill>
                        <a:effectLst/>
                        <a:uLnTx/>
                        <a:uFillTx/>
                        <a:latin typeface="Arial" panose="020B0604020202020204" pitchFamily="34" charset="0"/>
                        <a:cs typeface="Calibri"/>
                        <a:sym typeface="Arial"/>
                      </a:endParaRP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876395414"/>
                  </a:ext>
                </a:extLst>
              </a:tr>
              <a:tr h="320040">
                <a:tc>
                  <a:txBody>
                    <a:bodyPr/>
                    <a:lstStyle/>
                    <a:p>
                      <a:pPr algn="ctr" fontAlgn="b"/>
                      <a:r>
                        <a:rPr lang="en-IN" sz="900" b="1" i="0" u="none" strike="noStrike">
                          <a:solidFill>
                            <a:srgbClr val="071D49"/>
                          </a:solidFill>
                          <a:effectLst/>
                          <a:latin typeface="+mn-lt"/>
                        </a:rPr>
                        <a:t>C4</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EPI is largely a clinical diagnosis based on signs and symptoms and should be considered as part of the differential diagnosis of GI symptoms.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83999298"/>
                  </a:ext>
                </a:extLst>
              </a:tr>
              <a:tr h="320040">
                <a:tc>
                  <a:txBody>
                    <a:bodyPr/>
                    <a:lstStyle/>
                    <a:p>
                      <a:pPr algn="ctr" fontAlgn="b"/>
                      <a:r>
                        <a:rPr lang="en-IN" sz="900" b="1" i="0" u="none" strike="noStrike">
                          <a:solidFill>
                            <a:srgbClr val="071D49"/>
                          </a:solidFill>
                          <a:effectLst/>
                          <a:latin typeface="+mn-lt"/>
                        </a:rPr>
                        <a:t>C22**</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71% of CREON Medicare Part D patients paid less than $30 in 2024.</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741545859"/>
                  </a:ext>
                </a:extLst>
              </a:tr>
              <a:tr h="320040">
                <a:tc>
                  <a:txBody>
                    <a:bodyPr/>
                    <a:lstStyle/>
                    <a:p>
                      <a:pPr algn="ctr" fontAlgn="b"/>
                      <a:r>
                        <a:rPr lang="en-IN" sz="900" b="1" i="0" u="none" strike="noStrike">
                          <a:solidFill>
                            <a:srgbClr val="071D49"/>
                          </a:solidFill>
                          <a:effectLst/>
                          <a:latin typeface="+mn-lt"/>
                        </a:rPr>
                        <a:t>C20**</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Significant experience, exceptional patient support, and excellent coverage make CREON a proven partner for patients with EPl.</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747164475"/>
                  </a:ext>
                </a:extLst>
              </a:tr>
              <a:tr h="320040">
                <a:tc>
                  <a:txBody>
                    <a:bodyPr/>
                    <a:lstStyle/>
                    <a:p>
                      <a:pPr algn="ctr" fontAlgn="b"/>
                      <a:r>
                        <a:rPr lang="en-IN" sz="900" b="1" i="0" u="none" strike="noStrike">
                          <a:solidFill>
                            <a:srgbClr val="071D49"/>
                          </a:solidFill>
                          <a:effectLst/>
                          <a:latin typeface="+mn-lt"/>
                        </a:rPr>
                        <a:t>C17</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More than 8 out of 10 GEs and PCPs prescribe CREON more than other PERTs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174002997"/>
                  </a:ext>
                </a:extLst>
              </a:tr>
              <a:tr h="320040">
                <a:tc>
                  <a:txBody>
                    <a:bodyPr/>
                    <a:lstStyle/>
                    <a:p>
                      <a:pPr algn="ctr" fontAlgn="b"/>
                      <a:r>
                        <a:rPr lang="en-IN" sz="900" b="1" i="0" u="none" strike="noStrike">
                          <a:solidFill>
                            <a:srgbClr val="071D49"/>
                          </a:solidFill>
                          <a:effectLst/>
                          <a:latin typeface="+mn-lt"/>
                        </a:rPr>
                        <a:t>C21**</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CREON Complete may help patients start and stay on track with their treatment.</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8824920"/>
                  </a:ext>
                </a:extLst>
              </a:tr>
            </a:tbl>
          </a:graphicData>
        </a:graphic>
      </p:graphicFrame>
      <p:graphicFrame>
        <p:nvGraphicFramePr>
          <p:cNvPr id="5" name="Aided Message Recall – CREON (PCPs*)">
            <a:extLst>
              <a:ext uri="{FF2B5EF4-FFF2-40B4-BE49-F238E27FC236}">
                <a16:creationId xmlns:a16="http://schemas.microsoft.com/office/drawing/2014/main" id="{7C8D16BB-E581-D096-46BA-C7020B4AD500}"/>
              </a:ext>
            </a:extLst>
          </p:cNvPr>
          <p:cNvGraphicFramePr/>
          <p:nvPr>
            <p:custDataLst>
              <p:tags r:id="rId2"/>
            </p:custDataLst>
          </p:nvPr>
        </p:nvGraphicFramePr>
        <p:xfrm>
          <a:off x="4753907" y="1685309"/>
          <a:ext cx="4428000"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7" name="Shape_14668663">
            <a:extLst>
              <a:ext uri="{FF2B5EF4-FFF2-40B4-BE49-F238E27FC236}">
                <a16:creationId xmlns:a16="http://schemas.microsoft.com/office/drawing/2014/main" id="{2C0921A5-EF9E-9207-A00F-A2FB1B8493B0}"/>
              </a:ext>
            </a:extLst>
          </p:cNvPr>
          <p:cNvGraphicFramePr/>
          <p:nvPr>
            <p:custDataLst>
              <p:tags r:id="rId3"/>
            </p:custDataLst>
          </p:nvPr>
        </p:nvGraphicFramePr>
        <p:xfrm>
          <a:off x="4753907" y="2004419"/>
          <a:ext cx="4428000"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26" name="Shape_3623963">
            <a:extLst>
              <a:ext uri="{FF2B5EF4-FFF2-40B4-BE49-F238E27FC236}">
                <a16:creationId xmlns:a16="http://schemas.microsoft.com/office/drawing/2014/main" id="{4DDA092B-831F-E48B-A9CB-6B5436DCA091}"/>
              </a:ext>
            </a:extLst>
          </p:cNvPr>
          <p:cNvGraphicFramePr/>
          <p:nvPr>
            <p:custDataLst>
              <p:tags r:id="rId4"/>
            </p:custDataLst>
          </p:nvPr>
        </p:nvGraphicFramePr>
        <p:xfrm>
          <a:off x="4753907" y="2323529"/>
          <a:ext cx="4428000"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27" name="Shape_43756478">
            <a:extLst>
              <a:ext uri="{FF2B5EF4-FFF2-40B4-BE49-F238E27FC236}">
                <a16:creationId xmlns:a16="http://schemas.microsoft.com/office/drawing/2014/main" id="{EFF4423B-A603-9FB5-C348-831AD62D4DFE}"/>
              </a:ext>
            </a:extLst>
          </p:cNvPr>
          <p:cNvGraphicFramePr/>
          <p:nvPr>
            <p:custDataLst>
              <p:tags r:id="rId5"/>
            </p:custDataLst>
          </p:nvPr>
        </p:nvGraphicFramePr>
        <p:xfrm>
          <a:off x="4753907" y="2642639"/>
          <a:ext cx="4428000"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28" name="Shape_25680311">
            <a:extLst>
              <a:ext uri="{FF2B5EF4-FFF2-40B4-BE49-F238E27FC236}">
                <a16:creationId xmlns:a16="http://schemas.microsoft.com/office/drawing/2014/main" id="{16872A66-CDAE-F8DF-FD9F-64A3CAEC25A0}"/>
              </a:ext>
            </a:extLst>
          </p:cNvPr>
          <p:cNvGraphicFramePr/>
          <p:nvPr>
            <p:custDataLst>
              <p:tags r:id="rId6"/>
            </p:custDataLst>
          </p:nvPr>
        </p:nvGraphicFramePr>
        <p:xfrm>
          <a:off x="4753907" y="2961749"/>
          <a:ext cx="4428000"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29" name="Shape_90406466">
            <a:extLst>
              <a:ext uri="{FF2B5EF4-FFF2-40B4-BE49-F238E27FC236}">
                <a16:creationId xmlns:a16="http://schemas.microsoft.com/office/drawing/2014/main" id="{4508C0EE-D9DA-3C93-E820-96A735A4F613}"/>
              </a:ext>
            </a:extLst>
          </p:cNvPr>
          <p:cNvGraphicFramePr/>
          <p:nvPr>
            <p:custDataLst>
              <p:tags r:id="rId7"/>
            </p:custDataLst>
          </p:nvPr>
        </p:nvGraphicFramePr>
        <p:xfrm>
          <a:off x="4753907" y="3280859"/>
          <a:ext cx="4428000"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30" name="Shape_54532776">
            <a:extLst>
              <a:ext uri="{FF2B5EF4-FFF2-40B4-BE49-F238E27FC236}">
                <a16:creationId xmlns:a16="http://schemas.microsoft.com/office/drawing/2014/main" id="{FFBCAF4E-AB60-2627-CB2C-0F49B4DDE503}"/>
              </a:ext>
            </a:extLst>
          </p:cNvPr>
          <p:cNvGraphicFramePr/>
          <p:nvPr>
            <p:custDataLst>
              <p:tags r:id="rId8"/>
            </p:custDataLst>
          </p:nvPr>
        </p:nvGraphicFramePr>
        <p:xfrm>
          <a:off x="4753907" y="3599969"/>
          <a:ext cx="4428000"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31" name="Shape_60172506">
            <a:extLst>
              <a:ext uri="{FF2B5EF4-FFF2-40B4-BE49-F238E27FC236}">
                <a16:creationId xmlns:a16="http://schemas.microsoft.com/office/drawing/2014/main" id="{95B33A6E-FD85-49DE-8F37-A9571B22E4B5}"/>
              </a:ext>
            </a:extLst>
          </p:cNvPr>
          <p:cNvGraphicFramePr/>
          <p:nvPr>
            <p:custDataLst>
              <p:tags r:id="rId9"/>
            </p:custDataLst>
          </p:nvPr>
        </p:nvGraphicFramePr>
        <p:xfrm>
          <a:off x="4753907" y="3919079"/>
          <a:ext cx="4428000"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32" name="Shape_85885840">
            <a:extLst>
              <a:ext uri="{FF2B5EF4-FFF2-40B4-BE49-F238E27FC236}">
                <a16:creationId xmlns:a16="http://schemas.microsoft.com/office/drawing/2014/main" id="{ABF060B0-4A32-4F89-5BD8-2BE93DC67BD2}"/>
              </a:ext>
            </a:extLst>
          </p:cNvPr>
          <p:cNvGraphicFramePr/>
          <p:nvPr>
            <p:custDataLst>
              <p:tags r:id="rId10"/>
            </p:custDataLst>
          </p:nvPr>
        </p:nvGraphicFramePr>
        <p:xfrm>
          <a:off x="4753907" y="4238189"/>
          <a:ext cx="4428000"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33" name="Shape_5642430">
            <a:extLst>
              <a:ext uri="{FF2B5EF4-FFF2-40B4-BE49-F238E27FC236}">
                <a16:creationId xmlns:a16="http://schemas.microsoft.com/office/drawing/2014/main" id="{CC26CE0F-53DF-12FF-9AA0-A4EE5215DB8E}"/>
              </a:ext>
            </a:extLst>
          </p:cNvPr>
          <p:cNvGraphicFramePr/>
          <p:nvPr>
            <p:custDataLst>
              <p:tags r:id="rId11"/>
            </p:custDataLst>
          </p:nvPr>
        </p:nvGraphicFramePr>
        <p:xfrm>
          <a:off x="4753907" y="4557299"/>
          <a:ext cx="4428000"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34" name="Shape_93147472">
            <a:extLst>
              <a:ext uri="{FF2B5EF4-FFF2-40B4-BE49-F238E27FC236}">
                <a16:creationId xmlns:a16="http://schemas.microsoft.com/office/drawing/2014/main" id="{B1712E51-24BF-AA17-8C38-0C3BE43D8C93}"/>
              </a:ext>
            </a:extLst>
          </p:cNvPr>
          <p:cNvGraphicFramePr/>
          <p:nvPr>
            <p:custDataLst>
              <p:tags r:id="rId12"/>
            </p:custDataLst>
          </p:nvPr>
        </p:nvGraphicFramePr>
        <p:xfrm>
          <a:off x="4753907" y="4876409"/>
          <a:ext cx="4428000"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35" name="Shape_31559392">
            <a:extLst>
              <a:ext uri="{FF2B5EF4-FFF2-40B4-BE49-F238E27FC236}">
                <a16:creationId xmlns:a16="http://schemas.microsoft.com/office/drawing/2014/main" id="{2C9488C4-25E5-B241-4091-06455E156AEC}"/>
              </a:ext>
            </a:extLst>
          </p:cNvPr>
          <p:cNvGraphicFramePr/>
          <p:nvPr>
            <p:custDataLst>
              <p:tags r:id="rId13"/>
            </p:custDataLst>
          </p:nvPr>
        </p:nvGraphicFramePr>
        <p:xfrm>
          <a:off x="4753907" y="5195519"/>
          <a:ext cx="4428000" cy="3312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6" name="wave table OCQ">
            <a:extLst>
              <a:ext uri="{FF2B5EF4-FFF2-40B4-BE49-F238E27FC236}">
                <a16:creationId xmlns:a16="http://schemas.microsoft.com/office/drawing/2014/main" id="{D21AB97C-E490-7150-2816-A0C3F858082C}"/>
              </a:ext>
            </a:extLst>
          </p:cNvPr>
          <p:cNvGraphicFramePr>
            <a:graphicFrameLocks noGrp="1"/>
          </p:cNvGraphicFramePr>
          <p:nvPr>
            <p:custDataLst>
              <p:tags r:id="rId14"/>
            </p:custDataLst>
          </p:nvPr>
        </p:nvGraphicFramePr>
        <p:xfrm>
          <a:off x="4985159" y="1449523"/>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0" name="Google Shape;1373;p33">
            <a:extLst>
              <a:ext uri="{FF2B5EF4-FFF2-40B4-BE49-F238E27FC236}">
                <a16:creationId xmlns:a16="http://schemas.microsoft.com/office/drawing/2014/main" id="{0A65E929-E1A5-0E8F-70F4-A1AB4EA6BF27}"/>
              </a:ext>
            </a:extLst>
          </p:cNvPr>
          <p:cNvSpPr/>
          <p:nvPr/>
        </p:nvSpPr>
        <p:spPr>
          <a:xfrm>
            <a:off x="570790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13" name="Google Shape;763;p18">
            <a:extLst>
              <a:ext uri="{FF2B5EF4-FFF2-40B4-BE49-F238E27FC236}">
                <a16:creationId xmlns:a16="http://schemas.microsoft.com/office/drawing/2014/main" id="{E36C0447-5052-D8F3-FDCA-333D0A7E5E94}"/>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16" name="Google Shape;1433;p35">
            <a:extLst>
              <a:ext uri="{FF2B5EF4-FFF2-40B4-BE49-F238E27FC236}">
                <a16:creationId xmlns:a16="http://schemas.microsoft.com/office/drawing/2014/main" id="{57676114-EEF8-4160-425E-8FC1AB23FD67}"/>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19" name="TextBox 18">
            <a:extLst>
              <a:ext uri="{FF2B5EF4-FFF2-40B4-BE49-F238E27FC236}">
                <a16:creationId xmlns:a16="http://schemas.microsoft.com/office/drawing/2014/main" id="{F23F0626-C236-C9A2-D674-066BADFAE0F5}"/>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8" name="Shape_25680311">
            <a:extLst>
              <a:ext uri="{FF2B5EF4-FFF2-40B4-BE49-F238E27FC236}">
                <a16:creationId xmlns:a16="http://schemas.microsoft.com/office/drawing/2014/main" id="{21DC774B-F756-4DD7-8192-5C63F6332DAA}"/>
              </a:ext>
            </a:extLst>
          </p:cNvPr>
          <p:cNvGraphicFramePr/>
          <p:nvPr>
            <p:custDataLst>
              <p:tags r:id="rId15"/>
            </p:custDataLst>
          </p:nvPr>
        </p:nvGraphicFramePr>
        <p:xfrm>
          <a:off x="4753907" y="5514629"/>
          <a:ext cx="4428000" cy="331200"/>
        </p:xfrm>
        <a:graphic>
          <a:graphicData uri="http://schemas.openxmlformats.org/drawingml/2006/chart">
            <c:chart xmlns:c="http://schemas.openxmlformats.org/drawingml/2006/chart" xmlns:r="http://schemas.openxmlformats.org/officeDocument/2006/relationships" r:id="rId30"/>
          </a:graphicData>
        </a:graphic>
      </p:graphicFrame>
    </p:spTree>
    <p:extLst>
      <p:ext uri="{BB962C8B-B14F-4D97-AF65-F5344CB8AC3E}">
        <p14:creationId xmlns:p14="http://schemas.microsoft.com/office/powerpoint/2010/main" val="811639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1A64018B-26D1-317A-0748-064766D39E90}"/>
            </a:ext>
          </a:extLst>
        </p:cNvPr>
        <p:cNvGrpSpPr/>
        <p:nvPr/>
      </p:nvGrpSpPr>
      <p:grpSpPr>
        <a:xfrm>
          <a:off x="0" y="0"/>
          <a:ext cx="0" cy="0"/>
          <a:chOff x="0" y="0"/>
          <a:chExt cx="0" cy="0"/>
        </a:xfrm>
      </p:grpSpPr>
      <p:sp>
        <p:nvSpPr>
          <p:cNvPr id="1358" name="Google Shape;1358;p33">
            <a:extLst>
              <a:ext uri="{FF2B5EF4-FFF2-40B4-BE49-F238E27FC236}">
                <a16:creationId xmlns:a16="http://schemas.microsoft.com/office/drawing/2014/main" id="{D8EB1983-1390-4634-1450-171F4911EA96}"/>
              </a:ext>
            </a:extLst>
          </p:cNvPr>
          <p:cNvSpPr/>
          <p:nvPr/>
        </p:nvSpPr>
        <p:spPr>
          <a:xfrm>
            <a:off x="665740" y="825244"/>
            <a:ext cx="7453024"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pl-PL" sz="1400" b="1" i="0" u="sng" strike="noStrike" kern="0" cap="none" spc="0" normalizeH="0" baseline="0" noProof="0">
                <a:ln>
                  <a:noFill/>
                </a:ln>
                <a:solidFill>
                  <a:srgbClr val="36729C"/>
                </a:solidFill>
                <a:effectLst/>
                <a:uLnTx/>
                <a:uFillTx/>
                <a:latin typeface="Arial" panose="020B0604020202020204"/>
                <a:ea typeface="Calibri"/>
                <a:cs typeface="Calibri"/>
                <a:sym typeface="Calibri"/>
              </a:rPr>
              <a:t>CREON</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a:t>
            </a:r>
            <a:r>
              <a:rPr kumimoji="0" lang="en-IN"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NP/PA</a:t>
            </a:r>
            <a:r>
              <a:rPr kumimoji="0" lang="pl-PL" sz="1200" b="1" i="0" u="none" strike="noStrike" kern="0" cap="none" spc="0" normalizeH="0" baseline="30000" noProof="0">
                <a:ln>
                  <a:noFill/>
                </a:ln>
                <a:solidFill>
                  <a:srgbClr val="FF0000"/>
                </a:solidFill>
                <a:effectLst/>
                <a:uLnTx/>
                <a:uFillTx/>
                <a:latin typeface="Arial" panose="020B0604020202020204"/>
                <a:ea typeface="Calibri"/>
                <a:cs typeface="Calibri"/>
                <a:sym typeface="Calibri"/>
              </a:rPr>
              <a:t>*</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1400" b="0" i="0" u="none" strike="noStrike" kern="0" cap="none" spc="0" normalizeH="0" baseline="0" noProof="0">
              <a:ln>
                <a:noFill/>
              </a:ln>
              <a:solidFill>
                <a:srgbClr val="36729C"/>
              </a:solidFill>
              <a:effectLst/>
              <a:uLnTx/>
              <a:uFillTx/>
              <a:latin typeface="Arial" panose="020B0604020202020204"/>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Feb’2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21</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21</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May’2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Jun’2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28</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Jul’2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Aug’2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28</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30 </a:t>
            </a:r>
            <a:r>
              <a:rPr kumimoji="0" lang="pl-PL" sz="800" b="0" i="0" u="none"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28</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800" b="0" i="0" u="sng" strike="noStrike" kern="0" cap="none" spc="0" normalizeH="0" baseline="30000" noProof="0">
              <a:ln>
                <a:noFill/>
              </a:ln>
              <a:solidFill>
                <a:srgbClr val="9778D4"/>
              </a:solidFill>
              <a:effectLst/>
              <a:uLnTx/>
              <a:uFillTx/>
              <a:latin typeface="Arial" panose="020B0604020202020204"/>
              <a:ea typeface="Calibri"/>
              <a:cs typeface="Calibri"/>
              <a:sym typeface="Calibri"/>
            </a:endParaRPr>
          </a:p>
        </p:txBody>
      </p:sp>
      <p:sp>
        <p:nvSpPr>
          <p:cNvPr id="1359" name="Google Shape;1359;p33">
            <a:extLst>
              <a:ext uri="{FF2B5EF4-FFF2-40B4-BE49-F238E27FC236}">
                <a16:creationId xmlns:a16="http://schemas.microsoft.com/office/drawing/2014/main" id="{8A071366-678C-9C31-F646-2619CD8FFFB7}"/>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CREON (NP/PA)</a:t>
            </a:r>
          </a:p>
        </p:txBody>
      </p:sp>
      <p:sp>
        <p:nvSpPr>
          <p:cNvPr id="20" name="Google Shape;1583;p40">
            <a:extLst>
              <a:ext uri="{FF2B5EF4-FFF2-40B4-BE49-F238E27FC236}">
                <a16:creationId xmlns:a16="http://schemas.microsoft.com/office/drawing/2014/main" id="{B2AD7958-6774-806A-2E12-5DC71EA87BB4}"/>
              </a:ext>
            </a:extLst>
          </p:cNvPr>
          <p:cNvSpPr/>
          <p:nvPr/>
        </p:nvSpPr>
        <p:spPr>
          <a:xfrm>
            <a:off x="5880135" y="667619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5" name="Aided Message Recall – CREON (PCPs*)">
            <a:extLst>
              <a:ext uri="{FF2B5EF4-FFF2-40B4-BE49-F238E27FC236}">
                <a16:creationId xmlns:a16="http://schemas.microsoft.com/office/drawing/2014/main" id="{81B3B11A-D0C4-8C07-D912-3256FE4E1E30}"/>
              </a:ext>
            </a:extLst>
          </p:cNvPr>
          <p:cNvGraphicFramePr/>
          <p:nvPr>
            <p:custDataLst>
              <p:tags r:id="rId1"/>
            </p:custDataLst>
          </p:nvPr>
        </p:nvGraphicFramePr>
        <p:xfrm>
          <a:off x="4772252" y="1685310"/>
          <a:ext cx="4428000"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6" name="wave table OCQ">
            <a:extLst>
              <a:ext uri="{FF2B5EF4-FFF2-40B4-BE49-F238E27FC236}">
                <a16:creationId xmlns:a16="http://schemas.microsoft.com/office/drawing/2014/main" id="{F3326C15-B743-4BC6-A586-F29E86588FA4}"/>
              </a:ext>
            </a:extLst>
          </p:cNvPr>
          <p:cNvGraphicFramePr>
            <a:graphicFrameLocks noGrp="1"/>
          </p:cNvGraphicFramePr>
          <p:nvPr>
            <p:custDataLst>
              <p:tags r:id="rId2"/>
            </p:custDataLst>
          </p:nvPr>
        </p:nvGraphicFramePr>
        <p:xfrm>
          <a:off x="4985159" y="1449523"/>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0" name="Google Shape;1373;p33">
            <a:extLst>
              <a:ext uri="{FF2B5EF4-FFF2-40B4-BE49-F238E27FC236}">
                <a16:creationId xmlns:a16="http://schemas.microsoft.com/office/drawing/2014/main" id="{12EB432C-7B70-D117-1ACD-924F27954A38}"/>
              </a:ext>
            </a:extLst>
          </p:cNvPr>
          <p:cNvSpPr/>
          <p:nvPr/>
        </p:nvSpPr>
        <p:spPr>
          <a:xfrm>
            <a:off x="570790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8" name="Google Shape;763;p18">
            <a:extLst>
              <a:ext uri="{FF2B5EF4-FFF2-40B4-BE49-F238E27FC236}">
                <a16:creationId xmlns:a16="http://schemas.microsoft.com/office/drawing/2014/main" id="{F7E241BB-56D9-D891-3BF5-4F19EE972FA1}"/>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9" name="Google Shape;1433;p35">
            <a:extLst>
              <a:ext uri="{FF2B5EF4-FFF2-40B4-BE49-F238E27FC236}">
                <a16:creationId xmlns:a16="http://schemas.microsoft.com/office/drawing/2014/main" id="{967FBCCA-881B-C9C7-EDF7-0E0C7544E4EB}"/>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graphicFrame>
        <p:nvGraphicFramePr>
          <p:cNvPr id="3" name="CR_MR_Table">
            <a:extLst>
              <a:ext uri="{FF2B5EF4-FFF2-40B4-BE49-F238E27FC236}">
                <a16:creationId xmlns:a16="http://schemas.microsoft.com/office/drawing/2014/main" id="{DDC9EAD2-CC1A-5649-79D8-494E85D227C0}"/>
              </a:ext>
            </a:extLst>
          </p:cNvPr>
          <p:cNvGraphicFramePr/>
          <p:nvPr>
            <p:custDataLst>
              <p:tags r:id="rId3"/>
            </p:custDataLst>
          </p:nvPr>
        </p:nvGraphicFramePr>
        <p:xfrm>
          <a:off x="24502" y="1685310"/>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C6^</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Take CREON every meal, every snack, every day.</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C4</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EPI is largely a clinical diagnosis based on signs and symptoms and should be considered as part of the differential diagnosis of GI symptoms.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50234294"/>
                  </a:ext>
                </a:extLst>
              </a:tr>
              <a:tr h="320040">
                <a:tc>
                  <a:txBody>
                    <a:bodyPr/>
                    <a:lstStyle/>
                    <a:p>
                      <a:pPr algn="ctr" fontAlgn="ctr"/>
                      <a:r>
                        <a:rPr lang="en-IN" sz="900" b="1" i="0" u="none" strike="noStrike">
                          <a:solidFill>
                            <a:srgbClr val="071D49"/>
                          </a:solidFill>
                          <a:effectLst/>
                          <a:latin typeface="Arial" panose="020B0604020202020204" pitchFamily="34" charset="0"/>
                        </a:rPr>
                        <a:t>C3</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Exocrine Pancreatic Insufficiency (EPI) is under-recognized and can have an impact on nutritional health and quality of life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034292156"/>
                  </a:ext>
                </a:extLst>
              </a:tr>
              <a:tr h="320040">
                <a:tc>
                  <a:txBody>
                    <a:bodyPr/>
                    <a:lstStyle/>
                    <a:p>
                      <a:pPr algn="ctr" fontAlgn="ctr"/>
                      <a:r>
                        <a:rPr lang="en-IN" sz="900" b="1" i="0" u="none" strike="noStrike">
                          <a:solidFill>
                            <a:srgbClr val="071D49"/>
                          </a:solidFill>
                          <a:effectLst/>
                          <a:latin typeface="Arial" panose="020B0604020202020204" pitchFamily="34" charset="0"/>
                        </a:rPr>
                        <a:t>C7</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36K capsules can be an appropriate dose for many adults.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238924380"/>
                  </a:ext>
                </a:extLst>
              </a:tr>
              <a:tr h="320040">
                <a:tc>
                  <a:txBody>
                    <a:bodyPr/>
                    <a:lstStyle/>
                    <a:p>
                      <a:pPr algn="ctr" fontAlgn="ctr"/>
                      <a:r>
                        <a:rPr lang="en-IN" sz="900" b="1" i="0" u="none" strike="noStrike">
                          <a:solidFill>
                            <a:srgbClr val="071D49"/>
                          </a:solidFill>
                          <a:effectLst/>
                          <a:latin typeface="Arial" panose="020B0604020202020204" pitchFamily="34" charset="0"/>
                        </a:rPr>
                        <a:t>C11^</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95% of commercially eligible patients pay $5 or less for their CREON prescription with the CREON Complete Savings card.</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250413982"/>
                  </a:ext>
                </a:extLst>
              </a:tr>
              <a:tr h="320040">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1" i="0" u="none" strike="noStrike">
                          <a:solidFill>
                            <a:srgbClr val="071D49"/>
                          </a:solidFill>
                          <a:effectLst/>
                          <a:latin typeface="Arial" panose="020B0604020202020204" pitchFamily="34" charset="0"/>
                        </a:rPr>
                        <a:t>C21**</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Complete may help patients start and stay on track with their treatment.</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633432121"/>
                  </a:ext>
                </a:extLst>
              </a:tr>
              <a:tr h="320040">
                <a:tc>
                  <a:txBody>
                    <a:bodyPr/>
                    <a:lstStyle/>
                    <a:p>
                      <a:pPr algn="ctr" fontAlgn="ctr"/>
                      <a:r>
                        <a:rPr lang="en-IN" sz="900" b="1" i="0" u="none" strike="noStrike">
                          <a:solidFill>
                            <a:srgbClr val="071D49"/>
                          </a:solidFill>
                          <a:effectLst/>
                          <a:latin typeface="Arial" panose="020B0604020202020204" pitchFamily="34" charset="0"/>
                        </a:rPr>
                        <a:t>C9^</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significantly improves fat absorption compared with placebo in randomized clinical trials of patients with EPI due to CF, CP, or pancreatectomy.</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12297297"/>
                  </a:ext>
                </a:extLst>
              </a:tr>
              <a:tr h="320040">
                <a:tc>
                  <a:txBody>
                    <a:bodyPr/>
                    <a:lstStyle/>
                    <a:p>
                      <a:pPr algn="ctr" fontAlgn="ctr"/>
                      <a:r>
                        <a:rPr lang="en-IN" sz="900" b="1" i="0" u="none" strike="noStrike">
                          <a:solidFill>
                            <a:srgbClr val="071D49"/>
                          </a:solidFill>
                          <a:effectLst/>
                          <a:latin typeface="Arial" panose="020B0604020202020204" pitchFamily="34" charset="0"/>
                        </a:rPr>
                        <a:t>C1^</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maintains category leading coverage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876395414"/>
                  </a:ext>
                </a:extLst>
              </a:tr>
              <a:tr h="320040">
                <a:tc>
                  <a:txBody>
                    <a:bodyPr/>
                    <a:lstStyle/>
                    <a:p>
                      <a:pPr algn="ctr" fontAlgn="ctr"/>
                      <a:r>
                        <a:rPr lang="en-IN" sz="900" b="1" i="0" u="none" strike="noStrike">
                          <a:solidFill>
                            <a:srgbClr val="071D49"/>
                          </a:solidFill>
                          <a:effectLst/>
                          <a:latin typeface="Arial" panose="020B0604020202020204" pitchFamily="34" charset="0"/>
                        </a:rPr>
                        <a:t>C10</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is the #1 PERT prescribed by Gastroenterologists, Primary Care Physicians, Nurse Practitioners and Physician Assistants.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83999298"/>
                  </a:ext>
                </a:extLst>
              </a:tr>
              <a:tr h="320040">
                <a:tc>
                  <a:txBody>
                    <a:bodyPr/>
                    <a:lstStyle/>
                    <a:p>
                      <a:pPr algn="ctr" fontAlgn="ctr"/>
                      <a:r>
                        <a:rPr lang="en-IN" sz="900" b="1" i="0" u="none" strike="noStrike">
                          <a:solidFill>
                            <a:srgbClr val="071D49"/>
                          </a:solidFill>
                          <a:effectLst/>
                          <a:latin typeface="Arial" panose="020B0604020202020204" pitchFamily="34" charset="0"/>
                        </a:rPr>
                        <a:t>C19</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is the only PERT specifically studied for patients with EPI due to chronic pancreatitis and pancreatectomy, in addition to cystic fibrosis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741545859"/>
                  </a:ext>
                </a:extLst>
              </a:tr>
              <a:tr h="320040">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1" i="0" u="none" strike="noStrike">
                          <a:solidFill>
                            <a:srgbClr val="071D49"/>
                          </a:solidFill>
                          <a:effectLst/>
                          <a:latin typeface="Arial" panose="020B0604020202020204" pitchFamily="34" charset="0"/>
                        </a:rPr>
                        <a:t>C20**</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Significant experience, exceptional patient support, and excellent coverage make CREON a proven partner for patients with EPl.</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747164475"/>
                  </a:ext>
                </a:extLst>
              </a:tr>
              <a:tr h="320040">
                <a:tc>
                  <a:txBody>
                    <a:bodyPr/>
                    <a:lstStyle/>
                    <a:p>
                      <a:pPr algn="ctr" fontAlgn="ctr"/>
                      <a:r>
                        <a:rPr lang="en-IN" sz="900" b="1" i="0" u="none" strike="noStrike">
                          <a:solidFill>
                            <a:srgbClr val="071D49"/>
                          </a:solidFill>
                          <a:effectLst/>
                          <a:latin typeface="Arial" panose="020B0604020202020204" pitchFamily="34" charset="0"/>
                        </a:rPr>
                        <a:t>C17</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More than 8 out of 10 GEs and PCPs prescribe CREON more than other PERTs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174002997"/>
                  </a:ext>
                </a:extLst>
              </a:tr>
              <a:tr h="320040">
                <a:tc>
                  <a:txBody>
                    <a:bodyPr/>
                    <a:lstStyle/>
                    <a:p>
                      <a:pPr algn="ctr" fontAlgn="ctr"/>
                      <a:r>
                        <a:rPr lang="en-IN" sz="900" b="1" i="0" u="none" strike="noStrike">
                          <a:solidFill>
                            <a:srgbClr val="071D49"/>
                          </a:solidFill>
                          <a:effectLst/>
                          <a:latin typeface="Arial" panose="020B0604020202020204" pitchFamily="34" charset="0"/>
                        </a:rPr>
                        <a:t>C22**</a:t>
                      </a:r>
                    </a:p>
                  </a:txBody>
                  <a:tcPr marL="36576" marR="0" marT="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71% of CREON Medicare Part D patients paid less than $30 in 2024.</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432355242"/>
                  </a:ext>
                </a:extLst>
              </a:tr>
            </a:tbl>
          </a:graphicData>
        </a:graphic>
      </p:graphicFrame>
      <p:sp>
        <p:nvSpPr>
          <p:cNvPr id="4" name="TextBox 3">
            <a:extLst>
              <a:ext uri="{FF2B5EF4-FFF2-40B4-BE49-F238E27FC236}">
                <a16:creationId xmlns:a16="http://schemas.microsoft.com/office/drawing/2014/main" id="{E5C1F430-12B1-9E88-D98D-BBDB7E93D83D}"/>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2" name="Aided Message Recall – CREON (PCPs*)">
            <a:extLst>
              <a:ext uri="{FF2B5EF4-FFF2-40B4-BE49-F238E27FC236}">
                <a16:creationId xmlns:a16="http://schemas.microsoft.com/office/drawing/2014/main" id="{A363C5FE-3980-F6F5-01B6-22ACAFF3CC55}"/>
              </a:ext>
            </a:extLst>
          </p:cNvPr>
          <p:cNvGraphicFramePr/>
          <p:nvPr>
            <p:custDataLst>
              <p:tags r:id="rId4"/>
            </p:custDataLst>
          </p:nvPr>
        </p:nvGraphicFramePr>
        <p:xfrm>
          <a:off x="4772252" y="2004420"/>
          <a:ext cx="4428000"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1" name="Aided Message Recall – CREON (PCPs*)">
            <a:extLst>
              <a:ext uri="{FF2B5EF4-FFF2-40B4-BE49-F238E27FC236}">
                <a16:creationId xmlns:a16="http://schemas.microsoft.com/office/drawing/2014/main" id="{15B77560-A72D-13BD-E670-74A33CDBA357}"/>
              </a:ext>
            </a:extLst>
          </p:cNvPr>
          <p:cNvGraphicFramePr/>
          <p:nvPr>
            <p:custDataLst>
              <p:tags r:id="rId5"/>
            </p:custDataLst>
          </p:nvPr>
        </p:nvGraphicFramePr>
        <p:xfrm>
          <a:off x="4772252" y="2323530"/>
          <a:ext cx="4428000"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2" name="Aided Message Recall – CREON (PCPs*)">
            <a:extLst>
              <a:ext uri="{FF2B5EF4-FFF2-40B4-BE49-F238E27FC236}">
                <a16:creationId xmlns:a16="http://schemas.microsoft.com/office/drawing/2014/main" id="{C0E3089D-3015-95E4-CDD1-CFB0A62100E7}"/>
              </a:ext>
            </a:extLst>
          </p:cNvPr>
          <p:cNvGraphicFramePr/>
          <p:nvPr>
            <p:custDataLst>
              <p:tags r:id="rId6"/>
            </p:custDataLst>
          </p:nvPr>
        </p:nvGraphicFramePr>
        <p:xfrm>
          <a:off x="4772252" y="2642640"/>
          <a:ext cx="4428000"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 name="Aided Message Recall – CREON (PCPs*)">
            <a:extLst>
              <a:ext uri="{FF2B5EF4-FFF2-40B4-BE49-F238E27FC236}">
                <a16:creationId xmlns:a16="http://schemas.microsoft.com/office/drawing/2014/main" id="{6F356744-A54B-D5B9-3C89-04FDA54604D7}"/>
              </a:ext>
            </a:extLst>
          </p:cNvPr>
          <p:cNvGraphicFramePr/>
          <p:nvPr>
            <p:custDataLst>
              <p:tags r:id="rId7"/>
            </p:custDataLst>
          </p:nvPr>
        </p:nvGraphicFramePr>
        <p:xfrm>
          <a:off x="4772252" y="2961750"/>
          <a:ext cx="4428000"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4" name="Aided Message Recall – CREON (PCPs*)">
            <a:extLst>
              <a:ext uri="{FF2B5EF4-FFF2-40B4-BE49-F238E27FC236}">
                <a16:creationId xmlns:a16="http://schemas.microsoft.com/office/drawing/2014/main" id="{B09DC37C-E0CD-1FDE-3216-A60FB502F036}"/>
              </a:ext>
            </a:extLst>
          </p:cNvPr>
          <p:cNvGraphicFramePr/>
          <p:nvPr>
            <p:custDataLst>
              <p:tags r:id="rId8"/>
            </p:custDataLst>
          </p:nvPr>
        </p:nvGraphicFramePr>
        <p:xfrm>
          <a:off x="4772252" y="3280860"/>
          <a:ext cx="4428000"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Aided Message Recall – CREON (PCPs*)">
            <a:extLst>
              <a:ext uri="{FF2B5EF4-FFF2-40B4-BE49-F238E27FC236}">
                <a16:creationId xmlns:a16="http://schemas.microsoft.com/office/drawing/2014/main" id="{F7B01259-FE38-C4F0-78EA-814708D71057}"/>
              </a:ext>
            </a:extLst>
          </p:cNvPr>
          <p:cNvGraphicFramePr/>
          <p:nvPr>
            <p:custDataLst>
              <p:tags r:id="rId9"/>
            </p:custDataLst>
          </p:nvPr>
        </p:nvGraphicFramePr>
        <p:xfrm>
          <a:off x="4772252" y="3599970"/>
          <a:ext cx="4428000"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6" name="Aided Message Recall – CREON (PCPs*)">
            <a:extLst>
              <a:ext uri="{FF2B5EF4-FFF2-40B4-BE49-F238E27FC236}">
                <a16:creationId xmlns:a16="http://schemas.microsoft.com/office/drawing/2014/main" id="{19AEC0DE-19B6-618F-F5A5-4DB2BE3F1EFE}"/>
              </a:ext>
            </a:extLst>
          </p:cNvPr>
          <p:cNvGraphicFramePr/>
          <p:nvPr>
            <p:custDataLst>
              <p:tags r:id="rId10"/>
            </p:custDataLst>
          </p:nvPr>
        </p:nvGraphicFramePr>
        <p:xfrm>
          <a:off x="4772252" y="3919080"/>
          <a:ext cx="4428000"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7" name="Aided Message Recall – CREON (PCPs*)">
            <a:extLst>
              <a:ext uri="{FF2B5EF4-FFF2-40B4-BE49-F238E27FC236}">
                <a16:creationId xmlns:a16="http://schemas.microsoft.com/office/drawing/2014/main" id="{807389FA-F72F-7464-7F2A-7C12A8DB710E}"/>
              </a:ext>
            </a:extLst>
          </p:cNvPr>
          <p:cNvGraphicFramePr/>
          <p:nvPr>
            <p:custDataLst>
              <p:tags r:id="rId11"/>
            </p:custDataLst>
          </p:nvPr>
        </p:nvGraphicFramePr>
        <p:xfrm>
          <a:off x="4772252" y="4238190"/>
          <a:ext cx="4428000"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8" name="Aided Message Recall – CREON (PCPs*)">
            <a:extLst>
              <a:ext uri="{FF2B5EF4-FFF2-40B4-BE49-F238E27FC236}">
                <a16:creationId xmlns:a16="http://schemas.microsoft.com/office/drawing/2014/main" id="{F3E66CE9-A7FC-9687-5D95-E77BDFBEC89A}"/>
              </a:ext>
            </a:extLst>
          </p:cNvPr>
          <p:cNvGraphicFramePr/>
          <p:nvPr>
            <p:custDataLst>
              <p:tags r:id="rId12"/>
            </p:custDataLst>
          </p:nvPr>
        </p:nvGraphicFramePr>
        <p:xfrm>
          <a:off x="4772252" y="4557300"/>
          <a:ext cx="4428000"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9" name="Aided Message Recall – CREON (PCPs*)">
            <a:extLst>
              <a:ext uri="{FF2B5EF4-FFF2-40B4-BE49-F238E27FC236}">
                <a16:creationId xmlns:a16="http://schemas.microsoft.com/office/drawing/2014/main" id="{A7D0AE4C-9636-B09C-E54E-F8EC5DE35398}"/>
              </a:ext>
            </a:extLst>
          </p:cNvPr>
          <p:cNvGraphicFramePr/>
          <p:nvPr>
            <p:custDataLst>
              <p:tags r:id="rId13"/>
            </p:custDataLst>
          </p:nvPr>
        </p:nvGraphicFramePr>
        <p:xfrm>
          <a:off x="4772252" y="4876410"/>
          <a:ext cx="4428000"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1" name="Aided Message Recall – CREON (PCPs*)">
            <a:extLst>
              <a:ext uri="{FF2B5EF4-FFF2-40B4-BE49-F238E27FC236}">
                <a16:creationId xmlns:a16="http://schemas.microsoft.com/office/drawing/2014/main" id="{A4B83129-5CC0-03E4-66CD-A5CD80F579CA}"/>
              </a:ext>
            </a:extLst>
          </p:cNvPr>
          <p:cNvGraphicFramePr/>
          <p:nvPr>
            <p:custDataLst>
              <p:tags r:id="rId14"/>
            </p:custDataLst>
          </p:nvPr>
        </p:nvGraphicFramePr>
        <p:xfrm>
          <a:off x="4772252" y="5195520"/>
          <a:ext cx="4428000" cy="3312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22" name="Aided Message Recall – CREON (PCPs*)">
            <a:extLst>
              <a:ext uri="{FF2B5EF4-FFF2-40B4-BE49-F238E27FC236}">
                <a16:creationId xmlns:a16="http://schemas.microsoft.com/office/drawing/2014/main" id="{DAA9126B-940D-FF95-C60A-C10ED3846A73}"/>
              </a:ext>
            </a:extLst>
          </p:cNvPr>
          <p:cNvGraphicFramePr/>
          <p:nvPr>
            <p:custDataLst>
              <p:tags r:id="rId15"/>
            </p:custDataLst>
          </p:nvPr>
        </p:nvGraphicFramePr>
        <p:xfrm>
          <a:off x="4772252" y="5514630"/>
          <a:ext cx="4428000" cy="331200"/>
        </p:xfrm>
        <a:graphic>
          <a:graphicData uri="http://schemas.openxmlformats.org/drawingml/2006/chart">
            <c:chart xmlns:c="http://schemas.openxmlformats.org/drawingml/2006/chart" xmlns:r="http://schemas.openxmlformats.org/officeDocument/2006/relationships" r:id="rId30"/>
          </a:graphicData>
        </a:graphic>
      </p:graphicFrame>
      <p:sp>
        <p:nvSpPr>
          <p:cNvPr id="24" name="Google Shape;1375;p33">
            <a:extLst>
              <a:ext uri="{FF2B5EF4-FFF2-40B4-BE49-F238E27FC236}">
                <a16:creationId xmlns:a16="http://schemas.microsoft.com/office/drawing/2014/main" id="{9AAA34FC-517D-CCA9-D8B2-5816E0C1F817}"/>
              </a:ext>
            </a:extLst>
          </p:cNvPr>
          <p:cNvSpPr txBox="1"/>
          <p:nvPr/>
        </p:nvSpPr>
        <p:spPr>
          <a:xfrm>
            <a:off x="342901" y="5957245"/>
            <a:ext cx="8865758"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a:t>
            </a:r>
            <a:r>
              <a:rPr kumimoji="0" lang="en-US" sz="900" b="0" i="0" u="none" strike="noStrike" kern="0" cap="none" spc="0" normalizeH="0" baseline="0" noProof="0">
                <a:ln>
                  <a:noFill/>
                </a:ln>
                <a:solidFill>
                  <a:srgbClr val="001D49"/>
                </a:solidFill>
                <a:effectLst/>
                <a:uLnTx/>
                <a:uFillTx/>
                <a:latin typeface="Arial"/>
                <a:ea typeface="Calibri"/>
                <a:cs typeface="Arial"/>
                <a:sym typeface="Arial"/>
              </a:rPr>
              <a:t>|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*Full message text in speaker notes | Messages sorted in decreasing order of recall for CREON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panose="020B0604020202020204"/>
              <a:ea typeface="Calibri"/>
              <a:cs typeface="Calibri"/>
              <a:sym typeface="Calibri"/>
            </a:endParaRPr>
          </a:p>
        </p:txBody>
      </p:sp>
    </p:spTree>
    <p:extLst>
      <p:ext uri="{BB962C8B-B14F-4D97-AF65-F5344CB8AC3E}">
        <p14:creationId xmlns:p14="http://schemas.microsoft.com/office/powerpoint/2010/main" val="12562321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5" name="Google Shape;1375;p33">
            <a:extLst>
              <a:ext uri="{FF2B5EF4-FFF2-40B4-BE49-F238E27FC236}">
                <a16:creationId xmlns:a16="http://schemas.microsoft.com/office/drawing/2014/main" id="{95F87730-87C9-5E7C-1A9B-70A29A5944F2}"/>
              </a:ext>
            </a:extLst>
          </p:cNvPr>
          <p:cNvSpPr txBox="1"/>
          <p:nvPr/>
        </p:nvSpPr>
        <p:spPr>
          <a:xfrm>
            <a:off x="228601" y="5957245"/>
            <a:ext cx="8980058"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statistically significant (p&lt;.05) difference between waves | *Full message text in speaker notes | </a:t>
            </a:r>
            <a:r>
              <a:rPr kumimoji="0" lang="en-GB" sz="900" b="0" i="0" u="none" strike="noStrike" kern="0" cap="none" spc="0" normalizeH="0" baseline="0" noProof="0">
                <a:ln>
                  <a:noFill/>
                </a:ln>
                <a:solidFill>
                  <a:srgbClr val="001D49"/>
                </a:solidFill>
                <a:effectLst/>
                <a:uLnTx/>
                <a:uFillTx/>
                <a:latin typeface="Arial"/>
                <a:ea typeface="Calibri"/>
                <a:cs typeface="Calibri"/>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 added in W32: Z24 | ^Messages Edited in W32: Z11, Z23</a:t>
            </a:r>
            <a:endParaRPr kumimoji="0" lang="en-US" sz="900" b="0" i="0" u="none" strike="noStrike" kern="0" cap="none" spc="0" normalizeH="0" baseline="30000" noProof="0">
              <a:ln>
                <a:noFill/>
              </a:ln>
              <a:solidFill>
                <a:srgbClr val="001D49"/>
              </a:solidFill>
              <a:effectLst/>
              <a:uLnTx/>
              <a:uFillTx/>
              <a:latin typeface="Arial" panose="020B0604020202020204" pitchFamily="34" charset="0"/>
              <a:ea typeface="Calibri"/>
              <a:cs typeface="Arial" panose="020B0604020202020204" pitchFamily="34" charset="0"/>
              <a:sym typeface="Calibri"/>
            </a:endParaRPr>
          </a:p>
        </p:txBody>
      </p:sp>
      <p:sp>
        <p:nvSpPr>
          <p:cNvPr id="1358" name="Google Shape;1358;p33"/>
          <p:cNvSpPr/>
          <p:nvPr/>
        </p:nvSpPr>
        <p:spPr>
          <a:xfrm>
            <a:off x="666000" y="824400"/>
            <a:ext cx="7948732" cy="45906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pl-PL" sz="1400" b="1" i="0" u="sng" strike="noStrike" kern="0" cap="none" spc="0" normalizeH="0" baseline="0" noProof="0">
                <a:ln>
                  <a:noFill/>
                </a:ln>
                <a:solidFill>
                  <a:srgbClr val="9778D4"/>
                </a:solidFill>
                <a:effectLst/>
                <a:uLnTx/>
                <a:uFillTx/>
                <a:latin typeface="Arial" panose="020B0604020202020204"/>
                <a:ea typeface="Calibri"/>
                <a:cs typeface="Calibri"/>
                <a:sym typeface="Calibri"/>
              </a:rPr>
              <a:t>ZENPEP</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(Gastros)</a:t>
            </a:r>
            <a:endParaRPr kumimoji="0" lang="pl-PL" sz="1400" b="0" i="0" u="none" strike="noStrike" kern="0" cap="none" spc="0" normalizeH="0" baseline="0" noProof="0">
              <a:ln>
                <a:noFill/>
              </a:ln>
              <a:solidFill>
                <a:srgbClr val="36729C"/>
              </a:solidFill>
              <a:effectLst/>
              <a:uLnTx/>
              <a:uFillTx/>
              <a:latin typeface="Arial" panose="020B0604020202020204"/>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Feb’2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59 | 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62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May’2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Jun’2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62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Jul’2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Aug’2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67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69 |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57</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800" b="0" i="0" u="sng" strike="noStrike" kern="0" cap="none" spc="0" normalizeH="0" baseline="30000" noProof="0">
              <a:ln>
                <a:noFill/>
              </a:ln>
              <a:solidFill>
                <a:srgbClr val="9778D4"/>
              </a:solidFill>
              <a:effectLst/>
              <a:uLnTx/>
              <a:uFillTx/>
              <a:latin typeface="Arial" panose="020B0604020202020204"/>
              <a:ea typeface="Calibri"/>
              <a:cs typeface="Calibri"/>
              <a:sym typeface="Calibri"/>
            </a:endParaRPr>
          </a:p>
        </p:txBody>
      </p:sp>
      <p:sp>
        <p:nvSpPr>
          <p:cNvPr id="1359" name="Google Shape;1359;p3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ZENPEP (Gastros)</a:t>
            </a:r>
          </a:p>
        </p:txBody>
      </p:sp>
      <p:graphicFrame>
        <p:nvGraphicFramePr>
          <p:cNvPr id="2" name="Z_MR_table">
            <a:extLst>
              <a:ext uri="{FF2B5EF4-FFF2-40B4-BE49-F238E27FC236}">
                <a16:creationId xmlns:a16="http://schemas.microsoft.com/office/drawing/2014/main" id="{E5ACEF0D-FCB3-B120-6013-F1B5AA3BAD9E}"/>
              </a:ext>
            </a:extLst>
          </p:cNvPr>
          <p:cNvGraphicFramePr/>
          <p:nvPr>
            <p:custDataLst>
              <p:tags r:id="rId1"/>
            </p:custDataLst>
          </p:nvPr>
        </p:nvGraphicFramePr>
        <p:xfrm>
          <a:off x="24502" y="1685308"/>
          <a:ext cx="4681728" cy="4160520"/>
        </p:xfrm>
        <a:graphic>
          <a:graphicData uri="http://schemas.openxmlformats.org/drawingml/2006/table">
            <a:tbl>
              <a:tblPr>
                <a:noFill/>
              </a:tblPr>
              <a:tblGrid>
                <a:gridCol w="341732">
                  <a:extLst>
                    <a:ext uri="{9D8B030D-6E8A-4147-A177-3AD203B41FA5}">
                      <a16:colId xmlns:a16="http://schemas.microsoft.com/office/drawing/2014/main" val="20000"/>
                    </a:ext>
                  </a:extLst>
                </a:gridCol>
                <a:gridCol w="4339996">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Z17</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Only ZENPEP offers 40k and 60k lipase-unit capsules, which may help reduce the number of pills your adult patients need to take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Z16</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offers a single-capsule starting dose for almost all adult patients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52622235"/>
                  </a:ext>
                </a:extLst>
              </a:tr>
              <a:tr h="320040">
                <a:tc>
                  <a:txBody>
                    <a:bodyPr/>
                    <a:lstStyle/>
                    <a:p>
                      <a:pPr algn="ctr" fontAlgn="ctr"/>
                      <a:r>
                        <a:rPr lang="en-IN" sz="900" b="1" i="0" u="none" strike="noStrike">
                          <a:solidFill>
                            <a:srgbClr val="071D49"/>
                          </a:solidFill>
                          <a:effectLst/>
                          <a:latin typeface="Arial" panose="020B0604020202020204" pitchFamily="34" charset="0"/>
                        </a:rPr>
                        <a:t>Z11^</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Eligible patients pay as little as $5 for their first prescription fill and for refills.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832839203"/>
                  </a:ext>
                </a:extLst>
              </a:tr>
              <a:tr h="320040">
                <a:tc>
                  <a:txBody>
                    <a:bodyPr/>
                    <a:lstStyle/>
                    <a:p>
                      <a:pPr algn="ctr" fontAlgn="ctr"/>
                      <a:r>
                        <a:rPr lang="en-IN" sz="900" b="1" i="0" u="none" strike="noStrike">
                          <a:solidFill>
                            <a:srgbClr val="071D49"/>
                          </a:solidFill>
                          <a:effectLst/>
                          <a:latin typeface="Arial" panose="020B0604020202020204" pitchFamily="34" charset="0"/>
                        </a:rPr>
                        <a:t>Z19</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Meets the ACG guideline for EPI and CP in a single capsule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41619119"/>
                  </a:ext>
                </a:extLst>
              </a:tr>
              <a:tr h="320040">
                <a:tc>
                  <a:txBody>
                    <a:bodyPr/>
                    <a:lstStyle/>
                    <a:p>
                      <a:pPr algn="ctr" fontAlgn="ctr"/>
                      <a:r>
                        <a:rPr lang="en-IN" sz="900" b="1" i="0" u="none" strike="noStrike">
                          <a:solidFill>
                            <a:srgbClr val="071D49"/>
                          </a:solidFill>
                          <a:effectLst/>
                          <a:latin typeface="Arial" panose="020B0604020202020204" pitchFamily="34" charset="0"/>
                        </a:rPr>
                        <a:t>Z7</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has an enteric coating that minimizes degradation and targets enzyme release in the small intestine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05802967"/>
                  </a:ext>
                </a:extLst>
              </a:tr>
              <a:tr h="320040">
                <a:tc>
                  <a:txBody>
                    <a:bodyPr/>
                    <a:lstStyle/>
                    <a:p>
                      <a:pPr algn="ctr" fontAlgn="ctr"/>
                      <a:r>
                        <a:rPr lang="en-IN" sz="900" b="1" i="0" u="none" strike="noStrike">
                          <a:solidFill>
                            <a:srgbClr val="071D49"/>
                          </a:solidFill>
                          <a:effectLst/>
                          <a:latin typeface="Arial" panose="020B0604020202020204" pitchFamily="34" charset="0"/>
                        </a:rPr>
                        <a:t>Z15</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When prescribing PERT to your adult patients with EPI -Start simply with one capsule of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93515455"/>
                  </a:ext>
                </a:extLst>
              </a:tr>
              <a:tr h="320040">
                <a:tc>
                  <a:txBody>
                    <a:bodyPr/>
                    <a:lstStyle/>
                    <a:p>
                      <a:pPr algn="ctr" fontAlgn="ctr"/>
                      <a:r>
                        <a:rPr lang="en-IN" sz="900" b="1" i="0" u="none" strike="noStrike">
                          <a:solidFill>
                            <a:srgbClr val="071D49"/>
                          </a:solidFill>
                          <a:effectLst/>
                          <a:latin typeface="Arial" panose="020B0604020202020204" pitchFamily="34" charset="0"/>
                        </a:rPr>
                        <a:t>Z23^</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the most widely covered treatment in its class.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866428584"/>
                  </a:ext>
                </a:extLst>
              </a:tr>
              <a:tr h="320040">
                <a:tc>
                  <a:txBody>
                    <a:bodyPr/>
                    <a:lstStyle/>
                    <a:p>
                      <a:pPr algn="ctr" fontAlgn="ctr"/>
                      <a:r>
                        <a:rPr lang="en-IN" sz="900" b="1" i="0" u="none" strike="noStrike">
                          <a:solidFill>
                            <a:srgbClr val="071D49"/>
                          </a:solidFill>
                          <a:effectLst/>
                          <a:latin typeface="Arial" panose="020B0604020202020204" pitchFamily="34" charset="0"/>
                        </a:rPr>
                        <a:t>Z21</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can help your patients absorb the fat and nutrients they need and treat uncomfortable GI symptoms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01002861"/>
                  </a:ext>
                </a:extLst>
              </a:tr>
              <a:tr h="320040">
                <a:tc>
                  <a:txBody>
                    <a:bodyPr/>
                    <a:lstStyle/>
                    <a:p>
                      <a:pPr algn="ctr" fontAlgn="ctr"/>
                      <a:r>
                        <a:rPr lang="en-IN" sz="900" b="1" i="0" u="none" strike="noStrike">
                          <a:solidFill>
                            <a:srgbClr val="071D49"/>
                          </a:solidFill>
                          <a:effectLst/>
                          <a:latin typeface="Arial" panose="020B0604020202020204" pitchFamily="34" charset="0"/>
                        </a:rPr>
                        <a:t>Z18</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In a clinical trial, the right dose helped patients absorb nutrients from their food and provided symptom relief</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60049621"/>
                  </a:ext>
                </a:extLst>
              </a:tr>
              <a:tr h="320040">
                <a:tc>
                  <a:txBody>
                    <a:bodyPr/>
                    <a:lstStyle/>
                    <a:p>
                      <a:pPr algn="ctr" fontAlgn="ctr"/>
                      <a:r>
                        <a:rPr lang="en-IN" sz="900" b="1" i="0" u="none" strike="noStrike">
                          <a:solidFill>
                            <a:srgbClr val="071D49"/>
                          </a:solidFill>
                          <a:effectLst/>
                          <a:latin typeface="Arial" panose="020B0604020202020204" pitchFamily="34" charset="0"/>
                        </a:rPr>
                        <a:t>Z20</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91% of patients achieved a CFA of 80% or higher with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40477814"/>
                  </a:ext>
                </a:extLst>
              </a:tr>
              <a:tr h="320040">
                <a:tc>
                  <a:txBody>
                    <a:bodyPr/>
                    <a:lstStyle/>
                    <a:p>
                      <a:pPr algn="ctr" fontAlgn="ctr"/>
                      <a:r>
                        <a:rPr lang="en-IN" sz="900" b="1" i="0" u="none" strike="noStrike">
                          <a:solidFill>
                            <a:srgbClr val="071D49"/>
                          </a:solidFill>
                          <a:effectLst/>
                          <a:latin typeface="Arial" panose="020B0604020202020204" pitchFamily="34" charset="0"/>
                        </a:rPr>
                        <a:t>Z24**</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designed to mimic typical exocrine pancreatic function.</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213820237"/>
                  </a:ext>
                </a:extLst>
              </a:tr>
              <a:tr h="320040">
                <a:tc>
                  <a:txBody>
                    <a:bodyPr/>
                    <a:lstStyle/>
                    <a:p>
                      <a:pPr algn="ctr" fontAlgn="ctr"/>
                      <a:r>
                        <a:rPr lang="en-IN" sz="900" b="1" i="0" u="none" strike="noStrike">
                          <a:solidFill>
                            <a:srgbClr val="071D49"/>
                          </a:solidFill>
                          <a:effectLst/>
                          <a:latin typeface="Arial" panose="020B0604020202020204" pitchFamily="34" charset="0"/>
                        </a:rPr>
                        <a:t>Z22</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Through My SampleCloset, practices are able to easily request samples of ZENPEP at any strength</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65518015"/>
                  </a:ext>
                </a:extLst>
              </a:tr>
              <a:tr h="320040">
                <a:tc>
                  <a:txBody>
                    <a:bodyPr/>
                    <a:lstStyle/>
                    <a:p>
                      <a:pPr algn="ctr" fontAlgn="ctr"/>
                      <a:r>
                        <a:rPr lang="en-IN" sz="900" b="1" i="0" u="none" strike="noStrike">
                          <a:solidFill>
                            <a:srgbClr val="071D49"/>
                          </a:solidFill>
                          <a:effectLst/>
                          <a:latin typeface="Arial" panose="020B0604020202020204" pitchFamily="34" charset="0"/>
                        </a:rPr>
                        <a:t>Z8</a:t>
                      </a:r>
                    </a:p>
                  </a:txBody>
                  <a:tcPr marL="18288"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helps fuel nutritional health, increasing coefficient of fat absorption (CFA) by 26 percentage points vs placebo</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09115221"/>
                  </a:ext>
                </a:extLst>
              </a:tr>
            </a:tbl>
          </a:graphicData>
        </a:graphic>
      </p:graphicFrame>
      <p:graphicFrame>
        <p:nvGraphicFramePr>
          <p:cNvPr id="6" name="Aided Message Recall – ZENPEP (Gastros)">
            <a:extLst>
              <a:ext uri="{FF2B5EF4-FFF2-40B4-BE49-F238E27FC236}">
                <a16:creationId xmlns:a16="http://schemas.microsoft.com/office/drawing/2014/main" id="{585B2DBE-9D89-D8B0-5887-E4DC40F64416}"/>
              </a:ext>
            </a:extLst>
          </p:cNvPr>
          <p:cNvGraphicFramePr/>
          <p:nvPr>
            <p:custDataLst>
              <p:tags r:id="rId2"/>
            </p:custDataLst>
          </p:nvPr>
        </p:nvGraphicFramePr>
        <p:xfrm>
          <a:off x="4388291" y="1685308"/>
          <a:ext cx="3755584" cy="3600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26" name="Shape_87598778">
            <a:extLst>
              <a:ext uri="{FF2B5EF4-FFF2-40B4-BE49-F238E27FC236}">
                <a16:creationId xmlns:a16="http://schemas.microsoft.com/office/drawing/2014/main" id="{2D6DC8EF-1C49-B935-EA7A-26D9AC8A8C30}"/>
              </a:ext>
            </a:extLst>
          </p:cNvPr>
          <p:cNvGraphicFramePr/>
          <p:nvPr>
            <p:custDataLst>
              <p:tags r:id="rId3"/>
            </p:custDataLst>
          </p:nvPr>
        </p:nvGraphicFramePr>
        <p:xfrm>
          <a:off x="4388291" y="2002018"/>
          <a:ext cx="3755584" cy="3600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27" name="Shape_18240927">
            <a:extLst>
              <a:ext uri="{FF2B5EF4-FFF2-40B4-BE49-F238E27FC236}">
                <a16:creationId xmlns:a16="http://schemas.microsoft.com/office/drawing/2014/main" id="{D96AF911-0A9F-7148-335F-9E091EFA548D}"/>
              </a:ext>
            </a:extLst>
          </p:cNvPr>
          <p:cNvGraphicFramePr/>
          <p:nvPr>
            <p:custDataLst>
              <p:tags r:id="rId4"/>
            </p:custDataLst>
          </p:nvPr>
        </p:nvGraphicFramePr>
        <p:xfrm>
          <a:off x="4388291" y="2318728"/>
          <a:ext cx="3755584" cy="3600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31" name="Shape_75982451">
            <a:extLst>
              <a:ext uri="{FF2B5EF4-FFF2-40B4-BE49-F238E27FC236}">
                <a16:creationId xmlns:a16="http://schemas.microsoft.com/office/drawing/2014/main" id="{8D9D35A4-940C-7620-A683-EA5B83B76CE0}"/>
              </a:ext>
            </a:extLst>
          </p:cNvPr>
          <p:cNvGraphicFramePr/>
          <p:nvPr>
            <p:custDataLst>
              <p:tags r:id="rId5"/>
            </p:custDataLst>
          </p:nvPr>
        </p:nvGraphicFramePr>
        <p:xfrm>
          <a:off x="4388291" y="3268858"/>
          <a:ext cx="3755584" cy="3600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32" name="Shape_48083060">
            <a:extLst>
              <a:ext uri="{FF2B5EF4-FFF2-40B4-BE49-F238E27FC236}">
                <a16:creationId xmlns:a16="http://schemas.microsoft.com/office/drawing/2014/main" id="{4A3DCC0B-BE16-06D5-3DBF-E49662F979FD}"/>
              </a:ext>
            </a:extLst>
          </p:cNvPr>
          <p:cNvGraphicFramePr/>
          <p:nvPr>
            <p:custDataLst>
              <p:tags r:id="rId6"/>
            </p:custDataLst>
          </p:nvPr>
        </p:nvGraphicFramePr>
        <p:xfrm>
          <a:off x="4388291" y="3585568"/>
          <a:ext cx="3755584" cy="3600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34" name="Shape_53591461">
            <a:extLst>
              <a:ext uri="{FF2B5EF4-FFF2-40B4-BE49-F238E27FC236}">
                <a16:creationId xmlns:a16="http://schemas.microsoft.com/office/drawing/2014/main" id="{B15B275B-6ED2-498A-5DD8-E868F19B8BDD}"/>
              </a:ext>
            </a:extLst>
          </p:cNvPr>
          <p:cNvGraphicFramePr/>
          <p:nvPr>
            <p:custDataLst>
              <p:tags r:id="rId7"/>
            </p:custDataLst>
          </p:nvPr>
        </p:nvGraphicFramePr>
        <p:xfrm>
          <a:off x="4388291" y="4218988"/>
          <a:ext cx="3755584" cy="360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36" name="Shape_97100159">
            <a:extLst>
              <a:ext uri="{FF2B5EF4-FFF2-40B4-BE49-F238E27FC236}">
                <a16:creationId xmlns:a16="http://schemas.microsoft.com/office/drawing/2014/main" id="{87123B4A-8D92-6E2C-A991-AEC1F2A44494}"/>
              </a:ext>
            </a:extLst>
          </p:cNvPr>
          <p:cNvGraphicFramePr/>
          <p:nvPr>
            <p:custDataLst>
              <p:tags r:id="rId8"/>
            </p:custDataLst>
          </p:nvPr>
        </p:nvGraphicFramePr>
        <p:xfrm>
          <a:off x="4388291" y="4852408"/>
          <a:ext cx="3755584" cy="360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37" name="Shape_39309173">
            <a:extLst>
              <a:ext uri="{FF2B5EF4-FFF2-40B4-BE49-F238E27FC236}">
                <a16:creationId xmlns:a16="http://schemas.microsoft.com/office/drawing/2014/main" id="{8CB491F5-063A-D633-5D3B-82AEE91C5EF2}"/>
              </a:ext>
            </a:extLst>
          </p:cNvPr>
          <p:cNvGraphicFramePr/>
          <p:nvPr>
            <p:custDataLst>
              <p:tags r:id="rId9"/>
            </p:custDataLst>
          </p:nvPr>
        </p:nvGraphicFramePr>
        <p:xfrm>
          <a:off x="4388291" y="5169118"/>
          <a:ext cx="3755584" cy="360000"/>
        </p:xfrm>
        <a:graphic>
          <a:graphicData uri="http://schemas.openxmlformats.org/drawingml/2006/chart">
            <c:chart xmlns:c="http://schemas.openxmlformats.org/drawingml/2006/chart" xmlns:r="http://schemas.openxmlformats.org/officeDocument/2006/relationships" r:id="rId25"/>
          </a:graphicData>
        </a:graphic>
      </p:graphicFrame>
      <p:sp>
        <p:nvSpPr>
          <p:cNvPr id="3" name="Google Shape;2197;p58">
            <a:extLst>
              <a:ext uri="{FF2B5EF4-FFF2-40B4-BE49-F238E27FC236}">
                <a16:creationId xmlns:a16="http://schemas.microsoft.com/office/drawing/2014/main" id="{04904B69-1467-BB5F-A810-1FB73E7304EC}"/>
              </a:ext>
            </a:extLst>
          </p:cNvPr>
          <p:cNvSpPr/>
          <p:nvPr/>
        </p:nvSpPr>
        <p:spPr>
          <a:xfrm>
            <a:off x="2855604" y="6030291"/>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graphicFrame>
        <p:nvGraphicFramePr>
          <p:cNvPr id="35" name="Shape_55463171">
            <a:extLst>
              <a:ext uri="{FF2B5EF4-FFF2-40B4-BE49-F238E27FC236}">
                <a16:creationId xmlns:a16="http://schemas.microsoft.com/office/drawing/2014/main" id="{E29BE256-1713-524B-FF27-0D336A38489E}"/>
              </a:ext>
            </a:extLst>
          </p:cNvPr>
          <p:cNvGraphicFramePr/>
          <p:nvPr>
            <p:custDataLst>
              <p:tags r:id="rId10"/>
            </p:custDataLst>
          </p:nvPr>
        </p:nvGraphicFramePr>
        <p:xfrm>
          <a:off x="4388291" y="4535698"/>
          <a:ext cx="3755584" cy="360000"/>
        </p:xfrm>
        <a:graphic>
          <a:graphicData uri="http://schemas.openxmlformats.org/drawingml/2006/chart">
            <c:chart xmlns:c="http://schemas.openxmlformats.org/drawingml/2006/chart" xmlns:r="http://schemas.openxmlformats.org/officeDocument/2006/relationships" r:id="rId26"/>
          </a:graphicData>
        </a:graphic>
      </p:graphicFrame>
      <p:sp>
        <p:nvSpPr>
          <p:cNvPr id="10" name="Google Shape;1373;p33">
            <a:extLst>
              <a:ext uri="{FF2B5EF4-FFF2-40B4-BE49-F238E27FC236}">
                <a16:creationId xmlns:a16="http://schemas.microsoft.com/office/drawing/2014/main" id="{100D1EA1-9A7A-619C-21DC-18771D069627}"/>
              </a:ext>
            </a:extLst>
          </p:cNvPr>
          <p:cNvSpPr/>
          <p:nvPr/>
        </p:nvSpPr>
        <p:spPr>
          <a:xfrm>
            <a:off x="570790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11" name="Google Shape;1433;p35">
            <a:extLst>
              <a:ext uri="{FF2B5EF4-FFF2-40B4-BE49-F238E27FC236}">
                <a16:creationId xmlns:a16="http://schemas.microsoft.com/office/drawing/2014/main" id="{7CDC659A-B632-FB49-29DA-8093D07F6AC5}"/>
              </a:ext>
            </a:extLst>
          </p:cNvPr>
          <p:cNvSpPr/>
          <p:nvPr/>
        </p:nvSpPr>
        <p:spPr>
          <a:xfrm>
            <a:off x="5472544" y="5784110"/>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21" name="TextBox 20">
            <a:extLst>
              <a:ext uri="{FF2B5EF4-FFF2-40B4-BE49-F238E27FC236}">
                <a16:creationId xmlns:a16="http://schemas.microsoft.com/office/drawing/2014/main" id="{FC163549-F7B1-27F4-2B13-D4C70B5371AC}"/>
              </a:ext>
            </a:extLst>
          </p:cNvPr>
          <p:cNvSpPr txBox="1"/>
          <p:nvPr/>
        </p:nvSpPr>
        <p:spPr>
          <a:xfrm>
            <a:off x="24502" y="1401280"/>
            <a:ext cx="468172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29" name="Shape_7772374">
            <a:extLst>
              <a:ext uri="{FF2B5EF4-FFF2-40B4-BE49-F238E27FC236}">
                <a16:creationId xmlns:a16="http://schemas.microsoft.com/office/drawing/2014/main" id="{935CEF1B-63E0-C3E8-DA32-C9B78032E886}"/>
              </a:ext>
            </a:extLst>
          </p:cNvPr>
          <p:cNvGraphicFramePr/>
          <p:nvPr>
            <p:custDataLst>
              <p:tags r:id="rId11"/>
            </p:custDataLst>
          </p:nvPr>
        </p:nvGraphicFramePr>
        <p:xfrm>
          <a:off x="4388291" y="2952148"/>
          <a:ext cx="3755584" cy="360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8" name="Shape_55053245">
            <a:extLst>
              <a:ext uri="{FF2B5EF4-FFF2-40B4-BE49-F238E27FC236}">
                <a16:creationId xmlns:a16="http://schemas.microsoft.com/office/drawing/2014/main" id="{B29CD377-B04A-27A8-7BD7-C68AEA5E3386}"/>
              </a:ext>
            </a:extLst>
          </p:cNvPr>
          <p:cNvGraphicFramePr/>
          <p:nvPr>
            <p:custDataLst>
              <p:tags r:id="rId12"/>
            </p:custDataLst>
          </p:nvPr>
        </p:nvGraphicFramePr>
        <p:xfrm>
          <a:off x="4388291" y="2635438"/>
          <a:ext cx="3755584" cy="360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33" name="Shape_8196159">
            <a:extLst>
              <a:ext uri="{FF2B5EF4-FFF2-40B4-BE49-F238E27FC236}">
                <a16:creationId xmlns:a16="http://schemas.microsoft.com/office/drawing/2014/main" id="{8A27F6B5-9429-4115-7E46-BB7D5943D611}"/>
              </a:ext>
            </a:extLst>
          </p:cNvPr>
          <p:cNvGraphicFramePr/>
          <p:nvPr>
            <p:custDataLst>
              <p:tags r:id="rId13"/>
            </p:custDataLst>
          </p:nvPr>
        </p:nvGraphicFramePr>
        <p:xfrm>
          <a:off x="4388291" y="3902278"/>
          <a:ext cx="3755584" cy="360000"/>
        </p:xfrm>
        <a:graphic>
          <a:graphicData uri="http://schemas.openxmlformats.org/drawingml/2006/chart">
            <c:chart xmlns:c="http://schemas.openxmlformats.org/drawingml/2006/chart" xmlns:r="http://schemas.openxmlformats.org/officeDocument/2006/relationships" r:id="rId29"/>
          </a:graphicData>
        </a:graphic>
      </p:graphicFrame>
      <p:sp>
        <p:nvSpPr>
          <p:cNvPr id="15" name="TextBox 14">
            <a:extLst>
              <a:ext uri="{FF2B5EF4-FFF2-40B4-BE49-F238E27FC236}">
                <a16:creationId xmlns:a16="http://schemas.microsoft.com/office/drawing/2014/main" id="{A65C7FF0-700D-B5B4-3CB0-D2C0E382F2D0}"/>
              </a:ext>
            </a:extLst>
          </p:cNvPr>
          <p:cNvSpPr txBox="1"/>
          <p:nvPr/>
        </p:nvSpPr>
        <p:spPr>
          <a:xfrm>
            <a:off x="33736" y="718609"/>
            <a:ext cx="1728000" cy="261610"/>
          </a:xfrm>
          <a:prstGeom prst="rect">
            <a:avLst/>
          </a:prstGeom>
          <a:noFill/>
          <a:ln>
            <a:solidFill>
              <a:schemeClr val="accent1"/>
            </a:solidFill>
          </a:ln>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30"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4" name="Shape_48083060">
            <a:extLst>
              <a:ext uri="{FF2B5EF4-FFF2-40B4-BE49-F238E27FC236}">
                <a16:creationId xmlns:a16="http://schemas.microsoft.com/office/drawing/2014/main" id="{FE7FA355-076E-DB11-9BD0-A5E2DA16E47E}"/>
              </a:ext>
            </a:extLst>
          </p:cNvPr>
          <p:cNvGraphicFramePr/>
          <p:nvPr>
            <p:custDataLst>
              <p:tags r:id="rId14"/>
            </p:custDataLst>
          </p:nvPr>
        </p:nvGraphicFramePr>
        <p:xfrm>
          <a:off x="4388291" y="5485828"/>
          <a:ext cx="3755584" cy="360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13" name="wave table OCQ">
            <a:extLst>
              <a:ext uri="{FF2B5EF4-FFF2-40B4-BE49-F238E27FC236}">
                <a16:creationId xmlns:a16="http://schemas.microsoft.com/office/drawing/2014/main" id="{81B011B4-13E6-6C8D-87FE-F92495D1C150}"/>
              </a:ext>
            </a:extLst>
          </p:cNvPr>
          <p:cNvGraphicFramePr>
            <a:graphicFrameLocks noGrp="1"/>
          </p:cNvGraphicFramePr>
          <p:nvPr>
            <p:custDataLst>
              <p:tags r:id="rId15"/>
            </p:custDataLst>
          </p:nvPr>
        </p:nvGraphicFramePr>
        <p:xfrm>
          <a:off x="4623209" y="1449523"/>
          <a:ext cx="3424836" cy="243840"/>
        </p:xfrm>
        <a:graphic>
          <a:graphicData uri="http://schemas.openxmlformats.org/drawingml/2006/table">
            <a:tbl>
              <a:tblPr firstRow="1" bandRow="1">
                <a:tableStyleId>{B301B821-A1FF-4177-AEE7-76D212191A09}</a:tableStyleId>
              </a:tblPr>
              <a:tblGrid>
                <a:gridCol w="570806">
                  <a:extLst>
                    <a:ext uri="{9D8B030D-6E8A-4147-A177-3AD203B41FA5}">
                      <a16:colId xmlns:a16="http://schemas.microsoft.com/office/drawing/2014/main" val="3554599800"/>
                    </a:ext>
                  </a:extLst>
                </a:gridCol>
                <a:gridCol w="570806">
                  <a:extLst>
                    <a:ext uri="{9D8B030D-6E8A-4147-A177-3AD203B41FA5}">
                      <a16:colId xmlns:a16="http://schemas.microsoft.com/office/drawing/2014/main" val="2914776207"/>
                    </a:ext>
                  </a:extLst>
                </a:gridCol>
                <a:gridCol w="570806">
                  <a:extLst>
                    <a:ext uri="{9D8B030D-6E8A-4147-A177-3AD203B41FA5}">
                      <a16:colId xmlns:a16="http://schemas.microsoft.com/office/drawing/2014/main" val="2088702262"/>
                    </a:ext>
                  </a:extLst>
                </a:gridCol>
                <a:gridCol w="570806">
                  <a:extLst>
                    <a:ext uri="{9D8B030D-6E8A-4147-A177-3AD203B41FA5}">
                      <a16:colId xmlns:a16="http://schemas.microsoft.com/office/drawing/2014/main" val="192097877"/>
                    </a:ext>
                  </a:extLst>
                </a:gridCol>
                <a:gridCol w="570806">
                  <a:extLst>
                    <a:ext uri="{9D8B030D-6E8A-4147-A177-3AD203B41FA5}">
                      <a16:colId xmlns:a16="http://schemas.microsoft.com/office/drawing/2014/main" val="1326389649"/>
                    </a:ext>
                  </a:extLst>
                </a:gridCol>
                <a:gridCol w="57080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14" name="Table 13">
            <a:extLst>
              <a:ext uri="{FF2B5EF4-FFF2-40B4-BE49-F238E27FC236}">
                <a16:creationId xmlns:a16="http://schemas.microsoft.com/office/drawing/2014/main" id="{ADFBAD2D-34A3-1BB5-2134-FAC08995EA19}"/>
              </a:ext>
            </a:extLst>
          </p:cNvPr>
          <p:cNvGraphicFramePr>
            <a:graphicFrameLocks noGrp="1"/>
          </p:cNvGraphicFramePr>
          <p:nvPr/>
        </p:nvGraphicFramePr>
        <p:xfrm>
          <a:off x="8066349" y="1231965"/>
          <a:ext cx="1044000" cy="4614840"/>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8586">
                <a:tc gridSpan="2">
                  <a:txBody>
                    <a:bodyPr/>
                    <a:lstStyle/>
                    <a:p>
                      <a:pPr algn="ctr"/>
                      <a:r>
                        <a:rPr lang="en-IN" sz="1000">
                          <a:solidFill>
                            <a:schemeClr val="tx1"/>
                          </a:solidFill>
                        </a:rPr>
                        <a:t>ZENPEP</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78761">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71D49"/>
                          </a:solidFill>
                          <a:effectLst/>
                          <a:uLnTx/>
                          <a:uFillTx/>
                          <a:latin typeface="Arial" panose="020B0604020202020204"/>
                          <a:ea typeface="+mn-ea"/>
                          <a:cs typeface="+mn-cs"/>
                        </a:rPr>
                        <a:t>Y</a:t>
                      </a: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5728025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682757009"/>
                  </a:ext>
                </a:extLst>
              </a:tr>
            </a:tbl>
          </a:graphicData>
        </a:graphic>
      </p:graphicFrame>
      <p:sp>
        <p:nvSpPr>
          <p:cNvPr id="16" name="Google Shape;2197;p58">
            <a:extLst>
              <a:ext uri="{FF2B5EF4-FFF2-40B4-BE49-F238E27FC236}">
                <a16:creationId xmlns:a16="http://schemas.microsoft.com/office/drawing/2014/main" id="{3FB2997A-D1CC-F88C-961F-EB1AF8007502}"/>
              </a:ext>
            </a:extLst>
          </p:cNvPr>
          <p:cNvSpPr/>
          <p:nvPr/>
        </p:nvSpPr>
        <p:spPr>
          <a:xfrm>
            <a:off x="7877155" y="3628767"/>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17" name="Google Shape;2197;p58">
            <a:extLst>
              <a:ext uri="{FF2B5EF4-FFF2-40B4-BE49-F238E27FC236}">
                <a16:creationId xmlns:a16="http://schemas.microsoft.com/office/drawing/2014/main" id="{EDD43703-2312-3370-FF9C-984CDE3A00AB}"/>
              </a:ext>
            </a:extLst>
          </p:cNvPr>
          <p:cNvSpPr/>
          <p:nvPr/>
        </p:nvSpPr>
        <p:spPr>
          <a:xfrm>
            <a:off x="5586911" y="3293579"/>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Tree>
    <p:extLst>
      <p:ext uri="{BB962C8B-B14F-4D97-AF65-F5344CB8AC3E}">
        <p14:creationId xmlns:p14="http://schemas.microsoft.com/office/powerpoint/2010/main" val="3651972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1358" name="Google Shape;1358;p33"/>
          <p:cNvSpPr/>
          <p:nvPr/>
        </p:nvSpPr>
        <p:spPr>
          <a:xfrm>
            <a:off x="666000" y="824400"/>
            <a:ext cx="7950960" cy="45906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pl-PL" sz="1400" b="1" i="0" u="sng" strike="noStrike" kern="0" cap="none" spc="0" normalizeH="0" baseline="0" noProof="0">
                <a:ln>
                  <a:noFill/>
                </a:ln>
                <a:solidFill>
                  <a:srgbClr val="9778D4"/>
                </a:solidFill>
                <a:effectLst/>
                <a:uLnTx/>
                <a:uFillTx/>
                <a:latin typeface="Arial" panose="020B0604020202020204"/>
                <a:ea typeface="Calibri"/>
                <a:cs typeface="Calibri"/>
                <a:sym typeface="Calibri"/>
              </a:rPr>
              <a:t>ZENPEP</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(PCPs</a:t>
            </a:r>
            <a:r>
              <a:rPr kumimoji="0" lang="pl-PL" sz="1400" b="1" i="0" u="none" strike="noStrike" kern="0" cap="none" spc="0" normalizeH="0" baseline="30000" noProof="0">
                <a:ln>
                  <a:noFill/>
                </a:ln>
                <a:solidFill>
                  <a:srgbClr val="FF0000"/>
                </a:solidFill>
                <a:effectLst/>
                <a:uLnTx/>
                <a:uFillTx/>
                <a:latin typeface="Arial" panose="020B0604020202020204"/>
                <a:ea typeface="Calibri"/>
                <a:cs typeface="Calibri"/>
                <a:sym typeface="Calibri"/>
              </a:rPr>
              <a:t>*</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1400" b="0" i="0" u="none" strike="noStrike" kern="0" cap="none" spc="0" normalizeH="0" baseline="0" noProof="0">
              <a:ln>
                <a:noFill/>
              </a:ln>
              <a:solidFill>
                <a:srgbClr val="36729C"/>
              </a:solidFill>
              <a:effectLst/>
              <a:uLnTx/>
              <a:uFillTx/>
              <a:latin typeface="Arial" panose="020B0604020202020204"/>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Feb’2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19</a:t>
            </a:r>
            <a:r>
              <a:rPr kumimoji="0" lang="en-IN" sz="800" b="0" i="0" u="none" strike="noStrike" kern="0" cap="none" spc="0" normalizeH="0" baseline="0" noProof="0">
                <a:ln>
                  <a:noFill/>
                </a:ln>
                <a:solidFill>
                  <a:srgbClr val="FF0000"/>
                </a:solidFill>
                <a:effectLst/>
                <a:uLnTx/>
                <a:uFillTx/>
                <a:latin typeface="Arial" panose="020B0604020202020204"/>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21</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May’2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Jun’2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17</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none"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Jul’2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Aug’2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16</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18</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20</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800" b="0" i="0" u="sng" strike="noStrike" kern="0" cap="none" spc="0" normalizeH="0" baseline="30000" noProof="0">
              <a:ln>
                <a:noFill/>
              </a:ln>
              <a:solidFill>
                <a:srgbClr val="9778D4"/>
              </a:solidFill>
              <a:effectLst/>
              <a:uLnTx/>
              <a:uFillTx/>
              <a:latin typeface="Arial" panose="020B0604020202020204"/>
              <a:ea typeface="Calibri"/>
              <a:cs typeface="Calibri"/>
              <a:sym typeface="Calibri"/>
            </a:endParaRPr>
          </a:p>
        </p:txBody>
      </p:sp>
      <p:sp>
        <p:nvSpPr>
          <p:cNvPr id="1359" name="Google Shape;1359;p33"/>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ZENPEP (PCPs)</a:t>
            </a:r>
          </a:p>
        </p:txBody>
      </p:sp>
      <p:sp>
        <p:nvSpPr>
          <p:cNvPr id="47" name="Google Shape;1375;p33">
            <a:extLst>
              <a:ext uri="{FF2B5EF4-FFF2-40B4-BE49-F238E27FC236}">
                <a16:creationId xmlns:a16="http://schemas.microsoft.com/office/drawing/2014/main" id="{4ACD7DCF-ED9F-471B-BE92-D403A15A93CC}"/>
              </a:ext>
            </a:extLst>
          </p:cNvPr>
          <p:cNvSpPr txBox="1"/>
          <p:nvPr/>
        </p:nvSpPr>
        <p:spPr>
          <a:xfrm>
            <a:off x="323850" y="5955766"/>
            <a:ext cx="825159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 *Full message text in speaker notes | </a:t>
            </a:r>
            <a:r>
              <a:rPr kumimoji="0" lang="en-GB"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**New message added in W32: Z24 | ^Messages Edited in W32: Z11, Z23</a:t>
            </a:r>
          </a:p>
        </p:txBody>
      </p:sp>
      <p:graphicFrame>
        <p:nvGraphicFramePr>
          <p:cNvPr id="2" name="Z_MR_table">
            <a:extLst>
              <a:ext uri="{FF2B5EF4-FFF2-40B4-BE49-F238E27FC236}">
                <a16:creationId xmlns:a16="http://schemas.microsoft.com/office/drawing/2014/main" id="{467C956A-029B-9B5F-B461-E90BAFF22170}"/>
              </a:ext>
            </a:extLst>
          </p:cNvPr>
          <p:cNvGraphicFramePr/>
          <p:nvPr>
            <p:custDataLst>
              <p:tags r:id="rId1"/>
            </p:custDataLst>
          </p:nvPr>
        </p:nvGraphicFramePr>
        <p:xfrm>
          <a:off x="25200" y="1678496"/>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Z11^</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Eligible patients pay as little as $5 for their first prescription fill and for refills.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Z16</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offers a single-capsule starting dose for almost all adult patients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52622235"/>
                  </a:ext>
                </a:extLst>
              </a:tr>
              <a:tr h="320040">
                <a:tc>
                  <a:txBody>
                    <a:bodyPr/>
                    <a:lstStyle/>
                    <a:p>
                      <a:pPr algn="ctr" fontAlgn="ctr"/>
                      <a:r>
                        <a:rPr lang="en-IN" sz="900" b="1" i="0" u="none" strike="noStrike">
                          <a:solidFill>
                            <a:srgbClr val="071D49"/>
                          </a:solidFill>
                          <a:effectLst/>
                          <a:latin typeface="Arial" panose="020B0604020202020204" pitchFamily="34" charset="0"/>
                        </a:rPr>
                        <a:t>Z15</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When prescribing PERT to your adult patients with EPI -Start simply with one capsule of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832839203"/>
                  </a:ext>
                </a:extLst>
              </a:tr>
              <a:tr h="320040">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1" i="0" u="none" strike="noStrike">
                          <a:solidFill>
                            <a:srgbClr val="071D49"/>
                          </a:solidFill>
                          <a:effectLst/>
                          <a:latin typeface="Arial" panose="020B0604020202020204" pitchFamily="34" charset="0"/>
                        </a:rPr>
                        <a:t>Z7</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has an enteric coating that minimizes degradation and targets enzyme release in the small intestine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41619119"/>
                  </a:ext>
                </a:extLst>
              </a:tr>
              <a:tr h="320040">
                <a:tc>
                  <a:txBody>
                    <a:bodyPr/>
                    <a:lstStyle/>
                    <a:p>
                      <a:pPr marL="0" marR="0" lvl="0" indent="0" algn="ctr" defTabSz="342906" rtl="0" eaLnBrk="1" fontAlgn="ctr" latinLnBrk="0" hangingPunct="1">
                        <a:lnSpc>
                          <a:spcPct val="100000"/>
                        </a:lnSpc>
                        <a:spcBef>
                          <a:spcPts val="0"/>
                        </a:spcBef>
                        <a:spcAft>
                          <a:spcPts val="0"/>
                        </a:spcAft>
                        <a:buClrTx/>
                        <a:buSzTx/>
                        <a:buFontTx/>
                        <a:buNone/>
                        <a:tabLst/>
                        <a:defRPr/>
                      </a:pPr>
                      <a:r>
                        <a:rPr lang="en-IN" sz="900" b="1" i="0" u="none" strike="noStrike">
                          <a:solidFill>
                            <a:srgbClr val="071D49"/>
                          </a:solidFill>
                          <a:effectLst/>
                          <a:latin typeface="Arial" panose="020B0604020202020204" pitchFamily="34" charset="0"/>
                        </a:rPr>
                        <a:t>Z17</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0" marR="0" lvl="0" indent="0" algn="l" defTabSz="342906" rtl="0" eaLnBrk="1" fontAlgn="ctr" latinLnBrk="0" hangingPunct="1">
                        <a:lnSpc>
                          <a:spcPct val="100000"/>
                        </a:lnSpc>
                        <a:spcBef>
                          <a:spcPts val="0"/>
                        </a:spcBef>
                        <a:spcAft>
                          <a:spcPts val="0"/>
                        </a:spcAft>
                        <a:buClrTx/>
                        <a:buSzTx/>
                        <a:buFontTx/>
                        <a:buNone/>
                        <a:tabLst/>
                        <a:defRPr/>
                      </a:pPr>
                      <a:r>
                        <a:rPr lang="en-US" sz="900" b="0" i="0" u="none" strike="noStrike">
                          <a:solidFill>
                            <a:srgbClr val="071D49"/>
                          </a:solidFill>
                          <a:effectLst/>
                          <a:latin typeface="Arial" panose="020B0604020202020204" pitchFamily="34" charset="0"/>
                        </a:rPr>
                        <a:t>Only ZENPEP offers 40k and 60k lipase-unit capsules, which may help reduce the number of pills your adult patients need to take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05802967"/>
                  </a:ext>
                </a:extLst>
              </a:tr>
              <a:tr h="320040">
                <a:tc>
                  <a:txBody>
                    <a:bodyPr/>
                    <a:lstStyle/>
                    <a:p>
                      <a:pPr algn="ctr" fontAlgn="ctr"/>
                      <a:r>
                        <a:rPr lang="en-IN" sz="900" b="1" i="0" u="none" strike="noStrike">
                          <a:solidFill>
                            <a:srgbClr val="071D49"/>
                          </a:solidFill>
                          <a:effectLst/>
                          <a:latin typeface="Arial" panose="020B0604020202020204" pitchFamily="34" charset="0"/>
                        </a:rPr>
                        <a:t>Z21</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can help your patients absorb the fat and nutrients they need and treat uncomfortable GI symptoms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93515455"/>
                  </a:ext>
                </a:extLst>
              </a:tr>
              <a:tr h="320040">
                <a:tc>
                  <a:txBody>
                    <a:bodyPr/>
                    <a:lstStyle/>
                    <a:p>
                      <a:pPr algn="ctr" fontAlgn="ctr"/>
                      <a:r>
                        <a:rPr lang="en-IN" sz="900" b="1" i="0" u="none" strike="noStrike">
                          <a:solidFill>
                            <a:srgbClr val="071D49"/>
                          </a:solidFill>
                          <a:effectLst/>
                          <a:latin typeface="Arial" panose="020B0604020202020204" pitchFamily="34" charset="0"/>
                        </a:rPr>
                        <a:t>Z23^</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the most widely covered treatment in its class.</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866428584"/>
                  </a:ext>
                </a:extLst>
              </a:tr>
              <a:tr h="320040">
                <a:tc>
                  <a:txBody>
                    <a:bodyPr/>
                    <a:lstStyle/>
                    <a:p>
                      <a:pPr algn="ctr" fontAlgn="ctr"/>
                      <a:r>
                        <a:rPr lang="en-IN" sz="900" b="1" i="0" u="none" strike="noStrike">
                          <a:solidFill>
                            <a:srgbClr val="071D49"/>
                          </a:solidFill>
                          <a:effectLst/>
                          <a:latin typeface="Arial" panose="020B0604020202020204" pitchFamily="34" charset="0"/>
                        </a:rPr>
                        <a:t>Z20</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91% of patients achieved a CFA of 80% or higher with ZENPEP</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01002861"/>
                  </a:ext>
                </a:extLst>
              </a:tr>
              <a:tr h="320040">
                <a:tc>
                  <a:txBody>
                    <a:bodyPr/>
                    <a:lstStyle/>
                    <a:p>
                      <a:pPr algn="ctr" fontAlgn="ctr"/>
                      <a:r>
                        <a:rPr lang="en-IN" sz="900" b="1" i="0" u="none" strike="noStrike">
                          <a:solidFill>
                            <a:srgbClr val="071D49"/>
                          </a:solidFill>
                          <a:effectLst/>
                          <a:latin typeface="Arial" panose="020B0604020202020204" pitchFamily="34" charset="0"/>
                        </a:rPr>
                        <a:t>Z22</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Through My SampleCloset, practices are able to easily request samples of ZENPEP at any strength</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60049621"/>
                  </a:ext>
                </a:extLst>
              </a:tr>
              <a:tr h="320040">
                <a:tc>
                  <a:txBody>
                    <a:bodyPr/>
                    <a:lstStyle/>
                    <a:p>
                      <a:pPr algn="ctr" fontAlgn="ctr"/>
                      <a:r>
                        <a:rPr lang="en-IN" sz="900" b="1" i="0" u="none" strike="noStrike">
                          <a:solidFill>
                            <a:srgbClr val="071D49"/>
                          </a:solidFill>
                          <a:effectLst/>
                          <a:latin typeface="Arial" panose="020B0604020202020204" pitchFamily="34" charset="0"/>
                        </a:rPr>
                        <a:t>Z24**</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is designed to mimic typical exocrine pancreatic function.</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40477814"/>
                  </a:ext>
                </a:extLst>
              </a:tr>
              <a:tr h="320040">
                <a:tc>
                  <a:txBody>
                    <a:bodyPr/>
                    <a:lstStyle/>
                    <a:p>
                      <a:pPr algn="ctr" fontAlgn="ctr"/>
                      <a:r>
                        <a:rPr lang="en-IN" sz="900" b="1" i="0" u="none" strike="noStrike">
                          <a:solidFill>
                            <a:srgbClr val="071D49"/>
                          </a:solidFill>
                          <a:effectLst/>
                          <a:latin typeface="Arial" panose="020B0604020202020204" pitchFamily="34" charset="0"/>
                        </a:rPr>
                        <a:t>Z18</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In a clinical trial, the right dose helped patients absorb nutrients from their food and provided symptom relief</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213820237"/>
                  </a:ext>
                </a:extLst>
              </a:tr>
              <a:tr h="320040">
                <a:tc>
                  <a:txBody>
                    <a:bodyPr/>
                    <a:lstStyle/>
                    <a:p>
                      <a:pPr algn="ctr" fontAlgn="ctr"/>
                      <a:r>
                        <a:rPr lang="en-IN" sz="900" b="1" i="0" u="none" strike="noStrike">
                          <a:solidFill>
                            <a:srgbClr val="071D49"/>
                          </a:solidFill>
                          <a:effectLst/>
                          <a:latin typeface="Arial" panose="020B0604020202020204" pitchFamily="34" charset="0"/>
                        </a:rPr>
                        <a:t>Z8</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helps fuel nutritional health, increasing coefficient of fat absorption (CFA) by 26 percentage points vs placebo</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65518015"/>
                  </a:ext>
                </a:extLst>
              </a:tr>
              <a:tr h="320040">
                <a:tc>
                  <a:txBody>
                    <a:bodyPr/>
                    <a:lstStyle/>
                    <a:p>
                      <a:pPr algn="ctr" fontAlgn="ctr"/>
                      <a:r>
                        <a:rPr lang="en-IN" sz="900" b="1" i="0" u="none" strike="noStrike">
                          <a:solidFill>
                            <a:srgbClr val="071D49"/>
                          </a:solidFill>
                          <a:effectLst/>
                          <a:latin typeface="Arial" panose="020B0604020202020204" pitchFamily="34" charset="0"/>
                        </a:rPr>
                        <a:t>Z19</a:t>
                      </a:r>
                    </a:p>
                  </a:txBody>
                  <a:tcPr marL="4572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Meets the ACG guideline for EPI and CP in a single capsule</a:t>
                      </a:r>
                    </a:p>
                  </a:txBody>
                  <a:tcPr marL="7620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206630101"/>
                  </a:ext>
                </a:extLst>
              </a:tr>
            </a:tbl>
          </a:graphicData>
        </a:graphic>
      </p:graphicFrame>
      <p:sp>
        <p:nvSpPr>
          <p:cNvPr id="27" name="Google Shape;1583;p40">
            <a:extLst>
              <a:ext uri="{FF2B5EF4-FFF2-40B4-BE49-F238E27FC236}">
                <a16:creationId xmlns:a16="http://schemas.microsoft.com/office/drawing/2014/main" id="{448C4ADA-BF99-71AD-77B5-6E3601CA2609}"/>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3" name="wave table OCQ">
            <a:extLst>
              <a:ext uri="{FF2B5EF4-FFF2-40B4-BE49-F238E27FC236}">
                <a16:creationId xmlns:a16="http://schemas.microsoft.com/office/drawing/2014/main" id="{D5A435AD-2B79-ABE0-D2CA-68A61C56D8F6}"/>
              </a:ext>
            </a:extLst>
          </p:cNvPr>
          <p:cNvGraphicFramePr>
            <a:graphicFrameLocks noGrp="1"/>
          </p:cNvGraphicFramePr>
          <p:nvPr>
            <p:custDataLst>
              <p:tags r:id="rId2"/>
            </p:custDataLst>
          </p:nvPr>
        </p:nvGraphicFramePr>
        <p:xfrm>
          <a:off x="4985159" y="1449523"/>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4" name="Google Shape;1373;p33">
            <a:extLst>
              <a:ext uri="{FF2B5EF4-FFF2-40B4-BE49-F238E27FC236}">
                <a16:creationId xmlns:a16="http://schemas.microsoft.com/office/drawing/2014/main" id="{4548F114-3269-6D4F-0E54-7A9CBA0338D3}"/>
              </a:ext>
            </a:extLst>
          </p:cNvPr>
          <p:cNvSpPr/>
          <p:nvPr/>
        </p:nvSpPr>
        <p:spPr>
          <a:xfrm>
            <a:off x="570790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8" name="Google Shape;1433;p35">
            <a:extLst>
              <a:ext uri="{FF2B5EF4-FFF2-40B4-BE49-F238E27FC236}">
                <a16:creationId xmlns:a16="http://schemas.microsoft.com/office/drawing/2014/main" id="{F78BA41D-0249-6E56-DF46-5F4EE4636326}"/>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16" name="TextBox 15">
            <a:extLst>
              <a:ext uri="{FF2B5EF4-FFF2-40B4-BE49-F238E27FC236}">
                <a16:creationId xmlns:a16="http://schemas.microsoft.com/office/drawing/2014/main" id="{7514FF76-ED7D-F061-5D9F-1841CACC8499}"/>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10" name="Chart 9">
            <a:extLst>
              <a:ext uri="{FF2B5EF4-FFF2-40B4-BE49-F238E27FC236}">
                <a16:creationId xmlns:a16="http://schemas.microsoft.com/office/drawing/2014/main" id="{FAAD5AC6-D34B-3A02-8B93-E8302F9DFDFF}"/>
              </a:ext>
            </a:extLst>
          </p:cNvPr>
          <p:cNvGraphicFramePr/>
          <p:nvPr>
            <p:custDataLst>
              <p:tags r:id="rId3"/>
            </p:custDataLst>
          </p:nvPr>
        </p:nvGraphicFramePr>
        <p:xfrm>
          <a:off x="4757773" y="1678496"/>
          <a:ext cx="4372642"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11" name="Chart 10">
            <a:extLst>
              <a:ext uri="{FF2B5EF4-FFF2-40B4-BE49-F238E27FC236}">
                <a16:creationId xmlns:a16="http://schemas.microsoft.com/office/drawing/2014/main" id="{F0CFC818-F673-307E-526C-722F4AD94451}"/>
              </a:ext>
            </a:extLst>
          </p:cNvPr>
          <p:cNvGraphicFramePr/>
          <p:nvPr>
            <p:custDataLst>
              <p:tags r:id="rId4"/>
            </p:custDataLst>
          </p:nvPr>
        </p:nvGraphicFramePr>
        <p:xfrm>
          <a:off x="4757773" y="1997606"/>
          <a:ext cx="4372642"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2" name="Chart 11">
            <a:extLst>
              <a:ext uri="{FF2B5EF4-FFF2-40B4-BE49-F238E27FC236}">
                <a16:creationId xmlns:a16="http://schemas.microsoft.com/office/drawing/2014/main" id="{E255D1D4-35D1-127F-9D7E-B94EC6545653}"/>
              </a:ext>
            </a:extLst>
          </p:cNvPr>
          <p:cNvGraphicFramePr/>
          <p:nvPr>
            <p:custDataLst>
              <p:tags r:id="rId5"/>
            </p:custDataLst>
          </p:nvPr>
        </p:nvGraphicFramePr>
        <p:xfrm>
          <a:off x="4757773" y="2316716"/>
          <a:ext cx="4372642"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3" name="Chart 12">
            <a:extLst>
              <a:ext uri="{FF2B5EF4-FFF2-40B4-BE49-F238E27FC236}">
                <a16:creationId xmlns:a16="http://schemas.microsoft.com/office/drawing/2014/main" id="{DBC9133C-87AF-D97D-6173-BFD047ACD413}"/>
              </a:ext>
            </a:extLst>
          </p:cNvPr>
          <p:cNvGraphicFramePr/>
          <p:nvPr>
            <p:custDataLst>
              <p:tags r:id="rId6"/>
            </p:custDataLst>
          </p:nvPr>
        </p:nvGraphicFramePr>
        <p:xfrm>
          <a:off x="4757773" y="2635826"/>
          <a:ext cx="4372642"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4" name="Chart 13">
            <a:extLst>
              <a:ext uri="{FF2B5EF4-FFF2-40B4-BE49-F238E27FC236}">
                <a16:creationId xmlns:a16="http://schemas.microsoft.com/office/drawing/2014/main" id="{7F53AB65-687E-E6E1-4208-F98EB020051A}"/>
              </a:ext>
            </a:extLst>
          </p:cNvPr>
          <p:cNvGraphicFramePr/>
          <p:nvPr>
            <p:custDataLst>
              <p:tags r:id="rId7"/>
            </p:custDataLst>
          </p:nvPr>
        </p:nvGraphicFramePr>
        <p:xfrm>
          <a:off x="4757773" y="2954936"/>
          <a:ext cx="4372642"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5" name="Chart 14">
            <a:extLst>
              <a:ext uri="{FF2B5EF4-FFF2-40B4-BE49-F238E27FC236}">
                <a16:creationId xmlns:a16="http://schemas.microsoft.com/office/drawing/2014/main" id="{D3BA010D-4747-7963-A706-ED0891E38344}"/>
              </a:ext>
            </a:extLst>
          </p:cNvPr>
          <p:cNvGraphicFramePr/>
          <p:nvPr>
            <p:custDataLst>
              <p:tags r:id="rId8"/>
            </p:custDataLst>
          </p:nvPr>
        </p:nvGraphicFramePr>
        <p:xfrm>
          <a:off x="4757773" y="3274046"/>
          <a:ext cx="4372642"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7" name="Chart 16">
            <a:extLst>
              <a:ext uri="{FF2B5EF4-FFF2-40B4-BE49-F238E27FC236}">
                <a16:creationId xmlns:a16="http://schemas.microsoft.com/office/drawing/2014/main" id="{6F632474-4C0D-08EE-DAAF-EB1F24B990A9}"/>
              </a:ext>
            </a:extLst>
          </p:cNvPr>
          <p:cNvGraphicFramePr/>
          <p:nvPr>
            <p:custDataLst>
              <p:tags r:id="rId9"/>
            </p:custDataLst>
          </p:nvPr>
        </p:nvGraphicFramePr>
        <p:xfrm>
          <a:off x="4757773" y="3593156"/>
          <a:ext cx="4372642"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8" name="Chart 17">
            <a:extLst>
              <a:ext uri="{FF2B5EF4-FFF2-40B4-BE49-F238E27FC236}">
                <a16:creationId xmlns:a16="http://schemas.microsoft.com/office/drawing/2014/main" id="{4DE169CC-5212-5149-1D97-CC172B9C84A9}"/>
              </a:ext>
            </a:extLst>
          </p:cNvPr>
          <p:cNvGraphicFramePr/>
          <p:nvPr>
            <p:custDataLst>
              <p:tags r:id="rId10"/>
            </p:custDataLst>
          </p:nvPr>
        </p:nvGraphicFramePr>
        <p:xfrm>
          <a:off x="4757773" y="3912266"/>
          <a:ext cx="4372642"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0" name="Chart 19">
            <a:extLst>
              <a:ext uri="{FF2B5EF4-FFF2-40B4-BE49-F238E27FC236}">
                <a16:creationId xmlns:a16="http://schemas.microsoft.com/office/drawing/2014/main" id="{A9DC1619-76BC-E0D6-313C-D4D9B056DAC2}"/>
              </a:ext>
            </a:extLst>
          </p:cNvPr>
          <p:cNvGraphicFramePr/>
          <p:nvPr>
            <p:custDataLst>
              <p:tags r:id="rId11"/>
            </p:custDataLst>
          </p:nvPr>
        </p:nvGraphicFramePr>
        <p:xfrm>
          <a:off x="4757773" y="4231376"/>
          <a:ext cx="4372642"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1" name="Chart 20">
            <a:extLst>
              <a:ext uri="{FF2B5EF4-FFF2-40B4-BE49-F238E27FC236}">
                <a16:creationId xmlns:a16="http://schemas.microsoft.com/office/drawing/2014/main" id="{90B49277-A16C-67F6-ECFC-B9D78F38A583}"/>
              </a:ext>
            </a:extLst>
          </p:cNvPr>
          <p:cNvGraphicFramePr/>
          <p:nvPr>
            <p:custDataLst>
              <p:tags r:id="rId12"/>
            </p:custDataLst>
          </p:nvPr>
        </p:nvGraphicFramePr>
        <p:xfrm>
          <a:off x="4757773" y="4550486"/>
          <a:ext cx="4372642"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2" name="Chart 21">
            <a:extLst>
              <a:ext uri="{FF2B5EF4-FFF2-40B4-BE49-F238E27FC236}">
                <a16:creationId xmlns:a16="http://schemas.microsoft.com/office/drawing/2014/main" id="{7854551D-DDCB-BD87-8694-9F6114BB1480}"/>
              </a:ext>
            </a:extLst>
          </p:cNvPr>
          <p:cNvGraphicFramePr/>
          <p:nvPr>
            <p:custDataLst>
              <p:tags r:id="rId13"/>
            </p:custDataLst>
          </p:nvPr>
        </p:nvGraphicFramePr>
        <p:xfrm>
          <a:off x="4757773" y="4869596"/>
          <a:ext cx="4372642"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5" name="Chart 4">
            <a:extLst>
              <a:ext uri="{FF2B5EF4-FFF2-40B4-BE49-F238E27FC236}">
                <a16:creationId xmlns:a16="http://schemas.microsoft.com/office/drawing/2014/main" id="{7006A791-C93A-BEDD-CC1A-7968B4841541}"/>
              </a:ext>
            </a:extLst>
          </p:cNvPr>
          <p:cNvGraphicFramePr/>
          <p:nvPr>
            <p:custDataLst>
              <p:tags r:id="rId14"/>
            </p:custDataLst>
          </p:nvPr>
        </p:nvGraphicFramePr>
        <p:xfrm>
          <a:off x="4757773" y="5507816"/>
          <a:ext cx="4372642" cy="3312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6" name="Chart 5">
            <a:extLst>
              <a:ext uri="{FF2B5EF4-FFF2-40B4-BE49-F238E27FC236}">
                <a16:creationId xmlns:a16="http://schemas.microsoft.com/office/drawing/2014/main" id="{14CB2FAB-8E21-B992-04ED-1726F8D3349D}"/>
              </a:ext>
            </a:extLst>
          </p:cNvPr>
          <p:cNvGraphicFramePr/>
          <p:nvPr>
            <p:custDataLst>
              <p:tags r:id="rId15"/>
            </p:custDataLst>
          </p:nvPr>
        </p:nvGraphicFramePr>
        <p:xfrm>
          <a:off x="4757773" y="5188706"/>
          <a:ext cx="4372642" cy="331200"/>
        </p:xfrm>
        <a:graphic>
          <a:graphicData uri="http://schemas.openxmlformats.org/drawingml/2006/chart">
            <c:chart xmlns:c="http://schemas.openxmlformats.org/drawingml/2006/chart" xmlns:r="http://schemas.openxmlformats.org/officeDocument/2006/relationships" r:id="rId30"/>
          </a:graphicData>
        </a:graphic>
      </p:graphicFrame>
    </p:spTree>
    <p:extLst>
      <p:ext uri="{BB962C8B-B14F-4D97-AF65-F5344CB8AC3E}">
        <p14:creationId xmlns:p14="http://schemas.microsoft.com/office/powerpoint/2010/main" val="1237888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0AEAD16F-25CB-7346-895A-BDB30D99D2F0}"/>
            </a:ext>
          </a:extLst>
        </p:cNvPr>
        <p:cNvGrpSpPr/>
        <p:nvPr/>
      </p:nvGrpSpPr>
      <p:grpSpPr>
        <a:xfrm>
          <a:off x="0" y="0"/>
          <a:ext cx="0" cy="0"/>
          <a:chOff x="0" y="0"/>
          <a:chExt cx="0" cy="0"/>
        </a:xfrm>
      </p:grpSpPr>
      <p:sp>
        <p:nvSpPr>
          <p:cNvPr id="1358" name="Google Shape;1358;p33">
            <a:extLst>
              <a:ext uri="{FF2B5EF4-FFF2-40B4-BE49-F238E27FC236}">
                <a16:creationId xmlns:a16="http://schemas.microsoft.com/office/drawing/2014/main" id="{56427F49-667D-FA97-9CFD-D13CD2978E0E}"/>
              </a:ext>
            </a:extLst>
          </p:cNvPr>
          <p:cNvSpPr/>
          <p:nvPr/>
        </p:nvSpPr>
        <p:spPr>
          <a:xfrm>
            <a:off x="666000" y="824400"/>
            <a:ext cx="7950960" cy="45906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Aided Message Recall – </a:t>
            </a:r>
            <a:r>
              <a:rPr kumimoji="0" lang="pl-PL" sz="1400" b="1" i="0" u="sng" strike="noStrike" kern="0" cap="none" spc="0" normalizeH="0" baseline="0" noProof="0">
                <a:ln>
                  <a:noFill/>
                </a:ln>
                <a:solidFill>
                  <a:srgbClr val="9778D4"/>
                </a:solidFill>
                <a:effectLst/>
                <a:uLnTx/>
                <a:uFillTx/>
                <a:latin typeface="Arial" panose="020B0604020202020204"/>
                <a:ea typeface="Calibri"/>
                <a:cs typeface="Calibri"/>
                <a:sym typeface="Calibri"/>
              </a:rPr>
              <a:t>ZENPEP</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 (</a:t>
            </a:r>
            <a:r>
              <a:rPr kumimoji="0" lang="en-IN"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NP/PA</a:t>
            </a:r>
            <a:r>
              <a:rPr kumimoji="0" lang="pl-PL" sz="1400" b="1" i="0" u="none" strike="noStrike" kern="0" cap="none" spc="0" normalizeH="0" baseline="30000" noProof="0">
                <a:ln>
                  <a:noFill/>
                </a:ln>
                <a:solidFill>
                  <a:srgbClr val="FF0000"/>
                </a:solidFill>
                <a:effectLst/>
                <a:uLnTx/>
                <a:uFillTx/>
                <a:latin typeface="Arial" panose="020B0604020202020204"/>
                <a:ea typeface="Calibri"/>
                <a:cs typeface="Calibri"/>
                <a:sym typeface="Calibri"/>
              </a:rPr>
              <a:t>*</a:t>
            </a:r>
            <a:r>
              <a:rPr kumimoji="0" lang="pl-PL" sz="1400" b="1"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pl-PL" sz="1400" b="0" i="0" u="none" strike="noStrike" kern="0" cap="none" spc="0" normalizeH="0" baseline="0" noProof="0">
              <a:ln>
                <a:noFill/>
              </a:ln>
              <a:solidFill>
                <a:srgbClr val="36729C"/>
              </a:solidFill>
              <a:effectLst/>
              <a:uLnTx/>
              <a:uFillTx/>
              <a:latin typeface="Arial" panose="020B0604020202020204"/>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(Jan’2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Feb’2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30 | 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22</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May’2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Jun’2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25</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none" strike="noStrike" kern="0" cap="none" spc="0" normalizeH="0" baseline="0" noProof="0">
                <a:ln>
                  <a:noFill/>
                </a:ln>
                <a:solidFill>
                  <a:srgbClr val="071D49"/>
                </a:solidFill>
                <a:effectLst/>
                <a:uLnTx/>
                <a:uFillTx/>
                <a:latin typeface="Arial"/>
                <a:ea typeface="Calibri"/>
                <a:cs typeface="Calibri"/>
                <a:sym typeface="Calibri"/>
              </a:rPr>
              <a:t>|</a:t>
            </a:r>
            <a:r>
              <a:rPr kumimoji="0" lang="pl-PL" sz="800" b="0" i="0" u="none"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Jul’2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Aug’2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19</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25</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pl-PL"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sp>
        <p:nvSpPr>
          <p:cNvPr id="1359" name="Google Shape;1359;p33">
            <a:extLst>
              <a:ext uri="{FF2B5EF4-FFF2-40B4-BE49-F238E27FC236}">
                <a16:creationId xmlns:a16="http://schemas.microsoft.com/office/drawing/2014/main" id="{E97F9F88-BDAB-16B5-FD9C-799D99B46C99}"/>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Aided Message Recall – ZENPEP (NP/PA)</a:t>
            </a:r>
          </a:p>
        </p:txBody>
      </p:sp>
      <p:graphicFrame>
        <p:nvGraphicFramePr>
          <p:cNvPr id="2" name="Z_MR_table">
            <a:extLst>
              <a:ext uri="{FF2B5EF4-FFF2-40B4-BE49-F238E27FC236}">
                <a16:creationId xmlns:a16="http://schemas.microsoft.com/office/drawing/2014/main" id="{CECF7910-79CA-9705-B0BA-809278034E1A}"/>
              </a:ext>
            </a:extLst>
          </p:cNvPr>
          <p:cNvGraphicFramePr/>
          <p:nvPr>
            <p:custDataLst>
              <p:tags r:id="rId1"/>
            </p:custDataLst>
          </p:nvPr>
        </p:nvGraphicFramePr>
        <p:xfrm>
          <a:off x="25200" y="1685308"/>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b"/>
                      <a:r>
                        <a:rPr lang="en-IN" sz="900" b="1" i="0" u="none" strike="noStrike">
                          <a:solidFill>
                            <a:srgbClr val="071D49"/>
                          </a:solidFill>
                          <a:effectLst/>
                          <a:latin typeface="+mn-lt"/>
                        </a:rPr>
                        <a:t>Z17</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Only ZENPEP offers 40k and 60k lipase-unit capsules, which may help reduce the number of pills your adult patients need to take</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0"/>
                  </a:ext>
                </a:extLst>
              </a:tr>
              <a:tr h="320040">
                <a:tc>
                  <a:txBody>
                    <a:bodyPr/>
                    <a:lstStyle/>
                    <a:p>
                      <a:pPr algn="ctr" fontAlgn="b"/>
                      <a:r>
                        <a:rPr lang="en-IN" sz="900" b="1" i="0" u="none" strike="noStrike">
                          <a:solidFill>
                            <a:srgbClr val="071D49"/>
                          </a:solidFill>
                          <a:effectLst/>
                          <a:latin typeface="+mn-lt"/>
                        </a:rPr>
                        <a:t>Z16</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ZENPEP offers a single-capsule starting dose for almost all adult patients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52622235"/>
                  </a:ext>
                </a:extLst>
              </a:tr>
              <a:tr h="320040">
                <a:tc>
                  <a:txBody>
                    <a:bodyPr/>
                    <a:lstStyle/>
                    <a:p>
                      <a:pPr algn="ctr" fontAlgn="b"/>
                      <a:r>
                        <a:rPr lang="en-IN" sz="900" b="1" i="0" u="none" strike="noStrike">
                          <a:solidFill>
                            <a:srgbClr val="071D49"/>
                          </a:solidFill>
                          <a:effectLst/>
                          <a:latin typeface="+mn-lt"/>
                        </a:rPr>
                        <a:t>Z11^</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Eligible patients pay as little as $5 for their first prescription fill and for refills.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832839203"/>
                  </a:ext>
                </a:extLst>
              </a:tr>
              <a:tr h="320040">
                <a:tc>
                  <a:txBody>
                    <a:bodyPr/>
                    <a:lstStyle/>
                    <a:p>
                      <a:pPr algn="ctr" fontAlgn="b"/>
                      <a:r>
                        <a:rPr lang="en-IN" sz="900" b="1" i="0" u="none" strike="noStrike">
                          <a:solidFill>
                            <a:srgbClr val="071D49"/>
                          </a:solidFill>
                          <a:effectLst/>
                          <a:latin typeface="+mn-lt"/>
                        </a:rPr>
                        <a:t>Z15</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When prescribing PERT to your adult patients with EPI -Start simply with one capsule of ZENPEP®</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41619119"/>
                  </a:ext>
                </a:extLst>
              </a:tr>
              <a:tr h="320040">
                <a:tc>
                  <a:txBody>
                    <a:bodyPr/>
                    <a:lstStyle/>
                    <a:p>
                      <a:pPr algn="ctr" fontAlgn="b"/>
                      <a:r>
                        <a:rPr lang="en-IN" sz="900" b="1" i="0" u="none" strike="noStrike">
                          <a:solidFill>
                            <a:srgbClr val="071D49"/>
                          </a:solidFill>
                          <a:effectLst/>
                          <a:latin typeface="+mn-lt"/>
                        </a:rPr>
                        <a:t>Z21</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ZENPEP can help your patients absorb the fat and nutrients they need and treat uncomfortable GI symptoms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05802967"/>
                  </a:ext>
                </a:extLst>
              </a:tr>
              <a:tr h="320040">
                <a:tc>
                  <a:txBody>
                    <a:bodyPr/>
                    <a:lstStyle/>
                    <a:p>
                      <a:pPr algn="ctr" fontAlgn="b"/>
                      <a:r>
                        <a:rPr lang="en-IN" sz="900" b="1" i="0" u="none" strike="noStrike">
                          <a:solidFill>
                            <a:srgbClr val="071D49"/>
                          </a:solidFill>
                          <a:effectLst/>
                          <a:latin typeface="+mn-lt"/>
                        </a:rPr>
                        <a:t>Z23^</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ZENPEP is the most widely covered treatment in its class.</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393515455"/>
                  </a:ext>
                </a:extLst>
              </a:tr>
              <a:tr h="320040">
                <a:tc>
                  <a:txBody>
                    <a:bodyPr/>
                    <a:lstStyle/>
                    <a:p>
                      <a:pPr algn="ctr" fontAlgn="b"/>
                      <a:r>
                        <a:rPr lang="en-IN" sz="900" b="1" i="0" u="none" strike="noStrike">
                          <a:solidFill>
                            <a:srgbClr val="071D49"/>
                          </a:solidFill>
                          <a:effectLst/>
                          <a:latin typeface="+mn-lt"/>
                        </a:rPr>
                        <a:t>Z19</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Meets the ACG guideline for EPI and CP in a single capsule</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866428584"/>
                  </a:ext>
                </a:extLst>
              </a:tr>
              <a:tr h="320040">
                <a:tc>
                  <a:txBody>
                    <a:bodyPr/>
                    <a:lstStyle/>
                    <a:p>
                      <a:pPr algn="ctr" fontAlgn="b"/>
                      <a:r>
                        <a:rPr lang="en-IN" sz="900" b="1" i="0" u="none" strike="noStrike">
                          <a:solidFill>
                            <a:srgbClr val="071D49"/>
                          </a:solidFill>
                          <a:effectLst/>
                          <a:latin typeface="+mn-lt"/>
                        </a:rPr>
                        <a:t>Z24**</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ZENPEP is designed to mimic typical exocrine pancreatic function.</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2401002861"/>
                  </a:ext>
                </a:extLst>
              </a:tr>
              <a:tr h="320040">
                <a:tc>
                  <a:txBody>
                    <a:bodyPr/>
                    <a:lstStyle/>
                    <a:p>
                      <a:pPr algn="ctr" fontAlgn="b"/>
                      <a:r>
                        <a:rPr lang="en-IN" sz="900" b="1" i="0" u="none" strike="noStrike">
                          <a:solidFill>
                            <a:srgbClr val="071D49"/>
                          </a:solidFill>
                          <a:effectLst/>
                          <a:latin typeface="+mn-lt"/>
                        </a:rPr>
                        <a:t>Z7</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ZENPEP has an enteric coating that minimizes degradation and targets enzyme release in the small intestine</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60049621"/>
                  </a:ext>
                </a:extLst>
              </a:tr>
              <a:tr h="320040">
                <a:tc>
                  <a:txBody>
                    <a:bodyPr/>
                    <a:lstStyle/>
                    <a:p>
                      <a:pPr algn="ctr" fontAlgn="b"/>
                      <a:r>
                        <a:rPr lang="en-IN" sz="900" b="1" i="0" u="none" strike="noStrike">
                          <a:solidFill>
                            <a:srgbClr val="071D49"/>
                          </a:solidFill>
                          <a:effectLst/>
                          <a:latin typeface="+mn-lt"/>
                        </a:rPr>
                        <a:t>Z18</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In a clinical trial, the right dose helped patients absorb nutrients from their food and provided symptom relief</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3740477814"/>
                  </a:ext>
                </a:extLst>
              </a:tr>
              <a:tr h="320040">
                <a:tc>
                  <a:txBody>
                    <a:bodyPr/>
                    <a:lstStyle/>
                    <a:p>
                      <a:pPr algn="ctr" fontAlgn="b"/>
                      <a:r>
                        <a:rPr lang="en-IN" sz="900" b="1" i="0" u="none" strike="noStrike">
                          <a:solidFill>
                            <a:srgbClr val="071D49"/>
                          </a:solidFill>
                          <a:effectLst/>
                          <a:latin typeface="+mn-lt"/>
                        </a:rPr>
                        <a:t>Z20</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91% of patients achieved a CFA of 80% or higher with ZENPEP</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4213820237"/>
                  </a:ext>
                </a:extLst>
              </a:tr>
              <a:tr h="320040">
                <a:tc>
                  <a:txBody>
                    <a:bodyPr/>
                    <a:lstStyle/>
                    <a:p>
                      <a:pPr algn="ctr" fontAlgn="b"/>
                      <a:r>
                        <a:rPr lang="en-IN" sz="900" b="1" i="0" u="none" strike="noStrike">
                          <a:solidFill>
                            <a:srgbClr val="071D49"/>
                          </a:solidFill>
                          <a:effectLst/>
                          <a:latin typeface="+mn-lt"/>
                        </a:rPr>
                        <a:t>Z22</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marL="57600" algn="l" fontAlgn="b"/>
                      <a:r>
                        <a:rPr lang="en-US" sz="900" b="0" i="0" u="none" strike="noStrike">
                          <a:solidFill>
                            <a:srgbClr val="071D49"/>
                          </a:solidFill>
                          <a:effectLst/>
                          <a:latin typeface="+mn-lt"/>
                        </a:rPr>
                        <a:t>Through My SampleCloset, practices are able to easily request samples of ZENPEP at any strength</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65518015"/>
                  </a:ext>
                </a:extLst>
              </a:tr>
              <a:tr h="320040">
                <a:tc>
                  <a:txBody>
                    <a:bodyPr/>
                    <a:lstStyle/>
                    <a:p>
                      <a:pPr algn="ctr" fontAlgn="b"/>
                      <a:r>
                        <a:rPr lang="en-IN" sz="900" b="1" i="0" u="none" strike="noStrike">
                          <a:solidFill>
                            <a:srgbClr val="071D49"/>
                          </a:solidFill>
                          <a:effectLst/>
                          <a:latin typeface="+mn-lt"/>
                        </a:rPr>
                        <a:t>Z8</a:t>
                      </a:r>
                    </a:p>
                  </a:txBody>
                  <a:tcPr marL="6350" marR="6350" marT="6350" marB="0" anchor="ctr">
                    <a:lnL w="12700" cap="flat" cmpd="sng">
                      <a:noFill/>
                      <a:prstDash val="solid"/>
                      <a:round/>
                      <a:headEnd type="none" w="sm" len="sm"/>
                      <a:tailEnd type="none" w="sm" len="sm"/>
                    </a:lnL>
                    <a:lnR w="12700" cap="flat" cmpd="sng" algn="ctr">
                      <a:solidFill>
                        <a:schemeClr val="bg1">
                          <a:lumMod val="9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marL="57600" algn="l" fontAlgn="b"/>
                      <a:r>
                        <a:rPr lang="en-US" sz="900" b="0" i="0" u="none" strike="noStrike">
                          <a:solidFill>
                            <a:srgbClr val="071D49"/>
                          </a:solidFill>
                          <a:effectLst/>
                          <a:latin typeface="+mn-lt"/>
                        </a:rPr>
                        <a:t>ZENPEP helps fuel nutritional health, increasing coefficient of fat absorption (CFA) by 26 percentage points vs placebo</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97641154"/>
                  </a:ext>
                </a:extLst>
              </a:tr>
            </a:tbl>
          </a:graphicData>
        </a:graphic>
      </p:graphicFrame>
      <p:sp>
        <p:nvSpPr>
          <p:cNvPr id="27" name="Google Shape;1583;p40">
            <a:extLst>
              <a:ext uri="{FF2B5EF4-FFF2-40B4-BE49-F238E27FC236}">
                <a16:creationId xmlns:a16="http://schemas.microsoft.com/office/drawing/2014/main" id="{D3BFFD50-A447-D7DA-FB04-BC7225A32DCC}"/>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3" name="wave table OCQ">
            <a:extLst>
              <a:ext uri="{FF2B5EF4-FFF2-40B4-BE49-F238E27FC236}">
                <a16:creationId xmlns:a16="http://schemas.microsoft.com/office/drawing/2014/main" id="{47EEB9DE-0FA2-1E3D-70B5-A8EE4E0C30C6}"/>
              </a:ext>
            </a:extLst>
          </p:cNvPr>
          <p:cNvGraphicFramePr>
            <a:graphicFrameLocks noGrp="1"/>
          </p:cNvGraphicFramePr>
          <p:nvPr>
            <p:custDataLst>
              <p:tags r:id="rId2"/>
            </p:custDataLst>
          </p:nvPr>
        </p:nvGraphicFramePr>
        <p:xfrm>
          <a:off x="4985159" y="1449523"/>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4" name="Google Shape;1373;p33">
            <a:extLst>
              <a:ext uri="{FF2B5EF4-FFF2-40B4-BE49-F238E27FC236}">
                <a16:creationId xmlns:a16="http://schemas.microsoft.com/office/drawing/2014/main" id="{BDAFE2D0-5350-A742-95E8-32C71A376DC9}"/>
              </a:ext>
            </a:extLst>
          </p:cNvPr>
          <p:cNvSpPr/>
          <p:nvPr/>
        </p:nvSpPr>
        <p:spPr>
          <a:xfrm>
            <a:off x="5707907" y="1181415"/>
            <a:ext cx="2520000" cy="276959"/>
          </a:xfrm>
          <a:prstGeom prst="rect">
            <a:avLst/>
          </a:prstGeom>
          <a:noFill/>
          <a:ln>
            <a:noFill/>
          </a:ln>
        </p:spPr>
        <p:txBody>
          <a:bodyPr spcFirstLastPara="1" wrap="square" lIns="91425" tIns="45700" rIns="91425" bIns="45700" anchor="t" anchorCtr="0">
            <a:spAutoFit/>
          </a:bodyPr>
          <a:lstStyle/>
          <a:p>
            <a:pPr marL="0" marR="0" lvl="0" indent="0" algn="ctr" defTabSz="685783" rtl="0" eaLnBrk="1" fontAlgn="auto" latinLnBrk="0" hangingPunct="1">
              <a:lnSpc>
                <a:spcPct val="100000"/>
              </a:lnSpc>
              <a:spcBef>
                <a:spcPts val="0"/>
              </a:spcBef>
              <a:spcAft>
                <a:spcPts val="0"/>
              </a:spcAft>
              <a:buClr>
                <a:srgbClr val="071D49"/>
              </a:buClr>
              <a:buSzPts val="1100"/>
              <a:buFont typeface="Arial"/>
              <a:buNone/>
              <a:tabLst/>
              <a:defRPr/>
            </a:pPr>
            <a:r>
              <a:rPr kumimoji="0" lang="en-US" sz="1200" b="1" i="0" u="none" strike="noStrike" kern="1200" cap="none" spc="0" normalizeH="0" baseline="0" noProof="0">
                <a:ln>
                  <a:noFill/>
                </a:ln>
                <a:solidFill>
                  <a:srgbClr val="071D49"/>
                </a:solidFill>
                <a:effectLst/>
                <a:uLnTx/>
                <a:uFillTx/>
                <a:latin typeface="Arial"/>
                <a:ea typeface="Calibri"/>
                <a:cs typeface="Calibri"/>
                <a:sym typeface="Calibri"/>
              </a:rPr>
              <a:t>Message Recall</a:t>
            </a:r>
            <a:endParaRPr kumimoji="0" lang="en-US" sz="1600" b="0" i="0" u="none" strike="noStrike" kern="1200" cap="none" spc="0" normalizeH="0" baseline="0" noProof="0">
              <a:ln>
                <a:noFill/>
              </a:ln>
              <a:solidFill>
                <a:srgbClr val="000000"/>
              </a:solidFill>
              <a:effectLst/>
              <a:uLnTx/>
              <a:uFillTx/>
              <a:latin typeface="Arial"/>
              <a:ea typeface="+mn-ea"/>
              <a:cs typeface="Arial"/>
              <a:sym typeface="Arial"/>
            </a:endParaRPr>
          </a:p>
        </p:txBody>
      </p:sp>
      <p:sp>
        <p:nvSpPr>
          <p:cNvPr id="6" name="Google Shape;1433;p35">
            <a:extLst>
              <a:ext uri="{FF2B5EF4-FFF2-40B4-BE49-F238E27FC236}">
                <a16:creationId xmlns:a16="http://schemas.microsoft.com/office/drawing/2014/main" id="{04231F07-928D-4EC8-77FD-868535C47BCE}"/>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8" name="TextBox 7">
            <a:extLst>
              <a:ext uri="{FF2B5EF4-FFF2-40B4-BE49-F238E27FC236}">
                <a16:creationId xmlns:a16="http://schemas.microsoft.com/office/drawing/2014/main" id="{1DDF01E4-C8C4-1774-2633-3D909423F22C}"/>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12" name="Aided Message Recall – ZENPEP (PCPs*)">
            <a:extLst>
              <a:ext uri="{FF2B5EF4-FFF2-40B4-BE49-F238E27FC236}">
                <a16:creationId xmlns:a16="http://schemas.microsoft.com/office/drawing/2014/main" id="{DE8E5A7C-7622-8647-7706-23BCC54A5D89}"/>
              </a:ext>
            </a:extLst>
          </p:cNvPr>
          <p:cNvGraphicFramePr/>
          <p:nvPr>
            <p:custDataLst>
              <p:tags r:id="rId3"/>
            </p:custDataLst>
          </p:nvPr>
        </p:nvGraphicFramePr>
        <p:xfrm>
          <a:off x="4776237" y="1685308"/>
          <a:ext cx="4370832" cy="3600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13" name="Shape_67789109">
            <a:extLst>
              <a:ext uri="{FF2B5EF4-FFF2-40B4-BE49-F238E27FC236}">
                <a16:creationId xmlns:a16="http://schemas.microsoft.com/office/drawing/2014/main" id="{9E8CB54F-6C18-2959-DDCE-49B11A7D7126}"/>
              </a:ext>
            </a:extLst>
          </p:cNvPr>
          <p:cNvGraphicFramePr/>
          <p:nvPr>
            <p:custDataLst>
              <p:tags r:id="rId4"/>
            </p:custDataLst>
          </p:nvPr>
        </p:nvGraphicFramePr>
        <p:xfrm>
          <a:off x="4700037" y="2001836"/>
          <a:ext cx="4370832" cy="3600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4" name="Shape_61807067">
            <a:extLst>
              <a:ext uri="{FF2B5EF4-FFF2-40B4-BE49-F238E27FC236}">
                <a16:creationId xmlns:a16="http://schemas.microsoft.com/office/drawing/2014/main" id="{6726E26C-AEBD-2E18-8DB3-2E29253DE327}"/>
              </a:ext>
            </a:extLst>
          </p:cNvPr>
          <p:cNvGraphicFramePr/>
          <p:nvPr>
            <p:custDataLst>
              <p:tags r:id="rId5"/>
            </p:custDataLst>
          </p:nvPr>
        </p:nvGraphicFramePr>
        <p:xfrm>
          <a:off x="4776237" y="2318364"/>
          <a:ext cx="4370832" cy="3600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5" name="Shape_79441365">
            <a:extLst>
              <a:ext uri="{FF2B5EF4-FFF2-40B4-BE49-F238E27FC236}">
                <a16:creationId xmlns:a16="http://schemas.microsoft.com/office/drawing/2014/main" id="{872067AE-D653-9CB6-C8CF-BA69D928ECCC}"/>
              </a:ext>
            </a:extLst>
          </p:cNvPr>
          <p:cNvGraphicFramePr/>
          <p:nvPr>
            <p:custDataLst>
              <p:tags r:id="rId6"/>
            </p:custDataLst>
          </p:nvPr>
        </p:nvGraphicFramePr>
        <p:xfrm>
          <a:off x="4776237" y="2951420"/>
          <a:ext cx="4370832" cy="3600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6" name="Shape_92127283">
            <a:extLst>
              <a:ext uri="{FF2B5EF4-FFF2-40B4-BE49-F238E27FC236}">
                <a16:creationId xmlns:a16="http://schemas.microsoft.com/office/drawing/2014/main" id="{F7659E83-0B2F-C26D-8F6E-368AD476E56B}"/>
              </a:ext>
            </a:extLst>
          </p:cNvPr>
          <p:cNvGraphicFramePr/>
          <p:nvPr>
            <p:custDataLst>
              <p:tags r:id="rId7"/>
            </p:custDataLst>
          </p:nvPr>
        </p:nvGraphicFramePr>
        <p:xfrm>
          <a:off x="4776237" y="2634892"/>
          <a:ext cx="4370832" cy="3600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7" name="Shape_5672288">
            <a:extLst>
              <a:ext uri="{FF2B5EF4-FFF2-40B4-BE49-F238E27FC236}">
                <a16:creationId xmlns:a16="http://schemas.microsoft.com/office/drawing/2014/main" id="{BED63D14-EA88-29EB-CC28-268E7A413332}"/>
              </a:ext>
            </a:extLst>
          </p:cNvPr>
          <p:cNvGraphicFramePr/>
          <p:nvPr>
            <p:custDataLst>
              <p:tags r:id="rId8"/>
            </p:custDataLst>
          </p:nvPr>
        </p:nvGraphicFramePr>
        <p:xfrm>
          <a:off x="4776237" y="3267948"/>
          <a:ext cx="4370832" cy="360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8" name="Shape_81953940">
            <a:extLst>
              <a:ext uri="{FF2B5EF4-FFF2-40B4-BE49-F238E27FC236}">
                <a16:creationId xmlns:a16="http://schemas.microsoft.com/office/drawing/2014/main" id="{C9E4B31F-EFBE-EDEC-FB3C-212577AD019B}"/>
              </a:ext>
            </a:extLst>
          </p:cNvPr>
          <p:cNvGraphicFramePr/>
          <p:nvPr>
            <p:custDataLst>
              <p:tags r:id="rId9"/>
            </p:custDataLst>
          </p:nvPr>
        </p:nvGraphicFramePr>
        <p:xfrm>
          <a:off x="4776237" y="3584476"/>
          <a:ext cx="4370832" cy="360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0" name="Shape_24002569">
            <a:extLst>
              <a:ext uri="{FF2B5EF4-FFF2-40B4-BE49-F238E27FC236}">
                <a16:creationId xmlns:a16="http://schemas.microsoft.com/office/drawing/2014/main" id="{FF78DC7B-93A9-341E-5039-518D87D81C9F}"/>
              </a:ext>
            </a:extLst>
          </p:cNvPr>
          <p:cNvGraphicFramePr/>
          <p:nvPr>
            <p:custDataLst>
              <p:tags r:id="rId10"/>
            </p:custDataLst>
          </p:nvPr>
        </p:nvGraphicFramePr>
        <p:xfrm>
          <a:off x="4776237" y="3901004"/>
          <a:ext cx="4370832" cy="360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1" name="Shape_26145807">
            <a:extLst>
              <a:ext uri="{FF2B5EF4-FFF2-40B4-BE49-F238E27FC236}">
                <a16:creationId xmlns:a16="http://schemas.microsoft.com/office/drawing/2014/main" id="{B66352D0-E0BF-B764-0394-A1C9D48874E8}"/>
              </a:ext>
            </a:extLst>
          </p:cNvPr>
          <p:cNvGraphicFramePr/>
          <p:nvPr>
            <p:custDataLst>
              <p:tags r:id="rId11"/>
            </p:custDataLst>
          </p:nvPr>
        </p:nvGraphicFramePr>
        <p:xfrm>
          <a:off x="4776237" y="4217532"/>
          <a:ext cx="4370832" cy="360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2" name="Shape_73738810">
            <a:extLst>
              <a:ext uri="{FF2B5EF4-FFF2-40B4-BE49-F238E27FC236}">
                <a16:creationId xmlns:a16="http://schemas.microsoft.com/office/drawing/2014/main" id="{FE6A657B-9C4C-BC7F-BE16-4839B3DDD4D0}"/>
              </a:ext>
            </a:extLst>
          </p:cNvPr>
          <p:cNvGraphicFramePr/>
          <p:nvPr>
            <p:custDataLst>
              <p:tags r:id="rId12"/>
            </p:custDataLst>
          </p:nvPr>
        </p:nvGraphicFramePr>
        <p:xfrm>
          <a:off x="4776237" y="4534060"/>
          <a:ext cx="4370832" cy="3600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3" name="Shape_97375188">
            <a:extLst>
              <a:ext uri="{FF2B5EF4-FFF2-40B4-BE49-F238E27FC236}">
                <a16:creationId xmlns:a16="http://schemas.microsoft.com/office/drawing/2014/main" id="{82470B36-8AF7-2B6E-E95E-3E8748EAA60A}"/>
              </a:ext>
            </a:extLst>
          </p:cNvPr>
          <p:cNvGraphicFramePr/>
          <p:nvPr>
            <p:custDataLst>
              <p:tags r:id="rId13"/>
            </p:custDataLst>
          </p:nvPr>
        </p:nvGraphicFramePr>
        <p:xfrm>
          <a:off x="4776237" y="4850588"/>
          <a:ext cx="4370832" cy="360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4" name="Shape_15149437">
            <a:extLst>
              <a:ext uri="{FF2B5EF4-FFF2-40B4-BE49-F238E27FC236}">
                <a16:creationId xmlns:a16="http://schemas.microsoft.com/office/drawing/2014/main" id="{137C1224-F473-5CDE-3BDD-BBEA3CA55D54}"/>
              </a:ext>
            </a:extLst>
          </p:cNvPr>
          <p:cNvGraphicFramePr/>
          <p:nvPr>
            <p:custDataLst>
              <p:tags r:id="rId14"/>
            </p:custDataLst>
          </p:nvPr>
        </p:nvGraphicFramePr>
        <p:xfrm>
          <a:off x="4776237" y="5167116"/>
          <a:ext cx="4370832" cy="360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5" name="Shape_67789109">
            <a:extLst>
              <a:ext uri="{FF2B5EF4-FFF2-40B4-BE49-F238E27FC236}">
                <a16:creationId xmlns:a16="http://schemas.microsoft.com/office/drawing/2014/main" id="{9B7C5F41-4AD8-6CBD-AA3D-46C9F521A2B5}"/>
              </a:ext>
            </a:extLst>
          </p:cNvPr>
          <p:cNvGraphicFramePr/>
          <p:nvPr>
            <p:custDataLst>
              <p:tags r:id="rId15"/>
            </p:custDataLst>
          </p:nvPr>
        </p:nvGraphicFramePr>
        <p:xfrm>
          <a:off x="4671462" y="5475770"/>
          <a:ext cx="4371443" cy="360000"/>
        </p:xfrm>
        <a:graphic>
          <a:graphicData uri="http://schemas.openxmlformats.org/drawingml/2006/chart">
            <c:chart xmlns:c="http://schemas.openxmlformats.org/drawingml/2006/chart" xmlns:r="http://schemas.openxmlformats.org/officeDocument/2006/relationships" r:id="rId30"/>
          </a:graphicData>
        </a:graphic>
      </p:graphicFrame>
      <p:sp>
        <p:nvSpPr>
          <p:cNvPr id="7" name="Google Shape;1375;p33">
            <a:extLst>
              <a:ext uri="{FF2B5EF4-FFF2-40B4-BE49-F238E27FC236}">
                <a16:creationId xmlns:a16="http://schemas.microsoft.com/office/drawing/2014/main" id="{91559672-DA9C-B2DA-138C-EF1E880BBB46}"/>
              </a:ext>
            </a:extLst>
          </p:cNvPr>
          <p:cNvSpPr txBox="1"/>
          <p:nvPr/>
        </p:nvSpPr>
        <p:spPr>
          <a:xfrm>
            <a:off x="323850" y="5955766"/>
            <a:ext cx="825159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 *Full message text in speaker notes | </a:t>
            </a:r>
            <a:r>
              <a:rPr kumimoji="0" lang="en-GB"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**New message added in W32: Z24 | ^Messages Edited in W32: Z11, Z23</a:t>
            </a:r>
          </a:p>
        </p:txBody>
      </p:sp>
    </p:spTree>
    <p:extLst>
      <p:ext uri="{BB962C8B-B14F-4D97-AF65-F5344CB8AC3E}">
        <p14:creationId xmlns:p14="http://schemas.microsoft.com/office/powerpoint/2010/main" val="31446621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1414">
          <a:extLst>
            <a:ext uri="{FF2B5EF4-FFF2-40B4-BE49-F238E27FC236}">
              <a16:creationId xmlns:a16="http://schemas.microsoft.com/office/drawing/2014/main" id="{723F8353-EF3F-5AAE-C3A7-78EF17C2099D}"/>
            </a:ext>
          </a:extLst>
        </p:cNvPr>
        <p:cNvGrpSpPr/>
        <p:nvPr/>
      </p:nvGrpSpPr>
      <p:grpSpPr>
        <a:xfrm>
          <a:off x="0" y="0"/>
          <a:ext cx="0" cy="0"/>
          <a:chOff x="0" y="0"/>
          <a:chExt cx="0" cy="0"/>
        </a:xfrm>
      </p:grpSpPr>
      <p:sp>
        <p:nvSpPr>
          <p:cNvPr id="1415" name="Google Shape;1415;p35">
            <a:extLst>
              <a:ext uri="{FF2B5EF4-FFF2-40B4-BE49-F238E27FC236}">
                <a16:creationId xmlns:a16="http://schemas.microsoft.com/office/drawing/2014/main" id="{FC35AFB9-C8D4-09A4-F4DC-761A1E5E43AB}"/>
              </a:ext>
            </a:extLst>
          </p:cNvPr>
          <p:cNvSpPr/>
          <p:nvPr/>
        </p:nvSpPr>
        <p:spPr>
          <a:xfrm>
            <a:off x="299460" y="798148"/>
            <a:ext cx="7821181"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36729C"/>
                </a:solidFill>
                <a:effectLst/>
                <a:uLnTx/>
                <a:uFillTx/>
                <a:latin typeface="Arial"/>
                <a:ea typeface="Calibri"/>
                <a:cs typeface="Calibri"/>
                <a:sym typeface="Calibri"/>
              </a:rPr>
              <a:t>CREON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(Gastros)</a:t>
            </a:r>
            <a:endParaRPr kumimoji="0" lang="en-IN" sz="1400" b="0" i="0" u="none"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58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67 |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May’25 – Jun’25: n = 62 | Jul’25 – Aug’25: n = 61</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59</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 </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Nov’2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Dec’2</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48</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1418" name="Gastro_C_ME_TABLE">
            <a:extLst>
              <a:ext uri="{FF2B5EF4-FFF2-40B4-BE49-F238E27FC236}">
                <a16:creationId xmlns:a16="http://schemas.microsoft.com/office/drawing/2014/main" id="{FF52C9EC-4457-8EA7-ECC0-AFB955577E19}"/>
              </a:ext>
            </a:extLst>
          </p:cNvPr>
          <p:cNvGraphicFramePr/>
          <p:nvPr>
            <p:custDataLst>
              <p:tags r:id="rId1"/>
            </p:custDataLst>
          </p:nvPr>
        </p:nvGraphicFramePr>
        <p:xfrm>
          <a:off x="33736" y="1685873"/>
          <a:ext cx="4675968" cy="4160520"/>
        </p:xfrm>
        <a:graphic>
          <a:graphicData uri="http://schemas.openxmlformats.org/drawingml/2006/table">
            <a:tbl>
              <a:tblPr>
                <a:noFill/>
              </a:tblPr>
              <a:tblGrid>
                <a:gridCol w="341312">
                  <a:extLst>
                    <a:ext uri="{9D8B030D-6E8A-4147-A177-3AD203B41FA5}">
                      <a16:colId xmlns:a16="http://schemas.microsoft.com/office/drawing/2014/main" val="20000"/>
                    </a:ext>
                  </a:extLst>
                </a:gridCol>
                <a:gridCol w="4334656">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C1^</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maintains category leading coverage</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C19</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is the only PERT specifically studied for patients with EPI due to chronic pancreatitis and pancreatectomy, in addition to cystic fibrosis</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1"/>
                  </a:ext>
                </a:extLst>
              </a:tr>
              <a:tr h="320040">
                <a:tc>
                  <a:txBody>
                    <a:bodyPr/>
                    <a:lstStyle/>
                    <a:p>
                      <a:pPr algn="ctr" fontAlgn="ctr"/>
                      <a:r>
                        <a:rPr lang="en-IN" sz="900" b="1" i="0" u="none" strike="noStrike">
                          <a:solidFill>
                            <a:srgbClr val="071D49"/>
                          </a:solidFill>
                          <a:effectLst/>
                          <a:latin typeface="Arial" panose="020B0604020202020204" pitchFamily="34" charset="0"/>
                        </a:rPr>
                        <a:t>C10</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is the #1 PERT prescribed by Gastroenterologists, Primary Care Physicians, Nurse Practitioners and Physician Assistants.</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3"/>
                  </a:ext>
                </a:extLst>
              </a:tr>
              <a:tr h="320040">
                <a:tc>
                  <a:txBody>
                    <a:bodyPr/>
                    <a:lstStyle/>
                    <a:p>
                      <a:pPr algn="ctr" fontAlgn="ctr"/>
                      <a:r>
                        <a:rPr lang="en-IN" sz="900" b="1" i="0" u="none" strike="noStrike">
                          <a:solidFill>
                            <a:srgbClr val="071D49"/>
                          </a:solidFill>
                          <a:effectLst/>
                          <a:latin typeface="Arial" panose="020B0604020202020204" pitchFamily="34" charset="0"/>
                        </a:rPr>
                        <a:t>C11^</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95% of commercially eligible patients pay $5 or less for their CREON prescription with the CREON Complete Savings card.</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4"/>
                  </a:ext>
                </a:extLst>
              </a:tr>
              <a:tr h="320040">
                <a:tc>
                  <a:txBody>
                    <a:bodyPr/>
                    <a:lstStyle/>
                    <a:p>
                      <a:pPr algn="ctr" fontAlgn="ctr"/>
                      <a:r>
                        <a:rPr lang="en-IN" sz="900" b="1" i="0" u="none" strike="noStrike">
                          <a:solidFill>
                            <a:srgbClr val="071D49"/>
                          </a:solidFill>
                          <a:effectLst/>
                          <a:latin typeface="Arial" panose="020B0604020202020204" pitchFamily="34" charset="0"/>
                        </a:rPr>
                        <a:t>C9^</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significantly improves fat absorption compared with placebo in randomized clinical trials of patients with EPI due to CF, CP, or pancreatectomy.</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5"/>
                  </a:ext>
                </a:extLst>
              </a:tr>
              <a:tr h="320040">
                <a:tc>
                  <a:txBody>
                    <a:bodyPr/>
                    <a:lstStyle/>
                    <a:p>
                      <a:pPr algn="ctr" fontAlgn="ctr"/>
                      <a:r>
                        <a:rPr lang="en-IN" sz="900" b="1" i="0" u="none" strike="noStrike">
                          <a:solidFill>
                            <a:srgbClr val="071D49"/>
                          </a:solidFill>
                          <a:effectLst/>
                          <a:latin typeface="Arial" panose="020B0604020202020204" pitchFamily="34" charset="0"/>
                        </a:rPr>
                        <a:t>C22**</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71% of CREON Medicare Part D patients paid less than $30 in 2024.</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6"/>
                  </a:ext>
                </a:extLst>
              </a:tr>
              <a:tr h="320040">
                <a:tc>
                  <a:txBody>
                    <a:bodyPr/>
                    <a:lstStyle/>
                    <a:p>
                      <a:pPr algn="ctr" fontAlgn="ctr"/>
                      <a:r>
                        <a:rPr lang="en-IN" sz="900" b="1" i="0" u="none" strike="noStrike">
                          <a:solidFill>
                            <a:srgbClr val="071D49"/>
                          </a:solidFill>
                          <a:effectLst/>
                          <a:latin typeface="Arial" panose="020B0604020202020204" pitchFamily="34" charset="0"/>
                        </a:rPr>
                        <a:t>C17</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More than 8 out of 10 GEs and PCPs prescribe CREON more than other PERTs</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7"/>
                  </a:ext>
                </a:extLst>
              </a:tr>
              <a:tr h="320040">
                <a:tc>
                  <a:txBody>
                    <a:bodyPr/>
                    <a:lstStyle/>
                    <a:p>
                      <a:pPr algn="ctr" fontAlgn="ctr"/>
                      <a:r>
                        <a:rPr lang="en-IN" sz="900" b="1" i="0" u="none" strike="noStrike">
                          <a:solidFill>
                            <a:srgbClr val="071D49"/>
                          </a:solidFill>
                          <a:effectLst/>
                          <a:latin typeface="Arial" panose="020B0604020202020204" pitchFamily="34" charset="0"/>
                        </a:rPr>
                        <a:t>C3</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Exocrine Pancreatic Insufficiency (EPI) is under-recognized and can have an impact on nutritional health and quality of life</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8"/>
                  </a:ext>
                </a:extLst>
              </a:tr>
              <a:tr h="320040">
                <a:tc>
                  <a:txBody>
                    <a:bodyPr/>
                    <a:lstStyle/>
                    <a:p>
                      <a:pPr algn="ctr" fontAlgn="ctr"/>
                      <a:r>
                        <a:rPr lang="en-IN" sz="900" b="1" i="0" u="none" strike="noStrike">
                          <a:solidFill>
                            <a:srgbClr val="071D49"/>
                          </a:solidFill>
                          <a:effectLst/>
                          <a:latin typeface="Arial" panose="020B0604020202020204" pitchFamily="34" charset="0"/>
                        </a:rPr>
                        <a:t>C7</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36K capsules can be an appropriate dose for many adults.</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9"/>
                  </a:ext>
                </a:extLst>
              </a:tr>
              <a:tr h="320040">
                <a:tc>
                  <a:txBody>
                    <a:bodyPr/>
                    <a:lstStyle/>
                    <a:p>
                      <a:pPr algn="ctr" fontAlgn="ctr"/>
                      <a:r>
                        <a:rPr lang="en-IN" sz="900" b="1" i="0" u="none" strike="noStrike">
                          <a:solidFill>
                            <a:srgbClr val="071D49"/>
                          </a:solidFill>
                          <a:effectLst/>
                          <a:latin typeface="Arial" panose="020B0604020202020204" pitchFamily="34" charset="0"/>
                        </a:rPr>
                        <a:t>C4</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EPI is largely a clinical diagnosis based on signs and symptoms and should be considered as part of the differential diagnosis of GI symptoms.</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10"/>
                  </a:ext>
                </a:extLst>
              </a:tr>
              <a:tr h="320040">
                <a:tc>
                  <a:txBody>
                    <a:bodyPr/>
                    <a:lstStyle/>
                    <a:p>
                      <a:pPr algn="ctr" fontAlgn="ctr"/>
                      <a:r>
                        <a:rPr lang="en-IN" sz="900" b="1" i="0" u="none" strike="noStrike">
                          <a:solidFill>
                            <a:srgbClr val="071D49"/>
                          </a:solidFill>
                          <a:effectLst/>
                          <a:latin typeface="Arial" panose="020B0604020202020204" pitchFamily="34" charset="0"/>
                        </a:rPr>
                        <a:t>C20**</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Significant experience, exceptional patient support, and excellent coverage make CREON a proven partner for patients with EPl.</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11"/>
                  </a:ext>
                </a:extLst>
              </a:tr>
              <a:tr h="320040">
                <a:tc>
                  <a:txBody>
                    <a:bodyPr/>
                    <a:lstStyle/>
                    <a:p>
                      <a:pPr algn="ctr" fontAlgn="ctr"/>
                      <a:r>
                        <a:rPr lang="en-IN" sz="900" b="1" i="0" u="none" strike="noStrike">
                          <a:solidFill>
                            <a:srgbClr val="071D49"/>
                          </a:solidFill>
                          <a:effectLst/>
                          <a:latin typeface="Arial" panose="020B0604020202020204" pitchFamily="34" charset="0"/>
                        </a:rPr>
                        <a:t>C21**</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Complete may help patients start and stay on track with their treatment.</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161939822"/>
                  </a:ext>
                </a:extLst>
              </a:tr>
              <a:tr h="320040">
                <a:tc>
                  <a:txBody>
                    <a:bodyPr/>
                    <a:lstStyle/>
                    <a:p>
                      <a:pPr algn="ctr" fontAlgn="ctr"/>
                      <a:r>
                        <a:rPr lang="en-IN" sz="900" b="1" i="0" u="none" strike="noStrike">
                          <a:solidFill>
                            <a:srgbClr val="071D49"/>
                          </a:solidFill>
                          <a:effectLst/>
                          <a:latin typeface="Arial" panose="020B0604020202020204" pitchFamily="34" charset="0"/>
                        </a:rPr>
                        <a:t>C6^</a:t>
                      </a:r>
                    </a:p>
                  </a:txBody>
                  <a:tcPr marL="27432" marR="0" marT="0" marB="0" anchor="ctr">
                    <a:lnL w="12700" cap="flat" cmpd="sng">
                      <a:noFill/>
                      <a:prstDash val="solid"/>
                      <a:round/>
                      <a:headEnd type="none" w="sm" len="sm"/>
                      <a:tailEnd type="none" w="sm" len="sm"/>
                    </a:lnL>
                    <a:lnR w="12700" cap="flat" cmpd="sng" algn="ctr">
                      <a:solidFill>
                        <a:schemeClr val="bg1"/>
                      </a:solidFill>
                      <a:prstDash val="solid"/>
                      <a:round/>
                      <a:headEnd type="none" w="med" len="med"/>
                      <a:tailEnd type="none" w="med" len="med"/>
                    </a:lnR>
                    <a:lnT w="12700" cap="flat" cmpd="sng" algn="ctr">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Take CREON every meal, every snack, every day.</a:t>
                      </a:r>
                    </a:p>
                  </a:txBody>
                  <a:tcPr marL="76200" marR="6350" marT="6350" marB="0" anchor="ctr">
                    <a:lnL w="12700" cap="flat" cmpd="sng" algn="ctr">
                      <a:solidFill>
                        <a:schemeClr val="bg1"/>
                      </a:solidFill>
                      <a:prstDash val="solid"/>
                      <a:round/>
                      <a:headEnd type="none" w="med" len="med"/>
                      <a:tailEnd type="none" w="med" len="med"/>
                    </a:lnL>
                    <a:lnR w="12700"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680227405"/>
                  </a:ext>
                </a:extLst>
              </a:tr>
            </a:tbl>
          </a:graphicData>
        </a:graphic>
      </p:graphicFrame>
      <p:sp>
        <p:nvSpPr>
          <p:cNvPr id="26" name="Google Shape;1432;p35">
            <a:extLst>
              <a:ext uri="{FF2B5EF4-FFF2-40B4-BE49-F238E27FC236}">
                <a16:creationId xmlns:a16="http://schemas.microsoft.com/office/drawing/2014/main" id="{EA9A4DED-0825-F0F3-BCD4-C88413FA43AD}"/>
              </a:ext>
            </a:extLst>
          </p:cNvPr>
          <p:cNvSpPr txBox="1"/>
          <p:nvPr/>
        </p:nvSpPr>
        <p:spPr>
          <a:xfrm>
            <a:off x="190500" y="5958416"/>
            <a:ext cx="8929001"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*Full message text in speaker notes | No statistically significant (p&lt;.05) difference between waves  </a:t>
            </a:r>
            <a:r>
              <a:rPr kumimoji="0" lang="en-GB" sz="900" b="0" i="0" u="none" strike="noStrike" kern="0" cap="none" spc="0" normalizeH="0" baseline="0" noProof="0">
                <a:ln>
                  <a:noFill/>
                </a:ln>
                <a:solidFill>
                  <a:srgbClr val="001D49"/>
                </a:solidFill>
                <a:effectLst/>
                <a:uLnTx/>
                <a:uFillTx/>
                <a:latin typeface="Arial"/>
                <a:ea typeface="Calibri"/>
                <a:cs typeface="Calibri"/>
                <a:sym typeface="Calibri"/>
              </a:rPr>
              <a:t>Messages sorted in decreasing order of Effectiveness for CREON messages</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
        <p:nvSpPr>
          <p:cNvPr id="11" name="Google Shape;763;p18">
            <a:extLst>
              <a:ext uri="{FF2B5EF4-FFF2-40B4-BE49-F238E27FC236}">
                <a16:creationId xmlns:a16="http://schemas.microsoft.com/office/drawing/2014/main" id="{093E79AA-C5CE-BA09-B60C-6E6633AC7794}"/>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15" name="Google Shape;1433;p35">
            <a:extLst>
              <a:ext uri="{FF2B5EF4-FFF2-40B4-BE49-F238E27FC236}">
                <a16:creationId xmlns:a16="http://schemas.microsoft.com/office/drawing/2014/main" id="{BF3F2418-3593-76B9-FA75-E04F35A11EE1}"/>
              </a:ext>
            </a:extLst>
          </p:cNvPr>
          <p:cNvSpPr/>
          <p:nvPr/>
        </p:nvSpPr>
        <p:spPr>
          <a:xfrm>
            <a:off x="5431594"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2" name="Google Shape;1359;p33">
            <a:extLst>
              <a:ext uri="{FF2B5EF4-FFF2-40B4-BE49-F238E27FC236}">
                <a16:creationId xmlns:a16="http://schemas.microsoft.com/office/drawing/2014/main" id="{A1BB9423-17BB-B5C8-6E9C-B3326F7690AB}"/>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CREON (Gastros)</a:t>
            </a:r>
          </a:p>
        </p:txBody>
      </p:sp>
      <p:graphicFrame>
        <p:nvGraphicFramePr>
          <p:cNvPr id="8" name="Chart 7">
            <a:extLst>
              <a:ext uri="{FF2B5EF4-FFF2-40B4-BE49-F238E27FC236}">
                <a16:creationId xmlns:a16="http://schemas.microsoft.com/office/drawing/2014/main" id="{B5CB8955-DB72-9DDF-A3B6-FAAC7B0D3B09}"/>
              </a:ext>
            </a:extLst>
          </p:cNvPr>
          <p:cNvGraphicFramePr/>
          <p:nvPr>
            <p:custDataLst>
              <p:tags r:id="rId2"/>
            </p:custDataLst>
          </p:nvPr>
        </p:nvGraphicFramePr>
        <p:xfrm>
          <a:off x="4402221" y="1685873"/>
          <a:ext cx="3645824" cy="338231"/>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9" name="Chart 8">
            <a:extLst>
              <a:ext uri="{FF2B5EF4-FFF2-40B4-BE49-F238E27FC236}">
                <a16:creationId xmlns:a16="http://schemas.microsoft.com/office/drawing/2014/main" id="{65BA3913-C809-FDFD-C687-A54D75906CF0}"/>
              </a:ext>
            </a:extLst>
          </p:cNvPr>
          <p:cNvGraphicFramePr/>
          <p:nvPr>
            <p:custDataLst>
              <p:tags r:id="rId3"/>
            </p:custDataLst>
          </p:nvPr>
        </p:nvGraphicFramePr>
        <p:xfrm>
          <a:off x="4402221" y="2004397"/>
          <a:ext cx="3645824" cy="338231"/>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2" name="Chart 11">
            <a:extLst>
              <a:ext uri="{FF2B5EF4-FFF2-40B4-BE49-F238E27FC236}">
                <a16:creationId xmlns:a16="http://schemas.microsoft.com/office/drawing/2014/main" id="{5EA49E4E-C266-212D-4791-6BBDA70DA24E}"/>
              </a:ext>
            </a:extLst>
          </p:cNvPr>
          <p:cNvGraphicFramePr/>
          <p:nvPr>
            <p:custDataLst>
              <p:tags r:id="rId4"/>
            </p:custDataLst>
          </p:nvPr>
        </p:nvGraphicFramePr>
        <p:xfrm>
          <a:off x="4402221" y="2322921"/>
          <a:ext cx="3645824" cy="338231"/>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3" name="Chart 12">
            <a:extLst>
              <a:ext uri="{FF2B5EF4-FFF2-40B4-BE49-F238E27FC236}">
                <a16:creationId xmlns:a16="http://schemas.microsoft.com/office/drawing/2014/main" id="{B76A4DBB-546F-8EE1-1863-56FE94E486D4}"/>
              </a:ext>
            </a:extLst>
          </p:cNvPr>
          <p:cNvGraphicFramePr/>
          <p:nvPr>
            <p:custDataLst>
              <p:tags r:id="rId5"/>
            </p:custDataLst>
          </p:nvPr>
        </p:nvGraphicFramePr>
        <p:xfrm>
          <a:off x="4402221" y="2641445"/>
          <a:ext cx="3645824" cy="338231"/>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4" name="Chart 13">
            <a:extLst>
              <a:ext uri="{FF2B5EF4-FFF2-40B4-BE49-F238E27FC236}">
                <a16:creationId xmlns:a16="http://schemas.microsoft.com/office/drawing/2014/main" id="{BE138437-891B-8926-999F-F9AC68AB3F23}"/>
              </a:ext>
            </a:extLst>
          </p:cNvPr>
          <p:cNvGraphicFramePr/>
          <p:nvPr>
            <p:custDataLst>
              <p:tags r:id="rId6"/>
            </p:custDataLst>
          </p:nvPr>
        </p:nvGraphicFramePr>
        <p:xfrm>
          <a:off x="4402221" y="2959969"/>
          <a:ext cx="3645824" cy="338231"/>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6" name="Chart 15">
            <a:extLst>
              <a:ext uri="{FF2B5EF4-FFF2-40B4-BE49-F238E27FC236}">
                <a16:creationId xmlns:a16="http://schemas.microsoft.com/office/drawing/2014/main" id="{F9586BEB-A0F3-D559-3FC4-8F3045AE7045}"/>
              </a:ext>
            </a:extLst>
          </p:cNvPr>
          <p:cNvGraphicFramePr/>
          <p:nvPr>
            <p:custDataLst>
              <p:tags r:id="rId7"/>
            </p:custDataLst>
          </p:nvPr>
        </p:nvGraphicFramePr>
        <p:xfrm>
          <a:off x="4402221" y="3278493"/>
          <a:ext cx="3645824" cy="338231"/>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7" name="Chart 16">
            <a:extLst>
              <a:ext uri="{FF2B5EF4-FFF2-40B4-BE49-F238E27FC236}">
                <a16:creationId xmlns:a16="http://schemas.microsoft.com/office/drawing/2014/main" id="{EE6DAE07-62E5-2E2F-1BA2-1645BBCC219E}"/>
              </a:ext>
            </a:extLst>
          </p:cNvPr>
          <p:cNvGraphicFramePr/>
          <p:nvPr>
            <p:custDataLst>
              <p:tags r:id="rId8"/>
            </p:custDataLst>
          </p:nvPr>
        </p:nvGraphicFramePr>
        <p:xfrm>
          <a:off x="4402221" y="3597017"/>
          <a:ext cx="3645824" cy="338231"/>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8" name="Chart 17">
            <a:extLst>
              <a:ext uri="{FF2B5EF4-FFF2-40B4-BE49-F238E27FC236}">
                <a16:creationId xmlns:a16="http://schemas.microsoft.com/office/drawing/2014/main" id="{72CBE986-F336-2FF1-DDFD-EE3F672AF0BB}"/>
              </a:ext>
            </a:extLst>
          </p:cNvPr>
          <p:cNvGraphicFramePr/>
          <p:nvPr>
            <p:custDataLst>
              <p:tags r:id="rId9"/>
            </p:custDataLst>
          </p:nvPr>
        </p:nvGraphicFramePr>
        <p:xfrm>
          <a:off x="4402221" y="3915541"/>
          <a:ext cx="3645824" cy="338231"/>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9" name="Chart 18">
            <a:extLst>
              <a:ext uri="{FF2B5EF4-FFF2-40B4-BE49-F238E27FC236}">
                <a16:creationId xmlns:a16="http://schemas.microsoft.com/office/drawing/2014/main" id="{84ABC4B6-D4B9-7135-76BA-2E5753C2FC46}"/>
              </a:ext>
            </a:extLst>
          </p:cNvPr>
          <p:cNvGraphicFramePr/>
          <p:nvPr>
            <p:custDataLst>
              <p:tags r:id="rId10"/>
            </p:custDataLst>
          </p:nvPr>
        </p:nvGraphicFramePr>
        <p:xfrm>
          <a:off x="4402221" y="4234065"/>
          <a:ext cx="3645824" cy="338231"/>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0" name="Chart 19">
            <a:extLst>
              <a:ext uri="{FF2B5EF4-FFF2-40B4-BE49-F238E27FC236}">
                <a16:creationId xmlns:a16="http://schemas.microsoft.com/office/drawing/2014/main" id="{F95EC6BC-5B33-9BE5-2E39-5024BA99D783}"/>
              </a:ext>
            </a:extLst>
          </p:cNvPr>
          <p:cNvGraphicFramePr/>
          <p:nvPr>
            <p:custDataLst>
              <p:tags r:id="rId11"/>
            </p:custDataLst>
          </p:nvPr>
        </p:nvGraphicFramePr>
        <p:xfrm>
          <a:off x="4402221" y="4552589"/>
          <a:ext cx="3645824" cy="338231"/>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1" name="Chart 20">
            <a:extLst>
              <a:ext uri="{FF2B5EF4-FFF2-40B4-BE49-F238E27FC236}">
                <a16:creationId xmlns:a16="http://schemas.microsoft.com/office/drawing/2014/main" id="{9222C469-AA25-6341-9B0C-205AA4067B2B}"/>
              </a:ext>
            </a:extLst>
          </p:cNvPr>
          <p:cNvGraphicFramePr/>
          <p:nvPr>
            <p:custDataLst>
              <p:tags r:id="rId12"/>
            </p:custDataLst>
          </p:nvPr>
        </p:nvGraphicFramePr>
        <p:xfrm>
          <a:off x="4402221" y="4871113"/>
          <a:ext cx="3645824" cy="338231"/>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2" name="Chart 21">
            <a:extLst>
              <a:ext uri="{FF2B5EF4-FFF2-40B4-BE49-F238E27FC236}">
                <a16:creationId xmlns:a16="http://schemas.microsoft.com/office/drawing/2014/main" id="{21619A2D-4125-341B-2E65-B02358A04D14}"/>
              </a:ext>
            </a:extLst>
          </p:cNvPr>
          <p:cNvGraphicFramePr/>
          <p:nvPr>
            <p:custDataLst>
              <p:tags r:id="rId13"/>
            </p:custDataLst>
          </p:nvPr>
        </p:nvGraphicFramePr>
        <p:xfrm>
          <a:off x="4402221" y="5189637"/>
          <a:ext cx="3645824" cy="338231"/>
        </p:xfrm>
        <a:graphic>
          <a:graphicData uri="http://schemas.openxmlformats.org/drawingml/2006/chart">
            <c:chart xmlns:c="http://schemas.openxmlformats.org/drawingml/2006/chart" xmlns:r="http://schemas.openxmlformats.org/officeDocument/2006/relationships" r:id="rId29"/>
          </a:graphicData>
        </a:graphic>
      </p:graphicFrame>
      <p:sp>
        <p:nvSpPr>
          <p:cNvPr id="10" name="TextBox 9">
            <a:extLst>
              <a:ext uri="{FF2B5EF4-FFF2-40B4-BE49-F238E27FC236}">
                <a16:creationId xmlns:a16="http://schemas.microsoft.com/office/drawing/2014/main" id="{62FB5F06-E32E-BDAB-F25D-A87FC2270458}"/>
              </a:ext>
            </a:extLst>
          </p:cNvPr>
          <p:cNvSpPr txBox="1"/>
          <p:nvPr/>
        </p:nvSpPr>
        <p:spPr>
          <a:xfrm>
            <a:off x="33736" y="718609"/>
            <a:ext cx="1728000" cy="261610"/>
          </a:xfrm>
          <a:prstGeom prst="rect">
            <a:avLst/>
          </a:prstGeom>
          <a:noFill/>
          <a:ln>
            <a:solidFill>
              <a:schemeClr val="accent1"/>
            </a:solidFill>
          </a:ln>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30"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4" name="Chart 3">
            <a:extLst>
              <a:ext uri="{FF2B5EF4-FFF2-40B4-BE49-F238E27FC236}">
                <a16:creationId xmlns:a16="http://schemas.microsoft.com/office/drawing/2014/main" id="{E64B7748-411E-8F02-0328-69EDC5C11C67}"/>
              </a:ext>
            </a:extLst>
          </p:cNvPr>
          <p:cNvGraphicFramePr/>
          <p:nvPr>
            <p:custDataLst>
              <p:tags r:id="rId14"/>
            </p:custDataLst>
          </p:nvPr>
        </p:nvGraphicFramePr>
        <p:xfrm>
          <a:off x="4402221" y="5508162"/>
          <a:ext cx="3645824" cy="338231"/>
        </p:xfrm>
        <a:graphic>
          <a:graphicData uri="http://schemas.openxmlformats.org/drawingml/2006/chart">
            <c:chart xmlns:c="http://schemas.openxmlformats.org/drawingml/2006/chart" xmlns:r="http://schemas.openxmlformats.org/officeDocument/2006/relationships" r:id="rId31"/>
          </a:graphicData>
        </a:graphic>
      </p:graphicFrame>
      <p:sp>
        <p:nvSpPr>
          <p:cNvPr id="25" name="TextBox 24">
            <a:extLst>
              <a:ext uri="{FF2B5EF4-FFF2-40B4-BE49-F238E27FC236}">
                <a16:creationId xmlns:a16="http://schemas.microsoft.com/office/drawing/2014/main" id="{9CFBD90F-7D00-173A-6FAA-D348DCB28AFE}"/>
              </a:ext>
            </a:extLst>
          </p:cNvPr>
          <p:cNvSpPr txBox="1"/>
          <p:nvPr/>
        </p:nvSpPr>
        <p:spPr>
          <a:xfrm>
            <a:off x="24501" y="1401280"/>
            <a:ext cx="4685203"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27" name="Table 26">
            <a:extLst>
              <a:ext uri="{FF2B5EF4-FFF2-40B4-BE49-F238E27FC236}">
                <a16:creationId xmlns:a16="http://schemas.microsoft.com/office/drawing/2014/main" id="{46D40652-1849-8122-4267-7718E410B57B}"/>
              </a:ext>
            </a:extLst>
          </p:cNvPr>
          <p:cNvGraphicFramePr>
            <a:graphicFrameLocks noGrp="1"/>
          </p:cNvGraphicFramePr>
          <p:nvPr/>
        </p:nvGraphicFramePr>
        <p:xfrm>
          <a:off x="8066349" y="1231965"/>
          <a:ext cx="1044000" cy="4614840"/>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8586">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78761">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46037692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5728025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682757009"/>
                  </a:ext>
                </a:extLst>
              </a:tr>
            </a:tbl>
          </a:graphicData>
        </a:graphic>
      </p:graphicFrame>
      <p:graphicFrame>
        <p:nvGraphicFramePr>
          <p:cNvPr id="28" name="wave table OCQ">
            <a:extLst>
              <a:ext uri="{FF2B5EF4-FFF2-40B4-BE49-F238E27FC236}">
                <a16:creationId xmlns:a16="http://schemas.microsoft.com/office/drawing/2014/main" id="{6F2F6A28-2F20-53DF-BFB8-7BC99F34C4C2}"/>
              </a:ext>
            </a:extLst>
          </p:cNvPr>
          <p:cNvGraphicFramePr>
            <a:graphicFrameLocks noGrp="1"/>
          </p:cNvGraphicFramePr>
          <p:nvPr>
            <p:custDataLst>
              <p:tags r:id="rId15"/>
            </p:custDataLst>
          </p:nvPr>
        </p:nvGraphicFramePr>
        <p:xfrm>
          <a:off x="4623209" y="1449523"/>
          <a:ext cx="3424836" cy="243840"/>
        </p:xfrm>
        <a:graphic>
          <a:graphicData uri="http://schemas.openxmlformats.org/drawingml/2006/table">
            <a:tbl>
              <a:tblPr firstRow="1" bandRow="1">
                <a:tableStyleId>{B301B821-A1FF-4177-AEE7-76D212191A09}</a:tableStyleId>
              </a:tblPr>
              <a:tblGrid>
                <a:gridCol w="570806">
                  <a:extLst>
                    <a:ext uri="{9D8B030D-6E8A-4147-A177-3AD203B41FA5}">
                      <a16:colId xmlns:a16="http://schemas.microsoft.com/office/drawing/2014/main" val="3554599800"/>
                    </a:ext>
                  </a:extLst>
                </a:gridCol>
                <a:gridCol w="570806">
                  <a:extLst>
                    <a:ext uri="{9D8B030D-6E8A-4147-A177-3AD203B41FA5}">
                      <a16:colId xmlns:a16="http://schemas.microsoft.com/office/drawing/2014/main" val="2914776207"/>
                    </a:ext>
                  </a:extLst>
                </a:gridCol>
                <a:gridCol w="570806">
                  <a:extLst>
                    <a:ext uri="{9D8B030D-6E8A-4147-A177-3AD203B41FA5}">
                      <a16:colId xmlns:a16="http://schemas.microsoft.com/office/drawing/2014/main" val="2088702262"/>
                    </a:ext>
                  </a:extLst>
                </a:gridCol>
                <a:gridCol w="570806">
                  <a:extLst>
                    <a:ext uri="{9D8B030D-6E8A-4147-A177-3AD203B41FA5}">
                      <a16:colId xmlns:a16="http://schemas.microsoft.com/office/drawing/2014/main" val="192097877"/>
                    </a:ext>
                  </a:extLst>
                </a:gridCol>
                <a:gridCol w="570806">
                  <a:extLst>
                    <a:ext uri="{9D8B030D-6E8A-4147-A177-3AD203B41FA5}">
                      <a16:colId xmlns:a16="http://schemas.microsoft.com/office/drawing/2014/main" val="1326389649"/>
                    </a:ext>
                  </a:extLst>
                </a:gridCol>
                <a:gridCol w="57080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Tree>
    <p:extLst>
      <p:ext uri="{BB962C8B-B14F-4D97-AF65-F5344CB8AC3E}">
        <p14:creationId xmlns:p14="http://schemas.microsoft.com/office/powerpoint/2010/main" val="4475217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1414">
          <a:extLst>
            <a:ext uri="{FF2B5EF4-FFF2-40B4-BE49-F238E27FC236}">
              <a16:creationId xmlns:a16="http://schemas.microsoft.com/office/drawing/2014/main" id="{F820C58C-E734-56D3-9BAE-3F6DA029FF62}"/>
            </a:ext>
          </a:extLst>
        </p:cNvPr>
        <p:cNvGrpSpPr/>
        <p:nvPr/>
      </p:nvGrpSpPr>
      <p:grpSpPr>
        <a:xfrm>
          <a:off x="0" y="0"/>
          <a:ext cx="0" cy="0"/>
          <a:chOff x="0" y="0"/>
          <a:chExt cx="0" cy="0"/>
        </a:xfrm>
      </p:grpSpPr>
      <p:graphicFrame>
        <p:nvGraphicFramePr>
          <p:cNvPr id="3" name="wave table OCQ">
            <a:extLst>
              <a:ext uri="{FF2B5EF4-FFF2-40B4-BE49-F238E27FC236}">
                <a16:creationId xmlns:a16="http://schemas.microsoft.com/office/drawing/2014/main" id="{6BA7F792-9988-22A8-3007-6BE9E0778926}"/>
              </a:ext>
            </a:extLst>
          </p:cNvPr>
          <p:cNvGraphicFramePr>
            <a:graphicFrameLocks noGrp="1"/>
          </p:cNvGraphicFramePr>
          <p:nvPr>
            <p:custDataLst>
              <p:tags r:id="rId1"/>
            </p:custDataLst>
          </p:nvPr>
        </p:nvGraphicFramePr>
        <p:xfrm>
          <a:off x="4991181" y="1464919"/>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415" name="Google Shape;1415;p35">
            <a:extLst>
              <a:ext uri="{FF2B5EF4-FFF2-40B4-BE49-F238E27FC236}">
                <a16:creationId xmlns:a16="http://schemas.microsoft.com/office/drawing/2014/main" id="{FF216081-2531-E01E-3B0A-6BFC8D18C2AF}"/>
              </a:ext>
            </a:extLst>
          </p:cNvPr>
          <p:cNvSpPr/>
          <p:nvPr/>
        </p:nvSpPr>
        <p:spPr>
          <a:xfrm>
            <a:off x="299460" y="798148"/>
            <a:ext cx="7821181"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36729C"/>
                </a:solidFill>
                <a:effectLst/>
                <a:uLnTx/>
                <a:uFillTx/>
                <a:latin typeface="Arial"/>
                <a:ea typeface="Calibri"/>
                <a:cs typeface="Calibri"/>
                <a:sym typeface="Calibri"/>
              </a:rPr>
              <a:t>CREON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(PCPs</a:t>
            </a:r>
            <a:r>
              <a:rPr kumimoji="0" lang="en-US" sz="1400" b="1"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1400" b="0" i="0" u="sng"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30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23</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May’25 – Jun’25: n = 24</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Jul’25 – Aug’25: n = 23</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21</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Nov’25 – Dec’25: n = 27</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1418" name="PCP_C_ME_TABLE">
            <a:extLst>
              <a:ext uri="{FF2B5EF4-FFF2-40B4-BE49-F238E27FC236}">
                <a16:creationId xmlns:a16="http://schemas.microsoft.com/office/drawing/2014/main" id="{ACDB07A8-B661-65BD-7F0D-0F896A6A3D4D}"/>
              </a:ext>
            </a:extLst>
          </p:cNvPr>
          <p:cNvGraphicFramePr/>
          <p:nvPr>
            <p:custDataLst>
              <p:tags r:id="rId2"/>
            </p:custDataLst>
          </p:nvPr>
        </p:nvGraphicFramePr>
        <p:xfrm>
          <a:off x="24500" y="1685873"/>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b"/>
                      <a:r>
                        <a:rPr lang="en-IN" sz="900" b="1" i="0" u="none" strike="noStrike">
                          <a:solidFill>
                            <a:srgbClr val="071D49"/>
                          </a:solidFill>
                          <a:effectLst/>
                          <a:latin typeface="+mn-lt"/>
                        </a:rPr>
                        <a:t>C3</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Exocrine Pancreatic Insufficiency (EPI) is under-recognized and can have an impact on nutritional health and quality of life</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0040">
                <a:tc>
                  <a:txBody>
                    <a:bodyPr/>
                    <a:lstStyle/>
                    <a:p>
                      <a:pPr algn="ctr" fontAlgn="b"/>
                      <a:r>
                        <a:rPr lang="en-IN" sz="900" b="1" i="0" u="none" strike="noStrike">
                          <a:solidFill>
                            <a:srgbClr val="071D49"/>
                          </a:solidFill>
                          <a:effectLst/>
                          <a:latin typeface="+mn-lt"/>
                        </a:rPr>
                        <a:t>C10</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CREON is the #1 PERT prescribed by Gastroenterologists, Primary Care Physicians, Nurse Practitioners and Physician Assistants.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0040">
                <a:tc>
                  <a:txBody>
                    <a:bodyPr/>
                    <a:lstStyle/>
                    <a:p>
                      <a:pPr algn="ctr" fontAlgn="b"/>
                      <a:r>
                        <a:rPr lang="en-IN" sz="900" b="1" i="0" u="none" strike="noStrike">
                          <a:solidFill>
                            <a:srgbClr val="071D49"/>
                          </a:solidFill>
                          <a:effectLst/>
                          <a:latin typeface="+mn-lt"/>
                        </a:rPr>
                        <a:t>C9^</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CREON significantly improves fat absorption compared with placebo in randomized clinical trials of patients with EPI due to CF, CP, or pancreatectomy.</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0040">
                <a:tc>
                  <a:txBody>
                    <a:bodyPr/>
                    <a:lstStyle/>
                    <a:p>
                      <a:pPr algn="ctr" fontAlgn="b"/>
                      <a:r>
                        <a:rPr lang="en-IN" sz="900" b="1" i="0" u="none" strike="noStrike">
                          <a:solidFill>
                            <a:srgbClr val="071D49"/>
                          </a:solidFill>
                          <a:effectLst/>
                          <a:latin typeface="+mn-lt"/>
                        </a:rPr>
                        <a:t>C19</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CREON is the only PERT specifically studied for patients with EPI due to chronic pancreatitis and pancreatectomy, in addition to cystic fibrosis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0040">
                <a:tc>
                  <a:txBody>
                    <a:bodyPr/>
                    <a:lstStyle/>
                    <a:p>
                      <a:pPr algn="ctr" fontAlgn="b"/>
                      <a:r>
                        <a:rPr lang="en-IN" sz="900" b="1" i="0" u="none" strike="noStrike">
                          <a:solidFill>
                            <a:srgbClr val="071D49"/>
                          </a:solidFill>
                          <a:effectLst/>
                          <a:latin typeface="+mn-lt"/>
                        </a:rPr>
                        <a:t>C11</a:t>
                      </a:r>
                      <a:r>
                        <a:rPr lang="en-IN" sz="900" b="1" i="0" u="none" strike="noStrike">
                          <a:solidFill>
                            <a:srgbClr val="071D49"/>
                          </a:solidFill>
                          <a:effectLst/>
                          <a:latin typeface="Arial" panose="020B0604020202020204" pitchFamily="34" charset="0"/>
                        </a:rPr>
                        <a:t>^</a:t>
                      </a:r>
                      <a:endParaRPr lang="en-IN" sz="900" b="1" i="0" u="none" strike="noStrike">
                        <a:solidFill>
                          <a:srgbClr val="071D49"/>
                        </a:solidFill>
                        <a:effectLst/>
                        <a:latin typeface="+mn-lt"/>
                      </a:endParaRP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95% of commercially eligible patients pay $5 or less for their CREON prescription with the CREON Complete Savings card.</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0040">
                <a:tc>
                  <a:txBody>
                    <a:bodyPr/>
                    <a:lstStyle/>
                    <a:p>
                      <a:pPr algn="ctr" fontAlgn="b"/>
                      <a:r>
                        <a:rPr lang="en-IN" sz="900" b="1" i="0" u="none" strike="noStrike">
                          <a:solidFill>
                            <a:srgbClr val="071D49"/>
                          </a:solidFill>
                          <a:effectLst/>
                          <a:latin typeface="+mn-lt"/>
                        </a:rPr>
                        <a:t>C7</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CREON 36K capsules can be an appropriate dose for many adults.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0040">
                <a:tc>
                  <a:txBody>
                    <a:bodyPr/>
                    <a:lstStyle/>
                    <a:p>
                      <a:pPr algn="ctr" fontAlgn="b"/>
                      <a:r>
                        <a:rPr lang="en-IN" sz="900" b="1" i="0" u="none" strike="noStrike">
                          <a:solidFill>
                            <a:srgbClr val="071D49"/>
                          </a:solidFill>
                          <a:effectLst/>
                          <a:latin typeface="+mn-lt"/>
                        </a:rPr>
                        <a:t>C1^</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CREON maintains category leading coverage</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0040">
                <a:tc>
                  <a:txBody>
                    <a:bodyPr/>
                    <a:lstStyle/>
                    <a:p>
                      <a:pPr algn="ctr" fontAlgn="b"/>
                      <a:r>
                        <a:rPr lang="en-IN" sz="900" b="1" i="0" u="none" strike="noStrike">
                          <a:solidFill>
                            <a:srgbClr val="071D49"/>
                          </a:solidFill>
                          <a:effectLst/>
                          <a:latin typeface="+mn-lt"/>
                        </a:rPr>
                        <a:t>C17</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More than 8 out of 10 GEs and PCPs prescribe CREON more than other PERTs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0040">
                <a:tc>
                  <a:txBody>
                    <a:bodyPr/>
                    <a:lstStyle/>
                    <a:p>
                      <a:pPr algn="ctr" fontAlgn="b"/>
                      <a:r>
                        <a:rPr lang="en-IN" sz="900" b="1" i="0" u="none" strike="noStrike">
                          <a:solidFill>
                            <a:srgbClr val="071D49"/>
                          </a:solidFill>
                          <a:effectLst/>
                          <a:latin typeface="+mn-lt"/>
                        </a:rPr>
                        <a:t>C4</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EPI is largely a clinical diagnosis based on signs and symptoms and should be considered as part of the differential diagnosis of GI symptoms.</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0040">
                <a:tc>
                  <a:txBody>
                    <a:bodyPr/>
                    <a:lstStyle/>
                    <a:p>
                      <a:pPr algn="ctr" fontAlgn="b"/>
                      <a:r>
                        <a:rPr lang="en-IN" sz="900" b="1" i="0" u="none" strike="noStrike">
                          <a:solidFill>
                            <a:srgbClr val="071D49"/>
                          </a:solidFill>
                          <a:effectLst/>
                          <a:latin typeface="+mn-lt"/>
                        </a:rPr>
                        <a:t>C20</a:t>
                      </a:r>
                      <a:r>
                        <a:rPr lang="en-IN" sz="900" b="1" i="0" u="none" strike="noStrike">
                          <a:solidFill>
                            <a:srgbClr val="071D49"/>
                          </a:solidFill>
                          <a:effectLst/>
                          <a:latin typeface="Arial" panose="020B0604020202020204" pitchFamily="34" charset="0"/>
                        </a:rPr>
                        <a:t>**</a:t>
                      </a:r>
                      <a:endParaRPr lang="en-IN" sz="900" b="1" i="0" u="none" strike="noStrike">
                        <a:solidFill>
                          <a:srgbClr val="071D49"/>
                        </a:solidFill>
                        <a:effectLst/>
                        <a:latin typeface="+mn-lt"/>
                      </a:endParaRP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Significant experience, exceptional patient support, and excellent coverage make CREON a proven partner for patients with EPl.</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0040">
                <a:tc>
                  <a:txBody>
                    <a:bodyPr/>
                    <a:lstStyle/>
                    <a:p>
                      <a:pPr algn="ctr" fontAlgn="b"/>
                      <a:r>
                        <a:rPr lang="en-IN" sz="900" b="1" i="0" u="none" strike="noStrike">
                          <a:solidFill>
                            <a:srgbClr val="071D49"/>
                          </a:solidFill>
                          <a:effectLst/>
                          <a:latin typeface="+mn-lt"/>
                        </a:rPr>
                        <a:t>C22</a:t>
                      </a:r>
                      <a:r>
                        <a:rPr lang="en-IN" sz="900" b="1" i="0" u="none" strike="noStrike">
                          <a:solidFill>
                            <a:srgbClr val="071D49"/>
                          </a:solidFill>
                          <a:effectLst/>
                          <a:latin typeface="Arial" panose="020B0604020202020204" pitchFamily="34" charset="0"/>
                        </a:rPr>
                        <a:t>**</a:t>
                      </a:r>
                      <a:endParaRPr lang="en-IN" sz="900" b="1" i="0" u="none" strike="noStrike">
                        <a:solidFill>
                          <a:srgbClr val="071D49"/>
                        </a:solidFill>
                        <a:effectLst/>
                        <a:latin typeface="+mn-lt"/>
                      </a:endParaRP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71% of CREON Medicare Part D patients paid less than $30 in 2024.</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0040">
                <a:tc>
                  <a:txBody>
                    <a:bodyPr/>
                    <a:lstStyle/>
                    <a:p>
                      <a:pPr algn="ctr" fontAlgn="b"/>
                      <a:r>
                        <a:rPr lang="en-IN" sz="900" b="1" i="0" u="none" strike="noStrike">
                          <a:solidFill>
                            <a:srgbClr val="071D49"/>
                          </a:solidFill>
                          <a:effectLst/>
                          <a:latin typeface="+mn-lt"/>
                        </a:rPr>
                        <a:t>C21</a:t>
                      </a:r>
                      <a:r>
                        <a:rPr lang="en-IN" sz="900" b="1" i="0" u="none" strike="noStrike">
                          <a:solidFill>
                            <a:srgbClr val="071D49"/>
                          </a:solidFill>
                          <a:effectLst/>
                          <a:latin typeface="Arial" panose="020B0604020202020204" pitchFamily="34" charset="0"/>
                        </a:rPr>
                        <a:t>**</a:t>
                      </a:r>
                      <a:endParaRPr lang="en-IN" sz="900" b="1" i="0" u="none" strike="noStrike">
                        <a:solidFill>
                          <a:srgbClr val="071D49"/>
                        </a:solidFill>
                        <a:effectLst/>
                        <a:latin typeface="+mn-lt"/>
                      </a:endParaRP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marL="57600" indent="0" algn="l" fontAlgn="b"/>
                      <a:r>
                        <a:rPr lang="en-US" sz="900" b="0" i="0" u="none" strike="noStrike">
                          <a:solidFill>
                            <a:srgbClr val="071D49"/>
                          </a:solidFill>
                          <a:effectLst/>
                          <a:latin typeface="+mn-lt"/>
                        </a:rPr>
                        <a:t>CREON Complete may help patients start and stay on track with their treatment.</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0040">
                <a:tc>
                  <a:txBody>
                    <a:bodyPr/>
                    <a:lstStyle/>
                    <a:p>
                      <a:pPr algn="ctr" fontAlgn="b"/>
                      <a:r>
                        <a:rPr lang="en-IN" sz="900" b="1" i="0" u="none" strike="noStrike">
                          <a:solidFill>
                            <a:srgbClr val="071D49"/>
                          </a:solidFill>
                          <a:effectLst/>
                          <a:latin typeface="+mn-lt"/>
                        </a:rPr>
                        <a:t>C6^</a:t>
                      </a:r>
                    </a:p>
                  </a:txBody>
                  <a:tcPr marL="36576" marR="0" marT="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marL="57600" indent="0" algn="l" fontAlgn="b"/>
                      <a:r>
                        <a:rPr lang="en-US" sz="900" b="0" i="0" u="none" strike="noStrike">
                          <a:solidFill>
                            <a:srgbClr val="071D49"/>
                          </a:solidFill>
                          <a:effectLst/>
                          <a:latin typeface="+mn-lt"/>
                        </a:rPr>
                        <a:t>Take CREON every meal, every snack, every day.</a:t>
                      </a:r>
                    </a:p>
                  </a:txBody>
                  <a:tcPr marL="635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916349197"/>
                  </a:ext>
                </a:extLst>
              </a:tr>
            </a:tbl>
          </a:graphicData>
        </a:graphic>
      </p:graphicFrame>
      <p:sp>
        <p:nvSpPr>
          <p:cNvPr id="26" name="Google Shape;1432;p35">
            <a:extLst>
              <a:ext uri="{FF2B5EF4-FFF2-40B4-BE49-F238E27FC236}">
                <a16:creationId xmlns:a16="http://schemas.microsoft.com/office/drawing/2014/main" id="{28E1CFD8-2004-C4DD-4F88-B5C56544CF4F}"/>
              </a:ext>
            </a:extLst>
          </p:cNvPr>
          <p:cNvSpPr txBox="1"/>
          <p:nvPr/>
        </p:nvSpPr>
        <p:spPr>
          <a:xfrm>
            <a:off x="928801" y="7125726"/>
            <a:ext cx="8190700"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^Full message text in speaker notes | No statistically significant (p&lt;.05) difference calculated due to low sample size | </a:t>
            </a:r>
            <a:r>
              <a:rPr kumimoji="0" lang="en-GB" sz="900" b="0" i="0" u="none" strike="noStrike" kern="0" cap="none" spc="0" normalizeH="0" baseline="0" noProof="0">
                <a:ln>
                  <a:noFill/>
                </a:ln>
                <a:solidFill>
                  <a:srgbClr val="001D49"/>
                </a:solidFill>
                <a:effectLst/>
                <a:uLnTx/>
                <a:uFillTx/>
                <a:latin typeface="Arial"/>
                <a:ea typeface="Calibri"/>
                <a:cs typeface="Calibri"/>
                <a:sym typeface="Calibri"/>
              </a:rPr>
              <a:t>Messages sorted in decreasing order of Effectiveness for CREON messages</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 |         denote wave averages for message effectiveness</a:t>
            </a:r>
          </a:p>
        </p:txBody>
      </p:sp>
      <p:sp>
        <p:nvSpPr>
          <p:cNvPr id="7" name="TextBox 6">
            <a:extLst>
              <a:ext uri="{FF2B5EF4-FFF2-40B4-BE49-F238E27FC236}">
                <a16:creationId xmlns:a16="http://schemas.microsoft.com/office/drawing/2014/main" id="{27873B41-8A3F-8821-EE2B-7DBD946E903A}"/>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11" name="Google Shape;763;p18">
            <a:extLst>
              <a:ext uri="{FF2B5EF4-FFF2-40B4-BE49-F238E27FC236}">
                <a16:creationId xmlns:a16="http://schemas.microsoft.com/office/drawing/2014/main" id="{8CA3BB32-AED1-7E4E-36D9-943BBDDFCD5E}"/>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9" name="Google Shape;1433;p35">
            <a:extLst>
              <a:ext uri="{FF2B5EF4-FFF2-40B4-BE49-F238E27FC236}">
                <a16:creationId xmlns:a16="http://schemas.microsoft.com/office/drawing/2014/main" id="{0872F6E3-B7F8-6BDC-1830-200C6DB9B73C}"/>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12" name="Google Shape;1583;p40">
            <a:extLst>
              <a:ext uri="{FF2B5EF4-FFF2-40B4-BE49-F238E27FC236}">
                <a16:creationId xmlns:a16="http://schemas.microsoft.com/office/drawing/2014/main" id="{0AAF3F45-6F92-5CF2-3168-887B82C1637A}"/>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Google Shape;1359;p33">
            <a:extLst>
              <a:ext uri="{FF2B5EF4-FFF2-40B4-BE49-F238E27FC236}">
                <a16:creationId xmlns:a16="http://schemas.microsoft.com/office/drawing/2014/main" id="{C617EEE0-A1FE-C7A6-6728-B2E9C82E8148}"/>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CREON (PCPs)</a:t>
            </a:r>
          </a:p>
        </p:txBody>
      </p:sp>
      <p:graphicFrame>
        <p:nvGraphicFramePr>
          <p:cNvPr id="8" name="PCPs ME">
            <a:extLst>
              <a:ext uri="{FF2B5EF4-FFF2-40B4-BE49-F238E27FC236}">
                <a16:creationId xmlns:a16="http://schemas.microsoft.com/office/drawing/2014/main" id="{685D7276-6C5F-23CD-B1FA-C308BF5BD511}"/>
              </a:ext>
            </a:extLst>
          </p:cNvPr>
          <p:cNvGraphicFramePr/>
          <p:nvPr>
            <p:custDataLst>
              <p:tags r:id="rId3"/>
            </p:custDataLst>
          </p:nvPr>
        </p:nvGraphicFramePr>
        <p:xfrm>
          <a:off x="4982412" y="1685873"/>
          <a:ext cx="4029889"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13" name="PCPs ME">
            <a:extLst>
              <a:ext uri="{FF2B5EF4-FFF2-40B4-BE49-F238E27FC236}">
                <a16:creationId xmlns:a16="http://schemas.microsoft.com/office/drawing/2014/main" id="{CC05B12F-20E2-F716-0D9C-D42BC628F9CA}"/>
              </a:ext>
            </a:extLst>
          </p:cNvPr>
          <p:cNvGraphicFramePr/>
          <p:nvPr>
            <p:custDataLst>
              <p:tags r:id="rId4"/>
            </p:custDataLst>
          </p:nvPr>
        </p:nvGraphicFramePr>
        <p:xfrm>
          <a:off x="4982412" y="2004983"/>
          <a:ext cx="4029889"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4" name="PCPs ME">
            <a:extLst>
              <a:ext uri="{FF2B5EF4-FFF2-40B4-BE49-F238E27FC236}">
                <a16:creationId xmlns:a16="http://schemas.microsoft.com/office/drawing/2014/main" id="{341E2998-2391-A6EA-6598-DF5EA75D8317}"/>
              </a:ext>
            </a:extLst>
          </p:cNvPr>
          <p:cNvGraphicFramePr/>
          <p:nvPr>
            <p:custDataLst>
              <p:tags r:id="rId5"/>
            </p:custDataLst>
          </p:nvPr>
        </p:nvGraphicFramePr>
        <p:xfrm>
          <a:off x="4982412" y="2324093"/>
          <a:ext cx="4029889"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5" name="PCPs ME">
            <a:extLst>
              <a:ext uri="{FF2B5EF4-FFF2-40B4-BE49-F238E27FC236}">
                <a16:creationId xmlns:a16="http://schemas.microsoft.com/office/drawing/2014/main" id="{50EC144B-105A-68C0-61EC-B5FAB6CFADD9}"/>
              </a:ext>
            </a:extLst>
          </p:cNvPr>
          <p:cNvGraphicFramePr/>
          <p:nvPr>
            <p:custDataLst>
              <p:tags r:id="rId6"/>
            </p:custDataLst>
          </p:nvPr>
        </p:nvGraphicFramePr>
        <p:xfrm>
          <a:off x="4982412" y="2643203"/>
          <a:ext cx="4029889"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6" name="PCPs ME">
            <a:extLst>
              <a:ext uri="{FF2B5EF4-FFF2-40B4-BE49-F238E27FC236}">
                <a16:creationId xmlns:a16="http://schemas.microsoft.com/office/drawing/2014/main" id="{93F337C4-34D5-A91C-E5E4-A3F0CFDDE4D2}"/>
              </a:ext>
            </a:extLst>
          </p:cNvPr>
          <p:cNvGraphicFramePr/>
          <p:nvPr>
            <p:custDataLst>
              <p:tags r:id="rId7"/>
            </p:custDataLst>
          </p:nvPr>
        </p:nvGraphicFramePr>
        <p:xfrm>
          <a:off x="4982412" y="2962313"/>
          <a:ext cx="4029889"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7" name="PCPs ME">
            <a:extLst>
              <a:ext uri="{FF2B5EF4-FFF2-40B4-BE49-F238E27FC236}">
                <a16:creationId xmlns:a16="http://schemas.microsoft.com/office/drawing/2014/main" id="{CF2A66C0-5D7A-8CF0-9199-7FA6858C5FE5}"/>
              </a:ext>
            </a:extLst>
          </p:cNvPr>
          <p:cNvGraphicFramePr/>
          <p:nvPr>
            <p:custDataLst>
              <p:tags r:id="rId8"/>
            </p:custDataLst>
          </p:nvPr>
        </p:nvGraphicFramePr>
        <p:xfrm>
          <a:off x="4982412" y="3281423"/>
          <a:ext cx="4029889"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8" name="PCPs ME">
            <a:extLst>
              <a:ext uri="{FF2B5EF4-FFF2-40B4-BE49-F238E27FC236}">
                <a16:creationId xmlns:a16="http://schemas.microsoft.com/office/drawing/2014/main" id="{7AC2A0D8-7877-5400-8C0A-C9E557B7EF20}"/>
              </a:ext>
            </a:extLst>
          </p:cNvPr>
          <p:cNvGraphicFramePr/>
          <p:nvPr>
            <p:custDataLst>
              <p:tags r:id="rId9"/>
            </p:custDataLst>
          </p:nvPr>
        </p:nvGraphicFramePr>
        <p:xfrm>
          <a:off x="4982412" y="3600533"/>
          <a:ext cx="4029889"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9" name="PCPs ME">
            <a:extLst>
              <a:ext uri="{FF2B5EF4-FFF2-40B4-BE49-F238E27FC236}">
                <a16:creationId xmlns:a16="http://schemas.microsoft.com/office/drawing/2014/main" id="{9C48F283-6BCC-6A8F-E133-45777F0DD9E6}"/>
              </a:ext>
            </a:extLst>
          </p:cNvPr>
          <p:cNvGraphicFramePr/>
          <p:nvPr>
            <p:custDataLst>
              <p:tags r:id="rId10"/>
            </p:custDataLst>
          </p:nvPr>
        </p:nvGraphicFramePr>
        <p:xfrm>
          <a:off x="4982412" y="3919643"/>
          <a:ext cx="4029889"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0" name="PCPs ME">
            <a:extLst>
              <a:ext uri="{FF2B5EF4-FFF2-40B4-BE49-F238E27FC236}">
                <a16:creationId xmlns:a16="http://schemas.microsoft.com/office/drawing/2014/main" id="{763E6D86-DC61-C4C8-1D3B-60FC0EBF06D2}"/>
              </a:ext>
            </a:extLst>
          </p:cNvPr>
          <p:cNvGraphicFramePr/>
          <p:nvPr>
            <p:custDataLst>
              <p:tags r:id="rId11"/>
            </p:custDataLst>
          </p:nvPr>
        </p:nvGraphicFramePr>
        <p:xfrm>
          <a:off x="4982412" y="4238753"/>
          <a:ext cx="4029889"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1" name="PCPs ME">
            <a:extLst>
              <a:ext uri="{FF2B5EF4-FFF2-40B4-BE49-F238E27FC236}">
                <a16:creationId xmlns:a16="http://schemas.microsoft.com/office/drawing/2014/main" id="{97C25134-5FE8-0692-7A61-9454EBBB8CE8}"/>
              </a:ext>
            </a:extLst>
          </p:cNvPr>
          <p:cNvGraphicFramePr/>
          <p:nvPr>
            <p:custDataLst>
              <p:tags r:id="rId12"/>
            </p:custDataLst>
          </p:nvPr>
        </p:nvGraphicFramePr>
        <p:xfrm>
          <a:off x="4982412" y="4557863"/>
          <a:ext cx="4029889"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2" name="PCPs ME">
            <a:extLst>
              <a:ext uri="{FF2B5EF4-FFF2-40B4-BE49-F238E27FC236}">
                <a16:creationId xmlns:a16="http://schemas.microsoft.com/office/drawing/2014/main" id="{DF427025-8DC8-DC25-3861-5804E138D748}"/>
              </a:ext>
            </a:extLst>
          </p:cNvPr>
          <p:cNvGraphicFramePr/>
          <p:nvPr>
            <p:custDataLst>
              <p:tags r:id="rId13"/>
            </p:custDataLst>
          </p:nvPr>
        </p:nvGraphicFramePr>
        <p:xfrm>
          <a:off x="4982412" y="4876973"/>
          <a:ext cx="4029889"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3" name="PCPs ME">
            <a:extLst>
              <a:ext uri="{FF2B5EF4-FFF2-40B4-BE49-F238E27FC236}">
                <a16:creationId xmlns:a16="http://schemas.microsoft.com/office/drawing/2014/main" id="{1F2A03B3-72B4-769D-453A-A743F9412022}"/>
              </a:ext>
            </a:extLst>
          </p:cNvPr>
          <p:cNvGraphicFramePr/>
          <p:nvPr>
            <p:custDataLst>
              <p:tags r:id="rId14"/>
            </p:custDataLst>
          </p:nvPr>
        </p:nvGraphicFramePr>
        <p:xfrm>
          <a:off x="4982412" y="5196083"/>
          <a:ext cx="4029889" cy="3312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10" name="PCPs ME">
            <a:extLst>
              <a:ext uri="{FF2B5EF4-FFF2-40B4-BE49-F238E27FC236}">
                <a16:creationId xmlns:a16="http://schemas.microsoft.com/office/drawing/2014/main" id="{677F8EB9-97BD-8CC8-C729-8CDBB1C93BDD}"/>
              </a:ext>
            </a:extLst>
          </p:cNvPr>
          <p:cNvGraphicFramePr/>
          <p:nvPr>
            <p:custDataLst>
              <p:tags r:id="rId15"/>
            </p:custDataLst>
          </p:nvPr>
        </p:nvGraphicFramePr>
        <p:xfrm>
          <a:off x="4982412" y="5515193"/>
          <a:ext cx="4029889" cy="331200"/>
        </p:xfrm>
        <a:graphic>
          <a:graphicData uri="http://schemas.openxmlformats.org/drawingml/2006/chart">
            <c:chart xmlns:c="http://schemas.openxmlformats.org/drawingml/2006/chart" xmlns:r="http://schemas.openxmlformats.org/officeDocument/2006/relationships" r:id="rId30"/>
          </a:graphicData>
        </a:graphic>
      </p:graphicFrame>
      <p:sp>
        <p:nvSpPr>
          <p:cNvPr id="27" name="Google Shape;1432;p35">
            <a:extLst>
              <a:ext uri="{FF2B5EF4-FFF2-40B4-BE49-F238E27FC236}">
                <a16:creationId xmlns:a16="http://schemas.microsoft.com/office/drawing/2014/main" id="{9E0C1595-9709-A8E8-D324-8331B275FC18}"/>
              </a:ext>
            </a:extLst>
          </p:cNvPr>
          <p:cNvSpPr txBox="1"/>
          <p:nvPr/>
        </p:nvSpPr>
        <p:spPr>
          <a:xfrm>
            <a:off x="190500" y="5958416"/>
            <a:ext cx="8929001"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*Full message text in speaker notes | No statistically significant (p&lt;.05) difference calculated due to low sample size | Messages sorted in decreasing order of Effectiveness for CREON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Tree>
    <p:extLst>
      <p:ext uri="{BB962C8B-B14F-4D97-AF65-F5344CB8AC3E}">
        <p14:creationId xmlns:p14="http://schemas.microsoft.com/office/powerpoint/2010/main" val="3930882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1414">
          <a:extLst>
            <a:ext uri="{FF2B5EF4-FFF2-40B4-BE49-F238E27FC236}">
              <a16:creationId xmlns:a16="http://schemas.microsoft.com/office/drawing/2014/main" id="{DB4ED3BC-8165-D8EA-2119-E3019E0931F5}"/>
            </a:ext>
          </a:extLst>
        </p:cNvPr>
        <p:cNvGrpSpPr/>
        <p:nvPr/>
      </p:nvGrpSpPr>
      <p:grpSpPr>
        <a:xfrm>
          <a:off x="0" y="0"/>
          <a:ext cx="0" cy="0"/>
          <a:chOff x="0" y="0"/>
          <a:chExt cx="0" cy="0"/>
        </a:xfrm>
      </p:grpSpPr>
      <p:graphicFrame>
        <p:nvGraphicFramePr>
          <p:cNvPr id="3" name="wave table OCQ">
            <a:extLst>
              <a:ext uri="{FF2B5EF4-FFF2-40B4-BE49-F238E27FC236}">
                <a16:creationId xmlns:a16="http://schemas.microsoft.com/office/drawing/2014/main" id="{DB7894E1-8543-43B5-69B7-966E9970F7C0}"/>
              </a:ext>
            </a:extLst>
          </p:cNvPr>
          <p:cNvGraphicFramePr>
            <a:graphicFrameLocks noGrp="1"/>
          </p:cNvGraphicFramePr>
          <p:nvPr>
            <p:custDataLst>
              <p:tags r:id="rId1"/>
            </p:custDataLst>
          </p:nvPr>
        </p:nvGraphicFramePr>
        <p:xfrm>
          <a:off x="4991181" y="1464919"/>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1415" name="Google Shape;1415;p35">
            <a:extLst>
              <a:ext uri="{FF2B5EF4-FFF2-40B4-BE49-F238E27FC236}">
                <a16:creationId xmlns:a16="http://schemas.microsoft.com/office/drawing/2014/main" id="{587F31AD-11CE-C74E-9C44-9E78768ED765}"/>
              </a:ext>
            </a:extLst>
          </p:cNvPr>
          <p:cNvSpPr/>
          <p:nvPr/>
        </p:nvSpPr>
        <p:spPr>
          <a:xfrm>
            <a:off x="299460" y="798148"/>
            <a:ext cx="7821181"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36729C"/>
                </a:solidFill>
                <a:effectLst/>
                <a:uLnTx/>
                <a:uFillTx/>
                <a:latin typeface="Arial"/>
                <a:ea typeface="Calibri"/>
                <a:cs typeface="Calibri"/>
                <a:sym typeface="Calibri"/>
              </a:rPr>
              <a:t>CREON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(NP/PA</a:t>
            </a:r>
            <a:r>
              <a:rPr kumimoji="0" lang="en-US" sz="1400" b="1"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1400" b="0" i="0" u="sng"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25</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23</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May’25 – Jun’25: n = 27</a:t>
            </a:r>
            <a:r>
              <a:rPr kumimoji="0" lang="en-US" sz="800" b="0" i="0" u="sng"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Jul’25 – Aug’25: n = 30</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33</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Nov’25 – Dec’25: n = 38</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1418" name="NPPA_C_ME_TABLE">
            <a:extLst>
              <a:ext uri="{FF2B5EF4-FFF2-40B4-BE49-F238E27FC236}">
                <a16:creationId xmlns:a16="http://schemas.microsoft.com/office/drawing/2014/main" id="{14BD4084-11E1-875B-FC86-B9EB4F490BD2}"/>
              </a:ext>
            </a:extLst>
          </p:cNvPr>
          <p:cNvGraphicFramePr/>
          <p:nvPr>
            <p:custDataLst>
              <p:tags r:id="rId2"/>
            </p:custDataLst>
          </p:nvPr>
        </p:nvGraphicFramePr>
        <p:xfrm>
          <a:off x="24500" y="1685873"/>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C9^</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significantly improves fat absorption compared with placebo in randomized clinical trials of patients with EPI due to CF, CP, or pancreatectomy.</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C3</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Exocrine Pancreatic Insufficiency (EPI) is under-recognized and can have an impact on nutritional health and quality of life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0040">
                <a:tc>
                  <a:txBody>
                    <a:bodyPr/>
                    <a:lstStyle/>
                    <a:p>
                      <a:pPr algn="ctr" fontAlgn="ctr"/>
                      <a:r>
                        <a:rPr lang="en-IN" sz="900" b="1" i="0" u="none" strike="noStrike">
                          <a:solidFill>
                            <a:srgbClr val="071D49"/>
                          </a:solidFill>
                          <a:effectLst/>
                          <a:latin typeface="Arial" panose="020B0604020202020204" pitchFamily="34" charset="0"/>
                        </a:rPr>
                        <a:t>C10</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is the #1 PERT prescribed by Gastroenterologists, Primary Care Physicians, Nurse Practitioners and Physician Assistants.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0040">
                <a:tc>
                  <a:txBody>
                    <a:bodyPr/>
                    <a:lstStyle/>
                    <a:p>
                      <a:pPr algn="ctr" fontAlgn="ctr"/>
                      <a:r>
                        <a:rPr lang="en-IN" sz="900" b="1" i="0" u="none" strike="noStrike">
                          <a:solidFill>
                            <a:srgbClr val="071D49"/>
                          </a:solidFill>
                          <a:effectLst/>
                          <a:latin typeface="Arial" panose="020B0604020202020204" pitchFamily="34" charset="0"/>
                        </a:rPr>
                        <a:t>C19</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is the only PERT specifically studied for patients with EPI due to chronic pancreatitis and pancreatectomy, in addition to cystic fibrosis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0040">
                <a:tc>
                  <a:txBody>
                    <a:bodyPr/>
                    <a:lstStyle/>
                    <a:p>
                      <a:pPr algn="ctr" fontAlgn="ctr"/>
                      <a:r>
                        <a:rPr lang="en-IN" sz="900" b="1" i="0" u="none" strike="noStrike">
                          <a:solidFill>
                            <a:srgbClr val="071D49"/>
                          </a:solidFill>
                          <a:effectLst/>
                          <a:latin typeface="Arial" panose="020B0604020202020204" pitchFamily="34" charset="0"/>
                        </a:rPr>
                        <a:t>C4</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EPI is largely a clinical diagnosis based on signs and symptoms and should be considered as part of the differential diagnosis of GI symptoms.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0040">
                <a:tc>
                  <a:txBody>
                    <a:bodyPr/>
                    <a:lstStyle/>
                    <a:p>
                      <a:pPr algn="ctr" fontAlgn="ctr"/>
                      <a:r>
                        <a:rPr lang="en-IN" sz="900" b="1" i="0" u="none" strike="noStrike">
                          <a:solidFill>
                            <a:srgbClr val="071D49"/>
                          </a:solidFill>
                          <a:effectLst/>
                          <a:latin typeface="Arial" panose="020B0604020202020204" pitchFamily="34" charset="0"/>
                        </a:rPr>
                        <a:t>C20**</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Significant experience, exceptional patient support, and excellent coverage make CREON a proven partner for patients with EPl.</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0040">
                <a:tc>
                  <a:txBody>
                    <a:bodyPr/>
                    <a:lstStyle/>
                    <a:p>
                      <a:pPr algn="ctr" fontAlgn="ctr"/>
                      <a:r>
                        <a:rPr lang="en-IN" sz="900" b="1" i="0" u="none" strike="noStrike">
                          <a:solidFill>
                            <a:srgbClr val="071D49"/>
                          </a:solidFill>
                          <a:effectLst/>
                          <a:latin typeface="Arial" panose="020B0604020202020204" pitchFamily="34" charset="0"/>
                        </a:rPr>
                        <a:t>C11^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95% of commercially eligible patients pay $5 or less for their CREON prescription with the CREON Complete Savings card.</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0040">
                <a:tc>
                  <a:txBody>
                    <a:bodyPr/>
                    <a:lstStyle/>
                    <a:p>
                      <a:pPr algn="ctr" fontAlgn="ctr"/>
                      <a:r>
                        <a:rPr lang="en-IN" sz="900" b="1" i="0" u="none" strike="noStrike">
                          <a:solidFill>
                            <a:srgbClr val="071D49"/>
                          </a:solidFill>
                          <a:effectLst/>
                          <a:latin typeface="Arial" panose="020B0604020202020204" pitchFamily="34" charset="0"/>
                        </a:rPr>
                        <a:t>C21**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CREON Complete may help patients start and stay on track with their treatment.</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0040">
                <a:tc>
                  <a:txBody>
                    <a:bodyPr/>
                    <a:lstStyle/>
                    <a:p>
                      <a:pPr algn="ctr" fontAlgn="ctr"/>
                      <a:r>
                        <a:rPr lang="en-IN" sz="900" b="1" i="0" u="none" strike="noStrike">
                          <a:solidFill>
                            <a:srgbClr val="071D49"/>
                          </a:solidFill>
                          <a:effectLst/>
                          <a:latin typeface="Arial" panose="020B0604020202020204" pitchFamily="34" charset="0"/>
                        </a:rPr>
                        <a:t>C17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More than 8 out of 10 GEs and PCPs prescribe CREON more than other PERTs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0040">
                <a:tc>
                  <a:txBody>
                    <a:bodyPr/>
                    <a:lstStyle/>
                    <a:p>
                      <a:pPr algn="ctr" fontAlgn="ctr"/>
                      <a:r>
                        <a:rPr lang="en-IN" sz="900" b="1" i="0" u="none" strike="noStrike">
                          <a:solidFill>
                            <a:srgbClr val="071D49"/>
                          </a:solidFill>
                          <a:effectLst/>
                          <a:latin typeface="Arial" panose="020B0604020202020204" pitchFamily="34" charset="0"/>
                        </a:rPr>
                        <a:t>C6^</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Take CREON every meal, every snack, every day.</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0040">
                <a:tc>
                  <a:txBody>
                    <a:bodyPr/>
                    <a:lstStyle/>
                    <a:p>
                      <a:pPr algn="ctr" fontAlgn="ctr"/>
                      <a:r>
                        <a:rPr lang="en-IN" sz="900" b="1" i="0" u="none" strike="noStrike">
                          <a:solidFill>
                            <a:srgbClr val="071D49"/>
                          </a:solidFill>
                          <a:effectLst/>
                          <a:latin typeface="Arial" panose="020B0604020202020204" pitchFamily="34" charset="0"/>
                        </a:rPr>
                        <a:t>C1^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maintains category leading coverage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0040">
                <a:tc>
                  <a:txBody>
                    <a:bodyPr/>
                    <a:lstStyle/>
                    <a:p>
                      <a:pPr algn="ctr" fontAlgn="ctr"/>
                      <a:r>
                        <a:rPr lang="en-IN" sz="900" b="1" i="0" u="none" strike="noStrike">
                          <a:solidFill>
                            <a:srgbClr val="071D49"/>
                          </a:solidFill>
                          <a:effectLst/>
                          <a:latin typeface="Arial" panose="020B0604020202020204" pitchFamily="34" charset="0"/>
                        </a:rPr>
                        <a:t>C22**</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71% of CREON Medicare Part D patients paid less than $30 in 2024.</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0040">
                <a:tc>
                  <a:txBody>
                    <a:bodyPr/>
                    <a:lstStyle/>
                    <a:p>
                      <a:pPr algn="ctr" fontAlgn="ctr"/>
                      <a:r>
                        <a:rPr lang="en-IN" sz="900" b="1" i="0" u="none" strike="noStrike">
                          <a:solidFill>
                            <a:srgbClr val="071D49"/>
                          </a:solidFill>
                          <a:effectLst/>
                          <a:latin typeface="Arial" panose="020B0604020202020204" pitchFamily="34" charset="0"/>
                        </a:rPr>
                        <a:t>C7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CREON 36K capsules can be an appropriate dose for many adults.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566672650"/>
                  </a:ext>
                </a:extLst>
              </a:tr>
            </a:tbl>
          </a:graphicData>
        </a:graphic>
      </p:graphicFrame>
      <p:sp>
        <p:nvSpPr>
          <p:cNvPr id="68" name="Google Shape;1433;p35">
            <a:extLst>
              <a:ext uri="{FF2B5EF4-FFF2-40B4-BE49-F238E27FC236}">
                <a16:creationId xmlns:a16="http://schemas.microsoft.com/office/drawing/2014/main" id="{8E9E7FB2-9A9E-DE2B-DBEC-FA6C1ABFBD4F}"/>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7" name="TextBox 6">
            <a:extLst>
              <a:ext uri="{FF2B5EF4-FFF2-40B4-BE49-F238E27FC236}">
                <a16:creationId xmlns:a16="http://schemas.microsoft.com/office/drawing/2014/main" id="{82D5A5A5-E5A4-F8ED-7233-1C04907663D6}"/>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11" name="Google Shape;763;p18">
            <a:extLst>
              <a:ext uri="{FF2B5EF4-FFF2-40B4-BE49-F238E27FC236}">
                <a16:creationId xmlns:a16="http://schemas.microsoft.com/office/drawing/2014/main" id="{D906A245-8078-C48C-C361-5694F99C1DDD}"/>
              </a:ext>
            </a:extLst>
          </p:cNvPr>
          <p:cNvSpPr/>
          <p:nvPr/>
        </p:nvSpPr>
        <p:spPr>
          <a:xfrm>
            <a:off x="3676146" y="668406"/>
            <a:ext cx="5337027" cy="215403"/>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1" u="none" strike="noStrike" kern="0" cap="none" spc="0" normalizeH="0" baseline="0" noProof="0">
                <a:ln>
                  <a:noFill/>
                </a:ln>
                <a:solidFill>
                  <a:srgbClr val="000000"/>
                </a:solidFill>
                <a:effectLst/>
                <a:uLnTx/>
                <a:uFillTx/>
                <a:latin typeface="Arial"/>
                <a:ea typeface="+mn-ea"/>
                <a:cs typeface="Calibri" panose="020F0502020204030204" pitchFamily="34" charset="0"/>
                <a:sym typeface="Arial"/>
              </a:rPr>
              <a:t>Note: C16 message replaced by C19 message in Mar’24 – Apr’24, C18message was discontinued</a:t>
            </a:r>
          </a:p>
        </p:txBody>
      </p:sp>
      <p:sp>
        <p:nvSpPr>
          <p:cNvPr id="5" name="Google Shape;1583;p40">
            <a:extLst>
              <a:ext uri="{FF2B5EF4-FFF2-40B4-BE49-F238E27FC236}">
                <a16:creationId xmlns:a16="http://schemas.microsoft.com/office/drawing/2014/main" id="{C177C507-32B2-9558-98DA-00F5FA7C0037}"/>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6" name="Google Shape;1359;p33">
            <a:extLst>
              <a:ext uri="{FF2B5EF4-FFF2-40B4-BE49-F238E27FC236}">
                <a16:creationId xmlns:a16="http://schemas.microsoft.com/office/drawing/2014/main" id="{70ADFD11-8522-7120-84C2-A554D052C741}"/>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CREON (NP/PAs)</a:t>
            </a:r>
          </a:p>
        </p:txBody>
      </p:sp>
      <p:graphicFrame>
        <p:nvGraphicFramePr>
          <p:cNvPr id="2" name="NPPA ME">
            <a:extLst>
              <a:ext uri="{FF2B5EF4-FFF2-40B4-BE49-F238E27FC236}">
                <a16:creationId xmlns:a16="http://schemas.microsoft.com/office/drawing/2014/main" id="{2C69E8B1-5F67-1107-86E4-70B88B51A7D3}"/>
              </a:ext>
            </a:extLst>
          </p:cNvPr>
          <p:cNvGraphicFramePr/>
          <p:nvPr>
            <p:custDataLst>
              <p:tags r:id="rId3"/>
            </p:custDataLst>
          </p:nvPr>
        </p:nvGraphicFramePr>
        <p:xfrm>
          <a:off x="4982412" y="1685873"/>
          <a:ext cx="4029889" cy="3384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8" name="NPPA ME">
            <a:extLst>
              <a:ext uri="{FF2B5EF4-FFF2-40B4-BE49-F238E27FC236}">
                <a16:creationId xmlns:a16="http://schemas.microsoft.com/office/drawing/2014/main" id="{FE234BB1-6110-57BE-FE94-F29918FB7280}"/>
              </a:ext>
            </a:extLst>
          </p:cNvPr>
          <p:cNvGraphicFramePr/>
          <p:nvPr>
            <p:custDataLst>
              <p:tags r:id="rId4"/>
            </p:custDataLst>
          </p:nvPr>
        </p:nvGraphicFramePr>
        <p:xfrm>
          <a:off x="4982412" y="2004383"/>
          <a:ext cx="4029889" cy="3384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9" name="NPPA ME">
            <a:extLst>
              <a:ext uri="{FF2B5EF4-FFF2-40B4-BE49-F238E27FC236}">
                <a16:creationId xmlns:a16="http://schemas.microsoft.com/office/drawing/2014/main" id="{1673F805-B703-C402-ED05-08AEA44B3C30}"/>
              </a:ext>
            </a:extLst>
          </p:cNvPr>
          <p:cNvGraphicFramePr/>
          <p:nvPr>
            <p:custDataLst>
              <p:tags r:id="rId5"/>
            </p:custDataLst>
          </p:nvPr>
        </p:nvGraphicFramePr>
        <p:xfrm>
          <a:off x="4982412" y="2322893"/>
          <a:ext cx="4029889" cy="3384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2" name="NPPA ME">
            <a:extLst>
              <a:ext uri="{FF2B5EF4-FFF2-40B4-BE49-F238E27FC236}">
                <a16:creationId xmlns:a16="http://schemas.microsoft.com/office/drawing/2014/main" id="{71448BC5-7EF8-1930-CB53-4609D7B0FDA4}"/>
              </a:ext>
            </a:extLst>
          </p:cNvPr>
          <p:cNvGraphicFramePr/>
          <p:nvPr>
            <p:custDataLst>
              <p:tags r:id="rId6"/>
            </p:custDataLst>
          </p:nvPr>
        </p:nvGraphicFramePr>
        <p:xfrm>
          <a:off x="4982412" y="2641403"/>
          <a:ext cx="4029889" cy="3384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 name="NPPA ME">
            <a:extLst>
              <a:ext uri="{FF2B5EF4-FFF2-40B4-BE49-F238E27FC236}">
                <a16:creationId xmlns:a16="http://schemas.microsoft.com/office/drawing/2014/main" id="{E2D60E57-A1F7-859B-7642-DE283DF1D753}"/>
              </a:ext>
            </a:extLst>
          </p:cNvPr>
          <p:cNvGraphicFramePr/>
          <p:nvPr>
            <p:custDataLst>
              <p:tags r:id="rId7"/>
            </p:custDataLst>
          </p:nvPr>
        </p:nvGraphicFramePr>
        <p:xfrm>
          <a:off x="4982412" y="2959913"/>
          <a:ext cx="4029889" cy="3384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4" name="NPPA ME">
            <a:extLst>
              <a:ext uri="{FF2B5EF4-FFF2-40B4-BE49-F238E27FC236}">
                <a16:creationId xmlns:a16="http://schemas.microsoft.com/office/drawing/2014/main" id="{9A0C8449-40B9-2992-EF0A-A507F81D64FC}"/>
              </a:ext>
            </a:extLst>
          </p:cNvPr>
          <p:cNvGraphicFramePr/>
          <p:nvPr>
            <p:custDataLst>
              <p:tags r:id="rId8"/>
            </p:custDataLst>
          </p:nvPr>
        </p:nvGraphicFramePr>
        <p:xfrm>
          <a:off x="4982412" y="3278423"/>
          <a:ext cx="4029889" cy="3384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NPPA ME">
            <a:extLst>
              <a:ext uri="{FF2B5EF4-FFF2-40B4-BE49-F238E27FC236}">
                <a16:creationId xmlns:a16="http://schemas.microsoft.com/office/drawing/2014/main" id="{D8D110C3-B17E-1A1D-F485-5A19DE8DD603}"/>
              </a:ext>
            </a:extLst>
          </p:cNvPr>
          <p:cNvGraphicFramePr/>
          <p:nvPr>
            <p:custDataLst>
              <p:tags r:id="rId9"/>
            </p:custDataLst>
          </p:nvPr>
        </p:nvGraphicFramePr>
        <p:xfrm>
          <a:off x="4982412" y="3596933"/>
          <a:ext cx="4029889" cy="3384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6" name="NPPA ME">
            <a:extLst>
              <a:ext uri="{FF2B5EF4-FFF2-40B4-BE49-F238E27FC236}">
                <a16:creationId xmlns:a16="http://schemas.microsoft.com/office/drawing/2014/main" id="{E46A7742-87E0-7261-8A11-10728FEBEC61}"/>
              </a:ext>
            </a:extLst>
          </p:cNvPr>
          <p:cNvGraphicFramePr/>
          <p:nvPr>
            <p:custDataLst>
              <p:tags r:id="rId10"/>
            </p:custDataLst>
          </p:nvPr>
        </p:nvGraphicFramePr>
        <p:xfrm>
          <a:off x="4982412" y="3915443"/>
          <a:ext cx="4029889" cy="3384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7" name="NPPA ME">
            <a:extLst>
              <a:ext uri="{FF2B5EF4-FFF2-40B4-BE49-F238E27FC236}">
                <a16:creationId xmlns:a16="http://schemas.microsoft.com/office/drawing/2014/main" id="{528226CD-8B70-B15B-0457-3615F855410A}"/>
              </a:ext>
            </a:extLst>
          </p:cNvPr>
          <p:cNvGraphicFramePr/>
          <p:nvPr>
            <p:custDataLst>
              <p:tags r:id="rId11"/>
            </p:custDataLst>
          </p:nvPr>
        </p:nvGraphicFramePr>
        <p:xfrm>
          <a:off x="4982412" y="4233953"/>
          <a:ext cx="4029889" cy="3384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8" name="NPPA ME">
            <a:extLst>
              <a:ext uri="{FF2B5EF4-FFF2-40B4-BE49-F238E27FC236}">
                <a16:creationId xmlns:a16="http://schemas.microsoft.com/office/drawing/2014/main" id="{5028F642-A3AA-0788-3374-CE1C9B158EC3}"/>
              </a:ext>
            </a:extLst>
          </p:cNvPr>
          <p:cNvGraphicFramePr/>
          <p:nvPr>
            <p:custDataLst>
              <p:tags r:id="rId12"/>
            </p:custDataLst>
          </p:nvPr>
        </p:nvGraphicFramePr>
        <p:xfrm>
          <a:off x="4982412" y="4552463"/>
          <a:ext cx="4029889" cy="3384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9" name="NPPA ME">
            <a:extLst>
              <a:ext uri="{FF2B5EF4-FFF2-40B4-BE49-F238E27FC236}">
                <a16:creationId xmlns:a16="http://schemas.microsoft.com/office/drawing/2014/main" id="{A4567FF6-7887-D579-909D-14C8E6B34278}"/>
              </a:ext>
            </a:extLst>
          </p:cNvPr>
          <p:cNvGraphicFramePr/>
          <p:nvPr>
            <p:custDataLst>
              <p:tags r:id="rId13"/>
            </p:custDataLst>
          </p:nvPr>
        </p:nvGraphicFramePr>
        <p:xfrm>
          <a:off x="4982412" y="4870973"/>
          <a:ext cx="4029889" cy="3384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0" name="NPPA ME">
            <a:extLst>
              <a:ext uri="{FF2B5EF4-FFF2-40B4-BE49-F238E27FC236}">
                <a16:creationId xmlns:a16="http://schemas.microsoft.com/office/drawing/2014/main" id="{5A89FD04-6F61-3D44-ABF0-24DAB30E6460}"/>
              </a:ext>
            </a:extLst>
          </p:cNvPr>
          <p:cNvGraphicFramePr/>
          <p:nvPr>
            <p:custDataLst>
              <p:tags r:id="rId14"/>
            </p:custDataLst>
          </p:nvPr>
        </p:nvGraphicFramePr>
        <p:xfrm>
          <a:off x="4982412" y="5189483"/>
          <a:ext cx="4029889" cy="3384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22" name="NPPA ME">
            <a:extLst>
              <a:ext uri="{FF2B5EF4-FFF2-40B4-BE49-F238E27FC236}">
                <a16:creationId xmlns:a16="http://schemas.microsoft.com/office/drawing/2014/main" id="{C9BC29CB-0106-D5FA-54B8-D405AEE4A2B9}"/>
              </a:ext>
            </a:extLst>
          </p:cNvPr>
          <p:cNvGraphicFramePr/>
          <p:nvPr>
            <p:custDataLst>
              <p:tags r:id="rId15"/>
            </p:custDataLst>
          </p:nvPr>
        </p:nvGraphicFramePr>
        <p:xfrm>
          <a:off x="4982412" y="5507993"/>
          <a:ext cx="4029889" cy="338400"/>
        </p:xfrm>
        <a:graphic>
          <a:graphicData uri="http://schemas.openxmlformats.org/drawingml/2006/chart">
            <c:chart xmlns:c="http://schemas.openxmlformats.org/drawingml/2006/chart" xmlns:r="http://schemas.openxmlformats.org/officeDocument/2006/relationships" r:id="rId30"/>
          </a:graphicData>
        </a:graphic>
      </p:graphicFrame>
      <p:sp>
        <p:nvSpPr>
          <p:cNvPr id="24" name="Google Shape;1432;p35">
            <a:extLst>
              <a:ext uri="{FF2B5EF4-FFF2-40B4-BE49-F238E27FC236}">
                <a16:creationId xmlns:a16="http://schemas.microsoft.com/office/drawing/2014/main" id="{73C5978A-11FB-6296-F3BC-737031A88803}"/>
              </a:ext>
            </a:extLst>
          </p:cNvPr>
          <p:cNvSpPr txBox="1"/>
          <p:nvPr/>
        </p:nvSpPr>
        <p:spPr>
          <a:xfrm>
            <a:off x="190500" y="5958416"/>
            <a:ext cx="8929001"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*Full message text in speaker notes | No statistically significant (p&lt;.05) difference calculated due to low sample size | Messages sorted in decreasing order of Effectiveness for CREON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messages added in W32: C20, C21, C22 | ^Messages Edited in W32: C1, C6, C9, C11</a:t>
            </a:r>
            <a:endParaRPr kumimoji="0" lang="en-US" sz="9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Tree>
    <p:extLst>
      <p:ext uri="{BB962C8B-B14F-4D97-AF65-F5344CB8AC3E}">
        <p14:creationId xmlns:p14="http://schemas.microsoft.com/office/powerpoint/2010/main" val="41658157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1442"/>
        <p:cNvGrpSpPr/>
        <p:nvPr/>
      </p:nvGrpSpPr>
      <p:grpSpPr>
        <a:xfrm>
          <a:off x="0" y="0"/>
          <a:ext cx="0" cy="0"/>
          <a:chOff x="0" y="0"/>
          <a:chExt cx="0" cy="0"/>
        </a:xfrm>
      </p:grpSpPr>
      <p:sp>
        <p:nvSpPr>
          <p:cNvPr id="3" name="Google Shape;1415;p35">
            <a:extLst>
              <a:ext uri="{FF2B5EF4-FFF2-40B4-BE49-F238E27FC236}">
                <a16:creationId xmlns:a16="http://schemas.microsoft.com/office/drawing/2014/main" id="{A6B562D0-F1E6-2B22-8740-A025B114112E}"/>
              </a:ext>
            </a:extLst>
          </p:cNvPr>
          <p:cNvSpPr/>
          <p:nvPr/>
        </p:nvSpPr>
        <p:spPr>
          <a:xfrm>
            <a:off x="100796" y="752779"/>
            <a:ext cx="8264214" cy="45906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A58ADA"/>
                </a:solidFill>
                <a:effectLst/>
                <a:uLnTx/>
                <a:uFillTx/>
                <a:latin typeface="Arial"/>
                <a:ea typeface="Calibri"/>
                <a:cs typeface="Calibri"/>
                <a:sym typeface="Calibri"/>
              </a:rPr>
              <a:t>ZENPEP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(Gastros)</a:t>
            </a:r>
            <a:endParaRPr kumimoji="0" lang="en-IN" sz="1400" b="0" i="0" u="none"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58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67 |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May’25 – Jun’25: n = 62 | Jul’24 – Aug’24: n = 61</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59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Nov’25 – Dec’25: n = 48)</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33" name="Z_Gastro_ME_TABLE">
            <a:extLst>
              <a:ext uri="{FF2B5EF4-FFF2-40B4-BE49-F238E27FC236}">
                <a16:creationId xmlns:a16="http://schemas.microsoft.com/office/drawing/2014/main" id="{4E1F17CD-7053-C971-43BA-E26DFF5B7E50}"/>
              </a:ext>
            </a:extLst>
          </p:cNvPr>
          <p:cNvGraphicFramePr/>
          <p:nvPr>
            <p:custDataLst>
              <p:tags r:id="rId1"/>
            </p:custDataLst>
          </p:nvPr>
        </p:nvGraphicFramePr>
        <p:xfrm>
          <a:off x="24500" y="1685311"/>
          <a:ext cx="4685203" cy="4160520"/>
        </p:xfrm>
        <a:graphic>
          <a:graphicData uri="http://schemas.openxmlformats.org/drawingml/2006/table">
            <a:tbl>
              <a:tblPr>
                <a:noFill/>
              </a:tblPr>
              <a:tblGrid>
                <a:gridCol w="341986">
                  <a:extLst>
                    <a:ext uri="{9D8B030D-6E8A-4147-A177-3AD203B41FA5}">
                      <a16:colId xmlns:a16="http://schemas.microsoft.com/office/drawing/2014/main" val="20000"/>
                    </a:ext>
                  </a:extLst>
                </a:gridCol>
                <a:gridCol w="4343217">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Z17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Only ZENPEP offers 40k and 60k lipase-unit capsules, which may help reduce the number of pills your adult patients need to take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Z16</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offers a single-capsule starting dose for almost all adult patients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0040">
                <a:tc>
                  <a:txBody>
                    <a:bodyPr/>
                    <a:lstStyle/>
                    <a:p>
                      <a:pPr algn="ctr" fontAlgn="ctr"/>
                      <a:r>
                        <a:rPr lang="en-IN" sz="900" b="1" i="0" u="none" strike="noStrike">
                          <a:solidFill>
                            <a:srgbClr val="071D49"/>
                          </a:solidFill>
                          <a:effectLst/>
                          <a:latin typeface="Arial" panose="020B0604020202020204" pitchFamily="34" charset="0"/>
                        </a:rPr>
                        <a:t>Z19</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Meets the ACG guideline for EPI and CP in a single capsule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0040">
                <a:tc>
                  <a:txBody>
                    <a:bodyPr/>
                    <a:lstStyle/>
                    <a:p>
                      <a:pPr algn="ctr" fontAlgn="ctr"/>
                      <a:r>
                        <a:rPr lang="en-IN" sz="900" b="1" i="0" u="none" strike="noStrike">
                          <a:solidFill>
                            <a:srgbClr val="071D49"/>
                          </a:solidFill>
                          <a:effectLst/>
                          <a:latin typeface="Arial" panose="020B0604020202020204" pitchFamily="34" charset="0"/>
                        </a:rPr>
                        <a:t>Z15</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When prescribing PERT to your adult patients with EPI -Start simply with one capsule of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0040">
                <a:tc>
                  <a:txBody>
                    <a:bodyPr/>
                    <a:lstStyle/>
                    <a:p>
                      <a:pPr algn="ctr" fontAlgn="ctr"/>
                      <a:r>
                        <a:rPr lang="en-IN" sz="900" b="1" i="0" u="none" strike="noStrike">
                          <a:solidFill>
                            <a:srgbClr val="071D49"/>
                          </a:solidFill>
                          <a:effectLst/>
                          <a:latin typeface="Arial" panose="020B0604020202020204" pitchFamily="34" charset="0"/>
                        </a:rPr>
                        <a:t>Z7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has an enteric coating that minimizes degradation and targets enzyme release in the small intestine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0040">
                <a:tc>
                  <a:txBody>
                    <a:bodyPr/>
                    <a:lstStyle/>
                    <a:p>
                      <a:pPr algn="ctr" fontAlgn="ctr"/>
                      <a:r>
                        <a:rPr lang="en-IN" sz="900" b="1" i="0" u="none" strike="noStrike">
                          <a:solidFill>
                            <a:srgbClr val="071D49"/>
                          </a:solidFill>
                          <a:effectLst/>
                          <a:latin typeface="Arial" panose="020B0604020202020204" pitchFamily="34" charset="0"/>
                        </a:rPr>
                        <a:t>Z18</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In a clinical trial, the right dose helped patients absorb nutrients from their food and provided symptom relief</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0040">
                <a:tc>
                  <a:txBody>
                    <a:bodyPr/>
                    <a:lstStyle/>
                    <a:p>
                      <a:pPr algn="ctr" fontAlgn="ctr"/>
                      <a:r>
                        <a:rPr lang="en-IN" sz="900" b="1" i="0" u="none" strike="noStrike">
                          <a:solidFill>
                            <a:srgbClr val="071D49"/>
                          </a:solidFill>
                          <a:effectLst/>
                          <a:latin typeface="Arial" panose="020B0604020202020204" pitchFamily="34" charset="0"/>
                        </a:rPr>
                        <a:t>Z11^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Eligible patients pay as little as $5 for their first prescription fill and for refills.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0040">
                <a:tc>
                  <a:txBody>
                    <a:bodyPr/>
                    <a:lstStyle/>
                    <a:p>
                      <a:pPr algn="ctr" fontAlgn="ctr"/>
                      <a:r>
                        <a:rPr lang="en-IN" sz="900" b="1" i="0" u="none" strike="noStrike">
                          <a:solidFill>
                            <a:srgbClr val="071D49"/>
                          </a:solidFill>
                          <a:effectLst/>
                          <a:latin typeface="Arial" panose="020B0604020202020204" pitchFamily="34" charset="0"/>
                        </a:rPr>
                        <a:t>Z20</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91% of patients achieved a CFA of 80% or higher with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0040">
                <a:tc>
                  <a:txBody>
                    <a:bodyPr/>
                    <a:lstStyle/>
                    <a:p>
                      <a:pPr algn="ctr" fontAlgn="ctr"/>
                      <a:r>
                        <a:rPr lang="en-IN" sz="900" b="1" i="0" u="none" strike="noStrike">
                          <a:solidFill>
                            <a:srgbClr val="071D49"/>
                          </a:solidFill>
                          <a:effectLst/>
                          <a:latin typeface="Arial" panose="020B0604020202020204" pitchFamily="34" charset="0"/>
                        </a:rPr>
                        <a:t>Z22</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Through My SampleCloset, practices are able to easily request samples of ZENPEP at any strength</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0040">
                <a:tc>
                  <a:txBody>
                    <a:bodyPr/>
                    <a:lstStyle/>
                    <a:p>
                      <a:pPr algn="ctr" fontAlgn="ctr"/>
                      <a:r>
                        <a:rPr lang="en-IN" sz="900" b="1" i="0" u="none" strike="noStrike">
                          <a:solidFill>
                            <a:srgbClr val="071D49"/>
                          </a:solidFill>
                          <a:effectLst/>
                          <a:latin typeface="Arial" panose="020B0604020202020204" pitchFamily="34" charset="0"/>
                        </a:rPr>
                        <a:t>Z23^</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the most widely covered treatment in its class.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0040">
                <a:tc>
                  <a:txBody>
                    <a:bodyPr/>
                    <a:lstStyle/>
                    <a:p>
                      <a:pPr algn="ctr" fontAlgn="ctr"/>
                      <a:r>
                        <a:rPr lang="en-IN" sz="900" b="1" i="0" u="none" strike="noStrike">
                          <a:solidFill>
                            <a:srgbClr val="071D49"/>
                          </a:solidFill>
                          <a:effectLst/>
                          <a:latin typeface="Arial" panose="020B0604020202020204" pitchFamily="34" charset="0"/>
                        </a:rPr>
                        <a:t>Z24**</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is designed to mimic typical exocrine pancreatic function.</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0040">
                <a:tc>
                  <a:txBody>
                    <a:bodyPr/>
                    <a:lstStyle/>
                    <a:p>
                      <a:pPr algn="ctr" fontAlgn="ctr"/>
                      <a:r>
                        <a:rPr lang="en-IN" sz="900" b="1" i="0" u="none" strike="noStrike">
                          <a:solidFill>
                            <a:srgbClr val="071D49"/>
                          </a:solidFill>
                          <a:effectLst/>
                          <a:latin typeface="Arial" panose="020B0604020202020204" pitchFamily="34" charset="0"/>
                        </a:rPr>
                        <a:t>Z21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can help your patients absorb the fat and nutrients they need and treat uncomfortable GI symptoms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0040">
                <a:tc>
                  <a:txBody>
                    <a:bodyPr/>
                    <a:lstStyle/>
                    <a:p>
                      <a:pPr algn="ctr" fontAlgn="ctr"/>
                      <a:r>
                        <a:rPr lang="en-IN" sz="900" b="1" i="0" u="none" strike="noStrike">
                          <a:solidFill>
                            <a:srgbClr val="071D49"/>
                          </a:solidFill>
                          <a:effectLst/>
                          <a:latin typeface="Arial" panose="020B0604020202020204" pitchFamily="34" charset="0"/>
                        </a:rPr>
                        <a:t>Z8</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helps fuel nutritional health, increasing coefficient of fat absorption (CFA) by 26 percentage points vs placebo</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3216581970"/>
                  </a:ext>
                </a:extLst>
              </a:tr>
            </a:tbl>
          </a:graphicData>
        </a:graphic>
      </p:graphicFrame>
      <p:sp>
        <p:nvSpPr>
          <p:cNvPr id="40" name="Google Shape;1433;p35">
            <a:extLst>
              <a:ext uri="{FF2B5EF4-FFF2-40B4-BE49-F238E27FC236}">
                <a16:creationId xmlns:a16="http://schemas.microsoft.com/office/drawing/2014/main" id="{218ED056-A610-090E-305D-C3E867133942}"/>
              </a:ext>
            </a:extLst>
          </p:cNvPr>
          <p:cNvSpPr/>
          <p:nvPr/>
        </p:nvSpPr>
        <p:spPr>
          <a:xfrm>
            <a:off x="5526637"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2" name="Google Shape;1359;p33">
            <a:extLst>
              <a:ext uri="{FF2B5EF4-FFF2-40B4-BE49-F238E27FC236}">
                <a16:creationId xmlns:a16="http://schemas.microsoft.com/office/drawing/2014/main" id="{700AEE4F-76E3-A875-3EAC-C38AC8322B08}"/>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ZENPEP (Gastros)</a:t>
            </a:r>
          </a:p>
        </p:txBody>
      </p:sp>
      <p:graphicFrame>
        <p:nvGraphicFramePr>
          <p:cNvPr id="6" name="gastro_Z_ME">
            <a:extLst>
              <a:ext uri="{FF2B5EF4-FFF2-40B4-BE49-F238E27FC236}">
                <a16:creationId xmlns:a16="http://schemas.microsoft.com/office/drawing/2014/main" id="{2BF39BB5-6871-25BA-C2C3-70558A6FB3C6}"/>
              </a:ext>
            </a:extLst>
          </p:cNvPr>
          <p:cNvGraphicFramePr/>
          <p:nvPr>
            <p:custDataLst>
              <p:tags r:id="rId2"/>
            </p:custDataLst>
          </p:nvPr>
        </p:nvGraphicFramePr>
        <p:xfrm>
          <a:off x="4410752" y="1685311"/>
          <a:ext cx="3818848"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7" name="gastro_Z_ME">
            <a:extLst>
              <a:ext uri="{FF2B5EF4-FFF2-40B4-BE49-F238E27FC236}">
                <a16:creationId xmlns:a16="http://schemas.microsoft.com/office/drawing/2014/main" id="{6A09C79C-6FD4-E366-9E99-47AB24943019}"/>
              </a:ext>
            </a:extLst>
          </p:cNvPr>
          <p:cNvGraphicFramePr/>
          <p:nvPr>
            <p:custDataLst>
              <p:tags r:id="rId3"/>
            </p:custDataLst>
          </p:nvPr>
        </p:nvGraphicFramePr>
        <p:xfrm>
          <a:off x="4410752" y="2004421"/>
          <a:ext cx="3818848"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1" name="gastro_Z_ME">
            <a:extLst>
              <a:ext uri="{FF2B5EF4-FFF2-40B4-BE49-F238E27FC236}">
                <a16:creationId xmlns:a16="http://schemas.microsoft.com/office/drawing/2014/main" id="{06B75DE2-7816-9421-340E-F886FAC1478A}"/>
              </a:ext>
            </a:extLst>
          </p:cNvPr>
          <p:cNvGraphicFramePr/>
          <p:nvPr>
            <p:custDataLst>
              <p:tags r:id="rId4"/>
            </p:custDataLst>
          </p:nvPr>
        </p:nvGraphicFramePr>
        <p:xfrm>
          <a:off x="4410752" y="2323531"/>
          <a:ext cx="3818848"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2" name="gastro_Z_ME">
            <a:extLst>
              <a:ext uri="{FF2B5EF4-FFF2-40B4-BE49-F238E27FC236}">
                <a16:creationId xmlns:a16="http://schemas.microsoft.com/office/drawing/2014/main" id="{6DA9A057-7136-252C-956A-338E459A01C5}"/>
              </a:ext>
            </a:extLst>
          </p:cNvPr>
          <p:cNvGraphicFramePr/>
          <p:nvPr>
            <p:custDataLst>
              <p:tags r:id="rId5"/>
            </p:custDataLst>
          </p:nvPr>
        </p:nvGraphicFramePr>
        <p:xfrm>
          <a:off x="4410752" y="2642641"/>
          <a:ext cx="3818848"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 name="gastro_Z_ME">
            <a:extLst>
              <a:ext uri="{FF2B5EF4-FFF2-40B4-BE49-F238E27FC236}">
                <a16:creationId xmlns:a16="http://schemas.microsoft.com/office/drawing/2014/main" id="{81ECDE4C-26D3-E611-C0A8-3E420C8D9A40}"/>
              </a:ext>
            </a:extLst>
          </p:cNvPr>
          <p:cNvGraphicFramePr/>
          <p:nvPr>
            <p:custDataLst>
              <p:tags r:id="rId6"/>
            </p:custDataLst>
          </p:nvPr>
        </p:nvGraphicFramePr>
        <p:xfrm>
          <a:off x="4410752" y="2961751"/>
          <a:ext cx="3818848"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4" name="gastro_Z_ME">
            <a:extLst>
              <a:ext uri="{FF2B5EF4-FFF2-40B4-BE49-F238E27FC236}">
                <a16:creationId xmlns:a16="http://schemas.microsoft.com/office/drawing/2014/main" id="{0DA66454-982A-8011-E55E-D055967AB67A}"/>
              </a:ext>
            </a:extLst>
          </p:cNvPr>
          <p:cNvGraphicFramePr/>
          <p:nvPr>
            <p:custDataLst>
              <p:tags r:id="rId7"/>
            </p:custDataLst>
          </p:nvPr>
        </p:nvGraphicFramePr>
        <p:xfrm>
          <a:off x="4410752" y="3280861"/>
          <a:ext cx="3818848"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5" name="gastro_Z_ME">
            <a:extLst>
              <a:ext uri="{FF2B5EF4-FFF2-40B4-BE49-F238E27FC236}">
                <a16:creationId xmlns:a16="http://schemas.microsoft.com/office/drawing/2014/main" id="{AD53A1D1-A909-86DE-6C3A-ECF34D9BCA0C}"/>
              </a:ext>
            </a:extLst>
          </p:cNvPr>
          <p:cNvGraphicFramePr/>
          <p:nvPr>
            <p:custDataLst>
              <p:tags r:id="rId8"/>
            </p:custDataLst>
          </p:nvPr>
        </p:nvGraphicFramePr>
        <p:xfrm>
          <a:off x="4410752" y="3599971"/>
          <a:ext cx="3818848"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8" name="gastro_Z_ME">
            <a:extLst>
              <a:ext uri="{FF2B5EF4-FFF2-40B4-BE49-F238E27FC236}">
                <a16:creationId xmlns:a16="http://schemas.microsoft.com/office/drawing/2014/main" id="{CF8E24D8-EAB4-AB40-8E45-744386BA849E}"/>
              </a:ext>
            </a:extLst>
          </p:cNvPr>
          <p:cNvGraphicFramePr/>
          <p:nvPr>
            <p:custDataLst>
              <p:tags r:id="rId9"/>
            </p:custDataLst>
          </p:nvPr>
        </p:nvGraphicFramePr>
        <p:xfrm>
          <a:off x="4410752" y="3919081"/>
          <a:ext cx="3818848"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3" name="gastro_Z_ME">
            <a:extLst>
              <a:ext uri="{FF2B5EF4-FFF2-40B4-BE49-F238E27FC236}">
                <a16:creationId xmlns:a16="http://schemas.microsoft.com/office/drawing/2014/main" id="{BD5CDBA4-2F06-747C-F120-1986A1B21A38}"/>
              </a:ext>
            </a:extLst>
          </p:cNvPr>
          <p:cNvGraphicFramePr/>
          <p:nvPr>
            <p:custDataLst>
              <p:tags r:id="rId10"/>
            </p:custDataLst>
          </p:nvPr>
        </p:nvGraphicFramePr>
        <p:xfrm>
          <a:off x="4410752" y="4238191"/>
          <a:ext cx="3818848"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7" name="gastro_Z_ME">
            <a:extLst>
              <a:ext uri="{FF2B5EF4-FFF2-40B4-BE49-F238E27FC236}">
                <a16:creationId xmlns:a16="http://schemas.microsoft.com/office/drawing/2014/main" id="{088A753C-4A05-A3DC-E312-901FCE5FB97C}"/>
              </a:ext>
            </a:extLst>
          </p:cNvPr>
          <p:cNvGraphicFramePr/>
          <p:nvPr>
            <p:custDataLst>
              <p:tags r:id="rId11"/>
            </p:custDataLst>
          </p:nvPr>
        </p:nvGraphicFramePr>
        <p:xfrm>
          <a:off x="4410752" y="4557301"/>
          <a:ext cx="3818848"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8" name="gastro_Z_ME">
            <a:extLst>
              <a:ext uri="{FF2B5EF4-FFF2-40B4-BE49-F238E27FC236}">
                <a16:creationId xmlns:a16="http://schemas.microsoft.com/office/drawing/2014/main" id="{2B3252C0-EA22-1752-3CF5-98177CE27CE0}"/>
              </a:ext>
            </a:extLst>
          </p:cNvPr>
          <p:cNvGraphicFramePr/>
          <p:nvPr>
            <p:custDataLst>
              <p:tags r:id="rId12"/>
            </p:custDataLst>
          </p:nvPr>
        </p:nvGraphicFramePr>
        <p:xfrm>
          <a:off x="4410752" y="4876411"/>
          <a:ext cx="3818848"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30" name="gastro_Z_ME">
            <a:extLst>
              <a:ext uri="{FF2B5EF4-FFF2-40B4-BE49-F238E27FC236}">
                <a16:creationId xmlns:a16="http://schemas.microsoft.com/office/drawing/2014/main" id="{5EF2717D-4935-252D-E758-79018F9BBF1C}"/>
              </a:ext>
            </a:extLst>
          </p:cNvPr>
          <p:cNvGraphicFramePr/>
          <p:nvPr>
            <p:custDataLst>
              <p:tags r:id="rId13"/>
            </p:custDataLst>
          </p:nvPr>
        </p:nvGraphicFramePr>
        <p:xfrm>
          <a:off x="4410752" y="5195521"/>
          <a:ext cx="3818848" cy="331200"/>
        </p:xfrm>
        <a:graphic>
          <a:graphicData uri="http://schemas.openxmlformats.org/drawingml/2006/chart">
            <c:chart xmlns:c="http://schemas.openxmlformats.org/drawingml/2006/chart" xmlns:r="http://schemas.openxmlformats.org/officeDocument/2006/relationships" r:id="rId29"/>
          </a:graphicData>
        </a:graphic>
      </p:graphicFrame>
      <p:sp>
        <p:nvSpPr>
          <p:cNvPr id="5" name="Highlight#32">
            <a:extLst>
              <a:ext uri="{FF2B5EF4-FFF2-40B4-BE49-F238E27FC236}">
                <a16:creationId xmlns:a16="http://schemas.microsoft.com/office/drawing/2014/main" id="{B1C061E5-8218-72B7-0790-40EE057079C2}"/>
              </a:ext>
            </a:extLst>
          </p:cNvPr>
          <p:cNvSpPr txBox="1"/>
          <p:nvPr/>
        </p:nvSpPr>
        <p:spPr>
          <a:xfrm>
            <a:off x="-1" y="1691104"/>
            <a:ext cx="9013173" cy="3312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0" name="TextBox 9">
            <a:extLst>
              <a:ext uri="{FF2B5EF4-FFF2-40B4-BE49-F238E27FC236}">
                <a16:creationId xmlns:a16="http://schemas.microsoft.com/office/drawing/2014/main" id="{2EA0D390-F51B-B563-625D-78986599BF08}"/>
              </a:ext>
            </a:extLst>
          </p:cNvPr>
          <p:cNvSpPr txBox="1"/>
          <p:nvPr/>
        </p:nvSpPr>
        <p:spPr>
          <a:xfrm>
            <a:off x="33736" y="718609"/>
            <a:ext cx="1728000" cy="252000"/>
          </a:xfrm>
          <a:prstGeom prst="rect">
            <a:avLst/>
          </a:prstGeom>
          <a:noFill/>
          <a:ln>
            <a:solidFill>
              <a:schemeClr val="accent1"/>
            </a:solidFill>
          </a:ln>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30"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16" name="gastro_Z_ME">
            <a:extLst>
              <a:ext uri="{FF2B5EF4-FFF2-40B4-BE49-F238E27FC236}">
                <a16:creationId xmlns:a16="http://schemas.microsoft.com/office/drawing/2014/main" id="{91A8D903-6A2F-5BD2-CED7-632337BC9B48}"/>
              </a:ext>
            </a:extLst>
          </p:cNvPr>
          <p:cNvGraphicFramePr/>
          <p:nvPr>
            <p:custDataLst>
              <p:tags r:id="rId14"/>
            </p:custDataLst>
          </p:nvPr>
        </p:nvGraphicFramePr>
        <p:xfrm>
          <a:off x="4410752" y="5514631"/>
          <a:ext cx="3818848" cy="331200"/>
        </p:xfrm>
        <a:graphic>
          <a:graphicData uri="http://schemas.openxmlformats.org/drawingml/2006/chart">
            <c:chart xmlns:c="http://schemas.openxmlformats.org/drawingml/2006/chart" xmlns:r="http://schemas.openxmlformats.org/officeDocument/2006/relationships" r:id="rId31"/>
          </a:graphicData>
        </a:graphic>
      </p:graphicFrame>
      <p:sp>
        <p:nvSpPr>
          <p:cNvPr id="19" name="Google Shape;1375;p33">
            <a:extLst>
              <a:ext uri="{FF2B5EF4-FFF2-40B4-BE49-F238E27FC236}">
                <a16:creationId xmlns:a16="http://schemas.microsoft.com/office/drawing/2014/main" id="{29F5E798-409B-6ED2-5D4D-DF3AA8966712}"/>
              </a:ext>
            </a:extLst>
          </p:cNvPr>
          <p:cNvSpPr txBox="1"/>
          <p:nvPr/>
        </p:nvSpPr>
        <p:spPr>
          <a:xfrm>
            <a:off x="228601" y="5957245"/>
            <a:ext cx="8980058"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statistically significant (p&lt;.05) difference between waves | *Full message text in speaker notes | </a:t>
            </a:r>
            <a:r>
              <a:rPr kumimoji="0" lang="en-GB" sz="900" b="0" i="0" u="none" strike="noStrike" kern="0" cap="none" spc="0" normalizeH="0" baseline="0" noProof="0">
                <a:ln>
                  <a:noFill/>
                </a:ln>
                <a:solidFill>
                  <a:srgbClr val="001D49"/>
                </a:solidFill>
                <a:effectLst/>
                <a:uLnTx/>
                <a:uFillTx/>
                <a:latin typeface="Arial"/>
                <a:ea typeface="Calibri"/>
                <a:cs typeface="Calibri"/>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**New message added in W32: Z24 | ^Messages Edited in W32: Z11, Z23</a:t>
            </a:r>
            <a:endParaRPr kumimoji="0" lang="en-US" sz="900" b="0" i="0" u="none" strike="noStrike" kern="0" cap="none" spc="0" normalizeH="0" baseline="30000" noProof="0">
              <a:ln>
                <a:noFill/>
              </a:ln>
              <a:solidFill>
                <a:srgbClr val="001D49"/>
              </a:solidFill>
              <a:effectLst/>
              <a:uLnTx/>
              <a:uFillTx/>
              <a:latin typeface="Arial" panose="020B0604020202020204" pitchFamily="34" charset="0"/>
              <a:ea typeface="Calibri"/>
              <a:cs typeface="Arial" panose="020B0604020202020204" pitchFamily="34" charset="0"/>
              <a:sym typeface="Calibri"/>
            </a:endParaRPr>
          </a:p>
        </p:txBody>
      </p:sp>
      <p:sp>
        <p:nvSpPr>
          <p:cNvPr id="20" name="Google Shape;2197;p58">
            <a:extLst>
              <a:ext uri="{FF2B5EF4-FFF2-40B4-BE49-F238E27FC236}">
                <a16:creationId xmlns:a16="http://schemas.microsoft.com/office/drawing/2014/main" id="{32ADFF1B-E867-D6DA-4F1F-7802D93C8BFB}"/>
              </a:ext>
            </a:extLst>
          </p:cNvPr>
          <p:cNvSpPr/>
          <p:nvPr/>
        </p:nvSpPr>
        <p:spPr>
          <a:xfrm>
            <a:off x="2855604" y="6030291"/>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21" name="TextBox 20">
            <a:extLst>
              <a:ext uri="{FF2B5EF4-FFF2-40B4-BE49-F238E27FC236}">
                <a16:creationId xmlns:a16="http://schemas.microsoft.com/office/drawing/2014/main" id="{6FCB1F5C-41E7-A680-96E5-0B53B17CC334}"/>
              </a:ext>
            </a:extLst>
          </p:cNvPr>
          <p:cNvSpPr txBox="1"/>
          <p:nvPr/>
        </p:nvSpPr>
        <p:spPr>
          <a:xfrm>
            <a:off x="24501" y="1401280"/>
            <a:ext cx="4685203"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graphicFrame>
        <p:nvGraphicFramePr>
          <p:cNvPr id="22" name="Table 21">
            <a:extLst>
              <a:ext uri="{FF2B5EF4-FFF2-40B4-BE49-F238E27FC236}">
                <a16:creationId xmlns:a16="http://schemas.microsoft.com/office/drawing/2014/main" id="{36CC1B2B-6A42-F0C8-DDFB-38352F5E89B0}"/>
              </a:ext>
            </a:extLst>
          </p:cNvPr>
          <p:cNvGraphicFramePr>
            <a:graphicFrameLocks noGrp="1"/>
          </p:cNvGraphicFramePr>
          <p:nvPr/>
        </p:nvGraphicFramePr>
        <p:xfrm>
          <a:off x="8066349" y="1231965"/>
          <a:ext cx="1044000" cy="4614840"/>
        </p:xfrm>
        <a:graphic>
          <a:graphicData uri="http://schemas.openxmlformats.org/drawingml/2006/table">
            <a:tbl>
              <a:tblPr firstRow="1" bandRow="1">
                <a:tableStyleId>{5C22544A-7EE6-4342-B048-85BDC9FD1C3A}</a:tableStyleId>
              </a:tblPr>
              <a:tblGrid>
                <a:gridCol w="504000">
                  <a:extLst>
                    <a:ext uri="{9D8B030D-6E8A-4147-A177-3AD203B41FA5}">
                      <a16:colId xmlns:a16="http://schemas.microsoft.com/office/drawing/2014/main" val="4175797392"/>
                    </a:ext>
                  </a:extLst>
                </a:gridCol>
                <a:gridCol w="540000">
                  <a:extLst>
                    <a:ext uri="{9D8B030D-6E8A-4147-A177-3AD203B41FA5}">
                      <a16:colId xmlns:a16="http://schemas.microsoft.com/office/drawing/2014/main" val="4071984736"/>
                    </a:ext>
                  </a:extLst>
                </a:gridCol>
              </a:tblGrid>
              <a:tr h="288586">
                <a:tc gridSpan="2">
                  <a:txBody>
                    <a:bodyPr/>
                    <a:lstStyle/>
                    <a:p>
                      <a:pPr algn="ctr"/>
                      <a:r>
                        <a:rPr lang="en-IN" sz="1000">
                          <a:solidFill>
                            <a:schemeClr val="tx1"/>
                          </a:solidFill>
                        </a:rPr>
                        <a:t>ZENPEP</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78761">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46037692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mn-lt"/>
                          <a:ea typeface="+mn-ea"/>
                          <a:cs typeface="+mn-cs"/>
                        </a:rPr>
                        <a:t>Yes</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mn-lt"/>
                          <a:ea typeface="+mn-ea"/>
                          <a:cs typeface="+mn-cs"/>
                        </a:rPr>
                        <a:t>Yes</a:t>
                      </a:r>
                      <a:endParaRPr kumimoji="0" lang="en-IN" sz="1000" b="0" i="0" u="none" strike="noStrike" kern="1200" cap="none" spc="0" normalizeH="0" baseline="0" noProof="0">
                        <a:ln>
                          <a:noFill/>
                        </a:ln>
                        <a:solidFill>
                          <a:srgbClr val="071D49"/>
                        </a:solidFill>
                        <a:effectLst/>
                        <a:uLnTx/>
                        <a:uFillTx/>
                        <a:latin typeface="Arial" panose="020B06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336846114"/>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550942773"/>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323063396"/>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213312518"/>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44868835"/>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572802549"/>
                  </a:ext>
                </a:extLst>
              </a:tr>
              <a:tr h="318963">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1682757009"/>
                  </a:ext>
                </a:extLst>
              </a:tr>
            </a:tbl>
          </a:graphicData>
        </a:graphic>
      </p:graphicFrame>
      <p:graphicFrame>
        <p:nvGraphicFramePr>
          <p:cNvPr id="24" name="wave table OCQ">
            <a:extLst>
              <a:ext uri="{FF2B5EF4-FFF2-40B4-BE49-F238E27FC236}">
                <a16:creationId xmlns:a16="http://schemas.microsoft.com/office/drawing/2014/main" id="{BEF9CF81-D6FE-46F4-966E-4F93D2975B25}"/>
              </a:ext>
            </a:extLst>
          </p:cNvPr>
          <p:cNvGraphicFramePr>
            <a:graphicFrameLocks noGrp="1"/>
          </p:cNvGraphicFramePr>
          <p:nvPr>
            <p:custDataLst>
              <p:tags r:id="rId15"/>
            </p:custDataLst>
          </p:nvPr>
        </p:nvGraphicFramePr>
        <p:xfrm>
          <a:off x="4623209" y="1449523"/>
          <a:ext cx="3424836" cy="243840"/>
        </p:xfrm>
        <a:graphic>
          <a:graphicData uri="http://schemas.openxmlformats.org/drawingml/2006/table">
            <a:tbl>
              <a:tblPr firstRow="1" bandRow="1">
                <a:tableStyleId>{B301B821-A1FF-4177-AEE7-76D212191A09}</a:tableStyleId>
              </a:tblPr>
              <a:tblGrid>
                <a:gridCol w="570806">
                  <a:extLst>
                    <a:ext uri="{9D8B030D-6E8A-4147-A177-3AD203B41FA5}">
                      <a16:colId xmlns:a16="http://schemas.microsoft.com/office/drawing/2014/main" val="3554599800"/>
                    </a:ext>
                  </a:extLst>
                </a:gridCol>
                <a:gridCol w="570806">
                  <a:extLst>
                    <a:ext uri="{9D8B030D-6E8A-4147-A177-3AD203B41FA5}">
                      <a16:colId xmlns:a16="http://schemas.microsoft.com/office/drawing/2014/main" val="2914776207"/>
                    </a:ext>
                  </a:extLst>
                </a:gridCol>
                <a:gridCol w="570806">
                  <a:extLst>
                    <a:ext uri="{9D8B030D-6E8A-4147-A177-3AD203B41FA5}">
                      <a16:colId xmlns:a16="http://schemas.microsoft.com/office/drawing/2014/main" val="2088702262"/>
                    </a:ext>
                  </a:extLst>
                </a:gridCol>
                <a:gridCol w="570806">
                  <a:extLst>
                    <a:ext uri="{9D8B030D-6E8A-4147-A177-3AD203B41FA5}">
                      <a16:colId xmlns:a16="http://schemas.microsoft.com/office/drawing/2014/main" val="192097877"/>
                    </a:ext>
                  </a:extLst>
                </a:gridCol>
                <a:gridCol w="570806">
                  <a:extLst>
                    <a:ext uri="{9D8B030D-6E8A-4147-A177-3AD203B41FA5}">
                      <a16:colId xmlns:a16="http://schemas.microsoft.com/office/drawing/2014/main" val="1326389649"/>
                    </a:ext>
                  </a:extLst>
                </a:gridCol>
                <a:gridCol w="57080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25" name="Google Shape;2197;p58">
            <a:extLst>
              <a:ext uri="{FF2B5EF4-FFF2-40B4-BE49-F238E27FC236}">
                <a16:creationId xmlns:a16="http://schemas.microsoft.com/office/drawing/2014/main" id="{9DCDECA8-0C6F-9CF5-7808-329ED08EB219}"/>
              </a:ext>
            </a:extLst>
          </p:cNvPr>
          <p:cNvSpPr/>
          <p:nvPr/>
        </p:nvSpPr>
        <p:spPr>
          <a:xfrm>
            <a:off x="7916177" y="1693374"/>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Tree>
    <p:extLst>
      <p:ext uri="{BB962C8B-B14F-4D97-AF65-F5344CB8AC3E}">
        <p14:creationId xmlns:p14="http://schemas.microsoft.com/office/powerpoint/2010/main" val="2404868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1442">
          <a:extLst>
            <a:ext uri="{FF2B5EF4-FFF2-40B4-BE49-F238E27FC236}">
              <a16:creationId xmlns:a16="http://schemas.microsoft.com/office/drawing/2014/main" id="{7D0388B0-3635-C261-7503-69E0C4664C59}"/>
            </a:ext>
          </a:extLst>
        </p:cNvPr>
        <p:cNvGrpSpPr/>
        <p:nvPr/>
      </p:nvGrpSpPr>
      <p:grpSpPr>
        <a:xfrm>
          <a:off x="0" y="0"/>
          <a:ext cx="0" cy="0"/>
          <a:chOff x="0" y="0"/>
          <a:chExt cx="0" cy="0"/>
        </a:xfrm>
      </p:grpSpPr>
      <p:sp>
        <p:nvSpPr>
          <p:cNvPr id="3" name="Google Shape;1415;p35">
            <a:extLst>
              <a:ext uri="{FF2B5EF4-FFF2-40B4-BE49-F238E27FC236}">
                <a16:creationId xmlns:a16="http://schemas.microsoft.com/office/drawing/2014/main" id="{D4CB364B-5341-7237-7CE0-691A9B8BC5B4}"/>
              </a:ext>
            </a:extLst>
          </p:cNvPr>
          <p:cNvSpPr/>
          <p:nvPr/>
        </p:nvSpPr>
        <p:spPr>
          <a:xfrm>
            <a:off x="100796" y="752779"/>
            <a:ext cx="8264214"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A58ADA"/>
                </a:solidFill>
                <a:effectLst/>
                <a:uLnTx/>
                <a:uFillTx/>
                <a:latin typeface="Arial"/>
                <a:ea typeface="Calibri"/>
                <a:cs typeface="Calibri"/>
                <a:sym typeface="Calibri"/>
              </a:rPr>
              <a:t>ZENPEP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(PCPs</a:t>
            </a:r>
            <a:r>
              <a:rPr kumimoji="0" lang="en-US" sz="1400" b="1"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1400" b="0" i="0" u="sng"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30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23</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May’25 – Jun’25: n = 24</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US" sz="800" b="0" i="0" u="none" strike="noStrike" kern="0" cap="none" spc="0" normalizeH="0" baseline="0" noProof="0">
                <a:ln>
                  <a:noFill/>
                </a:ln>
                <a:solidFill>
                  <a:srgbClr val="071D49"/>
                </a:solidFill>
                <a:effectLst/>
                <a:uLnTx/>
                <a:uFillTx/>
                <a:latin typeface="Arial"/>
                <a:ea typeface="Calibri"/>
                <a:cs typeface="Calibri"/>
                <a:sym typeface="Calibri"/>
              </a:rPr>
              <a:t>|</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Jul’25 – Aug’25: n = 23</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20</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Nov’25 – Dec’25: n = 27</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29" name="Shape_2856366">
            <a:extLst>
              <a:ext uri="{FF2B5EF4-FFF2-40B4-BE49-F238E27FC236}">
                <a16:creationId xmlns:a16="http://schemas.microsoft.com/office/drawing/2014/main" id="{AF2C4E81-D97E-84E7-2BFE-D776456A70BA}"/>
              </a:ext>
            </a:extLst>
          </p:cNvPr>
          <p:cNvGraphicFramePr>
            <a:graphicFrameLocks noGrp="1"/>
          </p:cNvGraphicFramePr>
          <p:nvPr>
            <p:custDataLst>
              <p:tags r:id="rId1"/>
            </p:custDataLst>
          </p:nvPr>
        </p:nvGraphicFramePr>
        <p:xfrm>
          <a:off x="4991181" y="1464919"/>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33" name="PCPS_C_ME_TABLE">
            <a:extLst>
              <a:ext uri="{FF2B5EF4-FFF2-40B4-BE49-F238E27FC236}">
                <a16:creationId xmlns:a16="http://schemas.microsoft.com/office/drawing/2014/main" id="{4037579E-CE6B-849A-8C37-5ECA18A8ED36}"/>
              </a:ext>
            </a:extLst>
          </p:cNvPr>
          <p:cNvGraphicFramePr/>
          <p:nvPr>
            <p:custDataLst>
              <p:tags r:id="rId2"/>
            </p:custDataLst>
          </p:nvPr>
        </p:nvGraphicFramePr>
        <p:xfrm>
          <a:off x="24500" y="1685311"/>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Z16</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offers a single-capsule starting dose for almost all adult patients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Z17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Only ZENPEP offers 40k and 60k lipase-unit capsules, which may help reduce the number of pills your adult patients need to take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0040">
                <a:tc>
                  <a:txBody>
                    <a:bodyPr/>
                    <a:lstStyle/>
                    <a:p>
                      <a:pPr algn="ctr" fontAlgn="ctr"/>
                      <a:r>
                        <a:rPr lang="en-IN" sz="900" b="1" i="0" u="none" strike="noStrike">
                          <a:solidFill>
                            <a:srgbClr val="071D49"/>
                          </a:solidFill>
                          <a:effectLst/>
                          <a:latin typeface="Arial" panose="020B0604020202020204" pitchFamily="34" charset="0"/>
                        </a:rPr>
                        <a:t>Z15</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When prescribing PERT to your adult patients with EPI -Start simply with one capsule of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0040">
                <a:tc>
                  <a:txBody>
                    <a:bodyPr/>
                    <a:lstStyle/>
                    <a:p>
                      <a:pPr algn="ctr" fontAlgn="ctr"/>
                      <a:r>
                        <a:rPr lang="en-IN" sz="900" b="1" i="0" u="none" strike="noStrike">
                          <a:solidFill>
                            <a:srgbClr val="071D49"/>
                          </a:solidFill>
                          <a:effectLst/>
                          <a:latin typeface="Arial" panose="020B0604020202020204" pitchFamily="34" charset="0"/>
                        </a:rPr>
                        <a:t>Z11^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Eligible patients pay as little as $5 for their first prescription fill and for refills.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0040">
                <a:tc>
                  <a:txBody>
                    <a:bodyPr/>
                    <a:lstStyle/>
                    <a:p>
                      <a:pPr algn="ctr" fontAlgn="ctr"/>
                      <a:r>
                        <a:rPr lang="en-IN" sz="900" b="1" i="0" u="none" strike="noStrike">
                          <a:solidFill>
                            <a:srgbClr val="071D49"/>
                          </a:solidFill>
                          <a:effectLst/>
                          <a:latin typeface="Arial" panose="020B0604020202020204" pitchFamily="34" charset="0"/>
                        </a:rPr>
                        <a:t>Z7</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has an enteric coating that minimizes degradation and targets enzyme release in the small intestine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0040">
                <a:tc>
                  <a:txBody>
                    <a:bodyPr/>
                    <a:lstStyle/>
                    <a:p>
                      <a:pPr algn="ctr" fontAlgn="ctr"/>
                      <a:r>
                        <a:rPr lang="en-IN" sz="900" b="1" i="0" u="none" strike="noStrike">
                          <a:solidFill>
                            <a:srgbClr val="071D49"/>
                          </a:solidFill>
                          <a:effectLst/>
                          <a:latin typeface="Arial" panose="020B0604020202020204" pitchFamily="34" charset="0"/>
                        </a:rPr>
                        <a:t>Z23^</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the most widely covered treatment in its class.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0040">
                <a:tc>
                  <a:txBody>
                    <a:bodyPr/>
                    <a:lstStyle/>
                    <a:p>
                      <a:pPr algn="ctr" fontAlgn="ctr"/>
                      <a:r>
                        <a:rPr lang="en-IN" sz="900" b="1" i="0" u="none" strike="noStrike">
                          <a:solidFill>
                            <a:srgbClr val="071D49"/>
                          </a:solidFill>
                          <a:effectLst/>
                          <a:latin typeface="Arial" panose="020B0604020202020204" pitchFamily="34" charset="0"/>
                        </a:rPr>
                        <a:t>Z21</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can help your patients absorb the fat and nutrients they need and treat uncomfortable GI symptoms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0040">
                <a:tc>
                  <a:txBody>
                    <a:bodyPr/>
                    <a:lstStyle/>
                    <a:p>
                      <a:pPr algn="ctr" fontAlgn="ctr"/>
                      <a:r>
                        <a:rPr lang="en-IN" sz="900" b="1" i="0" u="none" strike="noStrike">
                          <a:solidFill>
                            <a:srgbClr val="071D49"/>
                          </a:solidFill>
                          <a:effectLst/>
                          <a:latin typeface="Arial" panose="020B0604020202020204" pitchFamily="34" charset="0"/>
                        </a:rPr>
                        <a:t>Z18</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In a clinical trial, the right dose helped patients absorb nutrients from their food and provided symptom relief</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0040">
                <a:tc>
                  <a:txBody>
                    <a:bodyPr/>
                    <a:lstStyle/>
                    <a:p>
                      <a:pPr algn="ctr" fontAlgn="ctr"/>
                      <a:r>
                        <a:rPr lang="en-IN" sz="900" b="1" i="0" u="none" strike="noStrike">
                          <a:solidFill>
                            <a:srgbClr val="071D49"/>
                          </a:solidFill>
                          <a:effectLst/>
                          <a:latin typeface="Arial" panose="020B0604020202020204" pitchFamily="34" charset="0"/>
                        </a:rPr>
                        <a:t>Z20</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91% of patients achieved a CFA of 80% or higher with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0040">
                <a:tc>
                  <a:txBody>
                    <a:bodyPr/>
                    <a:lstStyle/>
                    <a:p>
                      <a:pPr algn="ctr" fontAlgn="ctr"/>
                      <a:r>
                        <a:rPr lang="en-IN" sz="900" b="1" i="0" u="none" strike="noStrike">
                          <a:solidFill>
                            <a:srgbClr val="071D49"/>
                          </a:solidFill>
                          <a:effectLst/>
                          <a:latin typeface="Arial" panose="020B0604020202020204" pitchFamily="34" charset="0"/>
                        </a:rPr>
                        <a:t>Z24**</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designed to mimic typical exocrine pancreatic function.</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0040">
                <a:tc>
                  <a:txBody>
                    <a:bodyPr/>
                    <a:lstStyle/>
                    <a:p>
                      <a:pPr algn="ctr" fontAlgn="ctr"/>
                      <a:r>
                        <a:rPr lang="en-IN" sz="900" b="1" i="0" u="none" strike="noStrike">
                          <a:solidFill>
                            <a:srgbClr val="071D49"/>
                          </a:solidFill>
                          <a:effectLst/>
                          <a:latin typeface="Arial" panose="020B0604020202020204" pitchFamily="34" charset="0"/>
                        </a:rPr>
                        <a:t>Z19</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Meets the ACG guideline for EPI and CP in a single capsule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0040">
                <a:tc>
                  <a:txBody>
                    <a:bodyPr/>
                    <a:lstStyle/>
                    <a:p>
                      <a:pPr algn="ctr" fontAlgn="ctr"/>
                      <a:r>
                        <a:rPr lang="en-IN" sz="900" b="1" i="0" u="none" strike="noStrike">
                          <a:solidFill>
                            <a:srgbClr val="071D49"/>
                          </a:solidFill>
                          <a:effectLst/>
                          <a:latin typeface="Arial" panose="020B0604020202020204" pitchFamily="34" charset="0"/>
                        </a:rPr>
                        <a:t>Z22</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Through My SampleCloset, practices are able to easily request samples of ZENPEP at any strength</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0040">
                <a:tc>
                  <a:txBody>
                    <a:bodyPr/>
                    <a:lstStyle/>
                    <a:p>
                      <a:pPr algn="ctr" fontAlgn="ctr"/>
                      <a:r>
                        <a:rPr lang="en-IN" sz="900" b="1" i="0" u="none" strike="noStrike">
                          <a:solidFill>
                            <a:srgbClr val="071D49"/>
                          </a:solidFill>
                          <a:effectLst/>
                          <a:latin typeface="Arial" panose="020B0604020202020204" pitchFamily="34" charset="0"/>
                        </a:rPr>
                        <a:t>Z8</a:t>
                      </a:r>
                    </a:p>
                  </a:txBody>
                  <a:tcPr marL="4572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helps fuel nutritional health, increasing coefficient of fat absorption (CFA) by 26 percentage points vs placebo</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4219293388"/>
                  </a:ext>
                </a:extLst>
              </a:tr>
            </a:tbl>
          </a:graphicData>
        </a:graphic>
      </p:graphicFrame>
      <p:sp>
        <p:nvSpPr>
          <p:cNvPr id="35" name="TextBox 34">
            <a:extLst>
              <a:ext uri="{FF2B5EF4-FFF2-40B4-BE49-F238E27FC236}">
                <a16:creationId xmlns:a16="http://schemas.microsoft.com/office/drawing/2014/main" id="{4F5ADE56-2CCE-3EF0-2D39-DE262F02424B}"/>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40" name="Google Shape;1433;p35">
            <a:extLst>
              <a:ext uri="{FF2B5EF4-FFF2-40B4-BE49-F238E27FC236}">
                <a16:creationId xmlns:a16="http://schemas.microsoft.com/office/drawing/2014/main" id="{E4F38F81-C7CD-F807-366E-7B6784EFCE7F}"/>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5" name="Google Shape;1583;p40">
            <a:extLst>
              <a:ext uri="{FF2B5EF4-FFF2-40B4-BE49-F238E27FC236}">
                <a16:creationId xmlns:a16="http://schemas.microsoft.com/office/drawing/2014/main" id="{82A1711B-2A45-9D5B-2119-279CFCE61AA5}"/>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Google Shape;1359;p33">
            <a:extLst>
              <a:ext uri="{FF2B5EF4-FFF2-40B4-BE49-F238E27FC236}">
                <a16:creationId xmlns:a16="http://schemas.microsoft.com/office/drawing/2014/main" id="{71423F7C-04C6-F80B-605E-5631BB64A6A8}"/>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ZENPEP (PCPs)</a:t>
            </a:r>
          </a:p>
        </p:txBody>
      </p:sp>
      <p:graphicFrame>
        <p:nvGraphicFramePr>
          <p:cNvPr id="4" name="PCPs_Z_ME">
            <a:extLst>
              <a:ext uri="{FF2B5EF4-FFF2-40B4-BE49-F238E27FC236}">
                <a16:creationId xmlns:a16="http://schemas.microsoft.com/office/drawing/2014/main" id="{2BDEBCA3-8473-BAB0-B872-E542CB772EF6}"/>
              </a:ext>
            </a:extLst>
          </p:cNvPr>
          <p:cNvGraphicFramePr/>
          <p:nvPr>
            <p:custDataLst>
              <p:tags r:id="rId3"/>
            </p:custDataLst>
          </p:nvPr>
        </p:nvGraphicFramePr>
        <p:xfrm>
          <a:off x="4883398" y="1685311"/>
          <a:ext cx="4181061"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6" name="PCPs_Z_ME">
            <a:extLst>
              <a:ext uri="{FF2B5EF4-FFF2-40B4-BE49-F238E27FC236}">
                <a16:creationId xmlns:a16="http://schemas.microsoft.com/office/drawing/2014/main" id="{8FD6370D-7EE1-1ECE-FA29-7B23CEF455FE}"/>
              </a:ext>
            </a:extLst>
          </p:cNvPr>
          <p:cNvGraphicFramePr/>
          <p:nvPr>
            <p:custDataLst>
              <p:tags r:id="rId4"/>
            </p:custDataLst>
          </p:nvPr>
        </p:nvGraphicFramePr>
        <p:xfrm>
          <a:off x="4883398" y="2004421"/>
          <a:ext cx="4181061"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7" name="PCPs_Z_ME">
            <a:extLst>
              <a:ext uri="{FF2B5EF4-FFF2-40B4-BE49-F238E27FC236}">
                <a16:creationId xmlns:a16="http://schemas.microsoft.com/office/drawing/2014/main" id="{F0D94F35-BC0F-9CAD-8C38-AB795C0D0116}"/>
              </a:ext>
            </a:extLst>
          </p:cNvPr>
          <p:cNvGraphicFramePr/>
          <p:nvPr>
            <p:custDataLst>
              <p:tags r:id="rId5"/>
            </p:custDataLst>
          </p:nvPr>
        </p:nvGraphicFramePr>
        <p:xfrm>
          <a:off x="4883398" y="2323531"/>
          <a:ext cx="4181061"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9" name="PCPs_Z_ME">
            <a:extLst>
              <a:ext uri="{FF2B5EF4-FFF2-40B4-BE49-F238E27FC236}">
                <a16:creationId xmlns:a16="http://schemas.microsoft.com/office/drawing/2014/main" id="{E5FA334C-AE8F-201A-DEDC-10FAFCC6697E}"/>
              </a:ext>
            </a:extLst>
          </p:cNvPr>
          <p:cNvGraphicFramePr/>
          <p:nvPr>
            <p:custDataLst>
              <p:tags r:id="rId6"/>
            </p:custDataLst>
          </p:nvPr>
        </p:nvGraphicFramePr>
        <p:xfrm>
          <a:off x="4883398" y="2642641"/>
          <a:ext cx="4181061"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0" name="PCPs_Z_ME">
            <a:extLst>
              <a:ext uri="{FF2B5EF4-FFF2-40B4-BE49-F238E27FC236}">
                <a16:creationId xmlns:a16="http://schemas.microsoft.com/office/drawing/2014/main" id="{03F59CC3-77EA-DF47-2974-372BE55C542C}"/>
              </a:ext>
            </a:extLst>
          </p:cNvPr>
          <p:cNvGraphicFramePr/>
          <p:nvPr>
            <p:custDataLst>
              <p:tags r:id="rId7"/>
            </p:custDataLst>
          </p:nvPr>
        </p:nvGraphicFramePr>
        <p:xfrm>
          <a:off x="4883398" y="2961751"/>
          <a:ext cx="4181061"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1" name="PCPs_Z_ME">
            <a:extLst>
              <a:ext uri="{FF2B5EF4-FFF2-40B4-BE49-F238E27FC236}">
                <a16:creationId xmlns:a16="http://schemas.microsoft.com/office/drawing/2014/main" id="{7E468AD5-0A97-C187-78B6-905E7A39F1BF}"/>
              </a:ext>
            </a:extLst>
          </p:cNvPr>
          <p:cNvGraphicFramePr/>
          <p:nvPr>
            <p:custDataLst>
              <p:tags r:id="rId8"/>
            </p:custDataLst>
          </p:nvPr>
        </p:nvGraphicFramePr>
        <p:xfrm>
          <a:off x="4883398" y="3280861"/>
          <a:ext cx="4181061"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2" name="PCPs_Z_ME">
            <a:extLst>
              <a:ext uri="{FF2B5EF4-FFF2-40B4-BE49-F238E27FC236}">
                <a16:creationId xmlns:a16="http://schemas.microsoft.com/office/drawing/2014/main" id="{73F5513D-F22D-B0C5-AB80-CDBDED507F4E}"/>
              </a:ext>
            </a:extLst>
          </p:cNvPr>
          <p:cNvGraphicFramePr/>
          <p:nvPr>
            <p:custDataLst>
              <p:tags r:id="rId9"/>
            </p:custDataLst>
          </p:nvPr>
        </p:nvGraphicFramePr>
        <p:xfrm>
          <a:off x="4883398" y="3599971"/>
          <a:ext cx="4181061"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3" name="PCPs_Z_ME">
            <a:extLst>
              <a:ext uri="{FF2B5EF4-FFF2-40B4-BE49-F238E27FC236}">
                <a16:creationId xmlns:a16="http://schemas.microsoft.com/office/drawing/2014/main" id="{C63D5F29-27BD-074A-4C33-138D477AED88}"/>
              </a:ext>
            </a:extLst>
          </p:cNvPr>
          <p:cNvGraphicFramePr/>
          <p:nvPr>
            <p:custDataLst>
              <p:tags r:id="rId10"/>
            </p:custDataLst>
          </p:nvPr>
        </p:nvGraphicFramePr>
        <p:xfrm>
          <a:off x="4883398" y="3919081"/>
          <a:ext cx="4181061"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4" name="PCPs_Z_ME">
            <a:extLst>
              <a:ext uri="{FF2B5EF4-FFF2-40B4-BE49-F238E27FC236}">
                <a16:creationId xmlns:a16="http://schemas.microsoft.com/office/drawing/2014/main" id="{43F77CD8-CA59-AB97-C6ED-C2B662863279}"/>
              </a:ext>
            </a:extLst>
          </p:cNvPr>
          <p:cNvGraphicFramePr/>
          <p:nvPr>
            <p:custDataLst>
              <p:tags r:id="rId11"/>
            </p:custDataLst>
          </p:nvPr>
        </p:nvGraphicFramePr>
        <p:xfrm>
          <a:off x="4883398" y="4238191"/>
          <a:ext cx="4181061"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5" name="PCPs_Z_ME">
            <a:extLst>
              <a:ext uri="{FF2B5EF4-FFF2-40B4-BE49-F238E27FC236}">
                <a16:creationId xmlns:a16="http://schemas.microsoft.com/office/drawing/2014/main" id="{B832DA60-1CBF-7ADF-F079-2DA233253160}"/>
              </a:ext>
            </a:extLst>
          </p:cNvPr>
          <p:cNvGraphicFramePr/>
          <p:nvPr>
            <p:custDataLst>
              <p:tags r:id="rId12"/>
            </p:custDataLst>
          </p:nvPr>
        </p:nvGraphicFramePr>
        <p:xfrm>
          <a:off x="4883398" y="4557301"/>
          <a:ext cx="4181061"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6" name="PCPs_Z_ME">
            <a:extLst>
              <a:ext uri="{FF2B5EF4-FFF2-40B4-BE49-F238E27FC236}">
                <a16:creationId xmlns:a16="http://schemas.microsoft.com/office/drawing/2014/main" id="{2B05A134-10E3-1384-FCFB-9374E6E24217}"/>
              </a:ext>
            </a:extLst>
          </p:cNvPr>
          <p:cNvGraphicFramePr/>
          <p:nvPr>
            <p:custDataLst>
              <p:tags r:id="rId13"/>
            </p:custDataLst>
          </p:nvPr>
        </p:nvGraphicFramePr>
        <p:xfrm>
          <a:off x="4883398" y="4876411"/>
          <a:ext cx="4181061"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17" name="PCPs_Z_ME">
            <a:extLst>
              <a:ext uri="{FF2B5EF4-FFF2-40B4-BE49-F238E27FC236}">
                <a16:creationId xmlns:a16="http://schemas.microsoft.com/office/drawing/2014/main" id="{56094600-9A38-6601-8B48-BAA4C731B1DB}"/>
              </a:ext>
            </a:extLst>
          </p:cNvPr>
          <p:cNvGraphicFramePr/>
          <p:nvPr>
            <p:custDataLst>
              <p:tags r:id="rId14"/>
            </p:custDataLst>
          </p:nvPr>
        </p:nvGraphicFramePr>
        <p:xfrm>
          <a:off x="4883398" y="5195521"/>
          <a:ext cx="4181061" cy="331200"/>
        </p:xfrm>
        <a:graphic>
          <a:graphicData uri="http://schemas.openxmlformats.org/drawingml/2006/chart">
            <c:chart xmlns:c="http://schemas.openxmlformats.org/drawingml/2006/chart" xmlns:r="http://schemas.openxmlformats.org/officeDocument/2006/relationships" r:id="rId29"/>
          </a:graphicData>
        </a:graphic>
      </p:graphicFrame>
      <p:sp>
        <p:nvSpPr>
          <p:cNvPr id="20" name="Highlight#32">
            <a:extLst>
              <a:ext uri="{FF2B5EF4-FFF2-40B4-BE49-F238E27FC236}">
                <a16:creationId xmlns:a16="http://schemas.microsoft.com/office/drawing/2014/main" id="{A794F319-43E9-A93F-6810-65E21800BA90}"/>
              </a:ext>
            </a:extLst>
          </p:cNvPr>
          <p:cNvSpPr txBox="1"/>
          <p:nvPr/>
        </p:nvSpPr>
        <p:spPr>
          <a:xfrm>
            <a:off x="-1" y="1681379"/>
            <a:ext cx="9013173" cy="650724"/>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aphicFrame>
        <p:nvGraphicFramePr>
          <p:cNvPr id="18" name="PCPs_Z_ME">
            <a:extLst>
              <a:ext uri="{FF2B5EF4-FFF2-40B4-BE49-F238E27FC236}">
                <a16:creationId xmlns:a16="http://schemas.microsoft.com/office/drawing/2014/main" id="{33835361-85B9-29BE-B130-3AD8D36992F0}"/>
              </a:ext>
            </a:extLst>
          </p:cNvPr>
          <p:cNvGraphicFramePr/>
          <p:nvPr>
            <p:custDataLst>
              <p:tags r:id="rId15"/>
            </p:custDataLst>
          </p:nvPr>
        </p:nvGraphicFramePr>
        <p:xfrm>
          <a:off x="4883398" y="5514631"/>
          <a:ext cx="4181061" cy="331200"/>
        </p:xfrm>
        <a:graphic>
          <a:graphicData uri="http://schemas.openxmlformats.org/drawingml/2006/chart">
            <c:chart xmlns:c="http://schemas.openxmlformats.org/drawingml/2006/chart" xmlns:r="http://schemas.openxmlformats.org/officeDocument/2006/relationships" r:id="rId30"/>
          </a:graphicData>
        </a:graphic>
      </p:graphicFrame>
      <p:sp>
        <p:nvSpPr>
          <p:cNvPr id="22" name="Google Shape;1375;p33">
            <a:extLst>
              <a:ext uri="{FF2B5EF4-FFF2-40B4-BE49-F238E27FC236}">
                <a16:creationId xmlns:a16="http://schemas.microsoft.com/office/drawing/2014/main" id="{491B55B9-FD59-E61E-499A-A512D667C41B}"/>
              </a:ext>
            </a:extLst>
          </p:cNvPr>
          <p:cNvSpPr txBox="1"/>
          <p:nvPr/>
        </p:nvSpPr>
        <p:spPr>
          <a:xfrm>
            <a:off x="323850" y="5955766"/>
            <a:ext cx="825159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 *Full message text in speaker notes | </a:t>
            </a:r>
            <a:r>
              <a:rPr kumimoji="0" lang="en-GB"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Messages sorted in decreasing order of recall for ZENPEP messages |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**New message added in W32: Z24 | ^Messages Edited in W32: Z11, Z23</a:t>
            </a:r>
          </a:p>
        </p:txBody>
      </p:sp>
    </p:spTree>
    <p:extLst>
      <p:ext uri="{BB962C8B-B14F-4D97-AF65-F5344CB8AC3E}">
        <p14:creationId xmlns:p14="http://schemas.microsoft.com/office/powerpoint/2010/main" val="2143206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1442">
          <a:extLst>
            <a:ext uri="{FF2B5EF4-FFF2-40B4-BE49-F238E27FC236}">
              <a16:creationId xmlns:a16="http://schemas.microsoft.com/office/drawing/2014/main" id="{5D9F096B-3246-61F4-3250-C759152EBF41}"/>
            </a:ext>
          </a:extLst>
        </p:cNvPr>
        <p:cNvGrpSpPr/>
        <p:nvPr/>
      </p:nvGrpSpPr>
      <p:grpSpPr>
        <a:xfrm>
          <a:off x="0" y="0"/>
          <a:ext cx="0" cy="0"/>
          <a:chOff x="0" y="0"/>
          <a:chExt cx="0" cy="0"/>
        </a:xfrm>
      </p:grpSpPr>
      <p:sp>
        <p:nvSpPr>
          <p:cNvPr id="3" name="Google Shape;1415;p35">
            <a:extLst>
              <a:ext uri="{FF2B5EF4-FFF2-40B4-BE49-F238E27FC236}">
                <a16:creationId xmlns:a16="http://schemas.microsoft.com/office/drawing/2014/main" id="{6291E9B7-B436-9E2D-77E1-878247D97274}"/>
              </a:ext>
            </a:extLst>
          </p:cNvPr>
          <p:cNvSpPr/>
          <p:nvPr/>
        </p:nvSpPr>
        <p:spPr>
          <a:xfrm>
            <a:off x="100796" y="752779"/>
            <a:ext cx="8264214" cy="44367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Message Effectiveness – </a:t>
            </a:r>
            <a:r>
              <a:rPr kumimoji="0" lang="en-US" sz="1400" b="1" i="0" u="sng" strike="noStrike" kern="0" cap="none" spc="0" normalizeH="0" baseline="0" noProof="0">
                <a:ln>
                  <a:noFill/>
                </a:ln>
                <a:solidFill>
                  <a:srgbClr val="A58ADA"/>
                </a:solidFill>
                <a:effectLst/>
                <a:uLnTx/>
                <a:uFillTx/>
                <a:latin typeface="Arial"/>
                <a:ea typeface="Calibri"/>
                <a:cs typeface="Calibri"/>
                <a:sym typeface="Calibri"/>
              </a:rPr>
              <a:t>ZENPEP </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 (NP/PA</a:t>
            </a:r>
            <a:r>
              <a:rPr kumimoji="0" lang="en-US" sz="1400" b="1"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1400" b="1" i="0" u="sng" strike="noStrike" kern="0" cap="none" spc="0" normalizeH="0" baseline="0" noProof="0">
                <a:ln>
                  <a:noFill/>
                </a:ln>
                <a:solidFill>
                  <a:srgbClr val="071D49"/>
                </a:solidFill>
                <a:effectLst/>
                <a:uLnTx/>
                <a:uFillTx/>
                <a:latin typeface="Arial"/>
                <a:ea typeface="Calibri"/>
                <a:cs typeface="Calibri"/>
                <a:sym typeface="Calibri"/>
              </a:rPr>
              <a:t>)</a:t>
            </a:r>
            <a:endParaRPr kumimoji="0" lang="en-IN" sz="1400" b="0" i="0" u="sng" strike="noStrike" kern="0" cap="none" spc="0" normalizeH="0" baseline="0" noProof="0">
              <a:ln>
                <a:noFill/>
              </a:ln>
              <a:solidFill>
                <a:srgbClr val="071D49"/>
              </a:solidFill>
              <a:effectLst/>
              <a:uLnTx/>
              <a:uFillTx/>
              <a:latin typeface="Arial"/>
              <a:ea typeface="+mn-ea"/>
              <a:cs typeface="Arial"/>
              <a:sym typeface="Arial"/>
            </a:endParaRPr>
          </a:p>
          <a:p>
            <a:pPr marL="0" marR="0" lvl="0" indent="0" algn="ctr" defTabSz="914400" rtl="0" eaLnBrk="1" fontAlgn="auto" latinLnBrk="0" hangingPunct="1">
              <a:lnSpc>
                <a:spcPct val="100000"/>
              </a:lnSpc>
              <a:spcBef>
                <a:spcPts val="91"/>
              </a:spcBef>
              <a:spcAft>
                <a:spcPts val="0"/>
              </a:spcAft>
              <a:buClr>
                <a:srgbClr val="000000"/>
              </a:buClr>
              <a:buSzTx/>
              <a:buFont typeface="Arial"/>
              <a:buNone/>
              <a:tabLst/>
              <a:defRPr/>
            </a:pP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(Jan’25 – Feb’25: n = 25</a:t>
            </a:r>
            <a:r>
              <a:rPr kumimoji="0" lang="en-IN" sz="800" b="0" i="0" u="none" strike="noStrike" kern="0" cap="none" spc="0" normalizeH="0" baseline="0" noProof="0">
                <a:ln>
                  <a:noFill/>
                </a:ln>
                <a:solidFill>
                  <a:srgbClr val="FF0000"/>
                </a:solidFill>
                <a:effectLst/>
                <a:uLnTx/>
                <a:uFillTx/>
                <a:latin typeface="Arial" panose="020B0604020202020204"/>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Mar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Apr</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panose="020B0604020202020204"/>
                <a:ea typeface="Calibri"/>
                <a:cs typeface="Calibri"/>
                <a:sym typeface="Calibri"/>
              </a:rPr>
              <a:t>23</a:t>
            </a:r>
            <a:r>
              <a:rPr kumimoji="0" lang="en-US" sz="800" b="0" i="0" u="none" strike="noStrike" kern="0" cap="none" spc="0" normalizeH="0" baseline="0" noProof="0">
                <a:ln>
                  <a:noFill/>
                </a:ln>
                <a:solidFill>
                  <a:srgbClr val="FF0000"/>
                </a:solidFill>
                <a:effectLst/>
                <a:uLnTx/>
                <a:uFillTx/>
                <a:latin typeface="Arial"/>
                <a:ea typeface="Calibri"/>
                <a:cs typeface="Calibri"/>
                <a:sym typeface="Calibri"/>
              </a:rPr>
              <a:t>*</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 May’25 – Jun’25: n = 27</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IN" sz="800" b="0" i="0" u="none" strike="noStrike" kern="0" cap="none" spc="0" normalizeH="0" baseline="0" noProof="0">
                <a:ln>
                  <a:noFill/>
                </a:ln>
                <a:solidFill>
                  <a:srgbClr val="071D49"/>
                </a:solidFill>
                <a:effectLst/>
                <a:uLnTx/>
                <a:uFillTx/>
                <a:latin typeface="Arial"/>
                <a:ea typeface="Calibri"/>
                <a:cs typeface="Calibri"/>
                <a:sym typeface="Calibri"/>
              </a:rPr>
              <a:t>|</a:t>
            </a:r>
            <a:r>
              <a:rPr kumimoji="0" lang="en-IN" sz="800" b="0" i="0" u="none" strike="noStrike" kern="0" cap="none" spc="0" normalizeH="0" baseline="0" noProof="0">
                <a:ln>
                  <a:noFill/>
                </a:ln>
                <a:solidFill>
                  <a:srgbClr val="FF0000"/>
                </a:solidFill>
                <a:effectLst/>
                <a:uLnTx/>
                <a:uFillTx/>
                <a:latin typeface="Arial"/>
                <a:ea typeface="Calibri"/>
                <a:cs typeface="Calibri"/>
                <a:sym typeface="Calibri"/>
              </a:rPr>
              <a:t>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Jul’25 – Aug’25: n = 30</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Sep’2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 Oct’2</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5</a:t>
            </a:r>
            <a:r>
              <a:rPr kumimoji="0" lang="pl-PL" sz="800" b="0" i="0" u="sng" strike="noStrike" kern="0" cap="none" spc="0" normalizeH="0" baseline="0" noProof="0">
                <a:ln>
                  <a:noFill/>
                </a:ln>
                <a:solidFill>
                  <a:srgbClr val="071D49"/>
                </a:solidFill>
                <a:effectLst/>
                <a:uLnTx/>
                <a:uFillTx/>
                <a:latin typeface="Arial"/>
                <a:ea typeface="Calibri"/>
                <a:cs typeface="Calibri"/>
                <a:sym typeface="Calibri"/>
              </a:rPr>
              <a:t>: n = </a:t>
            </a:r>
            <a:r>
              <a:rPr kumimoji="0" lang="en-IN" sz="800" b="0" i="0" u="sng" strike="noStrike" kern="0" cap="none" spc="0" normalizeH="0" baseline="0" noProof="0">
                <a:ln>
                  <a:noFill/>
                </a:ln>
                <a:solidFill>
                  <a:srgbClr val="071D49"/>
                </a:solidFill>
                <a:effectLst/>
                <a:uLnTx/>
                <a:uFillTx/>
                <a:latin typeface="Arial"/>
                <a:ea typeface="Calibri"/>
                <a:cs typeface="Calibri"/>
                <a:sym typeface="Calibri"/>
              </a:rPr>
              <a:t>33 |</a:t>
            </a:r>
            <a:r>
              <a:rPr kumimoji="0" lang="en-US" sz="800" b="0" i="0" u="sng" strike="noStrike" kern="0" cap="none" spc="0" normalizeH="0" baseline="0" noProof="0">
                <a:ln>
                  <a:noFill/>
                </a:ln>
                <a:solidFill>
                  <a:srgbClr val="071D49"/>
                </a:solidFill>
                <a:effectLst/>
                <a:uLnTx/>
                <a:uFillTx/>
                <a:latin typeface="Arial"/>
                <a:ea typeface="Calibri"/>
                <a:cs typeface="Calibri"/>
                <a:sym typeface="Calibri"/>
              </a:rPr>
              <a:t> Nov’25 – Dec’25: n = 38)</a:t>
            </a:r>
            <a:endParaRPr kumimoji="0" lang="en-IN" sz="800" b="0" i="0" u="sng" strike="noStrike" kern="0" cap="none" spc="0" normalizeH="0" baseline="30000" noProof="0">
              <a:ln>
                <a:noFill/>
              </a:ln>
              <a:solidFill>
                <a:srgbClr val="9778D4"/>
              </a:solidFill>
              <a:effectLst/>
              <a:uLnTx/>
              <a:uFillTx/>
              <a:latin typeface="Arial"/>
              <a:ea typeface="Calibri"/>
              <a:cs typeface="Calibri"/>
              <a:sym typeface="Calibri"/>
            </a:endParaRPr>
          </a:p>
        </p:txBody>
      </p:sp>
      <p:graphicFrame>
        <p:nvGraphicFramePr>
          <p:cNvPr id="29" name="Shape_86193014">
            <a:extLst>
              <a:ext uri="{FF2B5EF4-FFF2-40B4-BE49-F238E27FC236}">
                <a16:creationId xmlns:a16="http://schemas.microsoft.com/office/drawing/2014/main" id="{38700FF4-2A57-5BBE-266B-FC6F82045329}"/>
              </a:ext>
            </a:extLst>
          </p:cNvPr>
          <p:cNvGraphicFramePr>
            <a:graphicFrameLocks noGrp="1"/>
          </p:cNvGraphicFramePr>
          <p:nvPr>
            <p:custDataLst>
              <p:tags r:id="rId1"/>
            </p:custDataLst>
          </p:nvPr>
        </p:nvGraphicFramePr>
        <p:xfrm>
          <a:off x="4991181" y="1464919"/>
          <a:ext cx="3965496" cy="243840"/>
        </p:xfrm>
        <a:graphic>
          <a:graphicData uri="http://schemas.openxmlformats.org/drawingml/2006/table">
            <a:tbl>
              <a:tblPr firstRow="1" bandRow="1">
                <a:tableStyleId>{B301B821-A1FF-4177-AEE7-76D212191A09}</a:tableStyleId>
              </a:tblPr>
              <a:tblGrid>
                <a:gridCol w="660916">
                  <a:extLst>
                    <a:ext uri="{9D8B030D-6E8A-4147-A177-3AD203B41FA5}">
                      <a16:colId xmlns:a16="http://schemas.microsoft.com/office/drawing/2014/main" val="3554599800"/>
                    </a:ext>
                  </a:extLst>
                </a:gridCol>
                <a:gridCol w="660916">
                  <a:extLst>
                    <a:ext uri="{9D8B030D-6E8A-4147-A177-3AD203B41FA5}">
                      <a16:colId xmlns:a16="http://schemas.microsoft.com/office/drawing/2014/main" val="2914776207"/>
                    </a:ext>
                  </a:extLst>
                </a:gridCol>
                <a:gridCol w="660916">
                  <a:extLst>
                    <a:ext uri="{9D8B030D-6E8A-4147-A177-3AD203B41FA5}">
                      <a16:colId xmlns:a16="http://schemas.microsoft.com/office/drawing/2014/main" val="2088702262"/>
                    </a:ext>
                  </a:extLst>
                </a:gridCol>
                <a:gridCol w="660916">
                  <a:extLst>
                    <a:ext uri="{9D8B030D-6E8A-4147-A177-3AD203B41FA5}">
                      <a16:colId xmlns:a16="http://schemas.microsoft.com/office/drawing/2014/main" val="192097877"/>
                    </a:ext>
                  </a:extLst>
                </a:gridCol>
                <a:gridCol w="660916">
                  <a:extLst>
                    <a:ext uri="{9D8B030D-6E8A-4147-A177-3AD203B41FA5}">
                      <a16:colId xmlns:a16="http://schemas.microsoft.com/office/drawing/2014/main" val="1326389649"/>
                    </a:ext>
                  </a:extLst>
                </a:gridCol>
                <a:gridCol w="660916">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graphicFrame>
        <p:nvGraphicFramePr>
          <p:cNvPr id="33" name="NPPA_C_ME_TABLE">
            <a:extLst>
              <a:ext uri="{FF2B5EF4-FFF2-40B4-BE49-F238E27FC236}">
                <a16:creationId xmlns:a16="http://schemas.microsoft.com/office/drawing/2014/main" id="{0B10F449-569D-0C4A-2C36-D8DE72AF28A4}"/>
              </a:ext>
            </a:extLst>
          </p:cNvPr>
          <p:cNvGraphicFramePr/>
          <p:nvPr>
            <p:custDataLst>
              <p:tags r:id="rId2"/>
            </p:custDataLst>
          </p:nvPr>
        </p:nvGraphicFramePr>
        <p:xfrm>
          <a:off x="24500" y="1685311"/>
          <a:ext cx="4932000" cy="4160520"/>
        </p:xfrm>
        <a:graphic>
          <a:graphicData uri="http://schemas.openxmlformats.org/drawingml/2006/table">
            <a:tbl>
              <a:tblPr>
                <a:noFill/>
              </a:tblPr>
              <a:tblGrid>
                <a:gridCol w="360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20040">
                <a:tc>
                  <a:txBody>
                    <a:bodyPr/>
                    <a:lstStyle/>
                    <a:p>
                      <a:pPr algn="ctr" fontAlgn="ctr"/>
                      <a:r>
                        <a:rPr lang="en-IN" sz="900" b="1" i="0" u="none" strike="noStrike">
                          <a:solidFill>
                            <a:srgbClr val="071D49"/>
                          </a:solidFill>
                          <a:effectLst/>
                          <a:latin typeface="Arial" panose="020B0604020202020204" pitchFamily="34" charset="0"/>
                        </a:rPr>
                        <a:t>Z17</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Only ZENPEP offers 40k and 60k lipase-unit capsules, which may help reduce the number of pills your adult patients need to take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0"/>
                  </a:ext>
                </a:extLst>
              </a:tr>
              <a:tr h="320040">
                <a:tc>
                  <a:txBody>
                    <a:bodyPr/>
                    <a:lstStyle/>
                    <a:p>
                      <a:pPr algn="ctr" fontAlgn="ctr"/>
                      <a:r>
                        <a:rPr lang="en-IN" sz="900" b="1" i="0" u="none" strike="noStrike">
                          <a:solidFill>
                            <a:srgbClr val="071D49"/>
                          </a:solidFill>
                          <a:effectLst/>
                          <a:latin typeface="Arial" panose="020B0604020202020204" pitchFamily="34" charset="0"/>
                        </a:rPr>
                        <a:t>Z19</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Meets the ACG guideline for EPI and CP in a single capsule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1"/>
                  </a:ext>
                </a:extLst>
              </a:tr>
              <a:tr h="320040">
                <a:tc>
                  <a:txBody>
                    <a:bodyPr/>
                    <a:lstStyle/>
                    <a:p>
                      <a:pPr algn="ctr" fontAlgn="ctr"/>
                      <a:r>
                        <a:rPr lang="en-IN" sz="900" b="1" i="0" u="none" strike="noStrike">
                          <a:solidFill>
                            <a:srgbClr val="071D49"/>
                          </a:solidFill>
                          <a:effectLst/>
                          <a:latin typeface="Arial" panose="020B0604020202020204" pitchFamily="34" charset="0"/>
                        </a:rPr>
                        <a:t>Z16</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offers a single-capsule starting dose for almost all adult patients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3"/>
                  </a:ext>
                </a:extLst>
              </a:tr>
              <a:tr h="320040">
                <a:tc>
                  <a:txBody>
                    <a:bodyPr/>
                    <a:lstStyle/>
                    <a:p>
                      <a:pPr algn="ctr" fontAlgn="ctr"/>
                      <a:r>
                        <a:rPr lang="en-IN" sz="900" b="1" i="0" u="none" strike="noStrike">
                          <a:solidFill>
                            <a:srgbClr val="071D49"/>
                          </a:solidFill>
                          <a:effectLst/>
                          <a:latin typeface="Arial" panose="020B0604020202020204" pitchFamily="34" charset="0"/>
                        </a:rPr>
                        <a:t>Z15</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When prescribing PERT to your adult patients with EPI -Start simply with one capsule of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4"/>
                  </a:ext>
                </a:extLst>
              </a:tr>
              <a:tr h="320040">
                <a:tc>
                  <a:txBody>
                    <a:bodyPr/>
                    <a:lstStyle/>
                    <a:p>
                      <a:pPr algn="ctr" fontAlgn="ctr"/>
                      <a:r>
                        <a:rPr lang="en-IN" sz="900" b="1" i="0" u="none" strike="noStrike">
                          <a:solidFill>
                            <a:srgbClr val="071D49"/>
                          </a:solidFill>
                          <a:effectLst/>
                          <a:latin typeface="Arial" panose="020B0604020202020204" pitchFamily="34" charset="0"/>
                        </a:rPr>
                        <a:t>Z21</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can help your patients absorb the fat and nutrients they need and treat uncomfortable GI symptoms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5"/>
                  </a:ext>
                </a:extLst>
              </a:tr>
              <a:tr h="320040">
                <a:tc>
                  <a:txBody>
                    <a:bodyPr/>
                    <a:lstStyle/>
                    <a:p>
                      <a:pPr algn="ctr" fontAlgn="ctr"/>
                      <a:r>
                        <a:rPr lang="en-IN" sz="900" b="1" i="0" u="none" strike="noStrike">
                          <a:solidFill>
                            <a:srgbClr val="071D49"/>
                          </a:solidFill>
                          <a:effectLst/>
                          <a:latin typeface="Arial" panose="020B0604020202020204" pitchFamily="34" charset="0"/>
                        </a:rPr>
                        <a:t>Z24**</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is designed to mimic typical exocrine pancreatic function.</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6"/>
                  </a:ext>
                </a:extLst>
              </a:tr>
              <a:tr h="320040">
                <a:tc>
                  <a:txBody>
                    <a:bodyPr/>
                    <a:lstStyle/>
                    <a:p>
                      <a:pPr algn="ctr" fontAlgn="ctr"/>
                      <a:r>
                        <a:rPr lang="en-IN" sz="900" b="1" i="0" u="none" strike="noStrike">
                          <a:solidFill>
                            <a:srgbClr val="071D49"/>
                          </a:solidFill>
                          <a:effectLst/>
                          <a:latin typeface="Arial" panose="020B0604020202020204" pitchFamily="34" charset="0"/>
                        </a:rPr>
                        <a:t>Z7</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has an enteric coating that minimizes degradation and targets enzyme release in the small intestine</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7"/>
                  </a:ext>
                </a:extLst>
              </a:tr>
              <a:tr h="320040">
                <a:tc>
                  <a:txBody>
                    <a:bodyPr/>
                    <a:lstStyle/>
                    <a:p>
                      <a:pPr algn="ctr" fontAlgn="ctr"/>
                      <a:r>
                        <a:rPr lang="en-IN" sz="900" b="1" i="0" u="none" strike="noStrike">
                          <a:solidFill>
                            <a:srgbClr val="071D49"/>
                          </a:solidFill>
                          <a:effectLst/>
                          <a:latin typeface="Arial" panose="020B0604020202020204" pitchFamily="34" charset="0"/>
                        </a:rPr>
                        <a:t>Z8</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ZENPEP helps fuel nutritional health, increasing coefficient of fat absorption (CFA) by 26 percentage points vs placebo</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08"/>
                  </a:ext>
                </a:extLst>
              </a:tr>
              <a:tr h="320040">
                <a:tc>
                  <a:txBody>
                    <a:bodyPr/>
                    <a:lstStyle/>
                    <a:p>
                      <a:pPr algn="ctr" fontAlgn="ctr"/>
                      <a:r>
                        <a:rPr lang="en-IN" sz="900" b="1" i="0" u="none" strike="noStrike">
                          <a:solidFill>
                            <a:srgbClr val="071D49"/>
                          </a:solidFill>
                          <a:effectLst/>
                          <a:latin typeface="Arial" panose="020B0604020202020204" pitchFamily="34" charset="0"/>
                        </a:rPr>
                        <a:t>Z18</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In a clinical trial, the right dose helped patients absorb nutrients from their food and provided symptom relief</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09"/>
                  </a:ext>
                </a:extLst>
              </a:tr>
              <a:tr h="320040">
                <a:tc>
                  <a:txBody>
                    <a:bodyPr/>
                    <a:lstStyle/>
                    <a:p>
                      <a:pPr algn="ctr" fontAlgn="ctr"/>
                      <a:r>
                        <a:rPr lang="en-IN" sz="900" b="1" i="0" u="none" strike="noStrike">
                          <a:solidFill>
                            <a:srgbClr val="071D49"/>
                          </a:solidFill>
                          <a:effectLst/>
                          <a:latin typeface="Arial" panose="020B0604020202020204" pitchFamily="34" charset="0"/>
                        </a:rPr>
                        <a:t>Z20</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91% of patients achieved a CFA of 80% or higher with ZENPEP</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0010"/>
                  </a:ext>
                </a:extLst>
              </a:tr>
              <a:tr h="320040">
                <a:tc>
                  <a:txBody>
                    <a:bodyPr/>
                    <a:lstStyle/>
                    <a:p>
                      <a:pPr algn="ctr" fontAlgn="ctr"/>
                      <a:r>
                        <a:rPr lang="en-IN" sz="900" b="1" i="0" u="none" strike="noStrike">
                          <a:solidFill>
                            <a:srgbClr val="071D49"/>
                          </a:solidFill>
                          <a:effectLst/>
                          <a:latin typeface="Arial" panose="020B0604020202020204" pitchFamily="34" charset="0"/>
                        </a:rPr>
                        <a:t>Z22</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Through My SampleCloset, practices are able to easily request samples of ZENPEP at any strength</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0011"/>
                  </a:ext>
                </a:extLst>
              </a:tr>
              <a:tr h="320040">
                <a:tc>
                  <a:txBody>
                    <a:bodyPr/>
                    <a:lstStyle/>
                    <a:p>
                      <a:pPr algn="ctr" fontAlgn="ctr"/>
                      <a:r>
                        <a:rPr lang="en-IN" sz="900" b="1" i="0" u="none" strike="noStrike">
                          <a:solidFill>
                            <a:srgbClr val="071D49"/>
                          </a:solidFill>
                          <a:effectLst/>
                          <a:latin typeface="Arial" panose="020B0604020202020204" pitchFamily="34" charset="0"/>
                        </a:rPr>
                        <a:t>Z11^</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tc>
                  <a:txBody>
                    <a:bodyPr/>
                    <a:lstStyle/>
                    <a:p>
                      <a:pPr algn="l" fontAlgn="ctr"/>
                      <a:r>
                        <a:rPr lang="en-US" sz="900" b="0" i="0" u="none" strike="noStrike">
                          <a:solidFill>
                            <a:srgbClr val="071D49"/>
                          </a:solidFill>
                          <a:effectLst/>
                          <a:latin typeface="Arial" panose="020B0604020202020204" pitchFamily="34" charset="0"/>
                        </a:rPr>
                        <a:t>Eligible patients pay as little as $5 for their first prescription fill and for refills.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D7E0EA"/>
                    </a:solidFill>
                  </a:tcPr>
                </a:tc>
                <a:extLst>
                  <a:ext uri="{0D108BD9-81ED-4DB2-BD59-A6C34878D82A}">
                    <a16:rowId xmlns:a16="http://schemas.microsoft.com/office/drawing/2014/main" val="1161939822"/>
                  </a:ext>
                </a:extLst>
              </a:tr>
              <a:tr h="320040">
                <a:tc>
                  <a:txBody>
                    <a:bodyPr/>
                    <a:lstStyle/>
                    <a:p>
                      <a:pPr algn="ctr" fontAlgn="ctr"/>
                      <a:r>
                        <a:rPr lang="en-IN" sz="900" b="1" i="0" u="none" strike="noStrike">
                          <a:solidFill>
                            <a:srgbClr val="071D49"/>
                          </a:solidFill>
                          <a:effectLst/>
                          <a:latin typeface="Arial" panose="020B0604020202020204" pitchFamily="34" charset="0"/>
                        </a:rPr>
                        <a:t>Z23^</a:t>
                      </a:r>
                    </a:p>
                  </a:txBody>
                  <a:tcPr marL="0" marR="6350" marT="6350" marB="0" anchor="ctr">
                    <a:lnL w="12700" cap="flat" cmpd="sng">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tc>
                  <a:txBody>
                    <a:bodyPr/>
                    <a:lstStyle/>
                    <a:p>
                      <a:pPr algn="l" fontAlgn="ctr"/>
                      <a:r>
                        <a:rPr lang="en-US" sz="900" b="0" i="0" u="none" strike="noStrike">
                          <a:solidFill>
                            <a:srgbClr val="071D49"/>
                          </a:solidFill>
                          <a:effectLst/>
                          <a:latin typeface="Arial" panose="020B0604020202020204" pitchFamily="34" charset="0"/>
                        </a:rPr>
                        <a:t>ZENPEP is the most widely covered treatment in its class.</a:t>
                      </a:r>
                    </a:p>
                  </a:txBody>
                  <a:tcPr marL="76200" marR="6350" marT="6350" marB="0" anchor="ctr">
                    <a:lnL w="12700" cap="flat" cmpd="sng" algn="ctr">
                      <a:solidFill>
                        <a:schemeClr val="lt1"/>
                      </a:solidFill>
                      <a:prstDash val="solid"/>
                      <a:round/>
                      <a:headEnd type="none" w="sm" len="sm"/>
                      <a:tailEnd type="none" w="sm" len="sm"/>
                    </a:lnL>
                    <a:lnR w="12700" cap="flat" cmpd="sng" algn="ctr">
                      <a:solidFill>
                        <a:schemeClr val="lt1"/>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ECF0F5"/>
                    </a:solidFill>
                  </a:tcPr>
                </a:tc>
                <a:extLst>
                  <a:ext uri="{0D108BD9-81ED-4DB2-BD59-A6C34878D82A}">
                    <a16:rowId xmlns:a16="http://schemas.microsoft.com/office/drawing/2014/main" val="1941874407"/>
                  </a:ext>
                </a:extLst>
              </a:tr>
            </a:tbl>
          </a:graphicData>
        </a:graphic>
      </p:graphicFrame>
      <p:sp>
        <p:nvSpPr>
          <p:cNvPr id="35" name="TextBox 34">
            <a:extLst>
              <a:ext uri="{FF2B5EF4-FFF2-40B4-BE49-F238E27FC236}">
                <a16:creationId xmlns:a16="http://schemas.microsoft.com/office/drawing/2014/main" id="{E7F5F194-F46A-0AD8-B7D6-926144C17A6A}"/>
              </a:ext>
            </a:extLst>
          </p:cNvPr>
          <p:cNvSpPr txBox="1"/>
          <p:nvPr/>
        </p:nvSpPr>
        <p:spPr>
          <a:xfrm>
            <a:off x="24502" y="1401280"/>
            <a:ext cx="493199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Messages*</a:t>
            </a:r>
            <a:endPar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endParaRPr>
          </a:p>
        </p:txBody>
      </p:sp>
      <p:sp>
        <p:nvSpPr>
          <p:cNvPr id="40" name="Google Shape;1433;p35">
            <a:extLst>
              <a:ext uri="{FF2B5EF4-FFF2-40B4-BE49-F238E27FC236}">
                <a16:creationId xmlns:a16="http://schemas.microsoft.com/office/drawing/2014/main" id="{175DC9B5-8BB9-34C2-779A-51C16E762A89}"/>
              </a:ext>
            </a:extLst>
          </p:cNvPr>
          <p:cNvSpPr/>
          <p:nvPr/>
        </p:nvSpPr>
        <p:spPr>
          <a:xfrm>
            <a:off x="6203818" y="5737788"/>
            <a:ext cx="1587079"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HCPs (Rating 6,7)</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2" name="Google Shape;1583;p40">
            <a:extLst>
              <a:ext uri="{FF2B5EF4-FFF2-40B4-BE49-F238E27FC236}">
                <a16:creationId xmlns:a16="http://schemas.microsoft.com/office/drawing/2014/main" id="{BBDBBAE4-9C2D-81BA-A054-012D4EE75D7E}"/>
              </a:ext>
            </a:extLst>
          </p:cNvPr>
          <p:cNvSpPr/>
          <p:nvPr/>
        </p:nvSpPr>
        <p:spPr>
          <a:xfrm>
            <a:off x="5925065" y="6662549"/>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6" name="Google Shape;1359;p33">
            <a:extLst>
              <a:ext uri="{FF2B5EF4-FFF2-40B4-BE49-F238E27FC236}">
                <a16:creationId xmlns:a16="http://schemas.microsoft.com/office/drawing/2014/main" id="{5EFF7AFF-4ADE-7F07-E6DE-13C564839F36}"/>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Calibri"/>
              </a:rPr>
              <a:t>Message Effectiveness – ZENPEP (NP/PAs)</a:t>
            </a:r>
          </a:p>
        </p:txBody>
      </p:sp>
      <p:graphicFrame>
        <p:nvGraphicFramePr>
          <p:cNvPr id="4" name="NPPAs_Z_ME">
            <a:extLst>
              <a:ext uri="{FF2B5EF4-FFF2-40B4-BE49-F238E27FC236}">
                <a16:creationId xmlns:a16="http://schemas.microsoft.com/office/drawing/2014/main" id="{548D13B6-1323-2D08-87DA-3019D199E954}"/>
              </a:ext>
            </a:extLst>
          </p:cNvPr>
          <p:cNvGraphicFramePr/>
          <p:nvPr>
            <p:custDataLst>
              <p:tags r:id="rId3"/>
            </p:custDataLst>
          </p:nvPr>
        </p:nvGraphicFramePr>
        <p:xfrm>
          <a:off x="4883398" y="1685311"/>
          <a:ext cx="4181061" cy="33120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5" name="NPPAs_Z_ME">
            <a:extLst>
              <a:ext uri="{FF2B5EF4-FFF2-40B4-BE49-F238E27FC236}">
                <a16:creationId xmlns:a16="http://schemas.microsoft.com/office/drawing/2014/main" id="{B81D4F81-3892-B764-9E47-EE69019F1DD7}"/>
              </a:ext>
            </a:extLst>
          </p:cNvPr>
          <p:cNvGraphicFramePr/>
          <p:nvPr>
            <p:custDataLst>
              <p:tags r:id="rId4"/>
            </p:custDataLst>
          </p:nvPr>
        </p:nvGraphicFramePr>
        <p:xfrm>
          <a:off x="4883398" y="2004421"/>
          <a:ext cx="4181061" cy="3312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7" name="NPPAs_Z_ME">
            <a:extLst>
              <a:ext uri="{FF2B5EF4-FFF2-40B4-BE49-F238E27FC236}">
                <a16:creationId xmlns:a16="http://schemas.microsoft.com/office/drawing/2014/main" id="{FB940FB0-E421-C2CC-5C7A-0EA308BFE3FC}"/>
              </a:ext>
            </a:extLst>
          </p:cNvPr>
          <p:cNvGraphicFramePr/>
          <p:nvPr>
            <p:custDataLst>
              <p:tags r:id="rId5"/>
            </p:custDataLst>
          </p:nvPr>
        </p:nvGraphicFramePr>
        <p:xfrm>
          <a:off x="4883398" y="2323531"/>
          <a:ext cx="4181061" cy="3312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9" name="NPPAs_Z_ME">
            <a:extLst>
              <a:ext uri="{FF2B5EF4-FFF2-40B4-BE49-F238E27FC236}">
                <a16:creationId xmlns:a16="http://schemas.microsoft.com/office/drawing/2014/main" id="{352AC81D-5734-1FE4-9A37-C58DB75110C5}"/>
              </a:ext>
            </a:extLst>
          </p:cNvPr>
          <p:cNvGraphicFramePr/>
          <p:nvPr>
            <p:custDataLst>
              <p:tags r:id="rId6"/>
            </p:custDataLst>
          </p:nvPr>
        </p:nvGraphicFramePr>
        <p:xfrm>
          <a:off x="4883398" y="2642641"/>
          <a:ext cx="4181061" cy="3312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0" name="NPPAs_Z_ME">
            <a:extLst>
              <a:ext uri="{FF2B5EF4-FFF2-40B4-BE49-F238E27FC236}">
                <a16:creationId xmlns:a16="http://schemas.microsoft.com/office/drawing/2014/main" id="{B15C29C5-D9E3-C09D-2A6A-B65B665383B0}"/>
              </a:ext>
            </a:extLst>
          </p:cNvPr>
          <p:cNvGraphicFramePr/>
          <p:nvPr>
            <p:custDataLst>
              <p:tags r:id="rId7"/>
            </p:custDataLst>
          </p:nvPr>
        </p:nvGraphicFramePr>
        <p:xfrm>
          <a:off x="4883398" y="2961751"/>
          <a:ext cx="4181061" cy="3312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1" name="NPPAs_Z_ME">
            <a:extLst>
              <a:ext uri="{FF2B5EF4-FFF2-40B4-BE49-F238E27FC236}">
                <a16:creationId xmlns:a16="http://schemas.microsoft.com/office/drawing/2014/main" id="{334AA6D2-2846-F2FE-2A12-C30CE92BCAD3}"/>
              </a:ext>
            </a:extLst>
          </p:cNvPr>
          <p:cNvGraphicFramePr/>
          <p:nvPr>
            <p:custDataLst>
              <p:tags r:id="rId8"/>
            </p:custDataLst>
          </p:nvPr>
        </p:nvGraphicFramePr>
        <p:xfrm>
          <a:off x="4883398" y="3280861"/>
          <a:ext cx="4181061" cy="3312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12" name="NPPAs_Z_ME">
            <a:extLst>
              <a:ext uri="{FF2B5EF4-FFF2-40B4-BE49-F238E27FC236}">
                <a16:creationId xmlns:a16="http://schemas.microsoft.com/office/drawing/2014/main" id="{359F493F-A37B-78E5-C2AF-991B0E0F533A}"/>
              </a:ext>
            </a:extLst>
          </p:cNvPr>
          <p:cNvGraphicFramePr/>
          <p:nvPr>
            <p:custDataLst>
              <p:tags r:id="rId9"/>
            </p:custDataLst>
          </p:nvPr>
        </p:nvGraphicFramePr>
        <p:xfrm>
          <a:off x="4883398" y="3599971"/>
          <a:ext cx="4181061" cy="3312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13" name="NPPAs_Z_ME">
            <a:extLst>
              <a:ext uri="{FF2B5EF4-FFF2-40B4-BE49-F238E27FC236}">
                <a16:creationId xmlns:a16="http://schemas.microsoft.com/office/drawing/2014/main" id="{0CEF750D-ACA0-3033-0ED9-EC4D61A8BDFA}"/>
              </a:ext>
            </a:extLst>
          </p:cNvPr>
          <p:cNvGraphicFramePr/>
          <p:nvPr>
            <p:custDataLst>
              <p:tags r:id="rId10"/>
            </p:custDataLst>
          </p:nvPr>
        </p:nvGraphicFramePr>
        <p:xfrm>
          <a:off x="4883398" y="3919081"/>
          <a:ext cx="4181061" cy="3312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14" name="NPPAs_Z_ME">
            <a:extLst>
              <a:ext uri="{FF2B5EF4-FFF2-40B4-BE49-F238E27FC236}">
                <a16:creationId xmlns:a16="http://schemas.microsoft.com/office/drawing/2014/main" id="{9006EA6B-9D67-F3EC-D39C-1186E6465FAD}"/>
              </a:ext>
            </a:extLst>
          </p:cNvPr>
          <p:cNvGraphicFramePr/>
          <p:nvPr>
            <p:custDataLst>
              <p:tags r:id="rId11"/>
            </p:custDataLst>
          </p:nvPr>
        </p:nvGraphicFramePr>
        <p:xfrm>
          <a:off x="4883398" y="4238191"/>
          <a:ext cx="4181061" cy="3312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15" name="NPPAs_Z_ME">
            <a:extLst>
              <a:ext uri="{FF2B5EF4-FFF2-40B4-BE49-F238E27FC236}">
                <a16:creationId xmlns:a16="http://schemas.microsoft.com/office/drawing/2014/main" id="{CE4C43B1-29FF-6D4D-F086-20E2686A91D1}"/>
              </a:ext>
            </a:extLst>
          </p:cNvPr>
          <p:cNvGraphicFramePr/>
          <p:nvPr>
            <p:custDataLst>
              <p:tags r:id="rId12"/>
            </p:custDataLst>
          </p:nvPr>
        </p:nvGraphicFramePr>
        <p:xfrm>
          <a:off x="4883398" y="4557301"/>
          <a:ext cx="4181061" cy="331200"/>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6" name="NPPAs_Z_ME">
            <a:extLst>
              <a:ext uri="{FF2B5EF4-FFF2-40B4-BE49-F238E27FC236}">
                <a16:creationId xmlns:a16="http://schemas.microsoft.com/office/drawing/2014/main" id="{F2D47FDA-7959-10A7-4492-F242B698C77B}"/>
              </a:ext>
            </a:extLst>
          </p:cNvPr>
          <p:cNvGraphicFramePr/>
          <p:nvPr>
            <p:custDataLst>
              <p:tags r:id="rId13"/>
            </p:custDataLst>
          </p:nvPr>
        </p:nvGraphicFramePr>
        <p:xfrm>
          <a:off x="4883398" y="4876411"/>
          <a:ext cx="4181061" cy="3312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17" name="NPPAs_Z_ME">
            <a:extLst>
              <a:ext uri="{FF2B5EF4-FFF2-40B4-BE49-F238E27FC236}">
                <a16:creationId xmlns:a16="http://schemas.microsoft.com/office/drawing/2014/main" id="{2E4D262B-4224-5661-27F1-965739E30162}"/>
              </a:ext>
            </a:extLst>
          </p:cNvPr>
          <p:cNvGraphicFramePr/>
          <p:nvPr>
            <p:custDataLst>
              <p:tags r:id="rId14"/>
            </p:custDataLst>
          </p:nvPr>
        </p:nvGraphicFramePr>
        <p:xfrm>
          <a:off x="4883398" y="5195521"/>
          <a:ext cx="4181061" cy="331200"/>
        </p:xfrm>
        <a:graphic>
          <a:graphicData uri="http://schemas.openxmlformats.org/drawingml/2006/chart">
            <c:chart xmlns:c="http://schemas.openxmlformats.org/drawingml/2006/chart" xmlns:r="http://schemas.openxmlformats.org/officeDocument/2006/relationships" r:id="rId29"/>
          </a:graphicData>
        </a:graphic>
      </p:graphicFrame>
      <p:sp>
        <p:nvSpPr>
          <p:cNvPr id="20" name="Highlight#32">
            <a:extLst>
              <a:ext uri="{FF2B5EF4-FFF2-40B4-BE49-F238E27FC236}">
                <a16:creationId xmlns:a16="http://schemas.microsoft.com/office/drawing/2014/main" id="{F664398A-40B7-FCDF-855B-E2EB60123A81}"/>
              </a:ext>
            </a:extLst>
          </p:cNvPr>
          <p:cNvSpPr txBox="1"/>
          <p:nvPr/>
        </p:nvSpPr>
        <p:spPr>
          <a:xfrm>
            <a:off x="-1" y="1700629"/>
            <a:ext cx="9013173" cy="331200"/>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aphicFrame>
        <p:nvGraphicFramePr>
          <p:cNvPr id="18" name="NPPAs_Z_ME">
            <a:extLst>
              <a:ext uri="{FF2B5EF4-FFF2-40B4-BE49-F238E27FC236}">
                <a16:creationId xmlns:a16="http://schemas.microsoft.com/office/drawing/2014/main" id="{700BF4EC-B248-F87F-C127-FC2103E52F94}"/>
              </a:ext>
            </a:extLst>
          </p:cNvPr>
          <p:cNvGraphicFramePr/>
          <p:nvPr>
            <p:custDataLst>
              <p:tags r:id="rId15"/>
            </p:custDataLst>
          </p:nvPr>
        </p:nvGraphicFramePr>
        <p:xfrm>
          <a:off x="4883398" y="5514631"/>
          <a:ext cx="4181061" cy="331200"/>
        </p:xfrm>
        <a:graphic>
          <a:graphicData uri="http://schemas.openxmlformats.org/drawingml/2006/chart">
            <c:chart xmlns:c="http://schemas.openxmlformats.org/drawingml/2006/chart" xmlns:r="http://schemas.openxmlformats.org/officeDocument/2006/relationships" r:id="rId30"/>
          </a:graphicData>
        </a:graphic>
      </p:graphicFrame>
      <p:sp>
        <p:nvSpPr>
          <p:cNvPr id="22" name="Google Shape;1375;p33">
            <a:extLst>
              <a:ext uri="{FF2B5EF4-FFF2-40B4-BE49-F238E27FC236}">
                <a16:creationId xmlns:a16="http://schemas.microsoft.com/office/drawing/2014/main" id="{7BDCB830-9258-98C3-B70E-74DB4146FAE8}"/>
              </a:ext>
            </a:extLst>
          </p:cNvPr>
          <p:cNvSpPr txBox="1"/>
          <p:nvPr/>
        </p:nvSpPr>
        <p:spPr>
          <a:xfrm>
            <a:off x="323850" y="5955766"/>
            <a:ext cx="825159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Question text in speaker notes | n - No. of HCPs | No statistically significant (p&lt;.05) difference calculated due to low sample size | *Full message text in speaker notes | </a:t>
            </a:r>
            <a:r>
              <a:rPr kumimoji="0" lang="en-GB"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Messages sorted in decreasing order of recall for ZENPEP messages  </a:t>
            </a:r>
            <a:r>
              <a:rPr kumimoji="0" lang="en-US" sz="900" b="0" i="0" u="none" strike="noStrike" kern="0" cap="none" spc="0" normalizeH="0" baseline="0" noProof="0">
                <a:ln>
                  <a:noFill/>
                </a:ln>
                <a:solidFill>
                  <a:srgbClr val="001D49"/>
                </a:solidFill>
                <a:effectLst/>
                <a:uLnTx/>
                <a:uFillTx/>
                <a:latin typeface="Arial" panose="020B0604020202020204"/>
                <a:ea typeface="Calibri"/>
                <a:cs typeface="Calibri"/>
                <a:sym typeface="Calibri"/>
              </a:rPr>
              <a:t>| **New message added in W32: Z24 | ^Messages Edited in W32: Z11, Z23</a:t>
            </a:r>
          </a:p>
        </p:txBody>
      </p:sp>
    </p:spTree>
    <p:extLst>
      <p:ext uri="{BB962C8B-B14F-4D97-AF65-F5344CB8AC3E}">
        <p14:creationId xmlns:p14="http://schemas.microsoft.com/office/powerpoint/2010/main" val="20604800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405D82B8-F615-20A0-352A-882F4A6D0D86}"/>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A2BAF2E7-B7A2-716E-C660-0298A4D5E38B}"/>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71D49"/>
                </a:solidFill>
                <a:effectLst/>
                <a:uLnTx/>
                <a:uFillTx/>
                <a:latin typeface="Arial"/>
                <a:ea typeface="Calibri"/>
                <a:cs typeface="Calibri"/>
                <a:sym typeface="Calibri"/>
              </a:rPr>
              <a:t>Rep Performance – CREON (Gastros)</a:t>
            </a:r>
          </a:p>
        </p:txBody>
      </p:sp>
      <p:sp>
        <p:nvSpPr>
          <p:cNvPr id="8" name="Google Shape;573;p15">
            <a:extLst>
              <a:ext uri="{FF2B5EF4-FFF2-40B4-BE49-F238E27FC236}">
                <a16:creationId xmlns:a16="http://schemas.microsoft.com/office/drawing/2014/main" id="{AFC27438-3743-6B7B-595E-D23F60357E7E}"/>
              </a:ext>
            </a:extLst>
          </p:cNvPr>
          <p:cNvSpPr/>
          <p:nvPr/>
        </p:nvSpPr>
        <p:spPr>
          <a:xfrm>
            <a:off x="2116357" y="701476"/>
            <a:ext cx="4838099" cy="46162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 CREON – Gastros</a:t>
            </a:r>
            <a:b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b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(Jan25 – Dec’25)</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graphicFrame>
        <p:nvGraphicFramePr>
          <p:cNvPr id="1391" name="Table_REP_Gastro">
            <a:extLst>
              <a:ext uri="{FF2B5EF4-FFF2-40B4-BE49-F238E27FC236}">
                <a16:creationId xmlns:a16="http://schemas.microsoft.com/office/drawing/2014/main" id="{5BF2F482-C28B-9B3F-8BA4-DED6ABF64E57}"/>
              </a:ext>
            </a:extLst>
          </p:cNvPr>
          <p:cNvGraphicFramePr/>
          <p:nvPr>
            <p:custDataLst>
              <p:tags r:id="rId1"/>
            </p:custDataLst>
          </p:nvPr>
        </p:nvGraphicFramePr>
        <p:xfrm>
          <a:off x="140951" y="1580994"/>
          <a:ext cx="3497920" cy="3840480"/>
        </p:xfrm>
        <a:graphic>
          <a:graphicData uri="http://schemas.openxmlformats.org/drawingml/2006/table">
            <a:tbl>
              <a:tblPr/>
              <a:tblGrid>
                <a:gridCol w="3497920">
                  <a:extLst>
                    <a:ext uri="{9D8B030D-6E8A-4147-A177-3AD203B41FA5}">
                      <a16:colId xmlns:a16="http://schemas.microsoft.com/office/drawing/2014/main" val="20000"/>
                    </a:ext>
                  </a:extLst>
                </a:gridCol>
              </a:tblGrid>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How well the rep performed in discussing safety for CREON</a:t>
                      </a: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622309934"/>
                  </a:ext>
                </a:extLst>
              </a:tr>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How well the rep performed in discussing efficacy for CREON</a:t>
                      </a: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907779933"/>
                  </a:ext>
                </a:extLst>
              </a:tr>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The rep’s knowledge of EPI and its associated illnesses</a:t>
                      </a: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0"/>
                  </a:ext>
                </a:extLst>
              </a:tr>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How well the rep explained dosing guidelines and considerations for CREON</a:t>
                      </a:r>
                    </a:p>
                  </a:txBody>
                  <a:tcPr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2"/>
                  </a:ext>
                </a:extLst>
              </a:tr>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How well the rep performed on providing credible support for product claims</a:t>
                      </a:r>
                    </a:p>
                  </a:txBody>
                  <a:tcPr anchor="ctr">
                    <a:lnL w="6350" cap="flat" cmpd="sng" algn="ctr">
                      <a:noFill/>
                      <a:prstDash val="sysDash"/>
                      <a:round/>
                      <a:headEnd type="none" w="med" len="med"/>
                      <a:tailEnd type="none" w="med" len="med"/>
                    </a:lnL>
                    <a:lnR w="6350" cap="flat" cmpd="sng" algn="ctr">
                      <a:noFill/>
                      <a:prstDash val="sysDash"/>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719155106"/>
                  </a:ext>
                </a:extLst>
              </a:tr>
              <a:tr h="640080">
                <a:tc>
                  <a:txBody>
                    <a:bodyPr/>
                    <a:lstStyle/>
                    <a:p>
                      <a:pPr algn="r" fontAlgn="ctr">
                        <a:buNone/>
                      </a:pPr>
                      <a:r>
                        <a:rPr lang="en-US" sz="1100" b="0" i="0" u="none" strike="noStrike" kern="1200">
                          <a:solidFill>
                            <a:srgbClr val="071D49"/>
                          </a:solidFill>
                          <a:effectLst/>
                          <a:latin typeface="Arial" panose="020B0604020202020204" pitchFamily="34" charset="0"/>
                          <a:ea typeface="+mn-ea"/>
                          <a:cs typeface="+mn-cs"/>
                        </a:rPr>
                        <a:t>How well the rep articulated CREON’s differentiation as a treatment for exocrine pancreatic insufficiency (EPI)</a:t>
                      </a:r>
                    </a:p>
                  </a:txBody>
                  <a:tcPr anchor="ctr">
                    <a:lnL w="6350" cap="flat" cmpd="sng" algn="ctr">
                      <a:noFill/>
                      <a:prstDash val="sysDash"/>
                      <a:round/>
                      <a:headEnd type="none" w="med" len="med"/>
                      <a:tailEnd type="none" w="med" len="med"/>
                    </a:lnL>
                    <a:lnR w="6350" cap="flat" cmpd="sng" algn="ctr">
                      <a:noFill/>
                      <a:prstDash val="sysDash"/>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2625913185"/>
                  </a:ext>
                </a:extLst>
              </a:tr>
            </a:tbl>
          </a:graphicData>
        </a:graphic>
      </p:graphicFrame>
      <p:sp>
        <p:nvSpPr>
          <p:cNvPr id="1392" name="TextBox 1391">
            <a:extLst>
              <a:ext uri="{FF2B5EF4-FFF2-40B4-BE49-F238E27FC236}">
                <a16:creationId xmlns:a16="http://schemas.microsoft.com/office/drawing/2014/main" id="{DF473888-B50B-53A5-3BE6-4E781D31793B}"/>
              </a:ext>
            </a:extLst>
          </p:cNvPr>
          <p:cNvSpPr txBox="1"/>
          <p:nvPr/>
        </p:nvSpPr>
        <p:spPr>
          <a:xfrm>
            <a:off x="140951" y="1298749"/>
            <a:ext cx="349791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graphicFrame>
        <p:nvGraphicFramePr>
          <p:cNvPr id="2" name="wave table OCQ">
            <a:extLst>
              <a:ext uri="{FF2B5EF4-FFF2-40B4-BE49-F238E27FC236}">
                <a16:creationId xmlns:a16="http://schemas.microsoft.com/office/drawing/2014/main" id="{5AB631A0-C71C-F32C-631B-2359A6BC132D}"/>
              </a:ext>
            </a:extLst>
          </p:cNvPr>
          <p:cNvGraphicFramePr>
            <a:graphicFrameLocks noGrp="1"/>
          </p:cNvGraphicFramePr>
          <p:nvPr>
            <p:custDataLst>
              <p:tags r:id="rId2"/>
            </p:custDataLst>
          </p:nvPr>
        </p:nvGraphicFramePr>
        <p:xfrm>
          <a:off x="3638869" y="1328195"/>
          <a:ext cx="4320000" cy="243840"/>
        </p:xfrm>
        <a:graphic>
          <a:graphicData uri="http://schemas.openxmlformats.org/drawingml/2006/table">
            <a:tbl>
              <a:tblPr firstRow="1" bandRow="1">
                <a:tableStyleId>{B301B821-A1FF-4177-AEE7-76D212191A09}</a:tableStyleId>
              </a:tblPr>
              <a:tblGrid>
                <a:gridCol w="720000">
                  <a:extLst>
                    <a:ext uri="{9D8B030D-6E8A-4147-A177-3AD203B41FA5}">
                      <a16:colId xmlns:a16="http://schemas.microsoft.com/office/drawing/2014/main" val="3554599800"/>
                    </a:ext>
                  </a:extLst>
                </a:gridCol>
                <a:gridCol w="720000">
                  <a:extLst>
                    <a:ext uri="{9D8B030D-6E8A-4147-A177-3AD203B41FA5}">
                      <a16:colId xmlns:a16="http://schemas.microsoft.com/office/drawing/2014/main" val="2914776207"/>
                    </a:ext>
                  </a:extLst>
                </a:gridCol>
                <a:gridCol w="720000">
                  <a:extLst>
                    <a:ext uri="{9D8B030D-6E8A-4147-A177-3AD203B41FA5}">
                      <a16:colId xmlns:a16="http://schemas.microsoft.com/office/drawing/2014/main" val="2088702262"/>
                    </a:ext>
                  </a:extLst>
                </a:gridCol>
                <a:gridCol w="720000">
                  <a:extLst>
                    <a:ext uri="{9D8B030D-6E8A-4147-A177-3AD203B41FA5}">
                      <a16:colId xmlns:a16="http://schemas.microsoft.com/office/drawing/2014/main" val="192097877"/>
                    </a:ext>
                  </a:extLst>
                </a:gridCol>
                <a:gridCol w="720000">
                  <a:extLst>
                    <a:ext uri="{9D8B030D-6E8A-4147-A177-3AD203B41FA5}">
                      <a16:colId xmlns:a16="http://schemas.microsoft.com/office/drawing/2014/main" val="1326389649"/>
                    </a:ext>
                  </a:extLst>
                </a:gridCol>
                <a:gridCol w="720000">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29" name="Google Shape;1368;p33">
            <a:extLst>
              <a:ext uri="{FF2B5EF4-FFF2-40B4-BE49-F238E27FC236}">
                <a16:creationId xmlns:a16="http://schemas.microsoft.com/office/drawing/2014/main" id="{0B06FFB1-5AC5-04FB-BE85-00AB8E23041B}"/>
              </a:ext>
            </a:extLst>
          </p:cNvPr>
          <p:cNvSpPr/>
          <p:nvPr/>
        </p:nvSpPr>
        <p:spPr>
          <a:xfrm>
            <a:off x="5315541" y="5272438"/>
            <a:ext cx="1206165"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graphicFrame>
        <p:nvGraphicFramePr>
          <p:cNvPr id="3" name="Table 2">
            <a:extLst>
              <a:ext uri="{FF2B5EF4-FFF2-40B4-BE49-F238E27FC236}">
                <a16:creationId xmlns:a16="http://schemas.microsoft.com/office/drawing/2014/main" id="{064F2006-DC51-DF3D-33FE-57AD9DA34CE8}"/>
              </a:ext>
            </a:extLst>
          </p:cNvPr>
          <p:cNvGraphicFramePr>
            <a:graphicFrameLocks noGrp="1"/>
          </p:cNvGraphicFramePr>
          <p:nvPr/>
        </p:nvGraphicFramePr>
        <p:xfrm>
          <a:off x="7989665" y="1149082"/>
          <a:ext cx="1088554" cy="4274395"/>
        </p:xfrm>
        <a:graphic>
          <a:graphicData uri="http://schemas.openxmlformats.org/drawingml/2006/table">
            <a:tbl>
              <a:tblPr firstRow="1" bandRow="1">
                <a:tableStyleId>{5C22544A-7EE6-4342-B048-85BDC9FD1C3A}</a:tableStyleId>
              </a:tblPr>
              <a:tblGrid>
                <a:gridCol w="544277">
                  <a:extLst>
                    <a:ext uri="{9D8B030D-6E8A-4147-A177-3AD203B41FA5}">
                      <a16:colId xmlns:a16="http://schemas.microsoft.com/office/drawing/2014/main" val="4175797392"/>
                    </a:ext>
                  </a:extLst>
                </a:gridCol>
                <a:gridCol w="544277">
                  <a:extLst>
                    <a:ext uri="{9D8B030D-6E8A-4147-A177-3AD203B41FA5}">
                      <a16:colId xmlns:a16="http://schemas.microsoft.com/office/drawing/2014/main" val="4071984736"/>
                    </a:ext>
                  </a:extLst>
                </a:gridCol>
              </a:tblGrid>
              <a:tr h="290798">
                <a:tc gridSpan="2">
                  <a:txBody>
                    <a:bodyPr/>
                    <a:lstStyle/>
                    <a:p>
                      <a:pPr algn="ctr"/>
                      <a:r>
                        <a:rPr lang="en-IN" sz="1000">
                          <a:solidFill>
                            <a:schemeClr val="tx1"/>
                          </a:solidFill>
                        </a:rPr>
                        <a:t>CREON</a:t>
                      </a:r>
                    </a:p>
                    <a:p>
                      <a:pPr algn="ctr"/>
                      <a:r>
                        <a:rPr lang="en-IN" sz="900" b="1">
                          <a:solidFill>
                            <a:schemeClr val="tx1"/>
                          </a:solidFill>
                        </a:rPr>
                        <a:t>stat sig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IN" sz="100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4089031"/>
                  </a:ext>
                </a:extLst>
              </a:tr>
              <a:tr h="143117">
                <a:tc>
                  <a:txBody>
                    <a:bodyPr/>
                    <a:lstStyle/>
                    <a:p>
                      <a:pPr algn="ctr"/>
                      <a:r>
                        <a:rPr lang="en-IN" sz="900">
                          <a:solidFill>
                            <a:schemeClr val="tx1"/>
                          </a:solidFill>
                        </a:rPr>
                        <a:t>6 month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lang="en-IN" sz="900">
                          <a:solidFill>
                            <a:schemeClr val="tx1"/>
                          </a:solidFill>
                        </a:rPr>
                        <a:t>1 year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9709899"/>
                  </a:ext>
                </a:extLst>
              </a:tr>
              <a:tr h="64008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Yes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460376927"/>
                  </a:ext>
                </a:extLst>
              </a:tr>
              <a:tr h="64008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934625003"/>
                  </a:ext>
                </a:extLst>
              </a:tr>
              <a:tr h="64008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504581349"/>
                  </a:ext>
                </a:extLst>
              </a:tr>
              <a:tr h="64008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4124772759"/>
                  </a:ext>
                </a:extLst>
              </a:tr>
              <a:tr h="640080">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3157323392"/>
                  </a:ext>
                </a:extLst>
              </a:tr>
              <a:tr h="640080">
                <a:tc>
                  <a:txBody>
                    <a:bodyPr/>
                    <a:lstStyle/>
                    <a:p>
                      <a:pPr algn="ctr"/>
                      <a:r>
                        <a:rPr lang="en-IN" sz="1000">
                          <a:solidFill>
                            <a:schemeClr val="tx1"/>
                          </a:solidFill>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342906"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panose="020B0604020202020204"/>
                          <a:ea typeface="+mn-ea"/>
                          <a:cs typeface="+mn-cs"/>
                        </a:rPr>
                        <a:t>No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178276077"/>
                  </a:ext>
                </a:extLst>
              </a:tr>
            </a:tbl>
          </a:graphicData>
        </a:graphic>
      </p:graphicFrame>
      <p:sp>
        <p:nvSpPr>
          <p:cNvPr id="4" name="Google Shape;1582;p40">
            <a:extLst>
              <a:ext uri="{FF2B5EF4-FFF2-40B4-BE49-F238E27FC236}">
                <a16:creationId xmlns:a16="http://schemas.microsoft.com/office/drawing/2014/main" id="{17B7EA5B-9740-C220-362A-270DA0E6579F}"/>
              </a:ext>
            </a:extLst>
          </p:cNvPr>
          <p:cNvSpPr txBox="1"/>
          <p:nvPr/>
        </p:nvSpPr>
        <p:spPr>
          <a:xfrm>
            <a:off x="902079" y="5950659"/>
            <a:ext cx="7389312" cy="40006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*Sample size in speaker notes |      </a:t>
            </a:r>
            <a:r>
              <a:rPr kumimoji="0" lang="en-US" sz="1000" b="0" i="0" u="none" strike="noStrike" kern="0" cap="none" spc="0" normalizeH="0" baseline="0" noProof="0">
                <a:ln>
                  <a:noFill/>
                </a:ln>
                <a:solidFill>
                  <a:srgbClr val="001D49"/>
                </a:solidFill>
                <a:effectLst/>
                <a:uLnTx/>
                <a:uFillTx/>
                <a:latin typeface="Arial"/>
                <a:ea typeface="Calibri"/>
                <a:cs typeface="Calibri"/>
                <a:sym typeface="Calibri"/>
              </a:rPr>
              <a:t>statistically significant (p&lt;.05) difference between recent  waves</a:t>
            </a:r>
            <a:endParaRPr kumimoji="0" lang="en-US" sz="10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
        <p:nvSpPr>
          <p:cNvPr id="7" name="TextBox 6">
            <a:extLst>
              <a:ext uri="{FF2B5EF4-FFF2-40B4-BE49-F238E27FC236}">
                <a16:creationId xmlns:a16="http://schemas.microsoft.com/office/drawing/2014/main" id="{F979F412-8D04-EB82-C888-55FBF0984F45}"/>
              </a:ext>
            </a:extLst>
          </p:cNvPr>
          <p:cNvSpPr txBox="1"/>
          <p:nvPr/>
        </p:nvSpPr>
        <p:spPr>
          <a:xfrm>
            <a:off x="33736" y="720000"/>
            <a:ext cx="1728000" cy="25200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11"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9" name="Rep_Gastro">
            <a:extLst>
              <a:ext uri="{FF2B5EF4-FFF2-40B4-BE49-F238E27FC236}">
                <a16:creationId xmlns:a16="http://schemas.microsoft.com/office/drawing/2014/main" id="{1DA5BC03-CD06-6056-0F27-71CEF77C9E8B}"/>
              </a:ext>
            </a:extLst>
          </p:cNvPr>
          <p:cNvGraphicFramePr/>
          <p:nvPr>
            <p:custDataLst>
              <p:tags r:id="rId3"/>
            </p:custDataLst>
          </p:nvPr>
        </p:nvGraphicFramePr>
        <p:xfrm>
          <a:off x="3409949" y="1580994"/>
          <a:ext cx="4824000" cy="64008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0" name="Shape_3316826">
            <a:extLst>
              <a:ext uri="{FF2B5EF4-FFF2-40B4-BE49-F238E27FC236}">
                <a16:creationId xmlns:a16="http://schemas.microsoft.com/office/drawing/2014/main" id="{2607BE8A-ADEB-3C2A-EC7A-9C21E598DE5F}"/>
              </a:ext>
            </a:extLst>
          </p:cNvPr>
          <p:cNvGraphicFramePr/>
          <p:nvPr>
            <p:custDataLst>
              <p:tags r:id="rId4"/>
            </p:custDataLst>
          </p:nvPr>
        </p:nvGraphicFramePr>
        <p:xfrm>
          <a:off x="3409949" y="2221074"/>
          <a:ext cx="4824000" cy="64008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11" name="Shape_26953729">
            <a:extLst>
              <a:ext uri="{FF2B5EF4-FFF2-40B4-BE49-F238E27FC236}">
                <a16:creationId xmlns:a16="http://schemas.microsoft.com/office/drawing/2014/main" id="{E16B9240-7514-FFA2-7A70-2B96772B736B}"/>
              </a:ext>
            </a:extLst>
          </p:cNvPr>
          <p:cNvGraphicFramePr/>
          <p:nvPr>
            <p:custDataLst>
              <p:tags r:id="rId5"/>
            </p:custDataLst>
          </p:nvPr>
        </p:nvGraphicFramePr>
        <p:xfrm>
          <a:off x="3409949" y="2861154"/>
          <a:ext cx="4824000" cy="64008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2" name="Shape_18350742">
            <a:extLst>
              <a:ext uri="{FF2B5EF4-FFF2-40B4-BE49-F238E27FC236}">
                <a16:creationId xmlns:a16="http://schemas.microsoft.com/office/drawing/2014/main" id="{5B8D9496-9E30-7D7F-A22B-1BA611E417A6}"/>
              </a:ext>
            </a:extLst>
          </p:cNvPr>
          <p:cNvGraphicFramePr/>
          <p:nvPr>
            <p:custDataLst>
              <p:tags r:id="rId6"/>
            </p:custDataLst>
          </p:nvPr>
        </p:nvGraphicFramePr>
        <p:xfrm>
          <a:off x="3409949" y="3501234"/>
          <a:ext cx="4824000" cy="64008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3" name="Shape_15142201">
            <a:extLst>
              <a:ext uri="{FF2B5EF4-FFF2-40B4-BE49-F238E27FC236}">
                <a16:creationId xmlns:a16="http://schemas.microsoft.com/office/drawing/2014/main" id="{A95114FE-2F7B-D37D-7BE1-4905A4F5AE3D}"/>
              </a:ext>
            </a:extLst>
          </p:cNvPr>
          <p:cNvGraphicFramePr/>
          <p:nvPr>
            <p:custDataLst>
              <p:tags r:id="rId7"/>
            </p:custDataLst>
          </p:nvPr>
        </p:nvGraphicFramePr>
        <p:xfrm>
          <a:off x="3409949" y="4781394"/>
          <a:ext cx="4824000" cy="64008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30" name="Shape_6606997">
            <a:extLst>
              <a:ext uri="{FF2B5EF4-FFF2-40B4-BE49-F238E27FC236}">
                <a16:creationId xmlns:a16="http://schemas.microsoft.com/office/drawing/2014/main" id="{9D9C3C07-5F72-1263-B507-4867CD402B45}"/>
              </a:ext>
            </a:extLst>
          </p:cNvPr>
          <p:cNvGraphicFramePr/>
          <p:nvPr>
            <p:custDataLst>
              <p:tags r:id="rId8"/>
            </p:custDataLst>
          </p:nvPr>
        </p:nvGraphicFramePr>
        <p:xfrm>
          <a:off x="3409949" y="4141314"/>
          <a:ext cx="4824000" cy="640080"/>
        </p:xfrm>
        <a:graphic>
          <a:graphicData uri="http://schemas.openxmlformats.org/drawingml/2006/chart">
            <c:chart xmlns:c="http://schemas.openxmlformats.org/drawingml/2006/chart" xmlns:r="http://schemas.openxmlformats.org/officeDocument/2006/relationships" r:id="rId17"/>
          </a:graphicData>
        </a:graphic>
      </p:graphicFrame>
      <p:sp>
        <p:nvSpPr>
          <p:cNvPr id="14" name="Google Shape;2197;p58">
            <a:extLst>
              <a:ext uri="{FF2B5EF4-FFF2-40B4-BE49-F238E27FC236}">
                <a16:creationId xmlns:a16="http://schemas.microsoft.com/office/drawing/2014/main" id="{410D68F8-1F3A-BFDC-B75C-512D24308941}"/>
              </a:ext>
            </a:extLst>
          </p:cNvPr>
          <p:cNvSpPr/>
          <p:nvPr/>
        </p:nvSpPr>
        <p:spPr>
          <a:xfrm>
            <a:off x="5136890" y="6030291"/>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15" name="Google Shape;2197;p58">
            <a:extLst>
              <a:ext uri="{FF2B5EF4-FFF2-40B4-BE49-F238E27FC236}">
                <a16:creationId xmlns:a16="http://schemas.microsoft.com/office/drawing/2014/main" id="{EC9138C8-2638-E443-916A-047E9C34D419}"/>
              </a:ext>
            </a:extLst>
          </p:cNvPr>
          <p:cNvSpPr/>
          <p:nvPr/>
        </p:nvSpPr>
        <p:spPr>
          <a:xfrm>
            <a:off x="7845854" y="3598428"/>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16" name="Google Shape;2197;p58">
            <a:extLst>
              <a:ext uri="{FF2B5EF4-FFF2-40B4-BE49-F238E27FC236}">
                <a16:creationId xmlns:a16="http://schemas.microsoft.com/office/drawing/2014/main" id="{1F431B4C-D57E-B81E-1289-F80EB491D04E}"/>
              </a:ext>
            </a:extLst>
          </p:cNvPr>
          <p:cNvSpPr/>
          <p:nvPr/>
        </p:nvSpPr>
        <p:spPr>
          <a:xfrm>
            <a:off x="7845854" y="1674230"/>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18" name="Google Shape;2197;p58">
            <a:extLst>
              <a:ext uri="{FF2B5EF4-FFF2-40B4-BE49-F238E27FC236}">
                <a16:creationId xmlns:a16="http://schemas.microsoft.com/office/drawing/2014/main" id="{D0A7D545-FF25-4817-81CC-54585A29A384}"/>
              </a:ext>
            </a:extLst>
          </p:cNvPr>
          <p:cNvSpPr/>
          <p:nvPr/>
        </p:nvSpPr>
        <p:spPr>
          <a:xfrm>
            <a:off x="4810424" y="4238508"/>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
        <p:nvSpPr>
          <p:cNvPr id="20" name="Google Shape;2197;p58">
            <a:extLst>
              <a:ext uri="{FF2B5EF4-FFF2-40B4-BE49-F238E27FC236}">
                <a16:creationId xmlns:a16="http://schemas.microsoft.com/office/drawing/2014/main" id="{29EA9DC8-0CAD-0D45-EC4A-7B4CF28DFCDF}"/>
              </a:ext>
            </a:extLst>
          </p:cNvPr>
          <p:cNvSpPr/>
          <p:nvPr/>
        </p:nvSpPr>
        <p:spPr>
          <a:xfrm>
            <a:off x="4754688" y="2354996"/>
            <a:ext cx="111471" cy="111599"/>
          </a:xfrm>
          <a:prstGeom prst="ellipse">
            <a:avLst/>
          </a:prstGeom>
          <a:solidFill>
            <a:srgbClr val="00B0F0"/>
          </a:solidFill>
          <a:ln>
            <a:noFill/>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FFFFFF"/>
              </a:buClr>
              <a:buSzPts val="600"/>
              <a:buFont typeface="Arial"/>
              <a:buNone/>
              <a:tabLst/>
              <a:defRPr/>
            </a:pPr>
            <a:r>
              <a:rPr kumimoji="0" lang="en-US" sz="600" b="1" i="0" u="none" strike="noStrike" kern="0" cap="none" spc="0" normalizeH="0" baseline="0" noProof="0">
                <a:ln>
                  <a:noFill/>
                </a:ln>
                <a:solidFill>
                  <a:srgbClr val="FFFFFF"/>
                </a:solidFill>
                <a:effectLst/>
                <a:uLnTx/>
                <a:uFillTx/>
                <a:latin typeface="Arial"/>
                <a:ea typeface="Arial"/>
                <a:cs typeface="Arial"/>
                <a:sym typeface="Arial"/>
              </a:rPr>
              <a:t>S</a:t>
            </a:r>
            <a:endParaRPr kumimoji="0" lang="en-US" sz="1100" b="0" i="0" u="none" strike="noStrike" kern="0" cap="none" spc="0" normalizeH="0" baseline="0" noProof="0">
              <a:ln>
                <a:noFill/>
              </a:ln>
              <a:solidFill>
                <a:srgbClr val="000000"/>
              </a:solidFill>
              <a:effectLst/>
              <a:uLnTx/>
              <a:uFillTx/>
              <a:latin typeface="Arial" panose="020B0604020202020204"/>
              <a:ea typeface="+mn-ea"/>
              <a:cs typeface="+mn-cs"/>
              <a:sym typeface="Arial"/>
            </a:endParaRPr>
          </a:p>
        </p:txBody>
      </p:sp>
    </p:spTree>
    <p:extLst>
      <p:ext uri="{BB962C8B-B14F-4D97-AF65-F5344CB8AC3E}">
        <p14:creationId xmlns:p14="http://schemas.microsoft.com/office/powerpoint/2010/main" val="37319273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86E467F1-CC0C-1444-2A82-7B9990C564AE}"/>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69EFB11B-47C2-B543-748E-7FDE086FBD70}"/>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71D49"/>
                </a:solidFill>
                <a:effectLst/>
                <a:uLnTx/>
                <a:uFillTx/>
                <a:latin typeface="Arial"/>
                <a:ea typeface="Calibri"/>
                <a:cs typeface="Calibri"/>
                <a:sym typeface="Calibri"/>
              </a:rPr>
              <a:t>Rep Performance – CREON (PCPs)</a:t>
            </a:r>
          </a:p>
        </p:txBody>
      </p:sp>
      <p:sp>
        <p:nvSpPr>
          <p:cNvPr id="6" name="Google Shape;1368;p33">
            <a:extLst>
              <a:ext uri="{FF2B5EF4-FFF2-40B4-BE49-F238E27FC236}">
                <a16:creationId xmlns:a16="http://schemas.microsoft.com/office/drawing/2014/main" id="{3C303E96-8A63-F51D-9136-03D01410407F}"/>
              </a:ext>
            </a:extLst>
          </p:cNvPr>
          <p:cNvSpPr/>
          <p:nvPr/>
        </p:nvSpPr>
        <p:spPr>
          <a:xfrm>
            <a:off x="5711467" y="5817954"/>
            <a:ext cx="1206165"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8" name="Google Shape;573;p15">
            <a:extLst>
              <a:ext uri="{FF2B5EF4-FFF2-40B4-BE49-F238E27FC236}">
                <a16:creationId xmlns:a16="http://schemas.microsoft.com/office/drawing/2014/main" id="{A7265E02-5930-EC67-71E4-188F26A14F93}"/>
              </a:ext>
            </a:extLst>
          </p:cNvPr>
          <p:cNvSpPr/>
          <p:nvPr/>
        </p:nvSpPr>
        <p:spPr>
          <a:xfrm>
            <a:off x="2116357" y="701476"/>
            <a:ext cx="4838099" cy="46162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 CREON – PCPs</a:t>
            </a:r>
            <a:r>
              <a:rPr kumimoji="0" lang="en-IN" sz="1400" b="1" i="0" u="none" strike="noStrike" kern="0" cap="none" spc="0" normalizeH="0" baseline="30000" noProof="0">
                <a:ln>
                  <a:noFill/>
                </a:ln>
                <a:solidFill>
                  <a:srgbClr val="FF0000"/>
                </a:solidFill>
                <a:effectLst/>
                <a:uLnTx/>
                <a:uFillTx/>
                <a:latin typeface="Arial"/>
                <a:ea typeface="Calibri"/>
                <a:cs typeface="Calibri" panose="020F0502020204030204" pitchFamily="34" charset="0"/>
                <a:sym typeface="Calibri"/>
              </a:rPr>
              <a:t>*</a:t>
            </a:r>
            <a:b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b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(Jan25 – Dec’25)</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sp>
        <p:nvSpPr>
          <p:cNvPr id="1389" name="Google Shape;1583;p40">
            <a:extLst>
              <a:ext uri="{FF2B5EF4-FFF2-40B4-BE49-F238E27FC236}">
                <a16:creationId xmlns:a16="http://schemas.microsoft.com/office/drawing/2014/main" id="{7BE3AC9A-A24E-E1FA-87CE-99054D30FED5}"/>
              </a:ext>
            </a:extLst>
          </p:cNvPr>
          <p:cNvSpPr/>
          <p:nvPr/>
        </p:nvSpPr>
        <p:spPr>
          <a:xfrm>
            <a:off x="6047121" y="6575654"/>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392" name="TextBox 1391">
            <a:extLst>
              <a:ext uri="{FF2B5EF4-FFF2-40B4-BE49-F238E27FC236}">
                <a16:creationId xmlns:a16="http://schemas.microsoft.com/office/drawing/2014/main" id="{8A7B9989-84CE-2AB3-E2B6-FE37164239C9}"/>
              </a:ext>
            </a:extLst>
          </p:cNvPr>
          <p:cNvSpPr txBox="1"/>
          <p:nvPr/>
        </p:nvSpPr>
        <p:spPr>
          <a:xfrm>
            <a:off x="140951" y="1298749"/>
            <a:ext cx="349791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graphicFrame>
        <p:nvGraphicFramePr>
          <p:cNvPr id="16" name="Rep_perf_C_PCPs">
            <a:extLst>
              <a:ext uri="{FF2B5EF4-FFF2-40B4-BE49-F238E27FC236}">
                <a16:creationId xmlns:a16="http://schemas.microsoft.com/office/drawing/2014/main" id="{F8A6C93E-076F-AD43-A091-1C3CDC73D021}"/>
              </a:ext>
            </a:extLst>
          </p:cNvPr>
          <p:cNvGraphicFramePr/>
          <p:nvPr>
            <p:custDataLst>
              <p:tags r:id="rId1"/>
            </p:custDataLst>
          </p:nvPr>
        </p:nvGraphicFramePr>
        <p:xfrm>
          <a:off x="3409949" y="4139825"/>
          <a:ext cx="4824000" cy="64008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5" name="wave table OCQ">
            <a:extLst>
              <a:ext uri="{FF2B5EF4-FFF2-40B4-BE49-F238E27FC236}">
                <a16:creationId xmlns:a16="http://schemas.microsoft.com/office/drawing/2014/main" id="{B68A439F-B39C-1040-5763-E14854F0F286}"/>
              </a:ext>
            </a:extLst>
          </p:cNvPr>
          <p:cNvGraphicFramePr>
            <a:graphicFrameLocks noGrp="1"/>
          </p:cNvGraphicFramePr>
          <p:nvPr>
            <p:custDataLst>
              <p:tags r:id="rId2"/>
            </p:custDataLst>
          </p:nvPr>
        </p:nvGraphicFramePr>
        <p:xfrm>
          <a:off x="3638869" y="1328195"/>
          <a:ext cx="4320000" cy="243840"/>
        </p:xfrm>
        <a:graphic>
          <a:graphicData uri="http://schemas.openxmlformats.org/drawingml/2006/table">
            <a:tbl>
              <a:tblPr firstRow="1" bandRow="1">
                <a:tableStyleId>{B301B821-A1FF-4177-AEE7-76D212191A09}</a:tableStyleId>
              </a:tblPr>
              <a:tblGrid>
                <a:gridCol w="720000">
                  <a:extLst>
                    <a:ext uri="{9D8B030D-6E8A-4147-A177-3AD203B41FA5}">
                      <a16:colId xmlns:a16="http://schemas.microsoft.com/office/drawing/2014/main" val="3554599800"/>
                    </a:ext>
                  </a:extLst>
                </a:gridCol>
                <a:gridCol w="720000">
                  <a:extLst>
                    <a:ext uri="{9D8B030D-6E8A-4147-A177-3AD203B41FA5}">
                      <a16:colId xmlns:a16="http://schemas.microsoft.com/office/drawing/2014/main" val="2914776207"/>
                    </a:ext>
                  </a:extLst>
                </a:gridCol>
                <a:gridCol w="720000">
                  <a:extLst>
                    <a:ext uri="{9D8B030D-6E8A-4147-A177-3AD203B41FA5}">
                      <a16:colId xmlns:a16="http://schemas.microsoft.com/office/drawing/2014/main" val="2088702262"/>
                    </a:ext>
                  </a:extLst>
                </a:gridCol>
                <a:gridCol w="720000">
                  <a:extLst>
                    <a:ext uri="{9D8B030D-6E8A-4147-A177-3AD203B41FA5}">
                      <a16:colId xmlns:a16="http://schemas.microsoft.com/office/drawing/2014/main" val="192097877"/>
                    </a:ext>
                  </a:extLst>
                </a:gridCol>
                <a:gridCol w="720000">
                  <a:extLst>
                    <a:ext uri="{9D8B030D-6E8A-4147-A177-3AD203B41FA5}">
                      <a16:colId xmlns:a16="http://schemas.microsoft.com/office/drawing/2014/main" val="1326389649"/>
                    </a:ext>
                  </a:extLst>
                </a:gridCol>
                <a:gridCol w="720000">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4" name="Google Shape;1582;p40">
            <a:extLst>
              <a:ext uri="{FF2B5EF4-FFF2-40B4-BE49-F238E27FC236}">
                <a16:creationId xmlns:a16="http://schemas.microsoft.com/office/drawing/2014/main" id="{86F9026F-6B4E-AC3E-4229-AF2B5874C814}"/>
              </a:ext>
            </a:extLst>
          </p:cNvPr>
          <p:cNvSpPr txBox="1"/>
          <p:nvPr/>
        </p:nvSpPr>
        <p:spPr>
          <a:xfrm>
            <a:off x="902079" y="5950659"/>
            <a:ext cx="7389312"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Stat test was not performed due to low sample size (n value &lt; 30) | *Sample size in speaker notes </a:t>
            </a:r>
            <a:endParaRPr kumimoji="0" lang="en-US" sz="10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
        <p:nvSpPr>
          <p:cNvPr id="5" name="TextBox 4">
            <a:extLst>
              <a:ext uri="{FF2B5EF4-FFF2-40B4-BE49-F238E27FC236}">
                <a16:creationId xmlns:a16="http://schemas.microsoft.com/office/drawing/2014/main" id="{48C36F97-9936-A564-4DFD-3F1433B17593}"/>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12"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24" name="Shape_40962927">
            <a:extLst>
              <a:ext uri="{FF2B5EF4-FFF2-40B4-BE49-F238E27FC236}">
                <a16:creationId xmlns:a16="http://schemas.microsoft.com/office/drawing/2014/main" id="{D9816798-B877-4A61-44C4-A6A9BDF953BF}"/>
              </a:ext>
            </a:extLst>
          </p:cNvPr>
          <p:cNvGraphicFramePr/>
          <p:nvPr>
            <p:custDataLst>
              <p:tags r:id="rId3"/>
            </p:custDataLst>
          </p:nvPr>
        </p:nvGraphicFramePr>
        <p:xfrm>
          <a:off x="3409949" y="1573529"/>
          <a:ext cx="4824000" cy="64008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29" name="Shape_89789965">
            <a:extLst>
              <a:ext uri="{FF2B5EF4-FFF2-40B4-BE49-F238E27FC236}">
                <a16:creationId xmlns:a16="http://schemas.microsoft.com/office/drawing/2014/main" id="{0D3C067E-C68B-B993-6750-0E1D505E1D4B}"/>
              </a:ext>
            </a:extLst>
          </p:cNvPr>
          <p:cNvGraphicFramePr/>
          <p:nvPr>
            <p:custDataLst>
              <p:tags r:id="rId4"/>
            </p:custDataLst>
          </p:nvPr>
        </p:nvGraphicFramePr>
        <p:xfrm>
          <a:off x="3409949" y="2215103"/>
          <a:ext cx="4824000" cy="64008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30" name="Shape_30508316">
            <a:extLst>
              <a:ext uri="{FF2B5EF4-FFF2-40B4-BE49-F238E27FC236}">
                <a16:creationId xmlns:a16="http://schemas.microsoft.com/office/drawing/2014/main" id="{58217EA7-08AC-4381-F9A8-AC6F6733B3E4}"/>
              </a:ext>
            </a:extLst>
          </p:cNvPr>
          <p:cNvGraphicFramePr/>
          <p:nvPr>
            <p:custDataLst>
              <p:tags r:id="rId5"/>
            </p:custDataLst>
          </p:nvPr>
        </p:nvGraphicFramePr>
        <p:xfrm>
          <a:off x="3409949" y="2856677"/>
          <a:ext cx="4824000" cy="64008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31" name="Shape_80037360">
            <a:extLst>
              <a:ext uri="{FF2B5EF4-FFF2-40B4-BE49-F238E27FC236}">
                <a16:creationId xmlns:a16="http://schemas.microsoft.com/office/drawing/2014/main" id="{425FD37F-F8C6-9207-6A6D-A4160E179C63}"/>
              </a:ext>
            </a:extLst>
          </p:cNvPr>
          <p:cNvGraphicFramePr/>
          <p:nvPr>
            <p:custDataLst>
              <p:tags r:id="rId6"/>
            </p:custDataLst>
          </p:nvPr>
        </p:nvGraphicFramePr>
        <p:xfrm>
          <a:off x="3409949" y="3498251"/>
          <a:ext cx="4824000" cy="64008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32" name="Shape_37329948">
            <a:extLst>
              <a:ext uri="{FF2B5EF4-FFF2-40B4-BE49-F238E27FC236}">
                <a16:creationId xmlns:a16="http://schemas.microsoft.com/office/drawing/2014/main" id="{6375CE2C-5B3B-5B81-4BD8-2BE39BC83421}"/>
              </a:ext>
            </a:extLst>
          </p:cNvPr>
          <p:cNvGraphicFramePr/>
          <p:nvPr>
            <p:custDataLst>
              <p:tags r:id="rId7"/>
            </p:custDataLst>
          </p:nvPr>
        </p:nvGraphicFramePr>
        <p:xfrm>
          <a:off x="3409949" y="4781396"/>
          <a:ext cx="4824000" cy="640080"/>
        </p:xfrm>
        <a:graphic>
          <a:graphicData uri="http://schemas.openxmlformats.org/drawingml/2006/chart">
            <c:chart xmlns:c="http://schemas.openxmlformats.org/drawingml/2006/chart" xmlns:r="http://schemas.openxmlformats.org/officeDocument/2006/relationships" r:id="rId17"/>
          </a:graphicData>
        </a:graphic>
      </p:graphicFrame>
      <p:graphicFrame>
        <p:nvGraphicFramePr>
          <p:cNvPr id="38" name="Table_Rep_PCPS">
            <a:extLst>
              <a:ext uri="{FF2B5EF4-FFF2-40B4-BE49-F238E27FC236}">
                <a16:creationId xmlns:a16="http://schemas.microsoft.com/office/drawing/2014/main" id="{4E714E3F-F57F-897E-CBDB-F94367C707BE}"/>
              </a:ext>
            </a:extLst>
          </p:cNvPr>
          <p:cNvGraphicFramePr/>
          <p:nvPr>
            <p:custDataLst>
              <p:tags r:id="rId8"/>
            </p:custDataLst>
          </p:nvPr>
        </p:nvGraphicFramePr>
        <p:xfrm>
          <a:off x="140951" y="1580996"/>
          <a:ext cx="3497918" cy="3840480"/>
        </p:xfrm>
        <a:graphic>
          <a:graphicData uri="http://schemas.openxmlformats.org/drawingml/2006/table">
            <a:tbl>
              <a:tblPr/>
              <a:tblGrid>
                <a:gridCol w="3497918">
                  <a:extLst>
                    <a:ext uri="{9D8B030D-6E8A-4147-A177-3AD203B41FA5}">
                      <a16:colId xmlns:a16="http://schemas.microsoft.com/office/drawing/2014/main" val="20000"/>
                    </a:ext>
                  </a:extLst>
                </a:gridCol>
              </a:tblGrid>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latin typeface="+mn-lt"/>
                          <a:ea typeface="+mn-ea"/>
                          <a:cs typeface="+mn-cs"/>
                        </a:rPr>
                        <a:t>How well the rep explained dosing guidelines and considerations for CREON</a:t>
                      </a: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622309934"/>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rPr>
                        <a:t>How well the rep performed in discussing efficacy for CREON</a:t>
                      </a:r>
                      <a:endParaRPr kumimoji="0" lang="en-US" sz="1100" b="0"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907779933"/>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latin typeface="+mn-lt"/>
                          <a:ea typeface="+mn-ea"/>
                          <a:cs typeface="+mn-cs"/>
                        </a:rPr>
                        <a:t>How well the rep performed on providing credible support for product claims</a:t>
                      </a:r>
                    </a:p>
                  </a:txBody>
                  <a:tcPr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0"/>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latin typeface="+mn-lt"/>
                          <a:ea typeface="+mn-ea"/>
                          <a:cs typeface="+mn-cs"/>
                        </a:rPr>
                        <a:t>The rep’s knowledge of EPI and its associated illnesses</a:t>
                      </a:r>
                    </a:p>
                  </a:txBody>
                  <a:tcPr anchor="ctr">
                    <a:lnL w="12700" cap="flat" cmpd="sng">
                      <a:noFill/>
                      <a:prstDash val="solid"/>
                      <a:round/>
                      <a:headEnd type="none" w="sm" len="sm"/>
                      <a:tailEnd type="none" w="sm" len="sm"/>
                    </a:lnL>
                    <a:lnR w="12700" cap="flat" cmpd="sng">
                      <a:noFill/>
                      <a:prstDash val="solid"/>
                      <a:round/>
                      <a:headEnd type="none" w="sm" len="sm"/>
                      <a:tailEnd type="none" w="sm" len="sm"/>
                    </a:lnR>
                    <a:lnT w="6350" cap="flat" cmpd="sng" algn="ctr">
                      <a:noFill/>
                      <a:prstDash val="dash"/>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1"/>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rPr>
                        <a:t>How well the rep articulated CREON’s differentiation as a treatment for exocrine pancreatic insufficiency (EPI)</a:t>
                      </a:r>
                      <a:endParaRPr kumimoji="0" lang="en-US" sz="1100" b="0"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2"/>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rPr>
                        <a:t>How well the rep performed in discussing safety for CREON</a:t>
                      </a:r>
                      <a:endParaRPr kumimoji="0" lang="en-US" sz="1100" b="0"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lgn="ctr">
                      <a:noFill/>
                      <a:prstDash val="solid"/>
                      <a:round/>
                      <a:headEnd type="none" w="sm" len="sm"/>
                      <a:tailEnd type="none" w="sm" len="sm"/>
                    </a:lnT>
                    <a:lnB w="6350" cap="flat" cmpd="sng" algn="ctr">
                      <a:noFill/>
                      <a:prstDash val="sys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419085563"/>
                  </a:ext>
                </a:extLst>
              </a:tr>
            </a:tbl>
          </a:graphicData>
        </a:graphic>
      </p:graphicFrame>
    </p:spTree>
    <p:extLst>
      <p:ext uri="{BB962C8B-B14F-4D97-AF65-F5344CB8AC3E}">
        <p14:creationId xmlns:p14="http://schemas.microsoft.com/office/powerpoint/2010/main" val="2356570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1357">
          <a:extLst>
            <a:ext uri="{FF2B5EF4-FFF2-40B4-BE49-F238E27FC236}">
              <a16:creationId xmlns:a16="http://schemas.microsoft.com/office/drawing/2014/main" id="{AAC08F10-D56B-81B3-2F1C-9E76CF364DDB}"/>
            </a:ext>
          </a:extLst>
        </p:cNvPr>
        <p:cNvGrpSpPr/>
        <p:nvPr/>
      </p:nvGrpSpPr>
      <p:grpSpPr>
        <a:xfrm>
          <a:off x="0" y="0"/>
          <a:ext cx="0" cy="0"/>
          <a:chOff x="0" y="0"/>
          <a:chExt cx="0" cy="0"/>
        </a:xfrm>
      </p:grpSpPr>
      <p:sp>
        <p:nvSpPr>
          <p:cNvPr id="1359" name="Google Shape;1359;p33">
            <a:extLst>
              <a:ext uri="{FF2B5EF4-FFF2-40B4-BE49-F238E27FC236}">
                <a16:creationId xmlns:a16="http://schemas.microsoft.com/office/drawing/2014/main" id="{E54BDC7C-8BE2-21B6-D6BE-D68B8BA2D9F5}"/>
              </a:ext>
            </a:extLst>
          </p:cNvPr>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0" i="0" u="none" strike="noStrike" kern="0" cap="none" spc="0" normalizeH="0" baseline="0" noProof="0">
                <a:ln>
                  <a:noFill/>
                </a:ln>
                <a:solidFill>
                  <a:srgbClr val="071D49"/>
                </a:solidFill>
                <a:effectLst/>
                <a:uLnTx/>
                <a:uFillTx/>
                <a:latin typeface="Arial"/>
                <a:ea typeface="Calibri"/>
                <a:cs typeface="Calibri"/>
                <a:sym typeface="Calibri"/>
              </a:rPr>
              <a:t>Rep Performance – CREON (NP/PAs)</a:t>
            </a:r>
          </a:p>
        </p:txBody>
      </p:sp>
      <p:sp>
        <p:nvSpPr>
          <p:cNvPr id="6" name="Google Shape;1368;p33">
            <a:extLst>
              <a:ext uri="{FF2B5EF4-FFF2-40B4-BE49-F238E27FC236}">
                <a16:creationId xmlns:a16="http://schemas.microsoft.com/office/drawing/2014/main" id="{9D52144D-F2D5-A951-D962-B09DE5524276}"/>
              </a:ext>
            </a:extLst>
          </p:cNvPr>
          <p:cNvSpPr/>
          <p:nvPr/>
        </p:nvSpPr>
        <p:spPr>
          <a:xfrm>
            <a:off x="5218866" y="5858070"/>
            <a:ext cx="1206165"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a:ea typeface="Calibri"/>
                <a:cs typeface="Calibri"/>
                <a:sym typeface="Calibri"/>
              </a:rPr>
              <a:t>% of interactions</a:t>
            </a:r>
            <a:endParaRPr kumimoji="0" lang="en-US" sz="1400" b="1" i="0" u="sng" strike="noStrike" kern="0" cap="none" spc="0" normalizeH="0" baseline="0" noProof="0">
              <a:ln>
                <a:noFill/>
              </a:ln>
              <a:solidFill>
                <a:srgbClr val="071D49"/>
              </a:solidFill>
              <a:effectLst/>
              <a:uLnTx/>
              <a:uFillTx/>
              <a:latin typeface="Arial"/>
              <a:ea typeface="Calibri"/>
              <a:cs typeface="Calibri"/>
              <a:sym typeface="Calibri"/>
            </a:endParaRPr>
          </a:p>
        </p:txBody>
      </p:sp>
      <p:sp>
        <p:nvSpPr>
          <p:cNvPr id="1389" name="Google Shape;1583;p40">
            <a:extLst>
              <a:ext uri="{FF2B5EF4-FFF2-40B4-BE49-F238E27FC236}">
                <a16:creationId xmlns:a16="http://schemas.microsoft.com/office/drawing/2014/main" id="{F0098E32-F922-0FAE-B2CD-07CEC3F06BA8}"/>
              </a:ext>
            </a:extLst>
          </p:cNvPr>
          <p:cNvSpPr/>
          <p:nvPr/>
        </p:nvSpPr>
        <p:spPr>
          <a:xfrm>
            <a:off x="6047121" y="6575654"/>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1392" name="TextBox 1391">
            <a:extLst>
              <a:ext uri="{FF2B5EF4-FFF2-40B4-BE49-F238E27FC236}">
                <a16:creationId xmlns:a16="http://schemas.microsoft.com/office/drawing/2014/main" id="{E58E87C3-DE51-4446-3C18-86B40B4CC66C}"/>
              </a:ext>
            </a:extLst>
          </p:cNvPr>
          <p:cNvSpPr txBox="1"/>
          <p:nvPr/>
        </p:nvSpPr>
        <p:spPr>
          <a:xfrm>
            <a:off x="140951" y="1298749"/>
            <a:ext cx="3497918" cy="276999"/>
          </a:xfrm>
          <a:prstGeom prst="rect">
            <a:avLst/>
          </a:prstGeom>
          <a:solidFill>
            <a:srgbClr val="071D49"/>
          </a:solidFill>
        </p:spPr>
        <p:txBody>
          <a:bodyPr wrap="square" rtlCol="0">
            <a:spAutoFit/>
          </a:bodyPr>
          <a:lstStyle/>
          <a:p>
            <a:pPr marL="0" marR="0" lvl="0" indent="0" algn="ctr" defTabSz="685783" rtl="0" eaLnBrk="1" fontAlgn="auto" latinLnBrk="0" hangingPunct="1">
              <a:lnSpc>
                <a:spcPct val="100000"/>
              </a:lnSpc>
              <a:spcBef>
                <a:spcPts val="0"/>
              </a:spcBef>
              <a:spcAft>
                <a:spcPts val="0"/>
              </a:spcAft>
              <a:buClr>
                <a:srgbClr val="FFFFFF"/>
              </a:buClr>
              <a:buSzPts val="1200"/>
              <a:buFont typeface="Arial"/>
              <a:buNone/>
              <a:tabLst/>
              <a:defRPr/>
            </a:pPr>
            <a:r>
              <a:rPr kumimoji="0" lang="en-US" sz="1200" b="0" i="0" u="none" strike="noStrike" kern="1200" cap="none" spc="0" normalizeH="0" baseline="0" noProof="0">
                <a:ln>
                  <a:noFill/>
                </a:ln>
                <a:solidFill>
                  <a:srgbClr val="FFFFFF"/>
                </a:solidFill>
                <a:effectLst/>
                <a:uLnTx/>
                <a:uFillTx/>
                <a:latin typeface="Arial"/>
                <a:ea typeface="Calibri"/>
                <a:cs typeface="Calibri"/>
                <a:sym typeface="Calibri"/>
              </a:rPr>
              <a:t>Rep Performance</a:t>
            </a:r>
            <a:r>
              <a:rPr kumimoji="0" lang="en-US" sz="1200" b="0" i="0" u="none" strike="noStrike" kern="1200" cap="none" spc="0" normalizeH="0" baseline="30000" noProof="0">
                <a:ln>
                  <a:noFill/>
                </a:ln>
                <a:solidFill>
                  <a:srgbClr val="FFFFFF"/>
                </a:solidFill>
                <a:effectLst/>
                <a:uLnTx/>
                <a:uFillTx/>
                <a:latin typeface="Arial"/>
                <a:ea typeface="Calibri"/>
                <a:cs typeface="Calibri"/>
                <a:sym typeface="Calibri"/>
              </a:rPr>
              <a:t>#</a:t>
            </a:r>
          </a:p>
        </p:txBody>
      </p:sp>
      <p:sp>
        <p:nvSpPr>
          <p:cNvPr id="2" name="Google Shape;573;p15">
            <a:extLst>
              <a:ext uri="{FF2B5EF4-FFF2-40B4-BE49-F238E27FC236}">
                <a16:creationId xmlns:a16="http://schemas.microsoft.com/office/drawing/2014/main" id="{4DD13D59-E279-B585-1D9E-3D45A3A80055}"/>
              </a:ext>
            </a:extLst>
          </p:cNvPr>
          <p:cNvSpPr/>
          <p:nvPr/>
        </p:nvSpPr>
        <p:spPr>
          <a:xfrm>
            <a:off x="2116357" y="701476"/>
            <a:ext cx="4838099" cy="46162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71D49"/>
              </a:buClr>
              <a:buSzPts val="1400"/>
              <a:buFont typeface="Arial"/>
              <a:buNone/>
              <a:tabLst/>
              <a:defRPr/>
            </a:pPr>
            <a: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t>Rep Performance – CREON – NP/PAs</a:t>
            </a:r>
            <a:r>
              <a:rPr kumimoji="0" lang="en-IN" sz="1400" b="1" i="0" u="none" strike="noStrike" kern="0" cap="none" spc="0" normalizeH="0" baseline="30000" noProof="0">
                <a:ln>
                  <a:noFill/>
                </a:ln>
                <a:solidFill>
                  <a:srgbClr val="FF0000"/>
                </a:solidFill>
                <a:effectLst/>
                <a:uLnTx/>
                <a:uFillTx/>
                <a:latin typeface="Arial"/>
                <a:ea typeface="Calibri"/>
                <a:cs typeface="Calibri" panose="020F0502020204030204" pitchFamily="34" charset="0"/>
                <a:sym typeface="Calibri"/>
              </a:rPr>
              <a:t>*</a:t>
            </a:r>
            <a:br>
              <a:rPr kumimoji="0" lang="en-IN" sz="1400" b="1" i="0" u="sng" strike="noStrike" kern="0" cap="none" spc="0" normalizeH="0" baseline="0" noProof="0">
                <a:ln>
                  <a:noFill/>
                </a:ln>
                <a:solidFill>
                  <a:srgbClr val="071D49"/>
                </a:solidFill>
                <a:effectLst/>
                <a:uLnTx/>
                <a:uFillTx/>
                <a:latin typeface="Arial"/>
                <a:ea typeface="Calibri"/>
                <a:cs typeface="Calibri" panose="020F0502020204030204" pitchFamily="34" charset="0"/>
                <a:sym typeface="Calibri"/>
              </a:rPr>
            </a:br>
            <a:r>
              <a:rPr kumimoji="0" lang="en-US" sz="1000" b="0" i="0" u="sng" strike="noStrike" kern="0" cap="none" spc="0" normalizeH="0" baseline="0" noProof="0">
                <a:ln>
                  <a:noFill/>
                </a:ln>
                <a:solidFill>
                  <a:srgbClr val="071D49"/>
                </a:solidFill>
                <a:effectLst/>
                <a:uLnTx/>
                <a:uFillTx/>
                <a:latin typeface="Arial"/>
                <a:ea typeface="Calibri"/>
                <a:cs typeface="Calibri"/>
                <a:sym typeface="Calibri"/>
              </a:rPr>
              <a:t>(Jan25 – Dec’25)</a:t>
            </a:r>
            <a:endParaRPr kumimoji="0" lang="en-US" sz="1000" b="0" i="0" u="sng" strike="noStrike" kern="0" cap="none" spc="0" normalizeH="0" baseline="30000" noProof="0">
              <a:ln>
                <a:noFill/>
              </a:ln>
              <a:solidFill>
                <a:srgbClr val="071D49"/>
              </a:solidFill>
              <a:effectLst/>
              <a:uLnTx/>
              <a:uFillTx/>
              <a:latin typeface="Arial"/>
              <a:ea typeface="Calibri"/>
              <a:cs typeface="Calibri" panose="020F0502020204030204" pitchFamily="34" charset="0"/>
              <a:sym typeface="Calibri"/>
            </a:endParaRPr>
          </a:p>
        </p:txBody>
      </p:sp>
      <p:graphicFrame>
        <p:nvGraphicFramePr>
          <p:cNvPr id="8" name="Shape_33366221">
            <a:extLst>
              <a:ext uri="{FF2B5EF4-FFF2-40B4-BE49-F238E27FC236}">
                <a16:creationId xmlns:a16="http://schemas.microsoft.com/office/drawing/2014/main" id="{1F4E2DD2-4F79-47B4-AEAA-EC4E01EB2EA8}"/>
              </a:ext>
            </a:extLst>
          </p:cNvPr>
          <p:cNvGraphicFramePr/>
          <p:nvPr>
            <p:custDataLst>
              <p:tags r:id="rId1"/>
            </p:custDataLst>
          </p:nvPr>
        </p:nvGraphicFramePr>
        <p:xfrm>
          <a:off x="3339587" y="3493395"/>
          <a:ext cx="4824000" cy="64008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26" name="wave table OCQ">
            <a:extLst>
              <a:ext uri="{FF2B5EF4-FFF2-40B4-BE49-F238E27FC236}">
                <a16:creationId xmlns:a16="http://schemas.microsoft.com/office/drawing/2014/main" id="{52B1A0A7-AF82-9871-2B6D-C0C555A7FBE5}"/>
              </a:ext>
            </a:extLst>
          </p:cNvPr>
          <p:cNvGraphicFramePr>
            <a:graphicFrameLocks noGrp="1"/>
          </p:cNvGraphicFramePr>
          <p:nvPr>
            <p:custDataLst>
              <p:tags r:id="rId2"/>
            </p:custDataLst>
          </p:nvPr>
        </p:nvGraphicFramePr>
        <p:xfrm>
          <a:off x="3638869" y="1328195"/>
          <a:ext cx="4320000" cy="243840"/>
        </p:xfrm>
        <a:graphic>
          <a:graphicData uri="http://schemas.openxmlformats.org/drawingml/2006/table">
            <a:tbl>
              <a:tblPr firstRow="1" bandRow="1">
                <a:tableStyleId>{B301B821-A1FF-4177-AEE7-76D212191A09}</a:tableStyleId>
              </a:tblPr>
              <a:tblGrid>
                <a:gridCol w="720000">
                  <a:extLst>
                    <a:ext uri="{9D8B030D-6E8A-4147-A177-3AD203B41FA5}">
                      <a16:colId xmlns:a16="http://schemas.microsoft.com/office/drawing/2014/main" val="3554599800"/>
                    </a:ext>
                  </a:extLst>
                </a:gridCol>
                <a:gridCol w="720000">
                  <a:extLst>
                    <a:ext uri="{9D8B030D-6E8A-4147-A177-3AD203B41FA5}">
                      <a16:colId xmlns:a16="http://schemas.microsoft.com/office/drawing/2014/main" val="2914776207"/>
                    </a:ext>
                  </a:extLst>
                </a:gridCol>
                <a:gridCol w="720000">
                  <a:extLst>
                    <a:ext uri="{9D8B030D-6E8A-4147-A177-3AD203B41FA5}">
                      <a16:colId xmlns:a16="http://schemas.microsoft.com/office/drawing/2014/main" val="2088702262"/>
                    </a:ext>
                  </a:extLst>
                </a:gridCol>
                <a:gridCol w="720000">
                  <a:extLst>
                    <a:ext uri="{9D8B030D-6E8A-4147-A177-3AD203B41FA5}">
                      <a16:colId xmlns:a16="http://schemas.microsoft.com/office/drawing/2014/main" val="192097877"/>
                    </a:ext>
                  </a:extLst>
                </a:gridCol>
                <a:gridCol w="720000">
                  <a:extLst>
                    <a:ext uri="{9D8B030D-6E8A-4147-A177-3AD203B41FA5}">
                      <a16:colId xmlns:a16="http://schemas.microsoft.com/office/drawing/2014/main" val="1326389649"/>
                    </a:ext>
                  </a:extLst>
                </a:gridCol>
                <a:gridCol w="720000">
                  <a:extLst>
                    <a:ext uri="{9D8B030D-6E8A-4147-A177-3AD203B41FA5}">
                      <a16:colId xmlns:a16="http://schemas.microsoft.com/office/drawing/2014/main" val="3544539175"/>
                    </a:ext>
                  </a:extLst>
                </a:gridCol>
              </a:tblGrid>
              <a:tr h="162560">
                <a:tc>
                  <a:txBody>
                    <a:bodyPr/>
                    <a:lstStyle/>
                    <a:p>
                      <a:pPr algn="ctr" fontAlgn="b"/>
                      <a:r>
                        <a:rPr lang="en-US" sz="800" b="1" i="0" u="none" strike="noStrike">
                          <a:solidFill>
                            <a:srgbClr val="071D49"/>
                          </a:solidFill>
                          <a:effectLst/>
                          <a:latin typeface="+mj-lt"/>
                        </a:rPr>
                        <a:t>Jan’25 –</a:t>
                      </a:r>
                    </a:p>
                    <a:p>
                      <a:pPr algn="ctr" fontAlgn="b"/>
                      <a:r>
                        <a:rPr lang="en-US" sz="800" b="1" i="0" u="none" strike="noStrike">
                          <a:solidFill>
                            <a:srgbClr val="071D49"/>
                          </a:solidFill>
                          <a:effectLst/>
                          <a:latin typeface="+mj-lt"/>
                        </a:rPr>
                        <a:t>Feb’25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Mar’25 –</a:t>
                      </a:r>
                    </a:p>
                    <a:p>
                      <a:pPr algn="ctr" fontAlgn="b"/>
                      <a:r>
                        <a:rPr lang="en-US" sz="800" b="1" i="0" u="none" strike="noStrike">
                          <a:solidFill>
                            <a:srgbClr val="071D49"/>
                          </a:solidFill>
                          <a:effectLst/>
                          <a:latin typeface="+mj-lt"/>
                        </a:rPr>
                        <a:t>Apr’25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May’25 –</a:t>
                      </a:r>
                    </a:p>
                    <a:p>
                      <a:pPr algn="ctr" fontAlgn="b"/>
                      <a:r>
                        <a:rPr lang="en-US" sz="800" b="1" i="0" u="none" strike="noStrike">
                          <a:solidFill>
                            <a:srgbClr val="071D49"/>
                          </a:solidFill>
                          <a:effectLst/>
                          <a:latin typeface="+mj-lt"/>
                        </a:rPr>
                        <a:t>Jun’25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Jul’25 –</a:t>
                      </a:r>
                    </a:p>
                    <a:p>
                      <a:pPr algn="ctr" fontAlgn="b"/>
                      <a:r>
                        <a:rPr lang="en-US" sz="800" b="1" i="0" u="none" strike="noStrike">
                          <a:solidFill>
                            <a:srgbClr val="071D49"/>
                          </a:solidFill>
                          <a:effectLst/>
                          <a:latin typeface="+mj-lt"/>
                        </a:rPr>
                        <a:t>Aug’25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Sep’25 –</a:t>
                      </a:r>
                    </a:p>
                    <a:p>
                      <a:pPr algn="ctr" fontAlgn="b"/>
                      <a:r>
                        <a:rPr lang="en-US" sz="800" b="1" i="0" u="none" strike="noStrike">
                          <a:solidFill>
                            <a:srgbClr val="071D49"/>
                          </a:solidFill>
                          <a:effectLst/>
                          <a:latin typeface="+mj-lt"/>
                        </a:rPr>
                        <a:t>Oct’25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800" b="1" i="0" u="none" strike="noStrike">
                          <a:solidFill>
                            <a:srgbClr val="071D49"/>
                          </a:solidFill>
                          <a:effectLst/>
                          <a:latin typeface="+mj-lt"/>
                        </a:rPr>
                        <a:t>Nov’25 –</a:t>
                      </a:r>
                    </a:p>
                    <a:p>
                      <a:pPr algn="ctr" fontAlgn="b"/>
                      <a:r>
                        <a:rPr lang="en-US" sz="800" b="1" i="0" u="none" strike="noStrike">
                          <a:solidFill>
                            <a:srgbClr val="071D49"/>
                          </a:solidFill>
                          <a:effectLst/>
                          <a:latin typeface="+mj-lt"/>
                        </a:rPr>
                        <a:t>Dec’25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3893500"/>
                  </a:ext>
                </a:extLst>
              </a:tr>
            </a:tbl>
          </a:graphicData>
        </a:graphic>
      </p:graphicFrame>
      <p:sp>
        <p:nvSpPr>
          <p:cNvPr id="3" name="Google Shape;1582;p40">
            <a:extLst>
              <a:ext uri="{FF2B5EF4-FFF2-40B4-BE49-F238E27FC236}">
                <a16:creationId xmlns:a16="http://schemas.microsoft.com/office/drawing/2014/main" id="{6DC29D6B-2965-E71D-28B4-F40CBB3F24B6}"/>
              </a:ext>
            </a:extLst>
          </p:cNvPr>
          <p:cNvSpPr txBox="1"/>
          <p:nvPr/>
        </p:nvSpPr>
        <p:spPr>
          <a:xfrm>
            <a:off x="412748" y="6089202"/>
            <a:ext cx="7878643"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Stat test was not performed due to low sample size (n value &lt; 30) | *Sample size in speaker notes </a:t>
            </a:r>
            <a:endParaRPr kumimoji="0" lang="en-US" sz="1000" b="0" i="0" u="none" strike="noStrike" kern="0" cap="none" spc="0" normalizeH="0" baseline="30000" noProof="0">
              <a:ln>
                <a:noFill/>
              </a:ln>
              <a:solidFill>
                <a:srgbClr val="001D49"/>
              </a:solidFill>
              <a:effectLst/>
              <a:uLnTx/>
              <a:uFillTx/>
              <a:latin typeface="Arial"/>
              <a:ea typeface="Calibri"/>
              <a:cs typeface="Calibri"/>
              <a:sym typeface="Calibri"/>
            </a:endParaRPr>
          </a:p>
        </p:txBody>
      </p:sp>
      <p:sp>
        <p:nvSpPr>
          <p:cNvPr id="7" name="TextBox 6">
            <a:extLst>
              <a:ext uri="{FF2B5EF4-FFF2-40B4-BE49-F238E27FC236}">
                <a16:creationId xmlns:a16="http://schemas.microsoft.com/office/drawing/2014/main" id="{003E2D2B-576F-5D16-A552-388218C7A251}"/>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hlinkClick r:id="rId12" action="ppaction://hlinksldjump">
                  <a:extLst>
                    <a:ext uri="{A12FA001-AC4F-418D-AE19-62706E023703}">
                      <ahyp:hlinkClr xmlns:ahyp="http://schemas.microsoft.com/office/drawing/2018/hyperlinkcolor" val="tx"/>
                    </a:ext>
                  </a:extLst>
                </a:hlinkClick>
              </a:rPr>
              <a:t>Return to original slide</a:t>
            </a:r>
            <a:endParaRPr kumimoji="0" lang="en-GB" sz="1100" b="1" i="1" u="sng" strike="noStrike" kern="1200" cap="none" spc="0" normalizeH="0" baseline="0" noProof="0">
              <a:ln>
                <a:noFill/>
              </a:ln>
              <a:solidFill>
                <a:srgbClr val="071D49"/>
              </a:solidFill>
              <a:effectLst/>
              <a:uLnTx/>
              <a:uFillTx/>
              <a:latin typeface="Arial" panose="020B0604020202020204"/>
              <a:cs typeface="Arial"/>
              <a:sym typeface="Arial"/>
            </a:endParaRPr>
          </a:p>
        </p:txBody>
      </p:sp>
      <p:graphicFrame>
        <p:nvGraphicFramePr>
          <p:cNvPr id="14" name="Rep per  NPPA">
            <a:extLst>
              <a:ext uri="{FF2B5EF4-FFF2-40B4-BE49-F238E27FC236}">
                <a16:creationId xmlns:a16="http://schemas.microsoft.com/office/drawing/2014/main" id="{D3CEF89C-1E88-739A-D041-EB9E43038405}"/>
              </a:ext>
            </a:extLst>
          </p:cNvPr>
          <p:cNvGraphicFramePr/>
          <p:nvPr>
            <p:custDataLst>
              <p:tags r:id="rId3"/>
            </p:custDataLst>
          </p:nvPr>
        </p:nvGraphicFramePr>
        <p:xfrm>
          <a:off x="140951" y="1580995"/>
          <a:ext cx="3497920" cy="3840480"/>
        </p:xfrm>
        <a:graphic>
          <a:graphicData uri="http://schemas.openxmlformats.org/drawingml/2006/table">
            <a:tbl>
              <a:tblPr/>
              <a:tblGrid>
                <a:gridCol w="3497920">
                  <a:extLst>
                    <a:ext uri="{9D8B030D-6E8A-4147-A177-3AD203B41FA5}">
                      <a16:colId xmlns:a16="http://schemas.microsoft.com/office/drawing/2014/main" val="20000"/>
                    </a:ext>
                  </a:extLst>
                </a:gridCol>
              </a:tblGrid>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latin typeface="+mn-lt"/>
                          <a:ea typeface="+mn-ea"/>
                          <a:cs typeface="+mn-cs"/>
                        </a:rPr>
                        <a:t>How well the rep explained dosing guidelines and considerations for CREON</a:t>
                      </a:r>
                    </a:p>
                  </a:txBody>
                  <a:tcPr marL="45720" marR="4572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464409815"/>
                  </a:ext>
                </a:extLst>
              </a:tr>
              <a:tr h="640080">
                <a:tc>
                  <a:txBody>
                    <a:bodyPr/>
                    <a:lstStyle/>
                    <a:p>
                      <a:pPr algn="r" fontAlgn="b"/>
                      <a:r>
                        <a:rPr kumimoji="0" lang="en-US" sz="1100" b="0" u="none" strike="noStrike" kern="0" cap="none" spc="0" normalizeH="0" baseline="0">
                          <a:ln>
                            <a:noFill/>
                          </a:ln>
                          <a:solidFill>
                            <a:srgbClr val="071D49"/>
                          </a:solidFill>
                          <a:effectLst/>
                          <a:uLnTx/>
                          <a:uFillTx/>
                        </a:rPr>
                        <a:t>How well the rep performed in discussing efficacy for CREON</a:t>
                      </a:r>
                      <a:endParaRPr kumimoji="0" lang="en-US" sz="1100" b="1"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marL="45720" marR="4572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3907779933"/>
                  </a:ext>
                </a:extLst>
              </a:tr>
              <a:tr h="640080">
                <a:tc>
                  <a:txBody>
                    <a:bodyPr/>
                    <a:lstStyle/>
                    <a:p>
                      <a:pPr algn="r" fontAlgn="b"/>
                      <a:r>
                        <a:rPr kumimoji="0" lang="en-US" sz="1100" b="0" u="none" strike="noStrike" kern="0" cap="none" spc="0" normalizeH="0" baseline="0">
                          <a:ln>
                            <a:noFill/>
                          </a:ln>
                          <a:solidFill>
                            <a:srgbClr val="071D49"/>
                          </a:solidFill>
                          <a:effectLst/>
                          <a:uLnTx/>
                          <a:uFillTx/>
                          <a:latin typeface="+mn-lt"/>
                          <a:ea typeface="+mn-ea"/>
                          <a:cs typeface="+mn-cs"/>
                        </a:rPr>
                        <a:t>The rep’s knowledge of EPI and its associated illnesses</a:t>
                      </a:r>
                      <a:endParaRPr kumimoji="0" lang="en-US" sz="1100" b="1" u="none" strike="noStrike" kern="0" cap="none" spc="0" normalizeH="0" baseline="0">
                        <a:ln>
                          <a:noFill/>
                        </a:ln>
                        <a:solidFill>
                          <a:srgbClr val="071D49"/>
                        </a:solidFill>
                        <a:effectLst/>
                        <a:uLnTx/>
                        <a:uFillTx/>
                        <a:latin typeface="+mn-lt"/>
                        <a:ea typeface="+mn-ea"/>
                        <a:cs typeface="+mn-cs"/>
                      </a:endParaRPr>
                    </a:p>
                  </a:txBody>
                  <a:tcPr marL="45720" marR="45720" anchor="ctr">
                    <a:lnL w="6350" cap="flat" cmpd="sng" algn="ctr">
                      <a:noFill/>
                      <a:prstDash val="dash"/>
                      <a:round/>
                      <a:headEnd type="none" w="med" len="med"/>
                      <a:tailEnd type="none" w="med" len="med"/>
                    </a:lnL>
                    <a:lnR w="6350" cap="flat" cmpd="sng" algn="ctr">
                      <a:noFill/>
                      <a:prstDash val="dash"/>
                      <a:round/>
                      <a:headEnd type="none" w="med" len="med"/>
                      <a:tailEnd type="none" w="med" len="med"/>
                    </a:lnR>
                    <a:lnT w="6350" cap="flat" cmpd="sng" algn="ctr">
                      <a:noFill/>
                      <a:prstDash val="dash"/>
                      <a:round/>
                      <a:headEnd type="none" w="med" len="med"/>
                      <a:tailEnd type="none" w="med" len="med"/>
                    </a:lnT>
                    <a:lnB w="6350" cap="flat" cmpd="sng" algn="ctr">
                      <a:noFill/>
                      <a:prstDash val="dash"/>
                      <a:round/>
                      <a:headEnd type="none" w="med" len="med"/>
                      <a:tailEnd type="none" w="med" len="med"/>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0"/>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rPr>
                        <a:t>How well the rep articulated CREON’s differentiation as a treatment for exocrine pancreatic insufficiency (EPI)</a:t>
                      </a:r>
                      <a:endParaRPr kumimoji="0" lang="en-US" sz="1100" b="1"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marL="45720" marR="45720" anchor="ctr">
                    <a:lnL w="12700" cap="flat" cmpd="sng">
                      <a:noFill/>
                      <a:prstDash val="solid"/>
                      <a:round/>
                      <a:headEnd type="none" w="sm" len="sm"/>
                      <a:tailEnd type="none" w="sm" len="sm"/>
                    </a:lnL>
                    <a:lnR w="12700" cap="flat" cmpd="sng">
                      <a:noFill/>
                      <a:prstDash val="solid"/>
                      <a:round/>
                      <a:headEnd type="none" w="sm" len="sm"/>
                      <a:tailEnd type="none" w="sm" len="sm"/>
                    </a:lnR>
                    <a:lnT w="6350" cap="flat" cmpd="sng" algn="ctr">
                      <a:noFill/>
                      <a:prstDash val="dash"/>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0001"/>
                  </a:ext>
                </a:extLst>
              </a:tr>
              <a:tr h="640080">
                <a:tc>
                  <a:txBody>
                    <a:bodyPr/>
                    <a:lstStyle/>
                    <a:p>
                      <a:pPr marL="0" marR="0" lvl="0" indent="0" algn="r" defTabSz="342906" rtl="0" eaLnBrk="1" fontAlgn="b" latinLnBrk="0" hangingPunct="1">
                        <a:lnSpc>
                          <a:spcPct val="100000"/>
                        </a:lnSpc>
                        <a:spcBef>
                          <a:spcPts val="0"/>
                        </a:spcBef>
                        <a:spcAft>
                          <a:spcPts val="0"/>
                        </a:spcAft>
                        <a:buClrTx/>
                        <a:buSzTx/>
                        <a:buFontTx/>
                        <a:buNone/>
                        <a:tabLst/>
                        <a:defRPr/>
                      </a:pPr>
                      <a:r>
                        <a:rPr kumimoji="0" lang="en-US" sz="1100" b="0" u="none" strike="noStrike" kern="0" cap="none" spc="0" normalizeH="0" baseline="0">
                          <a:ln>
                            <a:noFill/>
                          </a:ln>
                          <a:solidFill>
                            <a:srgbClr val="071D49"/>
                          </a:solidFill>
                          <a:effectLst/>
                          <a:uLnTx/>
                          <a:uFillTx/>
                        </a:rPr>
                        <a:t>How well the rep performed on providing credible support for product claims</a:t>
                      </a:r>
                      <a:endParaRPr kumimoji="0" lang="en-US" sz="1100" b="1"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marL="45720" marR="45720" anchor="ctr">
                    <a:lnL w="12700" cap="flat" cmpd="sng">
                      <a:noFill/>
                      <a:prstDash val="solid"/>
                      <a:round/>
                      <a:headEnd type="none" w="sm" len="sm"/>
                      <a:tailEnd type="none" w="sm" len="sm"/>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ECF0F5"/>
                    </a:solidFill>
                  </a:tcPr>
                </a:tc>
                <a:extLst>
                  <a:ext uri="{0D108BD9-81ED-4DB2-BD59-A6C34878D82A}">
                    <a16:rowId xmlns:a16="http://schemas.microsoft.com/office/drawing/2014/main" val="10002"/>
                  </a:ext>
                </a:extLst>
              </a:tr>
              <a:tr h="640080">
                <a:tc>
                  <a:txBody>
                    <a:bodyPr/>
                    <a:lstStyle/>
                    <a:p>
                      <a:pPr algn="r" fontAlgn="b"/>
                      <a:r>
                        <a:rPr kumimoji="0" lang="en-US" sz="1100" b="0" u="none" strike="noStrike" kern="0" cap="none" spc="0" normalizeH="0" baseline="0">
                          <a:ln>
                            <a:noFill/>
                          </a:ln>
                          <a:solidFill>
                            <a:srgbClr val="071D49"/>
                          </a:solidFill>
                          <a:effectLst/>
                          <a:uLnTx/>
                          <a:uFillTx/>
                        </a:rPr>
                        <a:t>How well the rep performed in discussing safety for CREON</a:t>
                      </a:r>
                      <a:endParaRPr kumimoji="0" lang="en-US" sz="1100" b="0" i="0" u="none" strike="noStrike" kern="0" cap="none" spc="0" normalizeH="0" baseline="0">
                        <a:ln>
                          <a:noFill/>
                        </a:ln>
                        <a:solidFill>
                          <a:srgbClr val="071D49"/>
                        </a:solidFill>
                        <a:effectLst/>
                        <a:uLnTx/>
                        <a:uFillTx/>
                        <a:latin typeface="+mn-lt"/>
                        <a:ea typeface="Calibri" panose="020F0502020204030204" pitchFamily="34" charset="0"/>
                        <a:cs typeface="Arial"/>
                      </a:endParaRPr>
                    </a:p>
                  </a:txBody>
                  <a:tcPr marL="45720" marR="45720" anchor="ctr">
                    <a:lnL w="6350" cap="flat" cmpd="sng" algn="ctr">
                      <a:noFill/>
                      <a:prstDash val="sysDash"/>
                      <a:round/>
                      <a:headEnd type="none" w="med" len="med"/>
                      <a:tailEnd type="none" w="med" len="med"/>
                    </a:lnL>
                    <a:lnR w="6350" cap="flat" cmpd="sng" algn="ctr">
                      <a:noFill/>
                      <a:prstDash val="sysDash"/>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rgbClr val="D7E0EA"/>
                    </a:solidFill>
                  </a:tcPr>
                </a:tc>
                <a:extLst>
                  <a:ext uri="{0D108BD9-81ED-4DB2-BD59-A6C34878D82A}">
                    <a16:rowId xmlns:a16="http://schemas.microsoft.com/office/drawing/2014/main" val="1719155106"/>
                  </a:ext>
                </a:extLst>
              </a:tr>
            </a:tbl>
          </a:graphicData>
        </a:graphic>
      </p:graphicFrame>
      <p:graphicFrame>
        <p:nvGraphicFramePr>
          <p:cNvPr id="19" name="Shape_81072816">
            <a:extLst>
              <a:ext uri="{FF2B5EF4-FFF2-40B4-BE49-F238E27FC236}">
                <a16:creationId xmlns:a16="http://schemas.microsoft.com/office/drawing/2014/main" id="{D2CDC702-91A4-2814-3C25-2F1953AAD706}"/>
              </a:ext>
            </a:extLst>
          </p:cNvPr>
          <p:cNvGraphicFramePr/>
          <p:nvPr>
            <p:custDataLst>
              <p:tags r:id="rId4"/>
            </p:custDataLst>
          </p:nvPr>
        </p:nvGraphicFramePr>
        <p:xfrm>
          <a:off x="3339587" y="1561392"/>
          <a:ext cx="4824000" cy="64008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22" name="Shape_86254721">
            <a:extLst>
              <a:ext uri="{FF2B5EF4-FFF2-40B4-BE49-F238E27FC236}">
                <a16:creationId xmlns:a16="http://schemas.microsoft.com/office/drawing/2014/main" id="{5745EB25-6D2D-4EAB-2905-4B83E4EB2110}"/>
              </a:ext>
            </a:extLst>
          </p:cNvPr>
          <p:cNvGraphicFramePr/>
          <p:nvPr>
            <p:custDataLst>
              <p:tags r:id="rId5"/>
            </p:custDataLst>
          </p:nvPr>
        </p:nvGraphicFramePr>
        <p:xfrm>
          <a:off x="3339587" y="2205393"/>
          <a:ext cx="4824000" cy="64008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23" name="Shape_83992944">
            <a:extLst>
              <a:ext uri="{FF2B5EF4-FFF2-40B4-BE49-F238E27FC236}">
                <a16:creationId xmlns:a16="http://schemas.microsoft.com/office/drawing/2014/main" id="{972D4288-2269-4B2F-7F57-CD80483307D0}"/>
              </a:ext>
            </a:extLst>
          </p:cNvPr>
          <p:cNvGraphicFramePr/>
          <p:nvPr>
            <p:custDataLst>
              <p:tags r:id="rId6"/>
            </p:custDataLst>
          </p:nvPr>
        </p:nvGraphicFramePr>
        <p:xfrm>
          <a:off x="3339587" y="2849394"/>
          <a:ext cx="4824000" cy="64008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24" name="Shape_45272947">
            <a:extLst>
              <a:ext uri="{FF2B5EF4-FFF2-40B4-BE49-F238E27FC236}">
                <a16:creationId xmlns:a16="http://schemas.microsoft.com/office/drawing/2014/main" id="{11540BEC-9FAB-D4F7-97A4-59052327F930}"/>
              </a:ext>
            </a:extLst>
          </p:cNvPr>
          <p:cNvGraphicFramePr/>
          <p:nvPr>
            <p:custDataLst>
              <p:tags r:id="rId7"/>
            </p:custDataLst>
          </p:nvPr>
        </p:nvGraphicFramePr>
        <p:xfrm>
          <a:off x="3339587" y="4137396"/>
          <a:ext cx="4824000" cy="64008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25" name="Shape_90896653">
            <a:extLst>
              <a:ext uri="{FF2B5EF4-FFF2-40B4-BE49-F238E27FC236}">
                <a16:creationId xmlns:a16="http://schemas.microsoft.com/office/drawing/2014/main" id="{243D24E2-92DA-D81F-D9CC-88040A1C928B}"/>
              </a:ext>
            </a:extLst>
          </p:cNvPr>
          <p:cNvGraphicFramePr/>
          <p:nvPr>
            <p:custDataLst>
              <p:tags r:id="rId8"/>
            </p:custDataLst>
          </p:nvPr>
        </p:nvGraphicFramePr>
        <p:xfrm>
          <a:off x="3339587" y="4781395"/>
          <a:ext cx="4824000" cy="640080"/>
        </p:xfrm>
        <a:graphic>
          <a:graphicData uri="http://schemas.openxmlformats.org/drawingml/2006/chart">
            <c:chart xmlns:c="http://schemas.openxmlformats.org/drawingml/2006/chart" xmlns:r="http://schemas.openxmlformats.org/officeDocument/2006/relationships" r:id="rId17"/>
          </a:graphicData>
        </a:graphic>
      </p:graphicFrame>
    </p:spTree>
    <p:extLst>
      <p:ext uri="{BB962C8B-B14F-4D97-AF65-F5344CB8AC3E}">
        <p14:creationId xmlns:p14="http://schemas.microsoft.com/office/powerpoint/2010/main" val="2270624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D5DE7-5A92-1F43-83BD-EFBF31A5057A}"/>
              </a:ext>
            </a:extLst>
          </p:cNvPr>
          <p:cNvSpPr>
            <a:spLocks noGrp="1"/>
          </p:cNvSpPr>
          <p:nvPr>
            <p:ph type="ctrTitle" idx="4294967295"/>
          </p:nvPr>
        </p:nvSpPr>
        <p:spPr>
          <a:xfrm>
            <a:off x="0" y="1765300"/>
            <a:ext cx="6858000" cy="2387600"/>
          </a:xfrm>
        </p:spPr>
        <p:txBody>
          <a:bodyPr/>
          <a:lstStyle/>
          <a:p>
            <a:r>
              <a:rPr lang="en-US"/>
              <a:t>Messaging Summary</a:t>
            </a:r>
            <a:br>
              <a:rPr lang="en-US"/>
            </a:br>
            <a:r>
              <a:rPr lang="en-US"/>
              <a:t>(Nov’25 – Dec’25) </a:t>
            </a:r>
          </a:p>
        </p:txBody>
      </p:sp>
      <p:pic>
        <p:nvPicPr>
          <p:cNvPr id="12" name="Picture 11">
            <a:extLst>
              <a:ext uri="{FF2B5EF4-FFF2-40B4-BE49-F238E27FC236}">
                <a16:creationId xmlns:a16="http://schemas.microsoft.com/office/drawing/2014/main" id="{F863D75E-D84C-FA46-9886-69000DA51567}"/>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429333" y="2523171"/>
            <a:ext cx="910221" cy="212873"/>
          </a:xfrm>
          <a:prstGeom prst="rect">
            <a:avLst/>
          </a:prstGeom>
        </p:spPr>
      </p:pic>
    </p:spTree>
    <p:extLst>
      <p:ext uri="{BB962C8B-B14F-4D97-AF65-F5344CB8AC3E}">
        <p14:creationId xmlns:p14="http://schemas.microsoft.com/office/powerpoint/2010/main" val="12102077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A51852-C60E-2EAF-EBC6-F53791052A77}"/>
            </a:ext>
          </a:extLst>
        </p:cNvPr>
        <p:cNvGrpSpPr/>
        <p:nvPr/>
      </p:nvGrpSpPr>
      <p:grpSpPr>
        <a:xfrm>
          <a:off x="0" y="0"/>
          <a:ext cx="0" cy="0"/>
          <a:chOff x="0" y="0"/>
          <a:chExt cx="0" cy="0"/>
        </a:xfrm>
      </p:grpSpPr>
      <p:graphicFrame>
        <p:nvGraphicFramePr>
          <p:cNvPr id="13" name="Table 7">
            <a:extLst>
              <a:ext uri="{FF2B5EF4-FFF2-40B4-BE49-F238E27FC236}">
                <a16:creationId xmlns:a16="http://schemas.microsoft.com/office/drawing/2014/main" id="{8044780B-1F8C-441D-141D-8FF06E163AB9}"/>
              </a:ext>
            </a:extLst>
          </p:cNvPr>
          <p:cNvGraphicFramePr>
            <a:graphicFrameLocks/>
          </p:cNvGraphicFramePr>
          <p:nvPr>
            <p:custDataLst>
              <p:tags r:id="rId1"/>
            </p:custDataLst>
          </p:nvPr>
        </p:nvGraphicFramePr>
        <p:xfrm>
          <a:off x="51914" y="1362090"/>
          <a:ext cx="6336002" cy="4572000"/>
        </p:xfrm>
        <a:graphic>
          <a:graphicData uri="http://schemas.openxmlformats.org/drawingml/2006/table">
            <a:tbl>
              <a:tblPr firstRow="1" bandRow="1">
                <a:tableStyleId>{EB344D84-9AFB-497E-A393-DC336BA19D2E}</a:tableStyleId>
              </a:tblPr>
              <a:tblGrid>
                <a:gridCol w="1961712">
                  <a:extLst>
                    <a:ext uri="{9D8B030D-6E8A-4147-A177-3AD203B41FA5}">
                      <a16:colId xmlns:a16="http://schemas.microsoft.com/office/drawing/2014/main" val="363770885"/>
                    </a:ext>
                  </a:extLst>
                </a:gridCol>
                <a:gridCol w="1177047">
                  <a:extLst>
                    <a:ext uri="{9D8B030D-6E8A-4147-A177-3AD203B41FA5}">
                      <a16:colId xmlns:a16="http://schemas.microsoft.com/office/drawing/2014/main" val="2970006354"/>
                    </a:ext>
                  </a:extLst>
                </a:gridCol>
                <a:gridCol w="1964988">
                  <a:extLst>
                    <a:ext uri="{9D8B030D-6E8A-4147-A177-3AD203B41FA5}">
                      <a16:colId xmlns:a16="http://schemas.microsoft.com/office/drawing/2014/main" val="4184969842"/>
                    </a:ext>
                  </a:extLst>
                </a:gridCol>
                <a:gridCol w="1232255">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108)</a:t>
                      </a:r>
                      <a:endParaRPr lang="th-TH" sz="1200">
                        <a:latin typeface="+mj-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(n = 115)</a:t>
                      </a:r>
                      <a:endParaRPr lang="en-IN" sz="1200" b="1" kern="1200">
                        <a:solidFill>
                          <a:schemeClr val="lt1"/>
                        </a:solidFill>
                        <a:latin typeface="+mj-lt"/>
                        <a:ea typeface="+mn-ea"/>
                        <a:cs typeface="+mn-cs"/>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extLst>
                  <a:ext uri="{0D108BD9-81ED-4DB2-BD59-A6C34878D82A}">
                    <a16:rowId xmlns:a16="http://schemas.microsoft.com/office/drawing/2014/main" val="1386898921"/>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9033627"/>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‘Meals and Snacks'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‘Only FDA-approved PERT'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537937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3455"/>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314334"/>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‘71% of CREON Medicare Part D patients paid less than $30’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mn-lt"/>
                          <a:ea typeface="+mn-ea"/>
                          <a:cs typeface="Arial" panose="020B0604020202020204" pitchFamily="34" charset="0"/>
                        </a:rPr>
                        <a:t>‘</a:t>
                      </a: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help patients start and stay on treatment’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‘8 out of 10 GEs'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774187"/>
                  </a:ext>
                </a:extLst>
              </a:tr>
            </a:tbl>
          </a:graphicData>
        </a:graphic>
      </p:graphicFrame>
      <p:sp>
        <p:nvSpPr>
          <p:cNvPr id="14" name="TextBox 13">
            <a:extLst>
              <a:ext uri="{FF2B5EF4-FFF2-40B4-BE49-F238E27FC236}">
                <a16:creationId xmlns:a16="http://schemas.microsoft.com/office/drawing/2014/main" id="{67C31D82-86D1-9C54-D69C-A44B31EAD232}"/>
              </a:ext>
            </a:extLst>
          </p:cNvPr>
          <p:cNvSpPr txBox="1"/>
          <p:nvPr/>
        </p:nvSpPr>
        <p:spPr>
          <a:xfrm>
            <a:off x="42771" y="1020447"/>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1200" cap="none" spc="0" normalizeH="0" baseline="0" noProof="0">
                <a:ln>
                  <a:noFill/>
                </a:ln>
                <a:solidFill>
                  <a:srgbClr val="FFFFFF"/>
                </a:solidFill>
                <a:effectLst/>
                <a:uLnTx/>
                <a:uFillTx/>
                <a:latin typeface="Arial"/>
                <a:ea typeface="+mn-ea"/>
                <a:cs typeface="Arial"/>
                <a:sym typeface="Arial"/>
              </a:rPr>
              <a:t>CREON - </a:t>
            </a:r>
            <a:r>
              <a:rPr kumimoji="0" lang="en-US" sz="1351" b="1" i="0" u="none" strike="noStrike" kern="0" cap="none" spc="0" normalizeH="0" baseline="0" noProof="0">
                <a:ln>
                  <a:noFill/>
                </a:ln>
                <a:solidFill>
                  <a:srgbClr val="FFFFFF"/>
                </a:solidFill>
                <a:effectLst/>
                <a:uLnTx/>
                <a:uFillTx/>
                <a:latin typeface="Arial"/>
                <a:cs typeface="Arial"/>
                <a:sym typeface="Arial"/>
              </a:rPr>
              <a:t>All HCPs</a:t>
            </a:r>
          </a:p>
        </p:txBody>
      </p:sp>
      <p:sp>
        <p:nvSpPr>
          <p:cNvPr id="15" name="Rectangle: Rounded Corners 14">
            <a:extLst>
              <a:ext uri="{FF2B5EF4-FFF2-40B4-BE49-F238E27FC236}">
                <a16:creationId xmlns:a16="http://schemas.microsoft.com/office/drawing/2014/main" id="{EE984DB4-BDC3-57D4-A705-1D4556FC5791}"/>
              </a:ext>
            </a:extLst>
          </p:cNvPr>
          <p:cNvSpPr/>
          <p:nvPr/>
        </p:nvSpPr>
        <p:spPr>
          <a:xfrm>
            <a:off x="6478204" y="2210818"/>
            <a:ext cx="2546927" cy="2411279"/>
          </a:xfrm>
          <a:prstGeom prst="roundRect">
            <a:avLst/>
          </a:prstGeom>
          <a:solidFill>
            <a:srgbClr val="071D49"/>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RECALL</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 ‘36K capsules’ </a:t>
            </a:r>
            <a:r>
              <a:rPr kumimoji="0" lang="en-US" sz="1000" b="0" i="0" u="none" strike="noStrike" kern="0" cap="none" spc="0" normalizeH="0" baseline="0" noProof="0">
                <a:ln>
                  <a:noFill/>
                </a:ln>
                <a:solidFill>
                  <a:srgbClr val="FFFFFF"/>
                </a:solidFill>
                <a:effectLst/>
                <a:uLnTx/>
                <a:uFillTx/>
                <a:latin typeface="Arial"/>
                <a:ea typeface="+mn-ea"/>
                <a:cs typeface="+mn-cs"/>
                <a:sym typeface="Arial"/>
              </a:rPr>
              <a:t>was the most recalled message among all HCPs.</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EFFECTIVENESS</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‘Fat and Protein Absorption' </a:t>
            </a:r>
            <a:r>
              <a:rPr kumimoji="0" lang="en-US" sz="1000" b="0" i="0" u="none" strike="noStrike" kern="0" cap="none" spc="0" normalizeH="0" baseline="0" noProof="0">
                <a:ln>
                  <a:noFill/>
                </a:ln>
                <a:solidFill>
                  <a:srgbClr val="FFFFFF"/>
                </a:solidFill>
                <a:effectLst/>
                <a:uLnTx/>
                <a:uFillTx/>
                <a:latin typeface="Arial"/>
                <a:ea typeface="+mn-ea"/>
                <a:cs typeface="+mn-cs"/>
                <a:sym typeface="Arial"/>
              </a:rPr>
              <a:t>was the most effective messages.</a:t>
            </a:r>
            <a:endParaRPr kumimoji="0" lang="en-US" sz="1000" b="0" i="0" u="none" strike="noStrike" kern="0" cap="none" spc="0" normalizeH="0" baseline="0" noProof="0">
              <a:ln>
                <a:noFill/>
              </a:ln>
              <a:solidFill>
                <a:srgbClr val="FFFFFF"/>
              </a:solidFill>
              <a:effectLst/>
              <a:uLnTx/>
              <a:uFillTx/>
              <a:latin typeface="Arial"/>
              <a:ea typeface="+mn-ea"/>
              <a:cs typeface="Arial"/>
              <a:sym typeface="Arial"/>
            </a:endParaRPr>
          </a:p>
          <a:p>
            <a:pPr marL="213995" marR="0" lvl="0" indent="-213995"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000" b="0" i="0" u="none" strike="noStrike" kern="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CREON reps should prioritize the     ‘36K capsules’ </a:t>
            </a:r>
          </a:p>
        </p:txBody>
      </p:sp>
      <p:sp>
        <p:nvSpPr>
          <p:cNvPr id="16" name="TextBox 15">
            <a:extLst>
              <a:ext uri="{FF2B5EF4-FFF2-40B4-BE49-F238E27FC236}">
                <a16:creationId xmlns:a16="http://schemas.microsoft.com/office/drawing/2014/main" id="{55DBAA72-051C-6F66-745E-BCF48798D3C0}"/>
              </a:ext>
            </a:extLst>
          </p:cNvPr>
          <p:cNvSpPr txBox="1"/>
          <p:nvPr/>
        </p:nvSpPr>
        <p:spPr>
          <a:xfrm>
            <a:off x="957541" y="6060308"/>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2" name="Google Shape;1416;p35">
            <a:extLst>
              <a:ext uri="{FF2B5EF4-FFF2-40B4-BE49-F238E27FC236}">
                <a16:creationId xmlns:a16="http://schemas.microsoft.com/office/drawing/2014/main" id="{5F73C621-7116-E222-D1A1-D7D535D0E0E5}"/>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CREON Top Recalled and Effective Messages – All HCPs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Tree>
    <p:extLst>
      <p:ext uri="{BB962C8B-B14F-4D97-AF65-F5344CB8AC3E}">
        <p14:creationId xmlns:p14="http://schemas.microsoft.com/office/powerpoint/2010/main" val="960851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08FD38-BA8B-A9AB-01D9-221D3AF2C34C}"/>
            </a:ext>
          </a:extLst>
        </p:cNvPr>
        <p:cNvGrpSpPr/>
        <p:nvPr/>
      </p:nvGrpSpPr>
      <p:grpSpPr>
        <a:xfrm>
          <a:off x="0" y="0"/>
          <a:ext cx="0" cy="0"/>
          <a:chOff x="0" y="0"/>
          <a:chExt cx="0" cy="0"/>
        </a:xfrm>
      </p:grpSpPr>
      <p:sp>
        <p:nvSpPr>
          <p:cNvPr id="40" name="Title 2">
            <a:extLst>
              <a:ext uri="{FF2B5EF4-FFF2-40B4-BE49-F238E27FC236}">
                <a16:creationId xmlns:a16="http://schemas.microsoft.com/office/drawing/2014/main" id="{283DF4CD-B3CD-D85B-5A06-6175A5E24E44}"/>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CREON Top Recalled and Effective Messages – Gastros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13" name="Table 7">
            <a:extLst>
              <a:ext uri="{FF2B5EF4-FFF2-40B4-BE49-F238E27FC236}">
                <a16:creationId xmlns:a16="http://schemas.microsoft.com/office/drawing/2014/main" id="{F710C0A6-22E4-41CF-C95F-43AEC6A48290}"/>
              </a:ext>
            </a:extLst>
          </p:cNvPr>
          <p:cNvGraphicFramePr>
            <a:graphicFrameLocks/>
          </p:cNvGraphicFramePr>
          <p:nvPr>
            <p:custDataLst>
              <p:tags r:id="rId1"/>
            </p:custDataLst>
          </p:nvPr>
        </p:nvGraphicFramePr>
        <p:xfrm>
          <a:off x="48638" y="1361039"/>
          <a:ext cx="6339278" cy="4572000"/>
        </p:xfrm>
        <a:graphic>
          <a:graphicData uri="http://schemas.openxmlformats.org/drawingml/2006/table">
            <a:tbl>
              <a:tblPr firstRow="1" bandRow="1">
                <a:tableStyleId>{EB344D84-9AFB-497E-A393-DC336BA19D2E}</a:tableStyleId>
              </a:tblPr>
              <a:tblGrid>
                <a:gridCol w="1964988">
                  <a:extLst>
                    <a:ext uri="{9D8B030D-6E8A-4147-A177-3AD203B41FA5}">
                      <a16:colId xmlns:a16="http://schemas.microsoft.com/office/drawing/2014/main" val="363770885"/>
                    </a:ext>
                  </a:extLst>
                </a:gridCol>
                <a:gridCol w="1177047">
                  <a:extLst>
                    <a:ext uri="{9D8B030D-6E8A-4147-A177-3AD203B41FA5}">
                      <a16:colId xmlns:a16="http://schemas.microsoft.com/office/drawing/2014/main" val="2970006354"/>
                    </a:ext>
                  </a:extLst>
                </a:gridCol>
                <a:gridCol w="1964988">
                  <a:extLst>
                    <a:ext uri="{9D8B030D-6E8A-4147-A177-3AD203B41FA5}">
                      <a16:colId xmlns:a16="http://schemas.microsoft.com/office/drawing/2014/main" val="4184969842"/>
                    </a:ext>
                  </a:extLst>
                </a:gridCol>
                <a:gridCol w="1232255">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57)</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48)</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extLst>
                  <a:ext uri="{0D108BD9-81ED-4DB2-BD59-A6C34878D82A}">
                    <a16:rowId xmlns:a16="http://schemas.microsoft.com/office/drawing/2014/main" val="1386898921"/>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9033627"/>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‘Only FDA-approved PERT'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537937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‘Meals and Snacks'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3455"/>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help patients start and stay on treatment’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help patients start and stay on treatment’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‘8 out of 10 GEs'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314334"/>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‘71% of CREON Medicare Part D patients paid less than $30’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774187"/>
                  </a:ext>
                </a:extLst>
              </a:tr>
            </a:tbl>
          </a:graphicData>
        </a:graphic>
      </p:graphicFrame>
      <p:sp>
        <p:nvSpPr>
          <p:cNvPr id="14" name="TextBox 13">
            <a:extLst>
              <a:ext uri="{FF2B5EF4-FFF2-40B4-BE49-F238E27FC236}">
                <a16:creationId xmlns:a16="http://schemas.microsoft.com/office/drawing/2014/main" id="{5E342052-F28C-659C-F6F7-3FC410525137}"/>
              </a:ext>
            </a:extLst>
          </p:cNvPr>
          <p:cNvSpPr txBox="1"/>
          <p:nvPr/>
        </p:nvSpPr>
        <p:spPr>
          <a:xfrm>
            <a:off x="42771" y="1014069"/>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1200" cap="none" spc="0" normalizeH="0" baseline="0" noProof="0">
                <a:ln>
                  <a:noFill/>
                </a:ln>
                <a:solidFill>
                  <a:srgbClr val="FFFFFF"/>
                </a:solidFill>
                <a:effectLst/>
                <a:uLnTx/>
                <a:uFillTx/>
                <a:latin typeface="Arial"/>
                <a:ea typeface="+mn-ea"/>
                <a:cs typeface="Arial"/>
                <a:sym typeface="Arial"/>
              </a:rPr>
              <a:t>CREON - </a:t>
            </a:r>
            <a:r>
              <a:rPr kumimoji="0" lang="en-US" sz="1351" b="1" i="0" u="none" strike="noStrike" kern="0" cap="none" spc="0" normalizeH="0" baseline="0" noProof="0">
                <a:ln>
                  <a:noFill/>
                </a:ln>
                <a:solidFill>
                  <a:srgbClr val="FFFFFF"/>
                </a:solidFill>
                <a:effectLst/>
                <a:uLnTx/>
                <a:uFillTx/>
                <a:latin typeface="Arial"/>
                <a:ea typeface="+mn-ea"/>
                <a:cs typeface="Arial"/>
                <a:sym typeface="Arial"/>
              </a:rPr>
              <a:t>Gastro</a:t>
            </a:r>
            <a:r>
              <a:rPr kumimoji="0" lang="en-US" sz="1351" b="1" i="0" u="none" strike="noStrike" kern="0" cap="none" spc="0" normalizeH="0" baseline="0" noProof="0">
                <a:ln>
                  <a:noFill/>
                </a:ln>
                <a:solidFill>
                  <a:srgbClr val="FFFFFF"/>
                </a:solidFill>
                <a:effectLst/>
                <a:uLnTx/>
                <a:uFillTx/>
                <a:latin typeface="Arial"/>
                <a:cs typeface="Arial"/>
                <a:sym typeface="Arial"/>
              </a:rPr>
              <a:t>s</a:t>
            </a:r>
          </a:p>
        </p:txBody>
      </p:sp>
      <p:sp>
        <p:nvSpPr>
          <p:cNvPr id="15" name="Rectangle: Rounded Corners 14">
            <a:extLst>
              <a:ext uri="{FF2B5EF4-FFF2-40B4-BE49-F238E27FC236}">
                <a16:creationId xmlns:a16="http://schemas.microsoft.com/office/drawing/2014/main" id="{7F4F7DCF-EFC6-9AAC-5431-608B909A08BA}"/>
              </a:ext>
            </a:extLst>
          </p:cNvPr>
          <p:cNvSpPr/>
          <p:nvPr/>
        </p:nvSpPr>
        <p:spPr>
          <a:xfrm>
            <a:off x="6478204" y="2216163"/>
            <a:ext cx="2546927" cy="2411279"/>
          </a:xfrm>
          <a:prstGeom prst="roundRect">
            <a:avLst/>
          </a:prstGeom>
          <a:solidFill>
            <a:srgbClr val="071D49"/>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RECALL</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‘36K capsules' </a:t>
            </a:r>
            <a:r>
              <a:rPr kumimoji="0" lang="en-US" sz="1000" b="0" i="0" u="none" strike="noStrike" kern="0" cap="none" spc="0" normalizeH="0" baseline="0" noProof="0">
                <a:ln>
                  <a:noFill/>
                </a:ln>
                <a:solidFill>
                  <a:srgbClr val="FFFFFF"/>
                </a:solidFill>
                <a:effectLst/>
                <a:uLnTx/>
                <a:uFillTx/>
                <a:latin typeface="Arial"/>
                <a:ea typeface="+mn-ea"/>
                <a:cs typeface="+mn-cs"/>
                <a:sym typeface="Arial"/>
              </a:rPr>
              <a:t>was the most recalled message among Gastros.</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EFFECTIVENESS</a:t>
            </a:r>
          </a:p>
          <a:p>
            <a:pPr marL="0" marR="0" lvl="0" indent="0" algn="l" defTabSz="457189" rtl="0" eaLnBrk="1" fontAlgn="auto" latinLnBrk="0" hangingPunct="1">
              <a:lnSpc>
                <a:spcPct val="100000"/>
              </a:lnSpc>
              <a:spcBef>
                <a:spcPts val="0"/>
              </a:spcBef>
              <a:spcAft>
                <a:spcPts val="0"/>
              </a:spcAft>
              <a:buClrTx/>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‘94% have coverage’ </a:t>
            </a:r>
            <a:r>
              <a:rPr kumimoji="0" lang="en-US" sz="1000" b="0" i="0" u="none" strike="noStrike" kern="0" cap="none" spc="0" normalizeH="0" baseline="0" noProof="0">
                <a:ln>
                  <a:noFill/>
                </a:ln>
                <a:solidFill>
                  <a:srgbClr val="FFFFFF"/>
                </a:solidFill>
                <a:effectLst/>
                <a:uLnTx/>
                <a:uFillTx/>
                <a:latin typeface="Arial"/>
                <a:ea typeface="+mn-ea"/>
                <a:cs typeface="+mn-cs"/>
                <a:sym typeface="Arial"/>
              </a:rPr>
              <a:t>was</a:t>
            </a:r>
            <a:r>
              <a:rPr kumimoji="0" lang="en-US" sz="1000" b="1" i="0" u="none" strike="noStrike" kern="0" cap="none" spc="0" normalizeH="0" baseline="0" noProof="0">
                <a:ln>
                  <a:noFill/>
                </a:ln>
                <a:solidFill>
                  <a:srgbClr val="FFFFFF"/>
                </a:solidFill>
                <a:effectLst/>
                <a:uLnTx/>
                <a:uFillTx/>
                <a:latin typeface="Arial"/>
                <a:ea typeface="+mn-ea"/>
                <a:cs typeface="+mn-cs"/>
                <a:sym typeface="Arial"/>
              </a:rPr>
              <a:t> </a:t>
            </a:r>
            <a:r>
              <a:rPr kumimoji="0" lang="en-US" sz="1000" b="0" i="0" u="none" strike="noStrike" kern="0" cap="none" spc="0" normalizeH="0" baseline="0" noProof="0">
                <a:ln>
                  <a:noFill/>
                </a:ln>
                <a:solidFill>
                  <a:srgbClr val="FFFFFF"/>
                </a:solidFill>
                <a:effectLst/>
                <a:uLnTx/>
                <a:uFillTx/>
                <a:latin typeface="Arial"/>
                <a:ea typeface="+mn-ea"/>
                <a:cs typeface="+mn-cs"/>
                <a:sym typeface="Arial"/>
              </a:rPr>
              <a:t>the most effective messages</a:t>
            </a:r>
            <a:r>
              <a:rPr kumimoji="0" lang="en-US" sz="1000" b="1" i="0" u="none" strike="noStrike" kern="0" cap="none" spc="0" normalizeH="0" baseline="0" noProof="0">
                <a:ln>
                  <a:noFill/>
                </a:ln>
                <a:solidFill>
                  <a:srgbClr val="FFFFFF"/>
                </a:solidFill>
                <a:effectLst/>
                <a:uLnTx/>
                <a:uFillTx/>
                <a:latin typeface="Arial"/>
                <a:ea typeface="+mn-ea"/>
                <a:cs typeface="+mn-cs"/>
                <a:sym typeface="Arial"/>
              </a:rPr>
              <a:t> </a:t>
            </a:r>
            <a:r>
              <a:rPr kumimoji="0" lang="en-US" sz="1000" b="0" i="0" u="none" strike="noStrike" kern="0" cap="none" spc="0" normalizeH="0" baseline="0" noProof="0">
                <a:ln>
                  <a:noFill/>
                </a:ln>
                <a:solidFill>
                  <a:srgbClr val="FFFFFF"/>
                </a:solidFill>
                <a:effectLst/>
                <a:uLnTx/>
                <a:uFillTx/>
                <a:latin typeface="Arial" panose="020B0604020202020204"/>
                <a:ea typeface="+mn-ea"/>
                <a:cs typeface="+mn-cs"/>
                <a:sym typeface="Arial"/>
              </a:rPr>
              <a:t>among Gastros</a:t>
            </a:r>
            <a:br>
              <a:rPr kumimoji="0" lang="en-US" sz="1000" b="1" i="0" u="none" strike="noStrike" kern="0" cap="none" spc="0" normalizeH="0" baseline="0" noProof="0">
                <a:ln>
                  <a:noFill/>
                </a:ln>
                <a:solidFill>
                  <a:srgbClr val="FFFFFF"/>
                </a:solidFill>
                <a:effectLst/>
                <a:uLnTx/>
                <a:uFillTx/>
                <a:latin typeface="Arial"/>
                <a:ea typeface="+mn-ea"/>
                <a:cs typeface="+mn-cs"/>
                <a:sym typeface="Arial"/>
              </a:rPr>
            </a:br>
            <a:endParaRPr kumimoji="0" lang="en-US" sz="1000" b="1" i="0" u="none" strike="noStrike" kern="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CREON reps should prioritize ‘94% have coverage'</a:t>
            </a:r>
          </a:p>
        </p:txBody>
      </p:sp>
      <p:sp>
        <p:nvSpPr>
          <p:cNvPr id="16" name="TextBox 15">
            <a:extLst>
              <a:ext uri="{FF2B5EF4-FFF2-40B4-BE49-F238E27FC236}">
                <a16:creationId xmlns:a16="http://schemas.microsoft.com/office/drawing/2014/main" id="{5E1BF924-A467-5962-5917-D2F7A1B99D38}"/>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Tree>
    <p:extLst>
      <p:ext uri="{BB962C8B-B14F-4D97-AF65-F5344CB8AC3E}">
        <p14:creationId xmlns:p14="http://schemas.microsoft.com/office/powerpoint/2010/main" val="2559607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EA2CEB-B9E6-DA35-C19D-804B5D431ADA}"/>
            </a:ext>
          </a:extLst>
        </p:cNvPr>
        <p:cNvGrpSpPr/>
        <p:nvPr/>
      </p:nvGrpSpPr>
      <p:grpSpPr>
        <a:xfrm>
          <a:off x="0" y="0"/>
          <a:ext cx="0" cy="0"/>
          <a:chOff x="0" y="0"/>
          <a:chExt cx="0" cy="0"/>
        </a:xfrm>
      </p:grpSpPr>
      <p:sp>
        <p:nvSpPr>
          <p:cNvPr id="40" name="Title 2">
            <a:extLst>
              <a:ext uri="{FF2B5EF4-FFF2-40B4-BE49-F238E27FC236}">
                <a16:creationId xmlns:a16="http://schemas.microsoft.com/office/drawing/2014/main" id="{6F61C57E-CE62-E2EA-17B0-42AF393943C2}"/>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CREON Top Recalled and Effective Messages – PCPs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13" name="Table 7">
            <a:extLst>
              <a:ext uri="{FF2B5EF4-FFF2-40B4-BE49-F238E27FC236}">
                <a16:creationId xmlns:a16="http://schemas.microsoft.com/office/drawing/2014/main" id="{BC0F471D-2791-9A05-4FE4-B194C8D68EA1}"/>
              </a:ext>
            </a:extLst>
          </p:cNvPr>
          <p:cNvGraphicFramePr>
            <a:graphicFrameLocks/>
          </p:cNvGraphicFramePr>
          <p:nvPr>
            <p:custDataLst>
              <p:tags r:id="rId1"/>
            </p:custDataLst>
          </p:nvPr>
        </p:nvGraphicFramePr>
        <p:xfrm>
          <a:off x="48638" y="1361039"/>
          <a:ext cx="6339278" cy="4610285"/>
        </p:xfrm>
        <a:graphic>
          <a:graphicData uri="http://schemas.openxmlformats.org/drawingml/2006/table">
            <a:tbl>
              <a:tblPr firstRow="1" bandRow="1">
                <a:tableStyleId>{EB344D84-9AFB-497E-A393-DC336BA19D2E}</a:tableStyleId>
              </a:tblPr>
              <a:tblGrid>
                <a:gridCol w="1964988">
                  <a:extLst>
                    <a:ext uri="{9D8B030D-6E8A-4147-A177-3AD203B41FA5}">
                      <a16:colId xmlns:a16="http://schemas.microsoft.com/office/drawing/2014/main" val="363770885"/>
                    </a:ext>
                  </a:extLst>
                </a:gridCol>
                <a:gridCol w="1177047">
                  <a:extLst>
                    <a:ext uri="{9D8B030D-6E8A-4147-A177-3AD203B41FA5}">
                      <a16:colId xmlns:a16="http://schemas.microsoft.com/office/drawing/2014/main" val="2970006354"/>
                    </a:ext>
                  </a:extLst>
                </a:gridCol>
                <a:gridCol w="1964988">
                  <a:extLst>
                    <a:ext uri="{9D8B030D-6E8A-4147-A177-3AD203B41FA5}">
                      <a16:colId xmlns:a16="http://schemas.microsoft.com/office/drawing/2014/main" val="4184969842"/>
                    </a:ext>
                  </a:extLst>
                </a:gridCol>
                <a:gridCol w="1232255">
                  <a:extLst>
                    <a:ext uri="{9D8B030D-6E8A-4147-A177-3AD203B41FA5}">
                      <a16:colId xmlns:a16="http://schemas.microsoft.com/office/drawing/2014/main" val="4249452658"/>
                    </a:ext>
                  </a:extLst>
                </a:gridCol>
              </a:tblGrid>
              <a:tr h="722285">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23</a:t>
                      </a:r>
                      <a:r>
                        <a:rPr lang="en-US" sz="1200" b="1" kern="1200">
                          <a:solidFill>
                            <a:srgbClr val="FF0000"/>
                          </a:solidFill>
                          <a:latin typeface="+mn-lt"/>
                          <a:ea typeface="+mn-ea"/>
                          <a:cs typeface="+mn-cs"/>
                        </a:rPr>
                        <a:t>*</a:t>
                      </a:r>
                      <a:r>
                        <a:rPr lang="en-US" sz="1200" b="1" kern="1200">
                          <a:solidFill>
                            <a:schemeClr val="lt1"/>
                          </a:solidFill>
                          <a:latin typeface="+mn-lt"/>
                          <a:ea typeface="+mn-ea"/>
                          <a:cs typeface="+mn-cs"/>
                        </a:rPr>
                        <a:t>)</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27</a:t>
                      </a:r>
                      <a:r>
                        <a:rPr lang="en-US" sz="1200" b="1" kern="1200">
                          <a:solidFill>
                            <a:srgbClr val="FF0000"/>
                          </a:solidFill>
                          <a:latin typeface="+mj-lt"/>
                          <a:ea typeface="+mn-ea"/>
                          <a:cs typeface="+mn-cs"/>
                        </a:rPr>
                        <a:t>*</a:t>
                      </a:r>
                      <a:r>
                        <a:rPr lang="en-US" sz="1200" b="1" kern="1200">
                          <a:solidFill>
                            <a:schemeClr val="lt1"/>
                          </a:solidFill>
                          <a:latin typeface="+mj-lt"/>
                          <a:ea typeface="+mn-ea"/>
                          <a:cs typeface="+mn-cs"/>
                        </a:rPr>
                        <a:t>)</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extLst>
                  <a:ext uri="{0D108BD9-81ED-4DB2-BD59-A6C34878D82A}">
                    <a16:rowId xmlns:a16="http://schemas.microsoft.com/office/drawing/2014/main" val="1386898921"/>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‘Meals and Snacks'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9033627"/>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537937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‘Only FDA-approved PERT'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3455"/>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314334"/>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‘Only FDA-approved PERT'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‘8 out of 10 GEs'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774187"/>
                  </a:ext>
                </a:extLst>
              </a:tr>
            </a:tbl>
          </a:graphicData>
        </a:graphic>
      </p:graphicFrame>
      <p:sp>
        <p:nvSpPr>
          <p:cNvPr id="14" name="TextBox 13">
            <a:extLst>
              <a:ext uri="{FF2B5EF4-FFF2-40B4-BE49-F238E27FC236}">
                <a16:creationId xmlns:a16="http://schemas.microsoft.com/office/drawing/2014/main" id="{15825C79-7717-4E17-2400-A7ABD4D5F06D}"/>
              </a:ext>
            </a:extLst>
          </p:cNvPr>
          <p:cNvSpPr txBox="1"/>
          <p:nvPr/>
        </p:nvSpPr>
        <p:spPr>
          <a:xfrm>
            <a:off x="42771" y="1014069"/>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panose="020B0604020202020204" pitchFamily="34" charset="0"/>
                <a:cs typeface="Arial"/>
                <a:sym typeface="Arial"/>
              </a:rPr>
              <a:t>CREON - PCPs</a:t>
            </a:r>
            <a:endParaRPr kumimoji="0" lang="en-US" sz="1351" b="1" i="0" u="none" strike="noStrike" kern="0" cap="none" spc="0" normalizeH="0" baseline="0" noProof="0">
              <a:ln>
                <a:noFill/>
              </a:ln>
              <a:solidFill>
                <a:srgbClr val="FFFFFF"/>
              </a:solidFill>
              <a:effectLst/>
              <a:uLnTx/>
              <a:uFillTx/>
              <a:latin typeface="Arial"/>
              <a:cs typeface="Arial"/>
              <a:sym typeface="Arial"/>
            </a:endParaRPr>
          </a:p>
        </p:txBody>
      </p:sp>
      <p:sp>
        <p:nvSpPr>
          <p:cNvPr id="15" name="Rectangle: Rounded Corners 14">
            <a:extLst>
              <a:ext uri="{FF2B5EF4-FFF2-40B4-BE49-F238E27FC236}">
                <a16:creationId xmlns:a16="http://schemas.microsoft.com/office/drawing/2014/main" id="{176846E3-6E90-C38E-E0C6-138D3E74E7F7}"/>
              </a:ext>
            </a:extLst>
          </p:cNvPr>
          <p:cNvSpPr/>
          <p:nvPr/>
        </p:nvSpPr>
        <p:spPr>
          <a:xfrm>
            <a:off x="6478204" y="2216163"/>
            <a:ext cx="2546927" cy="2411279"/>
          </a:xfrm>
          <a:prstGeom prst="roundRect">
            <a:avLst/>
          </a:prstGeom>
          <a:solidFill>
            <a:srgbClr val="071D49"/>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213995" marR="0" lvl="0" indent="-213995"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a:ea typeface="+mn-ea"/>
                <a:cs typeface="Arial"/>
                <a:sym typeface="Arial"/>
              </a:rPr>
              <a:t>‘Meals and Snacks'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recalled messages among PCPs.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p>
          <a:p>
            <a:pPr marL="213995" marR="0" lvl="0" indent="-213995"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rPr>
              <a:t>‘Nutritional health and quality of life'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a:t>
            </a: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the most effective message among PCPs.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213995" marR="0" lvl="0" indent="-213995"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CREON reps should prioritize the </a:t>
            </a:r>
            <a:r>
              <a:rPr kumimoji="0" lang="en-US" sz="1000" b="1" i="0" u="none" strike="noStrike" kern="1200" cap="none" spc="0" normalizeH="0" baseline="0" noProof="0">
                <a:ln>
                  <a:noFill/>
                </a:ln>
                <a:solidFill>
                  <a:prstClr val="white"/>
                </a:solidFill>
                <a:effectLst/>
                <a:uLnTx/>
                <a:uFillTx/>
                <a:latin typeface="Arial" panose="020B0604020202020204"/>
                <a:ea typeface="+mn-ea"/>
                <a:cs typeface="Arial"/>
                <a:sym typeface="Arial"/>
              </a:rPr>
              <a:t>‘Meals and Snacks' </a:t>
            </a:r>
            <a:endParaRPr kumimoji="0" lang="en-US" sz="1000" b="1"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6" name="TextBox 15">
            <a:extLst>
              <a:ext uri="{FF2B5EF4-FFF2-40B4-BE49-F238E27FC236}">
                <a16:creationId xmlns:a16="http://schemas.microsoft.com/office/drawing/2014/main" id="{67E7340F-00DA-EB67-749E-36B1CADF4071}"/>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5" name="Google Shape;1583;p40">
            <a:extLst>
              <a:ext uri="{FF2B5EF4-FFF2-40B4-BE49-F238E27FC236}">
                <a16:creationId xmlns:a16="http://schemas.microsoft.com/office/drawing/2014/main" id="{1BE2B349-9ED2-8BCD-EB43-B5143DAEAB69}"/>
              </a:ext>
            </a:extLst>
          </p:cNvPr>
          <p:cNvSpPr/>
          <p:nvPr/>
        </p:nvSpPr>
        <p:spPr>
          <a:xfrm>
            <a:off x="7591241" y="608514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Tree>
    <p:extLst>
      <p:ext uri="{BB962C8B-B14F-4D97-AF65-F5344CB8AC3E}">
        <p14:creationId xmlns:p14="http://schemas.microsoft.com/office/powerpoint/2010/main" val="1564573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B1C7EF-27B8-2DF0-4946-60D1D92C1A82}"/>
            </a:ext>
          </a:extLst>
        </p:cNvPr>
        <p:cNvGrpSpPr/>
        <p:nvPr/>
      </p:nvGrpSpPr>
      <p:grpSpPr>
        <a:xfrm>
          <a:off x="0" y="0"/>
          <a:ext cx="0" cy="0"/>
          <a:chOff x="0" y="0"/>
          <a:chExt cx="0" cy="0"/>
        </a:xfrm>
      </p:grpSpPr>
      <p:sp>
        <p:nvSpPr>
          <p:cNvPr id="40" name="Title 2">
            <a:extLst>
              <a:ext uri="{FF2B5EF4-FFF2-40B4-BE49-F238E27FC236}">
                <a16:creationId xmlns:a16="http://schemas.microsoft.com/office/drawing/2014/main" id="{672B51F1-92F8-137E-B9D4-7BA2BD4CF142}"/>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CREON Top Recalled and Effective Messages – NP/PA</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13" name="Table 7">
            <a:extLst>
              <a:ext uri="{FF2B5EF4-FFF2-40B4-BE49-F238E27FC236}">
                <a16:creationId xmlns:a16="http://schemas.microsoft.com/office/drawing/2014/main" id="{F760562E-3B2F-A39B-F5EA-CF8707B0FD8C}"/>
              </a:ext>
            </a:extLst>
          </p:cNvPr>
          <p:cNvGraphicFramePr>
            <a:graphicFrameLocks/>
          </p:cNvGraphicFramePr>
          <p:nvPr>
            <p:custDataLst>
              <p:tags r:id="rId1"/>
            </p:custDataLst>
          </p:nvPr>
        </p:nvGraphicFramePr>
        <p:xfrm>
          <a:off x="48638" y="1361039"/>
          <a:ext cx="6339278" cy="4635100"/>
        </p:xfrm>
        <a:graphic>
          <a:graphicData uri="http://schemas.openxmlformats.org/drawingml/2006/table">
            <a:tbl>
              <a:tblPr firstRow="1" bandRow="1">
                <a:tableStyleId>{EB344D84-9AFB-497E-A393-DC336BA19D2E}</a:tableStyleId>
              </a:tblPr>
              <a:tblGrid>
                <a:gridCol w="1964988">
                  <a:extLst>
                    <a:ext uri="{9D8B030D-6E8A-4147-A177-3AD203B41FA5}">
                      <a16:colId xmlns:a16="http://schemas.microsoft.com/office/drawing/2014/main" val="363770885"/>
                    </a:ext>
                  </a:extLst>
                </a:gridCol>
                <a:gridCol w="1177047">
                  <a:extLst>
                    <a:ext uri="{9D8B030D-6E8A-4147-A177-3AD203B41FA5}">
                      <a16:colId xmlns:a16="http://schemas.microsoft.com/office/drawing/2014/main" val="2970006354"/>
                    </a:ext>
                  </a:extLst>
                </a:gridCol>
                <a:gridCol w="1964988">
                  <a:extLst>
                    <a:ext uri="{9D8B030D-6E8A-4147-A177-3AD203B41FA5}">
                      <a16:colId xmlns:a16="http://schemas.microsoft.com/office/drawing/2014/main" val="4184969842"/>
                    </a:ext>
                  </a:extLst>
                </a:gridCol>
                <a:gridCol w="1232255">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28</a:t>
                      </a:r>
                      <a:r>
                        <a:rPr lang="en-US" sz="1200">
                          <a:solidFill>
                            <a:srgbClr val="FF0000"/>
                          </a:solidFill>
                          <a:latin typeface="+mj-lt"/>
                        </a:rPr>
                        <a:t>*</a:t>
                      </a:r>
                      <a:r>
                        <a:rPr lang="en-US" sz="1200">
                          <a:latin typeface="+mj-lt"/>
                        </a:rPr>
                        <a:t>)</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38)</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71D49"/>
                    </a:solidFill>
                  </a:tcPr>
                </a:tc>
                <a:extLst>
                  <a:ext uri="{0D108BD9-81ED-4DB2-BD59-A6C34878D82A}">
                    <a16:rowId xmlns:a16="http://schemas.microsoft.com/office/drawing/2014/main" val="1386898921"/>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‘Meals and Snacks'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9033627"/>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‘Nutritional health and quality of life'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537937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‘36K capsules'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‘Only FDA-approved PERT'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‘Fat and Protein Absorption'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‘Clinical Diagnosis'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3455"/>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‘71% of CREON Medicare Part D patients paid less than $30’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‘Excellent coverage make CREON a partner for patients with EPl’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‘CREON Complete Savings Card’</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314334"/>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‘94% have coverage'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‘Excellent coverage make CREON a partner for patients with EPl’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‘#1 PERT'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kumimoji="0" lang="en-US"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‘8 out of 10 GEs'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kumimoji="0" lang="en-IN" sz="1000" b="1" i="0" u="none" strike="noStrike" kern="1200" cap="none" spc="0" normalizeH="0" baseline="0">
                          <a:ln>
                            <a:noFill/>
                          </a:ln>
                          <a:solidFill>
                            <a:srgbClr val="001D49"/>
                          </a:solidFill>
                          <a:effectLst/>
                          <a:uLnTx/>
                          <a:uFillTx/>
                          <a:latin typeface="Arial" panose="020B0604020202020204"/>
                          <a:ea typeface="+mn-ea"/>
                          <a:cs typeface="Arial" panose="020B0604020202020204" pitchFamily="34" charset="0"/>
                        </a:rPr>
                        <a:t>47%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774187"/>
                  </a:ext>
                </a:extLst>
              </a:tr>
            </a:tbl>
          </a:graphicData>
        </a:graphic>
      </p:graphicFrame>
      <p:sp>
        <p:nvSpPr>
          <p:cNvPr id="14" name="TextBox 13">
            <a:extLst>
              <a:ext uri="{FF2B5EF4-FFF2-40B4-BE49-F238E27FC236}">
                <a16:creationId xmlns:a16="http://schemas.microsoft.com/office/drawing/2014/main" id="{41453C39-C8AD-AE60-5C88-73AA787EE146}"/>
              </a:ext>
            </a:extLst>
          </p:cNvPr>
          <p:cNvSpPr txBox="1"/>
          <p:nvPr/>
        </p:nvSpPr>
        <p:spPr>
          <a:xfrm>
            <a:off x="42771" y="1014069"/>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panose="020B0604020202020204" pitchFamily="34" charset="0"/>
                <a:cs typeface="Arial"/>
                <a:sym typeface="Arial"/>
              </a:rPr>
              <a:t>CREON - NP/PA</a:t>
            </a:r>
            <a:endParaRPr kumimoji="0" lang="en-US" sz="1351" b="1" i="0" u="none" strike="noStrike" kern="0" cap="none" spc="0" normalizeH="0" baseline="0" noProof="0">
              <a:ln>
                <a:noFill/>
              </a:ln>
              <a:solidFill>
                <a:srgbClr val="FFFFFF"/>
              </a:solidFill>
              <a:effectLst/>
              <a:uLnTx/>
              <a:uFillTx/>
              <a:latin typeface="Arial"/>
              <a:cs typeface="Arial"/>
              <a:sym typeface="Arial"/>
            </a:endParaRPr>
          </a:p>
        </p:txBody>
      </p:sp>
      <p:sp>
        <p:nvSpPr>
          <p:cNvPr id="15" name="Rectangle: Rounded Corners 14">
            <a:extLst>
              <a:ext uri="{FF2B5EF4-FFF2-40B4-BE49-F238E27FC236}">
                <a16:creationId xmlns:a16="http://schemas.microsoft.com/office/drawing/2014/main" id="{DCCE2BA4-3E40-27D5-A798-83EF3491C415}"/>
              </a:ext>
            </a:extLst>
          </p:cNvPr>
          <p:cNvSpPr/>
          <p:nvPr/>
        </p:nvSpPr>
        <p:spPr>
          <a:xfrm>
            <a:off x="6478204" y="2216163"/>
            <a:ext cx="2546927" cy="2411279"/>
          </a:xfrm>
          <a:prstGeom prst="roundRect">
            <a:avLst/>
          </a:prstGeom>
          <a:solidFill>
            <a:srgbClr val="071D49"/>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214297" marR="0" lvl="0" indent="-214297"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rPr>
              <a:t>‘Meals and Snacks’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recalled message among NP/PAs.</a:t>
            </a: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p>
          <a:p>
            <a:pPr marL="214297" marR="0" lvl="0" indent="-214297"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rPr>
              <a:t>‘Fat and Protein Absorption’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a:t>
            </a: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the most effective message among NP/PAs</a:t>
            </a:r>
          </a:p>
          <a:p>
            <a:pPr marL="214297" marR="0" lvl="0" indent="-214297" algn="l" defTabSz="6857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000" b="0"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FFFFFF"/>
                </a:solidFill>
                <a:effectLst/>
                <a:uLnTx/>
                <a:uFillTx/>
                <a:latin typeface="Arial"/>
                <a:ea typeface="+mn-ea"/>
                <a:cs typeface="+mn-cs"/>
                <a:sym typeface="Arial"/>
              </a:rPr>
              <a:t>CREON reps should prioritize the </a:t>
            </a:r>
            <a:r>
              <a:rPr kumimoji="0" lang="en-US" sz="10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sym typeface="Arial"/>
              </a:rPr>
              <a:t>‘Meals and Snacks'</a:t>
            </a:r>
          </a:p>
        </p:txBody>
      </p:sp>
      <p:sp>
        <p:nvSpPr>
          <p:cNvPr id="16" name="TextBox 15">
            <a:extLst>
              <a:ext uri="{FF2B5EF4-FFF2-40B4-BE49-F238E27FC236}">
                <a16:creationId xmlns:a16="http://schemas.microsoft.com/office/drawing/2014/main" id="{41910316-45C9-E0D6-FE7B-81EA7D3F41F1}"/>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5" name="Google Shape;1583;p40">
            <a:extLst>
              <a:ext uri="{FF2B5EF4-FFF2-40B4-BE49-F238E27FC236}">
                <a16:creationId xmlns:a16="http://schemas.microsoft.com/office/drawing/2014/main" id="{5AEE23B6-5536-50B4-1190-48E9568A04B6}"/>
              </a:ext>
            </a:extLst>
          </p:cNvPr>
          <p:cNvSpPr/>
          <p:nvPr/>
        </p:nvSpPr>
        <p:spPr>
          <a:xfrm>
            <a:off x="7591241" y="608514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Tree>
    <p:extLst>
      <p:ext uri="{BB962C8B-B14F-4D97-AF65-F5344CB8AC3E}">
        <p14:creationId xmlns:p14="http://schemas.microsoft.com/office/powerpoint/2010/main" val="11591064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7">
            <a:extLst>
              <a:ext uri="{FF2B5EF4-FFF2-40B4-BE49-F238E27FC236}">
                <a16:creationId xmlns:a16="http://schemas.microsoft.com/office/drawing/2014/main" id="{790CB5F6-AC22-0BED-87E4-054C479E29EB}"/>
              </a:ext>
            </a:extLst>
          </p:cNvPr>
          <p:cNvGraphicFramePr>
            <a:graphicFrameLocks/>
          </p:cNvGraphicFramePr>
          <p:nvPr>
            <p:custDataLst>
              <p:tags r:id="rId1"/>
            </p:custDataLst>
          </p:nvPr>
        </p:nvGraphicFramePr>
        <p:xfrm>
          <a:off x="51914" y="1361039"/>
          <a:ext cx="6336000" cy="4572000"/>
        </p:xfrm>
        <a:graphic>
          <a:graphicData uri="http://schemas.openxmlformats.org/drawingml/2006/table">
            <a:tbl>
              <a:tblPr firstRow="1" bandRow="1">
                <a:tableStyleId>{EB344D84-9AFB-497E-A393-DC336BA19D2E}</a:tableStyleId>
              </a:tblPr>
              <a:tblGrid>
                <a:gridCol w="1872000">
                  <a:extLst>
                    <a:ext uri="{9D8B030D-6E8A-4147-A177-3AD203B41FA5}">
                      <a16:colId xmlns:a16="http://schemas.microsoft.com/office/drawing/2014/main" val="363770885"/>
                    </a:ext>
                  </a:extLst>
                </a:gridCol>
                <a:gridCol w="1296000">
                  <a:extLst>
                    <a:ext uri="{9D8B030D-6E8A-4147-A177-3AD203B41FA5}">
                      <a16:colId xmlns:a16="http://schemas.microsoft.com/office/drawing/2014/main" val="2970006354"/>
                    </a:ext>
                  </a:extLst>
                </a:gridCol>
                <a:gridCol w="1872000">
                  <a:extLst>
                    <a:ext uri="{9D8B030D-6E8A-4147-A177-3AD203B41FA5}">
                      <a16:colId xmlns:a16="http://schemas.microsoft.com/office/drawing/2014/main" val="4184969842"/>
                    </a:ext>
                  </a:extLst>
                </a:gridCol>
                <a:gridCol w="1296000">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102)</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115)</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extLst>
                  <a:ext uri="{0D108BD9-81ED-4DB2-BD59-A6C34878D82A}">
                    <a16:rowId xmlns:a16="http://schemas.microsoft.com/office/drawing/2014/main" val="1386898921"/>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72%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149033627"/>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177537937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652673455"/>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‘Clinical trial’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38314334"/>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 mimics exocrine pancreatic function.’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 mimics exocrine pancreatic function.’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25%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‘Fuels nutritional health’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80774187"/>
                  </a:ext>
                </a:extLst>
              </a:tr>
            </a:tbl>
          </a:graphicData>
        </a:graphic>
      </p:graphicFrame>
      <p:sp>
        <p:nvSpPr>
          <p:cNvPr id="6" name="Rectangle: Rounded Corners 5">
            <a:extLst>
              <a:ext uri="{FF2B5EF4-FFF2-40B4-BE49-F238E27FC236}">
                <a16:creationId xmlns:a16="http://schemas.microsoft.com/office/drawing/2014/main" id="{A9274767-A999-2FE4-E0BF-F7454A381E9B}"/>
              </a:ext>
            </a:extLst>
          </p:cNvPr>
          <p:cNvSpPr/>
          <p:nvPr/>
        </p:nvSpPr>
        <p:spPr>
          <a:xfrm>
            <a:off x="6486548" y="2204128"/>
            <a:ext cx="2546927" cy="2119449"/>
          </a:xfrm>
          <a:prstGeom prst="roundRect">
            <a:avLst/>
          </a:prstGeom>
          <a:solidFill>
            <a:srgbClr val="7030A0"/>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00" b="1" i="0" u="none" strike="noStrike" kern="1200" cap="none" spc="0" normalizeH="0" baseline="0" noProof="0">
                <a:ln>
                  <a:noFill/>
                </a:ln>
                <a:solidFill>
                  <a:srgbClr val="FFFFFF"/>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recalled.</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endParaRPr kumimoji="0" lang="en-US" sz="1000" b="1"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message remained the most effective message.</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p:txBody>
      </p:sp>
      <p:sp>
        <p:nvSpPr>
          <p:cNvPr id="7" name="TextBox 6">
            <a:extLst>
              <a:ext uri="{FF2B5EF4-FFF2-40B4-BE49-F238E27FC236}">
                <a16:creationId xmlns:a16="http://schemas.microsoft.com/office/drawing/2014/main" id="{A3654B47-CB11-F3B3-E529-B3AA23CDA17F}"/>
              </a:ext>
            </a:extLst>
          </p:cNvPr>
          <p:cNvSpPr txBox="1"/>
          <p:nvPr/>
        </p:nvSpPr>
        <p:spPr>
          <a:xfrm>
            <a:off x="42771" y="1014069"/>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1200" cap="none" spc="0" normalizeH="0" baseline="0" noProof="0">
                <a:ln>
                  <a:noFill/>
                </a:ln>
                <a:solidFill>
                  <a:srgbClr val="FFFFFF"/>
                </a:solidFill>
                <a:effectLst/>
                <a:uLnTx/>
                <a:uFillTx/>
                <a:latin typeface="Arial"/>
                <a:ea typeface="+mn-ea"/>
                <a:cs typeface="Arial"/>
                <a:sym typeface="Arial"/>
              </a:rPr>
              <a:t>ZENPEP - </a:t>
            </a:r>
            <a:r>
              <a:rPr kumimoji="0" lang="en-US" sz="1351" b="1" i="0" u="none" strike="noStrike" kern="0" cap="none" spc="0" normalizeH="0" baseline="0" noProof="0">
                <a:ln>
                  <a:noFill/>
                </a:ln>
                <a:solidFill>
                  <a:srgbClr val="FFFFFF"/>
                </a:solidFill>
                <a:effectLst/>
                <a:uLnTx/>
                <a:uFillTx/>
                <a:latin typeface="Arial"/>
                <a:cs typeface="Arial"/>
                <a:sym typeface="Arial"/>
              </a:rPr>
              <a:t>All HCPs </a:t>
            </a:r>
          </a:p>
        </p:txBody>
      </p:sp>
      <p:sp>
        <p:nvSpPr>
          <p:cNvPr id="8" name="TextBox 7">
            <a:extLst>
              <a:ext uri="{FF2B5EF4-FFF2-40B4-BE49-F238E27FC236}">
                <a16:creationId xmlns:a16="http://schemas.microsoft.com/office/drawing/2014/main" id="{A66AA8F5-7C88-2ADE-09DC-8174766C4F63}"/>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12" name="Title 2">
            <a:extLst>
              <a:ext uri="{FF2B5EF4-FFF2-40B4-BE49-F238E27FC236}">
                <a16:creationId xmlns:a16="http://schemas.microsoft.com/office/drawing/2014/main" id="{92F51756-1F98-C8CE-8DE6-C7A1A8A2F759}"/>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ZENPEP Top Recalled and Effective Messages – All HCPs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Tree>
    <p:extLst>
      <p:ext uri="{BB962C8B-B14F-4D97-AF65-F5344CB8AC3E}">
        <p14:creationId xmlns:p14="http://schemas.microsoft.com/office/powerpoint/2010/main" val="1910172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itle 2">
            <a:extLst>
              <a:ext uri="{FF2B5EF4-FFF2-40B4-BE49-F238E27FC236}">
                <a16:creationId xmlns:a16="http://schemas.microsoft.com/office/drawing/2014/main" id="{EC66443F-2F1A-32FD-8506-5DECBBB111DA}"/>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ZENPEP Top Recalled and Effective Messages – Gastros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5" name="Table 7">
            <a:extLst>
              <a:ext uri="{FF2B5EF4-FFF2-40B4-BE49-F238E27FC236}">
                <a16:creationId xmlns:a16="http://schemas.microsoft.com/office/drawing/2014/main" id="{790CB5F6-AC22-0BED-87E4-054C479E29EB}"/>
              </a:ext>
            </a:extLst>
          </p:cNvPr>
          <p:cNvGraphicFramePr>
            <a:graphicFrameLocks/>
          </p:cNvGraphicFramePr>
          <p:nvPr>
            <p:custDataLst>
              <p:tags r:id="rId1"/>
            </p:custDataLst>
          </p:nvPr>
        </p:nvGraphicFramePr>
        <p:xfrm>
          <a:off x="51914" y="1361039"/>
          <a:ext cx="6336000" cy="4572000"/>
        </p:xfrm>
        <a:graphic>
          <a:graphicData uri="http://schemas.openxmlformats.org/drawingml/2006/table">
            <a:tbl>
              <a:tblPr firstRow="1" bandRow="1">
                <a:tableStyleId>{EB344D84-9AFB-497E-A393-DC336BA19D2E}</a:tableStyleId>
              </a:tblPr>
              <a:tblGrid>
                <a:gridCol w="1872000">
                  <a:extLst>
                    <a:ext uri="{9D8B030D-6E8A-4147-A177-3AD203B41FA5}">
                      <a16:colId xmlns:a16="http://schemas.microsoft.com/office/drawing/2014/main" val="363770885"/>
                    </a:ext>
                  </a:extLst>
                </a:gridCol>
                <a:gridCol w="1296000">
                  <a:extLst>
                    <a:ext uri="{9D8B030D-6E8A-4147-A177-3AD203B41FA5}">
                      <a16:colId xmlns:a16="http://schemas.microsoft.com/office/drawing/2014/main" val="2970006354"/>
                    </a:ext>
                  </a:extLst>
                </a:gridCol>
                <a:gridCol w="1872000">
                  <a:extLst>
                    <a:ext uri="{9D8B030D-6E8A-4147-A177-3AD203B41FA5}">
                      <a16:colId xmlns:a16="http://schemas.microsoft.com/office/drawing/2014/main" val="4184969842"/>
                    </a:ext>
                  </a:extLst>
                </a:gridCol>
                <a:gridCol w="1296000">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57)</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48)</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extLst>
                  <a:ext uri="{0D108BD9-81ED-4DB2-BD59-A6C34878D82A}">
                    <a16:rowId xmlns:a16="http://schemas.microsoft.com/office/drawing/2014/main" val="1386898921"/>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70%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79%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149033627"/>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177537937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652673455"/>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‘Clinical trial’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38314334"/>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‘Clinical trial’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21%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‘CFA’</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80774187"/>
                  </a:ext>
                </a:extLst>
              </a:tr>
            </a:tbl>
          </a:graphicData>
        </a:graphic>
      </p:graphicFrame>
      <p:sp>
        <p:nvSpPr>
          <p:cNvPr id="7" name="TextBox 6">
            <a:extLst>
              <a:ext uri="{FF2B5EF4-FFF2-40B4-BE49-F238E27FC236}">
                <a16:creationId xmlns:a16="http://schemas.microsoft.com/office/drawing/2014/main" id="{A3654B47-CB11-F3B3-E529-B3AA23CDA17F}"/>
              </a:ext>
            </a:extLst>
          </p:cNvPr>
          <p:cNvSpPr txBox="1"/>
          <p:nvPr/>
        </p:nvSpPr>
        <p:spPr>
          <a:xfrm>
            <a:off x="42771" y="1014069"/>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panose="020B0604020202020204" pitchFamily="34" charset="0"/>
                <a:cs typeface="Arial"/>
                <a:sym typeface="Arial"/>
              </a:rPr>
              <a:t>ZENPEP - Gastros</a:t>
            </a:r>
            <a:endParaRPr kumimoji="0" lang="en-US" sz="1351" b="1" i="0" u="none" strike="noStrike" kern="0" cap="none" spc="0" normalizeH="0" baseline="0" noProof="0">
              <a:ln>
                <a:noFill/>
              </a:ln>
              <a:solidFill>
                <a:srgbClr val="FFFFFF"/>
              </a:solidFill>
              <a:effectLst/>
              <a:uLnTx/>
              <a:uFillTx/>
              <a:latin typeface="Arial"/>
              <a:cs typeface="Arial"/>
              <a:sym typeface="Arial"/>
            </a:endParaRPr>
          </a:p>
        </p:txBody>
      </p:sp>
      <p:sp>
        <p:nvSpPr>
          <p:cNvPr id="8" name="TextBox 7">
            <a:extLst>
              <a:ext uri="{FF2B5EF4-FFF2-40B4-BE49-F238E27FC236}">
                <a16:creationId xmlns:a16="http://schemas.microsoft.com/office/drawing/2014/main" id="{A66AA8F5-7C88-2ADE-09DC-8174766C4F63}"/>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3" name="Rectangle: Rounded Corners 2">
            <a:extLst>
              <a:ext uri="{FF2B5EF4-FFF2-40B4-BE49-F238E27FC236}">
                <a16:creationId xmlns:a16="http://schemas.microsoft.com/office/drawing/2014/main" id="{907DEF9E-7D72-6CC1-0701-92C7F735D57A}"/>
              </a:ext>
            </a:extLst>
          </p:cNvPr>
          <p:cNvSpPr/>
          <p:nvPr/>
        </p:nvSpPr>
        <p:spPr>
          <a:xfrm>
            <a:off x="6486548" y="2204128"/>
            <a:ext cx="2546927" cy="2119449"/>
          </a:xfrm>
          <a:prstGeom prst="roundRect">
            <a:avLst/>
          </a:prstGeom>
          <a:solidFill>
            <a:srgbClr val="7030A0"/>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prstClr val="white"/>
                </a:solidFill>
                <a:effectLst/>
                <a:uLnTx/>
                <a:uFillTx/>
                <a:latin typeface="Arial" panose="020B0604020202020204"/>
                <a:ea typeface="+mn-ea"/>
                <a:cs typeface="+mn-cs"/>
                <a:sym typeface="Arial"/>
              </a:rPr>
              <a:t>was</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 the most recalled among Gastros.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endParaRPr kumimoji="0" lang="en-US" sz="1000" b="1"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message remained the most effective message among Gastros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p:txBody>
      </p:sp>
    </p:spTree>
    <p:extLst>
      <p:ext uri="{BB962C8B-B14F-4D97-AF65-F5344CB8AC3E}">
        <p14:creationId xmlns:p14="http://schemas.microsoft.com/office/powerpoint/2010/main" val="23536299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itle 2">
            <a:extLst>
              <a:ext uri="{FF2B5EF4-FFF2-40B4-BE49-F238E27FC236}">
                <a16:creationId xmlns:a16="http://schemas.microsoft.com/office/drawing/2014/main" id="{EC66443F-2F1A-32FD-8506-5DECBBB111DA}"/>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ZENPEP Top Recalled and Effective Messages – PCPs</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5" name="Table 7">
            <a:extLst>
              <a:ext uri="{FF2B5EF4-FFF2-40B4-BE49-F238E27FC236}">
                <a16:creationId xmlns:a16="http://schemas.microsoft.com/office/drawing/2014/main" id="{A992D07D-2074-D7A2-CCC8-92F3E82F3DC2}"/>
              </a:ext>
            </a:extLst>
          </p:cNvPr>
          <p:cNvGraphicFramePr>
            <a:graphicFrameLocks/>
          </p:cNvGraphicFramePr>
          <p:nvPr>
            <p:custDataLst>
              <p:tags r:id="rId1"/>
            </p:custDataLst>
          </p:nvPr>
        </p:nvGraphicFramePr>
        <p:xfrm>
          <a:off x="51914" y="1357543"/>
          <a:ext cx="6336000" cy="4572000"/>
        </p:xfrm>
        <a:graphic>
          <a:graphicData uri="http://schemas.openxmlformats.org/drawingml/2006/table">
            <a:tbl>
              <a:tblPr firstRow="1" bandRow="1">
                <a:tableStyleId>{EB344D84-9AFB-497E-A393-DC336BA19D2E}</a:tableStyleId>
              </a:tblPr>
              <a:tblGrid>
                <a:gridCol w="1872000">
                  <a:extLst>
                    <a:ext uri="{9D8B030D-6E8A-4147-A177-3AD203B41FA5}">
                      <a16:colId xmlns:a16="http://schemas.microsoft.com/office/drawing/2014/main" val="363770885"/>
                    </a:ext>
                  </a:extLst>
                </a:gridCol>
                <a:gridCol w="1296000">
                  <a:extLst>
                    <a:ext uri="{9D8B030D-6E8A-4147-A177-3AD203B41FA5}">
                      <a16:colId xmlns:a16="http://schemas.microsoft.com/office/drawing/2014/main" val="2970006354"/>
                    </a:ext>
                  </a:extLst>
                </a:gridCol>
                <a:gridCol w="1872000">
                  <a:extLst>
                    <a:ext uri="{9D8B030D-6E8A-4147-A177-3AD203B41FA5}">
                      <a16:colId xmlns:a16="http://schemas.microsoft.com/office/drawing/2014/main" val="4184969842"/>
                    </a:ext>
                  </a:extLst>
                </a:gridCol>
                <a:gridCol w="1296000">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20</a:t>
                      </a:r>
                      <a:r>
                        <a:rPr kumimoji="0" lang="en-US" sz="1200" b="1" i="1" u="none" strike="noStrike" kern="0" cap="none" spc="0" normalizeH="0" baseline="0" noProof="0">
                          <a:ln>
                            <a:noFill/>
                          </a:ln>
                          <a:solidFill>
                            <a:srgbClr val="FF0000"/>
                          </a:solidFill>
                          <a:effectLst/>
                          <a:uLnTx/>
                          <a:uFillTx/>
                          <a:latin typeface="+mn-lt"/>
                          <a:ea typeface="Calibri"/>
                          <a:cs typeface="Calibri"/>
                          <a:sym typeface="Calibri"/>
                        </a:rPr>
                        <a:t>*</a:t>
                      </a:r>
                      <a:r>
                        <a:rPr lang="en-US" sz="1200">
                          <a:latin typeface="+mj-lt"/>
                        </a:rPr>
                        <a:t>)</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27</a:t>
                      </a:r>
                      <a:r>
                        <a:rPr lang="en-US" sz="1200" b="1" kern="1200">
                          <a:solidFill>
                            <a:srgbClr val="FF0000"/>
                          </a:solidFill>
                          <a:latin typeface="+mn-lt"/>
                          <a:ea typeface="+mn-ea"/>
                          <a:cs typeface="+mn-cs"/>
                        </a:rPr>
                        <a:t>*</a:t>
                      </a:r>
                      <a:r>
                        <a:rPr lang="en-US" sz="1200" b="1" kern="1200">
                          <a:solidFill>
                            <a:schemeClr val="lt1"/>
                          </a:solidFill>
                          <a:latin typeface="+mj-lt"/>
                          <a:ea typeface="+mn-ea"/>
                          <a:cs typeface="+mn-cs"/>
                        </a:rPr>
                        <a:t>)</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extLst>
                  <a:ext uri="{0D108BD9-81ED-4DB2-BD59-A6C34878D82A}">
                    <a16:rowId xmlns:a16="http://schemas.microsoft.com/office/drawing/2014/main" val="1386898921"/>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149033627"/>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177537937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652673455"/>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38314334"/>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‘CFA’</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‘Clinical trial’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‘SampleCloset’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‘CFA’</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80774187"/>
                  </a:ext>
                </a:extLst>
              </a:tr>
            </a:tbl>
          </a:graphicData>
        </a:graphic>
      </p:graphicFrame>
      <p:sp>
        <p:nvSpPr>
          <p:cNvPr id="7" name="TextBox 6">
            <a:extLst>
              <a:ext uri="{FF2B5EF4-FFF2-40B4-BE49-F238E27FC236}">
                <a16:creationId xmlns:a16="http://schemas.microsoft.com/office/drawing/2014/main" id="{2F388120-2693-C02C-C21C-F69B7608E074}"/>
              </a:ext>
            </a:extLst>
          </p:cNvPr>
          <p:cNvSpPr txBox="1"/>
          <p:nvPr/>
        </p:nvSpPr>
        <p:spPr>
          <a:xfrm>
            <a:off x="42771" y="1022296"/>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panose="020B0604020202020204" pitchFamily="34" charset="0"/>
                <a:cs typeface="Arial"/>
                <a:sym typeface="Arial"/>
              </a:rPr>
              <a:t>ZENPEP - PCPs</a:t>
            </a:r>
            <a:endParaRPr kumimoji="0" lang="en-US" sz="1351" b="1" i="0" u="none" strike="noStrike" kern="0" cap="none" spc="0" normalizeH="0" baseline="0" noProof="0">
              <a:ln>
                <a:noFill/>
              </a:ln>
              <a:solidFill>
                <a:srgbClr val="FFFFFF"/>
              </a:solidFill>
              <a:effectLst/>
              <a:uLnTx/>
              <a:uFillTx/>
              <a:latin typeface="Arial"/>
              <a:cs typeface="Arial"/>
              <a:sym typeface="Arial"/>
            </a:endParaRPr>
          </a:p>
        </p:txBody>
      </p:sp>
      <p:sp>
        <p:nvSpPr>
          <p:cNvPr id="8" name="TextBox 7">
            <a:extLst>
              <a:ext uri="{FF2B5EF4-FFF2-40B4-BE49-F238E27FC236}">
                <a16:creationId xmlns:a16="http://schemas.microsoft.com/office/drawing/2014/main" id="{16D414FF-8C41-D085-200B-69253AFFE269}"/>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10" name="Google Shape;1583;p40">
            <a:extLst>
              <a:ext uri="{FF2B5EF4-FFF2-40B4-BE49-F238E27FC236}">
                <a16:creationId xmlns:a16="http://schemas.microsoft.com/office/drawing/2014/main" id="{D4B9AAE7-935F-0BB9-18DC-072692E591CA}"/>
              </a:ext>
            </a:extLst>
          </p:cNvPr>
          <p:cNvSpPr/>
          <p:nvPr/>
        </p:nvSpPr>
        <p:spPr>
          <a:xfrm>
            <a:off x="7591241" y="608514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Rectangle: Rounded Corners 1">
            <a:extLst>
              <a:ext uri="{FF2B5EF4-FFF2-40B4-BE49-F238E27FC236}">
                <a16:creationId xmlns:a16="http://schemas.microsoft.com/office/drawing/2014/main" id="{E2AE094A-4A09-BA48-AB8B-C45DFB125BED}"/>
              </a:ext>
            </a:extLst>
          </p:cNvPr>
          <p:cNvSpPr/>
          <p:nvPr/>
        </p:nvSpPr>
        <p:spPr>
          <a:xfrm>
            <a:off x="6486548" y="2204128"/>
            <a:ext cx="2546927" cy="2119449"/>
          </a:xfrm>
          <a:prstGeom prst="roundRect">
            <a:avLst/>
          </a:prstGeom>
          <a:solidFill>
            <a:srgbClr val="7030A0"/>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‘Offers a single-capsule starting dose’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recalled message among PCPs.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endParaRPr kumimoji="0" lang="en-US" sz="1000" b="1"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‘Offers a single-capsule starting dose’</a:t>
            </a: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effective message among PCPs.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p:txBody>
      </p:sp>
    </p:spTree>
    <p:extLst>
      <p:ext uri="{BB962C8B-B14F-4D97-AF65-F5344CB8AC3E}">
        <p14:creationId xmlns:p14="http://schemas.microsoft.com/office/powerpoint/2010/main" val="702199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242023-1F7C-B5AB-2E69-5372A1B0BD43}"/>
            </a:ext>
          </a:extLst>
        </p:cNvPr>
        <p:cNvGrpSpPr/>
        <p:nvPr/>
      </p:nvGrpSpPr>
      <p:grpSpPr>
        <a:xfrm>
          <a:off x="0" y="0"/>
          <a:ext cx="0" cy="0"/>
          <a:chOff x="0" y="0"/>
          <a:chExt cx="0" cy="0"/>
        </a:xfrm>
      </p:grpSpPr>
      <p:sp>
        <p:nvSpPr>
          <p:cNvPr id="40" name="Title 2">
            <a:extLst>
              <a:ext uri="{FF2B5EF4-FFF2-40B4-BE49-F238E27FC236}">
                <a16:creationId xmlns:a16="http://schemas.microsoft.com/office/drawing/2014/main" id="{BD687E84-7F6C-B2BB-8E65-DDA1C17AC738}"/>
              </a:ext>
            </a:extLst>
          </p:cNvPr>
          <p:cNvSpPr txBox="1">
            <a:spLocks/>
          </p:cNvSpPr>
          <p:nvPr/>
        </p:nvSpPr>
        <p:spPr>
          <a:xfrm>
            <a:off x="0" y="-1"/>
            <a:ext cx="9144000" cy="859536"/>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ZENPEP Top Recalled and Effective Messages – NP/PA</a:t>
            </a:r>
            <a:endParaRPr kumimoji="0" lang="en-GB" sz="14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graphicFrame>
        <p:nvGraphicFramePr>
          <p:cNvPr id="5" name="Table 7">
            <a:extLst>
              <a:ext uri="{FF2B5EF4-FFF2-40B4-BE49-F238E27FC236}">
                <a16:creationId xmlns:a16="http://schemas.microsoft.com/office/drawing/2014/main" id="{2084CDA0-9913-5E25-7CAE-DE7B7D448B56}"/>
              </a:ext>
            </a:extLst>
          </p:cNvPr>
          <p:cNvGraphicFramePr>
            <a:graphicFrameLocks/>
          </p:cNvGraphicFramePr>
          <p:nvPr>
            <p:custDataLst>
              <p:tags r:id="rId1"/>
            </p:custDataLst>
          </p:nvPr>
        </p:nvGraphicFramePr>
        <p:xfrm>
          <a:off x="51914" y="1357543"/>
          <a:ext cx="6336000" cy="4572000"/>
        </p:xfrm>
        <a:graphic>
          <a:graphicData uri="http://schemas.openxmlformats.org/drawingml/2006/table">
            <a:tbl>
              <a:tblPr firstRow="1" bandRow="1">
                <a:tableStyleId>{EB344D84-9AFB-497E-A393-DC336BA19D2E}</a:tableStyleId>
              </a:tblPr>
              <a:tblGrid>
                <a:gridCol w="1872000">
                  <a:extLst>
                    <a:ext uri="{9D8B030D-6E8A-4147-A177-3AD203B41FA5}">
                      <a16:colId xmlns:a16="http://schemas.microsoft.com/office/drawing/2014/main" val="363770885"/>
                    </a:ext>
                  </a:extLst>
                </a:gridCol>
                <a:gridCol w="1296000">
                  <a:extLst>
                    <a:ext uri="{9D8B030D-6E8A-4147-A177-3AD203B41FA5}">
                      <a16:colId xmlns:a16="http://schemas.microsoft.com/office/drawing/2014/main" val="2970006354"/>
                    </a:ext>
                  </a:extLst>
                </a:gridCol>
                <a:gridCol w="1872000">
                  <a:extLst>
                    <a:ext uri="{9D8B030D-6E8A-4147-A177-3AD203B41FA5}">
                      <a16:colId xmlns:a16="http://schemas.microsoft.com/office/drawing/2014/main" val="4184969842"/>
                    </a:ext>
                  </a:extLst>
                </a:gridCol>
                <a:gridCol w="1296000">
                  <a:extLst>
                    <a:ext uri="{9D8B030D-6E8A-4147-A177-3AD203B41FA5}">
                      <a16:colId xmlns:a16="http://schemas.microsoft.com/office/drawing/2014/main" val="4249452658"/>
                    </a:ext>
                  </a:extLst>
                </a:gridCol>
              </a:tblGrid>
              <a:tr h="684000">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Top Recalled Messages</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a:latin typeface="+mj-lt"/>
                        </a:rPr>
                        <a:t>% of interaction</a:t>
                      </a:r>
                      <a:br>
                        <a:rPr lang="en-US" sz="1200">
                          <a:latin typeface="+mj-lt"/>
                        </a:rPr>
                      </a:br>
                      <a:r>
                        <a:rPr lang="en-US" sz="1200">
                          <a:latin typeface="+mj-lt"/>
                        </a:rPr>
                        <a:t>(s = 25</a:t>
                      </a:r>
                      <a:r>
                        <a:rPr lang="en-US" sz="1200">
                          <a:solidFill>
                            <a:srgbClr val="FF0000"/>
                          </a:solidFill>
                          <a:latin typeface="+mj-lt"/>
                        </a:rPr>
                        <a:t>*</a:t>
                      </a:r>
                      <a:r>
                        <a:rPr lang="en-US" sz="1200">
                          <a:latin typeface="+mj-lt"/>
                        </a:rPr>
                        <a:t>)</a:t>
                      </a:r>
                      <a:endParaRPr lang="th-TH" sz="1200">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990DC"/>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kern="1200">
                          <a:solidFill>
                            <a:schemeClr val="lt1"/>
                          </a:solidFill>
                          <a:latin typeface="+mj-lt"/>
                          <a:ea typeface="+mn-ea"/>
                          <a:cs typeface="+mn-cs"/>
                        </a:rPr>
                        <a:t>Top Effective Messages</a:t>
                      </a:r>
                      <a:endParaRPr lang="th-TH"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N" sz="1200" b="1" kern="1200">
                          <a:solidFill>
                            <a:schemeClr val="lt1"/>
                          </a:solidFill>
                          <a:latin typeface="+mj-lt"/>
                          <a:ea typeface="+mn-ea"/>
                          <a:cs typeface="+mn-cs"/>
                        </a:rPr>
                        <a:t>% of HCPs </a:t>
                      </a:r>
                      <a:br>
                        <a:rPr lang="en-IN" sz="1200" b="1" kern="1200">
                          <a:solidFill>
                            <a:schemeClr val="lt1"/>
                          </a:solidFill>
                          <a:latin typeface="+mj-lt"/>
                          <a:ea typeface="+mn-ea"/>
                          <a:cs typeface="+mn-cs"/>
                        </a:rPr>
                      </a:br>
                      <a:r>
                        <a:rPr lang="en-IN" sz="1200" b="1" kern="1200">
                          <a:solidFill>
                            <a:schemeClr val="lt1"/>
                          </a:solidFill>
                          <a:latin typeface="+mj-lt"/>
                          <a:ea typeface="+mn-ea"/>
                          <a:cs typeface="+mn-cs"/>
                        </a:rPr>
                        <a:t>(Rating 6,7) </a:t>
                      </a:r>
                      <a:br>
                        <a:rPr lang="en-IN" sz="1200" b="1" kern="1200">
                          <a:solidFill>
                            <a:schemeClr val="lt1"/>
                          </a:solidFill>
                          <a:latin typeface="+mj-lt"/>
                          <a:ea typeface="+mn-ea"/>
                          <a:cs typeface="+mn-cs"/>
                        </a:rPr>
                      </a:br>
                      <a:r>
                        <a:rPr lang="en-US" sz="1200" b="1" kern="1200">
                          <a:solidFill>
                            <a:schemeClr val="lt1"/>
                          </a:solidFill>
                          <a:latin typeface="+mj-lt"/>
                          <a:ea typeface="+mn-ea"/>
                          <a:cs typeface="+mn-cs"/>
                        </a:rPr>
                        <a:t>(n = 38)</a:t>
                      </a:r>
                      <a:endParaRPr lang="en-IN" sz="1200" b="1" kern="1200">
                        <a:solidFill>
                          <a:schemeClr val="lt1"/>
                        </a:solidFill>
                        <a:latin typeface="+mj-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30A0"/>
                    </a:solidFill>
                  </a:tcPr>
                </a:tc>
                <a:extLst>
                  <a:ext uri="{0D108BD9-81ED-4DB2-BD59-A6C34878D82A}">
                    <a16:rowId xmlns:a16="http://schemas.microsoft.com/office/drawing/2014/main" val="1386898921"/>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72%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‘ZENPEP's 40K and 60K lipase-unit capsules’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149033627"/>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2138419"/>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‘Offers a single-capsule starting dose’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1775379376"/>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‘Patient Savings Program’</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‘One capsule of ZENPEP’</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60%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6436042"/>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‘Treat uncomfortable GI symptoms’</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652673455"/>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‘Commercial insurance (89%) or Medicare Part D (98%)’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 mimics exocrine pancreatic function.’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0822948"/>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‘ACG guideline’</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38314334"/>
                  </a:ext>
                </a:extLst>
              </a:tr>
              <a:tr h="432000">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‘Enteric coating’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‘Fuels nutritional health’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9287806"/>
                  </a:ext>
                </a:extLst>
              </a:tr>
              <a:tr h="432000">
                <a:tc>
                  <a:txBody>
                    <a:bodyPr/>
                    <a:lstStyle/>
                    <a:p>
                      <a:pPr algn="ctr" fontAlgn="b">
                        <a:buNone/>
                      </a:pPr>
                      <a:r>
                        <a:rPr lang="en-US" sz="1000" b="1" i="0" u="none" strike="noStrike" kern="1200">
                          <a:solidFill>
                            <a:srgbClr val="333333"/>
                          </a:solidFill>
                          <a:effectLst/>
                          <a:latin typeface="Arial" panose="020B0604020202020204" pitchFamily="34" charset="0"/>
                          <a:ea typeface="+mn-ea"/>
                          <a:cs typeface="+mn-cs"/>
                        </a:rPr>
                        <a:t>‘ZENPEP mimics exocrine pancreatic function.’</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36%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b">
                        <a:buNone/>
                      </a:pPr>
                      <a:r>
                        <a:rPr lang="en-IN" sz="1000" b="1" i="0" u="none" strike="noStrike" kern="1200">
                          <a:solidFill>
                            <a:srgbClr val="333333"/>
                          </a:solidFill>
                          <a:effectLst/>
                          <a:latin typeface="Arial" panose="020B0604020202020204" pitchFamily="34" charset="0"/>
                          <a:ea typeface="+mn-ea"/>
                          <a:cs typeface="+mn-cs"/>
                        </a:rPr>
                        <a:t>‘Clinical trial’</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tc>
                  <a:txBody>
                    <a:bodyPr/>
                    <a:lstStyle/>
                    <a:p>
                      <a:pPr algn="ctr" fontAlgn="ctr">
                        <a:buNone/>
                      </a:pPr>
                      <a:r>
                        <a:rPr lang="en-IN" sz="1000" b="1" i="0" u="none" strike="noStrike" kern="1200">
                          <a:solidFill>
                            <a:srgbClr val="333333"/>
                          </a:solidFill>
                          <a:effectLst/>
                          <a:latin typeface="Arial" panose="020B0604020202020204" pitchFamily="34" charset="0"/>
                          <a:ea typeface="+mn-ea"/>
                          <a:cs typeface="+mn-cs"/>
                        </a:rPr>
                        <a:t>51%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0D1F0"/>
                    </a:solidFill>
                  </a:tcPr>
                </a:tc>
                <a:extLst>
                  <a:ext uri="{0D108BD9-81ED-4DB2-BD59-A6C34878D82A}">
                    <a16:rowId xmlns:a16="http://schemas.microsoft.com/office/drawing/2014/main" val="380774187"/>
                  </a:ext>
                </a:extLst>
              </a:tr>
            </a:tbl>
          </a:graphicData>
        </a:graphic>
      </p:graphicFrame>
      <p:sp>
        <p:nvSpPr>
          <p:cNvPr id="7" name="TextBox 6">
            <a:extLst>
              <a:ext uri="{FF2B5EF4-FFF2-40B4-BE49-F238E27FC236}">
                <a16:creationId xmlns:a16="http://schemas.microsoft.com/office/drawing/2014/main" id="{3614D418-1165-271F-A06B-E7C3A2D923C8}"/>
              </a:ext>
            </a:extLst>
          </p:cNvPr>
          <p:cNvSpPr txBox="1"/>
          <p:nvPr/>
        </p:nvSpPr>
        <p:spPr>
          <a:xfrm>
            <a:off x="42771" y="1022296"/>
            <a:ext cx="6336000" cy="307777"/>
          </a:xfrm>
          <a:prstGeom prst="rect">
            <a:avLst/>
          </a:prstGeom>
          <a:solidFill>
            <a:schemeClr val="bg2">
              <a:lumMod val="1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panose="020B0604020202020204" pitchFamily="34" charset="0"/>
                <a:cs typeface="Arial"/>
                <a:sym typeface="Arial"/>
              </a:rPr>
              <a:t>ZENPEP - NP/PA</a:t>
            </a:r>
            <a:endParaRPr kumimoji="0" lang="en-US" sz="1351" b="1" i="0" u="none" strike="noStrike" kern="0" cap="none" spc="0" normalizeH="0" baseline="0" noProof="0">
              <a:ln>
                <a:noFill/>
              </a:ln>
              <a:solidFill>
                <a:srgbClr val="FFFFFF"/>
              </a:solidFill>
              <a:effectLst/>
              <a:uLnTx/>
              <a:uFillTx/>
              <a:latin typeface="Arial"/>
              <a:cs typeface="Arial"/>
              <a:sym typeface="Arial"/>
            </a:endParaRPr>
          </a:p>
        </p:txBody>
      </p:sp>
      <p:sp>
        <p:nvSpPr>
          <p:cNvPr id="8" name="TextBox 7">
            <a:extLst>
              <a:ext uri="{FF2B5EF4-FFF2-40B4-BE49-F238E27FC236}">
                <a16:creationId xmlns:a16="http://schemas.microsoft.com/office/drawing/2014/main" id="{CD1C03D6-D353-E026-555C-2091A0D4FD93}"/>
              </a:ext>
            </a:extLst>
          </p:cNvPr>
          <p:cNvSpPr txBox="1"/>
          <p:nvPr/>
        </p:nvSpPr>
        <p:spPr>
          <a:xfrm>
            <a:off x="957541" y="6062452"/>
            <a:ext cx="5294376" cy="24622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a:cs typeface="Arial"/>
                <a:sym typeface="Arial"/>
              </a:rPr>
              <a:t>Question &amp; Message text in speaker notes | n - No. of HCPs | s - No. of Interactions</a:t>
            </a:r>
          </a:p>
        </p:txBody>
      </p:sp>
      <p:sp>
        <p:nvSpPr>
          <p:cNvPr id="10" name="Google Shape;1583;p40">
            <a:extLst>
              <a:ext uri="{FF2B5EF4-FFF2-40B4-BE49-F238E27FC236}">
                <a16:creationId xmlns:a16="http://schemas.microsoft.com/office/drawing/2014/main" id="{7053FDCE-BC8C-957E-374C-C659285634CD}"/>
              </a:ext>
            </a:extLst>
          </p:cNvPr>
          <p:cNvSpPr/>
          <p:nvPr/>
        </p:nvSpPr>
        <p:spPr>
          <a:xfrm>
            <a:off x="7591241" y="6085143"/>
            <a:ext cx="1296000" cy="153888"/>
          </a:xfrm>
          <a:prstGeom prst="rect">
            <a:avLst/>
          </a:prstGeom>
          <a:noFill/>
          <a:ln w="9525" cap="flat" cmpd="sng">
            <a:solidFill>
              <a:srgbClr val="FF0000"/>
            </a:solidFill>
            <a:prstDash val="solid"/>
            <a:round/>
            <a:headEnd type="none" w="sm" len="sm"/>
            <a:tailEnd type="none" w="sm" len="sm"/>
          </a:ln>
        </p:spPr>
        <p:txBody>
          <a:bodyPr spcFirstLastPara="1" wrap="square" lIns="0" tIns="0" rIns="36000" bIns="0" anchor="ctr" anchorCtr="0">
            <a:spAutoFit/>
          </a:bodyPr>
          <a:lstStyle/>
          <a:p>
            <a:pPr marL="0" marR="0" lvl="0" indent="0" algn="r" defTabSz="914400" rtl="0" eaLnBrk="1" fontAlgn="auto" latinLnBrk="0" hangingPunct="1">
              <a:lnSpc>
                <a:spcPct val="100000"/>
              </a:lnSpc>
              <a:spcBef>
                <a:spcPts val="0"/>
              </a:spcBef>
              <a:spcAft>
                <a:spcPts val="0"/>
              </a:spcAft>
              <a:buClr>
                <a:srgbClr val="FF0000"/>
              </a:buClr>
              <a:buSzPts val="1000"/>
              <a:buFont typeface="Arial"/>
              <a:buNone/>
              <a:tabLst/>
              <a:defRPr/>
            </a:pPr>
            <a:r>
              <a:rPr kumimoji="0" lang="en-US" sz="1000" b="1" i="1" u="none" strike="noStrike" kern="0" cap="none" spc="0" normalizeH="0" baseline="0" noProof="0">
                <a:ln>
                  <a:noFill/>
                </a:ln>
                <a:solidFill>
                  <a:srgbClr val="FF0000"/>
                </a:solidFill>
                <a:effectLst/>
                <a:uLnTx/>
                <a:uFillTx/>
                <a:latin typeface="Arial" panose="020B0604020202020204"/>
                <a:ea typeface="Calibri"/>
                <a:cs typeface="Calibri"/>
                <a:sym typeface="Calibri"/>
              </a:rPr>
              <a:t>* Low Sample Size</a:t>
            </a:r>
            <a:endParaRPr kumimoji="0" lang="en-US" sz="1100" b="0" i="0" u="none" strike="noStrike" kern="0" cap="none" spc="0" normalizeH="0" baseline="0" noProof="0">
              <a:ln>
                <a:noFill/>
              </a:ln>
              <a:solidFill>
                <a:srgbClr val="071D49"/>
              </a:solidFill>
              <a:effectLst/>
              <a:uLnTx/>
              <a:uFillTx/>
              <a:latin typeface="Arial" panose="020B0604020202020204"/>
              <a:ea typeface="Calibri"/>
              <a:cs typeface="Calibri"/>
              <a:sym typeface="Calibri"/>
            </a:endParaRPr>
          </a:p>
        </p:txBody>
      </p:sp>
      <p:sp>
        <p:nvSpPr>
          <p:cNvPr id="2" name="Rectangle: Rounded Corners 1">
            <a:extLst>
              <a:ext uri="{FF2B5EF4-FFF2-40B4-BE49-F238E27FC236}">
                <a16:creationId xmlns:a16="http://schemas.microsoft.com/office/drawing/2014/main" id="{3488EDB5-82DB-F143-6FFB-866947877DA2}"/>
              </a:ext>
            </a:extLst>
          </p:cNvPr>
          <p:cNvSpPr/>
          <p:nvPr/>
        </p:nvSpPr>
        <p:spPr>
          <a:xfrm>
            <a:off x="6486548" y="2204128"/>
            <a:ext cx="2546927" cy="2119449"/>
          </a:xfrm>
          <a:prstGeom prst="roundRect">
            <a:avLst/>
          </a:prstGeom>
          <a:solidFill>
            <a:srgbClr val="7030A0"/>
          </a:solidFill>
          <a:ln>
            <a:solidFill>
              <a:srgbClr val="071D49"/>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RECALL</a:t>
            </a: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was the most recalled message among NP/PAs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endParaRPr kumimoji="0" lang="en-US" sz="1000" b="1" i="0" u="none" strike="noStrike" kern="1200" cap="none" spc="0" normalizeH="0" baseline="0" noProof="0">
              <a:ln>
                <a:noFill/>
              </a:ln>
              <a:solidFill>
                <a:srgbClr val="FFFFFF"/>
              </a:solidFill>
              <a:effectLst/>
              <a:uLnTx/>
              <a:uFillTx/>
              <a:latin typeface="Arial"/>
              <a:ea typeface="+mn-ea"/>
              <a:cs typeface="+mn-cs"/>
              <a:sym typeface="Arial"/>
            </a:endParaRPr>
          </a:p>
          <a:p>
            <a:pPr marL="0" marR="0" lvl="0" indent="0" algn="l" defTabSz="685750" rtl="0" eaLnBrk="1" fontAlgn="auto" latinLnBrk="0" hangingPunct="1">
              <a:lnSpc>
                <a:spcPct val="100000"/>
              </a:lnSpc>
              <a:spcBef>
                <a:spcPts val="0"/>
              </a:spcBef>
              <a:spcAft>
                <a:spcPts val="0"/>
              </a:spcAft>
              <a:buClrTx/>
              <a:buSzTx/>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mn-ea"/>
                <a:cs typeface="+mn-cs"/>
                <a:sym typeface="Arial"/>
              </a:rPr>
              <a:t>EFFECTIVENESS</a:t>
            </a:r>
            <a:endParaRPr kumimoji="0" lang="en-US" sz="1000" b="1" i="0" u="none" strike="noStrike" kern="1200" cap="none" spc="0" normalizeH="0" baseline="0" noProof="0">
              <a:ln>
                <a:noFill/>
              </a:ln>
              <a:solidFill>
                <a:srgbClr val="FFFFFF"/>
              </a:solidFill>
              <a:effectLst/>
              <a:uLnTx/>
              <a:uFillTx/>
              <a:latin typeface="Arial"/>
              <a:ea typeface="+mn-ea"/>
              <a:cs typeface="Arial"/>
              <a:sym typeface="Arial"/>
            </a:endParaRPr>
          </a:p>
          <a:p>
            <a:pPr marL="170815" marR="0" lvl="0" indent="-170815" algn="l" defTabSz="68575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1" i="0" u="none" strike="noStrike" kern="1200" cap="none" spc="0" normalizeH="0" baseline="0" noProof="0">
                <a:ln>
                  <a:noFill/>
                </a:ln>
                <a:solidFill>
                  <a:prstClr val="white"/>
                </a:solidFill>
                <a:effectLst/>
                <a:uLnTx/>
                <a:uFillTx/>
                <a:latin typeface="Arial" panose="020B0604020202020204"/>
                <a:ea typeface="+mn-ea"/>
                <a:cs typeface="+mn-cs"/>
                <a:sym typeface="Arial"/>
              </a:rPr>
              <a:t>‘ZENPEP's 40K and 60K lipase-unit capsules’ </a:t>
            </a:r>
            <a:r>
              <a:rPr kumimoji="0" lang="en-US" sz="1000" b="0" i="0" u="none" strike="noStrike" kern="1200" cap="none" spc="0" normalizeH="0" baseline="0" noProof="0">
                <a:ln>
                  <a:noFill/>
                </a:ln>
                <a:solidFill>
                  <a:srgbClr val="FFFFFF"/>
                </a:solidFill>
                <a:effectLst/>
                <a:uLnTx/>
                <a:uFillTx/>
                <a:latin typeface="Arial"/>
                <a:ea typeface="+mn-ea"/>
                <a:cs typeface="+mn-cs"/>
                <a:sym typeface="Arial"/>
              </a:rPr>
              <a:t>message was the most effective among NP/PAs</a:t>
            </a:r>
            <a:endParaRPr kumimoji="0" lang="en-US" sz="1000" b="0" i="0" u="none" strike="noStrike" kern="1200" cap="none" spc="0" normalizeH="0" baseline="0" noProof="0">
              <a:ln>
                <a:noFill/>
              </a:ln>
              <a:solidFill>
                <a:srgbClr val="FFFFFF"/>
              </a:solidFill>
              <a:effectLst/>
              <a:uLnTx/>
              <a:uFillTx/>
              <a:latin typeface="Arial"/>
              <a:ea typeface="+mn-ea"/>
              <a:cs typeface="Arial"/>
              <a:sym typeface="Arial"/>
            </a:endParaRPr>
          </a:p>
        </p:txBody>
      </p:sp>
    </p:spTree>
    <p:extLst>
      <p:ext uri="{BB962C8B-B14F-4D97-AF65-F5344CB8AC3E}">
        <p14:creationId xmlns:p14="http://schemas.microsoft.com/office/powerpoint/2010/main" val="41997387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2438"/>
        <p:cNvGrpSpPr/>
        <p:nvPr/>
      </p:nvGrpSpPr>
      <p:grpSpPr>
        <a:xfrm>
          <a:off x="0" y="0"/>
          <a:ext cx="0" cy="0"/>
          <a:chOff x="0" y="0"/>
          <a:chExt cx="0" cy="0"/>
        </a:xfrm>
      </p:grpSpPr>
      <p:sp>
        <p:nvSpPr>
          <p:cNvPr id="2440" name="Google Shape;2440;p63"/>
          <p:cNvSpPr txBox="1"/>
          <p:nvPr/>
        </p:nvSpPr>
        <p:spPr>
          <a:xfrm>
            <a:off x="-1"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71D49"/>
                </a:solidFill>
                <a:effectLst/>
                <a:uLnTx/>
                <a:uFillTx/>
                <a:latin typeface="Arial" panose="020B0604020202020204"/>
                <a:ea typeface="Calibri"/>
                <a:cs typeface="Calibri"/>
                <a:sym typeface="Calibri"/>
              </a:rPr>
              <a:t>Prospective Metrics &amp; Follow-Up Analyses: Menu Slide</a:t>
            </a:r>
            <a:endParaRPr kumimoji="0" lang="en-US" sz="1400" b="0" i="0" u="none" strike="noStrike" kern="0" cap="none" spc="0" normalizeH="0" baseline="0" noProof="0">
              <a:ln>
                <a:noFill/>
              </a:ln>
              <a:solidFill>
                <a:srgbClr val="071D49"/>
              </a:solidFill>
              <a:effectLst/>
              <a:uLnTx/>
              <a:uFillTx/>
              <a:latin typeface="Arial" panose="020B0604020202020204"/>
              <a:cs typeface="Calibri"/>
              <a:sym typeface="Arial"/>
            </a:endParaRPr>
          </a:p>
        </p:txBody>
      </p:sp>
      <p:sp>
        <p:nvSpPr>
          <p:cNvPr id="4" name="Rectangle 3">
            <a:extLst>
              <a:ext uri="{FF2B5EF4-FFF2-40B4-BE49-F238E27FC236}">
                <a16:creationId xmlns:a16="http://schemas.microsoft.com/office/drawing/2014/main" id="{FE0B42C0-82ED-7F24-2A1C-178817C7554E}"/>
              </a:ext>
            </a:extLst>
          </p:cNvPr>
          <p:cNvSpPr/>
          <p:nvPr/>
        </p:nvSpPr>
        <p:spPr>
          <a:xfrm>
            <a:off x="2743203" y="3160451"/>
            <a:ext cx="1251751" cy="186432"/>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prstClr val="white"/>
              </a:solidFill>
              <a:effectLst/>
              <a:uLnTx/>
              <a:uFillTx/>
              <a:latin typeface="Arial" panose="020B0604020202020204"/>
              <a:ea typeface="+mn-ea"/>
              <a:cs typeface="+mn-cs"/>
              <a:sym typeface="Arial"/>
            </a:endParaRPr>
          </a:p>
        </p:txBody>
      </p:sp>
      <p:graphicFrame>
        <p:nvGraphicFramePr>
          <p:cNvPr id="2" name="Table 4">
            <a:extLst>
              <a:ext uri="{FF2B5EF4-FFF2-40B4-BE49-F238E27FC236}">
                <a16:creationId xmlns:a16="http://schemas.microsoft.com/office/drawing/2014/main" id="{7C7AF6CB-DAF0-66C9-EEB9-FCDE5C7F4C6F}"/>
              </a:ext>
            </a:extLst>
          </p:cNvPr>
          <p:cNvGraphicFramePr>
            <a:graphicFrameLocks noGrp="1"/>
          </p:cNvGraphicFramePr>
          <p:nvPr>
            <p:custDataLst>
              <p:tags r:id="rId1"/>
            </p:custDataLst>
          </p:nvPr>
        </p:nvGraphicFramePr>
        <p:xfrm>
          <a:off x="352376" y="1134455"/>
          <a:ext cx="4731219" cy="4630913"/>
        </p:xfrm>
        <a:graphic>
          <a:graphicData uri="http://schemas.openxmlformats.org/drawingml/2006/table">
            <a:tbl>
              <a:tblPr firstRow="1" bandRow="1">
                <a:tableStyleId>{5C22544A-7EE6-4342-B048-85BDC9FD1C3A}</a:tableStyleId>
              </a:tblPr>
              <a:tblGrid>
                <a:gridCol w="1347219">
                  <a:extLst>
                    <a:ext uri="{9D8B030D-6E8A-4147-A177-3AD203B41FA5}">
                      <a16:colId xmlns:a16="http://schemas.microsoft.com/office/drawing/2014/main" val="3844306893"/>
                    </a:ext>
                  </a:extLst>
                </a:gridCol>
                <a:gridCol w="3384000">
                  <a:extLst>
                    <a:ext uri="{9D8B030D-6E8A-4147-A177-3AD203B41FA5}">
                      <a16:colId xmlns:a16="http://schemas.microsoft.com/office/drawing/2014/main" val="1226687916"/>
                    </a:ext>
                  </a:extLst>
                </a:gridCol>
              </a:tblGrid>
              <a:tr h="818891">
                <a:tc>
                  <a:txBody>
                    <a:bodyPr/>
                    <a:lstStyle/>
                    <a:p>
                      <a:pPr algn="l"/>
                      <a:endParaRPr lang="en-IN" sz="900">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Interaction details on competitors</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Types of interaction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Time spent on interaction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Nature of your interaction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Counter detailing </a:t>
                      </a:r>
                      <a:r>
                        <a:rPr kumimoji="0" lang="en-US"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(AIDED &amp; UNAIDED)</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8246370"/>
                  </a:ext>
                </a:extLst>
              </a:tr>
              <a:tr h="8188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Sales Rep Performance</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Rep performance - channel level</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Rep closing</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Agreement of HCP to prescribe</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9664454"/>
                  </a:ext>
                </a:extLst>
              </a:tr>
              <a:tr h="8188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Message Metrics</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rPr>
                        <a:t>Primary message discussed </a:t>
                      </a: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(UNAIDED)</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315723917"/>
                  </a:ext>
                </a:extLst>
              </a:tr>
              <a:tr h="94488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Product Perception and Usage</a:t>
                      </a:r>
                      <a:endPar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Product perception </a:t>
                      </a:r>
                      <a:endPar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EPI Treatment: Course of Action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Current &amp; Anticipated EPI Patient Load and HCP Penetration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EPI Treatment: Course of Action</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4100214"/>
                  </a:ext>
                </a:extLst>
              </a:tr>
              <a:tr h="12293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Other Metrics</a:t>
                      </a:r>
                      <a:endPar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Type of visual aid(s) used </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EPI Treatment: Course of Action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Preferred source of information</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Patient preference (UNAIDED)</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Preferred types of information via promotional channels</a:t>
                      </a: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Call-to-action &amp; Next steps</a:t>
                      </a:r>
                      <a:endPar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p>
                      <a:pPr marL="171450" marR="0" lvl="0" indent="-1714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Ideal Frequency of Visits </a:t>
                      </a:r>
                      <a:r>
                        <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(UNAIDED)</a:t>
                      </a:r>
                      <a:endPar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36634786"/>
                  </a:ext>
                </a:extLst>
              </a:tr>
            </a:tbl>
          </a:graphicData>
        </a:graphic>
      </p:graphicFrame>
      <p:pic>
        <p:nvPicPr>
          <p:cNvPr id="3" name="Picture 2">
            <a:extLst>
              <a:ext uri="{FF2B5EF4-FFF2-40B4-BE49-F238E27FC236}">
                <a16:creationId xmlns:a16="http://schemas.microsoft.com/office/drawing/2014/main" id="{E0BD14CE-45D1-18A6-0439-D3F9D67D596A}"/>
              </a:ext>
            </a:extLst>
          </p:cNvPr>
          <p:cNvPicPr>
            <a:picLocks noChangeAspect="1"/>
          </p:cNvPicPr>
          <p:nvPr/>
        </p:nvPicPr>
        <p:blipFill>
          <a:blip r:embed="rId5"/>
          <a:stretch>
            <a:fillRect/>
          </a:stretch>
        </p:blipFill>
        <p:spPr>
          <a:xfrm>
            <a:off x="724799" y="1344339"/>
            <a:ext cx="580767" cy="408688"/>
          </a:xfrm>
          <a:prstGeom prst="rect">
            <a:avLst/>
          </a:prstGeom>
        </p:spPr>
      </p:pic>
      <p:pic>
        <p:nvPicPr>
          <p:cNvPr id="5" name="Picture 4">
            <a:extLst>
              <a:ext uri="{FF2B5EF4-FFF2-40B4-BE49-F238E27FC236}">
                <a16:creationId xmlns:a16="http://schemas.microsoft.com/office/drawing/2014/main" id="{4052465E-6770-58E3-76F2-941B7FD26A29}"/>
              </a:ext>
            </a:extLst>
          </p:cNvPr>
          <p:cNvPicPr>
            <a:picLocks noChangeAspect="1"/>
          </p:cNvPicPr>
          <p:nvPr/>
        </p:nvPicPr>
        <p:blipFill>
          <a:blip r:embed="rId6"/>
          <a:stretch>
            <a:fillRect/>
          </a:stretch>
        </p:blipFill>
        <p:spPr>
          <a:xfrm>
            <a:off x="800080" y="2161064"/>
            <a:ext cx="430199" cy="494728"/>
          </a:xfrm>
          <a:prstGeom prst="rect">
            <a:avLst/>
          </a:prstGeom>
        </p:spPr>
      </p:pic>
      <p:pic>
        <p:nvPicPr>
          <p:cNvPr id="6" name="Picture 5">
            <a:extLst>
              <a:ext uri="{FF2B5EF4-FFF2-40B4-BE49-F238E27FC236}">
                <a16:creationId xmlns:a16="http://schemas.microsoft.com/office/drawing/2014/main" id="{8E7DDB03-F198-0A75-74A3-F303F58B61CA}"/>
              </a:ext>
            </a:extLst>
          </p:cNvPr>
          <p:cNvPicPr>
            <a:picLocks noChangeAspect="1"/>
          </p:cNvPicPr>
          <p:nvPr/>
        </p:nvPicPr>
        <p:blipFill>
          <a:blip r:embed="rId7"/>
          <a:stretch>
            <a:fillRect/>
          </a:stretch>
        </p:blipFill>
        <p:spPr>
          <a:xfrm>
            <a:off x="789325" y="3063830"/>
            <a:ext cx="451708" cy="387179"/>
          </a:xfrm>
          <a:prstGeom prst="rect">
            <a:avLst/>
          </a:prstGeom>
        </p:spPr>
      </p:pic>
      <p:pic>
        <p:nvPicPr>
          <p:cNvPr id="8" name="Google Shape;262;p7">
            <a:extLst>
              <a:ext uri="{FF2B5EF4-FFF2-40B4-BE49-F238E27FC236}">
                <a16:creationId xmlns:a16="http://schemas.microsoft.com/office/drawing/2014/main" id="{CE60D2A1-ABB4-A399-F34D-0B1DE9157435}"/>
              </a:ext>
            </a:extLst>
          </p:cNvPr>
          <p:cNvPicPr preferRelativeResize="0"/>
          <p:nvPr/>
        </p:nvPicPr>
        <p:blipFill rotWithShape="1">
          <a:blip r:embed="rId8">
            <a:alphaModFix/>
          </a:blip>
          <a:srcRect/>
          <a:stretch/>
        </p:blipFill>
        <p:spPr>
          <a:xfrm>
            <a:off x="780229" y="4751058"/>
            <a:ext cx="469900" cy="419100"/>
          </a:xfrm>
          <a:prstGeom prst="rect">
            <a:avLst/>
          </a:prstGeom>
          <a:noFill/>
          <a:ln>
            <a:noFill/>
          </a:ln>
        </p:spPr>
      </p:pic>
      <p:graphicFrame>
        <p:nvGraphicFramePr>
          <p:cNvPr id="9" name="Table 4">
            <a:extLst>
              <a:ext uri="{FF2B5EF4-FFF2-40B4-BE49-F238E27FC236}">
                <a16:creationId xmlns:a16="http://schemas.microsoft.com/office/drawing/2014/main" id="{66BA431F-C9DE-9E12-1F90-0003561A7FE8}"/>
              </a:ext>
            </a:extLst>
          </p:cNvPr>
          <p:cNvGraphicFramePr>
            <a:graphicFrameLocks noGrp="1"/>
          </p:cNvGraphicFramePr>
          <p:nvPr>
            <p:custDataLst>
              <p:tags r:id="rId2"/>
            </p:custDataLst>
          </p:nvPr>
        </p:nvGraphicFramePr>
        <p:xfrm>
          <a:off x="5307499" y="1134455"/>
          <a:ext cx="3250095" cy="4559790"/>
        </p:xfrm>
        <a:graphic>
          <a:graphicData uri="http://schemas.openxmlformats.org/drawingml/2006/table">
            <a:tbl>
              <a:tblPr firstRow="1" bandRow="1">
                <a:tableStyleId>{5C22544A-7EE6-4342-B048-85BDC9FD1C3A}</a:tableStyleId>
              </a:tblPr>
              <a:tblGrid>
                <a:gridCol w="278295">
                  <a:extLst>
                    <a:ext uri="{9D8B030D-6E8A-4147-A177-3AD203B41FA5}">
                      <a16:colId xmlns:a16="http://schemas.microsoft.com/office/drawing/2014/main" val="3844306893"/>
                    </a:ext>
                  </a:extLst>
                </a:gridCol>
                <a:gridCol w="2971800">
                  <a:extLst>
                    <a:ext uri="{9D8B030D-6E8A-4147-A177-3AD203B41FA5}">
                      <a16:colId xmlns:a16="http://schemas.microsoft.com/office/drawing/2014/main" val="1226687916"/>
                    </a:ext>
                  </a:extLst>
                </a:gridCol>
              </a:tblGrid>
              <a:tr h="759965">
                <a:tc gridSpan="2">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Major Segments</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Major Segments</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FFFCC">
                        <a:alpha val="50000"/>
                      </a:srgbClr>
                    </a:solidFill>
                  </a:tcPr>
                </a:tc>
                <a:extLst>
                  <a:ext uri="{0D108BD9-81ED-4DB2-BD59-A6C34878D82A}">
                    <a16:rowId xmlns:a16="http://schemas.microsoft.com/office/drawing/2014/main" val="2078246370"/>
                  </a:ext>
                </a:extLst>
              </a:tr>
              <a:tr h="7599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1.</a:t>
                      </a: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Specialty (Gastros vs. PCPs)</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extLst>
                  <a:ext uri="{0D108BD9-81ED-4DB2-BD59-A6C34878D82A}">
                    <a16:rowId xmlns:a16="http://schemas.microsoft.com/office/drawing/2014/main" val="3669664454"/>
                  </a:ext>
                </a:extLst>
              </a:tr>
              <a:tr h="7599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2.</a:t>
                      </a: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CREON Loyalists vs. Non-Loyalists</a:t>
                      </a:r>
                      <a:endParaRPr kumimoji="0" lang="en-IN" sz="900" b="0" i="0" u="none" strike="noStrike" kern="1200" cap="none" spc="0" normalizeH="0" baseline="0">
                        <a:ln>
                          <a:noFill/>
                        </a:ln>
                        <a:solidFill>
                          <a:schemeClr val="tx1">
                            <a:lumMod val="95000"/>
                            <a:lumOff val="5000"/>
                          </a:scheme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5723917"/>
                  </a:ext>
                </a:extLst>
              </a:tr>
              <a:tr h="7599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3.</a:t>
                      </a: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900">
                          <a:solidFill>
                            <a:schemeClr val="tx1"/>
                          </a:solidFill>
                        </a:rPr>
                        <a:t>High Strength </a:t>
                      </a:r>
                      <a:endParaRPr kumimoji="0" lang="en-US"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extLst>
                  <a:ext uri="{0D108BD9-81ED-4DB2-BD59-A6C34878D82A}">
                    <a16:rowId xmlns:a16="http://schemas.microsoft.com/office/drawing/2014/main" val="2324100214"/>
                  </a:ext>
                </a:extLst>
              </a:tr>
              <a:tr h="7599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panose="020B0604020202020204" pitchFamily="34" charset="0"/>
                        </a:rPr>
                        <a:t>4.</a:t>
                      </a:r>
                      <a:endParaRPr lang="en-US" sz="900" b="1">
                        <a:solidFill>
                          <a:schemeClr val="tx1">
                            <a:lumMod val="95000"/>
                            <a:lumOff val="5000"/>
                          </a:schemeClr>
                        </a:solidFill>
                        <a:latin typeface="Arial" panose="020B0604020202020204" pitchFamily="34" charset="0"/>
                        <a:cs typeface="Arial" panose="020B0604020202020204" pitchFamily="34" charset="0"/>
                      </a:endParaRP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Region</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6634786"/>
                  </a:ext>
                </a:extLst>
              </a:tr>
              <a:tr h="7599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a:solidFill>
                            <a:schemeClr val="tx1">
                              <a:lumMod val="95000"/>
                              <a:lumOff val="5000"/>
                            </a:schemeClr>
                          </a:solidFill>
                          <a:latin typeface="Arial" panose="020B0604020202020204" pitchFamily="34" charset="0"/>
                          <a:cs typeface="Arial" panose="020B0604020202020204" pitchFamily="34" charset="0"/>
                        </a:rPr>
                        <a:t>5.</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a:ln>
                            <a:noFill/>
                          </a:ln>
                          <a:solidFill>
                            <a:srgbClr val="001D49">
                              <a:lumMod val="95000"/>
                              <a:lumOff val="5000"/>
                            </a:srgbClr>
                          </a:solidFill>
                          <a:effectLst/>
                          <a:uLnTx/>
                          <a:uFillTx/>
                          <a:latin typeface="Arial" panose="020B0604020202020204" pitchFamily="34" charset="0"/>
                          <a:ea typeface="+mn-ea"/>
                          <a:cs typeface="Arial"/>
                        </a:rPr>
                        <a:t>Interaction Type</a:t>
                      </a:r>
                    </a:p>
                  </a:txBody>
                  <a:tcPr anchor="ctr">
                    <a:lnL w="12700" cap="flat" cmpd="sng" algn="ctr">
                      <a:solidFill>
                        <a:schemeClr val="bg1">
                          <a:lumMod val="50000"/>
                        </a:schemeClr>
                      </a:solidFill>
                      <a:prstDash val="sysDash"/>
                      <a:round/>
                      <a:headEnd type="none" w="med" len="med"/>
                      <a:tailEnd type="none" w="med" len="med"/>
                    </a:lnL>
                    <a:lnR w="12700" cap="flat" cmpd="sng" algn="ctr">
                      <a:solidFill>
                        <a:schemeClr val="bg1">
                          <a:lumMod val="50000"/>
                        </a:schemeClr>
                      </a:solidFill>
                      <a:prstDash val="sysDash"/>
                      <a:round/>
                      <a:headEnd type="none" w="med" len="med"/>
                      <a:tailEnd type="none" w="med" len="med"/>
                    </a:lnR>
                    <a:lnT w="12700" cap="flat" cmpd="sng" algn="ctr">
                      <a:solidFill>
                        <a:schemeClr val="bg1">
                          <a:lumMod val="50000"/>
                        </a:schemeClr>
                      </a:solidFill>
                      <a:prstDash val="sysDash"/>
                      <a:round/>
                      <a:headEnd type="none" w="med" len="med"/>
                      <a:tailEnd type="none" w="med" len="med"/>
                    </a:lnT>
                    <a:lnB w="12700" cap="flat" cmpd="sng" algn="ctr">
                      <a:solidFill>
                        <a:schemeClr val="bg1">
                          <a:lumMod val="50000"/>
                        </a:schemeClr>
                      </a:solidFill>
                      <a:prstDash val="sysDash"/>
                      <a:round/>
                      <a:headEnd type="none" w="med" len="med"/>
                      <a:tailEnd type="none" w="med" len="med"/>
                    </a:lnB>
                    <a:lnTlToBr w="12700" cmpd="sng">
                      <a:noFill/>
                      <a:prstDash val="solid"/>
                    </a:lnTlToBr>
                    <a:lnBlToTr w="12700" cmpd="sng">
                      <a:noFill/>
                      <a:prstDash val="solid"/>
                    </a:lnBlToTr>
                    <a:solidFill>
                      <a:srgbClr val="FBFBE1">
                        <a:alpha val="50000"/>
                      </a:srgbClr>
                    </a:solidFill>
                  </a:tcPr>
                </a:tc>
                <a:extLst>
                  <a:ext uri="{0D108BD9-81ED-4DB2-BD59-A6C34878D82A}">
                    <a16:rowId xmlns:a16="http://schemas.microsoft.com/office/drawing/2014/main" val="647696793"/>
                  </a:ext>
                </a:extLst>
              </a:tr>
            </a:tbl>
          </a:graphicData>
        </a:graphic>
      </p:graphicFrame>
      <p:pic>
        <p:nvPicPr>
          <p:cNvPr id="10" name="Google Shape;174;p6">
            <a:extLst>
              <a:ext uri="{FF2B5EF4-FFF2-40B4-BE49-F238E27FC236}">
                <a16:creationId xmlns:a16="http://schemas.microsoft.com/office/drawing/2014/main" id="{C801CD5E-EDC9-AB08-987A-6BA19A5A730A}"/>
              </a:ext>
            </a:extLst>
          </p:cNvPr>
          <p:cNvPicPr preferRelativeResize="0"/>
          <p:nvPr/>
        </p:nvPicPr>
        <p:blipFill rotWithShape="1">
          <a:blip r:embed="rId9">
            <a:alphaModFix/>
          </a:blip>
          <a:srcRect/>
          <a:stretch/>
        </p:blipFill>
        <p:spPr>
          <a:xfrm>
            <a:off x="798477" y="3763679"/>
            <a:ext cx="431800" cy="558800"/>
          </a:xfrm>
          <a:prstGeom prst="rect">
            <a:avLst/>
          </a:prstGeom>
          <a:noFill/>
          <a:ln>
            <a:noFill/>
          </a:ln>
        </p:spPr>
      </p:pic>
    </p:spTree>
    <p:extLst>
      <p:ext uri="{BB962C8B-B14F-4D97-AF65-F5344CB8AC3E}">
        <p14:creationId xmlns:p14="http://schemas.microsoft.com/office/powerpoint/2010/main" val="1586691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D6E1A6F-041C-9063-F298-8125E8A8603D}"/>
            </a:ext>
          </a:extLst>
        </p:cNvPr>
        <p:cNvGrpSpPr/>
        <p:nvPr/>
      </p:nvGrpSpPr>
      <p:grpSpPr>
        <a:xfrm>
          <a:off x="0" y="0"/>
          <a:ext cx="0" cy="0"/>
          <a:chOff x="0" y="0"/>
          <a:chExt cx="0" cy="0"/>
        </a:xfrm>
      </p:grpSpPr>
      <p:sp>
        <p:nvSpPr>
          <p:cNvPr id="40" name="Title 2">
            <a:extLst>
              <a:ext uri="{FF2B5EF4-FFF2-40B4-BE49-F238E27FC236}">
                <a16:creationId xmlns:a16="http://schemas.microsoft.com/office/drawing/2014/main" id="{50026778-5681-DF44-438D-A5EE7EC666CE}"/>
              </a:ext>
            </a:extLst>
          </p:cNvPr>
          <p:cNvSpPr txBox="1">
            <a:spLocks/>
          </p:cNvSpPr>
          <p:nvPr/>
        </p:nvSpPr>
        <p:spPr>
          <a:xfrm>
            <a:off x="412751" y="205752"/>
            <a:ext cx="8318500" cy="731837"/>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000000"/>
              </a:buClr>
              <a:buSzPts val="1800"/>
              <a:buFont typeface="Arial"/>
              <a:buNone/>
              <a:tabLst/>
              <a:defRPr/>
            </a:pPr>
            <a:endParaRPr kumimoji="0" lang="en-US" sz="1400" b="0" i="0" u="none" strike="noStrike" kern="0" cap="none" spc="0" normalizeH="0" baseline="0" noProof="0">
              <a:ln>
                <a:noFill/>
              </a:ln>
              <a:solidFill>
                <a:srgbClr val="002060"/>
              </a:solidFill>
              <a:effectLst/>
              <a:uLnTx/>
              <a:uFillTx/>
              <a:latin typeface="Arial" panose="020B0604020202020204" pitchFamily="34" charset="0"/>
              <a:cs typeface="Arial" panose="020B0604020202020204" pitchFamily="34" charset="0"/>
              <a:sym typeface="Arial"/>
            </a:endParaRPr>
          </a:p>
        </p:txBody>
      </p:sp>
      <p:graphicFrame>
        <p:nvGraphicFramePr>
          <p:cNvPr id="3" name="Table 2">
            <a:extLst>
              <a:ext uri="{FF2B5EF4-FFF2-40B4-BE49-F238E27FC236}">
                <a16:creationId xmlns:a16="http://schemas.microsoft.com/office/drawing/2014/main" id="{F981A90F-143B-D223-7934-AB0207E37FF5}"/>
              </a:ext>
            </a:extLst>
          </p:cNvPr>
          <p:cNvGraphicFramePr>
            <a:graphicFrameLocks noGrp="1"/>
          </p:cNvGraphicFramePr>
          <p:nvPr>
            <p:custDataLst>
              <p:tags r:id="rId1"/>
            </p:custDataLst>
          </p:nvPr>
        </p:nvGraphicFramePr>
        <p:xfrm>
          <a:off x="265597" y="1547786"/>
          <a:ext cx="8628281" cy="3905153"/>
        </p:xfrm>
        <a:graphic>
          <a:graphicData uri="http://schemas.openxmlformats.org/drawingml/2006/table">
            <a:tbl>
              <a:tblPr firstRow="1" bandRow="1">
                <a:tableStyleId>{5C22544A-7EE6-4342-B048-85BDC9FD1C3A}</a:tableStyleId>
              </a:tblPr>
              <a:tblGrid>
                <a:gridCol w="3910706">
                  <a:extLst>
                    <a:ext uri="{9D8B030D-6E8A-4147-A177-3AD203B41FA5}">
                      <a16:colId xmlns:a16="http://schemas.microsoft.com/office/drawing/2014/main" val="3254963497"/>
                    </a:ext>
                  </a:extLst>
                </a:gridCol>
                <a:gridCol w="943515">
                  <a:extLst>
                    <a:ext uri="{9D8B030D-6E8A-4147-A177-3AD203B41FA5}">
                      <a16:colId xmlns:a16="http://schemas.microsoft.com/office/drawing/2014/main" val="2438708941"/>
                    </a:ext>
                  </a:extLst>
                </a:gridCol>
                <a:gridCol w="943515">
                  <a:extLst>
                    <a:ext uri="{9D8B030D-6E8A-4147-A177-3AD203B41FA5}">
                      <a16:colId xmlns:a16="http://schemas.microsoft.com/office/drawing/2014/main" val="3422824470"/>
                    </a:ext>
                  </a:extLst>
                </a:gridCol>
                <a:gridCol w="943515">
                  <a:extLst>
                    <a:ext uri="{9D8B030D-6E8A-4147-A177-3AD203B41FA5}">
                      <a16:colId xmlns:a16="http://schemas.microsoft.com/office/drawing/2014/main" val="391848315"/>
                    </a:ext>
                  </a:extLst>
                </a:gridCol>
                <a:gridCol w="943515">
                  <a:extLst>
                    <a:ext uri="{9D8B030D-6E8A-4147-A177-3AD203B41FA5}">
                      <a16:colId xmlns:a16="http://schemas.microsoft.com/office/drawing/2014/main" val="103664776"/>
                    </a:ext>
                  </a:extLst>
                </a:gridCol>
                <a:gridCol w="943515">
                  <a:extLst>
                    <a:ext uri="{9D8B030D-6E8A-4147-A177-3AD203B41FA5}">
                      <a16:colId xmlns:a16="http://schemas.microsoft.com/office/drawing/2014/main" val="2633548256"/>
                    </a:ext>
                  </a:extLst>
                </a:gridCol>
              </a:tblGrid>
              <a:tr h="822960">
                <a:tc>
                  <a:txBody>
                    <a:bodyPr/>
                    <a:lstStyle/>
                    <a:p>
                      <a:pPr algn="ctr"/>
                      <a:r>
                        <a:rPr lang="en-IN" sz="1000">
                          <a:latin typeface="Arial" panose="020B0604020202020204" pitchFamily="34" charset="0"/>
                          <a:cs typeface="Arial" panose="020B0604020202020204" pitchFamily="34" charset="0"/>
                        </a:rPr>
                        <a:t>KEY Metrics</a:t>
                      </a:r>
                      <a:r>
                        <a:rPr lang="en-IN" sz="1000" baseline="30000">
                          <a:latin typeface="Arial" panose="020B0604020202020204" pitchFamily="34" charset="0"/>
                          <a:cs typeface="Arial" panose="020B0604020202020204" pitchFamily="34" charset="0"/>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IN" sz="1000">
                          <a:latin typeface="Arial" panose="020B0604020202020204" pitchFamily="34" charset="0"/>
                          <a:cs typeface="Arial" panose="020B0604020202020204" pitchFamily="34" charset="0"/>
                        </a:rPr>
                        <a:t>Mar’25 -  Apr’25</a:t>
                      </a:r>
                    </a:p>
                    <a:p>
                      <a:pPr algn="ctr"/>
                      <a:r>
                        <a:rPr lang="en-IN" sz="1000">
                          <a:latin typeface="Arial" panose="020B0604020202020204" pitchFamily="34" charset="0"/>
                          <a:cs typeface="Arial" panose="020B0604020202020204" pitchFamily="34" charset="0"/>
                        </a:rPr>
                        <a:t>(n = 106)</a:t>
                      </a:r>
                    </a:p>
                    <a:p>
                      <a:pPr algn="ctr"/>
                      <a:r>
                        <a:rPr lang="en-IN" sz="1000" b="0">
                          <a:latin typeface="Arial" panose="020B0604020202020204" pitchFamily="34" charset="0"/>
                          <a:cs typeface="Arial" panose="020B0604020202020204" pitchFamily="34" charset="0"/>
                        </a:rPr>
                        <a:t>(Avg. % of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IN" sz="1000">
                          <a:latin typeface="Arial" panose="020B0604020202020204" pitchFamily="34" charset="0"/>
                          <a:cs typeface="Arial" panose="020B0604020202020204" pitchFamily="34" charset="0"/>
                        </a:rPr>
                        <a:t>May’25 -  Jun’25</a:t>
                      </a:r>
                    </a:p>
                    <a:p>
                      <a:pPr algn="ctr"/>
                      <a:r>
                        <a:rPr lang="en-IN" sz="1000">
                          <a:latin typeface="Arial" panose="020B0604020202020204" pitchFamily="34" charset="0"/>
                          <a:cs typeface="Arial" panose="020B0604020202020204" pitchFamily="34" charset="0"/>
                        </a:rPr>
                        <a:t>(n = 113)</a:t>
                      </a:r>
                    </a:p>
                    <a:p>
                      <a:pPr algn="ctr"/>
                      <a:r>
                        <a:rPr lang="en-IN" sz="1000" b="0">
                          <a:latin typeface="Arial" panose="020B0604020202020204" pitchFamily="34" charset="0"/>
                          <a:cs typeface="Arial" panose="020B0604020202020204" pitchFamily="34" charset="0"/>
                        </a:rPr>
                        <a:t>(Avg. % of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IN" sz="1000">
                          <a:latin typeface="Arial" panose="020B0604020202020204" pitchFamily="34" charset="0"/>
                          <a:cs typeface="Arial" panose="020B0604020202020204" pitchFamily="34" charset="0"/>
                        </a:rPr>
                        <a:t>Jul’25 -  Aug’25</a:t>
                      </a:r>
                    </a:p>
                    <a:p>
                      <a:pPr algn="ctr"/>
                      <a:r>
                        <a:rPr lang="en-IN" sz="1000">
                          <a:latin typeface="Arial" panose="020B0604020202020204" pitchFamily="34" charset="0"/>
                          <a:cs typeface="Arial" panose="020B0604020202020204" pitchFamily="34" charset="0"/>
                        </a:rPr>
                        <a:t>(n = 108)</a:t>
                      </a:r>
                    </a:p>
                    <a:p>
                      <a:pPr algn="ctr"/>
                      <a:r>
                        <a:rPr lang="en-IN" sz="1000" b="0">
                          <a:latin typeface="Arial" panose="020B0604020202020204" pitchFamily="34" charset="0"/>
                          <a:cs typeface="Arial" panose="020B0604020202020204" pitchFamily="34" charset="0"/>
                        </a:rPr>
                        <a:t>(Avg. % of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IN" sz="1000">
                          <a:latin typeface="Arial" panose="020B0604020202020204" pitchFamily="34" charset="0"/>
                          <a:cs typeface="Arial" panose="020B0604020202020204" pitchFamily="34" charset="0"/>
                        </a:rPr>
                        <a:t>Sep’25 -  Oct’25</a:t>
                      </a:r>
                    </a:p>
                    <a:p>
                      <a:pPr algn="ctr"/>
                      <a:r>
                        <a:rPr lang="en-IN" sz="1000">
                          <a:latin typeface="Arial" panose="020B0604020202020204" pitchFamily="34" charset="0"/>
                          <a:cs typeface="Arial" panose="020B0604020202020204" pitchFamily="34" charset="0"/>
                        </a:rPr>
                        <a:t>(n = 115)</a:t>
                      </a:r>
                    </a:p>
                    <a:p>
                      <a:pPr algn="ctr"/>
                      <a:r>
                        <a:rPr lang="en-IN" sz="1000" b="0">
                          <a:latin typeface="Arial" panose="020B0604020202020204" pitchFamily="34" charset="0"/>
                          <a:cs typeface="Arial" panose="020B0604020202020204" pitchFamily="34" charset="0"/>
                        </a:rPr>
                        <a:t>(Avg. % of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IN" sz="1000">
                          <a:latin typeface="Arial" panose="020B0604020202020204" pitchFamily="34" charset="0"/>
                          <a:cs typeface="Arial" panose="020B0604020202020204" pitchFamily="34" charset="0"/>
                        </a:rPr>
                        <a:t>Nov’25 -  Dec’25</a:t>
                      </a:r>
                    </a:p>
                    <a:p>
                      <a:pPr algn="ctr"/>
                      <a:r>
                        <a:rPr lang="en-IN" sz="1000">
                          <a:latin typeface="Arial" panose="020B0604020202020204" pitchFamily="34" charset="0"/>
                          <a:cs typeface="Arial" panose="020B0604020202020204" pitchFamily="34" charset="0"/>
                        </a:rPr>
                        <a:t>(n = 110)</a:t>
                      </a:r>
                    </a:p>
                    <a:p>
                      <a:pPr algn="ctr"/>
                      <a:r>
                        <a:rPr lang="en-IN" sz="1000" b="0">
                          <a:latin typeface="Arial" panose="020B0604020202020204" pitchFamily="34" charset="0"/>
                          <a:cs typeface="Arial" panose="020B0604020202020204" pitchFamily="34" charset="0"/>
                        </a:rPr>
                        <a:t>(Avg. % of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708820740"/>
                  </a:ext>
                </a:extLst>
              </a:tr>
              <a:tr h="435959">
                <a:tc>
                  <a:txBody>
                    <a:bodyPr/>
                    <a:lstStyle/>
                    <a:p>
                      <a:pPr algn="ctr"/>
                      <a:r>
                        <a:rPr lang="en-IN" sz="1000">
                          <a:latin typeface="Arial" panose="020B0604020202020204" pitchFamily="34" charset="0"/>
                          <a:cs typeface="Arial" panose="020B0604020202020204" pitchFamily="34" charset="0"/>
                        </a:rPr>
                        <a:t>Average no. of EPI patients treated 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a:latin typeface="Arial" panose="020B0604020202020204" pitchFamily="34" charset="0"/>
                          <a:cs typeface="Arial" panose="020B0604020202020204" pitchFamily="34" charset="0"/>
                        </a:rPr>
                        <a:t>25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kern="1200">
                          <a:solidFill>
                            <a:schemeClr val="dk1"/>
                          </a:solidFill>
                          <a:latin typeface="Arial" panose="020B0604020202020204" pitchFamily="34" charset="0"/>
                          <a:ea typeface="+mn-ea"/>
                          <a:cs typeface="Arial" panose="020B0604020202020204" pitchFamily="34" charset="0"/>
                        </a:rPr>
                        <a:t>31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kern="1200">
                          <a:solidFill>
                            <a:schemeClr val="dk1"/>
                          </a:solidFill>
                          <a:latin typeface="Arial" panose="020B0604020202020204" pitchFamily="34" charset="0"/>
                          <a:ea typeface="+mn-ea"/>
                          <a:cs typeface="Arial" panose="020B0604020202020204" pitchFamily="34" charset="0"/>
                        </a:rPr>
                        <a:t>29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GB" sz="1000" kern="1200">
                          <a:solidFill>
                            <a:schemeClr val="dk1"/>
                          </a:solidFill>
                          <a:latin typeface="Arial" panose="020B0604020202020204" pitchFamily="34" charset="0"/>
                          <a:ea typeface="+mn-ea"/>
                          <a:cs typeface="Arial" panose="020B0604020202020204" pitchFamily="34" charset="0"/>
                        </a:rPr>
                        <a:t>3</a:t>
                      </a:r>
                      <a:r>
                        <a:rPr lang="en-IN" sz="1000" kern="1200">
                          <a:solidFill>
                            <a:schemeClr val="dk1"/>
                          </a:solidFill>
                          <a:latin typeface="Arial" panose="020B0604020202020204" pitchFamily="34" charset="0"/>
                          <a:ea typeface="+mn-ea"/>
                          <a:cs typeface="Arial" panose="020B0604020202020204" pitchFamily="34" charset="0"/>
                        </a:rPr>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000" kern="1200">
                          <a:solidFill>
                            <a:schemeClr val="dk1"/>
                          </a:solidFill>
                          <a:latin typeface="Arial" panose="020B0604020202020204" pitchFamily="34" charset="0"/>
                          <a:ea typeface="+mn-ea"/>
                          <a:cs typeface="Arial" panose="020B0604020202020204" pitchFamily="34" charset="0"/>
                        </a:rPr>
                        <a:t>34</a:t>
                      </a:r>
                      <a:endParaRPr lang="en-IN" sz="1000" kern="1200">
                        <a:solidFill>
                          <a:schemeClr val="dk1"/>
                        </a:solidFill>
                        <a:latin typeface="Arial" panose="020B0604020202020204" pitchFamily="34" charset="0"/>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31907962"/>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Average % of </a:t>
                      </a:r>
                      <a:r>
                        <a:rPr lang="en-IN" sz="1000" b="1">
                          <a:latin typeface="Arial" panose="020B0604020202020204" pitchFamily="34" charset="0"/>
                          <a:cs typeface="Arial" panose="020B0604020202020204" pitchFamily="34" charset="0"/>
                        </a:rPr>
                        <a:t>Treatment Naïve </a:t>
                      </a:r>
                      <a:r>
                        <a:rPr lang="en-IN" sz="1000">
                          <a:latin typeface="Arial" panose="020B0604020202020204" pitchFamily="34" charset="0"/>
                          <a:cs typeface="Arial" panose="020B0604020202020204" pitchFamily="34" charset="0"/>
                        </a:rPr>
                        <a:t>EPI patients treated 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a:latin typeface="Arial" panose="020B0604020202020204" pitchFamily="34" charset="0"/>
                          <a:cs typeface="Arial" panose="020B0604020202020204" pitchFamily="34" charset="0"/>
                        </a:rPr>
                        <a:t>37%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1000" kern="1200">
                          <a:solidFill>
                            <a:schemeClr val="dk1"/>
                          </a:solidFill>
                          <a:latin typeface="Arial" panose="020B0604020202020204" pitchFamily="34" charset="0"/>
                          <a:ea typeface="+mn-ea"/>
                          <a:cs typeface="Arial" panose="020B0604020202020204" pitchFamily="34" charset="0"/>
                        </a:rPr>
                        <a:t>3</a:t>
                      </a:r>
                      <a:r>
                        <a:rPr lang="en-IN" sz="1000" kern="1200">
                          <a:solidFill>
                            <a:schemeClr val="dk1"/>
                          </a:solidFill>
                          <a:latin typeface="Arial" panose="020B0604020202020204" pitchFamily="34" charset="0"/>
                          <a:ea typeface="+mn-ea"/>
                          <a:cs typeface="Arial" panose="020B0604020202020204" pitchFamily="34" charset="0"/>
                        </a:rPr>
                        <a:t>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GB" sz="1000" kern="1200">
                          <a:solidFill>
                            <a:schemeClr val="dk1"/>
                          </a:solidFill>
                          <a:latin typeface="Arial" panose="020B0604020202020204" pitchFamily="34" charset="0"/>
                          <a:ea typeface="+mn-ea"/>
                          <a:cs typeface="Arial" panose="020B0604020202020204" pitchFamily="34" charset="0"/>
                        </a:rPr>
                        <a:t>3</a:t>
                      </a:r>
                      <a:r>
                        <a:rPr lang="en-IN" sz="1000" kern="1200">
                          <a:solidFill>
                            <a:schemeClr val="dk1"/>
                          </a:solidFill>
                          <a:latin typeface="Arial" panose="020B0604020202020204" pitchFamily="34" charset="0"/>
                          <a:ea typeface="+mn-ea"/>
                          <a:cs typeface="Arial" panose="020B0604020202020204" pitchFamily="34" charset="0"/>
                        </a:rPr>
                        <a:t>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56170118"/>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Average % of patients who </a:t>
                      </a:r>
                      <a:r>
                        <a:rPr lang="en-IN" sz="1000" b="1">
                          <a:latin typeface="Arial" panose="020B0604020202020204" pitchFamily="34" charset="0"/>
                          <a:cs typeface="Arial" panose="020B0604020202020204" pitchFamily="34" charset="0"/>
                        </a:rPr>
                        <a:t>switched treatment </a:t>
                      </a:r>
                      <a:r>
                        <a:rPr lang="en-IN" sz="1000">
                          <a:latin typeface="Arial" panose="020B0604020202020204" pitchFamily="34" charset="0"/>
                          <a:cs typeface="Arial" panose="020B0604020202020204" pitchFamily="34" charset="0"/>
                        </a:rPr>
                        <a:t>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a:latin typeface="Arial" panose="020B0604020202020204" pitchFamily="34" charset="0"/>
                          <a:cs typeface="Arial" panose="020B0604020202020204" pitchFamily="34" charset="0"/>
                        </a:rPr>
                        <a:t>15%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16%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14%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15%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US" sz="1000" kern="1200">
                          <a:solidFill>
                            <a:schemeClr val="dk1"/>
                          </a:solidFill>
                          <a:latin typeface="Arial" panose="020B0604020202020204" pitchFamily="34" charset="0"/>
                          <a:ea typeface="+mn-ea"/>
                          <a:cs typeface="Arial" panose="020B0604020202020204" pitchFamily="34" charset="0"/>
                        </a:rPr>
                        <a:t>11%</a:t>
                      </a:r>
                      <a:endParaRPr lang="en-IN" sz="1000" kern="1200">
                        <a:solidFill>
                          <a:schemeClr val="dk1"/>
                        </a:solidFill>
                        <a:latin typeface="Arial" panose="020B0604020202020204" pitchFamily="34" charset="0"/>
                        <a:ea typeface="+mn-ea"/>
                        <a:cs typeface="Arial" panose="020B0604020202020204" pitchFamily="34" charset="0"/>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08641474"/>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Average % of </a:t>
                      </a:r>
                      <a:r>
                        <a:rPr lang="en-IN" sz="1000" b="1">
                          <a:latin typeface="Arial" panose="020B0604020202020204" pitchFamily="34" charset="0"/>
                          <a:cs typeface="Arial" panose="020B0604020202020204" pitchFamily="34" charset="0"/>
                        </a:rPr>
                        <a:t>treatment maintenance </a:t>
                      </a:r>
                      <a:r>
                        <a:rPr lang="en-IN" sz="1000">
                          <a:latin typeface="Arial" panose="020B0604020202020204" pitchFamily="34" charset="0"/>
                          <a:cs typeface="Arial" panose="020B0604020202020204" pitchFamily="34" charset="0"/>
                        </a:rPr>
                        <a:t>EPI patients treated 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IN" sz="1000" kern="1200">
                          <a:solidFill>
                            <a:schemeClr val="dk1"/>
                          </a:solidFill>
                          <a:latin typeface="Arial" panose="020B0604020202020204" pitchFamily="34" charset="0"/>
                          <a:ea typeface="+mn-ea"/>
                          <a:cs typeface="Arial" panose="020B0604020202020204" pitchFamily="34" charset="0"/>
                        </a:rPr>
                        <a:t>48%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47%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43%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US" sz="1000" kern="1200">
                          <a:solidFill>
                            <a:schemeClr val="dk1"/>
                          </a:solidFill>
                          <a:latin typeface="Arial" panose="020B0604020202020204" pitchFamily="34" charset="0"/>
                          <a:ea typeface="+mn-ea"/>
                          <a:cs typeface="Arial" panose="020B0604020202020204" pitchFamily="34" charset="0"/>
                        </a:rPr>
                        <a:t>48%</a:t>
                      </a:r>
                      <a:endParaRPr lang="en-IN" sz="1000" kern="1200">
                        <a:solidFill>
                          <a:schemeClr val="dk1"/>
                        </a:solidFill>
                        <a:latin typeface="Arial" panose="020B0604020202020204" pitchFamily="34" charset="0"/>
                        <a:ea typeface="+mn-ea"/>
                        <a:cs typeface="Arial" panose="020B0604020202020204" pitchFamily="34" charset="0"/>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81837"/>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Patients </a:t>
                      </a:r>
                      <a:r>
                        <a:rPr lang="en-US" sz="1000" b="1">
                          <a:latin typeface="Arial" panose="020B0604020202020204" pitchFamily="34" charset="0"/>
                          <a:cs typeface="Arial" panose="020B0604020202020204" pitchFamily="34" charset="0"/>
                        </a:rPr>
                        <a:t>not treated with </a:t>
                      </a:r>
                      <a:r>
                        <a:rPr lang="en-US" sz="1000">
                          <a:latin typeface="Arial" panose="020B0604020202020204" pitchFamily="34" charset="0"/>
                          <a:cs typeface="Arial" panose="020B0604020202020204" pitchFamily="34" charset="0"/>
                        </a:rPr>
                        <a:t>any </a:t>
                      </a:r>
                      <a:r>
                        <a:rPr lang="en-US" sz="1000" b="1">
                          <a:latin typeface="Arial" panose="020B0604020202020204" pitchFamily="34" charset="0"/>
                          <a:cs typeface="Arial" panose="020B0604020202020204" pitchFamily="34" charset="0"/>
                        </a:rPr>
                        <a:t>Pancreatic enzyme replacement therapy </a:t>
                      </a:r>
                      <a:r>
                        <a:rPr lang="en-US" sz="1000">
                          <a:latin typeface="Arial" panose="020B0604020202020204" pitchFamily="34" charset="0"/>
                          <a:cs typeface="Arial" panose="020B0604020202020204" pitchFamily="34" charset="0"/>
                        </a:rPr>
                        <a:t>(PERT)</a:t>
                      </a:r>
                      <a:endParaRPr lang="en-IN" sz="1000">
                        <a:latin typeface="Arial" panose="020B0604020202020204" pitchFamily="34" charset="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IN" sz="1000" kern="1200">
                          <a:solidFill>
                            <a:schemeClr val="dk1"/>
                          </a:solidFill>
                          <a:latin typeface="Arial" panose="020B0604020202020204" pitchFamily="34" charset="0"/>
                          <a:ea typeface="+mn-ea"/>
                          <a:cs typeface="Arial" panose="020B0604020202020204" pitchFamily="34" charset="0"/>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GB" sz="1000" kern="1200">
                          <a:solidFill>
                            <a:schemeClr val="dk1"/>
                          </a:solidFill>
                          <a:latin typeface="Arial" panose="020B0604020202020204" pitchFamily="34" charset="0"/>
                          <a:ea typeface="+mn-ea"/>
                          <a:cs typeface="Arial" panose="020B0604020202020204" pitchFamily="34" charset="0"/>
                        </a:rPr>
                        <a:t>5</a:t>
                      </a:r>
                      <a:r>
                        <a:rPr lang="en-IN" sz="1000" kern="1200">
                          <a:solidFill>
                            <a:schemeClr val="dk1"/>
                          </a:solidFill>
                          <a:latin typeface="Arial" panose="020B0604020202020204" pitchFamily="34" charset="0"/>
                          <a:ea typeface="+mn-ea"/>
                          <a:cs typeface="Arial" panose="020B0604020202020204" pitchFamily="34" charset="0"/>
                        </a:rPr>
                        <a:t>%</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US" sz="1000" kern="1200">
                          <a:solidFill>
                            <a:schemeClr val="dk1"/>
                          </a:solidFill>
                          <a:latin typeface="Arial" panose="020B0604020202020204" pitchFamily="34" charset="0"/>
                          <a:ea typeface="+mn-ea"/>
                          <a:cs typeface="Arial" panose="020B0604020202020204" pitchFamily="34" charset="0"/>
                        </a:rPr>
                        <a:t>6%</a:t>
                      </a:r>
                      <a:endParaRPr lang="en-IN" sz="1000" kern="1200">
                        <a:solidFill>
                          <a:schemeClr val="dk1"/>
                        </a:solidFill>
                        <a:latin typeface="Arial" panose="020B0604020202020204" pitchFamily="34" charset="0"/>
                        <a:ea typeface="+mn-ea"/>
                        <a:cs typeface="Arial" panose="020B0604020202020204" pitchFamily="34" charset="0"/>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953247815"/>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Average % of EPI patients switching from </a:t>
                      </a:r>
                      <a:r>
                        <a:rPr lang="en-IN" sz="1000" b="1">
                          <a:latin typeface="Arial" panose="020B0604020202020204" pitchFamily="34" charset="0"/>
                          <a:cs typeface="Arial" panose="020B0604020202020204" pitchFamily="34" charset="0"/>
                        </a:rPr>
                        <a:t>CREON to ZENPEP </a:t>
                      </a:r>
                      <a:r>
                        <a:rPr lang="en-IN" sz="1000">
                          <a:latin typeface="Arial" panose="020B0604020202020204" pitchFamily="34" charset="0"/>
                          <a:cs typeface="Arial" panose="020B0604020202020204" pitchFamily="34" charset="0"/>
                        </a:rPr>
                        <a:t>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tc>
                  <a:txBody>
                    <a:bodyPr/>
                    <a:lstStyle/>
                    <a:p>
                      <a:pPr algn="ctr"/>
                      <a:r>
                        <a:rPr lang="en-IN" sz="1000">
                          <a:latin typeface="Arial" panose="020B0604020202020204" pitchFamily="34" charset="0"/>
                          <a:cs typeface="Arial" panose="020B0604020202020204" pitchFamily="34" charset="0"/>
                        </a:rPr>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tc>
                  <a:txBody>
                    <a:bodyPr/>
                    <a:lstStyle/>
                    <a:p>
                      <a:pPr algn="ctr" fontAlgn="ctr"/>
                      <a:r>
                        <a:rPr lang="en-IN" sz="1000" kern="1200">
                          <a:solidFill>
                            <a:schemeClr val="dk1"/>
                          </a:solidFill>
                          <a:latin typeface="Arial" panose="020B0604020202020204" pitchFamily="34" charset="0"/>
                          <a:ea typeface="+mn-ea"/>
                          <a:cs typeface="Arial" panose="020B0604020202020204" pitchFamily="34" charset="0"/>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alpha val="30000"/>
                      </a:srgbClr>
                    </a:solidFill>
                  </a:tcPr>
                </a:tc>
                <a:extLst>
                  <a:ext uri="{0D108BD9-81ED-4DB2-BD59-A6C34878D82A}">
                    <a16:rowId xmlns:a16="http://schemas.microsoft.com/office/drawing/2014/main" val="3541961372"/>
                  </a:ext>
                </a:extLst>
              </a:tr>
              <a:tr h="435959">
                <a:tc>
                  <a:txBody>
                    <a:bodyPr/>
                    <a:lstStyle/>
                    <a:p>
                      <a:pPr marL="0" marR="0" lvl="0" indent="0" algn="ctr" defTabSz="342898" rtl="0" eaLnBrk="1" fontAlgn="auto" latinLnBrk="0" hangingPunct="1">
                        <a:lnSpc>
                          <a:spcPct val="10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Average % of EPI patients switching from </a:t>
                      </a:r>
                      <a:r>
                        <a:rPr lang="en-IN" sz="1000" b="1">
                          <a:latin typeface="Arial" panose="020B0604020202020204" pitchFamily="34" charset="0"/>
                          <a:cs typeface="Arial" panose="020B0604020202020204" pitchFamily="34" charset="0"/>
                        </a:rPr>
                        <a:t>ZENPEP to CREON </a:t>
                      </a:r>
                      <a:r>
                        <a:rPr lang="en-IN" sz="1000">
                          <a:latin typeface="Arial" panose="020B0604020202020204" pitchFamily="34" charset="0"/>
                          <a:cs typeface="Arial" panose="020B0604020202020204" pitchFamily="34" charset="0"/>
                        </a:rPr>
                        <a:t>in the last 3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tc>
                  <a:txBody>
                    <a:bodyPr/>
                    <a:lstStyle/>
                    <a:p>
                      <a:pPr algn="ctr"/>
                      <a:r>
                        <a:rPr lang="en-IN" sz="1000">
                          <a:latin typeface="Arial" panose="020B0604020202020204" pitchFamily="34" charset="0"/>
                          <a:cs typeface="Arial" panose="020B0604020202020204" pitchFamily="34" charset="0"/>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tc>
                  <a:txBody>
                    <a:bodyPr/>
                    <a:lstStyle/>
                    <a:p>
                      <a:pPr marL="0" marR="0" lvl="0" indent="0" algn="ctr" defTabSz="342898" rtl="0" eaLnBrk="1" fontAlgn="ctr" latinLnBrk="0" hangingPunct="1">
                        <a:lnSpc>
                          <a:spcPct val="100000"/>
                        </a:lnSpc>
                        <a:spcBef>
                          <a:spcPts val="0"/>
                        </a:spcBef>
                        <a:spcAft>
                          <a:spcPts val="0"/>
                        </a:spcAft>
                        <a:buClrTx/>
                        <a:buSzTx/>
                        <a:buFontTx/>
                        <a:buNone/>
                        <a:tabLst/>
                        <a:defRPr/>
                      </a:pPr>
                      <a:r>
                        <a:rPr lang="en-IN" sz="1000" kern="1200">
                          <a:solidFill>
                            <a:schemeClr val="dk1"/>
                          </a:solidFill>
                          <a:latin typeface="Arial" panose="020B0604020202020204" pitchFamily="34" charset="0"/>
                          <a:ea typeface="+mn-ea"/>
                          <a:cs typeface="Arial" panose="020B0604020202020204" pitchFamily="34" charset="0"/>
                        </a:rPr>
                        <a:t>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alpha val="30000"/>
                      </a:srgbClr>
                    </a:solidFill>
                  </a:tcPr>
                </a:tc>
                <a:extLst>
                  <a:ext uri="{0D108BD9-81ED-4DB2-BD59-A6C34878D82A}">
                    <a16:rowId xmlns:a16="http://schemas.microsoft.com/office/drawing/2014/main" val="396364045"/>
                  </a:ext>
                </a:extLst>
              </a:tr>
            </a:tbl>
          </a:graphicData>
        </a:graphic>
      </p:graphicFrame>
      <p:sp>
        <p:nvSpPr>
          <p:cNvPr id="4" name="Google Shape;6149;p177">
            <a:extLst>
              <a:ext uri="{FF2B5EF4-FFF2-40B4-BE49-F238E27FC236}">
                <a16:creationId xmlns:a16="http://schemas.microsoft.com/office/drawing/2014/main" id="{CABC9B73-DE86-D498-5E19-7AB27EEC81CF}"/>
              </a:ext>
            </a:extLst>
          </p:cNvPr>
          <p:cNvSpPr txBox="1">
            <a:spLocks/>
          </p:cNvSpPr>
          <p:nvPr/>
        </p:nvSpPr>
        <p:spPr>
          <a:xfrm>
            <a:off x="2443848" y="964056"/>
            <a:ext cx="4256307"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EPI KEY MARKET SHARE METRICS*</a:t>
            </a:r>
          </a:p>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(Mar’25 – Dec’25)</a:t>
            </a:r>
            <a:endParaRPr kumimoji="0" lang="en-GB" sz="600" b="0" i="0" u="sng"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5" name="Google Shape;2440;p63">
            <a:extLst>
              <a:ext uri="{FF2B5EF4-FFF2-40B4-BE49-F238E27FC236}">
                <a16:creationId xmlns:a16="http://schemas.microsoft.com/office/drawing/2014/main" id="{EF7DDD32-8FEB-6E7E-3D8B-7C226CFFFF21}"/>
              </a:ext>
            </a:extLst>
          </p:cNvPr>
          <p:cNvSpPr txBox="1"/>
          <p:nvPr/>
        </p:nvSpPr>
        <p:spPr>
          <a:xfrm>
            <a:off x="330911" y="73516"/>
            <a:ext cx="8695524"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Arial"/>
              </a:rPr>
              <a:t>Average EPI patients per HCP rose from 32 to 34 this wave; average % of patients who switched from ZENPEP to CREON stayed at 5% while % patients switching to ZENPEP from CREON decreased by 3%</a:t>
            </a:r>
          </a:p>
        </p:txBody>
      </p:sp>
      <p:sp>
        <p:nvSpPr>
          <p:cNvPr id="8" name="Rectangle 7">
            <a:extLst>
              <a:ext uri="{FF2B5EF4-FFF2-40B4-BE49-F238E27FC236}">
                <a16:creationId xmlns:a16="http://schemas.microsoft.com/office/drawing/2014/main" id="{1F5247D1-0511-6260-7D36-D91EF6509339}"/>
              </a:ext>
            </a:extLst>
          </p:cNvPr>
          <p:cNvSpPr/>
          <p:nvPr/>
        </p:nvSpPr>
        <p:spPr>
          <a:xfrm>
            <a:off x="2325156" y="5856019"/>
            <a:ext cx="4493686" cy="232462"/>
          </a:xfrm>
          <a:prstGeom prst="rect">
            <a:avLst/>
          </a:prstGeom>
          <a:noFill/>
          <a:ln w="12700">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rPr>
              <a:t>Note: “%” values are rounded off to the nearest whole numbers</a:t>
            </a:r>
            <a:endParaRPr kumimoji="0" lang="en-GB" sz="1000" b="0" i="0" u="none" strike="noStrike" kern="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endParaRPr>
          </a:p>
        </p:txBody>
      </p:sp>
      <p:sp>
        <p:nvSpPr>
          <p:cNvPr id="7" name="Google Shape;2462;p63">
            <a:extLst>
              <a:ext uri="{FF2B5EF4-FFF2-40B4-BE49-F238E27FC236}">
                <a16:creationId xmlns:a16="http://schemas.microsoft.com/office/drawing/2014/main" id="{2DF088BC-9183-5B49-5B98-0D2ADCAFF053}"/>
              </a:ext>
            </a:extLst>
          </p:cNvPr>
          <p:cNvSpPr txBox="1"/>
          <p:nvPr/>
        </p:nvSpPr>
        <p:spPr>
          <a:xfrm>
            <a:off x="928801" y="6081211"/>
            <a:ext cx="7965075"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Questions added in Mar ’25 | </a:t>
            </a:r>
            <a:r>
              <a:rPr kumimoji="0" lang="en-US" sz="9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a:t>
            </a:r>
            <a:r>
              <a:rPr kumimoji="0" lang="en-US" sz="900" b="1" i="0" u="none" strike="noStrike" kern="0" cap="none" spc="0" normalizeH="0" baseline="3000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Local outliers removed</a:t>
            </a:r>
          </a:p>
        </p:txBody>
      </p:sp>
      <p:sp>
        <p:nvSpPr>
          <p:cNvPr id="2" name="Highlight#32">
            <a:extLst>
              <a:ext uri="{FF2B5EF4-FFF2-40B4-BE49-F238E27FC236}">
                <a16:creationId xmlns:a16="http://schemas.microsoft.com/office/drawing/2014/main" id="{6B357127-34FF-7DC3-D1E9-C4CFDB0236E1}"/>
              </a:ext>
            </a:extLst>
          </p:cNvPr>
          <p:cNvSpPr txBox="1"/>
          <p:nvPr/>
        </p:nvSpPr>
        <p:spPr>
          <a:xfrm>
            <a:off x="7007289" y="2407092"/>
            <a:ext cx="1871113" cy="420084"/>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extLst>
      <p:ext uri="{BB962C8B-B14F-4D97-AF65-F5344CB8AC3E}">
        <p14:creationId xmlns:p14="http://schemas.microsoft.com/office/powerpoint/2010/main" val="460529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9FB89CE-AE2D-E860-BA21-6E948D2E8EA5}"/>
            </a:ext>
          </a:extLst>
        </p:cNvPr>
        <p:cNvGrpSpPr/>
        <p:nvPr/>
      </p:nvGrpSpPr>
      <p:grpSpPr>
        <a:xfrm>
          <a:off x="0" y="0"/>
          <a:ext cx="0" cy="0"/>
          <a:chOff x="0" y="0"/>
          <a:chExt cx="0" cy="0"/>
        </a:xfrm>
      </p:grpSpPr>
      <p:sp>
        <p:nvSpPr>
          <p:cNvPr id="2" name="Google Shape;2462;p63">
            <a:extLst>
              <a:ext uri="{FF2B5EF4-FFF2-40B4-BE49-F238E27FC236}">
                <a16:creationId xmlns:a16="http://schemas.microsoft.com/office/drawing/2014/main" id="{AF4D119B-F363-EB49-27B5-AFBDC0DDBB4C}"/>
              </a:ext>
            </a:extLst>
          </p:cNvPr>
          <p:cNvSpPr txBox="1"/>
          <p:nvPr/>
        </p:nvSpPr>
        <p:spPr>
          <a:xfrm>
            <a:off x="928801" y="5992721"/>
            <a:ext cx="796507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Questions added in Mar ’25 | Delta since the previous wave are shown as </a:t>
            </a:r>
            <a:r>
              <a:rPr kumimoji="0" lang="en-US" sz="900" b="0" i="0" u="none" strike="noStrike" kern="0" cap="none" spc="0" normalizeH="0" baseline="0" noProof="0">
                <a:ln>
                  <a:noFill/>
                </a:ln>
                <a:solidFill>
                  <a:srgbClr val="00B050"/>
                </a:solidFill>
                <a:effectLst/>
                <a:uLnTx/>
                <a:uFillTx/>
                <a:latin typeface="Arial" panose="020B0604020202020204" pitchFamily="34" charset="0"/>
                <a:ea typeface="Calibri"/>
                <a:cs typeface="Arial" panose="020B0604020202020204" pitchFamily="34" charset="0"/>
                <a:sym typeface="Calibri"/>
              </a:rPr>
              <a:t>+ve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a:t>
            </a:r>
            <a:r>
              <a:rPr kumimoji="0" lang="en-US" sz="900" b="0" i="0" u="none" strike="noStrike" kern="0" cap="none" spc="0" normalizeH="0" baseline="0" noProof="0">
                <a:ln>
                  <a:noFill/>
                </a:ln>
                <a:solidFill>
                  <a:srgbClr val="FF0000"/>
                </a:solidFill>
                <a:effectLst/>
                <a:uLnTx/>
                <a:uFillTx/>
                <a:latin typeface="Arial" panose="020B0604020202020204" pitchFamily="34" charset="0"/>
                <a:ea typeface="Calibri"/>
                <a:cs typeface="Arial" panose="020B0604020202020204" pitchFamily="34" charset="0"/>
                <a:sym typeface="Calibri"/>
              </a:rPr>
              <a:t>-ve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for patient movement | </a:t>
            </a:r>
            <a:r>
              <a:rPr kumimoji="0" lang="en-US" sz="9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a:t>
            </a:r>
            <a:r>
              <a:rPr kumimoji="0" lang="en-US" sz="900" b="1" i="0" u="none" strike="noStrike" kern="0" cap="none" spc="0" normalizeH="0" baseline="3000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 </a:t>
            </a: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Local outliers removed </a:t>
            </a:r>
          </a:p>
        </p:txBody>
      </p:sp>
      <p:sp>
        <p:nvSpPr>
          <p:cNvPr id="5" name="Rectangle 4">
            <a:extLst>
              <a:ext uri="{FF2B5EF4-FFF2-40B4-BE49-F238E27FC236}">
                <a16:creationId xmlns:a16="http://schemas.microsoft.com/office/drawing/2014/main" id="{9BBE8E15-9B95-71E7-BBAD-E9EDB645CCA2}"/>
              </a:ext>
            </a:extLst>
          </p:cNvPr>
          <p:cNvSpPr/>
          <p:nvPr/>
        </p:nvSpPr>
        <p:spPr>
          <a:xfrm>
            <a:off x="2325156" y="5705492"/>
            <a:ext cx="4493686" cy="232462"/>
          </a:xfrm>
          <a:prstGeom prst="rect">
            <a:avLst/>
          </a:prstGeom>
          <a:noFill/>
          <a:ln w="12700">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rPr>
              <a:t>Note: “%” values are rounded off to the nearest whole numbers</a:t>
            </a:r>
            <a:endParaRPr kumimoji="0" lang="en-GB" sz="1000" b="0" i="0" u="none" strike="noStrike" kern="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sym typeface="Arial"/>
            </a:endParaRPr>
          </a:p>
        </p:txBody>
      </p:sp>
      <p:sp>
        <p:nvSpPr>
          <p:cNvPr id="6" name="Google Shape;2440;p63">
            <a:extLst>
              <a:ext uri="{FF2B5EF4-FFF2-40B4-BE49-F238E27FC236}">
                <a16:creationId xmlns:a16="http://schemas.microsoft.com/office/drawing/2014/main" id="{DCC950C3-1761-E30A-1565-843CF443DB52}"/>
              </a:ext>
            </a:extLst>
          </p:cNvPr>
          <p:cNvSpPr txBox="1"/>
          <p:nvPr/>
        </p:nvSpPr>
        <p:spPr>
          <a:xfrm>
            <a:off x="412749" y="73516"/>
            <a:ext cx="8548372"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Arial"/>
              </a:rPr>
              <a:t>CREON saw a 4pts decrease in market share this wave driven by a decrease in share of CREON’s 36K dose, while ZENPEP’s market share increased by 3pts</a:t>
            </a:r>
          </a:p>
        </p:txBody>
      </p:sp>
      <p:sp>
        <p:nvSpPr>
          <p:cNvPr id="7" name="Google Shape;6149;p177">
            <a:extLst>
              <a:ext uri="{FF2B5EF4-FFF2-40B4-BE49-F238E27FC236}">
                <a16:creationId xmlns:a16="http://schemas.microsoft.com/office/drawing/2014/main" id="{D9E50CA0-BC8C-D3B1-B1B0-26BFD1318DE2}"/>
              </a:ext>
            </a:extLst>
          </p:cNvPr>
          <p:cNvSpPr txBox="1">
            <a:spLocks/>
          </p:cNvSpPr>
          <p:nvPr/>
        </p:nvSpPr>
        <p:spPr>
          <a:xfrm>
            <a:off x="2443848" y="964056"/>
            <a:ext cx="4256307"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EPI PATIENT SHARE* </a:t>
            </a:r>
            <a:br>
              <a:rPr kumimoji="0" lang="en-US" sz="1400" b="1"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br>
            <a: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t>(Nov’25 – Dec’25</a:t>
            </a:r>
            <a:r>
              <a:rPr kumimoji="0" lang="en-US" sz="1000" b="0" i="0" u="sng" strike="noStrike" kern="120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Arial"/>
              </a:rPr>
              <a:t>)</a:t>
            </a:r>
            <a:endParaRPr kumimoji="0" lang="en-GB" sz="600" b="0" i="0" u="sng"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aphicFrame>
        <p:nvGraphicFramePr>
          <p:cNvPr id="3" name="Table 2">
            <a:extLst>
              <a:ext uri="{FF2B5EF4-FFF2-40B4-BE49-F238E27FC236}">
                <a16:creationId xmlns:a16="http://schemas.microsoft.com/office/drawing/2014/main" id="{291D45F3-70BC-7BAC-94F3-9E130933606A}"/>
              </a:ext>
            </a:extLst>
          </p:cNvPr>
          <p:cNvGraphicFramePr>
            <a:graphicFrameLocks noGrp="1"/>
          </p:cNvGraphicFramePr>
          <p:nvPr/>
        </p:nvGraphicFramePr>
        <p:xfrm>
          <a:off x="7379208" y="2840579"/>
          <a:ext cx="1714948" cy="1440000"/>
        </p:xfrm>
        <a:graphic>
          <a:graphicData uri="http://schemas.openxmlformats.org/drawingml/2006/table">
            <a:tbl>
              <a:tblPr firstRow="1" bandRow="1">
                <a:tableStyleId>{96BACEE3-1A1D-4107-9369-2142449FF59F}</a:tableStyleId>
              </a:tblPr>
              <a:tblGrid>
                <a:gridCol w="998982">
                  <a:extLst>
                    <a:ext uri="{9D8B030D-6E8A-4147-A177-3AD203B41FA5}">
                      <a16:colId xmlns:a16="http://schemas.microsoft.com/office/drawing/2014/main" val="1008536860"/>
                    </a:ext>
                  </a:extLst>
                </a:gridCol>
                <a:gridCol w="715966">
                  <a:extLst>
                    <a:ext uri="{9D8B030D-6E8A-4147-A177-3AD203B41FA5}">
                      <a16:colId xmlns:a16="http://schemas.microsoft.com/office/drawing/2014/main" val="1699483628"/>
                    </a:ext>
                  </a:extLst>
                </a:gridCol>
              </a:tblGrid>
              <a:tr h="288000">
                <a:tc gridSpan="2">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0" i="0" u="none" strike="noStrike" kern="1200">
                          <a:solidFill>
                            <a:srgbClr val="000000"/>
                          </a:solidFill>
                          <a:effectLst/>
                          <a:latin typeface="Arial"/>
                          <a:ea typeface="Arial"/>
                          <a:cs typeface="Arial"/>
                        </a:rPr>
                        <a:t>Delta Since Sep’25 – Oct’25</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b"/>
                      <a:endParaRPr lang="en-IN" sz="1100" b="1"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5551690"/>
                  </a:ext>
                </a:extLst>
              </a:tr>
              <a:tr h="288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1" i="0" u="none" strike="noStrike" kern="1200">
                          <a:solidFill>
                            <a:schemeClr val="bg1"/>
                          </a:solidFill>
                          <a:effectLst/>
                          <a:latin typeface="+mn-lt"/>
                          <a:ea typeface="Arial"/>
                          <a:cs typeface="Arial"/>
                        </a:rPr>
                        <a:t>CREON</a:t>
                      </a:r>
                      <a:endParaRPr lang="en-IN" sz="1000" b="1" i="0" u="none" strike="noStrike" kern="1200">
                        <a:solidFill>
                          <a:schemeClr val="bg1"/>
                        </a:solidFill>
                        <a:effectLst/>
                        <a:latin typeface="Arial"/>
                        <a:ea typeface="Arial"/>
                        <a:cs typeface="Arial"/>
                      </a:endParaRP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36729C"/>
                    </a:solid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0" i="0" u="none" strike="noStrike" kern="1200">
                          <a:solidFill>
                            <a:srgbClr val="FF0000"/>
                          </a:solidFill>
                          <a:effectLst/>
                          <a:latin typeface="Arial"/>
                          <a:ea typeface="Arial"/>
                          <a:cs typeface="Arial"/>
                        </a:rPr>
                        <a:t>-4%</a:t>
                      </a:r>
                      <a:endParaRPr lang="en-IN" sz="1000" b="1" i="0" u="none" strike="noStrike" kern="1200">
                        <a:solidFill>
                          <a:srgbClr val="00B050"/>
                        </a:solidFill>
                        <a:effectLst/>
                        <a:latin typeface="Arial"/>
                        <a:ea typeface="Arial"/>
                        <a:cs typeface="Arial"/>
                      </a:endParaRP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73093469"/>
                  </a:ext>
                </a:extLst>
              </a:tr>
              <a:tr h="288000">
                <a:tc>
                  <a:txBody>
                    <a:bodyPr/>
                    <a:lstStyle/>
                    <a:p>
                      <a:pPr algn="ctr" fontAlgn="ctr"/>
                      <a:r>
                        <a:rPr lang="en-IN" sz="1000" b="0" i="0" u="none" strike="noStrike" kern="1200">
                          <a:solidFill>
                            <a:schemeClr val="bg1"/>
                          </a:solidFill>
                          <a:effectLst/>
                          <a:latin typeface="+mn-lt"/>
                          <a:cs typeface="Arial"/>
                        </a:rPr>
                        <a:t>ZENPEP</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9778D4"/>
                    </a:solidFill>
                  </a:tcPr>
                </a:tc>
                <a:tc>
                  <a:txBody>
                    <a:bodyPr/>
                    <a:lstStyle/>
                    <a:p>
                      <a:pPr algn="ctr" fontAlgn="b"/>
                      <a:r>
                        <a:rPr lang="en-IN" sz="1000" b="1" i="0" u="none" strike="noStrike" kern="1200">
                          <a:solidFill>
                            <a:srgbClr val="00B050"/>
                          </a:solidFill>
                          <a:effectLst/>
                          <a:latin typeface="Arial"/>
                          <a:ea typeface="Arial"/>
                          <a:cs typeface="Arial"/>
                        </a:rPr>
                        <a:t>+3%</a:t>
                      </a:r>
                      <a:endParaRPr lang="en-IN" sz="1000" b="0" i="0" u="none" strike="noStrike" kern="1200">
                        <a:solidFill>
                          <a:srgbClr val="FF0000"/>
                        </a:solidFill>
                        <a:effectLst/>
                        <a:latin typeface="Arial"/>
                        <a:ea typeface="Arial"/>
                        <a:cs typeface="Arial"/>
                      </a:endParaRP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09989770"/>
                  </a:ext>
                </a:extLst>
              </a:tr>
              <a:tr h="288000">
                <a:tc>
                  <a:txBody>
                    <a:bodyPr/>
                    <a:lstStyle/>
                    <a:p>
                      <a:pPr algn="ctr" fontAlgn="ctr"/>
                      <a:r>
                        <a:rPr lang="en-IN" sz="1000" b="0" i="0" u="none" strike="noStrike" kern="1200">
                          <a:solidFill>
                            <a:schemeClr val="bg1"/>
                          </a:solidFill>
                          <a:effectLst/>
                          <a:latin typeface="+mn-lt"/>
                          <a:cs typeface="Arial"/>
                        </a:rPr>
                        <a:t>PERTZYE</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00B3C8"/>
                    </a:solid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FF0000"/>
                          </a:solidFill>
                          <a:effectLst/>
                          <a:uLnTx/>
                          <a:uFillTx/>
                          <a:latin typeface="Arial"/>
                          <a:ea typeface="Arial"/>
                          <a:cs typeface="Arial"/>
                        </a:rPr>
                        <a:t>-1%</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89413922"/>
                  </a:ext>
                </a:extLst>
              </a:tr>
              <a:tr h="288000">
                <a:tc>
                  <a:txBody>
                    <a:bodyPr/>
                    <a:lstStyle/>
                    <a:p>
                      <a:pPr algn="ctr" fontAlgn="ctr"/>
                      <a:r>
                        <a:rPr lang="en-IN" sz="1000" b="0" i="0" u="none" strike="noStrike" kern="1200">
                          <a:solidFill>
                            <a:schemeClr val="bg1"/>
                          </a:solidFill>
                          <a:effectLst/>
                          <a:latin typeface="+mn-lt"/>
                          <a:cs typeface="Arial"/>
                        </a:rPr>
                        <a:t>PANCREAZE</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FF8C14"/>
                    </a:solidFill>
                  </a:tcPr>
                </a:tc>
                <a:tc>
                  <a:txBody>
                    <a:bodyPr/>
                    <a:lstStyle/>
                    <a:p>
                      <a:pPr algn="ctr" fontAlgn="b"/>
                      <a:r>
                        <a:rPr lang="en-IN" sz="1000" b="1" i="0" u="none" strike="noStrike" kern="1200">
                          <a:solidFill>
                            <a:srgbClr val="00B050"/>
                          </a:solidFill>
                          <a:effectLst/>
                          <a:latin typeface="Arial"/>
                          <a:ea typeface="Arial"/>
                          <a:cs typeface="Arial"/>
                        </a:rPr>
                        <a:t>+1%</a:t>
                      </a:r>
                      <a:endParaRPr lang="en-IN" sz="1000" b="0" i="0" u="none" strike="noStrike" kern="1200">
                        <a:solidFill>
                          <a:srgbClr val="FF0000"/>
                        </a:solidFill>
                        <a:effectLst/>
                        <a:latin typeface="Arial"/>
                        <a:ea typeface="Arial"/>
                        <a:cs typeface="Arial"/>
                      </a:endParaRP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10523148"/>
                  </a:ext>
                </a:extLst>
              </a:tr>
            </a:tbl>
          </a:graphicData>
        </a:graphic>
      </p:graphicFrame>
      <p:sp>
        <p:nvSpPr>
          <p:cNvPr id="8" name="Rectangle: Rounded Corners 7">
            <a:extLst>
              <a:ext uri="{FF2B5EF4-FFF2-40B4-BE49-F238E27FC236}">
                <a16:creationId xmlns:a16="http://schemas.microsoft.com/office/drawing/2014/main" id="{7CE1C925-0071-BBF3-78C8-CB6CAE8D07A6}"/>
              </a:ext>
            </a:extLst>
          </p:cNvPr>
          <p:cNvSpPr/>
          <p:nvPr/>
        </p:nvSpPr>
        <p:spPr>
          <a:xfrm>
            <a:off x="0" y="997834"/>
            <a:ext cx="1270000" cy="351883"/>
          </a:xfrm>
          <a:prstGeom prst="round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panose="020B0604020202020204"/>
                <a:ea typeface="+mn-ea"/>
                <a:cs typeface="+mn-cs"/>
                <a:sym typeface="Arial"/>
              </a:rPr>
              <a:t>CURRENT WAVE DATA</a:t>
            </a:r>
          </a:p>
        </p:txBody>
      </p:sp>
      <p:pic>
        <p:nvPicPr>
          <p:cNvPr id="15" name="Picture 14">
            <a:extLst>
              <a:ext uri="{FF2B5EF4-FFF2-40B4-BE49-F238E27FC236}">
                <a16:creationId xmlns:a16="http://schemas.microsoft.com/office/drawing/2014/main" id="{0BC76016-0981-30C9-9A41-E51A03B03805}"/>
              </a:ext>
            </a:extLst>
          </p:cNvPr>
          <p:cNvPicPr>
            <a:picLocks noChangeAspect="1"/>
          </p:cNvPicPr>
          <p:nvPr/>
        </p:nvPicPr>
        <p:blipFill>
          <a:blip r:embed="rId3"/>
          <a:stretch>
            <a:fillRect/>
          </a:stretch>
        </p:blipFill>
        <p:spPr>
          <a:xfrm>
            <a:off x="63500" y="1397901"/>
            <a:ext cx="7280055" cy="4217412"/>
          </a:xfrm>
          <a:prstGeom prst="rect">
            <a:avLst/>
          </a:prstGeom>
        </p:spPr>
      </p:pic>
    </p:spTree>
    <p:extLst>
      <p:ext uri="{BB962C8B-B14F-4D97-AF65-F5344CB8AC3E}">
        <p14:creationId xmlns:p14="http://schemas.microsoft.com/office/powerpoint/2010/main" val="34859629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FF779FC-D407-CE54-D6C3-12CA59C69BD0}"/>
            </a:ext>
          </a:extLst>
        </p:cNvPr>
        <p:cNvGrpSpPr/>
        <p:nvPr/>
      </p:nvGrpSpPr>
      <p:grpSpPr>
        <a:xfrm>
          <a:off x="0" y="0"/>
          <a:ext cx="0" cy="0"/>
          <a:chOff x="0" y="0"/>
          <a:chExt cx="0" cy="0"/>
        </a:xfrm>
      </p:grpSpPr>
      <p:sp>
        <p:nvSpPr>
          <p:cNvPr id="2" name="Google Shape;2462;p63">
            <a:extLst>
              <a:ext uri="{FF2B5EF4-FFF2-40B4-BE49-F238E27FC236}">
                <a16:creationId xmlns:a16="http://schemas.microsoft.com/office/drawing/2014/main" id="{AF47CCBA-8A45-92DA-353D-1AD72C077005}"/>
              </a:ext>
            </a:extLst>
          </p:cNvPr>
          <p:cNvSpPr txBox="1"/>
          <p:nvPr/>
        </p:nvSpPr>
        <p:spPr>
          <a:xfrm>
            <a:off x="928801" y="6081211"/>
            <a:ext cx="7965075"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Questions added in Mar ’25 | </a:t>
            </a:r>
            <a:r>
              <a:rPr kumimoji="0" lang="en-US" sz="900" b="1" i="0" u="none" strike="noStrike" kern="0" cap="none" spc="0" normalizeH="0" baseline="0" noProof="0">
                <a:ln>
                  <a:noFill/>
                </a:ln>
                <a:solidFill>
                  <a:srgbClr val="071D49"/>
                </a:solidFill>
                <a:effectLst/>
                <a:uLnTx/>
                <a:uFillTx/>
                <a:latin typeface="Arial"/>
                <a:ea typeface="Calibri"/>
                <a:cs typeface="Calibri"/>
                <a:sym typeface="Arial"/>
              </a:rPr>
              <a:t>*</a:t>
            </a:r>
            <a:r>
              <a:rPr kumimoji="0" lang="en-US" sz="900" b="1" i="0" u="none" strike="noStrike" kern="0" cap="none" spc="0" normalizeH="0" baseline="30000" noProof="0">
                <a:ln>
                  <a:noFill/>
                </a:ln>
                <a:solidFill>
                  <a:srgbClr val="071D49"/>
                </a:solidFill>
                <a:effectLst/>
                <a:uLnTx/>
                <a:uFillTx/>
                <a:latin typeface="Arial"/>
                <a:ea typeface="Calibri"/>
                <a:cs typeface="Calibri"/>
                <a:sym typeface="Arial"/>
              </a:rPr>
              <a:t>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Local outliers removed</a:t>
            </a:r>
          </a:p>
        </p:txBody>
      </p:sp>
      <p:sp>
        <p:nvSpPr>
          <p:cNvPr id="6" name="Google Shape;2440;p63">
            <a:extLst>
              <a:ext uri="{FF2B5EF4-FFF2-40B4-BE49-F238E27FC236}">
                <a16:creationId xmlns:a16="http://schemas.microsoft.com/office/drawing/2014/main" id="{C5A3B633-DDB7-9ECE-3054-0B3E0ABFD46A}"/>
              </a:ext>
            </a:extLst>
          </p:cNvPr>
          <p:cNvSpPr txBox="1"/>
          <p:nvPr/>
        </p:nvSpPr>
        <p:spPr>
          <a:xfrm>
            <a:off x="412749" y="73516"/>
            <a:ext cx="8548372"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pitchFamily="34" charset="0"/>
                <a:ea typeface="Calibri"/>
                <a:cs typeface="Arial" panose="020B0604020202020204" pitchFamily="34" charset="0"/>
                <a:sym typeface="Arial"/>
              </a:rPr>
              <a:t>In Sep’25 – Oct’25, CREON saw a 2pt increase in market share driven by the 36K dose, while ZENPEP’s market share declined by 1pt</a:t>
            </a:r>
          </a:p>
        </p:txBody>
      </p:sp>
      <p:sp>
        <p:nvSpPr>
          <p:cNvPr id="7" name="Google Shape;6149;p177">
            <a:extLst>
              <a:ext uri="{FF2B5EF4-FFF2-40B4-BE49-F238E27FC236}">
                <a16:creationId xmlns:a16="http://schemas.microsoft.com/office/drawing/2014/main" id="{CC622E0E-16B9-EF6E-7F12-636EE46E5C04}"/>
              </a:ext>
            </a:extLst>
          </p:cNvPr>
          <p:cNvSpPr txBox="1">
            <a:spLocks/>
          </p:cNvSpPr>
          <p:nvPr/>
        </p:nvSpPr>
        <p:spPr>
          <a:xfrm>
            <a:off x="2443848" y="964056"/>
            <a:ext cx="4256307"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a:ea typeface="Calibri"/>
                <a:cs typeface="Calibri"/>
                <a:sym typeface="Arial"/>
              </a:rPr>
              <a:t>EPI PATIENT SHARE* </a:t>
            </a:r>
            <a:br>
              <a:rPr kumimoji="0" lang="en-US" sz="1400" b="1" i="0" u="sng" strike="noStrike" kern="1200" cap="none" spc="0" normalizeH="0" baseline="0" noProof="0">
                <a:ln>
                  <a:noFill/>
                </a:ln>
                <a:solidFill>
                  <a:srgbClr val="071D49"/>
                </a:solidFill>
                <a:effectLst/>
                <a:uLnTx/>
                <a:uFillTx/>
                <a:latin typeface="Arial"/>
                <a:ea typeface="Calibri"/>
                <a:cs typeface="Calibri"/>
                <a:sym typeface="Arial"/>
              </a:rPr>
            </a:br>
            <a: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t>(Sep’25 – Oct’25)</a:t>
            </a:r>
            <a:endParaRPr kumimoji="0" lang="en-GB" sz="600" b="0" i="0" u="sng"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sp>
        <p:nvSpPr>
          <p:cNvPr id="8" name="Rectangle 7">
            <a:extLst>
              <a:ext uri="{FF2B5EF4-FFF2-40B4-BE49-F238E27FC236}">
                <a16:creationId xmlns:a16="http://schemas.microsoft.com/office/drawing/2014/main" id="{E583DBC2-C143-E40C-B871-F48ADC0A95D1}"/>
              </a:ext>
            </a:extLst>
          </p:cNvPr>
          <p:cNvSpPr/>
          <p:nvPr/>
        </p:nvSpPr>
        <p:spPr>
          <a:xfrm>
            <a:off x="2325156" y="5835236"/>
            <a:ext cx="4493686" cy="232462"/>
          </a:xfrm>
          <a:prstGeom prst="rect">
            <a:avLst/>
          </a:prstGeom>
          <a:noFill/>
          <a:ln w="12700">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FF0000"/>
                </a:solidFill>
                <a:effectLst/>
                <a:uLnTx/>
                <a:uFillTx/>
                <a:latin typeface="Arial" panose="020B0604020202020204"/>
                <a:ea typeface="+mn-ea"/>
                <a:cs typeface="+mn-cs"/>
                <a:sym typeface="Arial"/>
              </a:rPr>
              <a:t>Note: “%” values are rounded off to the nearest whole numbers</a:t>
            </a:r>
            <a:endParaRPr kumimoji="0" lang="en-GB" sz="1000" b="0" i="0" u="none" strike="noStrike" kern="0" cap="none" spc="0" normalizeH="0" baseline="0" noProof="0">
              <a:ln>
                <a:noFill/>
              </a:ln>
              <a:solidFill>
                <a:srgbClr val="FF0000"/>
              </a:solidFill>
              <a:effectLst/>
              <a:uLnTx/>
              <a:uFillTx/>
              <a:latin typeface="Arial" panose="020B0604020202020204"/>
              <a:ea typeface="+mn-ea"/>
              <a:cs typeface="+mn-cs"/>
              <a:sym typeface="Arial"/>
            </a:endParaRPr>
          </a:p>
        </p:txBody>
      </p:sp>
      <p:sp>
        <p:nvSpPr>
          <p:cNvPr id="3" name="Rectangle: Rounded Corners 2">
            <a:extLst>
              <a:ext uri="{FF2B5EF4-FFF2-40B4-BE49-F238E27FC236}">
                <a16:creationId xmlns:a16="http://schemas.microsoft.com/office/drawing/2014/main" id="{4AD6C81C-CE8C-2056-2BF8-B438486300EC}"/>
              </a:ext>
            </a:extLst>
          </p:cNvPr>
          <p:cNvSpPr/>
          <p:nvPr/>
        </p:nvSpPr>
        <p:spPr>
          <a:xfrm>
            <a:off x="0" y="997834"/>
            <a:ext cx="1270000" cy="351883"/>
          </a:xfrm>
          <a:prstGeom prst="roundRect">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IN" sz="1000" b="0" i="0" u="none" strike="noStrike" kern="0" cap="none" spc="0" normalizeH="0" baseline="0" noProof="0">
                <a:ln>
                  <a:noFill/>
                </a:ln>
                <a:solidFill>
                  <a:srgbClr val="000000"/>
                </a:solidFill>
                <a:effectLst/>
                <a:uLnTx/>
                <a:uFillTx/>
                <a:latin typeface="Arial" panose="020B0604020202020204"/>
                <a:ea typeface="+mn-ea"/>
                <a:cs typeface="+mn-cs"/>
                <a:sym typeface="Arial"/>
              </a:rPr>
              <a:t>PRIOR WAVE DATA</a:t>
            </a:r>
          </a:p>
        </p:txBody>
      </p:sp>
      <p:graphicFrame>
        <p:nvGraphicFramePr>
          <p:cNvPr id="4" name="Table 3">
            <a:extLst>
              <a:ext uri="{FF2B5EF4-FFF2-40B4-BE49-F238E27FC236}">
                <a16:creationId xmlns:a16="http://schemas.microsoft.com/office/drawing/2014/main" id="{5DE5136A-01B7-183B-A29A-29CB9D779EC2}"/>
              </a:ext>
            </a:extLst>
          </p:cNvPr>
          <p:cNvGraphicFramePr>
            <a:graphicFrameLocks noGrp="1"/>
          </p:cNvGraphicFramePr>
          <p:nvPr/>
        </p:nvGraphicFramePr>
        <p:xfrm>
          <a:off x="7379208" y="2840579"/>
          <a:ext cx="1714948" cy="1440000"/>
        </p:xfrm>
        <a:graphic>
          <a:graphicData uri="http://schemas.openxmlformats.org/drawingml/2006/table">
            <a:tbl>
              <a:tblPr firstRow="1" bandRow="1">
                <a:tableStyleId>{96BACEE3-1A1D-4107-9369-2142449FF59F}</a:tableStyleId>
              </a:tblPr>
              <a:tblGrid>
                <a:gridCol w="998982">
                  <a:extLst>
                    <a:ext uri="{9D8B030D-6E8A-4147-A177-3AD203B41FA5}">
                      <a16:colId xmlns:a16="http://schemas.microsoft.com/office/drawing/2014/main" val="1008536860"/>
                    </a:ext>
                  </a:extLst>
                </a:gridCol>
                <a:gridCol w="715966">
                  <a:extLst>
                    <a:ext uri="{9D8B030D-6E8A-4147-A177-3AD203B41FA5}">
                      <a16:colId xmlns:a16="http://schemas.microsoft.com/office/drawing/2014/main" val="1699483628"/>
                    </a:ext>
                  </a:extLst>
                </a:gridCol>
              </a:tblGrid>
              <a:tr h="288000">
                <a:tc gridSpan="2">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0" i="0" u="none" strike="noStrike" kern="1200">
                          <a:solidFill>
                            <a:srgbClr val="000000"/>
                          </a:solidFill>
                          <a:effectLst/>
                          <a:latin typeface="Arial"/>
                          <a:ea typeface="Arial"/>
                          <a:cs typeface="Arial"/>
                        </a:rPr>
                        <a:t>Delta Since Jul’25 – Aug’25</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b"/>
                      <a:endParaRPr lang="en-IN" sz="1100" b="1"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5551690"/>
                  </a:ext>
                </a:extLst>
              </a:tr>
              <a:tr h="288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1" i="0" u="none" strike="noStrike" kern="1200">
                          <a:solidFill>
                            <a:schemeClr val="bg1"/>
                          </a:solidFill>
                          <a:effectLst/>
                          <a:latin typeface="+mn-lt"/>
                          <a:ea typeface="Arial"/>
                          <a:cs typeface="Arial"/>
                        </a:rPr>
                        <a:t>CREON</a:t>
                      </a:r>
                      <a:endParaRPr lang="en-IN" sz="1000" b="1" i="0" u="none" strike="noStrike" kern="1200">
                        <a:solidFill>
                          <a:schemeClr val="bg1"/>
                        </a:solidFill>
                        <a:effectLst/>
                        <a:latin typeface="Arial"/>
                        <a:ea typeface="Arial"/>
                        <a:cs typeface="Arial"/>
                      </a:endParaRP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36729C"/>
                    </a:solid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1" i="0" u="none" strike="noStrike" kern="1200">
                          <a:solidFill>
                            <a:srgbClr val="00B050"/>
                          </a:solidFill>
                          <a:effectLst/>
                          <a:latin typeface="Arial"/>
                          <a:ea typeface="Arial"/>
                          <a:cs typeface="Arial"/>
                        </a:rPr>
                        <a:t>+2%</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73093469"/>
                  </a:ext>
                </a:extLst>
              </a:tr>
              <a:tr h="288000">
                <a:tc>
                  <a:txBody>
                    <a:bodyPr/>
                    <a:lstStyle/>
                    <a:p>
                      <a:pPr algn="ctr" fontAlgn="ctr"/>
                      <a:r>
                        <a:rPr lang="en-IN" sz="1000" b="0" i="0" u="none" strike="noStrike" kern="1200">
                          <a:solidFill>
                            <a:schemeClr val="bg1"/>
                          </a:solidFill>
                          <a:effectLst/>
                          <a:latin typeface="+mn-lt"/>
                          <a:cs typeface="Arial"/>
                        </a:rPr>
                        <a:t>ZENPEP</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9778D4"/>
                    </a:solidFill>
                  </a:tcPr>
                </a:tc>
                <a:tc>
                  <a:txBody>
                    <a:bodyPr/>
                    <a:lstStyle/>
                    <a:p>
                      <a:pPr algn="ctr" fontAlgn="b"/>
                      <a:r>
                        <a:rPr lang="en-IN" sz="1000" b="0" i="0" u="none" strike="noStrike" kern="1200">
                          <a:solidFill>
                            <a:srgbClr val="FF0000"/>
                          </a:solidFill>
                          <a:effectLst/>
                          <a:latin typeface="Arial"/>
                          <a:ea typeface="Arial"/>
                          <a:cs typeface="Arial"/>
                        </a:rPr>
                        <a:t>-1%</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09989770"/>
                  </a:ext>
                </a:extLst>
              </a:tr>
              <a:tr h="288000">
                <a:tc>
                  <a:txBody>
                    <a:bodyPr/>
                    <a:lstStyle/>
                    <a:p>
                      <a:pPr algn="ctr" fontAlgn="ctr"/>
                      <a:r>
                        <a:rPr lang="en-IN" sz="1000" b="0" i="0" u="none" strike="noStrike" kern="1200">
                          <a:solidFill>
                            <a:schemeClr val="bg1"/>
                          </a:solidFill>
                          <a:effectLst/>
                          <a:latin typeface="+mn-lt"/>
                          <a:cs typeface="Arial"/>
                        </a:rPr>
                        <a:t>PERTZYE</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00B3C8"/>
                    </a:solid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FF0000"/>
                          </a:solidFill>
                          <a:effectLst/>
                          <a:uLnTx/>
                          <a:uFillTx/>
                          <a:latin typeface="Arial"/>
                          <a:ea typeface="Arial"/>
                          <a:cs typeface="Arial"/>
                        </a:rPr>
                        <a:t>-1%</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89413922"/>
                  </a:ext>
                </a:extLst>
              </a:tr>
              <a:tr h="288000">
                <a:tc>
                  <a:txBody>
                    <a:bodyPr/>
                    <a:lstStyle/>
                    <a:p>
                      <a:pPr algn="ctr" fontAlgn="ctr"/>
                      <a:r>
                        <a:rPr lang="en-IN" sz="1000" b="0" i="0" u="none" strike="noStrike" kern="1200">
                          <a:solidFill>
                            <a:schemeClr val="bg1"/>
                          </a:solidFill>
                          <a:effectLst/>
                          <a:latin typeface="+mn-lt"/>
                          <a:cs typeface="Arial"/>
                        </a:rPr>
                        <a:t>PANCREAZE</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rgbClr val="FF8C14"/>
                    </a:solid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FF0000"/>
                          </a:solidFill>
                          <a:effectLst/>
                          <a:uLnTx/>
                          <a:uFillTx/>
                          <a:latin typeface="Arial"/>
                          <a:ea typeface="Arial"/>
                          <a:cs typeface="Arial"/>
                        </a:rPr>
                        <a:t>-1%</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10523148"/>
                  </a:ext>
                </a:extLst>
              </a:tr>
            </a:tbl>
          </a:graphicData>
        </a:graphic>
      </p:graphicFrame>
      <p:pic>
        <p:nvPicPr>
          <p:cNvPr id="5" name="Picture 4">
            <a:extLst>
              <a:ext uri="{FF2B5EF4-FFF2-40B4-BE49-F238E27FC236}">
                <a16:creationId xmlns:a16="http://schemas.microsoft.com/office/drawing/2014/main" id="{63CF54A9-C1AC-EB0B-C2B0-77CA44AF0D23}"/>
              </a:ext>
            </a:extLst>
          </p:cNvPr>
          <p:cNvPicPr>
            <a:picLocks noChangeAspect="1"/>
          </p:cNvPicPr>
          <p:nvPr/>
        </p:nvPicPr>
        <p:blipFill>
          <a:blip r:embed="rId3"/>
          <a:stretch>
            <a:fillRect/>
          </a:stretch>
        </p:blipFill>
        <p:spPr>
          <a:xfrm>
            <a:off x="99153" y="1397901"/>
            <a:ext cx="7205030" cy="4165617"/>
          </a:xfrm>
          <a:prstGeom prst="rect">
            <a:avLst/>
          </a:prstGeom>
        </p:spPr>
      </p:pic>
    </p:spTree>
    <p:extLst>
      <p:ext uri="{BB962C8B-B14F-4D97-AF65-F5344CB8AC3E}">
        <p14:creationId xmlns:p14="http://schemas.microsoft.com/office/powerpoint/2010/main" val="2170502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B4FD489-390D-11C0-389C-DF55BB275518}"/>
            </a:ext>
          </a:extLst>
        </p:cNvPr>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8D1D3F86-EDF6-B4BE-7C7E-7E0750B63F6E}"/>
              </a:ext>
            </a:extLst>
          </p:cNvPr>
          <p:cNvGraphicFramePr>
            <a:graphicFrameLocks noGrp="1"/>
          </p:cNvGraphicFramePr>
          <p:nvPr>
            <p:custDataLst>
              <p:tags r:id="rId1"/>
            </p:custDataLst>
          </p:nvPr>
        </p:nvGraphicFramePr>
        <p:xfrm>
          <a:off x="213751" y="1475100"/>
          <a:ext cx="8881770" cy="4428550"/>
        </p:xfrm>
        <a:graphic>
          <a:graphicData uri="http://schemas.openxmlformats.org/drawingml/2006/table">
            <a:tbl>
              <a:tblPr firstRow="1" bandRow="1">
                <a:tableStyleId>{96BACEE3-1A1D-4107-9369-2142449FF59F}</a:tableStyleId>
              </a:tblPr>
              <a:tblGrid>
                <a:gridCol w="731520">
                  <a:extLst>
                    <a:ext uri="{9D8B030D-6E8A-4147-A177-3AD203B41FA5}">
                      <a16:colId xmlns:a16="http://schemas.microsoft.com/office/drawing/2014/main" val="1602852077"/>
                    </a:ext>
                  </a:extLst>
                </a:gridCol>
                <a:gridCol w="543350">
                  <a:extLst>
                    <a:ext uri="{9D8B030D-6E8A-4147-A177-3AD203B41FA5}">
                      <a16:colId xmlns:a16="http://schemas.microsoft.com/office/drawing/2014/main" val="1913053665"/>
                    </a:ext>
                  </a:extLst>
                </a:gridCol>
                <a:gridCol w="543350">
                  <a:extLst>
                    <a:ext uri="{9D8B030D-6E8A-4147-A177-3AD203B41FA5}">
                      <a16:colId xmlns:a16="http://schemas.microsoft.com/office/drawing/2014/main" val="3438785469"/>
                    </a:ext>
                  </a:extLst>
                </a:gridCol>
                <a:gridCol w="543350">
                  <a:extLst>
                    <a:ext uri="{9D8B030D-6E8A-4147-A177-3AD203B41FA5}">
                      <a16:colId xmlns:a16="http://schemas.microsoft.com/office/drawing/2014/main" val="2695102537"/>
                    </a:ext>
                  </a:extLst>
                </a:gridCol>
                <a:gridCol w="543350">
                  <a:extLst>
                    <a:ext uri="{9D8B030D-6E8A-4147-A177-3AD203B41FA5}">
                      <a16:colId xmlns:a16="http://schemas.microsoft.com/office/drawing/2014/main" val="236320963"/>
                    </a:ext>
                  </a:extLst>
                </a:gridCol>
                <a:gridCol w="543350">
                  <a:extLst>
                    <a:ext uri="{9D8B030D-6E8A-4147-A177-3AD203B41FA5}">
                      <a16:colId xmlns:a16="http://schemas.microsoft.com/office/drawing/2014/main" val="871745127"/>
                    </a:ext>
                  </a:extLst>
                </a:gridCol>
                <a:gridCol w="543350">
                  <a:extLst>
                    <a:ext uri="{9D8B030D-6E8A-4147-A177-3AD203B41FA5}">
                      <a16:colId xmlns:a16="http://schemas.microsoft.com/office/drawing/2014/main" val="3302845023"/>
                    </a:ext>
                  </a:extLst>
                </a:gridCol>
                <a:gridCol w="543350">
                  <a:extLst>
                    <a:ext uri="{9D8B030D-6E8A-4147-A177-3AD203B41FA5}">
                      <a16:colId xmlns:a16="http://schemas.microsoft.com/office/drawing/2014/main" val="1150922338"/>
                    </a:ext>
                  </a:extLst>
                </a:gridCol>
                <a:gridCol w="543350">
                  <a:extLst>
                    <a:ext uri="{9D8B030D-6E8A-4147-A177-3AD203B41FA5}">
                      <a16:colId xmlns:a16="http://schemas.microsoft.com/office/drawing/2014/main" val="3570850897"/>
                    </a:ext>
                  </a:extLst>
                </a:gridCol>
                <a:gridCol w="543350">
                  <a:extLst>
                    <a:ext uri="{9D8B030D-6E8A-4147-A177-3AD203B41FA5}">
                      <a16:colId xmlns:a16="http://schemas.microsoft.com/office/drawing/2014/main" val="1341307367"/>
                    </a:ext>
                  </a:extLst>
                </a:gridCol>
                <a:gridCol w="543350">
                  <a:extLst>
                    <a:ext uri="{9D8B030D-6E8A-4147-A177-3AD203B41FA5}">
                      <a16:colId xmlns:a16="http://schemas.microsoft.com/office/drawing/2014/main" val="2716188379"/>
                    </a:ext>
                  </a:extLst>
                </a:gridCol>
                <a:gridCol w="543350">
                  <a:extLst>
                    <a:ext uri="{9D8B030D-6E8A-4147-A177-3AD203B41FA5}">
                      <a16:colId xmlns:a16="http://schemas.microsoft.com/office/drawing/2014/main" val="3602658414"/>
                    </a:ext>
                  </a:extLst>
                </a:gridCol>
                <a:gridCol w="543350">
                  <a:extLst>
                    <a:ext uri="{9D8B030D-6E8A-4147-A177-3AD203B41FA5}">
                      <a16:colId xmlns:a16="http://schemas.microsoft.com/office/drawing/2014/main" val="3760146412"/>
                    </a:ext>
                  </a:extLst>
                </a:gridCol>
                <a:gridCol w="543350">
                  <a:extLst>
                    <a:ext uri="{9D8B030D-6E8A-4147-A177-3AD203B41FA5}">
                      <a16:colId xmlns:a16="http://schemas.microsoft.com/office/drawing/2014/main" val="187183170"/>
                    </a:ext>
                  </a:extLst>
                </a:gridCol>
                <a:gridCol w="543350">
                  <a:extLst>
                    <a:ext uri="{9D8B030D-6E8A-4147-A177-3AD203B41FA5}">
                      <a16:colId xmlns:a16="http://schemas.microsoft.com/office/drawing/2014/main" val="826560842"/>
                    </a:ext>
                  </a:extLst>
                </a:gridCol>
                <a:gridCol w="543350">
                  <a:extLst>
                    <a:ext uri="{9D8B030D-6E8A-4147-A177-3AD203B41FA5}">
                      <a16:colId xmlns:a16="http://schemas.microsoft.com/office/drawing/2014/main" val="2327243952"/>
                    </a:ext>
                  </a:extLst>
                </a:gridCol>
              </a:tblGrid>
              <a:tr h="318790">
                <a:tc gridSpan="13">
                  <a:txBody>
                    <a:bodyPr/>
                    <a:lstStyle/>
                    <a:p>
                      <a:pPr algn="ctr" fontAlgn="b"/>
                      <a:r>
                        <a:rPr lang="en-IN" sz="1400" b="1" i="0" u="none" strike="noStrike">
                          <a:solidFill>
                            <a:schemeClr val="bg1"/>
                          </a:solidFill>
                          <a:effectLst/>
                          <a:latin typeface="+mj-lt"/>
                        </a:rPr>
                        <a:t>Patient Movement </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hMerge="1">
                  <a:txBody>
                    <a:bodyPr/>
                    <a:lstStyle/>
                    <a:p>
                      <a:pPr algn="ctr" fontAlgn="b"/>
                      <a:endParaRPr lang="en-IN" sz="1100" b="0" i="0" u="none" strike="noStrike">
                        <a:solidFill>
                          <a:srgbClr val="000000"/>
                        </a:solidFill>
                        <a:effectLst/>
                        <a:latin typeface="Aptos Narrow" panose="020B0004020202020204" pitchFamily="34" charset="0"/>
                      </a:endParaRPr>
                    </a:p>
                  </a:txBody>
                  <a:tcPr marL="45720" marR="45720" anchor="ctr">
                    <a:lnL w="6350" cap="flat" cmpd="sng" algn="ctr">
                      <a:solidFill>
                        <a:schemeClr val="tx1"/>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pPr algn="ctr" fontAlgn="b"/>
                      <a:endParaRPr lang="en-IN" sz="1100" b="0" i="0" u="none" strike="noStrike">
                        <a:solidFill>
                          <a:srgbClr val="000000"/>
                        </a:solidFill>
                        <a:effectLst/>
                        <a:latin typeface="Aptos Narrow" panose="020B0004020202020204" pitchFamily="34" charset="0"/>
                      </a:endParaRPr>
                    </a:p>
                  </a:txBody>
                  <a:tcPr marL="45720" marR="45720" anchor="ct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pPr algn="ctr" fontAlgn="b"/>
                      <a:endParaRPr lang="en-IN" sz="1400" b="1" i="0" u="none" strike="noStrike">
                        <a:solidFill>
                          <a:schemeClr val="bg1"/>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hMerge="1">
                  <a:txBody>
                    <a:bodyPr/>
                    <a:lstStyle/>
                    <a:p>
                      <a:pPr algn="ctr" fontAlgn="b"/>
                      <a:endParaRPr lang="en-IN" sz="1400" b="1" i="0" u="none" strike="noStrike">
                        <a:solidFill>
                          <a:schemeClr val="bg1"/>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a:txBody>
                    <a:bodyPr/>
                    <a:lstStyle/>
                    <a:p>
                      <a:pPr algn="ctr" fontAlgn="b"/>
                      <a:endParaRPr lang="en-IN" sz="1400" b="1" i="0" u="none" strike="noStrike">
                        <a:solidFill>
                          <a:schemeClr val="bg1"/>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a:txBody>
                    <a:bodyPr/>
                    <a:lstStyle/>
                    <a:p>
                      <a:pPr algn="ctr" fontAlgn="b"/>
                      <a:endParaRPr lang="en-IN" sz="1400" b="1" i="0" u="none" strike="noStrike">
                        <a:solidFill>
                          <a:schemeClr val="bg1"/>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a:txBody>
                    <a:bodyPr/>
                    <a:lstStyle/>
                    <a:p>
                      <a:pPr algn="ctr" fontAlgn="b"/>
                      <a:endParaRPr lang="en-IN" sz="1400" b="1" i="0" u="none" strike="noStrike">
                        <a:solidFill>
                          <a:schemeClr val="bg1"/>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3053161763"/>
                  </a:ext>
                </a:extLst>
              </a:tr>
              <a:tr h="324000">
                <a:tc>
                  <a:txBody>
                    <a:bodyPr/>
                    <a:lstStyle/>
                    <a:p>
                      <a:pPr algn="ctr" fontAlgn="b"/>
                      <a:r>
                        <a:rPr lang="en-IN" sz="1100" b="1" i="0" u="none" strike="noStrike" kern="1200">
                          <a:solidFill>
                            <a:srgbClr val="000000"/>
                          </a:solidFill>
                          <a:effectLst/>
                          <a:latin typeface="+mj-lt"/>
                          <a:cs typeface="Arial"/>
                        </a:rPr>
                        <a:t>Category</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gridSpan="5">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100" b="1" i="0" u="none" strike="noStrike">
                          <a:solidFill>
                            <a:srgbClr val="000000"/>
                          </a:solidFill>
                          <a:effectLst/>
                          <a:latin typeface="+mj-lt"/>
                        </a:rPr>
                        <a:t>New Initiation</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ap="flat" cmpd="sng" algn="ctr">
                      <a:solidFill>
                        <a:schemeClr val="tx1"/>
                      </a:solidFill>
                      <a:prstDash val="solid"/>
                      <a:round/>
                      <a:headEnd type="none" w="med" len="med"/>
                      <a:tailEnd type="none" w="med" len="med"/>
                    </a:lnB>
                    <a:solidFill>
                      <a:srgbClr val="D0FFB4"/>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100" b="1" i="0" u="none" strike="noStrike">
                        <a:solidFill>
                          <a:srgbClr val="000000"/>
                        </a:solidFill>
                        <a:effectLst/>
                        <a:latin typeface="+mj-lt"/>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ap="flat" cmpd="sng" algn="ctr">
                      <a:solidFill>
                        <a:schemeClr val="tx1"/>
                      </a:solidFill>
                      <a:prstDash val="solid"/>
                      <a:round/>
                      <a:headEnd type="none" w="med" len="med"/>
                      <a:tailEnd type="none" w="med" len="med"/>
                    </a:lnB>
                    <a:solidFill>
                      <a:srgbClr val="D0FFB4"/>
                    </a:solidFill>
                  </a:tcPr>
                </a:tc>
                <a:tc gridSpan="5">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100" b="1" i="0" u="none" strike="noStrike" kern="1200">
                          <a:solidFill>
                            <a:srgbClr val="000000"/>
                          </a:solidFill>
                          <a:effectLst/>
                          <a:latin typeface="Arial"/>
                          <a:ea typeface="Arial"/>
                          <a:cs typeface="Arial"/>
                        </a:rPr>
                        <a:t>Maintenance  </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AE0FF"/>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100" b="1" i="0" u="none" strike="noStrike" kern="1200">
                        <a:solidFill>
                          <a:srgbClr val="000000"/>
                        </a:solidFill>
                        <a:effectLst/>
                        <a:latin typeface="Arial"/>
                        <a:ea typeface="Arial"/>
                        <a:cs typeface="Arial"/>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AE0FF"/>
                    </a:solidFill>
                  </a:tcPr>
                </a:tc>
                <a:tc gridSpan="5">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100" b="1" i="0" u="none" strike="noStrike" kern="1200">
                          <a:solidFill>
                            <a:srgbClr val="000000"/>
                          </a:solidFill>
                          <a:effectLst/>
                          <a:latin typeface="Arial"/>
                          <a:ea typeface="Arial"/>
                          <a:cs typeface="Arial"/>
                        </a:rPr>
                        <a:t>Switch</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8D8CF"/>
                    </a:solid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AE0FF"/>
                    </a:solidFill>
                  </a:tcPr>
                </a:tc>
                <a:tc hMerge="1">
                  <a:txBody>
                    <a:bodyPr/>
                    <a:lstStyle/>
                    <a:p>
                      <a:endParaRPr lang="en-IN"/>
                    </a:p>
                  </a:txBody>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AE0FF"/>
                    </a:solidFill>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100" b="1" i="0" u="none" strike="noStrike" kern="1200">
                        <a:solidFill>
                          <a:srgbClr val="000000"/>
                        </a:solidFill>
                        <a:effectLst/>
                        <a:latin typeface="Arial"/>
                        <a:ea typeface="Arial"/>
                        <a:cs typeface="Arial"/>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8D8CF"/>
                    </a:solidFill>
                  </a:tcPr>
                </a:tc>
                <a:extLst>
                  <a:ext uri="{0D108BD9-81ED-4DB2-BD59-A6C34878D82A}">
                    <a16:rowId xmlns:a16="http://schemas.microsoft.com/office/drawing/2014/main" val="1800332211"/>
                  </a:ext>
                </a:extLst>
              </a:tr>
              <a:tr h="336246">
                <a:tc>
                  <a:txBody>
                    <a:bodyPr/>
                    <a:lstStyle/>
                    <a:p>
                      <a:pPr marL="0" marR="0" lvl="0" indent="0" algn="r" defTabSz="342898" rtl="0" eaLnBrk="1" fontAlgn="b" latinLnBrk="0" hangingPunct="1">
                        <a:lnSpc>
                          <a:spcPct val="100000"/>
                        </a:lnSpc>
                        <a:spcBef>
                          <a:spcPts val="0"/>
                        </a:spcBef>
                        <a:spcAft>
                          <a:spcPts val="0"/>
                        </a:spcAft>
                        <a:buClrTx/>
                        <a:buSzTx/>
                        <a:buFontTx/>
                        <a:buNone/>
                        <a:tabLst/>
                        <a:defRPr/>
                      </a:pPr>
                      <a:r>
                        <a:rPr lang="en-IN" sz="1100" b="1" i="1" u="none" strike="noStrike" kern="1200">
                          <a:solidFill>
                            <a:srgbClr val="000000"/>
                          </a:solidFill>
                          <a:effectLst/>
                          <a:latin typeface="+mj-lt"/>
                          <a:ea typeface="Arial"/>
                          <a:cs typeface="Arial"/>
                        </a:rPr>
                        <a:t>Wave</a:t>
                      </a:r>
                    </a:p>
                  </a:txBody>
                  <a:tcPr marL="108000" marR="10800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FFF"/>
                    </a:solidFill>
                  </a:tcPr>
                </a:tc>
                <a:tc>
                  <a:txBody>
                    <a:bodyPr/>
                    <a:lstStyle/>
                    <a:p>
                      <a:pPr algn="ctr" fontAlgn="b"/>
                      <a:r>
                        <a:rPr lang="en-IN" sz="900" b="0" i="0" u="none" strike="noStrike" kern="1200">
                          <a:solidFill>
                            <a:srgbClr val="000000"/>
                          </a:solidFill>
                          <a:effectLst/>
                          <a:latin typeface="Arial"/>
                          <a:ea typeface="Arial"/>
                          <a:cs typeface="Arial"/>
                        </a:rPr>
                        <a:t>Mar’25 - Apr’25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May’25 – Jun’25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Jul’25 – Aug’25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Sep’25 – Oct’25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Nov’25 – Dec’25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fontAlgn="b"/>
                      <a:r>
                        <a:rPr lang="en-IN" sz="900" b="0" i="0" u="none" strike="noStrike" kern="1200">
                          <a:solidFill>
                            <a:srgbClr val="000000"/>
                          </a:solidFill>
                          <a:effectLst/>
                          <a:latin typeface="Arial"/>
                          <a:ea typeface="Arial"/>
                          <a:cs typeface="Arial"/>
                        </a:rPr>
                        <a:t>Mar’25 - Apr’25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May’25 – Jun’25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Jul’25 – Aug’25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Sep’25 – Oct’25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Nov’25 – Dec’25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fontAlgn="b"/>
                      <a:r>
                        <a:rPr lang="en-IN" sz="900" b="0" i="0" u="none" strike="noStrike" kern="1200">
                          <a:solidFill>
                            <a:srgbClr val="000000"/>
                          </a:solidFill>
                          <a:effectLst/>
                          <a:latin typeface="Arial"/>
                          <a:ea typeface="Arial"/>
                          <a:cs typeface="Arial"/>
                        </a:rPr>
                        <a:t>Mar’25 - Apr’25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May’25 – Jun’25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Jul’25 – Aug’25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Sep’25 – Oct’25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rgbClr val="000000"/>
                          </a:solidFill>
                          <a:effectLst/>
                          <a:latin typeface="Arial"/>
                          <a:ea typeface="Arial"/>
                          <a:cs typeface="Arial"/>
                        </a:rPr>
                        <a:t>Nov’25 – Dec’25</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14625117"/>
                  </a:ext>
                </a:extLst>
              </a:tr>
              <a:tr h="684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100" b="1" i="0" u="none" strike="noStrike" kern="1200">
                          <a:solidFill>
                            <a:schemeClr val="bg1"/>
                          </a:solidFill>
                          <a:effectLst/>
                          <a:latin typeface="+mj-lt"/>
                          <a:ea typeface="Arial"/>
                          <a:cs typeface="Arial"/>
                        </a:rPr>
                        <a:t>Overall</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1"/>
                    </a:solid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7306668"/>
                  </a:ext>
                </a:extLst>
              </a:tr>
              <a:tr h="684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1" i="0" u="none" strike="noStrike" kern="1200">
                          <a:solidFill>
                            <a:schemeClr val="bg1"/>
                          </a:solidFill>
                          <a:effectLst/>
                          <a:latin typeface="+mj-lt"/>
                          <a:ea typeface="Arial"/>
                          <a:cs typeface="Arial"/>
                        </a:rPr>
                        <a:t>CREON</a:t>
                      </a: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36729C"/>
                    </a:solid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5169498"/>
                  </a:ext>
                </a:extLst>
              </a:tr>
              <a:tr h="684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US" sz="1000" b="1">
                          <a:solidFill>
                            <a:schemeClr val="bg1"/>
                          </a:solidFill>
                          <a:latin typeface="+mj-lt"/>
                          <a:ea typeface="Calibri"/>
                          <a:cs typeface="Calibri"/>
                          <a:sym typeface="Calibri"/>
                        </a:rPr>
                        <a:t>ZENPEP</a:t>
                      </a:r>
                      <a:endParaRPr lang="en-US" sz="1400" b="1" kern="1200">
                        <a:solidFill>
                          <a:schemeClr val="bg1"/>
                        </a:solidFill>
                        <a:latin typeface="+mj-lt"/>
                        <a:ea typeface="Arial"/>
                        <a:cs typeface="Arial"/>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9778D4"/>
                    </a:solid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95266520"/>
                  </a:ext>
                </a:extLst>
              </a:tr>
              <a:tr h="684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US" sz="1000" b="1">
                          <a:solidFill>
                            <a:schemeClr val="bg1"/>
                          </a:solidFill>
                          <a:latin typeface="+mj-lt"/>
                          <a:ea typeface="Calibri"/>
                          <a:cs typeface="Calibri"/>
                          <a:sym typeface="Calibri"/>
                        </a:rPr>
                        <a:t>PANCREAZE</a:t>
                      </a:r>
                      <a:endParaRPr lang="en-US" sz="1400" b="1" kern="1200">
                        <a:solidFill>
                          <a:schemeClr val="bg1"/>
                        </a:solidFill>
                        <a:latin typeface="+mj-lt"/>
                        <a:ea typeface="Arial"/>
                        <a:cs typeface="Arial"/>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8813"/>
                    </a:solid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14145124"/>
                  </a:ext>
                </a:extLst>
              </a:tr>
              <a:tr h="684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US" sz="1000" b="1">
                          <a:solidFill>
                            <a:schemeClr val="bg1"/>
                          </a:solidFill>
                          <a:latin typeface="+mj-lt"/>
                          <a:ea typeface="Calibri"/>
                          <a:cs typeface="Calibri"/>
                          <a:sym typeface="Calibri"/>
                        </a:rPr>
                        <a:t>PERTZYE</a:t>
                      </a:r>
                      <a:endParaRPr lang="en-US" sz="1400" b="1" kern="1200">
                        <a:solidFill>
                          <a:schemeClr val="bg1"/>
                        </a:solidFill>
                        <a:latin typeface="+mj-lt"/>
                        <a:ea typeface="Arial"/>
                        <a:cs typeface="Arial"/>
                      </a:endParaRPr>
                    </a:p>
                  </a:txBody>
                  <a:tcPr marL="45720" marR="4572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B3C8"/>
                    </a:solid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5">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en-IN"/>
                    </a:p>
                  </a:txBody>
                  <a:tcPr/>
                </a:tc>
                <a:tc hMerge="1">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pPr algn="ctr" fontAlgn="b"/>
                      <a:endParaRPr lang="en-IN" sz="1100" b="1" i="0" u="none" strike="noStrike" kern="1200">
                        <a:solidFill>
                          <a:srgbClr val="000000"/>
                        </a:solidFill>
                        <a:effectLst/>
                        <a:latin typeface="+mn-lt"/>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46914999"/>
                  </a:ext>
                </a:extLst>
              </a:tr>
            </a:tbl>
          </a:graphicData>
        </a:graphic>
      </p:graphicFrame>
      <p:sp>
        <p:nvSpPr>
          <p:cNvPr id="23" name="Google Shape;6149;p177">
            <a:extLst>
              <a:ext uri="{FF2B5EF4-FFF2-40B4-BE49-F238E27FC236}">
                <a16:creationId xmlns:a16="http://schemas.microsoft.com/office/drawing/2014/main" id="{A9AE39BA-34FB-F41C-7A4C-94EE4FE4AC79}"/>
              </a:ext>
            </a:extLst>
          </p:cNvPr>
          <p:cNvSpPr txBox="1">
            <a:spLocks/>
          </p:cNvSpPr>
          <p:nvPr/>
        </p:nvSpPr>
        <p:spPr>
          <a:xfrm>
            <a:off x="1814513" y="964056"/>
            <a:ext cx="5514975"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a:ea typeface="Calibri"/>
                <a:cs typeface="Calibri"/>
                <a:sym typeface="Arial"/>
              </a:rPr>
              <a:t>EPI KEY MARKET SHARE METRICS*</a:t>
            </a:r>
          </a:p>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t>(Mar’25 – Apr’25 | May’25 – Jun’25 | Jul’25 – Aug’25 | Sep’25 – Oct’25 | Nov’25 – Dec’25)</a:t>
            </a:r>
            <a:endParaRPr kumimoji="0" lang="en-GB" sz="600" b="0" i="0" u="sng"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sp>
        <p:nvSpPr>
          <p:cNvPr id="5" name="Google Shape;2462;p63">
            <a:extLst>
              <a:ext uri="{FF2B5EF4-FFF2-40B4-BE49-F238E27FC236}">
                <a16:creationId xmlns:a16="http://schemas.microsoft.com/office/drawing/2014/main" id="{B3432113-095B-54EA-695D-31B33072EDCF}"/>
              </a:ext>
            </a:extLst>
          </p:cNvPr>
          <p:cNvSpPr txBox="1"/>
          <p:nvPr/>
        </p:nvSpPr>
        <p:spPr>
          <a:xfrm>
            <a:off x="928801" y="5992723"/>
            <a:ext cx="7965075"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Questions added in Mar ’25 | | </a:t>
            </a:r>
            <a:r>
              <a:rPr kumimoji="0" lang="en-US" sz="900" b="1" i="0" u="none" strike="noStrike" kern="0" cap="none" spc="0" normalizeH="0" baseline="0" noProof="0">
                <a:ln>
                  <a:noFill/>
                </a:ln>
                <a:solidFill>
                  <a:srgbClr val="071D49"/>
                </a:solidFill>
                <a:effectLst/>
                <a:uLnTx/>
                <a:uFillTx/>
                <a:latin typeface="Arial"/>
                <a:ea typeface="Calibri"/>
                <a:cs typeface="Calibri"/>
                <a:sym typeface="Arial"/>
              </a:rPr>
              <a:t>*</a:t>
            </a:r>
            <a:r>
              <a:rPr kumimoji="0" lang="en-US" sz="900" b="1" i="0" u="none" strike="noStrike" kern="0" cap="none" spc="0" normalizeH="0" baseline="30000" noProof="0">
                <a:ln>
                  <a:noFill/>
                </a:ln>
                <a:solidFill>
                  <a:srgbClr val="071D49"/>
                </a:solidFill>
                <a:effectLst/>
                <a:uLnTx/>
                <a:uFillTx/>
                <a:latin typeface="Arial"/>
                <a:ea typeface="Calibri"/>
                <a:cs typeface="Calibri"/>
                <a:sym typeface="Arial"/>
              </a:rPr>
              <a:t>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Local outliers removed | No statistically significant (p&lt;.05) difference between previous waves</a:t>
            </a:r>
          </a:p>
        </p:txBody>
      </p:sp>
      <p:sp>
        <p:nvSpPr>
          <p:cNvPr id="7" name="Google Shape;2440;p63">
            <a:extLst>
              <a:ext uri="{FF2B5EF4-FFF2-40B4-BE49-F238E27FC236}">
                <a16:creationId xmlns:a16="http://schemas.microsoft.com/office/drawing/2014/main" id="{BC340FEA-4F8E-22AA-78BA-CDAA452D7909}"/>
              </a:ext>
            </a:extLst>
          </p:cNvPr>
          <p:cNvSpPr txBox="1"/>
          <p:nvPr/>
        </p:nvSpPr>
        <p:spPr>
          <a:xfrm>
            <a:off x="412749" y="73516"/>
            <a:ext cx="8548372"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CREON continued to lead in new initiations and maintenance this wave with consistent patient shares and a decline in switches away from CREON declining by 3% from last wave</a:t>
            </a:r>
          </a:p>
        </p:txBody>
      </p:sp>
      <p:graphicFrame>
        <p:nvGraphicFramePr>
          <p:cNvPr id="4" name="Chart 3">
            <a:extLst>
              <a:ext uri="{FF2B5EF4-FFF2-40B4-BE49-F238E27FC236}">
                <a16:creationId xmlns:a16="http://schemas.microsoft.com/office/drawing/2014/main" id="{4CB2748F-E241-F55E-9932-12E956E217E0}"/>
              </a:ext>
            </a:extLst>
          </p:cNvPr>
          <p:cNvGraphicFramePr/>
          <p:nvPr>
            <p:custDataLst>
              <p:tags r:id="rId2"/>
            </p:custDataLst>
          </p:nvPr>
        </p:nvGraphicFramePr>
        <p:xfrm>
          <a:off x="852496" y="2502707"/>
          <a:ext cx="2952000" cy="68400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11" name="Chart 10">
            <a:extLst>
              <a:ext uri="{FF2B5EF4-FFF2-40B4-BE49-F238E27FC236}">
                <a16:creationId xmlns:a16="http://schemas.microsoft.com/office/drawing/2014/main" id="{1407BD97-675D-D09B-B8C2-0199E25F5B26}"/>
              </a:ext>
            </a:extLst>
          </p:cNvPr>
          <p:cNvGraphicFramePr/>
          <p:nvPr>
            <p:custDataLst>
              <p:tags r:id="rId3"/>
            </p:custDataLst>
          </p:nvPr>
        </p:nvGraphicFramePr>
        <p:xfrm>
          <a:off x="852496" y="3186175"/>
          <a:ext cx="2952000" cy="68400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12" name="Chart 11">
            <a:extLst>
              <a:ext uri="{FF2B5EF4-FFF2-40B4-BE49-F238E27FC236}">
                <a16:creationId xmlns:a16="http://schemas.microsoft.com/office/drawing/2014/main" id="{61BC46B5-5874-765F-44FE-224BA142802D}"/>
              </a:ext>
            </a:extLst>
          </p:cNvPr>
          <p:cNvGraphicFramePr/>
          <p:nvPr>
            <p:custDataLst>
              <p:tags r:id="rId4"/>
            </p:custDataLst>
          </p:nvPr>
        </p:nvGraphicFramePr>
        <p:xfrm>
          <a:off x="852496" y="3869643"/>
          <a:ext cx="2952000" cy="68400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13" name="Chart 12">
            <a:extLst>
              <a:ext uri="{FF2B5EF4-FFF2-40B4-BE49-F238E27FC236}">
                <a16:creationId xmlns:a16="http://schemas.microsoft.com/office/drawing/2014/main" id="{9706A2F1-5D17-6872-B7A8-369B7268F9BA}"/>
              </a:ext>
            </a:extLst>
          </p:cNvPr>
          <p:cNvGraphicFramePr/>
          <p:nvPr>
            <p:custDataLst>
              <p:tags r:id="rId5"/>
            </p:custDataLst>
          </p:nvPr>
        </p:nvGraphicFramePr>
        <p:xfrm>
          <a:off x="852496" y="4553111"/>
          <a:ext cx="2952000" cy="684000"/>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14" name="Chart 13">
            <a:extLst>
              <a:ext uri="{FF2B5EF4-FFF2-40B4-BE49-F238E27FC236}">
                <a16:creationId xmlns:a16="http://schemas.microsoft.com/office/drawing/2014/main" id="{7CEB4718-9CB4-043D-8B67-88ED5690E1EE}"/>
              </a:ext>
            </a:extLst>
          </p:cNvPr>
          <p:cNvGraphicFramePr/>
          <p:nvPr>
            <p:custDataLst>
              <p:tags r:id="rId6"/>
            </p:custDataLst>
          </p:nvPr>
        </p:nvGraphicFramePr>
        <p:xfrm>
          <a:off x="852496" y="5236581"/>
          <a:ext cx="2952000" cy="684000"/>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24" name="Chart 23">
            <a:extLst>
              <a:ext uri="{FF2B5EF4-FFF2-40B4-BE49-F238E27FC236}">
                <a16:creationId xmlns:a16="http://schemas.microsoft.com/office/drawing/2014/main" id="{A6D25130-1267-AE73-EDF6-6E10FE3D792C}"/>
              </a:ext>
            </a:extLst>
          </p:cNvPr>
          <p:cNvGraphicFramePr/>
          <p:nvPr>
            <p:custDataLst>
              <p:tags r:id="rId7"/>
            </p:custDataLst>
          </p:nvPr>
        </p:nvGraphicFramePr>
        <p:xfrm>
          <a:off x="3591775" y="2502707"/>
          <a:ext cx="2952000" cy="684000"/>
        </p:xfrm>
        <a:graphic>
          <a:graphicData uri="http://schemas.openxmlformats.org/drawingml/2006/chart">
            <c:chart xmlns:c="http://schemas.openxmlformats.org/drawingml/2006/chart" xmlns:r="http://schemas.openxmlformats.org/officeDocument/2006/relationships" r:id="rId24"/>
          </a:graphicData>
        </a:graphic>
      </p:graphicFrame>
      <p:graphicFrame>
        <p:nvGraphicFramePr>
          <p:cNvPr id="25" name="Chart 24">
            <a:extLst>
              <a:ext uri="{FF2B5EF4-FFF2-40B4-BE49-F238E27FC236}">
                <a16:creationId xmlns:a16="http://schemas.microsoft.com/office/drawing/2014/main" id="{B02962BE-C3C8-8C2E-6E5F-9111CD188AC9}"/>
              </a:ext>
            </a:extLst>
          </p:cNvPr>
          <p:cNvGraphicFramePr/>
          <p:nvPr>
            <p:custDataLst>
              <p:tags r:id="rId8"/>
            </p:custDataLst>
          </p:nvPr>
        </p:nvGraphicFramePr>
        <p:xfrm>
          <a:off x="3591775" y="3175158"/>
          <a:ext cx="2952000" cy="684000"/>
        </p:xfrm>
        <a:graphic>
          <a:graphicData uri="http://schemas.openxmlformats.org/drawingml/2006/chart">
            <c:chart xmlns:c="http://schemas.openxmlformats.org/drawingml/2006/chart" xmlns:r="http://schemas.openxmlformats.org/officeDocument/2006/relationships" r:id="rId25"/>
          </a:graphicData>
        </a:graphic>
      </p:graphicFrame>
      <p:graphicFrame>
        <p:nvGraphicFramePr>
          <p:cNvPr id="26" name="Chart 25">
            <a:extLst>
              <a:ext uri="{FF2B5EF4-FFF2-40B4-BE49-F238E27FC236}">
                <a16:creationId xmlns:a16="http://schemas.microsoft.com/office/drawing/2014/main" id="{9BA8D2DE-A625-8B40-2401-C0F85C15E55C}"/>
              </a:ext>
            </a:extLst>
          </p:cNvPr>
          <p:cNvGraphicFramePr/>
          <p:nvPr>
            <p:custDataLst>
              <p:tags r:id="rId9"/>
            </p:custDataLst>
          </p:nvPr>
        </p:nvGraphicFramePr>
        <p:xfrm>
          <a:off x="3591775" y="3869643"/>
          <a:ext cx="2952000" cy="684000"/>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27" name="Chart 26">
            <a:extLst>
              <a:ext uri="{FF2B5EF4-FFF2-40B4-BE49-F238E27FC236}">
                <a16:creationId xmlns:a16="http://schemas.microsoft.com/office/drawing/2014/main" id="{B24A0700-52ED-5824-43F9-9772494B435A}"/>
              </a:ext>
            </a:extLst>
          </p:cNvPr>
          <p:cNvGraphicFramePr/>
          <p:nvPr>
            <p:custDataLst>
              <p:tags r:id="rId10"/>
            </p:custDataLst>
          </p:nvPr>
        </p:nvGraphicFramePr>
        <p:xfrm>
          <a:off x="3591775" y="4553111"/>
          <a:ext cx="2952000" cy="683468"/>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28" name="Chart 27">
            <a:extLst>
              <a:ext uri="{FF2B5EF4-FFF2-40B4-BE49-F238E27FC236}">
                <a16:creationId xmlns:a16="http://schemas.microsoft.com/office/drawing/2014/main" id="{C0AF35DE-4C32-41D6-F847-F983BC39A35C}"/>
              </a:ext>
            </a:extLst>
          </p:cNvPr>
          <p:cNvGraphicFramePr/>
          <p:nvPr>
            <p:custDataLst>
              <p:tags r:id="rId11"/>
            </p:custDataLst>
          </p:nvPr>
        </p:nvGraphicFramePr>
        <p:xfrm>
          <a:off x="3591775" y="5236581"/>
          <a:ext cx="2952000" cy="684000"/>
        </p:xfrm>
        <a:graphic>
          <a:graphicData uri="http://schemas.openxmlformats.org/drawingml/2006/chart">
            <c:chart xmlns:c="http://schemas.openxmlformats.org/drawingml/2006/chart" xmlns:r="http://schemas.openxmlformats.org/officeDocument/2006/relationships" r:id="rId28"/>
          </a:graphicData>
        </a:graphic>
      </p:graphicFrame>
      <p:graphicFrame>
        <p:nvGraphicFramePr>
          <p:cNvPr id="29" name="Chart 28">
            <a:extLst>
              <a:ext uri="{FF2B5EF4-FFF2-40B4-BE49-F238E27FC236}">
                <a16:creationId xmlns:a16="http://schemas.microsoft.com/office/drawing/2014/main" id="{108B03A3-D2E1-1D4B-4698-4654B6F05573}"/>
              </a:ext>
            </a:extLst>
          </p:cNvPr>
          <p:cNvGraphicFramePr/>
          <p:nvPr>
            <p:custDataLst>
              <p:tags r:id="rId12"/>
            </p:custDataLst>
          </p:nvPr>
        </p:nvGraphicFramePr>
        <p:xfrm>
          <a:off x="6245143" y="2502707"/>
          <a:ext cx="2952000" cy="684000"/>
        </p:xfrm>
        <a:graphic>
          <a:graphicData uri="http://schemas.openxmlformats.org/drawingml/2006/chart">
            <c:chart xmlns:c="http://schemas.openxmlformats.org/drawingml/2006/chart" xmlns:r="http://schemas.openxmlformats.org/officeDocument/2006/relationships" r:id="rId29"/>
          </a:graphicData>
        </a:graphic>
      </p:graphicFrame>
      <p:graphicFrame>
        <p:nvGraphicFramePr>
          <p:cNvPr id="30" name="Chart 29">
            <a:extLst>
              <a:ext uri="{FF2B5EF4-FFF2-40B4-BE49-F238E27FC236}">
                <a16:creationId xmlns:a16="http://schemas.microsoft.com/office/drawing/2014/main" id="{91A21EFC-7902-EF79-D150-EBB452EE85DA}"/>
              </a:ext>
            </a:extLst>
          </p:cNvPr>
          <p:cNvGraphicFramePr/>
          <p:nvPr>
            <p:custDataLst>
              <p:tags r:id="rId13"/>
            </p:custDataLst>
          </p:nvPr>
        </p:nvGraphicFramePr>
        <p:xfrm>
          <a:off x="6256160" y="3186175"/>
          <a:ext cx="2952000" cy="684000"/>
        </p:xfrm>
        <a:graphic>
          <a:graphicData uri="http://schemas.openxmlformats.org/drawingml/2006/chart">
            <c:chart xmlns:c="http://schemas.openxmlformats.org/drawingml/2006/chart" xmlns:r="http://schemas.openxmlformats.org/officeDocument/2006/relationships" r:id="rId30"/>
          </a:graphicData>
        </a:graphic>
      </p:graphicFrame>
      <p:graphicFrame>
        <p:nvGraphicFramePr>
          <p:cNvPr id="31" name="Chart 30">
            <a:extLst>
              <a:ext uri="{FF2B5EF4-FFF2-40B4-BE49-F238E27FC236}">
                <a16:creationId xmlns:a16="http://schemas.microsoft.com/office/drawing/2014/main" id="{FE584E9D-F00E-C4EA-07C7-CDBABD412827}"/>
              </a:ext>
            </a:extLst>
          </p:cNvPr>
          <p:cNvGraphicFramePr/>
          <p:nvPr>
            <p:custDataLst>
              <p:tags r:id="rId14"/>
            </p:custDataLst>
          </p:nvPr>
        </p:nvGraphicFramePr>
        <p:xfrm>
          <a:off x="6256160" y="3869643"/>
          <a:ext cx="2952000" cy="684000"/>
        </p:xfrm>
        <a:graphic>
          <a:graphicData uri="http://schemas.openxmlformats.org/drawingml/2006/chart">
            <c:chart xmlns:c="http://schemas.openxmlformats.org/drawingml/2006/chart" xmlns:r="http://schemas.openxmlformats.org/officeDocument/2006/relationships" r:id="rId31"/>
          </a:graphicData>
        </a:graphic>
      </p:graphicFrame>
      <p:graphicFrame>
        <p:nvGraphicFramePr>
          <p:cNvPr id="32" name="Chart 31">
            <a:extLst>
              <a:ext uri="{FF2B5EF4-FFF2-40B4-BE49-F238E27FC236}">
                <a16:creationId xmlns:a16="http://schemas.microsoft.com/office/drawing/2014/main" id="{C586462A-07D1-C801-DDD6-7D06FD246140}"/>
              </a:ext>
            </a:extLst>
          </p:cNvPr>
          <p:cNvGraphicFramePr/>
          <p:nvPr>
            <p:custDataLst>
              <p:tags r:id="rId15"/>
            </p:custDataLst>
          </p:nvPr>
        </p:nvGraphicFramePr>
        <p:xfrm>
          <a:off x="6267177" y="4553111"/>
          <a:ext cx="2952000" cy="684000"/>
        </p:xfrm>
        <a:graphic>
          <a:graphicData uri="http://schemas.openxmlformats.org/drawingml/2006/chart">
            <c:chart xmlns:c="http://schemas.openxmlformats.org/drawingml/2006/chart" xmlns:r="http://schemas.openxmlformats.org/officeDocument/2006/relationships" r:id="rId32"/>
          </a:graphicData>
        </a:graphic>
      </p:graphicFrame>
      <p:graphicFrame>
        <p:nvGraphicFramePr>
          <p:cNvPr id="33" name="Chart 32">
            <a:extLst>
              <a:ext uri="{FF2B5EF4-FFF2-40B4-BE49-F238E27FC236}">
                <a16:creationId xmlns:a16="http://schemas.microsoft.com/office/drawing/2014/main" id="{FDE3A476-5F05-95B0-7555-186B5ABBDBD6}"/>
              </a:ext>
            </a:extLst>
          </p:cNvPr>
          <p:cNvGraphicFramePr/>
          <p:nvPr>
            <p:custDataLst>
              <p:tags r:id="rId16"/>
            </p:custDataLst>
          </p:nvPr>
        </p:nvGraphicFramePr>
        <p:xfrm>
          <a:off x="6256160" y="5236581"/>
          <a:ext cx="2952000" cy="684000"/>
        </p:xfrm>
        <a:graphic>
          <a:graphicData uri="http://schemas.openxmlformats.org/drawingml/2006/chart">
            <c:chart xmlns:c="http://schemas.openxmlformats.org/drawingml/2006/chart" xmlns:r="http://schemas.openxmlformats.org/officeDocument/2006/relationships" r:id="rId33"/>
          </a:graphicData>
        </a:graphic>
      </p:graphicFrame>
    </p:spTree>
    <p:extLst>
      <p:ext uri="{BB962C8B-B14F-4D97-AF65-F5344CB8AC3E}">
        <p14:creationId xmlns:p14="http://schemas.microsoft.com/office/powerpoint/2010/main" val="177931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Shape 2438">
          <a:extLst>
            <a:ext uri="{FF2B5EF4-FFF2-40B4-BE49-F238E27FC236}">
              <a16:creationId xmlns:a16="http://schemas.microsoft.com/office/drawing/2014/main" id="{F3A4ABC3-487D-A631-7E43-1ED8BFD662EB}"/>
            </a:ext>
          </a:extLst>
        </p:cNvPr>
        <p:cNvGrpSpPr/>
        <p:nvPr/>
      </p:nvGrpSpPr>
      <p:grpSpPr>
        <a:xfrm>
          <a:off x="0" y="0"/>
          <a:ext cx="0" cy="0"/>
          <a:chOff x="0" y="0"/>
          <a:chExt cx="0" cy="0"/>
        </a:xfrm>
      </p:grpSpPr>
      <p:graphicFrame>
        <p:nvGraphicFramePr>
          <p:cNvPr id="39" name="creon">
            <a:extLst>
              <a:ext uri="{FF2B5EF4-FFF2-40B4-BE49-F238E27FC236}">
                <a16:creationId xmlns:a16="http://schemas.microsoft.com/office/drawing/2014/main" id="{AFFA0E99-A39A-F84C-4887-FB534F470F66}"/>
              </a:ext>
            </a:extLst>
          </p:cNvPr>
          <p:cNvGraphicFramePr/>
          <p:nvPr>
            <p:custDataLst>
              <p:tags r:id="rId1"/>
            </p:custDataLst>
          </p:nvPr>
        </p:nvGraphicFramePr>
        <p:xfrm>
          <a:off x="816659" y="2323647"/>
          <a:ext cx="3600000" cy="2880000"/>
        </p:xfrm>
        <a:graphic>
          <a:graphicData uri="http://schemas.openxmlformats.org/drawingml/2006/chart">
            <c:chart xmlns:c="http://schemas.openxmlformats.org/drawingml/2006/chart" xmlns:r="http://schemas.openxmlformats.org/officeDocument/2006/relationships" r:id="rId6"/>
          </a:graphicData>
        </a:graphic>
      </p:graphicFrame>
      <p:sp>
        <p:nvSpPr>
          <p:cNvPr id="2440" name="Google Shape;2440;p63">
            <a:extLst>
              <a:ext uri="{FF2B5EF4-FFF2-40B4-BE49-F238E27FC236}">
                <a16:creationId xmlns:a16="http://schemas.microsoft.com/office/drawing/2014/main" id="{6368C446-33AA-ED08-D00B-3120F48629B8}"/>
              </a:ext>
            </a:extLst>
          </p:cNvPr>
          <p:cNvSpPr txBox="1"/>
          <p:nvPr/>
        </p:nvSpPr>
        <p:spPr>
          <a:xfrm>
            <a:off x="412749" y="73516"/>
            <a:ext cx="8548372"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2060"/>
                </a:solidFill>
                <a:effectLst/>
                <a:uLnTx/>
                <a:uFillTx/>
                <a:latin typeface="Arial" panose="020B0604020202020204"/>
                <a:ea typeface="Calibri"/>
                <a:cs typeface="Calibri"/>
                <a:sym typeface="Arial"/>
              </a:rPr>
              <a:t>CREON’s 36K dosage lost 6 pts and its 24K dosage lost 1 pt in patient share this wave, while ZENPEP’s 40K and 60K dosage share remained the same</a:t>
            </a:r>
          </a:p>
        </p:txBody>
      </p:sp>
      <p:sp>
        <p:nvSpPr>
          <p:cNvPr id="35" name="Google Shape;6149;p177">
            <a:extLst>
              <a:ext uri="{FF2B5EF4-FFF2-40B4-BE49-F238E27FC236}">
                <a16:creationId xmlns:a16="http://schemas.microsoft.com/office/drawing/2014/main" id="{825BF304-6F7F-484C-7A24-93F20F324139}"/>
              </a:ext>
            </a:extLst>
          </p:cNvPr>
          <p:cNvSpPr txBox="1">
            <a:spLocks/>
          </p:cNvSpPr>
          <p:nvPr/>
        </p:nvSpPr>
        <p:spPr>
          <a:xfrm>
            <a:off x="2293487" y="964056"/>
            <a:ext cx="4557027" cy="595910"/>
          </a:xfrm>
          <a:prstGeom prst="rect">
            <a:avLst/>
          </a:prstGeom>
          <a:noFill/>
          <a:ln>
            <a:noFill/>
          </a:ln>
        </p:spPr>
        <p:txBody>
          <a:bodyPr spcFirstLastPara="1" wrap="square" lIns="91425" tIns="45700" rIns="91425" bIns="457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3F3F3F"/>
              </a:buClr>
              <a:buSzPts val="1000"/>
              <a:buFont typeface="Arial" panose="020B0604020202020204" pitchFamily="34" charset="0"/>
              <a:buNone/>
              <a:tabLst/>
              <a:defRPr/>
            </a:pPr>
            <a:r>
              <a:rPr kumimoji="0" lang="en-US" sz="1400" b="1" i="0" u="sng" strike="noStrike" kern="1200" cap="none" spc="0" normalizeH="0" baseline="0" noProof="0">
                <a:ln>
                  <a:noFill/>
                </a:ln>
                <a:solidFill>
                  <a:srgbClr val="071D49"/>
                </a:solidFill>
                <a:effectLst/>
                <a:uLnTx/>
                <a:uFillTx/>
                <a:latin typeface="Arial"/>
                <a:ea typeface="Calibri"/>
                <a:cs typeface="Calibri"/>
                <a:sym typeface="Arial"/>
              </a:rPr>
              <a:t>CREON &amp; ZENPEP Dosage Patient Share*</a:t>
            </a:r>
            <a:b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br>
            <a: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t>(</a:t>
            </a:r>
            <a:r>
              <a:rPr kumimoji="0" lang="en-US" sz="1000" b="0" i="0" u="sng" strike="noStrike" kern="0" cap="none" spc="0" normalizeH="0" baseline="0" noProof="0">
                <a:ln>
                  <a:noFill/>
                </a:ln>
                <a:solidFill>
                  <a:srgbClr val="071D49"/>
                </a:solidFill>
                <a:effectLst/>
                <a:uLnTx/>
                <a:uFillTx/>
                <a:latin typeface="Arial" panose="020B0604020202020204"/>
                <a:ea typeface="Calibri"/>
                <a:cs typeface="Calibri"/>
                <a:sym typeface="Calibri"/>
              </a:rPr>
              <a:t>Sep’25 – Oct’25: n = 110 | Nov’25 – Dec’25: n = 110</a:t>
            </a:r>
            <a:r>
              <a:rPr kumimoji="0" lang="en-US" sz="1000" b="0" i="0" u="sng" strike="noStrike" kern="1200" cap="none" spc="0" normalizeH="0" baseline="0" noProof="0">
                <a:ln>
                  <a:noFill/>
                </a:ln>
                <a:solidFill>
                  <a:srgbClr val="071D49"/>
                </a:solidFill>
                <a:effectLst/>
                <a:uLnTx/>
                <a:uFillTx/>
                <a:latin typeface="Arial"/>
                <a:ea typeface="Calibri"/>
                <a:cs typeface="Calibri"/>
                <a:sym typeface="Arial"/>
              </a:rPr>
              <a:t>)</a:t>
            </a:r>
            <a:endParaRPr kumimoji="0" lang="en-GB" sz="600" b="0" i="0" u="sng"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graphicFrame>
        <p:nvGraphicFramePr>
          <p:cNvPr id="36" name="Chart 35">
            <a:extLst>
              <a:ext uri="{FF2B5EF4-FFF2-40B4-BE49-F238E27FC236}">
                <a16:creationId xmlns:a16="http://schemas.microsoft.com/office/drawing/2014/main" id="{C4C713B5-8817-C635-2BE2-0F9CE713DC3D}"/>
              </a:ext>
            </a:extLst>
          </p:cNvPr>
          <p:cNvGraphicFramePr/>
          <p:nvPr>
            <p:custDataLst>
              <p:tags r:id="rId2"/>
            </p:custDataLst>
          </p:nvPr>
        </p:nvGraphicFramePr>
        <p:xfrm>
          <a:off x="4900155" y="2323647"/>
          <a:ext cx="3600000" cy="2880000"/>
        </p:xfrm>
        <a:graphic>
          <a:graphicData uri="http://schemas.openxmlformats.org/drawingml/2006/chart">
            <c:chart xmlns:c="http://schemas.openxmlformats.org/drawingml/2006/chart" xmlns:r="http://schemas.openxmlformats.org/officeDocument/2006/relationships" r:id="rId7"/>
          </a:graphicData>
        </a:graphic>
      </p:graphicFrame>
      <p:pic>
        <p:nvPicPr>
          <p:cNvPr id="13" name="Picture 2" hidden="1">
            <a:extLst>
              <a:ext uri="{FF2B5EF4-FFF2-40B4-BE49-F238E27FC236}">
                <a16:creationId xmlns:a16="http://schemas.microsoft.com/office/drawing/2014/main" id="{84E440BB-DC4A-9979-6146-C807A01909F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88781" y="5160343"/>
            <a:ext cx="199062" cy="197046"/>
          </a:xfrm>
          <a:prstGeom prst="rect">
            <a:avLst/>
          </a:prstGeom>
          <a:solidFill>
            <a:schemeClr val="bg1"/>
          </a:solidFill>
        </p:spPr>
      </p:pic>
      <p:grpSp>
        <p:nvGrpSpPr>
          <p:cNvPr id="16" name="Group 15">
            <a:extLst>
              <a:ext uri="{FF2B5EF4-FFF2-40B4-BE49-F238E27FC236}">
                <a16:creationId xmlns:a16="http://schemas.microsoft.com/office/drawing/2014/main" id="{7261FA40-CFB5-2DBE-9283-6B9538FB1CED}"/>
              </a:ext>
            </a:extLst>
          </p:cNvPr>
          <p:cNvGrpSpPr/>
          <p:nvPr/>
        </p:nvGrpSpPr>
        <p:grpSpPr>
          <a:xfrm>
            <a:off x="33074" y="1072246"/>
            <a:ext cx="2338340" cy="975630"/>
            <a:chOff x="33074" y="1072246"/>
            <a:chExt cx="2338340" cy="975630"/>
          </a:xfrm>
        </p:grpSpPr>
        <p:sp>
          <p:nvSpPr>
            <p:cNvPr id="15" name="Highlight#32">
              <a:extLst>
                <a:ext uri="{FF2B5EF4-FFF2-40B4-BE49-F238E27FC236}">
                  <a16:creationId xmlns:a16="http://schemas.microsoft.com/office/drawing/2014/main" id="{7E00211D-F17B-CBF6-780E-C52475B9F7DD}"/>
                </a:ext>
              </a:extLst>
            </p:cNvPr>
            <p:cNvSpPr txBox="1"/>
            <p:nvPr/>
          </p:nvSpPr>
          <p:spPr>
            <a:xfrm>
              <a:off x="33074" y="1072246"/>
              <a:ext cx="2338340" cy="975630"/>
            </a:xfrm>
            <a:prstGeom prst="rect">
              <a:avLst/>
            </a:prstGeom>
            <a:noFill/>
            <a:ln>
              <a:solidFill>
                <a:srgbClr val="00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0" name="Legend_series_1">
              <a:extLst>
                <a:ext uri="{FF2B5EF4-FFF2-40B4-BE49-F238E27FC236}">
                  <a16:creationId xmlns:a16="http://schemas.microsoft.com/office/drawing/2014/main" id="{1F18A3D5-DDB5-2907-5E6F-039E18C10B11}"/>
                </a:ext>
              </a:extLst>
            </p:cNvPr>
            <p:cNvSpPr/>
            <p:nvPr/>
          </p:nvSpPr>
          <p:spPr>
            <a:xfrm>
              <a:off x="78148" y="1706232"/>
              <a:ext cx="108000" cy="108000"/>
            </a:xfrm>
            <a:prstGeom prst="rect">
              <a:avLst/>
            </a:prstGeom>
            <a:solidFill>
              <a:srgbClr val="009AD9"/>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sp>
          <p:nvSpPr>
            <p:cNvPr id="32" name="Legend_series_1">
              <a:extLst>
                <a:ext uri="{FF2B5EF4-FFF2-40B4-BE49-F238E27FC236}">
                  <a16:creationId xmlns:a16="http://schemas.microsoft.com/office/drawing/2014/main" id="{A4982EFA-70C7-4E1C-5E6E-581CDCEF675C}"/>
                </a:ext>
              </a:extLst>
            </p:cNvPr>
            <p:cNvSpPr/>
            <p:nvPr/>
          </p:nvSpPr>
          <p:spPr>
            <a:xfrm>
              <a:off x="1216253" y="1706231"/>
              <a:ext cx="108000" cy="108000"/>
            </a:xfrm>
            <a:prstGeom prst="rect">
              <a:avLst/>
            </a:prstGeom>
            <a:solidFill>
              <a:srgbClr val="D3B0FF"/>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grpSp>
          <p:nvGrpSpPr>
            <p:cNvPr id="14" name="Group 13">
              <a:extLst>
                <a:ext uri="{FF2B5EF4-FFF2-40B4-BE49-F238E27FC236}">
                  <a16:creationId xmlns:a16="http://schemas.microsoft.com/office/drawing/2014/main" id="{426084BD-72BA-4EFC-4240-3E001BD4DB62}"/>
                </a:ext>
              </a:extLst>
            </p:cNvPr>
            <p:cNvGrpSpPr/>
            <p:nvPr/>
          </p:nvGrpSpPr>
          <p:grpSpPr>
            <a:xfrm>
              <a:off x="76686" y="1146828"/>
              <a:ext cx="2195337" cy="338555"/>
              <a:chOff x="6539385" y="1258099"/>
              <a:chExt cx="2195337" cy="338555"/>
            </a:xfrm>
          </p:grpSpPr>
          <p:grpSp>
            <p:nvGrpSpPr>
              <p:cNvPr id="2" name="Group 1">
                <a:extLst>
                  <a:ext uri="{FF2B5EF4-FFF2-40B4-BE49-F238E27FC236}">
                    <a16:creationId xmlns:a16="http://schemas.microsoft.com/office/drawing/2014/main" id="{238E5D64-1F7C-410E-F77F-D328DBD5B960}"/>
                  </a:ext>
                </a:extLst>
              </p:cNvPr>
              <p:cNvGrpSpPr/>
              <p:nvPr/>
            </p:nvGrpSpPr>
            <p:grpSpPr>
              <a:xfrm>
                <a:off x="6539385" y="1258100"/>
                <a:ext cx="1173815" cy="338554"/>
                <a:chOff x="410037" y="4997037"/>
                <a:chExt cx="1173815" cy="338554"/>
              </a:xfrm>
            </p:grpSpPr>
            <p:sp>
              <p:nvSpPr>
                <p:cNvPr id="3" name="Legend_series_1">
                  <a:extLst>
                    <a:ext uri="{FF2B5EF4-FFF2-40B4-BE49-F238E27FC236}">
                      <a16:creationId xmlns:a16="http://schemas.microsoft.com/office/drawing/2014/main" id="{79FBD39F-CC66-D827-A9DE-C0E442B2DABB}"/>
                    </a:ext>
                  </a:extLst>
                </p:cNvPr>
                <p:cNvSpPr/>
                <p:nvPr/>
              </p:nvSpPr>
              <p:spPr>
                <a:xfrm>
                  <a:off x="410037" y="5112315"/>
                  <a:ext cx="108000" cy="108000"/>
                </a:xfrm>
                <a:prstGeom prst="rect">
                  <a:avLst/>
                </a:prstGeom>
                <a:solidFill>
                  <a:srgbClr val="36729C"/>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sp>
              <p:nvSpPr>
                <p:cNvPr id="4" name="Textbox_series_1">
                  <a:extLst>
                    <a:ext uri="{FF2B5EF4-FFF2-40B4-BE49-F238E27FC236}">
                      <a16:creationId xmlns:a16="http://schemas.microsoft.com/office/drawing/2014/main" id="{A91434AB-3D89-F0E7-358B-CE4522365CFE}"/>
                    </a:ext>
                  </a:extLst>
                </p:cNvPr>
                <p:cNvSpPr txBox="1"/>
                <p:nvPr/>
              </p:nvSpPr>
              <p:spPr>
                <a:xfrm>
                  <a:off x="526620" y="4997037"/>
                  <a:ext cx="1057232" cy="338554"/>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t>CREON </a:t>
                  </a:r>
                  <a:b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br>
                  <a: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t>(Nov’25 – Dec’25)</a:t>
                  </a:r>
                </a:p>
              </p:txBody>
            </p:sp>
          </p:grpSp>
          <p:grpSp>
            <p:nvGrpSpPr>
              <p:cNvPr id="5" name="Group 4">
                <a:extLst>
                  <a:ext uri="{FF2B5EF4-FFF2-40B4-BE49-F238E27FC236}">
                    <a16:creationId xmlns:a16="http://schemas.microsoft.com/office/drawing/2014/main" id="{888CF3A3-DE6D-5425-110E-BE1DFD4B5ABE}"/>
                  </a:ext>
                </a:extLst>
              </p:cNvPr>
              <p:cNvGrpSpPr/>
              <p:nvPr/>
            </p:nvGrpSpPr>
            <p:grpSpPr>
              <a:xfrm>
                <a:off x="7677490" y="1258099"/>
                <a:ext cx="1057232" cy="338554"/>
                <a:chOff x="600954" y="4997037"/>
                <a:chExt cx="1057232" cy="338554"/>
              </a:xfrm>
            </p:grpSpPr>
            <p:sp>
              <p:nvSpPr>
                <p:cNvPr id="6" name="Legend_series_1">
                  <a:extLst>
                    <a:ext uri="{FF2B5EF4-FFF2-40B4-BE49-F238E27FC236}">
                      <a16:creationId xmlns:a16="http://schemas.microsoft.com/office/drawing/2014/main" id="{3925FB72-2C0E-AC80-E81F-C152AD50EF81}"/>
                    </a:ext>
                  </a:extLst>
                </p:cNvPr>
                <p:cNvSpPr/>
                <p:nvPr/>
              </p:nvSpPr>
              <p:spPr>
                <a:xfrm>
                  <a:off x="600954" y="5112315"/>
                  <a:ext cx="108000" cy="108000"/>
                </a:xfrm>
                <a:prstGeom prst="rect">
                  <a:avLst/>
                </a:prstGeom>
                <a:solidFill>
                  <a:srgbClr val="9778D4"/>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IN" sz="1000" b="0" i="0" u="none" strike="noStrike" kern="1200" cap="none" spc="0" normalizeH="0" baseline="0" noProof="0">
                    <a:ln>
                      <a:noFill/>
                    </a:ln>
                    <a:solidFill>
                      <a:srgbClr val="000000"/>
                    </a:solidFill>
                    <a:effectLst/>
                    <a:uLnTx/>
                    <a:uFillTx/>
                    <a:latin typeface="Arial" panose="020B0604020202020204"/>
                    <a:ea typeface="+mn-ea"/>
                    <a:cs typeface="Calibri" panose="020F0502020204030204" pitchFamily="34" charset="0"/>
                    <a:sym typeface="Arial"/>
                  </a:endParaRPr>
                </a:p>
              </p:txBody>
            </p:sp>
            <p:sp>
              <p:nvSpPr>
                <p:cNvPr id="7" name="Textbox_series_1">
                  <a:extLst>
                    <a:ext uri="{FF2B5EF4-FFF2-40B4-BE49-F238E27FC236}">
                      <a16:creationId xmlns:a16="http://schemas.microsoft.com/office/drawing/2014/main" id="{C498017B-6C26-C28E-08E7-2E0E48B40736}"/>
                    </a:ext>
                  </a:extLst>
                </p:cNvPr>
                <p:cNvSpPr txBox="1"/>
                <p:nvPr/>
              </p:nvSpPr>
              <p:spPr>
                <a:xfrm>
                  <a:off x="717535" y="4997037"/>
                  <a:ext cx="940651" cy="338554"/>
                </a:xfrm>
                <a:prstGeom prst="rect">
                  <a:avLst/>
                </a:prstGeom>
                <a:noFill/>
              </p:spPr>
              <p:txBody>
                <a:bodyPr vert="horz" wrap="square" rIns="0"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t>ZENPEP </a:t>
                  </a:r>
                  <a:b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br>
                  <a:r>
                    <a:rPr kumimoji="0" lang="en-IN" sz="800" b="0" i="0" u="none" strike="noStrike" kern="0" cap="none" spc="0" normalizeH="0" baseline="0" noProof="0">
                      <a:ln>
                        <a:noFill/>
                      </a:ln>
                      <a:solidFill>
                        <a:srgbClr val="212529"/>
                      </a:solidFill>
                      <a:effectLst/>
                      <a:uLnTx/>
                      <a:uFillTx/>
                      <a:latin typeface="Arial" panose="020B0604020202020204"/>
                      <a:cs typeface="Arial"/>
                      <a:sym typeface="Arial"/>
                    </a:rPr>
                    <a:t>(Nov’25 – Dec’25)</a:t>
                  </a:r>
                </a:p>
              </p:txBody>
            </p:sp>
          </p:grpSp>
        </p:grpSp>
        <p:sp>
          <p:nvSpPr>
            <p:cNvPr id="31" name="Textbox_series_1">
              <a:extLst>
                <a:ext uri="{FF2B5EF4-FFF2-40B4-BE49-F238E27FC236}">
                  <a16:creationId xmlns:a16="http://schemas.microsoft.com/office/drawing/2014/main" id="{9373B914-51F5-C678-B78E-1808278BBCC6}"/>
                </a:ext>
              </a:extLst>
            </p:cNvPr>
            <p:cNvSpPr txBox="1"/>
            <p:nvPr/>
          </p:nvSpPr>
          <p:spPr>
            <a:xfrm>
              <a:off x="194731" y="1590954"/>
              <a:ext cx="1057232" cy="338554"/>
            </a:xfrm>
            <a:prstGeom prst="rect">
              <a:avLst/>
            </a:prstGeom>
            <a:noFill/>
          </p:spPr>
          <p:txBody>
            <a:bodyPr vert="horz"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a:cs typeface="Arial"/>
                  <a:sym typeface="Arial"/>
                </a:rPr>
                <a:t>CREON </a:t>
              </a:r>
              <a:br>
                <a:rPr kumimoji="0" lang="en-IN" sz="800" b="0" i="0" u="none" strike="noStrike" kern="0" cap="none" spc="0" normalizeH="0" baseline="0" noProof="0">
                  <a:ln>
                    <a:noFill/>
                  </a:ln>
                  <a:solidFill>
                    <a:srgbClr val="212529"/>
                  </a:solidFill>
                  <a:effectLst/>
                  <a:uLnTx/>
                  <a:uFillTx/>
                  <a:latin typeface="Arial"/>
                  <a:cs typeface="Arial"/>
                  <a:sym typeface="Arial"/>
                </a:rPr>
              </a:br>
              <a:r>
                <a:rPr kumimoji="0" lang="en-IN" sz="800" b="0" i="0" u="none" strike="noStrike" kern="0" cap="none" spc="0" normalizeH="0" baseline="0" noProof="0">
                  <a:ln>
                    <a:noFill/>
                  </a:ln>
                  <a:solidFill>
                    <a:srgbClr val="212529"/>
                  </a:solidFill>
                  <a:effectLst/>
                  <a:uLnTx/>
                  <a:uFillTx/>
                  <a:latin typeface="Arial"/>
                  <a:cs typeface="Arial"/>
                  <a:sym typeface="Arial"/>
                </a:rPr>
                <a:t>(Sep’25 – Oct’25)</a:t>
              </a:r>
            </a:p>
          </p:txBody>
        </p:sp>
        <p:sp>
          <p:nvSpPr>
            <p:cNvPr id="33" name="Textbox_series_1">
              <a:extLst>
                <a:ext uri="{FF2B5EF4-FFF2-40B4-BE49-F238E27FC236}">
                  <a16:creationId xmlns:a16="http://schemas.microsoft.com/office/drawing/2014/main" id="{03DFDA34-1147-9E99-34A5-5C8E024CA73D}"/>
                </a:ext>
              </a:extLst>
            </p:cNvPr>
            <p:cNvSpPr txBox="1"/>
            <p:nvPr/>
          </p:nvSpPr>
          <p:spPr>
            <a:xfrm>
              <a:off x="1332838" y="1590953"/>
              <a:ext cx="1012937" cy="338554"/>
            </a:xfrm>
            <a:prstGeom prst="rect">
              <a:avLst/>
            </a:prstGeom>
            <a:noFill/>
          </p:spPr>
          <p:txBody>
            <a:bodyPr vert="horz" wrap="square" rIns="0" rtlCol="0" anchor="ctr">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IN" sz="800" b="0" i="0" u="none" strike="noStrike" kern="0" cap="none" spc="0" normalizeH="0" baseline="0" noProof="0">
                  <a:ln>
                    <a:noFill/>
                  </a:ln>
                  <a:solidFill>
                    <a:srgbClr val="212529"/>
                  </a:solidFill>
                  <a:effectLst/>
                  <a:uLnTx/>
                  <a:uFillTx/>
                  <a:latin typeface="Arial"/>
                  <a:cs typeface="Arial"/>
                  <a:sym typeface="Arial"/>
                </a:rPr>
                <a:t>ZENPEP </a:t>
              </a:r>
              <a:br>
                <a:rPr kumimoji="0" lang="en-IN" sz="800" b="0" i="0" u="none" strike="noStrike" kern="0" cap="none" spc="0" normalizeH="0" baseline="0" noProof="0">
                  <a:ln>
                    <a:noFill/>
                  </a:ln>
                  <a:solidFill>
                    <a:srgbClr val="212529"/>
                  </a:solidFill>
                  <a:effectLst/>
                  <a:uLnTx/>
                  <a:uFillTx/>
                  <a:latin typeface="Arial"/>
                  <a:cs typeface="Arial"/>
                  <a:sym typeface="Arial"/>
                </a:rPr>
              </a:br>
              <a:r>
                <a:rPr kumimoji="0" lang="en-IN" sz="800" b="0" i="0" u="none" strike="noStrike" kern="0" cap="none" spc="0" normalizeH="0" baseline="0" noProof="0">
                  <a:ln>
                    <a:noFill/>
                  </a:ln>
                  <a:solidFill>
                    <a:srgbClr val="212529"/>
                  </a:solidFill>
                  <a:effectLst/>
                  <a:uLnTx/>
                  <a:uFillTx/>
                  <a:latin typeface="Arial"/>
                  <a:cs typeface="Arial"/>
                  <a:sym typeface="Arial"/>
                </a:rPr>
                <a:t>(Sep’25 – Oct’25)</a:t>
              </a:r>
            </a:p>
          </p:txBody>
        </p:sp>
      </p:grpSp>
      <p:sp>
        <p:nvSpPr>
          <p:cNvPr id="10" name="Google Shape;2462;p63">
            <a:extLst>
              <a:ext uri="{FF2B5EF4-FFF2-40B4-BE49-F238E27FC236}">
                <a16:creationId xmlns:a16="http://schemas.microsoft.com/office/drawing/2014/main" id="{DBAF2ABD-BD88-7644-5692-EDC3A0C00DD5}"/>
              </a:ext>
            </a:extLst>
          </p:cNvPr>
          <p:cNvSpPr txBox="1"/>
          <p:nvPr/>
        </p:nvSpPr>
        <p:spPr>
          <a:xfrm>
            <a:off x="928801" y="6081211"/>
            <a:ext cx="7965075" cy="230792"/>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Question text in speaker notes | n - No. of HCPs | </a:t>
            </a:r>
            <a:r>
              <a:rPr kumimoji="0" lang="en-US" sz="900" b="1" i="0" u="none" strike="noStrike" kern="0" cap="none" spc="0" normalizeH="0" baseline="0" noProof="0">
                <a:ln>
                  <a:noFill/>
                </a:ln>
                <a:solidFill>
                  <a:srgbClr val="071D49"/>
                </a:solidFill>
                <a:effectLst/>
                <a:uLnTx/>
                <a:uFillTx/>
                <a:latin typeface="Arial"/>
                <a:ea typeface="Calibri"/>
                <a:cs typeface="Calibri"/>
                <a:sym typeface="Arial"/>
              </a:rPr>
              <a:t>*</a:t>
            </a:r>
            <a:r>
              <a:rPr kumimoji="0" lang="en-US" sz="900" b="1" i="0" u="none" strike="noStrike" kern="0" cap="none" spc="0" normalizeH="0" baseline="30000" noProof="0">
                <a:ln>
                  <a:noFill/>
                </a:ln>
                <a:solidFill>
                  <a:srgbClr val="071D49"/>
                </a:solidFill>
                <a:effectLst/>
                <a:uLnTx/>
                <a:uFillTx/>
                <a:latin typeface="Arial"/>
                <a:ea typeface="Calibri"/>
                <a:cs typeface="Calibri"/>
                <a:sym typeface="Arial"/>
              </a:rPr>
              <a:t> </a:t>
            </a:r>
            <a:r>
              <a:rPr kumimoji="0" lang="en-US" sz="900" b="0" i="0" u="none" strike="noStrike" kern="0" cap="none" spc="0" normalizeH="0" baseline="0" noProof="0">
                <a:ln>
                  <a:noFill/>
                </a:ln>
                <a:solidFill>
                  <a:srgbClr val="001D49"/>
                </a:solidFill>
                <a:effectLst/>
                <a:uLnTx/>
                <a:uFillTx/>
                <a:latin typeface="Arial"/>
                <a:ea typeface="Calibri"/>
                <a:cs typeface="Calibri"/>
                <a:sym typeface="Calibri"/>
              </a:rPr>
              <a:t>Local outliers removed | No statistically significant (p&lt;.05) difference between previous waves</a:t>
            </a:r>
          </a:p>
        </p:txBody>
      </p:sp>
      <p:sp>
        <p:nvSpPr>
          <p:cNvPr id="11" name="Highlight#32">
            <a:extLst>
              <a:ext uri="{FF2B5EF4-FFF2-40B4-BE49-F238E27FC236}">
                <a16:creationId xmlns:a16="http://schemas.microsoft.com/office/drawing/2014/main" id="{75D8999B-84FD-D5D6-D4E3-8A8B8C3679B4}"/>
              </a:ext>
            </a:extLst>
          </p:cNvPr>
          <p:cNvSpPr txBox="1"/>
          <p:nvPr/>
        </p:nvSpPr>
        <p:spPr>
          <a:xfrm>
            <a:off x="643846" y="2299617"/>
            <a:ext cx="1113036" cy="666919"/>
          </a:xfrm>
          <a:prstGeom prst="rect">
            <a:avLst/>
          </a:prstGeom>
          <a:noFill/>
          <a:ln w="28575">
            <a:solidFill>
              <a:srgbClr val="FF0000"/>
            </a:solidFill>
            <a:prstDash val="dash"/>
          </a:ln>
        </p:spPr>
        <p:txBody>
          <a:bodyPr vert="horz" rtlCol="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aphicFrame>
        <p:nvGraphicFramePr>
          <p:cNvPr id="19" name="Table 18">
            <a:extLst>
              <a:ext uri="{FF2B5EF4-FFF2-40B4-BE49-F238E27FC236}">
                <a16:creationId xmlns:a16="http://schemas.microsoft.com/office/drawing/2014/main" id="{BB7B4660-0EAB-D538-C558-41458E44FBAE}"/>
              </a:ext>
            </a:extLst>
          </p:cNvPr>
          <p:cNvGraphicFramePr>
            <a:graphicFrameLocks noGrp="1"/>
          </p:cNvGraphicFramePr>
          <p:nvPr/>
        </p:nvGraphicFramePr>
        <p:xfrm>
          <a:off x="7162800" y="1072246"/>
          <a:ext cx="1762126" cy="864000"/>
        </p:xfrm>
        <a:graphic>
          <a:graphicData uri="http://schemas.openxmlformats.org/drawingml/2006/table">
            <a:tbl>
              <a:tblPr firstRow="1" bandRow="1">
                <a:tableStyleId>{96BACEE3-1A1D-4107-9369-2142449FF59F}</a:tableStyleId>
              </a:tblPr>
              <a:tblGrid>
                <a:gridCol w="881063">
                  <a:extLst>
                    <a:ext uri="{9D8B030D-6E8A-4147-A177-3AD203B41FA5}">
                      <a16:colId xmlns:a16="http://schemas.microsoft.com/office/drawing/2014/main" val="1008536860"/>
                    </a:ext>
                  </a:extLst>
                </a:gridCol>
                <a:gridCol w="881063">
                  <a:extLst>
                    <a:ext uri="{9D8B030D-6E8A-4147-A177-3AD203B41FA5}">
                      <a16:colId xmlns:a16="http://schemas.microsoft.com/office/drawing/2014/main" val="1699483628"/>
                    </a:ext>
                  </a:extLst>
                </a:gridCol>
              </a:tblGrid>
              <a:tr h="288000">
                <a:tc gridSpan="2">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1000" b="0" i="0" u="none" strike="noStrike" kern="1200">
                          <a:solidFill>
                            <a:srgbClr val="000000"/>
                          </a:solidFill>
                          <a:effectLst/>
                          <a:latin typeface="Arial" panose="020B0604020202020204" pitchFamily="34" charset="0"/>
                          <a:ea typeface="Arial"/>
                          <a:cs typeface="Arial" panose="020B0604020202020204" pitchFamily="34" charset="0"/>
                        </a:rPr>
                        <a:t>Avg. no. of Patients</a:t>
                      </a:r>
                    </a:p>
                  </a:txBody>
                  <a:tcPr marL="6350" marR="6350" marT="635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b"/>
                      <a:endParaRPr lang="en-IN" sz="1100" b="1" i="0" u="none" strike="noStrike" kern="1200">
                        <a:solidFill>
                          <a:srgbClr val="000000"/>
                        </a:solidFill>
                        <a:effectLst/>
                        <a:latin typeface="+mn-lt"/>
                        <a:ea typeface="Arial"/>
                        <a:cs typeface="Arial"/>
                      </a:endParaRPr>
                    </a:p>
                  </a:txBody>
                  <a:tcPr marL="6350" marR="6350" marT="63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5551690"/>
                  </a:ext>
                </a:extLst>
              </a:tr>
              <a:tr h="288000">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chemeClr val="tx1"/>
                          </a:solidFill>
                          <a:effectLst/>
                          <a:latin typeface="Arial" panose="020B0604020202020204" pitchFamily="34" charset="0"/>
                          <a:ea typeface="Arial"/>
                          <a:cs typeface="Arial" panose="020B0604020202020204" pitchFamily="34" charset="0"/>
                        </a:rPr>
                        <a:t>Sep’25 – Oct’25</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tc>
                  <a:txBody>
                    <a:bodyPr/>
                    <a:lstStyle/>
                    <a:p>
                      <a:pPr marL="0" marR="0" lvl="0" indent="0" algn="ctr" defTabSz="342898" rtl="0" eaLnBrk="1" fontAlgn="b" latinLnBrk="0" hangingPunct="1">
                        <a:lnSpc>
                          <a:spcPct val="100000"/>
                        </a:lnSpc>
                        <a:spcBef>
                          <a:spcPts val="0"/>
                        </a:spcBef>
                        <a:spcAft>
                          <a:spcPts val="0"/>
                        </a:spcAft>
                        <a:buClrTx/>
                        <a:buSzTx/>
                        <a:buFontTx/>
                        <a:buNone/>
                        <a:tabLst/>
                        <a:defRPr/>
                      </a:pPr>
                      <a:r>
                        <a:rPr lang="en-IN" sz="900" b="0" i="0" u="none" strike="noStrike" kern="1200">
                          <a:solidFill>
                            <a:schemeClr val="tx1"/>
                          </a:solidFill>
                          <a:effectLst/>
                          <a:latin typeface="Arial" panose="020B0604020202020204" pitchFamily="34" charset="0"/>
                          <a:ea typeface="Arial"/>
                          <a:cs typeface="Arial" panose="020B0604020202020204" pitchFamily="34" charset="0"/>
                        </a:rPr>
                        <a:t>Nov’25 – Dec’25</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73093469"/>
                  </a:ext>
                </a:extLst>
              </a:tr>
              <a:tr h="288000">
                <a:tc>
                  <a:txBody>
                    <a:bodyPr/>
                    <a:lstStyle/>
                    <a:p>
                      <a:pPr algn="ctr"/>
                      <a:r>
                        <a:rPr lang="en-IN" sz="1000" b="1" kern="1200">
                          <a:solidFill>
                            <a:schemeClr val="dk1"/>
                          </a:solidFill>
                          <a:latin typeface="Arial" panose="020B0604020202020204" pitchFamily="34" charset="0"/>
                          <a:ea typeface="+mn-ea"/>
                          <a:cs typeface="Arial" panose="020B0604020202020204" pitchFamily="34" charset="0"/>
                        </a:rPr>
                        <a:t>32</a:t>
                      </a: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tc>
                  <a:txBody>
                    <a:bodyPr/>
                    <a:lstStyle/>
                    <a:p>
                      <a:pPr algn="ctr"/>
                      <a:r>
                        <a:rPr lang="en-IN" sz="1000" b="1" kern="1200">
                          <a:solidFill>
                            <a:schemeClr val="dk1"/>
                          </a:solidFill>
                          <a:latin typeface="Arial" panose="020B0604020202020204" pitchFamily="34" charset="0"/>
                          <a:ea typeface="+mn-ea"/>
                          <a:cs typeface="Arial" panose="020B0604020202020204" pitchFamily="34" charset="0"/>
                        </a:rPr>
                        <a:t>35</a:t>
                      </a: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09989770"/>
                  </a:ext>
                </a:extLst>
              </a:tr>
            </a:tbl>
          </a:graphicData>
        </a:graphic>
      </p:graphicFrame>
      <p:sp>
        <p:nvSpPr>
          <p:cNvPr id="27" name="TextBox 26">
            <a:extLst>
              <a:ext uri="{FF2B5EF4-FFF2-40B4-BE49-F238E27FC236}">
                <a16:creationId xmlns:a16="http://schemas.microsoft.com/office/drawing/2014/main" id="{6F850AB2-A256-A5C8-8445-8D345D8A005E}"/>
              </a:ext>
            </a:extLst>
          </p:cNvPr>
          <p:cNvSpPr txBox="1"/>
          <p:nvPr/>
        </p:nvSpPr>
        <p:spPr>
          <a:xfrm>
            <a:off x="1916719" y="5233197"/>
            <a:ext cx="1399881" cy="246221"/>
          </a:xfrm>
          <a:prstGeom prst="rect">
            <a:avLst/>
          </a:prstGeom>
          <a:noFill/>
        </p:spPr>
        <p:txBody>
          <a:bodyPr wrap="square">
            <a:spAutoFit/>
          </a:bodyPr>
          <a:lstStyle/>
          <a:p>
            <a:pPr marL="0" marR="0" lvl="0" indent="0" algn="ctr" defTabSz="342898" rtl="0" eaLnBrk="1" fontAlgn="b"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a:ea typeface="Arial"/>
                <a:cs typeface="Arial"/>
                <a:sym typeface="Arial"/>
              </a:rPr>
              <a:t>% of Patients</a:t>
            </a:r>
          </a:p>
        </p:txBody>
      </p:sp>
      <p:sp>
        <p:nvSpPr>
          <p:cNvPr id="28" name="TextBox 27">
            <a:extLst>
              <a:ext uri="{FF2B5EF4-FFF2-40B4-BE49-F238E27FC236}">
                <a16:creationId xmlns:a16="http://schemas.microsoft.com/office/drawing/2014/main" id="{FD9AB9B8-023C-FA15-3157-2021F9B7BF58}"/>
              </a:ext>
            </a:extLst>
          </p:cNvPr>
          <p:cNvSpPr txBox="1"/>
          <p:nvPr/>
        </p:nvSpPr>
        <p:spPr>
          <a:xfrm>
            <a:off x="6000214" y="5233197"/>
            <a:ext cx="1399881" cy="246221"/>
          </a:xfrm>
          <a:prstGeom prst="rect">
            <a:avLst/>
          </a:prstGeom>
          <a:noFill/>
        </p:spPr>
        <p:txBody>
          <a:bodyPr wrap="square">
            <a:spAutoFit/>
          </a:bodyPr>
          <a:lstStyle/>
          <a:p>
            <a:pPr marL="0" marR="0" lvl="0" indent="0" algn="ctr" defTabSz="342898" rtl="0" eaLnBrk="1" fontAlgn="b"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rgbClr val="071D49"/>
                </a:solidFill>
                <a:effectLst/>
                <a:uLnTx/>
                <a:uFillTx/>
                <a:latin typeface="Arial"/>
                <a:ea typeface="Arial"/>
                <a:cs typeface="Arial"/>
                <a:sym typeface="Arial"/>
              </a:rPr>
              <a:t>% of Patients</a:t>
            </a:r>
          </a:p>
        </p:txBody>
      </p:sp>
    </p:spTree>
    <p:extLst>
      <p:ext uri="{BB962C8B-B14F-4D97-AF65-F5344CB8AC3E}">
        <p14:creationId xmlns:p14="http://schemas.microsoft.com/office/powerpoint/2010/main" val="1629876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5"/>
    </p:ext>
  </p:extLst>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Shape 340">
          <a:extLst>
            <a:ext uri="{FF2B5EF4-FFF2-40B4-BE49-F238E27FC236}">
              <a16:creationId xmlns:a16="http://schemas.microsoft.com/office/drawing/2014/main" id="{808E1F82-C93B-27CC-0B5C-DC7DB46A784D}"/>
            </a:ext>
          </a:extLst>
        </p:cNvPr>
        <p:cNvGrpSpPr/>
        <p:nvPr/>
      </p:nvGrpSpPr>
      <p:grpSpPr>
        <a:xfrm>
          <a:off x="0" y="0"/>
          <a:ext cx="0" cy="0"/>
          <a:chOff x="0" y="0"/>
          <a:chExt cx="0" cy="0"/>
        </a:xfrm>
      </p:grpSpPr>
      <p:sp>
        <p:nvSpPr>
          <p:cNvPr id="100" name="Google Shape;1494;p37">
            <a:extLst>
              <a:ext uri="{FF2B5EF4-FFF2-40B4-BE49-F238E27FC236}">
                <a16:creationId xmlns:a16="http://schemas.microsoft.com/office/drawing/2014/main" id="{6963F377-7598-7022-E29C-AC0004947C34}"/>
              </a:ext>
            </a:extLst>
          </p:cNvPr>
          <p:cNvSpPr txBox="1">
            <a:spLocks/>
          </p:cNvSpPr>
          <p:nvPr/>
        </p:nvSpPr>
        <p:spPr>
          <a:xfrm>
            <a:off x="1243459" y="4458014"/>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Recall</a:t>
            </a:r>
          </a:p>
        </p:txBody>
      </p:sp>
      <p:graphicFrame>
        <p:nvGraphicFramePr>
          <p:cNvPr id="84" name="Google Shape;1476;p37">
            <a:extLst>
              <a:ext uri="{FF2B5EF4-FFF2-40B4-BE49-F238E27FC236}">
                <a16:creationId xmlns:a16="http://schemas.microsoft.com/office/drawing/2014/main" id="{F745D7D9-7D56-8156-AD33-DF88C36A8EE8}"/>
              </a:ext>
            </a:extLst>
          </p:cNvPr>
          <p:cNvGraphicFramePr/>
          <p:nvPr>
            <p:custDataLst>
              <p:tags r:id="rId1"/>
            </p:custDataLst>
          </p:nvPr>
        </p:nvGraphicFramePr>
        <p:xfrm>
          <a:off x="888330" y="1549494"/>
          <a:ext cx="4146875" cy="4003577"/>
        </p:xfrm>
        <a:graphic>
          <a:graphicData uri="http://schemas.openxmlformats.org/drawingml/2006/chart">
            <c:chart xmlns:c="http://schemas.openxmlformats.org/drawingml/2006/chart" xmlns:r="http://schemas.openxmlformats.org/officeDocument/2006/relationships" r:id="rId5"/>
          </a:graphicData>
        </a:graphic>
      </p:graphicFrame>
      <p:cxnSp>
        <p:nvCxnSpPr>
          <p:cNvPr id="2" name="Google Shape;1477;p37">
            <a:extLst>
              <a:ext uri="{FF2B5EF4-FFF2-40B4-BE49-F238E27FC236}">
                <a16:creationId xmlns:a16="http://schemas.microsoft.com/office/drawing/2014/main" id="{EF21052A-1F9E-3D3B-E81E-7FC86E782F98}"/>
              </a:ext>
            </a:extLst>
          </p:cNvPr>
          <p:cNvCxnSpPr>
            <a:cxnSpLocks/>
          </p:cNvCxnSpPr>
          <p:nvPr/>
        </p:nvCxnSpPr>
        <p:spPr>
          <a:xfrm>
            <a:off x="3175386" y="1721573"/>
            <a:ext cx="0" cy="3110007"/>
          </a:xfrm>
          <a:prstGeom prst="straightConnector1">
            <a:avLst/>
          </a:prstGeom>
          <a:solidFill>
            <a:schemeClr val="accent1"/>
          </a:solidFill>
          <a:ln w="9525" cap="flat" cmpd="sng">
            <a:solidFill>
              <a:srgbClr val="A5A5A5"/>
            </a:solidFill>
            <a:prstDash val="dash"/>
            <a:round/>
            <a:headEnd type="none" w="sm" len="sm"/>
            <a:tailEnd type="none" w="sm" len="sm"/>
          </a:ln>
        </p:spPr>
      </p:cxnSp>
      <p:cxnSp>
        <p:nvCxnSpPr>
          <p:cNvPr id="8" name="Google Shape;1478;p37">
            <a:extLst>
              <a:ext uri="{FF2B5EF4-FFF2-40B4-BE49-F238E27FC236}">
                <a16:creationId xmlns:a16="http://schemas.microsoft.com/office/drawing/2014/main" id="{31413EE5-DE84-4926-FF29-BE69A90DEB43}"/>
              </a:ext>
            </a:extLst>
          </p:cNvPr>
          <p:cNvCxnSpPr>
            <a:cxnSpLocks/>
          </p:cNvCxnSpPr>
          <p:nvPr/>
        </p:nvCxnSpPr>
        <p:spPr>
          <a:xfrm>
            <a:off x="1240760" y="3342492"/>
            <a:ext cx="3564173" cy="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89" name="Google Shape;1481;p37">
            <a:extLst>
              <a:ext uri="{FF2B5EF4-FFF2-40B4-BE49-F238E27FC236}">
                <a16:creationId xmlns:a16="http://schemas.microsoft.com/office/drawing/2014/main" id="{CDB514E4-E950-C41B-8295-D0C38237FC8E}"/>
              </a:ext>
            </a:extLst>
          </p:cNvPr>
          <p:cNvSpPr txBox="1"/>
          <p:nvPr/>
        </p:nvSpPr>
        <p:spPr>
          <a:xfrm>
            <a:off x="1034958" y="5051015"/>
            <a:ext cx="465636"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2" name="Google Shape;1484;p37">
            <a:extLst>
              <a:ext uri="{FF2B5EF4-FFF2-40B4-BE49-F238E27FC236}">
                <a16:creationId xmlns:a16="http://schemas.microsoft.com/office/drawing/2014/main" id="{DBB3AD40-C7BF-4A25-5BFC-D66F6581BEF2}"/>
              </a:ext>
            </a:extLst>
          </p:cNvPr>
          <p:cNvSpPr txBox="1"/>
          <p:nvPr/>
        </p:nvSpPr>
        <p:spPr>
          <a:xfrm rot="16200000">
            <a:off x="293927" y="3219401"/>
            <a:ext cx="1512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Recall</a:t>
            </a:r>
          </a:p>
        </p:txBody>
      </p:sp>
      <p:sp>
        <p:nvSpPr>
          <p:cNvPr id="94" name="Google Shape;1488;p37">
            <a:extLst>
              <a:ext uri="{FF2B5EF4-FFF2-40B4-BE49-F238E27FC236}">
                <a16:creationId xmlns:a16="http://schemas.microsoft.com/office/drawing/2014/main" id="{24312230-A190-B3AB-E264-D620CFD8BBB1}"/>
              </a:ext>
            </a:extLst>
          </p:cNvPr>
          <p:cNvSpPr txBox="1"/>
          <p:nvPr/>
        </p:nvSpPr>
        <p:spPr>
          <a:xfrm rot="16200000">
            <a:off x="637365" y="4744373"/>
            <a:ext cx="417269"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5" name="Google Shape;1489;p37">
            <a:extLst>
              <a:ext uri="{FF2B5EF4-FFF2-40B4-BE49-F238E27FC236}">
                <a16:creationId xmlns:a16="http://schemas.microsoft.com/office/drawing/2014/main" id="{1C276958-EF9F-1653-7FAA-B2F84930FB79}"/>
              </a:ext>
            </a:extLst>
          </p:cNvPr>
          <p:cNvSpPr txBox="1"/>
          <p:nvPr/>
        </p:nvSpPr>
        <p:spPr>
          <a:xfrm>
            <a:off x="1055991" y="4897203"/>
            <a:ext cx="435897"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30%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8" name="Group 17">
            <a:extLst>
              <a:ext uri="{FF2B5EF4-FFF2-40B4-BE49-F238E27FC236}">
                <a16:creationId xmlns:a16="http://schemas.microsoft.com/office/drawing/2014/main" id="{65DBB7A6-EBD3-C199-9FE7-421861360D5C}"/>
              </a:ext>
            </a:extLst>
          </p:cNvPr>
          <p:cNvGrpSpPr/>
          <p:nvPr/>
        </p:nvGrpSpPr>
        <p:grpSpPr>
          <a:xfrm>
            <a:off x="4386582" y="4897203"/>
            <a:ext cx="477329" cy="400033"/>
            <a:chOff x="4347436" y="4897203"/>
            <a:chExt cx="477329" cy="400033"/>
          </a:xfrm>
        </p:grpSpPr>
        <p:sp>
          <p:nvSpPr>
            <p:cNvPr id="88" name="Google Shape;1480;p37">
              <a:extLst>
                <a:ext uri="{FF2B5EF4-FFF2-40B4-BE49-F238E27FC236}">
                  <a16:creationId xmlns:a16="http://schemas.microsoft.com/office/drawing/2014/main" id="{81BD44EF-F5DD-D5FD-B267-1CFF6D7C1031}"/>
                </a:ext>
              </a:extLst>
            </p:cNvPr>
            <p:cNvSpPr txBox="1"/>
            <p:nvPr/>
          </p:nvSpPr>
          <p:spPr>
            <a:xfrm>
              <a:off x="4364847" y="5051015"/>
              <a:ext cx="452008"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High</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6" name="Google Shape;1490;p37">
              <a:extLst>
                <a:ext uri="{FF2B5EF4-FFF2-40B4-BE49-F238E27FC236}">
                  <a16:creationId xmlns:a16="http://schemas.microsoft.com/office/drawing/2014/main" id="{DA2CAFE1-4142-154C-40F2-CCB6139C1646}"/>
                </a:ext>
              </a:extLst>
            </p:cNvPr>
            <p:cNvSpPr txBox="1"/>
            <p:nvPr/>
          </p:nvSpPr>
          <p:spPr>
            <a:xfrm>
              <a:off x="4347436" y="4897203"/>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97" name="Google Shape;1491;p37">
            <a:extLst>
              <a:ext uri="{FF2B5EF4-FFF2-40B4-BE49-F238E27FC236}">
                <a16:creationId xmlns:a16="http://schemas.microsoft.com/office/drawing/2014/main" id="{AB82E6B6-8C07-863A-79D7-0342D443AD4A}"/>
              </a:ext>
            </a:extLst>
          </p:cNvPr>
          <p:cNvSpPr txBox="1"/>
          <p:nvPr/>
        </p:nvSpPr>
        <p:spPr>
          <a:xfrm rot="16200000">
            <a:off x="787984" y="4746437"/>
            <a:ext cx="478595"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9" name="Google Shape;1493;p37">
            <a:extLst>
              <a:ext uri="{FF2B5EF4-FFF2-40B4-BE49-F238E27FC236}">
                <a16:creationId xmlns:a16="http://schemas.microsoft.com/office/drawing/2014/main" id="{0BCFBDC3-608B-F658-393B-505778C7E0A1}"/>
              </a:ext>
            </a:extLst>
          </p:cNvPr>
          <p:cNvSpPr txBox="1"/>
          <p:nvPr/>
        </p:nvSpPr>
        <p:spPr>
          <a:xfrm>
            <a:off x="3661422" y="1710780"/>
            <a:ext cx="1155433" cy="338514"/>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Recall</a:t>
            </a:r>
            <a:endParaRPr kumimoji="0" lang="en-US" sz="11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9" name="Group 38">
            <a:extLst>
              <a:ext uri="{FF2B5EF4-FFF2-40B4-BE49-F238E27FC236}">
                <a16:creationId xmlns:a16="http://schemas.microsoft.com/office/drawing/2014/main" id="{E4CD53DC-304E-9040-C92E-721962AE79AA}"/>
              </a:ext>
            </a:extLst>
          </p:cNvPr>
          <p:cNvGrpSpPr/>
          <p:nvPr/>
        </p:nvGrpSpPr>
        <p:grpSpPr>
          <a:xfrm>
            <a:off x="5255235" y="2680061"/>
            <a:ext cx="2453665" cy="533439"/>
            <a:chOff x="4936735" y="5933973"/>
            <a:chExt cx="2453665" cy="533438"/>
          </a:xfrm>
        </p:grpSpPr>
        <p:sp>
          <p:nvSpPr>
            <p:cNvPr id="40" name="Google Shape;347;p10">
              <a:extLst>
                <a:ext uri="{FF2B5EF4-FFF2-40B4-BE49-F238E27FC236}">
                  <a16:creationId xmlns:a16="http://schemas.microsoft.com/office/drawing/2014/main" id="{389BF975-890D-0816-4094-4BF040623EFA}"/>
                </a:ext>
              </a:extLst>
            </p:cNvPr>
            <p:cNvSpPr/>
            <p:nvPr/>
          </p:nvSpPr>
          <p:spPr>
            <a:xfrm>
              <a:off x="5017833" y="5933973"/>
              <a:ext cx="2372567" cy="533438"/>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CREON (Nov’25 – Dec’25)</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(Nov’25 – Dec’25): n = 108)</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115)</a:t>
              </a:r>
            </a:p>
          </p:txBody>
        </p:sp>
        <p:sp>
          <p:nvSpPr>
            <p:cNvPr id="41" name="Google Shape;348;p10">
              <a:extLst>
                <a:ext uri="{FF2B5EF4-FFF2-40B4-BE49-F238E27FC236}">
                  <a16:creationId xmlns:a16="http://schemas.microsoft.com/office/drawing/2014/main" id="{244FDDB8-F59B-A098-663A-2407190DCCAB}"/>
                </a:ext>
              </a:extLst>
            </p:cNvPr>
            <p:cNvSpPr/>
            <p:nvPr/>
          </p:nvSpPr>
          <p:spPr>
            <a:xfrm>
              <a:off x="4936735" y="6073413"/>
              <a:ext cx="91521" cy="91440"/>
            </a:xfrm>
            <a:prstGeom prst="ellipse">
              <a:avLst/>
            </a:prstGeom>
            <a:solidFill>
              <a:srgbClr val="36729C"/>
            </a:solidFill>
            <a:ln w="9525" cap="flat" cmpd="sng">
              <a:solidFill>
                <a:srgbClr val="36729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
        <p:nvSpPr>
          <p:cNvPr id="107" name="Google Shape;1498;p37">
            <a:extLst>
              <a:ext uri="{FF2B5EF4-FFF2-40B4-BE49-F238E27FC236}">
                <a16:creationId xmlns:a16="http://schemas.microsoft.com/office/drawing/2014/main" id="{EC2C660F-22FC-A407-12FB-2BB500D8275C}"/>
              </a:ext>
            </a:extLst>
          </p:cNvPr>
          <p:cNvSpPr txBox="1"/>
          <p:nvPr/>
        </p:nvSpPr>
        <p:spPr>
          <a:xfrm>
            <a:off x="928800" y="5979078"/>
            <a:ext cx="7657734"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^message text in speaker notes | Grey dotted lines represent wave averages | ‘ Messages removed Nov’25| New messages added in W32: C20, C21, C22 | Messages Edited in W32: C1, C6, C9, C11 </a:t>
            </a:r>
            <a:endParaRPr kumimoji="0" lang="en-IN" sz="1400" b="0" i="0" u="none" strike="noStrike" kern="0" cap="none" spc="0" normalizeH="0" baseline="0" noProof="0">
              <a:ln>
                <a:noFill/>
              </a:ln>
              <a:solidFill>
                <a:srgbClr val="001D49"/>
              </a:solidFill>
              <a:effectLst/>
              <a:uLnTx/>
              <a:uFillTx/>
              <a:latin typeface="Arial" panose="020B0604020202020204" pitchFamily="34" charset="0"/>
              <a:cs typeface="Arial" panose="020B0604020202020204" pitchFamily="34" charset="0"/>
              <a:sym typeface="Arial"/>
            </a:endParaRPr>
          </a:p>
        </p:txBody>
      </p:sp>
      <p:sp>
        <p:nvSpPr>
          <p:cNvPr id="51" name="TextBox 50">
            <a:extLst>
              <a:ext uri="{FF2B5EF4-FFF2-40B4-BE49-F238E27FC236}">
                <a16:creationId xmlns:a16="http://schemas.microsoft.com/office/drawing/2014/main" id="{5F9904A4-5072-007A-C71B-D48CB8B82C76}"/>
              </a:ext>
            </a:extLst>
          </p:cNvPr>
          <p:cNvSpPr txBox="1"/>
          <p:nvPr/>
        </p:nvSpPr>
        <p:spPr>
          <a:xfrm>
            <a:off x="1804832" y="941832"/>
            <a:ext cx="5534336" cy="424732"/>
          </a:xfrm>
          <a:prstGeom prst="rect">
            <a:avLst/>
          </a:prstGeom>
          <a:noFill/>
        </p:spPr>
        <p:txBody>
          <a:bodyPr wrap="square">
            <a:spAutoFit/>
          </a:bodyPr>
          <a:lstStyle/>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Updated Messages: Recall &amp; Message Effectiveness – CREON</a:t>
            </a:r>
            <a:r>
              <a:rPr kumimoji="0" lang="en-US" sz="1400" b="1" i="0" u="sng" strike="noStrike" kern="0" cap="none" spc="0" normalizeH="0" baseline="30000" noProof="0">
                <a:ln>
                  <a:noFill/>
                </a:ln>
                <a:solidFill>
                  <a:srgbClr val="071D49"/>
                </a:solidFill>
                <a:effectLst/>
                <a:uLnTx/>
                <a:uFillTx/>
                <a:latin typeface="Arial" panose="020B0604020202020204" pitchFamily="34" charset="0"/>
                <a:cs typeface="Arial" panose="020B0604020202020204" pitchFamily="34" charset="0"/>
                <a:sym typeface="Calibri"/>
              </a:rPr>
              <a:t>^</a:t>
            </a:r>
          </a:p>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(Sep’25 – Oct’25 | Nov’25 – Dec’25)</a:t>
            </a:r>
            <a:endParaRPr kumimoji="0" lang="en-US" sz="1000" b="1" i="0" u="none" strike="noStrike" kern="0" cap="none" spc="0" normalizeH="0" baseline="0" noProof="0">
              <a:ln>
                <a:noFill/>
              </a:ln>
              <a:solidFill>
                <a:srgbClr val="6D67B5"/>
              </a:solidFill>
              <a:effectLst/>
              <a:uLnTx/>
              <a:uFillTx/>
              <a:latin typeface="Arial" panose="020B0604020202020204" pitchFamily="34" charset="0"/>
              <a:cs typeface="Arial" panose="020B0604020202020204" pitchFamily="34" charset="0"/>
              <a:sym typeface="Arial"/>
            </a:endParaRPr>
          </a:p>
        </p:txBody>
      </p:sp>
      <p:sp>
        <p:nvSpPr>
          <p:cNvPr id="50" name="Google Shape;1493;p37">
            <a:extLst>
              <a:ext uri="{FF2B5EF4-FFF2-40B4-BE49-F238E27FC236}">
                <a16:creationId xmlns:a16="http://schemas.microsoft.com/office/drawing/2014/main" id="{5283D1AC-4AF7-F2A6-DD65-12C971BE0DC1}"/>
              </a:ext>
            </a:extLst>
          </p:cNvPr>
          <p:cNvSpPr txBox="1"/>
          <p:nvPr/>
        </p:nvSpPr>
        <p:spPr>
          <a:xfrm>
            <a:off x="3699522" y="4496113"/>
            <a:ext cx="1155433" cy="338514"/>
          </a:xfrm>
          <a:prstGeom prst="rect">
            <a:avLst/>
          </a:prstGeom>
          <a:noFill/>
          <a:ln>
            <a:noFill/>
          </a:ln>
        </p:spPr>
        <p:txBody>
          <a:bodyPr spcFirstLastPara="1" wrap="square" lIns="91425" tIns="45700" rIns="91425" bIns="45700" anchor="b"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Calibri"/>
              </a:rPr>
              <a:t>Low Recall</a:t>
            </a:r>
            <a:endParaRPr kumimoji="0" lang="en-US" sz="1100" b="0"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Arial"/>
            </a:endParaRPr>
          </a:p>
        </p:txBody>
      </p:sp>
      <p:sp>
        <p:nvSpPr>
          <p:cNvPr id="55" name="Google Shape;1494;p37">
            <a:extLst>
              <a:ext uri="{FF2B5EF4-FFF2-40B4-BE49-F238E27FC236}">
                <a16:creationId xmlns:a16="http://schemas.microsoft.com/office/drawing/2014/main" id="{D1C3F303-3BF4-6BEE-D47C-12C4C5999395}"/>
              </a:ext>
            </a:extLst>
          </p:cNvPr>
          <p:cNvSpPr txBox="1"/>
          <p:nvPr/>
        </p:nvSpPr>
        <p:spPr>
          <a:xfrm>
            <a:off x="1243459" y="1710780"/>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5D8EAF"/>
                </a:solidFill>
                <a:effectLst/>
                <a:uLnTx/>
                <a:uFillTx/>
                <a:latin typeface="Arial" panose="020B0604020202020204" pitchFamily="34" charset="0"/>
                <a:ea typeface="Calibri"/>
                <a:cs typeface="Arial" panose="020B0604020202020204" pitchFamily="34" charset="0"/>
                <a:sym typeface="Calibri"/>
              </a:rPr>
              <a:t>High Recall</a:t>
            </a:r>
          </a:p>
        </p:txBody>
      </p:sp>
      <p:sp>
        <p:nvSpPr>
          <p:cNvPr id="56" name="Google Shape;1483;p37">
            <a:extLst>
              <a:ext uri="{FF2B5EF4-FFF2-40B4-BE49-F238E27FC236}">
                <a16:creationId xmlns:a16="http://schemas.microsoft.com/office/drawing/2014/main" id="{96F47A6C-594A-41BA-5699-3A62E76863A0}"/>
              </a:ext>
            </a:extLst>
          </p:cNvPr>
          <p:cNvSpPr txBox="1"/>
          <p:nvPr/>
        </p:nvSpPr>
        <p:spPr>
          <a:xfrm>
            <a:off x="2023265" y="4926619"/>
            <a:ext cx="1980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Effectiveness</a:t>
            </a:r>
          </a:p>
        </p:txBody>
      </p:sp>
      <p:sp>
        <p:nvSpPr>
          <p:cNvPr id="7" name="Google Shape;2440;p63">
            <a:extLst>
              <a:ext uri="{FF2B5EF4-FFF2-40B4-BE49-F238E27FC236}">
                <a16:creationId xmlns:a16="http://schemas.microsoft.com/office/drawing/2014/main" id="{D448CFC7-5115-1919-B5B4-238C73476CE8}"/>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CREON’s new messages (C20, C21, C22) were close to average in both recall and effectiveness, while edited messages C9 and C11 showed slight improvements this wave</a:t>
            </a:r>
            <a:endParaRPr kumimoji="0" lang="en-US" sz="1400" b="0" i="0" u="none" strike="sng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endParaRPr>
          </a:p>
        </p:txBody>
      </p:sp>
      <p:sp>
        <p:nvSpPr>
          <p:cNvPr id="16" name="Google Shape;1490;p37">
            <a:extLst>
              <a:ext uri="{FF2B5EF4-FFF2-40B4-BE49-F238E27FC236}">
                <a16:creationId xmlns:a16="http://schemas.microsoft.com/office/drawing/2014/main" id="{0ED1C7FE-8D23-C8F5-418B-89261DDF2D36}"/>
              </a:ext>
            </a:extLst>
          </p:cNvPr>
          <p:cNvSpPr txBox="1"/>
          <p:nvPr/>
        </p:nvSpPr>
        <p:spPr>
          <a:xfrm rot="16200000">
            <a:off x="788580" y="1701268"/>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4" name="Group 13">
            <a:extLst>
              <a:ext uri="{FF2B5EF4-FFF2-40B4-BE49-F238E27FC236}">
                <a16:creationId xmlns:a16="http://schemas.microsoft.com/office/drawing/2014/main" id="{8D1C8F7A-272B-A117-9EAB-93CEA58E5AC2}"/>
              </a:ext>
            </a:extLst>
          </p:cNvPr>
          <p:cNvGrpSpPr/>
          <p:nvPr/>
        </p:nvGrpSpPr>
        <p:grpSpPr>
          <a:xfrm>
            <a:off x="5255235" y="3873093"/>
            <a:ext cx="3422819" cy="400069"/>
            <a:chOff x="5221982" y="5590223"/>
            <a:chExt cx="3422818" cy="400069"/>
          </a:xfrm>
        </p:grpSpPr>
        <p:sp>
          <p:nvSpPr>
            <p:cNvPr id="15" name="Google Shape;345;p10">
              <a:extLst>
                <a:ext uri="{FF2B5EF4-FFF2-40B4-BE49-F238E27FC236}">
                  <a16:creationId xmlns:a16="http://schemas.microsoft.com/office/drawing/2014/main" id="{8FC28FF9-E7B7-46E0-B7DF-AC504AA3538C}"/>
                </a:ext>
              </a:extLst>
            </p:cNvPr>
            <p:cNvSpPr/>
            <p:nvPr/>
          </p:nvSpPr>
          <p:spPr>
            <a:xfrm>
              <a:off x="5303041" y="5590223"/>
              <a:ext cx="3341759" cy="40006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Wave Average</a:t>
              </a:r>
              <a:b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b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(Message Effectiveness- 57%, Message Recall - 38%)</a:t>
              </a:r>
              <a:endParaRPr kumimoji="0" sz="1000" b="0" i="0" u="none" strike="noStrike" kern="0" cap="none" spc="0" normalizeH="0" baseline="0" noProof="0">
                <a:ln>
                  <a:noFill/>
                </a:ln>
                <a:solidFill>
                  <a:prstClr val="white">
                    <a:lumMod val="65000"/>
                  </a:prstClr>
                </a:solidFill>
                <a:effectLst/>
                <a:uLnTx/>
                <a:uFillTx/>
                <a:latin typeface="Arial" panose="020B0604020202020204" pitchFamily="34" charset="0"/>
                <a:cs typeface="Arial" panose="020B0604020202020204" pitchFamily="34" charset="0"/>
                <a:sym typeface="Arial"/>
              </a:endParaRPr>
            </a:p>
          </p:txBody>
        </p:sp>
        <p:sp>
          <p:nvSpPr>
            <p:cNvPr id="17" name="Google Shape;346;p10">
              <a:extLst>
                <a:ext uri="{FF2B5EF4-FFF2-40B4-BE49-F238E27FC236}">
                  <a16:creationId xmlns:a16="http://schemas.microsoft.com/office/drawing/2014/main" id="{9EE64440-33BE-C079-A91D-4DC7D4362DE6}"/>
                </a:ext>
              </a:extLst>
            </p:cNvPr>
            <p:cNvSpPr/>
            <p:nvPr/>
          </p:nvSpPr>
          <p:spPr>
            <a:xfrm>
              <a:off x="5221982" y="5734667"/>
              <a:ext cx="91440" cy="91440"/>
            </a:xfrm>
            <a:prstGeom prst="rect">
              <a:avLst/>
            </a:prstGeom>
            <a:solidFill>
              <a:schemeClr val="bg1">
                <a:lumMod val="6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
        <p:nvSpPr>
          <p:cNvPr id="12" name="Google Shape;348;p10">
            <a:extLst>
              <a:ext uri="{FF2B5EF4-FFF2-40B4-BE49-F238E27FC236}">
                <a16:creationId xmlns:a16="http://schemas.microsoft.com/office/drawing/2014/main" id="{720FEA3A-B453-A3D6-7B01-D87ACD3FAC5A}"/>
              </a:ext>
            </a:extLst>
          </p:cNvPr>
          <p:cNvSpPr/>
          <p:nvPr/>
        </p:nvSpPr>
        <p:spPr>
          <a:xfrm>
            <a:off x="5255235" y="3411642"/>
            <a:ext cx="91521" cy="88571"/>
          </a:xfrm>
          <a:prstGeom prst="ellipse">
            <a:avLst/>
          </a:prstGeom>
          <a:solidFill>
            <a:schemeClr val="tx2">
              <a:lumMod val="60000"/>
              <a:lumOff val="40000"/>
            </a:schemeClr>
          </a:solidFill>
          <a:ln w="9525" cap="flat" cmpd="sng">
            <a:no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sp>
        <p:nvSpPr>
          <p:cNvPr id="9" name="TextBox 8">
            <a:extLst>
              <a:ext uri="{FF2B5EF4-FFF2-40B4-BE49-F238E27FC236}">
                <a16:creationId xmlns:a16="http://schemas.microsoft.com/office/drawing/2014/main" id="{20C495ED-6AE8-5E58-E989-C40A429288DC}"/>
              </a:ext>
            </a:extLst>
          </p:cNvPr>
          <p:cNvSpPr txBox="1"/>
          <p:nvPr/>
        </p:nvSpPr>
        <p:spPr>
          <a:xfrm>
            <a:off x="1846060" y="5472149"/>
            <a:ext cx="2277374" cy="215444"/>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hlinkClick r:id="rId6" action="ppaction://hlinksldjump"/>
              </a:rPr>
              <a:t>&gt;&gt;CREON Message recall: all messages</a:t>
            </a: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rPr>
              <a:t> </a:t>
            </a:r>
          </a:p>
        </p:txBody>
      </p:sp>
      <p:sp>
        <p:nvSpPr>
          <p:cNvPr id="13" name="Google Shape;347;p10">
            <a:extLst>
              <a:ext uri="{FF2B5EF4-FFF2-40B4-BE49-F238E27FC236}">
                <a16:creationId xmlns:a16="http://schemas.microsoft.com/office/drawing/2014/main" id="{3005ACBD-CE5E-80EA-9235-008F6C81B577}"/>
              </a:ext>
            </a:extLst>
          </p:cNvPr>
          <p:cNvSpPr/>
          <p:nvPr/>
        </p:nvSpPr>
        <p:spPr>
          <a:xfrm>
            <a:off x="5336294" y="3233493"/>
            <a:ext cx="2372567" cy="53343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CREON (Sep’25 – Oct’25)</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(Sep’25 – Oct’25): n = 104)</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Sep’25 – Oct’25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114)</a:t>
            </a:r>
          </a:p>
        </p:txBody>
      </p:sp>
      <p:sp>
        <p:nvSpPr>
          <p:cNvPr id="20" name="Google Shape;1488;p37">
            <a:extLst>
              <a:ext uri="{FF2B5EF4-FFF2-40B4-BE49-F238E27FC236}">
                <a16:creationId xmlns:a16="http://schemas.microsoft.com/office/drawing/2014/main" id="{4C4330A5-3AE1-2415-7C52-7DC2AC4072A0}"/>
              </a:ext>
            </a:extLst>
          </p:cNvPr>
          <p:cNvSpPr txBox="1"/>
          <p:nvPr/>
        </p:nvSpPr>
        <p:spPr>
          <a:xfrm rot="16200000">
            <a:off x="607337" y="1747747"/>
            <a:ext cx="477327" cy="24618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High</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cxnSp>
        <p:nvCxnSpPr>
          <p:cNvPr id="4" name="Straight Arrow Connector 3">
            <a:extLst>
              <a:ext uri="{FF2B5EF4-FFF2-40B4-BE49-F238E27FC236}">
                <a16:creationId xmlns:a16="http://schemas.microsoft.com/office/drawing/2014/main" id="{AF38A897-60D2-2DCB-2ADD-E7DF9695F3CF}"/>
              </a:ext>
            </a:extLst>
          </p:cNvPr>
          <p:cNvCxnSpPr/>
          <p:nvPr/>
        </p:nvCxnSpPr>
        <p:spPr>
          <a:xfrm flipH="1" flipV="1">
            <a:off x="3321050" y="2819501"/>
            <a:ext cx="41275" cy="295174"/>
          </a:xfrm>
          <a:prstGeom prst="straightConnector1">
            <a:avLst/>
          </a:prstGeom>
          <a:ln w="15875">
            <a:solidFill>
              <a:schemeClr val="bg1">
                <a:lumMod val="85000"/>
              </a:schemeClr>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6" name="Straight Arrow Connector 5">
            <a:extLst>
              <a:ext uri="{FF2B5EF4-FFF2-40B4-BE49-F238E27FC236}">
                <a16:creationId xmlns:a16="http://schemas.microsoft.com/office/drawing/2014/main" id="{4C80E472-52CB-5C38-8E4B-83FDDD523567}"/>
              </a:ext>
            </a:extLst>
          </p:cNvPr>
          <p:cNvCxnSpPr>
            <a:cxnSpLocks/>
          </p:cNvCxnSpPr>
          <p:nvPr/>
        </p:nvCxnSpPr>
        <p:spPr>
          <a:xfrm flipV="1">
            <a:off x="3382066" y="3365500"/>
            <a:ext cx="317456" cy="176257"/>
          </a:xfrm>
          <a:prstGeom prst="straightConnector1">
            <a:avLst/>
          </a:prstGeom>
          <a:ln w="15875">
            <a:solidFill>
              <a:schemeClr val="bg1">
                <a:lumMod val="85000"/>
              </a:schemeClr>
            </a:solidFill>
            <a:tailEnd type="triangle"/>
          </a:ln>
          <a:effectLst/>
        </p:spPr>
        <p:style>
          <a:lnRef idx="2">
            <a:schemeClr val="accent1"/>
          </a:lnRef>
          <a:fillRef idx="0">
            <a:schemeClr val="accent1"/>
          </a:fillRef>
          <a:effectRef idx="1">
            <a:schemeClr val="accent1"/>
          </a:effectRef>
          <a:fontRef idx="minor">
            <a:schemeClr val="tx1"/>
          </a:fontRef>
        </p:style>
      </p:cxnSp>
      <p:sp>
        <p:nvSpPr>
          <p:cNvPr id="3" name="TextBox 2">
            <a:extLst>
              <a:ext uri="{FF2B5EF4-FFF2-40B4-BE49-F238E27FC236}">
                <a16:creationId xmlns:a16="http://schemas.microsoft.com/office/drawing/2014/main" id="{42CCF9FD-3C62-F169-D524-9AA62D16C793}"/>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7"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1305687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4"/>
    </p:ext>
  </p:extLst>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Shape 340">
          <a:extLst>
            <a:ext uri="{FF2B5EF4-FFF2-40B4-BE49-F238E27FC236}">
              <a16:creationId xmlns:a16="http://schemas.microsoft.com/office/drawing/2014/main" id="{F02D5482-DA41-5E64-A849-979C9E08D281}"/>
            </a:ext>
          </a:extLst>
        </p:cNvPr>
        <p:cNvGrpSpPr/>
        <p:nvPr/>
      </p:nvGrpSpPr>
      <p:grpSpPr>
        <a:xfrm>
          <a:off x="0" y="0"/>
          <a:ext cx="0" cy="0"/>
          <a:chOff x="0" y="0"/>
          <a:chExt cx="0" cy="0"/>
        </a:xfrm>
      </p:grpSpPr>
      <p:sp>
        <p:nvSpPr>
          <p:cNvPr id="100" name="Google Shape;1494;p37">
            <a:extLst>
              <a:ext uri="{FF2B5EF4-FFF2-40B4-BE49-F238E27FC236}">
                <a16:creationId xmlns:a16="http://schemas.microsoft.com/office/drawing/2014/main" id="{038AF85B-9D1F-86CE-F026-DD4E41320E1C}"/>
              </a:ext>
            </a:extLst>
          </p:cNvPr>
          <p:cNvSpPr txBox="1">
            <a:spLocks/>
          </p:cNvSpPr>
          <p:nvPr/>
        </p:nvSpPr>
        <p:spPr>
          <a:xfrm>
            <a:off x="1243459" y="4458014"/>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Recall</a:t>
            </a:r>
          </a:p>
        </p:txBody>
      </p:sp>
      <p:graphicFrame>
        <p:nvGraphicFramePr>
          <p:cNvPr id="84" name="Google Shape;1476;p37">
            <a:extLst>
              <a:ext uri="{FF2B5EF4-FFF2-40B4-BE49-F238E27FC236}">
                <a16:creationId xmlns:a16="http://schemas.microsoft.com/office/drawing/2014/main" id="{1713AB33-883A-93B5-5A92-D38AB9C33D78}"/>
              </a:ext>
            </a:extLst>
          </p:cNvPr>
          <p:cNvGraphicFramePr/>
          <p:nvPr>
            <p:custDataLst>
              <p:tags r:id="rId1"/>
            </p:custDataLst>
          </p:nvPr>
        </p:nvGraphicFramePr>
        <p:xfrm>
          <a:off x="888330" y="1549494"/>
          <a:ext cx="4146875" cy="4003577"/>
        </p:xfrm>
        <a:graphic>
          <a:graphicData uri="http://schemas.openxmlformats.org/drawingml/2006/chart">
            <c:chart xmlns:c="http://schemas.openxmlformats.org/drawingml/2006/chart" xmlns:r="http://schemas.openxmlformats.org/officeDocument/2006/relationships" r:id="rId5"/>
          </a:graphicData>
        </a:graphic>
      </p:graphicFrame>
      <p:cxnSp>
        <p:nvCxnSpPr>
          <p:cNvPr id="2" name="Google Shape;1477;p37">
            <a:extLst>
              <a:ext uri="{FF2B5EF4-FFF2-40B4-BE49-F238E27FC236}">
                <a16:creationId xmlns:a16="http://schemas.microsoft.com/office/drawing/2014/main" id="{69578567-BB4E-E882-CE43-3FB83BBC9A00}"/>
              </a:ext>
            </a:extLst>
          </p:cNvPr>
          <p:cNvCxnSpPr>
            <a:cxnSpLocks/>
          </p:cNvCxnSpPr>
          <p:nvPr/>
        </p:nvCxnSpPr>
        <p:spPr>
          <a:xfrm>
            <a:off x="3188086" y="1721573"/>
            <a:ext cx="0" cy="3110007"/>
          </a:xfrm>
          <a:prstGeom prst="straightConnector1">
            <a:avLst/>
          </a:prstGeom>
          <a:solidFill>
            <a:schemeClr val="accent1"/>
          </a:solidFill>
          <a:ln w="9525" cap="flat" cmpd="sng">
            <a:solidFill>
              <a:srgbClr val="A5A5A5"/>
            </a:solidFill>
            <a:prstDash val="dash"/>
            <a:round/>
            <a:headEnd type="none" w="sm" len="sm"/>
            <a:tailEnd type="none" w="sm" len="sm"/>
          </a:ln>
        </p:spPr>
      </p:cxnSp>
      <p:cxnSp>
        <p:nvCxnSpPr>
          <p:cNvPr id="8" name="Google Shape;1478;p37">
            <a:extLst>
              <a:ext uri="{FF2B5EF4-FFF2-40B4-BE49-F238E27FC236}">
                <a16:creationId xmlns:a16="http://schemas.microsoft.com/office/drawing/2014/main" id="{0BC8E543-2FFA-FE7A-9AA9-AA3CA646B1AC}"/>
              </a:ext>
            </a:extLst>
          </p:cNvPr>
          <p:cNvCxnSpPr>
            <a:cxnSpLocks/>
          </p:cNvCxnSpPr>
          <p:nvPr/>
        </p:nvCxnSpPr>
        <p:spPr>
          <a:xfrm>
            <a:off x="1247110" y="3361542"/>
            <a:ext cx="3564173" cy="0"/>
          </a:xfrm>
          <a:prstGeom prst="straightConnector1">
            <a:avLst/>
          </a:prstGeom>
          <a:solidFill>
            <a:schemeClr val="accent1"/>
          </a:solidFill>
          <a:ln w="9525" cap="flat" cmpd="sng">
            <a:solidFill>
              <a:srgbClr val="A5A5A5"/>
            </a:solidFill>
            <a:prstDash val="dash"/>
            <a:round/>
            <a:headEnd type="none" w="sm" len="sm"/>
            <a:tailEnd type="none" w="sm" len="sm"/>
          </a:ln>
        </p:spPr>
      </p:cxnSp>
      <p:sp>
        <p:nvSpPr>
          <p:cNvPr id="89" name="Google Shape;1481;p37">
            <a:extLst>
              <a:ext uri="{FF2B5EF4-FFF2-40B4-BE49-F238E27FC236}">
                <a16:creationId xmlns:a16="http://schemas.microsoft.com/office/drawing/2014/main" id="{CF6A77D2-64C8-648A-DC70-D58345E5FE29}"/>
              </a:ext>
            </a:extLst>
          </p:cNvPr>
          <p:cNvSpPr txBox="1"/>
          <p:nvPr/>
        </p:nvSpPr>
        <p:spPr>
          <a:xfrm>
            <a:off x="1034958" y="5051015"/>
            <a:ext cx="465636"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2" name="Google Shape;1484;p37">
            <a:extLst>
              <a:ext uri="{FF2B5EF4-FFF2-40B4-BE49-F238E27FC236}">
                <a16:creationId xmlns:a16="http://schemas.microsoft.com/office/drawing/2014/main" id="{73B6A2F6-D12A-24B2-FB9C-A90DE7A656CC}"/>
              </a:ext>
            </a:extLst>
          </p:cNvPr>
          <p:cNvSpPr txBox="1"/>
          <p:nvPr/>
        </p:nvSpPr>
        <p:spPr>
          <a:xfrm rot="16200000">
            <a:off x="293927" y="3219401"/>
            <a:ext cx="1512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Recall</a:t>
            </a:r>
          </a:p>
        </p:txBody>
      </p:sp>
      <p:sp>
        <p:nvSpPr>
          <p:cNvPr id="94" name="Google Shape;1488;p37">
            <a:extLst>
              <a:ext uri="{FF2B5EF4-FFF2-40B4-BE49-F238E27FC236}">
                <a16:creationId xmlns:a16="http://schemas.microsoft.com/office/drawing/2014/main" id="{FA364384-CD71-2C3A-4745-DE72FB11D345}"/>
              </a:ext>
            </a:extLst>
          </p:cNvPr>
          <p:cNvSpPr txBox="1"/>
          <p:nvPr/>
        </p:nvSpPr>
        <p:spPr>
          <a:xfrm rot="16200000">
            <a:off x="637365" y="4744373"/>
            <a:ext cx="417269"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Low</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5" name="Google Shape;1489;p37">
            <a:extLst>
              <a:ext uri="{FF2B5EF4-FFF2-40B4-BE49-F238E27FC236}">
                <a16:creationId xmlns:a16="http://schemas.microsoft.com/office/drawing/2014/main" id="{C91A7ACC-95A2-A4E4-2336-E7D22F1EA949}"/>
              </a:ext>
            </a:extLst>
          </p:cNvPr>
          <p:cNvSpPr txBox="1"/>
          <p:nvPr/>
        </p:nvSpPr>
        <p:spPr>
          <a:xfrm>
            <a:off x="1055991" y="4897203"/>
            <a:ext cx="435897"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30%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8" name="Group 17">
            <a:extLst>
              <a:ext uri="{FF2B5EF4-FFF2-40B4-BE49-F238E27FC236}">
                <a16:creationId xmlns:a16="http://schemas.microsoft.com/office/drawing/2014/main" id="{A11B4454-70C2-C50D-34E4-B36236A788B7}"/>
              </a:ext>
            </a:extLst>
          </p:cNvPr>
          <p:cNvGrpSpPr/>
          <p:nvPr/>
        </p:nvGrpSpPr>
        <p:grpSpPr>
          <a:xfrm>
            <a:off x="4386582" y="4897203"/>
            <a:ext cx="477329" cy="400033"/>
            <a:chOff x="4347436" y="4897203"/>
            <a:chExt cx="477329" cy="400033"/>
          </a:xfrm>
        </p:grpSpPr>
        <p:sp>
          <p:nvSpPr>
            <p:cNvPr id="88" name="Google Shape;1480;p37">
              <a:extLst>
                <a:ext uri="{FF2B5EF4-FFF2-40B4-BE49-F238E27FC236}">
                  <a16:creationId xmlns:a16="http://schemas.microsoft.com/office/drawing/2014/main" id="{F3018B56-7710-E8F5-5699-CD6EC16B4157}"/>
                </a:ext>
              </a:extLst>
            </p:cNvPr>
            <p:cNvSpPr txBox="1"/>
            <p:nvPr/>
          </p:nvSpPr>
          <p:spPr>
            <a:xfrm>
              <a:off x="4364847" y="5051015"/>
              <a:ext cx="452008"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High</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6" name="Google Shape;1490;p37">
              <a:extLst>
                <a:ext uri="{FF2B5EF4-FFF2-40B4-BE49-F238E27FC236}">
                  <a16:creationId xmlns:a16="http://schemas.microsoft.com/office/drawing/2014/main" id="{702F0078-A254-A372-D502-0F87589005A3}"/>
                </a:ext>
              </a:extLst>
            </p:cNvPr>
            <p:cNvSpPr txBox="1"/>
            <p:nvPr/>
          </p:nvSpPr>
          <p:spPr>
            <a:xfrm>
              <a:off x="4347436" y="4897203"/>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97" name="Google Shape;1491;p37">
            <a:extLst>
              <a:ext uri="{FF2B5EF4-FFF2-40B4-BE49-F238E27FC236}">
                <a16:creationId xmlns:a16="http://schemas.microsoft.com/office/drawing/2014/main" id="{C9C5F3F6-9F35-76F0-EE57-5C0750ED8F9C}"/>
              </a:ext>
            </a:extLst>
          </p:cNvPr>
          <p:cNvSpPr txBox="1"/>
          <p:nvPr/>
        </p:nvSpPr>
        <p:spPr>
          <a:xfrm rot="16200000">
            <a:off x="787984" y="4746437"/>
            <a:ext cx="478595" cy="2461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9" name="Google Shape;1493;p37">
            <a:extLst>
              <a:ext uri="{FF2B5EF4-FFF2-40B4-BE49-F238E27FC236}">
                <a16:creationId xmlns:a16="http://schemas.microsoft.com/office/drawing/2014/main" id="{719D53B9-A945-8923-A347-9DB4AD3C77B1}"/>
              </a:ext>
            </a:extLst>
          </p:cNvPr>
          <p:cNvSpPr txBox="1"/>
          <p:nvPr/>
        </p:nvSpPr>
        <p:spPr>
          <a:xfrm>
            <a:off x="3661422" y="1710780"/>
            <a:ext cx="1155433" cy="338514"/>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Recall</a:t>
            </a:r>
            <a:endParaRPr kumimoji="0" lang="en-US" sz="11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7" name="Google Shape;1498;p37">
            <a:extLst>
              <a:ext uri="{FF2B5EF4-FFF2-40B4-BE49-F238E27FC236}">
                <a16:creationId xmlns:a16="http://schemas.microsoft.com/office/drawing/2014/main" id="{E7327A10-B420-EBE1-A41C-8D72314D0F53}"/>
              </a:ext>
            </a:extLst>
          </p:cNvPr>
          <p:cNvSpPr txBox="1"/>
          <p:nvPr/>
        </p:nvSpPr>
        <p:spPr>
          <a:xfrm>
            <a:off x="928800" y="5997366"/>
            <a:ext cx="6843600" cy="36929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Question text in speaker notes | n - No. of HCPs, | ^message text in speaker notes | Grey dotted lines represent wave averages | New message added in W32: Z24 | Messages Edited in W32: Z11, Z23</a:t>
            </a:r>
            <a:endParaRPr kumimoji="0" lang="en-IN" sz="900" b="0" i="0" u="none" strike="noStrike" kern="0" cap="none" spc="0" normalizeH="0" baseline="0" noProof="0">
              <a:ln>
                <a:noFill/>
              </a:ln>
              <a:solidFill>
                <a:srgbClr val="001D49"/>
              </a:solidFill>
              <a:effectLst/>
              <a:uLnTx/>
              <a:uFillTx/>
              <a:latin typeface="Arial" panose="020B0604020202020204" pitchFamily="34" charset="0"/>
              <a:cs typeface="Arial" panose="020B0604020202020204" pitchFamily="34" charset="0"/>
              <a:sym typeface="Arial"/>
            </a:endParaRPr>
          </a:p>
        </p:txBody>
      </p:sp>
      <p:sp>
        <p:nvSpPr>
          <p:cNvPr id="51" name="TextBox 50">
            <a:extLst>
              <a:ext uri="{FF2B5EF4-FFF2-40B4-BE49-F238E27FC236}">
                <a16:creationId xmlns:a16="http://schemas.microsoft.com/office/drawing/2014/main" id="{EF6960C2-BB9F-5884-4257-1437DC12BAC3}"/>
              </a:ext>
            </a:extLst>
          </p:cNvPr>
          <p:cNvSpPr txBox="1"/>
          <p:nvPr/>
        </p:nvSpPr>
        <p:spPr>
          <a:xfrm>
            <a:off x="1801368" y="941832"/>
            <a:ext cx="5719917" cy="424732"/>
          </a:xfrm>
          <a:prstGeom prst="rect">
            <a:avLst/>
          </a:prstGeom>
          <a:noFill/>
        </p:spPr>
        <p:txBody>
          <a:bodyPr wrap="square">
            <a:spAutoFit/>
          </a:bodyPr>
          <a:lstStyle/>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400" b="1" i="0" u="sng"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Updated Messages: Recall &amp; Message Effectiveness – ZENPEP</a:t>
            </a:r>
            <a:r>
              <a:rPr kumimoji="0" lang="en-US" sz="1400" b="1" i="0" u="sng" strike="noStrike" kern="0" cap="none" spc="0" normalizeH="0" baseline="30000" noProof="0">
                <a:ln>
                  <a:noFill/>
                </a:ln>
                <a:solidFill>
                  <a:srgbClr val="071D49"/>
                </a:solidFill>
                <a:effectLst/>
                <a:uLnTx/>
                <a:uFillTx/>
                <a:latin typeface="Arial" panose="020B0604020202020204" pitchFamily="34" charset="0"/>
                <a:cs typeface="Arial" panose="020B0604020202020204" pitchFamily="34" charset="0"/>
                <a:sym typeface="Calibri"/>
              </a:rPr>
              <a:t>^</a:t>
            </a:r>
          </a:p>
          <a:p>
            <a:pPr marL="0" marR="0" lvl="0" indent="0" algn="ctr" defTabSz="914400" rtl="0" eaLnBrk="1" fontAlgn="auto" latinLnBrk="0" hangingPunct="1">
              <a:lnSpc>
                <a:spcPct val="90000"/>
              </a:lnSpc>
              <a:spcBef>
                <a:spcPts val="0"/>
              </a:spcBef>
              <a:spcAft>
                <a:spcPts val="0"/>
              </a:spcAft>
              <a:buClr>
                <a:srgbClr val="000000"/>
              </a:buClr>
              <a:buSzPts val="1800"/>
              <a:buFont typeface="Arial"/>
              <a:buNone/>
              <a:tabLst/>
              <a:defRPr/>
            </a:pPr>
            <a:r>
              <a:rPr kumimoji="0" lang="en-US" sz="1000" b="0" i="0" u="sng"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(Sep’25 – Oct’25 | Nov’25 – Dec’25)</a:t>
            </a:r>
            <a:endParaRPr kumimoji="0" lang="en-US" sz="1000" b="1" i="0" u="none" strike="noStrike" kern="0" cap="none" spc="0" normalizeH="0" baseline="0" noProof="0">
              <a:ln>
                <a:noFill/>
              </a:ln>
              <a:solidFill>
                <a:srgbClr val="6D67B5"/>
              </a:solidFill>
              <a:effectLst/>
              <a:uLnTx/>
              <a:uFillTx/>
              <a:latin typeface="Arial" panose="020B0604020202020204" pitchFamily="34" charset="0"/>
              <a:cs typeface="Arial" panose="020B0604020202020204" pitchFamily="34" charset="0"/>
              <a:sym typeface="Arial"/>
            </a:endParaRPr>
          </a:p>
        </p:txBody>
      </p:sp>
      <p:sp>
        <p:nvSpPr>
          <p:cNvPr id="50" name="Google Shape;1493;p37">
            <a:extLst>
              <a:ext uri="{FF2B5EF4-FFF2-40B4-BE49-F238E27FC236}">
                <a16:creationId xmlns:a16="http://schemas.microsoft.com/office/drawing/2014/main" id="{27B17D28-D0C9-6F07-AB97-9068DA5FB779}"/>
              </a:ext>
            </a:extLst>
          </p:cNvPr>
          <p:cNvSpPr txBox="1"/>
          <p:nvPr/>
        </p:nvSpPr>
        <p:spPr>
          <a:xfrm>
            <a:off x="3699522" y="4496113"/>
            <a:ext cx="1155433" cy="338514"/>
          </a:xfrm>
          <a:prstGeom prst="rect">
            <a:avLst/>
          </a:prstGeom>
          <a:noFill/>
          <a:ln>
            <a:noFill/>
          </a:ln>
        </p:spPr>
        <p:txBody>
          <a:bodyPr spcFirstLastPara="1" wrap="square" lIns="91425" tIns="45700" rIns="91425" bIns="45700" anchor="b"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36729C"/>
                </a:solidFill>
                <a:effectLst/>
                <a:uLnTx/>
                <a:uFillTx/>
                <a:latin typeface="Arial" panose="020B0604020202020204" pitchFamily="34" charset="0"/>
                <a:cs typeface="Arial" panose="020B0604020202020204" pitchFamily="34" charset="0"/>
                <a:sym typeface="Calibri"/>
              </a:rPr>
              <a:t>High ME</a:t>
            </a:r>
          </a:p>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Calibri"/>
              </a:rPr>
              <a:t>Low Recall</a:t>
            </a:r>
            <a:endParaRPr kumimoji="0" lang="en-US" sz="1100" b="0" i="0" u="none" strike="noStrike" kern="0" cap="none" spc="0" normalizeH="0" baseline="0" noProof="0">
              <a:ln>
                <a:noFill/>
              </a:ln>
              <a:solidFill>
                <a:srgbClr val="CF3E3E"/>
              </a:solidFill>
              <a:effectLst/>
              <a:uLnTx/>
              <a:uFillTx/>
              <a:latin typeface="Arial" panose="020B0604020202020204" pitchFamily="34" charset="0"/>
              <a:cs typeface="Arial" panose="020B0604020202020204" pitchFamily="34" charset="0"/>
              <a:sym typeface="Arial"/>
            </a:endParaRPr>
          </a:p>
        </p:txBody>
      </p:sp>
      <p:sp>
        <p:nvSpPr>
          <p:cNvPr id="55" name="Google Shape;1494;p37">
            <a:extLst>
              <a:ext uri="{FF2B5EF4-FFF2-40B4-BE49-F238E27FC236}">
                <a16:creationId xmlns:a16="http://schemas.microsoft.com/office/drawing/2014/main" id="{A267B780-4E68-5D4F-4C2C-7A3DAC9B15B5}"/>
              </a:ext>
            </a:extLst>
          </p:cNvPr>
          <p:cNvSpPr txBox="1"/>
          <p:nvPr/>
        </p:nvSpPr>
        <p:spPr>
          <a:xfrm>
            <a:off x="1243459" y="1710780"/>
            <a:ext cx="1233519" cy="33851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C00000"/>
                </a:solidFill>
                <a:effectLst/>
                <a:uLnTx/>
                <a:uFillTx/>
                <a:latin typeface="Arial" panose="020B0604020202020204" pitchFamily="34" charset="0"/>
                <a:ea typeface="Calibri"/>
                <a:cs typeface="Arial" panose="020B0604020202020204" pitchFamily="34" charset="0"/>
                <a:sym typeface="Calibri"/>
              </a:rPr>
              <a:t>Low ME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5D8EAF"/>
                </a:solidFill>
                <a:effectLst/>
                <a:uLnTx/>
                <a:uFillTx/>
                <a:latin typeface="Arial" panose="020B0604020202020204" pitchFamily="34" charset="0"/>
                <a:ea typeface="Calibri"/>
                <a:cs typeface="Arial" panose="020B0604020202020204" pitchFamily="34" charset="0"/>
                <a:sym typeface="Calibri"/>
              </a:rPr>
              <a:t>High Recall</a:t>
            </a:r>
          </a:p>
        </p:txBody>
      </p:sp>
      <p:sp>
        <p:nvSpPr>
          <p:cNvPr id="56" name="Google Shape;1483;p37">
            <a:extLst>
              <a:ext uri="{FF2B5EF4-FFF2-40B4-BE49-F238E27FC236}">
                <a16:creationId xmlns:a16="http://schemas.microsoft.com/office/drawing/2014/main" id="{3D113454-1462-F92D-DD1B-11F752BD347A}"/>
              </a:ext>
            </a:extLst>
          </p:cNvPr>
          <p:cNvSpPr txBox="1"/>
          <p:nvPr/>
        </p:nvSpPr>
        <p:spPr>
          <a:xfrm>
            <a:off x="2023265" y="4926619"/>
            <a:ext cx="1980000" cy="24618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1"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Message Effectiveness</a:t>
            </a:r>
          </a:p>
        </p:txBody>
      </p:sp>
      <p:sp>
        <p:nvSpPr>
          <p:cNvPr id="7" name="Google Shape;2440;p63">
            <a:extLst>
              <a:ext uri="{FF2B5EF4-FFF2-40B4-BE49-F238E27FC236}">
                <a16:creationId xmlns:a16="http://schemas.microsoft.com/office/drawing/2014/main" id="{3AFB1A97-DA14-6113-B5DD-F28C3E63AC4E}"/>
              </a:ext>
            </a:extLst>
          </p:cNvPr>
          <p:cNvSpPr txBox="1"/>
          <p:nvPr/>
        </p:nvSpPr>
        <p:spPr>
          <a:xfrm>
            <a:off x="0" y="0"/>
            <a:ext cx="9144000" cy="859536"/>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400" b="0" i="0" u="none" strike="noStrike" kern="0" cap="none" spc="0" normalizeH="0" baseline="0" noProof="0">
                <a:ln>
                  <a:noFill/>
                </a:ln>
                <a:solidFill>
                  <a:srgbClr val="071D49"/>
                </a:solidFill>
                <a:effectLst/>
                <a:uLnTx/>
                <a:uFillTx/>
                <a:latin typeface="Arial"/>
                <a:cs typeface="Arial"/>
                <a:sym typeface="Arial"/>
              </a:rPr>
              <a:t>ZENPEP’s new message Z24 was below average in recall and effectiveness while updated messages (Z11 and Z23) dropped in recall while generally maintaining effectiveness levels</a:t>
            </a:r>
          </a:p>
        </p:txBody>
      </p:sp>
      <p:sp>
        <p:nvSpPr>
          <p:cNvPr id="16" name="Google Shape;1490;p37">
            <a:extLst>
              <a:ext uri="{FF2B5EF4-FFF2-40B4-BE49-F238E27FC236}">
                <a16:creationId xmlns:a16="http://schemas.microsoft.com/office/drawing/2014/main" id="{FC1CF48C-BA8F-6BD0-0C17-7BDA1EAC30BE}"/>
              </a:ext>
            </a:extLst>
          </p:cNvPr>
          <p:cNvSpPr txBox="1"/>
          <p:nvPr/>
        </p:nvSpPr>
        <p:spPr>
          <a:xfrm rot="16200000">
            <a:off x="788580" y="1701268"/>
            <a:ext cx="477329" cy="24622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80%</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4" name="Group 13">
            <a:extLst>
              <a:ext uri="{FF2B5EF4-FFF2-40B4-BE49-F238E27FC236}">
                <a16:creationId xmlns:a16="http://schemas.microsoft.com/office/drawing/2014/main" id="{A1EC1FB2-4DB5-1D92-F8F5-7F6256C57FA4}"/>
              </a:ext>
            </a:extLst>
          </p:cNvPr>
          <p:cNvGrpSpPr/>
          <p:nvPr/>
        </p:nvGrpSpPr>
        <p:grpSpPr>
          <a:xfrm>
            <a:off x="5255235" y="3873093"/>
            <a:ext cx="3422819" cy="400069"/>
            <a:chOff x="5221982" y="5590223"/>
            <a:chExt cx="3422818" cy="400069"/>
          </a:xfrm>
        </p:grpSpPr>
        <p:sp>
          <p:nvSpPr>
            <p:cNvPr id="15" name="Google Shape;345;p10">
              <a:extLst>
                <a:ext uri="{FF2B5EF4-FFF2-40B4-BE49-F238E27FC236}">
                  <a16:creationId xmlns:a16="http://schemas.microsoft.com/office/drawing/2014/main" id="{3AAF2C5C-39AB-B8CD-FFCE-AE2B08DD9677}"/>
                </a:ext>
              </a:extLst>
            </p:cNvPr>
            <p:cNvSpPr/>
            <p:nvPr/>
          </p:nvSpPr>
          <p:spPr>
            <a:xfrm>
              <a:off x="5303041" y="5590223"/>
              <a:ext cx="3341759" cy="40006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Wave Average</a:t>
              </a:r>
              <a:b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br>
              <a:r>
                <a:rPr kumimoji="0" lang="en-US" sz="1000" b="0" i="0" u="none" strike="noStrike" kern="0" cap="none" spc="0" normalizeH="0" baseline="0" noProof="0">
                  <a:ln>
                    <a:noFill/>
                  </a:ln>
                  <a:solidFill>
                    <a:prstClr val="white">
                      <a:lumMod val="65000"/>
                    </a:prstClr>
                  </a:solidFill>
                  <a:effectLst/>
                  <a:uLnTx/>
                  <a:uFillTx/>
                  <a:latin typeface="Arial" panose="020B0604020202020204" pitchFamily="34" charset="0"/>
                  <a:ea typeface="Calibri"/>
                  <a:cs typeface="Arial" panose="020B0604020202020204" pitchFamily="34" charset="0"/>
                  <a:sym typeface="Calibri"/>
                </a:rPr>
                <a:t>(Message Effectiveness- 57%, Message Recall - 38%)</a:t>
              </a:r>
              <a:endParaRPr kumimoji="0" sz="1000" b="0" i="0" u="none" strike="noStrike" kern="0" cap="none" spc="0" normalizeH="0" baseline="0" noProof="0">
                <a:ln>
                  <a:noFill/>
                </a:ln>
                <a:solidFill>
                  <a:prstClr val="white">
                    <a:lumMod val="65000"/>
                  </a:prstClr>
                </a:solidFill>
                <a:effectLst/>
                <a:uLnTx/>
                <a:uFillTx/>
                <a:latin typeface="Arial" panose="020B0604020202020204" pitchFamily="34" charset="0"/>
                <a:cs typeface="Arial" panose="020B0604020202020204" pitchFamily="34" charset="0"/>
                <a:sym typeface="Arial"/>
              </a:endParaRPr>
            </a:p>
          </p:txBody>
        </p:sp>
        <p:sp>
          <p:nvSpPr>
            <p:cNvPr id="17" name="Google Shape;346;p10">
              <a:extLst>
                <a:ext uri="{FF2B5EF4-FFF2-40B4-BE49-F238E27FC236}">
                  <a16:creationId xmlns:a16="http://schemas.microsoft.com/office/drawing/2014/main" id="{F48FE9FE-3979-E9EC-EA33-68525D9D3941}"/>
                </a:ext>
              </a:extLst>
            </p:cNvPr>
            <p:cNvSpPr/>
            <p:nvPr/>
          </p:nvSpPr>
          <p:spPr>
            <a:xfrm>
              <a:off x="5221982" y="5734667"/>
              <a:ext cx="91440" cy="91440"/>
            </a:xfrm>
            <a:prstGeom prst="rect">
              <a:avLst/>
            </a:prstGeom>
            <a:solidFill>
              <a:schemeClr val="bg1">
                <a:lumMod val="6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grpSp>
        <p:nvGrpSpPr>
          <p:cNvPr id="3" name="Group 2">
            <a:extLst>
              <a:ext uri="{FF2B5EF4-FFF2-40B4-BE49-F238E27FC236}">
                <a16:creationId xmlns:a16="http://schemas.microsoft.com/office/drawing/2014/main" id="{889F794D-A29D-18B1-A625-4D4CF70B9253}"/>
              </a:ext>
            </a:extLst>
          </p:cNvPr>
          <p:cNvGrpSpPr/>
          <p:nvPr/>
        </p:nvGrpSpPr>
        <p:grpSpPr>
          <a:xfrm>
            <a:off x="5255235" y="2680061"/>
            <a:ext cx="2447315" cy="533439"/>
            <a:chOff x="4936735" y="5933973"/>
            <a:chExt cx="2447315" cy="550720"/>
          </a:xfrm>
        </p:grpSpPr>
        <p:sp>
          <p:nvSpPr>
            <p:cNvPr id="4" name="Google Shape;347;p10">
              <a:extLst>
                <a:ext uri="{FF2B5EF4-FFF2-40B4-BE49-F238E27FC236}">
                  <a16:creationId xmlns:a16="http://schemas.microsoft.com/office/drawing/2014/main" id="{E35DDF52-F271-F045-ECF5-B8335A36770E}"/>
                </a:ext>
              </a:extLst>
            </p:cNvPr>
            <p:cNvSpPr/>
            <p:nvPr/>
          </p:nvSpPr>
          <p:spPr>
            <a:xfrm>
              <a:off x="5011483" y="5933973"/>
              <a:ext cx="2372567" cy="55072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ZENPEP </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(Nov’25 – Dec’25): n = 102)</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Nov’25 – Dec’25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115)</a:t>
              </a:r>
            </a:p>
          </p:txBody>
        </p:sp>
        <p:sp>
          <p:nvSpPr>
            <p:cNvPr id="12" name="Google Shape;348;p10">
              <a:extLst>
                <a:ext uri="{FF2B5EF4-FFF2-40B4-BE49-F238E27FC236}">
                  <a16:creationId xmlns:a16="http://schemas.microsoft.com/office/drawing/2014/main" id="{B3B3FD8F-6C84-7BD4-0861-09D4C04442CF}"/>
                </a:ext>
              </a:extLst>
            </p:cNvPr>
            <p:cNvSpPr/>
            <p:nvPr/>
          </p:nvSpPr>
          <p:spPr>
            <a:xfrm>
              <a:off x="4936735" y="6073413"/>
              <a:ext cx="91521" cy="91440"/>
            </a:xfrm>
            <a:prstGeom prst="ellipse">
              <a:avLst/>
            </a:prstGeom>
            <a:solidFill>
              <a:srgbClr val="6D67B5"/>
            </a:solidFill>
            <a:ln w="9525" cap="flat" cmpd="sng">
              <a:solidFill>
                <a:srgbClr val="6D67B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sp>
        <p:nvSpPr>
          <p:cNvPr id="11" name="TextBox 10">
            <a:extLst>
              <a:ext uri="{FF2B5EF4-FFF2-40B4-BE49-F238E27FC236}">
                <a16:creationId xmlns:a16="http://schemas.microsoft.com/office/drawing/2014/main" id="{A9EF6CB7-9530-6ADA-7489-178D16549FBF}"/>
              </a:ext>
            </a:extLst>
          </p:cNvPr>
          <p:cNvSpPr txBox="1"/>
          <p:nvPr/>
        </p:nvSpPr>
        <p:spPr>
          <a:xfrm>
            <a:off x="1846060" y="5662175"/>
            <a:ext cx="2277374" cy="215444"/>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hlinkClick r:id="rId6" action="ppaction://hlinksldjump"/>
              </a:rPr>
              <a:t>&gt;&gt;ZENPEP Message recall: all messages</a:t>
            </a:r>
            <a:r>
              <a:rPr kumimoji="0" lang="en-US" sz="800" b="0" i="0" u="sng" strike="noStrike" kern="0" cap="none" spc="0" normalizeH="0" baseline="0" noProof="0">
                <a:ln>
                  <a:noFill/>
                </a:ln>
                <a:solidFill>
                  <a:srgbClr val="00A2FF">
                    <a:lumMod val="60000"/>
                    <a:lumOff val="40000"/>
                  </a:srgbClr>
                </a:solidFill>
                <a:effectLst/>
                <a:uLnTx/>
                <a:uFillTx/>
                <a:latin typeface="Arial" panose="020B0604020202020204" pitchFamily="34" charset="0"/>
                <a:cs typeface="Arial" panose="020B0604020202020204" pitchFamily="34" charset="0"/>
                <a:sym typeface="Arial"/>
              </a:rPr>
              <a:t> </a:t>
            </a:r>
          </a:p>
        </p:txBody>
      </p:sp>
      <p:grpSp>
        <p:nvGrpSpPr>
          <p:cNvPr id="6" name="Group 5">
            <a:extLst>
              <a:ext uri="{FF2B5EF4-FFF2-40B4-BE49-F238E27FC236}">
                <a16:creationId xmlns:a16="http://schemas.microsoft.com/office/drawing/2014/main" id="{C6FB0814-A4FB-EFDF-15B2-8CDE594FB5CC}"/>
              </a:ext>
            </a:extLst>
          </p:cNvPr>
          <p:cNvGrpSpPr/>
          <p:nvPr/>
        </p:nvGrpSpPr>
        <p:grpSpPr>
          <a:xfrm>
            <a:off x="5255235" y="3276577"/>
            <a:ext cx="2447315" cy="533439"/>
            <a:chOff x="4936735" y="5933973"/>
            <a:chExt cx="2447315" cy="550720"/>
          </a:xfrm>
        </p:grpSpPr>
        <p:sp>
          <p:nvSpPr>
            <p:cNvPr id="13" name="Google Shape;347;p10">
              <a:extLst>
                <a:ext uri="{FF2B5EF4-FFF2-40B4-BE49-F238E27FC236}">
                  <a16:creationId xmlns:a16="http://schemas.microsoft.com/office/drawing/2014/main" id="{032BAF12-BB29-C08F-9346-2D39B26A4B6C}"/>
                </a:ext>
              </a:extLst>
            </p:cNvPr>
            <p:cNvSpPr/>
            <p:nvPr/>
          </p:nvSpPr>
          <p:spPr>
            <a:xfrm>
              <a:off x="5011483" y="5933973"/>
              <a:ext cx="2372567" cy="55072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71D49"/>
                </a:buClr>
                <a:buSzPts val="1000"/>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cs typeface="Arial" panose="020B0604020202020204" pitchFamily="34" charset="0"/>
                  <a:sym typeface="Calibri"/>
                </a:rPr>
                <a:t>ZENPEP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(Sep’25 – Oct’25)</a:t>
              </a:r>
              <a:endParaRPr kumimoji="0" lang="pt-BR" sz="9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(Recall (Sep’25 – Oct’25): n = 106)</a:t>
              </a:r>
            </a:p>
            <a:p>
              <a:pPr marL="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(Effectiveness (</a:t>
              </a:r>
              <a:r>
                <a:rPr kumimoji="0" lang="pt-BR" sz="9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rPr>
                <a:t>Sep’25 – Oct’25</a:t>
              </a:r>
              <a:r>
                <a:rPr kumimoji="0" lang="pt-BR" sz="900" b="0" i="0" u="none" strike="noStrike" kern="0" cap="none" spc="0" normalizeH="0" baseline="0" noProof="0">
                  <a:ln>
                    <a:noFill/>
                  </a:ln>
                  <a:solidFill>
                    <a:srgbClr val="001D49"/>
                  </a:solidFill>
                  <a:effectLst/>
                  <a:uLnTx/>
                  <a:uFillTx/>
                  <a:latin typeface="Arial" panose="020B0604020202020204" pitchFamily="34" charset="0"/>
                  <a:ea typeface="Calibri"/>
                  <a:cs typeface="Arial" panose="020B0604020202020204" pitchFamily="34" charset="0"/>
                  <a:sym typeface="Calibri"/>
                </a:rPr>
                <a:t>): n = 114)</a:t>
              </a:r>
            </a:p>
          </p:txBody>
        </p:sp>
        <p:sp>
          <p:nvSpPr>
            <p:cNvPr id="19" name="Google Shape;348;p10">
              <a:extLst>
                <a:ext uri="{FF2B5EF4-FFF2-40B4-BE49-F238E27FC236}">
                  <a16:creationId xmlns:a16="http://schemas.microsoft.com/office/drawing/2014/main" id="{D2274A4F-365E-188B-740F-D2F0CE251182}"/>
                </a:ext>
              </a:extLst>
            </p:cNvPr>
            <p:cNvSpPr/>
            <p:nvPr/>
          </p:nvSpPr>
          <p:spPr>
            <a:xfrm>
              <a:off x="4936735" y="6073413"/>
              <a:ext cx="91521" cy="91440"/>
            </a:xfrm>
            <a:prstGeom prst="ellipse">
              <a:avLst/>
            </a:prstGeom>
            <a:pattFill prst="dkUpDiag">
              <a:fgClr>
                <a:srgbClr val="6D67B5"/>
              </a:fgClr>
              <a:bgClr>
                <a:schemeClr val="bg1"/>
              </a:bgClr>
            </a:pattFill>
            <a:ln w="9525" cap="flat" cmpd="sng">
              <a:solidFill>
                <a:srgbClr val="6D67B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white"/>
                </a:buClr>
                <a:buSzPts val="1000"/>
                <a:buFont typeface="Arial"/>
                <a:buNone/>
                <a:tabLst/>
                <a:defRPr/>
              </a:pPr>
              <a:endParaRPr kumimoji="0" sz="1000" b="0" i="0" u="none" strike="noStrike" kern="0" cap="none" spc="0" normalizeH="0" baseline="0" noProof="0">
                <a:ln>
                  <a:noFill/>
                </a:ln>
                <a:solidFill>
                  <a:srgbClr val="071D49"/>
                </a:solidFill>
                <a:effectLst/>
                <a:uLnTx/>
                <a:uFillTx/>
                <a:latin typeface="Arial" panose="020B0604020202020204" pitchFamily="34" charset="0"/>
                <a:ea typeface="Calibri"/>
                <a:cs typeface="Arial" panose="020B0604020202020204" pitchFamily="34" charset="0"/>
                <a:sym typeface="Calibri"/>
              </a:endParaRPr>
            </a:p>
          </p:txBody>
        </p:sp>
      </p:grpSp>
      <p:cxnSp>
        <p:nvCxnSpPr>
          <p:cNvPr id="23" name="Straight Arrow Connector 22">
            <a:extLst>
              <a:ext uri="{FF2B5EF4-FFF2-40B4-BE49-F238E27FC236}">
                <a16:creationId xmlns:a16="http://schemas.microsoft.com/office/drawing/2014/main" id="{F333E657-3AD8-2025-7B17-984FA5759B2A}"/>
              </a:ext>
            </a:extLst>
          </p:cNvPr>
          <p:cNvCxnSpPr>
            <a:cxnSpLocks/>
          </p:cNvCxnSpPr>
          <p:nvPr/>
        </p:nvCxnSpPr>
        <p:spPr>
          <a:xfrm>
            <a:off x="2545556" y="2815126"/>
            <a:ext cx="111919" cy="516243"/>
          </a:xfrm>
          <a:prstGeom prst="straightConnector1">
            <a:avLst/>
          </a:prstGeom>
          <a:ln w="15875">
            <a:solidFill>
              <a:schemeClr val="bg1">
                <a:lumMod val="85000"/>
              </a:schemeClr>
            </a:solidFill>
            <a:tailEnd type="triangle"/>
          </a:ln>
          <a:effectLst/>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140217C0-CE6B-D26C-355F-52F680B52E79}"/>
              </a:ext>
            </a:extLst>
          </p:cNvPr>
          <p:cNvSpPr txBox="1"/>
          <p:nvPr/>
        </p:nvSpPr>
        <p:spPr>
          <a:xfrm>
            <a:off x="33736" y="720000"/>
            <a:ext cx="1728000" cy="261610"/>
          </a:xfrm>
          <a:prstGeom prst="rect">
            <a:avLst/>
          </a:prstGeom>
          <a:noFill/>
          <a:ln>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100" b="1" i="1" u="sng" strike="noStrike" kern="1200" cap="none" spc="0" normalizeH="0" baseline="0" noProof="0">
                <a:ln>
                  <a:noFill/>
                </a:ln>
                <a:solidFill>
                  <a:srgbClr val="071D49"/>
                </a:solidFill>
                <a:effectLst/>
                <a:uLnTx/>
                <a:uFillTx/>
                <a:latin typeface="Arial"/>
                <a:cs typeface="Arial"/>
                <a:sym typeface="Arial"/>
                <a:hlinkClick r:id="rId7" action="ppaction://hlinksldjump"/>
              </a:rPr>
              <a:t>Return to KBQ slide</a:t>
            </a:r>
            <a:endParaRPr kumimoji="0" lang="en-GB" sz="1100" b="1" i="1" u="sng" strike="noStrike" kern="1200" cap="none" spc="0" normalizeH="0" baseline="0" noProof="0">
              <a:ln>
                <a:noFill/>
              </a:ln>
              <a:solidFill>
                <a:srgbClr val="071D49"/>
              </a:solidFill>
              <a:effectLst/>
              <a:uLnTx/>
              <a:uFillTx/>
              <a:latin typeface="Arial"/>
              <a:cs typeface="Arial"/>
              <a:sym typeface="Arial"/>
            </a:endParaRPr>
          </a:p>
        </p:txBody>
      </p:sp>
    </p:spTree>
    <p:extLst>
      <p:ext uri="{BB962C8B-B14F-4D97-AF65-F5344CB8AC3E}">
        <p14:creationId xmlns:p14="http://schemas.microsoft.com/office/powerpoint/2010/main" val="254912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6950BFC3-D8DA-4A85-94F7-54DA5524770B}">
      <p188:commentRel xmlns:p188="http://schemas.microsoft.com/office/powerpoint/2018/8/main" r:id="rId4"/>
    </p:ext>
  </p:extLst>
</p:sld>
</file>

<file path=ppt/tags/tag1.xml><?xml version="1.0" encoding="utf-8"?>
<p:tagLst xmlns:a="http://schemas.openxmlformats.org/drawingml/2006/main" xmlns:r="http://schemas.openxmlformats.org/officeDocument/2006/relationships" xmlns:p="http://schemas.openxmlformats.org/presentationml/2006/main">
  <p:tag name="FILEANALYSISID" val="20"/>
  <p:tag name="GLOBALLIVEWAVE" val="False"/>
  <p:tag name="OLDDARWIN_PROJECT" val="523"/>
  <p:tag name="OLDDARWIN_SURVEY" val="482371"/>
</p:tagLst>
</file>

<file path=ppt/tags/tag2.xml><?xml version="1.0" encoding="utf-8"?>
<p:tagLst xmlns:a="http://schemas.openxmlformats.org/drawingml/2006/main" xmlns:r="http://schemas.openxmlformats.org/officeDocument/2006/relationships" xmlns:p="http://schemas.openxmlformats.org/presentationml/2006/main">
  <p:tag name="NON_CONNECTED_SHAPE_ID" val="1708553"/>
  <p:tag name="UPDATE" val="unlock"/>
</p:tagLst>
</file>

<file path=ppt/tags/tag3.xml><?xml version="1.0" encoding="utf-8"?>
<p:tagLst xmlns:a="http://schemas.openxmlformats.org/drawingml/2006/main" xmlns:r="http://schemas.openxmlformats.org/officeDocument/2006/relationships" xmlns:p="http://schemas.openxmlformats.org/presentationml/2006/main">
  <p:tag name="NON_CONNECTED_SHAPE_ID" val="42993186"/>
  <p:tag name="UPDATE" val="unlock"/>
</p:tagLst>
</file>

<file path=ppt/tags/tag4.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94355496"/>
  <p:tag name="VISUALISATION_ID" val="Darwin_96274037"/>
  <p:tag name="UPDATE" val="unlock"/>
  <p:tag name="STASSIGID" val="StasSigId_69282541"/>
  <p:tag name="REPORTCONFIGHASH" val="787fd2b5a1f93cad3ab94891cb823e7d843796d97480b92c85592be4ad7884e6"/>
  <p:tag name="REPORTCONFIGHASH_BACKUP" val="{&quot;AnalysisIds&quot;:[641211],&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a5b6a1091580e425bcfe7348474b80c9d96cb8f59daeb9073bdeb9cd59625964"/>
  <p:tag name="DATAFRAMECONFIGHASH_BACKUP" val="{&quot;AggregationType&quot;:0,&quot;ColumnFields&quot;:[&quot;option&quot;],&quot;FilterCondition&quot;:0,&quot;Filters&quot;:[],&quot;LatestColumnsFirst&quot;:false,&quot;RowFields&quot;:[&quot;time_period_name&quot;],&quot;ValueFields&quot;:[&quot;decimal&quot;],&quot;columnDefinitions&quot;:[{&quot;IsDefaultAlias&quot;:true,&quot;Name&quot;:&quot;time_period_name&quot;,&quot;sortCriteria&quot;:{&quot;CustomList&quot;:[&quot;Feb'26&quot;,&quot;Mar'26&quot;],&quot;Level&quot;:1,&quot;Order&quot;:0}},{&quot;Format&quot;:&quot;0%&quot;,&quot;Formula&quot;:&quot;&quot;,&quot;IsDefaultAlias&quot;:true,&quot;Name&quot;:&quot;Community hospital (Non-teaching)&quot;},{&quot;Format&quot;:&quot;0%&quot;,&quot;IsDefaultAlias&quot;:true,&quot;Name&quot;:&quot;Community teaching hospital&quot;},{&quot;Format&quot;:&quot;0%&quot;,&quot;IsDefaultAlias&quot;:true,&quot;Name&quot;:&quot;Major academic center group practice&quot;},{&quot;Format&quot;:&quot;0%&quot;,&quot;IsDefaultAlias&quot;:true,&quot;Name&quot;:&quot;Major academic center hospital&quot;},{&quot;Format&quot;:&quot;0%&quot;,&quot;IsDefaultAlias&quot;:true,&quot;Name&quot;:&quot;Private practice (group)&quot;},{&quot;Format&quot;:&quot;0%&quot;,&quot;IsDefaultAlias&quot;:true,&quot;Name&quot;:&quot;Private practice (solo)&quot;},{&quot;Format&quot;:&quot;0%&quot;,&quot;IsDefaultAlias&quot;:true,&quot;Name&quot;:&quot;University teaching hospital&quot;}]}"/>
  <p:tag name="MAPPINGCONFIG" val="{&quot;selectedColumns&quot;:[&quot;time_period_name&quot;,&quot;Major academic center group practice&quot;,&quot;University teaching hospital&quot;,&quot;Major academic center hospital&quot;,&quot;Community teaching hospital&quot;,&quot;Community hospital (Non-teaching)&quot;,&quot;Private practice (solo)&quot;,&quot;Private practice (grou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quot;Feb'26&quot;]}"/>
  <p:tag name="LASTREFRESHTIME" val="2026-04-13T12:28:15.8672174+05:30"/>
  <p:tag name="COLUMNKEYLABELMAP" val="{&quot;time_period_name&quot;:&quot;Deliverable&quot;,&quot;code&quot;:&quot;Code&quot;,&quot;option&quot;:&quot;Option&quot;,&quot;base&quot;:&quot;Base&quot;,&quot;count&quot;:&quot;Count&quot;,&quot;respondents&quot;:&quot;Respondents&quot;,&quot;decimal&quot;:&quot;Value(%)&quot;}"/>
  <p:tag name="ANALYSISTYPE" val="SINGLE_QUESTION"/>
</p:tagLst>
</file>

<file path=ppt/tags/tag5.xml><?xml version="1.0" encoding="utf-8"?>
<p:tagLst xmlns:a="http://schemas.openxmlformats.org/drawingml/2006/main" xmlns:r="http://schemas.openxmlformats.org/officeDocument/2006/relationships" xmlns:p="http://schemas.openxmlformats.org/presentationml/2006/main">
  <p:tag name="SYNQ##AA2" val="SynQ##Project--523--ABV [PET]--SFE$!$Survey--482371$!$Analysis--117461$!$RecentWave--W2#$!$SelectedWave--52022,48191$!$SelectedSeg--$!$SelectedGp--wave$!$LiveWave--False$!$Fields--TITLE,VALUE,WAVE,PERCENTAGE,N - VALUE$!$Filter--$!$Sorting--$!$NumOfWaves--2"/>
  <p:tag name="DARWINVERSION" val="CSharp"/>
  <p:tag name="UPDATE" val="unlock"/>
  <p:tag name="VISUALISATION_ID" val="Darwin_6689277"/>
  <p:tag name="FAILEDREFRESHICONID" val="Darwin_6689277"/>
  <p:tag name="STASSIGID" val="StasSigId_94520553"/>
  <p:tag name="REPORTCONFIGHASH" val="6251a7e5c51ed6fa4f9782367cf9bd69429fa677368d61107c60bb6a8dd77448"/>
  <p:tag name="REPORTCONFIGHASH_BACKUP" val="{&quot;AnalysisIds&quot;:[641205],&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a774bef2ee17e9fb02cc3528dae13617b4ff7edad9f86fc50edcd727996a1e1c"/>
  <p:tag name="DATAFRAMECONFIGHASH_BACKUP" val="{&quot;AggregationType&quot;:0,&quot;ColumnFields&quot;:[&quot;option&quot;],&quot;FilterCondition&quot;:0,&quot;Filters&quot;:[],&quot;LatestColumnsFirst&quot;:false,&quot;RowFields&quot;:[&quot;time_period_name&quot;],&quot;ValueFields&quot;:[&quot;decimal&quot;],&quot;columnDefinitions&quot;:[{&quot;IsDefaultAlias&quot;:true,&quot;Name&quot;:&quot;time_period_name&quot;},{&quot;IsDefaultAlias&quot;:true,&quot;Name&quot;:&quot;Family Medicine (PCP)&quot;},{&quot;IsDefaultAlias&quot;:true,&quot;Name&quot;:&quot;Gastroenterology&quot;},{&quot;IsDefaultAlias&quot;:true,&quot;Name&quot;:&quot;General Medicine / Practice (PCP)&quot;},{&quot;IsDefaultAlias&quot;:true,&quot;Name&quot;:&quot;Internal Medicine (PCP)&quot;}]}"/>
  <p:tag name="MAPPINGCONFIG" val="{&quot;selectedColumns&quot;:[&quot;time_period_name&quot;,&quot;Gastroenterology&quot;,&quot;Internal Medicine (PCP)&quot;,&quot;Family Medicine (PCP)&quot;,&quot;General Medicine / Practice (PC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3T12:19:32.2455411+05:30"/>
  <p:tag name="COLUMNKEYLABELMAP" val="{&quot;time_period_name&quot;:&quot;Deliverable&quot;,&quot;code&quot;:&quot;Code&quot;,&quot;option&quot;:&quot;Option&quot;,&quot;base&quot;:&quot;Base&quot;,&quot;count&quot;:&quot;Count&quot;,&quot;respondents&quot;:&quot;Respondents&quot;,&quot;decimal&quot;:&quot;Value(%)&quot;}"/>
  <p:tag name="ANALYSISTYPE" val="SINGLE_QUESTION"/>
</p:tagLst>
</file>

<file path=ppt/tags/tag6.xml><?xml version="1.0" encoding="utf-8"?>
<p:tagLst xmlns:a="http://schemas.openxmlformats.org/drawingml/2006/main" xmlns:r="http://schemas.openxmlformats.org/officeDocument/2006/relationships" xmlns:p="http://schemas.openxmlformats.org/presentationml/2006/main">
  <p:tag name="NON_CONNECTED_SHAPE_ID" val="71428775"/>
  <p:tag name="UPDATE" val="unlock"/>
</p:tagLst>
</file>

<file path=ppt/tags/tag7.xml><?xml version="1.0" encoding="utf-8"?>
<p:tagLst xmlns:a="http://schemas.openxmlformats.org/drawingml/2006/main" xmlns:r="http://schemas.openxmlformats.org/officeDocument/2006/relationships" xmlns:p="http://schemas.openxmlformats.org/presentationml/2006/main">
  <p:tag name="NON_CONNECTED_SHAPE_ID" val="71428775"/>
  <p:tag name="UPDATE" val="unlock"/>
</p:tagLst>
</file>

<file path=ppt/tags/tag8.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9.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53347311"/>
  <p:tag name="FAILEDREFRESHICONID" val="Darwin_53347311"/>
  <p:tag name="STASSIGID" val="StasSigId_91602929"/>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Highest efficacy @:@ CREON&quot;,&quot;Highest efficacy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7:46:54.5588223+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0.xml><?xml version="1.0" encoding="utf-8"?>
<p:tagLst xmlns:a="http://schemas.openxmlformats.org/drawingml/2006/main" xmlns:r="http://schemas.openxmlformats.org/officeDocument/2006/relationships" xmlns:p="http://schemas.openxmlformats.org/presentationml/2006/main">
  <p:tag name="NON_CONNECTED_SHAPE_ID" val="75747739"/>
  <p:tag name="UPDATE" val="unlock"/>
</p:tagLst>
</file>

<file path=ppt/tags/tag11.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2359380"/>
  <p:tag name="FAILEDREFRESHICONID" val="Darwin_2359380"/>
  <p:tag name="STASSIGID" val="StasSigId_45483644"/>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Improves symptoms @:@ CREON&quot;,&quot;Improves symptom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7:46:21.673162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2.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3129729"/>
  <p:tag name="FAILEDREFRESHICONID" val="Darwin_3129729"/>
  <p:tag name="STASSIGID" val="StasSigId_99583159"/>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Benefits patient outcomes beyond symptom relief @:@ CREON&quot;,&quot;Benefits patient outcomes beyond symptom relief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7:47:34.833837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3.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29566589"/>
  <p:tag name="FAILEDREFRESHICONID" val="Darwin_29566589"/>
  <p:tag name="STASSIGID" val="StasSigId_80260447"/>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Best formulary / insurance coverage @:@ CREON&quot;,&quot;Best formulary / insurance coverag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7:48:04.5881611+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4.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58701387"/>
  <p:tag name="STASSIGID" val="StasSigId_49974968"/>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Easiest to prescribe (less impact on practice resources) @:@ CREON&quot;,&quot;Easiest to prescribe (less impact on practice resource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7:48:28.047617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5.xml><?xml version="1.0" encoding="utf-8"?>
<p:tagLst xmlns:a="http://schemas.openxmlformats.org/drawingml/2006/main" xmlns:r="http://schemas.openxmlformats.org/officeDocument/2006/relationships" xmlns:p="http://schemas.openxmlformats.org/presentationml/2006/main">
  <p:tag name="GROUPID" val="Group_85250356"/>
  <p:tag name="SPLITORDER" val="0"/>
  <p:tag name="DARWINVERSION" val="CSharp"/>
  <p:tag name="VISUALISATION_ID" val="Darwin_5773892"/>
  <p:tag name="FAILEDREFRESHICONID" val="Darwin_5773892"/>
  <p:tag name="STASSIGID" val="StasSigId_67340462"/>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Lowest treatment cost @:@ CREON&quot;,&quot;Lowest treatment cost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04:51.6881625+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6.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7649196"/>
  <p:tag name="STASSIGID" val="StasSigId_39879828"/>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Co-pay assistance @:@ CREON&quot;,&quot;Co-pay assistanc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04:05.657976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7.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18363793"/>
  <p:tag name="STASSIGID" val="StasSigId_61805300"/>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Patient support programs @:@ CREON&quot;,&quot;Patient support program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03:21.5853875+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8.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73653349"/>
  <p:tag name="STASSIGID" val="StasSigId_53013823"/>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Most favorable safety profile @:@ CREON&quot;,&quot;Most favorable safety profil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18:54.1869311+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19.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71029583"/>
  <p:tag name="STASSIGID" val="StasSigId_26930666"/>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Simplest dosing @:@ CREON&quot;,&quot;Simplest dosing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06:49.1697162+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0.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14300927"/>
  <p:tag name="STASSIGID" val="StasSigId_42309200"/>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Dosing flexibility @:@ CREON&quot;,&quot;Dosing flexibility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17:03.8188469+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1.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22100830"/>
  <p:tag name="STASSIGID" val="StasSigId_30746525"/>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Patient adherence @:@ CREON&quot;,&quot;Patient adherenc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17:41.4154558+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2.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42426841"/>
  <p:tag name="STASSIGID" val="StasSigId_53595484"/>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Successful personal experience with treatment @:@ CREON&quot;,&quot;Successful personal experience with treatment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19:14.314868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3.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14665901"/>
  <p:tag name="STASSIGID" val="StasSigId_23537747"/>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Treatment is preferred by patients @:@ CREON&quot;,&quot;Treatment is preferred by patient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21:50.5011452+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4.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85522818"/>
  <p:tag name="STASSIGID" val="StasSigId_62141270"/>
  <p:tag name="MIGRATIONPHASE" val="Phase0"/>
  <p:tag name="REPORTCONFIGHASH" val="8a0baccf7fb0c17914879b71690032d3390f6a2f52f2ebc0868ff192742fc256"/>
  <p:tag name="REPORTCONFIGHASH_BACKUP" val="{&quot;AnalysisIds&quot;:[689321],&quot;IncludeAlias&quot;:true,&quot;IncludeOverallSegment&quot;:true,&quot;NestSegments&quot;:false,&quot;ProjectId&quot;:523,&quot;ReportingPlanId&quot;:1143,&quot;RollUpDeliverables&quot;:false,&quot;SegmentIds&quot;:[],&quot;StaticTimePeriodIds&quot;:[15186,15187,15188,25373,25374,25375],&quot;SurveyId&quot;:396851,&quot;TimePeriodType&quot;:0}"/>
  <p:tag name="DATAFRAMECONFIGHASH" val="92831ce91fab29789a1a049cbf163e288140ba8fba7ed80d7fe3412b632b7460"/>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Benefits patient outcomes beyond symptom relief @:@ CREON&quot;},{&quot;Format&quot;:&quot;0%&quot;,&quot;IsDefaultAlias&quot;:true,&quot;Name&quot;:&quot;Benefits patient outcomes beyond symptom relief @:@ ZENPEP&quot;},{&quot;Format&quot;:&quot;0%&quot;,&quot;IsDefaultAlias&quot;:true,&quot;Name&quot;:&quot;Best formulary / insurance coverage @:@ CREON&quot;},{&quot;Format&quot;:&quot;0%&quot;,&quot;IsDefaultAlias&quot;:true,&quot;Name&quot;:&quot;Best formulary / insurance coverage @:@ ZENPEP&quot;},{&quot;Format&quot;:&quot;0%&quot;,&quot;IsDefaultAlias&quot;:true,&quot;Name&quot;:&quot;Co-pay assistance @:@ CREON&quot;},{&quot;Format&quot;:&quot;0%&quot;,&quot;IsDefaultAlias&quot;:true,&quot;Name&quot;:&quot;Co-pay assistance @:@ ZENPEP&quot;},{&quot;Format&quot;:&quot;0%&quot;,&quot;IsDefaultAlias&quot;:true,&quot;Name&quot;:&quot;Dosing flexibility @:@ CREON&quot;},{&quot;Format&quot;:&quot;0%&quot;,&quot;IsDefaultAlias&quot;:true,&quot;Name&quot;:&quot;Dosing flexibility @:@ ZENPEP&quot;},{&quot;Format&quot;:&quot;0%&quot;,&quot;IsDefaultAlias&quot;:true,&quot;Name&quot;:&quot;Easiest to prescribe (less impact on practice resources) @:@ CREON&quot;},{&quot;Format&quot;:&quot;0%&quot;,&quot;IsDefaultAlias&quot;:true,&quot;Name&quot;:&quot;Easiest to prescribe (less impact on practice resources) @:@ ZENPEP&quot;},{&quot;Format&quot;:&quot;0%&quot;,&quot;IsDefaultAlias&quot;:true,&quot;Name&quot;:&quot;Highest efficacy @:@ CREON&quot;},{&quot;Format&quot;:&quot;0%&quot;,&quot;IsDefaultAlias&quot;:true,&quot;Name&quot;:&quot;Highest efficacy @:@ ZENPEP&quot;},{&quot;Format&quot;:&quot;0%&quot;,&quot;IsDefaultAlias&quot;:true,&quot;Name&quot;:&quot;Improves symptoms @:@ CREON&quot;},{&quot;Format&quot;:&quot;0%&quot;,&quot;IsDefaultAlias&quot;:true,&quot;Name&quot;:&quot;Improves symptoms @:@ ZENPEP&quot;},{&quot;Format&quot;:&quot;0%&quot;,&quot;IsDefaultAlias&quot;:true,&quot;Name&quot;:&quot;Lowest treatment cost @:@ CREON&quot;},{&quot;Format&quot;:&quot;0%&quot;,&quot;IsDefaultAlias&quot;:true,&quot;Name&quot;:&quot;Lowest treatment cost @:@ ZENPEP&quot;},{&quot;Format&quot;:&quot;0%&quot;,&quot;IsDefaultAlias&quot;:true,&quot;Name&quot;:&quot;Most dosing options @:@ CREON&quot;},{&quot;Format&quot;:&quot;0%&quot;,&quot;IsDefaultAlias&quot;:true,&quot;Name&quot;:&quot;Most dosing options @:@ ZENPEP&quot;},{&quot;Format&quot;:&quot;0%&quot;,&quot;IsDefaultAlias&quot;:true,&quot;Name&quot;:&quot;Most favorable safety profile @:@ CREON&quot;},{&quot;Format&quot;:&quot;0%&quot;,&quot;IsDefaultAlias&quot;:true,&quot;Name&quot;:&quot;Most favorable safety profile @:@ ZENPEP&quot;},{&quot;Format&quot;:&quot;0%&quot;,&quot;IsDefaultAlias&quot;:true,&quot;Name&quot;:&quot;Patient adherence @:@ CREON&quot;},{&quot;Format&quot;:&quot;0%&quot;,&quot;IsDefaultAlias&quot;:true,&quot;Name&quot;:&quot;Patient adherence @:@ ZENPEP&quot;},{&quot;Format&quot;:&quot;0%&quot;,&quot;IsDefaultAlias&quot;:true,&quot;Name&quot;:&quot;Patient support programs @:@ CREON&quot;},{&quot;Format&quot;:&quot;0%&quot;,&quot;IsDefaultAlias&quot;:true,&quot;Name&quot;:&quot;Patient support programs @:@ ZENPEP&quot;},{&quot;Format&quot;:&quot;0%&quot;,&quot;IsDefaultAlias&quot;:true,&quot;Name&quot;:&quot;Simplest dosing @:@ CREON&quot;},{&quot;Format&quot;:&quot;0%&quot;,&quot;IsDefaultAlias&quot;:true,&quot;Name&quot;:&quot;Simplest dosing @:@ ZENPEP&quot;},{&quot;Format&quot;:&quot;0%&quot;,&quot;IsDefaultAlias&quot;:true,&quot;Name&quot;:&quot;Successful personal experience with treatment @:@ CREON&quot;},{&quot;Format&quot;:&quot;0%&quot;,&quot;IsDefaultAlias&quot;:true,&quot;Name&quot;:&quot;Successful personal experience with treatment @:@ ZENPEP&quot;},{&quot;Format&quot;:&quot;0%&quot;,&quot;IsDefaultAlias&quot;:true,&quot;Name&quot;:&quot;Treatment is preferred by patients @:@ CREON&quot;},{&quot;Format&quot;:&quot;0%&quot;,&quot;IsDefaultAlias&quot;:true,&quot;Name&quot;:&quot;Treatment is preferred by patients @:@ ZENPEP&quot;}]}"/>
  <p:tag name="MAPPINGCONFIG" val="{&quot;selectedColumns&quot;:[&quot;time_period_name&quot;,&quot;Most dosing options @:@ CREON&quot;,&quot;Most dosing option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6T18:18:14.8650536+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5.xml><?xml version="1.0" encoding="utf-8"?>
<p:tagLst xmlns:a="http://schemas.openxmlformats.org/drawingml/2006/main" xmlns:r="http://schemas.openxmlformats.org/officeDocument/2006/relationships" xmlns:p="http://schemas.openxmlformats.org/presentationml/2006/main">
  <p:tag name="NON_CONNECTED_SHAPE_ID" val="22360273"/>
  <p:tag name="UPDATE" val="unlock"/>
</p:tagLst>
</file>

<file path=ppt/tags/tag26.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7.xml><?xml version="1.0" encoding="utf-8"?>
<p:tagLst xmlns:a="http://schemas.openxmlformats.org/drawingml/2006/main" xmlns:r="http://schemas.openxmlformats.org/officeDocument/2006/relationships" xmlns:p="http://schemas.openxmlformats.org/presentationml/2006/main">
  <p:tag name="NON_CONNECTED_SHAPE_ID" val="75747739"/>
  <p:tag name="UPDATE" val="unlock"/>
</p:tagLst>
</file>

<file path=ppt/tags/tag28.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 val="2beddced1246acf7cd8bcd80c416d60ec7d5c1e61e0e6e353185d1ec07fb356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SPLITGROUPID" val="SplitGroup_12bc2687"/>
  <p:tag name="SPLITORDER" val="0"/>
  <p:tag name="DATAFRAMECONFIGHASH" val="bd2fc55f3cbc3b3e85d5fc4f5e6347d62ee01e0484b4a88fd25f0ff59b46a03b"/>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3.1015780+05:30"/>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Lst>
</file>

<file path=ppt/tags/tag29.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4.0346200+05:30"/>
</p:tagLst>
</file>

<file path=ppt/tags/tag30.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2"/>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4.9510243+05:30"/>
</p:tagLst>
</file>

<file path=ppt/tags/tag31.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3"/>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5.8675001+05:30"/>
</p:tagLst>
</file>

<file path=ppt/tags/tag32.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4"/>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6.7900206+05:30"/>
</p:tagLst>
</file>

<file path=ppt/tags/tag33.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5"/>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7.7171077+05:30"/>
</p:tagLst>
</file>

<file path=ppt/tags/tag34.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6"/>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8.6499721+05:30"/>
</p:tagLst>
</file>

<file path=ppt/tags/tag35.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7"/>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49.5928305+05:30"/>
</p:tagLst>
</file>

<file path=ppt/tags/tag36.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8"/>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0.5326505+05:30"/>
</p:tagLst>
</file>

<file path=ppt/tags/tag37.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9"/>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1.4658694+05:30"/>
</p:tagLst>
</file>

<file path=ppt/tags/tag38.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0"/>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2.4079958+05:30"/>
</p:tagLst>
</file>

<file path=ppt/tags/tag39.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1"/>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3.3550660+05:30"/>
</p:tagLst>
</file>

<file path=ppt/tags/tag40.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2"/>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4.2652247+05:30"/>
</p:tagLst>
</file>

<file path=ppt/tags/tag41.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3"/>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5.3983166+05:30"/>
</p:tagLst>
</file>

<file path=ppt/tags/tag42.xml><?xml version="1.0" encoding="utf-8"?>
<p:tagLst xmlns:a="http://schemas.openxmlformats.org/drawingml/2006/main" xmlns:r="http://schemas.openxmlformats.org/officeDocument/2006/relationships" xmlns:p="http://schemas.openxmlformats.org/presentationml/2006/main">
  <p:tag name="GROUPID" val="Group_50045329"/>
  <p:tag name="VISUALISATION_ID" val="Darwin_80186306"/>
  <p:tag name="DARWINVERSION" val="CSharp"/>
  <p:tag name="UPDATE" val="unlock"/>
  <p:tag name="STASSIGID" val="StasSigId_42772763"/>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 name="DATAFRAMECONFIGHASH_BACKUP" val="{&quot;AggregationType&quot;:0,&quot;ColumnFields&quot;:[&quot;time_period_name&quot;],&quot;FilterCondition&quot;:0,&quot;Filters&quot;:[{&quot;ColumnKey&quot;:&quot;segment_1&quot;,&quot;Type&quot;:1,&quot;Value&quot;:&quot;Speciality - Gastro&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12bc2687"/>
  <p:tag name="SPLITORDER" val="14"/>
  <p:tag name="REPORTCONFIGHASH" val="2beddced1246acf7cd8bcd80c416d60ec7d5c1e61e0e6e353185d1ec07fb3560"/>
  <p:tag name="DATAFRAMECONFIGHASH" val="bd2fc55f3cbc3b3e85d5fc4f5e6347d62ee01e0484b4a88fd25f0ff59b46a03b"/>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36:56.3310865+05:30"/>
</p:tagLst>
</file>

<file path=ppt/tags/tag43.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44.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MIGRATIONPHASE" val="Phase0"/>
  <p:tag name="REPORTCONFIGHASH" val="2beddced1246acf7cd8bcd80c416d60ec7d5c1e61e0e6e353185d1ec07fb356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 val="596054c7eb472950fade1d1ae2b16a5f3fbd73d8a7c40f91fb36181f3ec74b4e"/>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SPLITGROUPID" val="SplitGroup_d201e0fb"/>
  <p:tag name="SPLITORDER" val="0"/>
  <p:tag name="LASTREFRESHTIME" val="2026-04-16T18:44:16.6395567+05:30"/>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Lst>
</file>

<file path=ppt/tags/tag45.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17.5772333+05:30"/>
</p:tagLst>
</file>

<file path=ppt/tags/tag46.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2"/>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18.5442489+05:30"/>
</p:tagLst>
</file>

<file path=ppt/tags/tag47.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3"/>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19.5043404+05:30"/>
</p:tagLst>
</file>

<file path=ppt/tags/tag48.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4"/>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0.4715777+05:30"/>
</p:tagLst>
</file>

<file path=ppt/tags/tag49.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5"/>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1.4158879+05:30"/>
</p:tagLst>
</file>

<file path=ppt/tags/tag50.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6"/>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2.3495234+05:30"/>
</p:tagLst>
</file>

<file path=ppt/tags/tag51.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7"/>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3.2857061+05:30"/>
</p:tagLst>
</file>

<file path=ppt/tags/tag52.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8"/>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4.3670451+05:30"/>
</p:tagLst>
</file>

<file path=ppt/tags/tag53.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9"/>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5.3850367+05:30"/>
</p:tagLst>
</file>

<file path=ppt/tags/tag54.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0"/>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6.4482842+05:30"/>
</p:tagLst>
</file>

<file path=ppt/tags/tag55.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1"/>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7.4174637+05:30"/>
</p:tagLst>
</file>

<file path=ppt/tags/tag56.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2"/>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8.5048509+05:30"/>
</p:tagLst>
</file>

<file path=ppt/tags/tag57.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3"/>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29.5301486+05:30"/>
</p:tagLst>
</file>

<file path=ppt/tags/tag58.xml><?xml version="1.0" encoding="utf-8"?>
<p:tagLst xmlns:a="http://schemas.openxmlformats.org/drawingml/2006/main" xmlns:r="http://schemas.openxmlformats.org/officeDocument/2006/relationships" xmlns:p="http://schemas.openxmlformats.org/presentationml/2006/main">
  <p:tag name="GROUPID" val="Group_8426736"/>
  <p:tag name="VISUALISATION_ID" val="Darwin_72047928"/>
  <p:tag name="DARWINVERSION" val="CSharp"/>
  <p:tag name="UPDATE" val="unlock"/>
  <p:tag name="STASSIGID" val="StasSigId_72939206"/>
  <p:tag name="SYNQRY" val="SYNQRY#1#$$!$FileVersion--1.6.5.8$!$IsAlias--True$!$Project--523$!$IsNestedSegments--True$!$ProjectSegmentIDs--$!$Survey--39685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FetchOverallData--False$!$Relative--True$!$IsAddQuestionText--False$!$StatisticsSignificance--[]$!$LiveWave--False$!$IsNonOverlapping--False$!$StatisticsSignificanceNValue--30$!$IsSplit--True$!$LastUpdate--12-01-2026 19:24:51$!$AddSplitObjectsToSingleSlide--True$!$LongFilterFields--segment_1@:@IN@:@Speciality  - PCPs$!$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PCPs&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SplitGroup_d201e0fb"/>
  <p:tag name="SPLITORDER" val="14"/>
  <p:tag name="REPORTCONFIGHASH" val="2beddced1246acf7cd8bcd80c416d60ec7d5c1e61e0e6e353185d1ec07fb3560"/>
  <p:tag name="DATAFRAMECONFIGHASH" val="596054c7eb472950fade1d1ae2b16a5f3fbd73d8a7c40f91fb36181f3ec74b4e"/>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4:30.5196994+05:30"/>
</p:tagLst>
</file>

<file path=ppt/tags/tag59.xml><?xml version="1.0" encoding="utf-8"?>
<p:tagLst xmlns:a="http://schemas.openxmlformats.org/drawingml/2006/main" xmlns:r="http://schemas.openxmlformats.org/officeDocument/2006/relationships" xmlns:p="http://schemas.openxmlformats.org/presentationml/2006/main">
  <p:tag name="NON_CONNECTED_SHAPE_ID" val="75747739"/>
  <p:tag name="UPDATE" val="unlock"/>
</p:tagLst>
</file>

<file path=ppt/tags/tag60.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61.xml><?xml version="1.0" encoding="utf-8"?>
<p:tagLst xmlns:a="http://schemas.openxmlformats.org/drawingml/2006/main" xmlns:r="http://schemas.openxmlformats.org/officeDocument/2006/relationships" xmlns:p="http://schemas.openxmlformats.org/presentationml/2006/main">
  <p:tag name="GROUPID" val="Group_62772654"/>
  <p:tag name="SPLITORDER" val="0"/>
  <p:tag name="DARWINVERSION" val="CSharp"/>
  <p:tag name="FAILEDREFRESHICONID" val="Darwin_810238"/>
  <p:tag name="VISUALISATION_ID" val="Darwin_810238"/>
  <p:tag name="UPDATE" val="unlock"/>
  <p:tag name="STASSIGID" val="StasSigId_67120226"/>
  <p:tag name="SPLITGROUPID" val="62772654"/>
  <p:tag name="MIGRATIONPHASE" val="Phase0"/>
  <p:tag name="REPORTCONFIGHASH" val="2beddced1246acf7cd8bcd80c416d60ec7d5c1e61e0e6e353185d1ec07fb356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 val="343e1c5b4cffb9f412877d63883379ace6700dd0ef5d33af0ab649e7af52b6b2"/>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3.6543621+05:30"/>
  <p:tag name="COLUMNKEYLABELMAP" val="{&quot;time_period_name&quot;:&quot;Deliverable&quot;,&quot;y_code&quot;:&quot;Code&quot;,&quot;y_label&quot;:&quot;SubQ&quot;,&quot;measure&quot;:&quot;Measure&quot;,&quot;segment_1&quot;:&quot;Segment&quot;,&quot;base&quot;:&quot;Base&quot;,&quot;count&quot;:&quot;Count&quot;,&quot;respondents&quot;:&quot;Respondents&quot;,&quot;decimal&quot;:&quot;Value(%)&quot;}"/>
  <p:tag name="ANALYSISTYPE" val="SINGLE_QUESTION"/>
</p:tagLst>
</file>

<file path=ppt/tags/tag62.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4.7059139+05:30"/>
</p:tagLst>
</file>

<file path=ppt/tags/tag63.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2"/>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5.7204120+05:30"/>
</p:tagLst>
</file>

<file path=ppt/tags/tag64.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3"/>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6.7464673+05:30"/>
</p:tagLst>
</file>

<file path=ppt/tags/tag65.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4"/>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7.7621991+05:30"/>
</p:tagLst>
</file>

<file path=ppt/tags/tag66.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5"/>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8.8064399+05:30"/>
</p:tagLst>
</file>

<file path=ppt/tags/tag67.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6"/>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19.8066906+05:30"/>
</p:tagLst>
</file>

<file path=ppt/tags/tag68.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7"/>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0.8674530+05:30"/>
</p:tagLst>
</file>

<file path=ppt/tags/tag69.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8"/>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1.8754782+05:30"/>
</p:tagLst>
</file>

<file path=ppt/tags/tag70.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9"/>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2.9285362+05:30"/>
</p:tagLst>
</file>

<file path=ppt/tags/tag71.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0"/>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3.9309984+05:30"/>
</p:tagLst>
</file>

<file path=ppt/tags/tag72.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1"/>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4.9919040+05:30"/>
</p:tagLst>
</file>

<file path=ppt/tags/tag73.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2"/>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5.9927794+05:30"/>
</p:tagLst>
</file>

<file path=ppt/tags/tag74.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3"/>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7.0139603+05:30"/>
</p:tagLst>
</file>

<file path=ppt/tags/tag75.xml><?xml version="1.0" encoding="utf-8"?>
<p:tagLst xmlns:a="http://schemas.openxmlformats.org/drawingml/2006/main" xmlns:r="http://schemas.openxmlformats.org/officeDocument/2006/relationships" xmlns:p="http://schemas.openxmlformats.org/presentationml/2006/main">
  <p:tag name="GROUPID" val="Group_62772654"/>
  <p:tag name="DARWINVERSION" val="CSharp"/>
  <p:tag name="FAILEDREFRESHICONID" val="Darwin_810238"/>
  <p:tag name="VISUALISATION_ID" val="Darwin_810238"/>
  <p:tag name="UPDATE" val="unlock"/>
  <p:tag name="STASSIGID" val="StasSigId_67120226"/>
  <p:tag name="SYNQRY" val="SYNQRY#1#$$!$FileVersion--1.6.5.8$!$IsAlias--True$!$Project--523$!$IsNestedSegments--True$!$ProjectSegmentIDs--$!$Survey--39685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94682$!$SelectedRows--ALL$!$AddLatestColumnToFirst--False$!$RecentWave--W2#6$!$ChartSplit--1$!$IsClientDeliverable--True$!$SelectedWave--124882,121477,118622,115552,113101,110630$!$Transpose--True$!$ClientDeliverableID--96$!$SelectedSeg--13330$!$IsOverlapping--False$!$ClientDeliverableSegmentIDs--14251,13101,12140,11580,10823,10014$!$SelectedGp--wave$!$IsSorted--True$!$ChartType--Line$!$SelectedMulRolling--$!$SortedField--question$$Ascending$$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FetchOverallData--False$!$Relative--True$!$IsAddQuestionText--False$!$StatisticsSignificance--[]$!$LiveWave--False$!$IsNonOverlapping--False$!$StatisticsSignificanceNValue--30$!$IsSplit--True$!$LastUpdate--12-01-2026 19:28:01$!$AddSplitObjectsToSingleSlide--True$!$LongFilterFields--segment_1@:@IN@:@Speciality  - NP/PA$!$TableHeader--1$!$PivotEntry--1$!$TopNRows--0$!$IsProjectAnalysis--False$!$SelectAllColumns--True$!$PivotFilterFields--$!$IsAddLegend--False$!$xField--question$!$Status--Create:Success$!$yField--segment_0,segment_1$!$MoveFirst--$!$vField--decimal$!$MoveLast--$!$fnField--Average"/>
  <p:tag name="MIGRATIONPHASE" val="Phase0"/>
  <p:tag name="REPORTCONFIGHASH_BACKUP" val="{&quot;AnalysisIds&quot;:[632091],&quot;DynamicTimePeriod&quot;:{&quot;IncludeLiveWave&quot;:false,&quot;LatestNDeliverables&quot;:6},&quot;IncludeAlias&quot;:true,&quot;IncludeOverallSegment&quot;:true,&quot;NestSegments&quot;:false,&quot;ProjectId&quot;:523,&quot;ReportingPlanId&quot;:1143,&quot;RollUpDeliverables&quot;:false,&quot;SegmentIds&quot;:[2445],&quot;SurveyId&quot;:396851,&quot;TimePeriodType&quot;:1}"/>
  <p:tag name="DATAFRAMECONFIGHASH_BACKUP" val="{&quot;AggregationType&quot;:0,&quot;ColumnFields&quot;:[&quot;time_period_name&quot;],&quot;FilterCondition&quot;:0,&quot;Filters&quot;:[{&quot;ColumnKey&quot;:&quot;segment_1&quot;,&quot;Type&quot;:1,&quot;Value&quot;:&quot;Speciality - NP/PA&quot;,&quot;filterCriteria&quot;:1}],&quot;LatestColumnsFirst&quot;:false,&quot;RowFields&quot;:[&quot;y_label&quot;],&quot;ValueFields&quot;:[&quot;decimal&quot;],&quot;columnDefinitions&quot;:[{&quot;IsDefaultAlias&quot;:true,&quot;Name&quot;:&quot;y_label&quot;,&quot;sortCriteria&quot;:{&quot;CustomList&quot;:[&quot;Improves symptoms&quot;,&quot;Highest efficacy&quot;,&quot;Benefits patient outcomes beyond symptom relief&quot;,&quot;Best formulary / insurance coverage&quot;,&quot;Easiest to prescribe (less impact on practice resources)&quot;,&quot;Patient Support Programs&quot;,&quot;Co-pay assistance&quot;,&quot;Lowest treatment cost&quot;,&quot;Simplest dosing&quot;,&quot;Dosing flexibility&quot;,&quot;Patient adherence&quot;,&quot;Most dosing options&quot;,&quot;Most favorable safety profile&quot;,&quot;Successful personal experience with treatment&quot;,&quot;Treatment is preferred by patients&quot;],&quot;Level&quot;:1,&quot;Order&quot;:0}},{&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Mar'26&quot;},{&quot;Format&quot;:&quot;0%&quot;,&quot;IsDefaultAlias&quot;:true,&quot;Name&quot;:&quot;Feb'26&quot;},{&quot;Format&quot;:&quot;0%&quot;,&quot;IsDefaultAlias&quot;:true,&quot;Name&quot;:&quot;Jan'26&quot;}]}"/>
  <p:tag name="SPLITGROUPID" val="62772654"/>
  <p:tag name="SPLITORDER" val="14"/>
  <p:tag name="REPORTCONFIGHASH" val="2beddced1246acf7cd8bcd80c416d60ec7d5c1e61e0e6e353185d1ec07fb3560"/>
  <p:tag name="DATAFRAMECONFIGHASH" val="343e1c5b4cffb9f412877d63883379ace6700dd0ef5d33af0ab649e7af52b6b2"/>
  <p:tag name="MAPPINGCONFIG" val="{&quot;selectedColumns&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16T18:48:28.0627002+05:30"/>
</p:tagLst>
</file>

<file path=ppt/tags/tag76.xml><?xml version="1.0" encoding="utf-8"?>
<p:tagLst xmlns:a="http://schemas.openxmlformats.org/drawingml/2006/main" xmlns:r="http://schemas.openxmlformats.org/officeDocument/2006/relationships" xmlns:p="http://schemas.openxmlformats.org/presentationml/2006/main">
  <p:tag name="NON_CONNECTED_SHAPE_ID" val="75747739"/>
  <p:tag name="UPDATE" val="unlock"/>
</p:tagLst>
</file>

<file path=ppt/tags/tag77.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78.xml><?xml version="1.0" encoding="utf-8"?>
<p:tagLst xmlns:a="http://schemas.openxmlformats.org/drawingml/2006/main" xmlns:r="http://schemas.openxmlformats.org/officeDocument/2006/relationships" xmlns:p="http://schemas.openxmlformats.org/presentationml/2006/main">
  <p:tag name="NON_CONNECTED_SHAPE_ID" val="20054517"/>
  <p:tag name="UPDATE" val="unlock"/>
</p:tagLst>
</file>

<file path=ppt/tags/tag79.xml><?xml version="1.0" encoding="utf-8"?>
<p:tagLst xmlns:a="http://schemas.openxmlformats.org/drawingml/2006/main" xmlns:r="http://schemas.openxmlformats.org/officeDocument/2006/relationships" xmlns:p="http://schemas.openxmlformats.org/presentationml/2006/main">
  <p:tag name="NON_CONNECTED_SHAPE_ID" val="14823292"/>
  <p:tag name="UPDATE" val="unlock"/>
</p:tagLst>
</file>

<file path=ppt/tags/tag80.xml><?xml version="1.0" encoding="utf-8"?>
<p:tagLst xmlns:a="http://schemas.openxmlformats.org/drawingml/2006/main" xmlns:r="http://schemas.openxmlformats.org/officeDocument/2006/relationships" xmlns:p="http://schemas.openxmlformats.org/presentationml/2006/main">
  <p:tag name="NON_CONNECTED_SHAPE_ID" val="20054517"/>
  <p:tag name="UPDATE" val="unlock"/>
</p:tagLst>
</file>

<file path=ppt/tags/tag81.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82.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83.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84.xml><?xml version="1.0" encoding="utf-8"?>
<p:tagLst xmlns:a="http://schemas.openxmlformats.org/drawingml/2006/main" xmlns:r="http://schemas.openxmlformats.org/officeDocument/2006/relationships" xmlns:p="http://schemas.openxmlformats.org/presentationml/2006/main">
  <p:tag name="NON_CONNECTED_SHAPE_ID" val="67262870"/>
  <p:tag name="UPDATE" val="unlock"/>
</p:tagLst>
</file>

<file path=ppt/tags/tag85.xml><?xml version="1.0" encoding="utf-8"?>
<p:tagLst xmlns:a="http://schemas.openxmlformats.org/drawingml/2006/main" xmlns:r="http://schemas.openxmlformats.org/officeDocument/2006/relationships" xmlns:p="http://schemas.openxmlformats.org/presentationml/2006/main">
  <p:tag name="NON_CONNECTED_SHAPE_ID" val="77629463"/>
  <p:tag name="UPDATE" val="unlock"/>
</p:tagLst>
</file>

<file path=ppt/tags/tag86.xml><?xml version="1.0" encoding="utf-8"?>
<p:tagLst xmlns:a="http://schemas.openxmlformats.org/drawingml/2006/main" xmlns:r="http://schemas.openxmlformats.org/officeDocument/2006/relationships" xmlns:p="http://schemas.openxmlformats.org/presentationml/2006/main">
  <p:tag name="NON_CONNECTED_SHAPE_ID" val="11209152"/>
  <p:tag name="UPDATE" val="unlock"/>
</p:tagLst>
</file>

<file path=ppt/tags/tag87.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88.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89.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90.xml><?xml version="1.0" encoding="utf-8"?>
<p:tagLst xmlns:a="http://schemas.openxmlformats.org/drawingml/2006/main" xmlns:r="http://schemas.openxmlformats.org/officeDocument/2006/relationships" xmlns:p="http://schemas.openxmlformats.org/presentationml/2006/main">
  <p:tag name="NON_CONNECTED_SHAPE_ID" val="67262870"/>
  <p:tag name="UPDATE" val="unlock"/>
</p:tagLst>
</file>

<file path=ppt/tags/tag91.xml><?xml version="1.0" encoding="utf-8"?>
<p:tagLst xmlns:a="http://schemas.openxmlformats.org/drawingml/2006/main" xmlns:r="http://schemas.openxmlformats.org/officeDocument/2006/relationships" xmlns:p="http://schemas.openxmlformats.org/presentationml/2006/main">
  <p:tag name="NON_CONNECTED_SHAPE_ID" val="77629463"/>
  <p:tag name="UPDATE" val="unlock"/>
</p:tagLst>
</file>

<file path=ppt/tags/tag92.xml><?xml version="1.0" encoding="utf-8"?>
<p:tagLst xmlns:a="http://schemas.openxmlformats.org/drawingml/2006/main" xmlns:r="http://schemas.openxmlformats.org/officeDocument/2006/relationships" xmlns:p="http://schemas.openxmlformats.org/presentationml/2006/main">
  <p:tag name="NON_CONNECTED_SHAPE_ID" val="11209152"/>
  <p:tag name="UPDATE" val="unlock"/>
</p:tagLst>
</file>

<file path=ppt/tags/tag93.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94.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95.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96.xml><?xml version="1.0" encoding="utf-8"?>
<p:tagLst xmlns:a="http://schemas.openxmlformats.org/drawingml/2006/main" xmlns:r="http://schemas.openxmlformats.org/officeDocument/2006/relationships" xmlns:p="http://schemas.openxmlformats.org/presentationml/2006/main">
  <p:tag name="NON_CONNECTED_SHAPE_ID" val="20054517"/>
  <p:tag name="UPDATE" val="unlock"/>
</p:tagLst>
</file>

<file path=ppt/tags/tag97.xml><?xml version="1.0" encoding="utf-8"?>
<p:tagLst xmlns:a="http://schemas.openxmlformats.org/drawingml/2006/main" xmlns:r="http://schemas.openxmlformats.org/officeDocument/2006/relationships" xmlns:p="http://schemas.openxmlformats.org/presentationml/2006/main">
  <p:tag name="NON_CONNECTED_SHAPE_ID" val="14823292"/>
  <p:tag name="UPDATE" val="unlock"/>
</p:tagLst>
</file>

<file path=ppt/tags/tag98.xml><?xml version="1.0" encoding="utf-8"?>
<p:tagLst xmlns:a="http://schemas.openxmlformats.org/drawingml/2006/main" xmlns:r="http://schemas.openxmlformats.org/officeDocument/2006/relationships" xmlns:p="http://schemas.openxmlformats.org/presentationml/2006/main">
  <p:tag name="NON_CONNECTED_SHAPE_ID" val="20054517"/>
  <p:tag name="UPDATE" val="unlock"/>
</p:tagLst>
</file>

<file path=ppt/tags/tag99.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0.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1.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2.xml><?xml version="1.0" encoding="utf-8"?>
<p:tagLst xmlns:a="http://schemas.openxmlformats.org/drawingml/2006/main" xmlns:r="http://schemas.openxmlformats.org/officeDocument/2006/relationships" xmlns:p="http://schemas.openxmlformats.org/presentationml/2006/main">
  <p:tag name="NON_CONNECTED_SHAPE_ID" val="69810585"/>
  <p:tag name="UPDATE" val="unlock"/>
</p:tagLst>
</file>

<file path=ppt/tags/tag103.xml><?xml version="1.0" encoding="utf-8"?>
<p:tagLst xmlns:a="http://schemas.openxmlformats.org/drawingml/2006/main" xmlns:r="http://schemas.openxmlformats.org/officeDocument/2006/relationships" xmlns:p="http://schemas.openxmlformats.org/presentationml/2006/main">
  <p:tag name="NON_CONNECTED_SHAPE_ID" val="68173516"/>
  <p:tag name="UPDATE" val="unlock"/>
</p:tagLst>
</file>

<file path=ppt/tags/tag104.xml><?xml version="1.0" encoding="utf-8"?>
<p:tagLst xmlns:a="http://schemas.openxmlformats.org/drawingml/2006/main" xmlns:r="http://schemas.openxmlformats.org/officeDocument/2006/relationships" xmlns:p="http://schemas.openxmlformats.org/presentationml/2006/main">
  <p:tag name="NON_CONNECTED_SHAPE_ID" val="46258212"/>
  <p:tag name="UPDATE" val="unlock"/>
</p:tagLst>
</file>

<file path=ppt/tags/tag105.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6.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7.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08.xml><?xml version="1.0" encoding="utf-8"?>
<p:tagLst xmlns:a="http://schemas.openxmlformats.org/drawingml/2006/main" xmlns:r="http://schemas.openxmlformats.org/officeDocument/2006/relationships" xmlns:p="http://schemas.openxmlformats.org/presentationml/2006/main">
  <p:tag name="NON_CONNECTED_SHAPE_ID" val="37123523"/>
  <p:tag name="UPDATE" val="unlock"/>
</p:tagLst>
</file>

<file path=ppt/tags/tag109.xml><?xml version="1.0" encoding="utf-8"?>
<p:tagLst xmlns:a="http://schemas.openxmlformats.org/drawingml/2006/main" xmlns:r="http://schemas.openxmlformats.org/officeDocument/2006/relationships" xmlns:p="http://schemas.openxmlformats.org/presentationml/2006/main">
  <p:tag name="NON_CONNECTED_SHAPE_ID" val="33153008"/>
  <p:tag name="UPDATE" val="unlock"/>
</p:tagLst>
</file>

<file path=ppt/tags/tag110.xml><?xml version="1.0" encoding="utf-8"?>
<p:tagLst xmlns:a="http://schemas.openxmlformats.org/drawingml/2006/main" xmlns:r="http://schemas.openxmlformats.org/officeDocument/2006/relationships" xmlns:p="http://schemas.openxmlformats.org/presentationml/2006/main">
  <p:tag name="NON_CONNECTED_SHAPE_ID" val="13174055"/>
  <p:tag name="UPDATE" val="unlock"/>
</p:tagLst>
</file>

<file path=ppt/tags/tag111.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2.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3.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4.xml><?xml version="1.0" encoding="utf-8"?>
<p:tagLst xmlns:a="http://schemas.openxmlformats.org/drawingml/2006/main" xmlns:r="http://schemas.openxmlformats.org/officeDocument/2006/relationships" xmlns:p="http://schemas.openxmlformats.org/presentationml/2006/main">
  <p:tag name="NON_CONNECTED_SHAPE_ID" val="46258212"/>
  <p:tag name="UPDATE" val="unlock"/>
</p:tagLst>
</file>

<file path=ppt/tags/tag115.xml><?xml version="1.0" encoding="utf-8"?>
<p:tagLst xmlns:a="http://schemas.openxmlformats.org/drawingml/2006/main" xmlns:r="http://schemas.openxmlformats.org/officeDocument/2006/relationships" xmlns:p="http://schemas.openxmlformats.org/presentationml/2006/main">
  <p:tag name="NON_CONNECTED_SHAPE_ID" val="68173516"/>
  <p:tag name="UPDATE" val="unlock"/>
</p:tagLst>
</file>

<file path=ppt/tags/tag116.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7.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8.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19.xml><?xml version="1.0" encoding="utf-8"?>
<p:tagLst xmlns:a="http://schemas.openxmlformats.org/drawingml/2006/main" xmlns:r="http://schemas.openxmlformats.org/officeDocument/2006/relationships" xmlns:p="http://schemas.openxmlformats.org/presentationml/2006/main">
  <p:tag name="NON_CONNECTED_SHAPE_ID" val="69810585"/>
  <p:tag name="UPDATE" val="unlock"/>
</p:tagLst>
</file>

<file path=ppt/tags/tag120.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1.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2.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3.xml><?xml version="1.0" encoding="utf-8"?>
<p:tagLst xmlns:a="http://schemas.openxmlformats.org/drawingml/2006/main" xmlns:r="http://schemas.openxmlformats.org/officeDocument/2006/relationships" xmlns:p="http://schemas.openxmlformats.org/presentationml/2006/main">
  <p:tag name="NON_CONNECTED_SHAPE_ID" val="46258212"/>
  <p:tag name="UPDATE" val="unlock"/>
</p:tagLst>
</file>

<file path=ppt/tags/tag124.xml><?xml version="1.0" encoding="utf-8"?>
<p:tagLst xmlns:a="http://schemas.openxmlformats.org/drawingml/2006/main" xmlns:r="http://schemas.openxmlformats.org/officeDocument/2006/relationships" xmlns:p="http://schemas.openxmlformats.org/presentationml/2006/main">
  <p:tag name="NON_CONNECTED_SHAPE_ID" val="68173516"/>
  <p:tag name="UPDATE" val="unlock"/>
</p:tagLst>
</file>

<file path=ppt/tags/tag125.xml><?xml version="1.0" encoding="utf-8"?>
<p:tagLst xmlns:a="http://schemas.openxmlformats.org/drawingml/2006/main" xmlns:r="http://schemas.openxmlformats.org/officeDocument/2006/relationships" xmlns:p="http://schemas.openxmlformats.org/presentationml/2006/main">
  <p:tag name="NON_CONNECTED_SHAPE_ID" val="69810585"/>
  <p:tag name="UPDATE" val="unlock"/>
</p:tagLst>
</file>

<file path=ppt/tags/tag126.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7.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8.xml><?xml version="1.0" encoding="utf-8"?>
<p:tagLst xmlns:a="http://schemas.openxmlformats.org/drawingml/2006/main" xmlns:r="http://schemas.openxmlformats.org/officeDocument/2006/relationships" xmlns:p="http://schemas.openxmlformats.org/presentationml/2006/main">
  <p:tag name="NON_CONNECTED_SHAPE_ID" val="45067002"/>
  <p:tag name="UPDATE" val="unlock"/>
</p:tagLst>
</file>

<file path=ppt/tags/tag129.xml><?xml version="1.0" encoding="utf-8"?>
<p:tagLst xmlns:a="http://schemas.openxmlformats.org/drawingml/2006/main" xmlns:r="http://schemas.openxmlformats.org/officeDocument/2006/relationships" xmlns:p="http://schemas.openxmlformats.org/presentationml/2006/main">
  <p:tag name="NON_CONNECTED_SHAPE_ID" val="46258212"/>
  <p:tag name="UPDATE" val="unlock"/>
</p:tagLst>
</file>

<file path=ppt/tags/tag130.xml><?xml version="1.0" encoding="utf-8"?>
<p:tagLst xmlns:a="http://schemas.openxmlformats.org/drawingml/2006/main" xmlns:r="http://schemas.openxmlformats.org/officeDocument/2006/relationships" xmlns:p="http://schemas.openxmlformats.org/presentationml/2006/main">
  <p:tag name="NON_CONNECTED_SHAPE_ID" val="68173516"/>
  <p:tag name="UPDATE" val="unlock"/>
</p:tagLst>
</file>

<file path=ppt/tags/tag131.xml><?xml version="1.0" encoding="utf-8"?>
<p:tagLst xmlns:a="http://schemas.openxmlformats.org/drawingml/2006/main" xmlns:r="http://schemas.openxmlformats.org/officeDocument/2006/relationships" xmlns:p="http://schemas.openxmlformats.org/presentationml/2006/main">
  <p:tag name="NON_CONNECTED_SHAPE_ID" val="69810585"/>
  <p:tag name="UPDATE" val="unlock"/>
</p:tagLst>
</file>

<file path=ppt/tags/tag132.xml><?xml version="1.0" encoding="utf-8"?>
<p:tagLst xmlns:a="http://schemas.openxmlformats.org/drawingml/2006/main" xmlns:r="http://schemas.openxmlformats.org/officeDocument/2006/relationships" xmlns:p="http://schemas.openxmlformats.org/presentationml/2006/main">
  <p:tag name="NON_CONNECTED_SHAPE_ID" val="69391121"/>
  <p:tag name="UPDATE" val="unlock"/>
  <p:tag name="DARWINVERSION" val="CSharp"/>
  <p:tag name="FAILEDREFRESHICONID" val="Darwin_58223110"/>
  <p:tag name="VISUALISATION_ID" val="Darwin_43027257"/>
  <p:tag name="MIGRATIONPHASE" val="Phase0"/>
  <p:tag name="REPORTCONFIGHASH" val="2a1b95d3f643d6d1adde040d39d859b58756c771cbd815455d91e6ae61d4f937"/>
  <p:tag name="REPORTCONFIGHASH_BACKUP" val="{&quot;AnalysisIds&quot;:[691709],&quot;DynamicTimePeriod&quot;:{&quot;IncludeLiveWave&quot;:false,&quot;LatestNDeliverables&quot;:1},&quot;IncludeAlias&quot;:true,&quot;IncludeOverallSegment&quot;:true,&quot;NestSegments&quot;:false,&quot;ProjectId&quot;:523,&quot;ReportingPlanId&quot;:1143,&quot;RollUpDeliverables&quot;:false,&quot;SegmentIds&quot;:[],&quot;SurveyId&quot;:482371,&quot;TimePeriodType&quot;:1}"/>
  <p:tag name="DATAFRAMECONFIGHASH" val="291ae2c0a2a191f51c0f8a7c075025cd09e4e15bed162cc0e88af73c08a75908"/>
  <p:tag name="DATAFRAMECONFIGHASH_BACKUP" val="{&quot;AggregationType&quot;:0,&quot;ColumnFields&quot;:[&quot;Codes&quot;,&quot;y_label&quot;,&quot;decimal&quot;],&quot;FilterCondition&quot;:0,&quot;Filters&quot;:[{&quot;ColumnKey&quot;:&quot;alias_label&quot;,&quot;Type&quot;:1,&quot;Value&quot;:&quot;CREON_MR&quot;,&quot;filterCriteria&quot;:1},{&quot;ColumnKey&quot;:&quot;time_period_name&quot;,&quot;Type&quot;:1,&quot;Value&quot;:&quot;Mar'26&quot;,&quot;filterCriteria&quot;:1},{&quot;ColumnKey&quot;:&quot;y_label&quot;,&quot;Type&quot;:1,&quot;Value&quot;:&quot;None of the above&quot;,&quot;filterCriteria&quot;:2}],&quot;LatestColumnsFirst&quot;:false,&quot;RowFields&quot;:[],&quot;ValueFields&quot;:[],&quot;columnDefinitions&quot;:[{&quot;IsDefaultAlias&quot;:true,&quot;Name&quot;:&quot;time_period_name&quot;},{&quot;IsDefaultAlias&quot;:true,&quot;Name&quot;:&quot;base&quot;},{&quot;IsDefaultAlias&quot;:true,&quot;Name&quot;:&quot;count&quot;},{&quot;IsDefaultAlias&quot;:true,&quot;Name&quot;:&quot;respondents&quot;},{&quot;IsDefaultAlias&quot;:true,&quot;Name&quot;:&quot;y_label&quot;},{&quot;Format&quot;:&quot;0%&quot;,&quot;Formula&quot;:&quot;&quot;,&quot;IsDefaultAlias&quot;:true,&quot;Name&quot;:&quot;decimal&quot;,&quot;sortCriteria&quot;:{&quot;CustomList&quot;:[],&quot;Level&quot;:1,&quot;Order&quot;:1}},{&quot;IsDefaultAlias&quot;:true,&quot;Name&quot;:&quot;Codes&quot;},{&quot;IsDefaultAlias&quot;:true,&quot;Name&quot;:&quot;alias_label&quot;},{&quot;IsDefaultAlias&quot;:true,&quot;Name&quot;:&quot;x_label&quot;},{&quot;IsDefaultAlias&quot;:true,&quot;Name&quot;:&quot;measure&quot;},{&quot;IsDefaultAlias&quot;:true,&quot;Name&quot;:&quot;me_score&quot;}]}"/>
  <p:tag name="MAPPINGCONFIG" val="{&quot;selectedColumns&quot;:[&quot;Codes&quot;,&quot;y_label&quot;,&quot;decimal&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3:27:49.0124359+05:30"/>
  <p:tag name="COLUMNKEYLABELMAP" val="{&quot;time_period_name&quot;:&quot;Deliverable&quot;,&quot;alias_label&quot;:&quot;Analysis&quot;,&quot;measure&quot;:&quot;Measure&quot;,&quot;y_label&quot;:&quot;Code_Y&quot;,&quot;x_label&quot;:&quot;Code_X&quot;,&quot;Codes&quot;:&quot;Codes&quot;,&quot;base&quot;:&quot;Base&quot;,&quot;count&quot;:&quot;Count&quot;,&quot;respondents&quot;:&quot;Respondents&quot;,&quot;decimal&quot;:&quot;Value(%)&quot;,&quot;me_score&quot;:&quot;Message Effectiveness(%)&quot;}"/>
  <p:tag name="ANALYSISTYPE" val="MULTI_QUESTION"/>
</p:tagLst>
</file>

<file path=ppt/tags/tag133.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856637"/>
  <p:tag name="VISUALISATION_ID" val="Darwin_62894215"/>
  <p:tag name="STASSIGID" val="StasSigId_23102607"/>
  <p:tag name="MIGRATIONPHASE" val="Phase0"/>
  <p:tag name="REPORTCONFIGHASH" val="48466f8ac4fc177a0cf386b67af04270b34d5588505d3c254695f62269dbe180"/>
  <p:tag name="REPORTCONFIGHASH_BACKUP" val="{&quot;AnalysisIds&quot;:[691709],&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fff8755cf0d113bb100cf7830cca956cf44a5d745a1b476bd3419e777300fbf8"/>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CREON_MR&quot;},{&quot;Format&quot;:&quot;0%&quot;,&quot;IsDefaultAlias&quot;:true,&quot;Name&quot;:&quot;Feb'26 @:@ Believable @:@ CREON_ME&quot;},{&quot;Format&quot;:&quot;0%&quot;,&quot;IsDefaultAlias&quot;:true,&quot;Name&quot;:&quot;Feb'26 @:@ Differentiated @:@ CREON_ME&quot;},{&quot;Format&quot;:&quot;0%&quot;,&quot;IsDefaultAlias&quot;:true,&quot;Name&quot;:&quot;Feb'26 @:@ Motivating to Prescribe @:@ CREON_ME&quot;},{&quot;Format&quot;:&quot;0%&quot;,&quot;IsDefaultAlias&quot;:true,&quot;Name&quot;:&quot;Mar'26 @:@ (blank) @:@ CREON_MR&quot;,&quot;sortCriteria&quot;:{&quot;CustomList&quot;:[],&quot;Level&quot;:1,&quot;Order&quot;:1}},{&quot;Format&quot;:&quot;0%&quot;,&quot;IsDefaultAlias&quot;:true,&quot;Name&quot;:&quot;Mar'26 @:@ Believable @:@ CREON_ME&quot;},{&quot;Format&quot;:&quot;0%&quot;,&quot;IsDefaultAlias&quot;:true,&quot;Name&quot;:&quot;Mar'26 @:@ Differentiated @:@ CREON_ME&quot;},{&quot;Format&quot;:&quot;0%&quot;,&quot;IsDefaultAlias&quot;:true,&quot;Name&quot;:&quot;Mar'26 @:@ Motivating to Prescribe @:@ CREON_ME&quot;}]}"/>
  <p:tag name="MAPPINGCONFIG" val="{&quot;selectedColumns&quot;:[&quot;Codes&quot;,&quot;Mar'26 @:@ Motivating to Prescribe @:@ CREON_ME&quot;,&quot;Feb'26 @:@ Motivating to Prescribe @:@ CREON_ME&quot;],&quot;selectedRows&quot;:[&quot;C6&quot;,&quot;C10&quot;,&quot;C7&quot;,&quot;C11&quot;,&quot;C3&quot;,&quot;C9&quot;,&quot;C1&quot;,&quot;C20&quot;,&quot;C19&quot;,&quot;C22&quot;,&quot;C21&quot;,&quot;C17&quot;],&quot;selectAllRows&quot;:fals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3:39:53.7858358+05:30"/>
  <p:tag name="COLUMNKEYLABELMAP" val="{&quot;time_period_name&quot;:&quot;Deliverable&quot;,&quot;alias_label&quot;:&quot;Analysis&quot;,&quot;measure&quot;:&quot;Measure&quot;,&quot;y_label&quot;:&quot;Code_Y&quot;,&quot;x_label&quot;:&quot;Code_X&quot;,&quot;Codes&quot;:&quot;Codes&quot;,&quot;base&quot;:&quot;Base&quot;,&quot;count&quot;:&quot;Count&quot;,&quot;respondents&quot;:&quot;Respondents&quot;,&quot;decimal&quot;:&quot;Value(%)&quot;,&quot;me_score&quot;:&quot;Message Effectiveness(%)&quot;}"/>
  <p:tag name="ANALYSISTYPE" val="MULTI_QUESTION"/>
</p:tagLst>
</file>

<file path=ppt/tags/tag134.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57759253"/>
  <p:tag name="VISUALISATION_ID" val="Darwin_21880893"/>
  <p:tag name="STASSIGID" val="StasSigId_76357306"/>
  <p:tag name="MIGRATIONPHASE" val="Phase0"/>
  <p:tag name="REPORTCONFIGHASH" val="48466f8ac4fc177a0cf386b67af04270b34d5588505d3c254695f62269dbe180"/>
  <p:tag name="REPORTCONFIGHASH_BACKUP" val="{&quot;AnalysisIds&quot;:[691709],&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a2cfac0818d38aa26ed597e3356a950400b9d85dd0a41ffd77af072f4036fc5d"/>
  <p:tag name="DATAFRAMECONFIGHASH_BACKUP" val="{&quot;AggregationType&quot;:1,&quot;ColumnFields&quot;:[&quot;time_period_name&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CREON_ME&quot;},{&quot;Format&quot;:&quot;0%&quot;,&quot;IsDefaultAlias&quot;:true,&quot;Name&quot;:&quot;Feb'26 @:@ CREON_MR&quot;},{&quot;Format&quot;:&quot;0%&quot;,&quot;IsDefaultAlias&quot;:true,&quot;Name&quot;:&quot;Mar'26 @:@ CREON_ME&quot;},{&quot;Format&quot;:&quot;0%&quot;,&quot;IsDefaultAlias&quot;:true,&quot;Name&quot;:&quot;Mar'26 @:@ CREON_MR&quot;,&quot;sortCriteria&quot;:{&quot;CustomList&quot;:[],&quot;Level&quot;:1,&quot;Order&quot;:1}}]}"/>
  <p:tag name="MAPPINGCONFIG" val="{&quot;selectedColumns&quot;:[&quot;Codes&quot;,&quot;Mar'26 @:@ CREON_ME&quot;,&quot;Feb'26 @:@ CREON_ME&quot;],&quot;selectedRows&quot;:[&quot;C6&quot;,&quot;C10&quot;,&quot;C7&quot;,&quot;C11&quot;,&quot;C3&quot;,&quot;C9&quot;,&quot;C1&quot;,&quot;C20&quot;,&quot;C19&quot;,&quot;C22&quot;,&quot;C21&quot;,&quot;C17&quot;],&quot;selectAllRows&quot;:fals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3:32:48.2738353+05:30"/>
  <p:tag name="COLUMNKEYLABELMAP" val="{&quot;time_period_name&quot;:&quot;Deliverable&quot;,&quot;alias_label&quot;:&quot;Analysis&quot;,&quot;measure&quot;:&quot;Measure&quot;,&quot;y_label&quot;:&quot;Code_Y&quot;,&quot;x_label&quot;:&quot;Code_X&quot;,&quot;Codes&quot;:&quot;Codes&quot;,&quot;base&quot;:&quot;Base&quot;,&quot;count&quot;:&quot;Count&quot;,&quot;respondents&quot;:&quot;Respondents&quot;,&quot;decimal&quot;:&quot;Value(%)&quot;,&quot;me_score&quot;:&quot;Message Effectiveness(%)&quot;}"/>
  <p:tag name="ANALYSISTYPE" val="MULTI_QUESTION"/>
</p:tagLst>
</file>

<file path=ppt/tags/tag135.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91905805"/>
  <p:tag name="VISUALISATION_ID" val="Darwin_93524046"/>
  <p:tag name="STASSIGID" val="StasSigId_52108239"/>
  <p:tag name="MIGRATIONPHASE" val="Phase0"/>
  <p:tag name="REPORTCONFIGHASH" val="48466f8ac4fc177a0cf386b67af04270b34d5588505d3c254695f62269dbe180"/>
  <p:tag name="REPORTCONFIGHASH_BACKUP" val="{&quot;AnalysisIds&quot;:[691709],&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fff8755cf0d113bb100cf7830cca956cf44a5d745a1b476bd3419e777300fbf8"/>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CREON_MR&quot;},{&quot;Format&quot;:&quot;0%&quot;,&quot;IsDefaultAlias&quot;:true,&quot;Name&quot;:&quot;Feb'26 @:@ Believable @:@ CREON_ME&quot;},{&quot;Format&quot;:&quot;0%&quot;,&quot;IsDefaultAlias&quot;:true,&quot;Name&quot;:&quot;Feb'26 @:@ Differentiated @:@ CREON_ME&quot;},{&quot;Format&quot;:&quot;0%&quot;,&quot;IsDefaultAlias&quot;:true,&quot;Name&quot;:&quot;Feb'26 @:@ Motivating to Prescribe @:@ CREON_ME&quot;},{&quot;Format&quot;:&quot;0%&quot;,&quot;IsDefaultAlias&quot;:true,&quot;Name&quot;:&quot;Mar'26 @:@ (blank) @:@ CREON_MR&quot;,&quot;sortCriteria&quot;:{&quot;CustomList&quot;:[],&quot;Level&quot;:1,&quot;Order&quot;:1}},{&quot;Format&quot;:&quot;0%&quot;,&quot;IsDefaultAlias&quot;:true,&quot;Name&quot;:&quot;Mar'26 @:@ Believable @:@ CREON_ME&quot;},{&quot;Format&quot;:&quot;0%&quot;,&quot;IsDefaultAlias&quot;:true,&quot;Name&quot;:&quot;Mar'26 @:@ Differentiated @:@ CREON_ME&quot;},{&quot;Format&quot;:&quot;0%&quot;,&quot;IsDefaultAlias&quot;:true,&quot;Name&quot;:&quot;Mar'26 @:@ Motivating to Prescribe @:@ CREON_ME&quot;}]}"/>
  <p:tag name="MAPPINGCONFIG" val="{&quot;selectedColumns&quot;:[&quot;Codes&quot;,&quot;Mar'26 @:@ Believable @:@ CREON_ME&quot;,&quot;Feb'26 @:@ Believable @:@ CREON_ME&quot;],&quot;selectedRows&quot;:[&quot;C6&quot;,&quot;C10&quot;,&quot;C7&quot;,&quot;C11&quot;,&quot;C3&quot;,&quot;C9&quot;,&quot;C1&quot;,&quot;C20&quot;,&quot;C19&quot;,&quot;C22&quot;,&quot;C21&quot;,&quot;C17&quot;],&quot;selectAllRows&quot;:fals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3:40:15.2606539+05:30"/>
  <p:tag name="COLUMNKEYLABELMAP" val="{&quot;time_period_name&quot;:&quot;Deliverable&quot;,&quot;alias_label&quot;:&quot;Analysis&quot;,&quot;measure&quot;:&quot;Measure&quot;,&quot;y_label&quot;:&quot;Code_Y&quot;,&quot;x_label&quot;:&quot;Code_X&quot;,&quot;Codes&quot;:&quot;Codes&quot;,&quot;base&quot;:&quot;Base&quot;,&quot;count&quot;:&quot;Count&quot;,&quot;respondents&quot;:&quot;Respondents&quot;,&quot;decimal&quot;:&quot;Value(%)&quot;,&quot;me_score&quot;:&quot;Message Effectiveness(%)&quot;}"/>
  <p:tag name="ANALYSISTYPE" val="MULTI_QUESTION"/>
</p:tagLst>
</file>

<file path=ppt/tags/tag136.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50686013"/>
  <p:tag name="VISUALISATION_ID" val="Darwin_16619089"/>
  <p:tag name="STASSIGID" val="StasSigId_14296421"/>
  <p:tag name="MIGRATIONPHASE" val="Phase0"/>
  <p:tag name="REPORTCONFIGHASH" val="48466f8ac4fc177a0cf386b67af04270b34d5588505d3c254695f62269dbe180"/>
  <p:tag name="REPORTCONFIGHASH_BACKUP" val="{&quot;AnalysisIds&quot;:[691709],&quot;DynamicTimePeriod&quot;:{&quot;IncludeLiveWave&quot;:false,&quot;LatestNDeliverables&quot;:2},&quot;IncludeAlias&quot;:true,&quot;IncludeOverallSegment&quot;:true,&quot;NestSegments&quot;:false,&quot;ProjectId&quot;:523,&quot;ReportingPlanId&quot;:1143,&quot;RollUpDeliverables&quot;:false,&quot;SegmentIds&quot;:[],&quot;SurveyId&quot;:482371,&quot;TimePeriodType&quot;:1}"/>
  <p:tag name="DATAFRAMECONFIGHASH" val="fff8755cf0d113bb100cf7830cca956cf44a5d745a1b476bd3419e777300fbf8"/>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CREON_MR&quot;},{&quot;Format&quot;:&quot;0%&quot;,&quot;IsDefaultAlias&quot;:true,&quot;Name&quot;:&quot;Feb'26 @:@ Believable @:@ CREON_ME&quot;},{&quot;Format&quot;:&quot;0%&quot;,&quot;IsDefaultAlias&quot;:true,&quot;Name&quot;:&quot;Feb'26 @:@ Differentiated @:@ CREON_ME&quot;},{&quot;Format&quot;:&quot;0%&quot;,&quot;IsDefaultAlias&quot;:true,&quot;Name&quot;:&quot;Feb'26 @:@ Motivating to Prescribe @:@ CREON_ME&quot;},{&quot;Format&quot;:&quot;0%&quot;,&quot;IsDefaultAlias&quot;:true,&quot;Name&quot;:&quot;Mar'26 @:@ (blank) @:@ CREON_MR&quot;,&quot;sortCriteria&quot;:{&quot;CustomList&quot;:[],&quot;Level&quot;:1,&quot;Order&quot;:1}},{&quot;Format&quot;:&quot;0%&quot;,&quot;IsDefaultAlias&quot;:true,&quot;Name&quot;:&quot;Mar'26 @:@ Believable @:@ CREON_ME&quot;},{&quot;Format&quot;:&quot;0%&quot;,&quot;IsDefaultAlias&quot;:true,&quot;Name&quot;:&quot;Mar'26 @:@ Differentiated @:@ CREON_ME&quot;},{&quot;Format&quot;:&quot;0%&quot;,&quot;IsDefaultAlias&quot;:true,&quot;Name&quot;:&quot;Mar'26 @:@ Motivating to Prescribe @:@ CREON_ME&quot;}]}"/>
  <p:tag name="MAPPINGCONFIG" val="{&quot;selectedColumns&quot;:[&quot;Codes&quot;,&quot;Mar'26 @:@ Differentiated @:@ CREON_ME&quot;,&quot;Feb'26 @:@ Differentiated @:@ CREON_ME&quot;],&quot;selectedRows&quot;:[&quot;C6&quot;,&quot;C10&quot;,&quot;C7&quot;,&quot;C11&quot;,&quot;C3&quot;,&quot;C9&quot;,&quot;C1&quot;,&quot;C20&quot;,&quot;C19&quot;,&quot;C22&quot;,&quot;C21&quot;,&quot;C17&quot;],&quot;selectAllRows&quot;:fals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3:41:12.5850936+05:30"/>
  <p:tag name="COLUMNKEYLABELMAP" val="{&quot;time_period_name&quot;:&quot;Deliverable&quot;,&quot;alias_label&quot;:&quot;Analysis&quot;,&quot;measure&quot;:&quot;Measure&quot;,&quot;y_label&quot;:&quot;Code_Y&quot;,&quot;x_label&quot;:&quot;Code_X&quot;,&quot;Codes&quot;:&quot;Codes&quot;,&quot;base&quot;:&quot;Base&quot;,&quot;count&quot;:&quot;Count&quot;,&quot;respondents&quot;:&quot;Respondents&quot;,&quot;decimal&quot;:&quot;Value(%)&quot;,&quot;me_score&quot;:&quot;Message Effectiveness(%)&quot;}"/>
  <p:tag name="ANALYSISTYPE" val="MULTI_QUESTION"/>
</p:tagLst>
</file>

<file path=ppt/tags/tag137.xml><?xml version="1.0" encoding="utf-8"?>
<p:tagLst xmlns:a="http://schemas.openxmlformats.org/drawingml/2006/main" xmlns:r="http://schemas.openxmlformats.org/officeDocument/2006/relationships" xmlns:p="http://schemas.openxmlformats.org/presentationml/2006/main">
  <p:tag name="NON_CONNECTED_SHAPE_ID" val="51278626"/>
  <p:tag name="DARWINVERSION" val="CSharp"/>
  <p:tag name="UPDATE" val="unlock"/>
  <p:tag name="VISUALISATION_ID" val="Darwin_18453022"/>
  <p:tag name="MIGRATIONPHASE" val="Phase0"/>
  <p:tag name="REPORTCONFIGHASH" val="af3afd06e668db11e59d1752dfa1e87d36c1a0023e0004ddb6723775db95feb6"/>
  <p:tag name="REPORTCONFIGHASH_BACKUP" val="{&quot;AnalysisIds&quot;:[691710],&quot;DynamicTimePeriod&quot;:{&quot;IncludeLiveWave&quot;:false,&quot;LatestNDeliverables&quot;:1},&quot;IncludeAlias&quot;:true,&quot;IncludeOverallSegment&quot;:true,&quot;NestSegments&quot;:false,&quot;ProjectId&quot;:523,&quot;ReportingPlanId&quot;:1143,&quot;RollUpDeliverables&quot;:false,&quot;SegmentIds&quot;:[],&quot;SurveyId&quot;:396851,&quot;TimePeriodType&quot;:1}"/>
  <p:tag name="DATAFRAMECONFIGHASH" val="a590dc9687e92a047870df9499a2f9637b709c415d26b6336d456fd4f4a165f5"/>
  <p:tag name="DATAFRAMECONFIGHASH_BACKUP" val="{&quot;AggregationType&quot;:0,&quot;ColumnFields&quot;:[&quot;Codes&quot;,&quot;y_label&quot;,&quot;decimal&quot;],&quot;FilterCondition&quot;:0,&quot;Filters&quot;:[{&quot;ColumnKey&quot;:&quot;alias_label&quot;,&quot;Type&quot;:1,&quot;Value&quot;:&quot;ZENPEP MR&quot;,&quot;filterCriteria&quot;:1}],&quot;LatestColumnsFirst&quot;:false,&quot;RowFields&quot;:[],&quot;ValueFields&quot;:[],&quot;columnDefinitions&quot;:[{&quot;IsDefaultAlias&quot;:true,&quot;Name&quot;:&quot;time_period_name&quot;},{&quot;IsDefaultAlias&quot;:true,&quot;Name&quot;:&quot;base&quot;},{&quot;IsDefaultAlias&quot;:true,&quot;Name&quot;:&quot;count&quot;},{&quot;IsDefaultAlias&quot;:true,&quot;Name&quot;:&quot;respondents&quot;},{&quot;IsDefaultAlias&quot;:true,&quot;Name&quot;:&quot;y_label&quot;},{&quot;Format&quot;:&quot;0%&quot;,&quot;Formula&quot;:&quot;&quot;,&quot;IsDefaultAlias&quot;:true,&quot;Name&quot;:&quot;decimal&quot;,&quot;sortCriteria&quot;:{&quot;CustomList&quot;:[],&quot;Level&quot;:1,&quot;Order&quot;:1}},{&quot;IsDefaultAlias&quot;:true,&quot;Name&quot;:&quot;Codes&quot;},{&quot;IsDefaultAlias&quot;:true,&quot;Name&quot;:&quot;Short text&quot;},{&quot;IsDefaultAlias&quot;:true,&quot;Name&quot;:&quot;alias_label&quot;},{&quot;IsDefaultAlias&quot;:true,&quot;Name&quot;:&quot;x_label&quot;},{&quot;IsDefaultAlias&quot;:true,&quot;Name&quot;:&quot;measure&quot;},{&quot;IsDefaultAlias&quot;:true,&quot;Name&quot;:&quot;me_score&quot;}]}"/>
  <p:tag name="MAPPINGCONFIG" val="{&quot;selectedColumns&quot;:[&quot;Codes&quot;,&quot;y_label&quot;,&quot;decimal&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5:04:05.2314899+05:30"/>
  <p:tag name="COLUMNKEYLABELMAP" val="{&quot;time_period_name&quot;:&quot;Deliverable&quot;,&quot;alias_label&quot;:&quot;Analysis&quot;,&quot;measure&quot;:&quot;Measure&quot;,&quot;y_label&quot;:&quot;Code_Y&quot;,&quot;x_label&quot;:&quot;Code_X&quot;,&quot;Codes&quot;:&quot;Codes&quot;,&quot;Short text&quot;:&quot;Short text&quot;,&quot;base&quot;:&quot;Base&quot;,&quot;count&quot;:&quot;Count&quot;,&quot;respondents&quot;:&quot;Respondents&quot;,&quot;decimal&quot;:&quot;Value(%)&quot;,&quot;me_score&quot;:&quot;Message Effectiveness(%)&quot;}"/>
  <p:tag name="ANALYSISTYPE" val="MULTI_QUESTION"/>
</p:tagLst>
</file>

<file path=ppt/tags/tag138.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69589142"/>
  <p:tag name="UPDATE" val="unlock"/>
  <p:tag name="VISUALISATION_ID" val="Darwin_78045983"/>
  <p:tag name="STASSIGID" val="StasSigId_3322946"/>
  <p:tag name="MIGRATIONPHASE" val="Phase0"/>
  <p:tag name="REPORTCONFIGHASH" val="18f4c51d083537e1f513e5dd8c0751ddc6e907b901e1968742bfad69c11eaacf"/>
  <p:tag name="REPORTCONFIGHASH_BACKUP" val="{&quot;AnalysisIds&quot;:[691710],&quot;DynamicTimePeriod&quot;:{&quot;IncludeLiveWave&quot;:false,&quot;LatestNDeliverables&quot;:2},&quot;IncludeAlias&quot;:true,&quot;IncludeOverallSegment&quot;:true,&quot;NestSegments&quot;:false,&quot;ProjectId&quot;:523,&quot;ReportingPlanId&quot;:1143,&quot;RollUpDeliverables&quot;:false,&quot;SegmentIds&quot;:[],&quot;SurveyId&quot;:396851,&quot;TimePeriodType&quot;:1}"/>
  <p:tag name="DATAFRAMECONFIGHASH" val="e6006aee5c634186739432d06ed09c9193527165752bb4345d9c099bcbe63a2b"/>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ZENPEP MR&quot;},{&quot;Format&quot;:&quot;0%&quot;,&quot;IsDefaultAlias&quot;:true,&quot;Name&quot;:&quot;Feb'26 @:@ Believable @:@ ZENPEP ME&quot;},{&quot;Format&quot;:&quot;0%&quot;,&quot;IsDefaultAlias&quot;:true,&quot;Name&quot;:&quot;Feb'26 @:@ Differentiated @:@ ZENPEP ME&quot;},{&quot;Format&quot;:&quot;0%&quot;,&quot;IsDefaultAlias&quot;:true,&quot;Name&quot;:&quot;Feb'26 @:@ Motivating to Prescribe @:@ ZENPEP ME&quot;},{&quot;Format&quot;:&quot;0%&quot;,&quot;IsDefaultAlias&quot;:true,&quot;Name&quot;:&quot;Mar'26 @:@ (blank) @:@ ZENPEP MR&quot;,&quot;sortCriteria&quot;:{&quot;CustomList&quot;:[],&quot;Level&quot;:1,&quot;Order&quot;:1}},{&quot;Format&quot;:&quot;0%&quot;,&quot;IsDefaultAlias&quot;:true,&quot;Name&quot;:&quot;Mar'26 @:@ Believable @:@ ZENPEP ME&quot;},{&quot;Format&quot;:&quot;0%&quot;,&quot;IsDefaultAlias&quot;:true,&quot;Name&quot;:&quot;Mar'26 @:@ Differentiated @:@ ZENPEP ME&quot;},{&quot;Format&quot;:&quot;0%&quot;,&quot;IsDefaultAlias&quot;:true,&quot;Name&quot;:&quot;Mar'26 @:@ Motivating to Prescribe @:@ ZENPEP ME&quot;}]}"/>
  <p:tag name="MAPPINGCONFIG" val="{&quot;selectedColumns&quot;:[&quot;Codes&quot;,&quot;Mar'26 @:@ Motivating to Prescribe @:@ ZENPEP ME&quot;,&quot;Feb'26 @:@ Motivating to Prescribe @:@ ZENPEP M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5:13:39.7594825+05:30"/>
  <p:tag name="COLUMNKEYLABELMAP" val="{&quot;time_period_name&quot;:&quot;Deliverable&quot;,&quot;alias_label&quot;:&quot;Analysis&quot;,&quot;measure&quot;:&quot;Measure&quot;,&quot;y_label&quot;:&quot;Code_Y&quot;,&quot;x_label&quot;:&quot;Code_X&quot;,&quot;Codes&quot;:&quot;Codes&quot;,&quot;Short text&quot;:&quot;Short text&quot;,&quot;base&quot;:&quot;Base&quot;,&quot;count&quot;:&quot;Count&quot;,&quot;respondents&quot;:&quot;Respondents&quot;,&quot;decimal&quot;:&quot;Value(%)&quot;,&quot;me_score&quot;:&quot;Message Effectiveness(%)&quot;}"/>
  <p:tag name="ANALYSISTYPE" val="MULTI_QUESTION"/>
</p:tagLst>
</file>

<file path=ppt/tags/tag139.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9210213"/>
  <p:tag name="UPDATE" val="unlock"/>
  <p:tag name="VISUALISATION_ID" val="Darwin_86391350"/>
  <p:tag name="STASSIGID" val="StasSigId_43810469"/>
  <p:tag name="MIGRATIONPHASE" val="Phase0"/>
  <p:tag name="REPORTCONFIGHASH" val="18f4c51d083537e1f513e5dd8c0751ddc6e907b901e1968742bfad69c11eaacf"/>
  <p:tag name="REPORTCONFIGHASH_BACKUP" val="{&quot;AnalysisIds&quot;:[691710],&quot;DynamicTimePeriod&quot;:{&quot;IncludeLiveWave&quot;:false,&quot;LatestNDeliverables&quot;:2},&quot;IncludeAlias&quot;:true,&quot;IncludeOverallSegment&quot;:true,&quot;NestSegments&quot;:false,&quot;ProjectId&quot;:523,&quot;ReportingPlanId&quot;:1143,&quot;RollUpDeliverables&quot;:false,&quot;SegmentIds&quot;:[],&quot;SurveyId&quot;:396851,&quot;TimePeriodType&quot;:1}"/>
  <p:tag name="DATAFRAMECONFIGHASH" val="e6006aee5c634186739432d06ed09c9193527165752bb4345d9c099bcbe63a2b"/>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ZENPEP MR&quot;},{&quot;Format&quot;:&quot;0%&quot;,&quot;IsDefaultAlias&quot;:true,&quot;Name&quot;:&quot;Feb'26 @:@ Believable @:@ ZENPEP ME&quot;},{&quot;Format&quot;:&quot;0%&quot;,&quot;IsDefaultAlias&quot;:true,&quot;Name&quot;:&quot;Feb'26 @:@ Differentiated @:@ ZENPEP ME&quot;},{&quot;Format&quot;:&quot;0%&quot;,&quot;IsDefaultAlias&quot;:true,&quot;Name&quot;:&quot;Feb'26 @:@ Motivating to Prescribe @:@ ZENPEP ME&quot;},{&quot;Format&quot;:&quot;0%&quot;,&quot;IsDefaultAlias&quot;:true,&quot;Name&quot;:&quot;Mar'26 @:@ (blank) @:@ ZENPEP MR&quot;,&quot;sortCriteria&quot;:{&quot;CustomList&quot;:[],&quot;Level&quot;:1,&quot;Order&quot;:1}},{&quot;Format&quot;:&quot;0%&quot;,&quot;IsDefaultAlias&quot;:true,&quot;Name&quot;:&quot;Mar'26 @:@ Believable @:@ ZENPEP ME&quot;},{&quot;Format&quot;:&quot;0%&quot;,&quot;IsDefaultAlias&quot;:true,&quot;Name&quot;:&quot;Mar'26 @:@ Differentiated @:@ ZENPEP ME&quot;},{&quot;Format&quot;:&quot;0%&quot;,&quot;IsDefaultAlias&quot;:true,&quot;Name&quot;:&quot;Mar'26 @:@ Motivating to Prescribe @:@ ZENPEP ME&quot;}]}"/>
  <p:tag name="MAPPINGCONFIG" val="{&quot;selectedColumns&quot;:[&quot;Codes&quot;,&quot;Mar'26 @:@ Believable @:@ ZENPEP ME&quot;,&quot;Feb'26 @:@ Believable @:@ ZENPEP M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5:14:06.2168870+05:30"/>
  <p:tag name="COLUMNKEYLABELMAP" val="{&quot;time_period_name&quot;:&quot;Deliverable&quot;,&quot;alias_label&quot;:&quot;Analysis&quot;,&quot;measure&quot;:&quot;Measure&quot;,&quot;y_label&quot;:&quot;Code_Y&quot;,&quot;x_label&quot;:&quot;Code_X&quot;,&quot;Codes&quot;:&quot;Codes&quot;,&quot;Short text&quot;:&quot;Short text&quot;,&quot;base&quot;:&quot;Base&quot;,&quot;count&quot;:&quot;Count&quot;,&quot;respondents&quot;:&quot;Respondents&quot;,&quot;decimal&quot;:&quot;Value(%)&quot;,&quot;me_score&quot;:&quot;Message Effectiveness(%)&quot;}"/>
  <p:tag name="ANALYSISTYPE" val="MULTI_QUESTION"/>
</p:tagLst>
</file>

<file path=ppt/tags/tag140.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4225662"/>
  <p:tag name="UPDATE" val="unlock"/>
  <p:tag name="VISUALISATION_ID" val="Darwin_36940828"/>
  <p:tag name="STASSIGID" val="StasSigId_63095210"/>
  <p:tag name="MIGRATIONPHASE" val="Phase0"/>
  <p:tag name="REPORTCONFIGHASH" val="18f4c51d083537e1f513e5dd8c0751ddc6e907b901e1968742bfad69c11eaacf"/>
  <p:tag name="REPORTCONFIGHASH_BACKUP" val="{&quot;AnalysisIds&quot;:[691710],&quot;DynamicTimePeriod&quot;:{&quot;IncludeLiveWave&quot;:false,&quot;LatestNDeliverables&quot;:2},&quot;IncludeAlias&quot;:true,&quot;IncludeOverallSegment&quot;:true,&quot;NestSegments&quot;:false,&quot;ProjectId&quot;:523,&quot;ReportingPlanId&quot;:1143,&quot;RollUpDeliverables&quot;:false,&quot;SegmentIds&quot;:[],&quot;SurveyId&quot;:396851,&quot;TimePeriodType&quot;:1}"/>
  <p:tag name="DATAFRAMECONFIGHASH" val="e6006aee5c634186739432d06ed09c9193527165752bb4345d9c099bcbe63a2b"/>
  <p:tag name="DATAFRAMECONFIGHASH_BACKUP" val="{&quot;AggregationType&quot;:1,&quot;ColumnFields&quot;:[&quot;time_period_name&quot;,&quot;x_label&quot;,&quot;alias_label&quot;],&quot;FilterCondition&quot;:0,&quot;Filters&quot;:[],&quot;LatestColumnsFirst&quot;:false,&quot;RowFields&quot;:[&quot;Codes&quot;],&quot;ValueFields&quot;:[&quot;decimal&quot;],&quot;columnDefinitions&quot;:[{&quot;IsDefaultAlias&quot;:true,&quot;Name&quot;:&quot;Codes&quot;},{&quot;Format&quot;:&quot;0%&quot;,&quot;IsDefaultAlias&quot;:true,&quot;Name&quot;:&quot;Feb'26 @:@ (blank) @:@ ZENPEP MR&quot;},{&quot;Format&quot;:&quot;0%&quot;,&quot;IsDefaultAlias&quot;:true,&quot;Name&quot;:&quot;Feb'26 @:@ Believable @:@ ZENPEP ME&quot;},{&quot;Format&quot;:&quot;0%&quot;,&quot;IsDefaultAlias&quot;:true,&quot;Name&quot;:&quot;Feb'26 @:@ Differentiated @:@ ZENPEP ME&quot;},{&quot;Format&quot;:&quot;0%&quot;,&quot;IsDefaultAlias&quot;:true,&quot;Name&quot;:&quot;Feb'26 @:@ Motivating to Prescribe @:@ ZENPEP ME&quot;},{&quot;Format&quot;:&quot;0%&quot;,&quot;IsDefaultAlias&quot;:true,&quot;Name&quot;:&quot;Mar'26 @:@ (blank) @:@ ZENPEP MR&quot;,&quot;sortCriteria&quot;:{&quot;CustomList&quot;:[],&quot;Level&quot;:1,&quot;Order&quot;:1}},{&quot;Format&quot;:&quot;0%&quot;,&quot;IsDefaultAlias&quot;:true,&quot;Name&quot;:&quot;Mar'26 @:@ Believable @:@ ZENPEP ME&quot;},{&quot;Format&quot;:&quot;0%&quot;,&quot;IsDefaultAlias&quot;:true,&quot;Name&quot;:&quot;Mar'26 @:@ Differentiated @:@ ZENPEP ME&quot;},{&quot;Format&quot;:&quot;0%&quot;,&quot;IsDefaultAlias&quot;:true,&quot;Name&quot;:&quot;Mar'26 @:@ Motivating to Prescribe @:@ ZENPEP ME&quot;}]}"/>
  <p:tag name="MAPPINGCONFIG" val="{&quot;selectedColumns&quot;:[&quot;Codes&quot;,&quot;Mar'26 @:@ Differentiated @:@ ZENPEP ME&quot;,&quot;Feb'26 @:@ Differentiated @:@ ZENPEP M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5:15:24.5451388+05:30"/>
  <p:tag name="COLUMNKEYLABELMAP" val="{&quot;time_period_name&quot;:&quot;Deliverable&quot;,&quot;alias_label&quot;:&quot;Analysis&quot;,&quot;measure&quot;:&quot;Measure&quot;,&quot;y_label&quot;:&quot;Code_Y&quot;,&quot;x_label&quot;:&quot;Code_X&quot;,&quot;Codes&quot;:&quot;Codes&quot;,&quot;Short text&quot;:&quot;Short text&quot;,&quot;base&quot;:&quot;Base&quot;,&quot;count&quot;:&quot;Count&quot;,&quot;respondents&quot;:&quot;Respondents&quot;,&quot;decimal&quot;:&quot;Value(%)&quot;,&quot;me_score&quot;:&quot;Message Effectiveness(%)&quot;}"/>
  <p:tag name="ANALYSISTYPE" val="MULTI_QUESTION"/>
</p:tagLst>
</file>

<file path=ppt/tags/tag141.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62502882"/>
  <p:tag name="UPDATE" val="unlock"/>
  <p:tag name="VISUALISATION_ID" val="Darwin_42039245"/>
  <p:tag name="STASSIGID" val="StasSigId_98473044"/>
  <p:tag name="MIGRATIONPHASE" val="Phase0"/>
  <p:tag name="REPORTCONFIGHASH" val="18f4c51d083537e1f513e5dd8c0751ddc6e907b901e1968742bfad69c11eaacf"/>
  <p:tag name="REPORTCONFIGHASH_BACKUP" val="{&quot;AnalysisIds&quot;:[691710],&quot;DynamicTimePeriod&quot;:{&quot;IncludeLiveWave&quot;:false,&quot;LatestNDeliverables&quot;:2},&quot;IncludeAlias&quot;:true,&quot;IncludeOverallSegment&quot;:true,&quot;NestSegments&quot;:false,&quot;ProjectId&quot;:523,&quot;ReportingPlanId&quot;:1143,&quot;RollUpDeliverables&quot;:false,&quot;SegmentIds&quot;:[],&quot;SurveyId&quot;:396851,&quot;TimePeriodType&quot;:1}"/>
  <p:tag name="DATAFRAMECONFIGHASH" val="706a0252dcdf1e2cd0a56efa55a7a30ead2687243f81b0e27f48b814ba634585"/>
  <p:tag name="DATAFRAMECONFIGHASH_BACKUP" val="{&quot;AggregationType&quot;:1,&quot;ColumnFields&quot;:[&quot;time_period_name&quot;,&quot;alias_label&quot;],&quot;FilterCondition&quot;:0,&quot;Filters&quot;:[],&quot;LatestColumnsFirst&quot;:false,&quot;RowFields&quot;:[&quot;Codes&quot;],&quot;ValueFields&quot;:[&quot;decimal&quot;,&quot;me_score&quot;],&quot;columnDefinitions&quot;:[{&quot;IsDefaultAlias&quot;:true,&quot;Name&quot;:&quot;Codes&quot;},{&quot;Format&quot;:&quot;0%&quot;,&quot;IsDefaultAlias&quot;:true,&quot;Name&quot;:&quot;Feb'26 @:@ ZENPEP ME @:@ Average of decimal&quot;},{&quot;Format&quot;:&quot;0%&quot;,&quot;IsDefaultAlias&quot;:true,&quot;Name&quot;:&quot;Feb'26 @:@ ZENPEP ME @:@ Average of me_score&quot;},{&quot;Format&quot;:&quot;0%&quot;,&quot;IsDefaultAlias&quot;:true,&quot;Name&quot;:&quot;Feb'26 @:@ ZENPEP MR @:@ Average of decimal&quot;},{&quot;Format&quot;:&quot;0%&quot;,&quot;IsDefaultAlias&quot;:true,&quot;Name&quot;:&quot;Feb'26 @:@ ZENPEP MR @:@ Average of me_score&quot;},{&quot;Format&quot;:&quot;0%&quot;,&quot;IsDefaultAlias&quot;:true,&quot;Name&quot;:&quot;Mar'26 @:@ ZENPEP ME @:@ Average of decimal&quot;},{&quot;Format&quot;:&quot;0%&quot;,&quot;IsDefaultAlias&quot;:true,&quot;Name&quot;:&quot;Mar'26 @:@ ZENPEP ME @:@ Average of me_score&quot;},{&quot;Format&quot;:&quot;0%&quot;,&quot;IsDefaultAlias&quot;:true,&quot;Name&quot;:&quot;Mar'26 @:@ ZENPEP MR @:@ Average of decimal&quot;,&quot;sortCriteria&quot;:{&quot;CustomList&quot;:[],&quot;Level&quot;:1,&quot;Order&quot;:1}},{&quot;Format&quot;:&quot;0%&quot;,&quot;IsDefaultAlias&quot;:true,&quot;Name&quot;:&quot;Mar'26 @:@ ZENPEP MR @:@ Average of me_score&quot;}]}"/>
  <p:tag name="MAPPINGCONFIG" val="{&quot;selectedColumns&quot;:[&quot;Codes&quot;,&quot;Mar'26 @:@ ZENPEP ME @:@ Average of me_score&quot;,&quot;Feb'26 @:@ ZENPEP ME @:@ Average of me_scor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21T15:10:37.2456425+05:30"/>
  <p:tag name="COLUMNKEYLABELMAP" val="{&quot;time_period_name&quot;:&quot;Deliverable&quot;,&quot;alias_label&quot;:&quot;Analysis&quot;,&quot;measure&quot;:&quot;Measure&quot;,&quot;y_label&quot;:&quot;Code_Y&quot;,&quot;x_label&quot;:&quot;Code_X&quot;,&quot;Codes&quot;:&quot;Codes&quot;,&quot;Short text&quot;:&quot;Short text&quot;,&quot;base&quot;:&quot;Base&quot;,&quot;count&quot;:&quot;Count&quot;,&quot;respondents&quot;:&quot;Respondents&quot;,&quot;decimal&quot;:&quot;Value(%)&quot;,&quot;me_score&quot;:&quot;Message Effectiveness(%)&quot;}"/>
  <p:tag name="ANALYSISTYPE" val="MULTI_QUESTION"/>
</p:tagLst>
</file>

<file path=ppt/tags/tag142.xml><?xml version="1.0" encoding="utf-8"?>
<p:tagLst xmlns:a="http://schemas.openxmlformats.org/drawingml/2006/main" xmlns:r="http://schemas.openxmlformats.org/officeDocument/2006/relationships" xmlns:p="http://schemas.openxmlformats.org/presentationml/2006/main">
  <p:tag name="NON_CONNECTED_SHAPE_ID" val="70856665"/>
  <p:tag name="UPDATE" val="unlock"/>
</p:tagLst>
</file>

<file path=ppt/tags/tag143.xml><?xml version="1.0" encoding="utf-8"?>
<p:tagLst xmlns:a="http://schemas.openxmlformats.org/drawingml/2006/main" xmlns:r="http://schemas.openxmlformats.org/officeDocument/2006/relationships" xmlns:p="http://schemas.openxmlformats.org/presentationml/2006/main">
  <p:tag name="NON_CONNECTED_SHAPE_ID" val="67664741"/>
  <p:tag name="UPDATE" val="unlock"/>
</p:tagLst>
</file>

<file path=ppt/tags/tag144.xml><?xml version="1.0" encoding="utf-8"?>
<p:tagLst xmlns:a="http://schemas.openxmlformats.org/drawingml/2006/main" xmlns:r="http://schemas.openxmlformats.org/officeDocument/2006/relationships" xmlns:p="http://schemas.openxmlformats.org/presentationml/2006/main">
  <p:tag name="NON_CONNECTED_SHAPE_ID" val="92734132"/>
  <p:tag name="UPDATE" val="unlock"/>
</p:tagLst>
</file>

<file path=ppt/tags/tag145.xml><?xml version="1.0" encoding="utf-8"?>
<p:tagLst xmlns:a="http://schemas.openxmlformats.org/drawingml/2006/main" xmlns:r="http://schemas.openxmlformats.org/officeDocument/2006/relationships" xmlns:p="http://schemas.openxmlformats.org/presentationml/2006/main">
  <p:tag name="NON_CONNECTED_SHAPE_ID" val="83033130"/>
  <p:tag name="UPDATE" val="unlock"/>
</p:tagLst>
</file>

<file path=ppt/tags/tag146.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85908892"/>
  <p:tag name="VISUALISATION_ID" val="Darwin_68786100"/>
  <p:tag name="MIGRATIONPHASE" val="Phase0"/>
  <p:tag name="REPORTCONFIGHASH" val="669df3f44e3d6fdcf17c8f58991f6dfd8330e42cceea1ee14952fcf622a354f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 val="da7823009ad18176a4e72ac9bae5fa58ed67bc5ae8661deaee0acb714beb6fd4"/>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8:25:03.9498284+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147.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85569578"/>
  <p:tag name="UPDATE" val="unlock"/>
  <p:tag name="VISUALISATION_ID" val="Darwin_23019065"/>
</p:tagLst>
</file>

<file path=ppt/tags/tag148.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MIGRATIONPHASE" val="Phase0"/>
  <p:tag name="REPORTCONFIGHASH" val="669df3f44e3d6fdcf17c8f58991f6dfd8330e42cceea1ee14952fcf622a354f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 val="da7823009ad18176a4e72ac9bae5fa58ed67bc5ae8661deaee0acb714beb6fd4"/>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0"/>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33.9907495+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149.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7702773"/>
  <p:tag name="VISUALISATION_ID" val="Darwin_81972118"/>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3-03-2025 19:49:40$!$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NON_CONNECTED_SHAPE_ID" val="96919422"/>
</p:tagLst>
</file>

<file path=ppt/tags/tag150.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29926369"/>
  <p:tag name="UPDATE" val="unlock"/>
  <p:tag name="VISUALISATION_ID" val="Darwin_23019065"/>
</p:tagLst>
</file>

<file path=ppt/tags/tag151.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1"/>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35.6534636+05:30"/>
</p:tagLst>
</file>

<file path=ppt/tags/tag152.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2"/>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37.5017700+05:30"/>
</p:tagLst>
</file>

<file path=ppt/tags/tag153.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3"/>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39.3493797+05:30"/>
</p:tagLst>
</file>

<file path=ppt/tags/tag154.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4"/>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1.2134349+05:30"/>
</p:tagLst>
</file>

<file path=ppt/tags/tag155.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5"/>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2.8257321+05:30"/>
</p:tagLst>
</file>

<file path=ppt/tags/tag156.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6"/>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4.7622265+05:30"/>
</p:tagLst>
</file>

<file path=ppt/tags/tag157.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7"/>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6.3111424+05:30"/>
</p:tagLst>
</file>

<file path=ppt/tags/tag158.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8"/>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8.1407573+05:30"/>
</p:tagLst>
</file>

<file path=ppt/tags/tag159.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9"/>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49.9433601+05:30"/>
</p:tagLst>
</file>

<file path=ppt/tags/tag160.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10"/>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51.5934690+05:30"/>
</p:tagLst>
</file>

<file path=ppt/tags/tag161.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11"/>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53.2727621+05:30"/>
</p:tagLst>
</file>

<file path=ppt/tags/tag162.xml><?xml version="1.0" encoding="utf-8"?>
<p:tagLst xmlns:a="http://schemas.openxmlformats.org/drawingml/2006/main" xmlns:r="http://schemas.openxmlformats.org/officeDocument/2006/relationships" xmlns:p="http://schemas.openxmlformats.org/presentationml/2006/main">
  <p:tag name="GROUPID" val="Group_97156338"/>
  <p:tag name="DARWINVERSION" val="CSharp"/>
  <p:tag name="FAILEDREFRESHICONID" val="Darwin_50417463"/>
  <p:tag name="VISUALISATION_ID" val="Darwin_89494115"/>
  <p:tag name="UPDATE" val="unlock"/>
  <p:tag name="STASSIGID" val="StasSigId_50776229"/>
  <p:tag name="SYNQRY" val="SYNQRY#1#$$!$FileVersion--1.6.5.5$!$IsAlias--True$!$Project--523$!$IsNestedSegments--False$!$ProjectSegmentIDs--$!$Survey--482371$!$RequiredColumns--Code@:@Code@:@@:@$$title@:@titl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Wave 32 - C_ME - Average of ME@:@Wave 32 - C_ME - Average of ME@:@0%@:@$!$LongFilterCondition--AND$!$Metric--none$!$SelectedColumns--Code@:@Code@:@@:@$$Wave 27 - C_MR - Average of decimal@:@Wave 27 - C_MR - Average of decimal@:@0%@:@$$Wave 28 - C_MR - Average of decimal@:@Wave 28 - C_MR - Average of decimal@:@0%@:@$$Wave 29 - C_MR - Average of decimal@:@Wave 29 - C_MR - Average of decimal@:@0%@:@$$Wave 30 - C_MR - Average of decimal@:@Wave 30 - C_MR - Average of decimal@:@0%@:@$$Wave 31 - C_MR - Average of decimal@:@Wave 31 - C_MR - Average of decimal@:@0%@:@$$Wave 32 - C_MR - Average of decimal@:@Wave 32 - C_MR - Average of decimal@:@0%@:@$!$PivotFilterCondition--AND$!$Analysis--4470$!$SelectedRows--ALL$!$AddLatestColumnToFirst--False$!$RecentWave--W2#6$!$ChartSplit--1$!$IsClientDeliverable--False$!$SelectedWave--127953,124603,120937,118248,115138,112550$!$Transpose--True$!$ClientDeliverableID--$!$SelectedSeg--$!$IsOverlapping--False$!$ClientDeliverableSegmentIDs--$!$SelectedGp--wave$!$IsSorted--True$!$ChartType--Line$!$SelectedMulRolling--$!$SortedField--Wave 32 - C_MR - Average of decimal$$Descending$$$!$FetchOverallData--False$!$Relative--True$!$IsAddQuestionText--False$!$StatisticsSignificance--[]$!$LiveWave--False$!$IsNonOverlapping--False$!$StatisticsSignificanceNValue--30$!$IsSplit--True$!$LastUpdate--13-01-2026 11:48:43$!$AddSplitObjectsToSingleSlide--True$!$LongFilterFields--$!$TableHeader--1$!$PivotEntry--1$!$TopNRows--0$!$IsProjectAnalysis--True$!$SelectAllColumns--False$!$PivotFilterFields--$!$IsAddLegend--False$!$xField--Code,title$!$Status--Create:Success$!$yField--segment_0,analysis_id$!$MoveFirst--$!$vField--decimal,ME$!$MoveLast--$!$fnField--Average"/>
  <p:tag name="MIGRATIONPHASE" val="Phase0"/>
  <p:tag name="REPORTCONFIGHASH_BACKUP" val="{&quot;AnalysisIds&quot;:[63207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SplitGroup_2a32ba22"/>
  <p:tag name="SPLITORDER" val="12"/>
  <p:tag name="REPORTCONFIGHASH" val="669df3f44e3d6fdcf17c8f58991f6dfd8330e42cceea1ee14952fcf622a354f0"/>
  <p:tag name="DATAFRAMECONFIGHASH" val="da7823009ad18176a4e72ac9bae5fa58ed67bc5ae8661deaee0acb714beb6fd4"/>
  <p:tag name="MAPPINGCONFIG" val="{&quot;selectedColumns&quot;:[&quot;y_code&quot;,&quot;y_label&quot;,&quot;Oct'25&quot;,&quot;Nov'25&quot;,&quot;Dec'25&quot;,&quot;Jan'26&quot;,&quot;Feb'26&quot;,&quot;Mar'26&quot;],&quot;selectedRows&quot;:[&quot;CR6@:@Take CREON every meal, every snack, every day.&quot;,&quot;CR10@:@CREON is the #1 PERT prescribed by Gastroenterologists, Primary Care Physicians, and Nurse Practitioners and Physician Assistants.&quot;,&quot;CR7@:@CREON 36K capsules can be an appropriate dose for many adults.&quot;,&quot;CR11@:@95% of commercially eligible patients pay $5 or less for their CREON prescription with the CREON Complete Savings card.&quot;,&quot;CR3@:@Exocrine Pancreatic Insufficiency (EPI) is under-recognized and can have an impact on nutritional health and quality of life&quot;,&quot;CR4@:@EPI is largely a clinical diagnosis based on signs and symptoms and should be considered as part of the differential diagnosis of GI symptoms.&quot;,&quot;CR9@:@CREON significantly improves fat absorption compared with placebo in randomized clinical trials of patients with EPI due to CF, CP, or pancreatectomy.&quot;,&quot;CR1@:@CREON maintains category leading coverage: 89% of national commercial and Medicare Part D insured lives have preferred access to CREON with the lowest branded copay, without a prior authorization.&quot;,&quot;CR20@:@Significant experience, exceptional patient support, and excellent coverage make CREON a proven partner for patients with EPl.&quot;,&quot;CR16@:@Based on the FDA-approved label, CREON is the only PERT specifically studied for patients with EPI due to chronic pancreatitis and pancreatectomy, in addition to cystic fibrosis&quot;,&quot;CR22@:@71% of CREON Medicare Part D patients paid less than $30 in 2024.&quot;,&quot;CR21@:@CREON Complete may help patients start and stay on track with their treatment.&quot;,&quot;CR17@:@More than 8 out of 10 GEs and PCPs prescribe CREON more than other PERTs&quot;],&quot;selectAllRows&quot;:false,&quot;addQuestionText&quot;:false,&quot;applyTranspose&quot;:fals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26:55.2678689+05:30"/>
</p:tagLst>
</file>

<file path=ppt/tags/tag163.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85694574"/>
  <p:tag name="VISUALISATION_ID" val="Darwin_56886880"/>
  <p:tag name="MIGRATIONPHASE" val="Phase0"/>
  <p:tag name="REPORTCONFIGHASH" val="ce4d5e673d3184c135b62055977a491b90b4f8a671f410af7dad530d379a91b7"/>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 val="da7823009ad18176a4e72ac9bae5fa58ed67bc5ae8661deaee0acb714beb6fd4"/>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8:32:00.0394846+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164.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84442688"/>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3-03-2025 20:06:51$!$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NON_CONNECTED_SHAPE_ID" val="17952657"/>
</p:tagLst>
</file>

<file path=ppt/tags/tag165.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70859032"/>
  <p:tag name="UPDATE" val="unlock"/>
  <p:tag name="VISUALISATION_ID" val="Darwin_23019065"/>
</p:tagLst>
</file>

<file path=ppt/tags/tag166.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39183431"/>
  <p:tag name="UPDATE" val="unlock"/>
  <p:tag name="VISUALISATION_ID" val="Darwin_23019065"/>
</p:tagLst>
</file>

<file path=ppt/tags/tag167.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SPLITORDER" val="0"/>
  <p:tag name="VISUALISATION_ID" val="Darwin_28668170"/>
  <p:tag name="FAILEDREFRESHICONID" val="Darwin_28668170"/>
  <p:tag name="UPDATE" val="unlock"/>
  <p:tag name="STASSIGID" val="StasSigId_33957141"/>
  <p:tag name="SPLITGROUPID" val="33863384"/>
  <p:tag name="MIGRATIONPHASE" val="Phase0"/>
  <p:tag name="REPORTCONFIGHASH" val="ce4d5e673d3184c135b62055977a491b90b4f8a671f410af7dad530d379a91b7"/>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 val="da7823009ad18176a4e72ac9bae5fa58ed67bc5ae8661deaee0acb714beb6fd4"/>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2:59.0914776+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168.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1"/>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00.6284212+05:30"/>
</p:tagLst>
</file>

<file path=ppt/tags/tag169.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2"/>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02.4472462+05:30"/>
</p:tagLst>
</file>

<file path=ppt/tags/tag170.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3"/>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04.7089255+05:30"/>
</p:tagLst>
</file>

<file path=ppt/tags/tag171.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4"/>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06.7899188+05:30"/>
</p:tagLst>
</file>

<file path=ppt/tags/tag172.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5"/>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08.7507582+05:30"/>
</p:tagLst>
</file>

<file path=ppt/tags/tag173.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6"/>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0.9063685+05:30"/>
</p:tagLst>
</file>

<file path=ppt/tags/tag174.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7"/>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2.6801287+05:30"/>
</p:tagLst>
</file>

<file path=ppt/tags/tag175.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8"/>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4.6379650+05:30"/>
</p:tagLst>
</file>

<file path=ppt/tags/tag176.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9"/>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6.2851143+05:30"/>
</p:tagLst>
</file>

<file path=ppt/tags/tag177.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10"/>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7.9599628+05:30"/>
</p:tagLst>
</file>

<file path=ppt/tags/tag178.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11"/>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19.5934928+05:30"/>
</p:tagLst>
</file>

<file path=ppt/tags/tag179.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12"/>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21.3834037+05:30"/>
</p:tagLst>
</file>

<file path=ppt/tags/tag180.xml><?xml version="1.0" encoding="utf-8"?>
<p:tagLst xmlns:a="http://schemas.openxmlformats.org/drawingml/2006/main" xmlns:r="http://schemas.openxmlformats.org/officeDocument/2006/relationships" xmlns:p="http://schemas.openxmlformats.org/presentationml/2006/main">
  <p:tag name="DARWINVERSION" val="CSharp"/>
  <p:tag name="GROUPID" val="Group_33863384"/>
  <p:tag name="VISUALISATION_ID" val="Darwin_28668170"/>
  <p:tag name="FAILEDREFRESHICONID" val="Darwin_28668170"/>
  <p:tag name="UPDATE" val="unlock"/>
  <p:tag name="STASSIGID" val="StasSigId_33957141"/>
  <p:tag name="SYNQRY" val="SYNQRY#1#$$!$FileVersion--1.6.5.5$!$IsAlias--True$!$Project--523$!$IsNestedSegments--True$!$ProjectSegmentIDs--$!$Survey--482371$!$RequiredColumns--code@:@code@:@0%@:@$$title@:@titl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W32 - Z_ME - Average of ME@:@W32 - Z_ME - Average of ME@:@0%@:@$!$LongFilterCondition--AND$!$Metric--$!$SelectedColumns--code@:@code@:@0%@:@$$W27 - Z_MR - Average of decimal@:@W27 - Z_MR - Average of decimal@:@0%@:@$$W28 - Z_MR - Average of decimal@:@W28 - Z_MR - Average of decimal@:@0%@:@$$W29 - Z_MR - Average of decimal@:@W29 - Z_MR - Average of decimal@:@0%@:@$$W30 - Z_MR - Average of decimal@:@W30 - Z_MR - Average of decimal@:@0%@:@$$W31 - Z_MR - Average of decimal@:@W31 - Z_MR - Average of decimal@:@0%@:@$$W32 - Z_MR - Average of decimal@:@W32 - Z_MR - Average of decimal@:@0%@:@$!$PivotFilterCondition--AND$!$Analysis--4469$!$SelectedRows--ALL$!$AddLatestColumnToFirst--False$!$RecentWave--W2#6$!$ChartSplit--1$!$IsClientDeliverable--True$!$SelectedWave--105134,102306,98932,96675,94612,91847$!$Transpose--True$!$ClientDeliverableID--96$!$SelectedSeg--$!$IsOverlapping--False$!$ClientDeliverableSegmentIDs--14251,13101,12140,11580,10823,10014$!$SelectedGp--wave$!$IsSorted--True$!$ChartType--Line$!$SelectedMulRolling--$!$SortedField--W32 - Z_MR - Average of decimal$$Descending$$$!$FetchOverallData--False$!$Relative--True$!$IsAddQuestionText--False$!$StatisticsSignificance--[]$!$LiveWave--False$!$IsNonOverlapping--False$!$StatisticsSignificanceNValue--30$!$IsSplit--True$!$LastUpdate--13-01-2026 12:15:17$!$AddSplitObjectsToSingleSlide--True$!$LongFilterFields--$!$TableHeader--1$!$PivotEntry--1$!$TopNRows--0$!$IsProjectAnalysis--True$!$SelectAllColumns--False$!$PivotFilterFields--$!$IsAddLegend--False$!$xField--title,code$!$Status--Create:Success$!$yField--segment_0,analysis_id$!$MoveFirst--$!$vField--decimal,ME$!$MoveLast--$!$fnField--Average"/>
  <p:tag name="MIGRATIONPHASE" val="Phase0"/>
  <p:tag name="REPORTCONFIGHASH_BACKUP" val="{&quot;AnalysisIds&quot;:[691706],&quot;DynamicTimePeriod&quot;:{&quot;IncludeLiveWave&quot;:false,&quot;LatestNDeliverables&quot;:6},&quot;IncludeAlias&quot;:true,&quot;IncludeOverallSegment&quot;:true,&quot;NestSegments&quot;:false,&quot;ProjectId&quot;:523,&quot;ReportingPlanId&quot;:1143,&quot;RollUpDeliverables&quot;:false,&quot;SegmentIds&quot;:[],&quot;SurveyId&quot;:482371,&quot;TimePeriodType&quot;:1}"/>
  <p:tag name="DATAFRAMECONFIGHASH_BACKUP" val="{&quot;AggregationType&quot;:0,&quot;ColumnFields&quot;:[&quot;time_period_name&quot;],&quot;FilterCondition&quot;:0,&quot;Filters&quot;:[],&quot;LatestColumnsFirst&quot;:false,&quot;RowFields&quot;:[&quot;y_code&quot;,&quot;y_label&quot;],&quot;ValueFields&quot;:[&quot;decimal&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863384"/>
  <p:tag name="SPLITORDER" val="13"/>
  <p:tag name="REPORTCONFIGHASH" val="ce4d5e673d3184c135b62055977a491b90b4f8a671f410af7dad530d379a91b7"/>
  <p:tag name="DATAFRAMECONFIGHASH" val="da7823009ad18176a4e72ac9bae5fa58ed67bc5ae8661deaee0acb714beb6fd4"/>
  <p:tag name="MAPPINGCONFIG" val="{&quot;selectedColumns&quot;:[&quot;y_code&quot;,&quot;y_label&quot;,&quot;Oct'25&quot;,&quot;Nov'25&quot;,&quot;Dec'25&quot;,&quot;Jan'26&quot;,&quot;Feb'26&quot;,&quot;Mar'26&quot;],&quot;selectedRows&quot;:[&quot;ZP11@:@ZENPEP is now $0 for commercially insured patients&quot;,&quot;ZP17@:@Only ZENPEP offers 40k and 60k lipase-unit capsules, which may help reduce the number of pills your adult patients need to take&quot;,&quot;ZP16@:@ZENPEP offers a single-capsule starting dose for almost all adult patients&quot;,&quot;ZP21@:@ZENPEP can help your patients absorb the fat and nutrients they need and treat uncomfortable GI symptoms&quot;,&quot;ZP23@:@Zenpep is the most widely covered treatment in its class.&quot;,&quot;ZP15@:@When prescribing PERT to your adult patients with EPI -Start simply with one capsule of ZENPEP®&quot;,&quot;ZP19@:@Meets the ACG guideline for EPI and CP in a single capsule&quot;,&quot;ZP7@:@ZENPEP has an enteric coating that minimizes degradation and targets enzyme release in the small intestine&quot;,&quot;ZP24@:@Zenpep is designed to mimic typical exocrine pancreatic function.&quot;,&quot;ZP18@:@In a clinical trial, the right dose helped patients absorb nutrients from their food and provided symptom relief&quot;,&quot;ZP22@:@Through My SampleCloset, practices are able to easily request samples of Zenpep at any strength&quot;,&quot;ZP25@:@ZENPEP is the fastest growing PERT&quot;,&quot;ZP20@:@91% of patients achieved a CFA of 80% or higher with Zenpep&quot;,&quot;ZP8@:@ZENPEP helps fuel nutritional health, increasing coefficient of fat absorption (CFA) by 26 percentage points vs placebo&quot;],&quot;selectAllRows&quot;:fals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8:33:23.1188226+05:30"/>
</p:tagLst>
</file>

<file path=ppt/tags/tag18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16272804"/>
  <p:tag name="FAILEDREFRESHICONID" val="Darwin_16272804"/>
  <p:tag name="MIGRATIONPHASE" val="Phase0"/>
  <p:tag name="REPORTCONFIGHASH" val="986948a0acbdb15b651a107fd4c2d17ac0ccf74b42c346fcbb94d88903a7d3bb"/>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742ba49fbe8675741860167bb688efae8a320ccefa88075d7619a1ccdd4fb4ae"/>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8:39:50.0246814+05:30"/>
  <p:tag name="COLUMNKEYLABELMAP" val="{&quot;time_period_name&quot;:&quot;Deliverable&quot;,&quot;y_code&quot;:&quot;Code_Y&quot;,&quot;y_label&quot;:&quot;SubQ_Y&quot;,&quot;x_code&quot;:&quot;Code_X&quot;,&quot;x_label&quot;:&quot;SubQ_X&quot;,&quot;measure&quot;:&quot;Measure&quot;,&quot;base&quot;:&quot;Base&quot;,&quot;count&quot;:&quot;Count&quot;,&quot;respondents&quot;:&quot;Respondents&quot;,&quot;decimal&quot;:&quot;Value(%)&quot;,&quot;me_score&quot;:&quot;Message Effectiveness(%)&quot;}"/>
  <p:tag name="ANALYSISTYPE" val="SINGLE_QUESTION"/>
</p:tagLst>
</file>

<file path=ppt/tags/tag182.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37903593"/>
  <p:tag name="UPDATE" val="unlock"/>
  <p:tag name="VISUALISATION_ID" val="Darwin_23019065"/>
</p:tagLst>
</file>

<file path=ppt/tags/tag183.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47422006"/>
  <p:tag name="UPDATE" val="unlock"/>
  <p:tag name="VISUALISATION_ID" val="Darwin_23019065"/>
</p:tagLst>
</file>

<file path=ppt/tags/tag184.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SPLITORDER" val="7"/>
  <p:tag name="FAILEDREFRESHICONID" val="Darwin_21138426"/>
  <p:tag name="VISUALISATION_ID" val="Darwin_21138426"/>
  <p:tag name="UPDATE" val="unlock"/>
  <p:tag name="STASSIGID" val="StasSigId_93602673"/>
  <p:tag name="SPLITGROUPID" val="3392922"/>
  <p:tag name="MIGRATIONPHASE" val="Phase0"/>
  <p:tag name="REPORTCONFIGHASH" val="986948a0acbdb15b651a107fd4c2d17ac0ccf74b42c346fcbb94d88903a7d3bb"/>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742ba49fbe8675741860167bb688efae8a320ccefa88075d7619a1ccdd4fb4ae"/>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7.0068601+05:30"/>
  <p:tag name="COLUMNKEYLABELMAP" val="{&quot;time_period_name&quot;:&quot;Deliverable&quot;,&quot;y_code&quot;:&quot;Code_Y&quot;,&quot;y_label&quot;:&quot;SubQ_Y&quot;,&quot;x_code&quot;:&quot;Code_X&quot;,&quot;x_label&quot;:&quot;SubQ_X&quot;,&quot;measure&quot;:&quot;Measure&quot;,&quot;base&quot;:&quot;Base&quot;,&quot;count&quot;:&quot;Count&quot;,&quot;respondents&quot;:&quot;Respondents&quot;,&quot;decimal&quot;:&quot;Value(%)&quot;,&quot;me_score&quot;:&quot;Message Effectiveness(%)&quot;,&quot;ME percentage&quot;:&quot;ME percentage&quot;,&quot;percentage&quot;:&quot;percentage&quot;}"/>
  <p:tag name="ANALYSISTYPE" val="SINGLE_QUESTION"/>
</p:tagLst>
</file>

<file path=ppt/tags/tag185.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3-03-2025 20:06:51$!$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NON_CONNECTED_SHAPE_ID" val="17952657"/>
  <p:tag name="VISUALISATION_ID" val="Darwin_82366222"/>
</p:tagLst>
</file>

<file path=ppt/tags/tag186.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0"/>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5:54.8824796+05:30"/>
</p:tagLst>
</file>

<file path=ppt/tags/tag187.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1"/>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5:56.5658718+05:30"/>
</p:tagLst>
</file>

<file path=ppt/tags/tag188.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2"/>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5:58.2315879+05:30"/>
</p:tagLst>
</file>

<file path=ppt/tags/tag189.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3"/>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0.0851526+05:30"/>
</p:tagLst>
</file>

<file path=ppt/tags/tag190.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4"/>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1.8216681+05:30"/>
</p:tagLst>
</file>

<file path=ppt/tags/tag191.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5"/>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3.4802272+05:30"/>
</p:tagLst>
</file>

<file path=ppt/tags/tag192.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6"/>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5.1964724+05:30"/>
</p:tagLst>
</file>

<file path=ppt/tags/tag193.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8"/>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08.7285128+05:30"/>
</p:tagLst>
</file>

<file path=ppt/tags/tag194.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9"/>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10.6807433+05:30"/>
</p:tagLst>
</file>

<file path=ppt/tags/tag195.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10"/>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12.5470381+05:30"/>
</p:tagLst>
</file>

<file path=ppt/tags/tag196.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11"/>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14.3267451+05:30"/>
</p:tagLst>
</file>

<file path=ppt/tags/tag197.xml><?xml version="1.0" encoding="utf-8"?>
<p:tagLst xmlns:a="http://schemas.openxmlformats.org/drawingml/2006/main" xmlns:r="http://schemas.openxmlformats.org/officeDocument/2006/relationships" xmlns:p="http://schemas.openxmlformats.org/presentationml/2006/main">
  <p:tag name="GROUPID" val="Group_3392922"/>
  <p:tag name="DARWINVERSION" val="CSharp"/>
  <p:tag name="FAILEDREFRESHICONID" val="Darwin_21138426"/>
  <p:tag name="VISUALISATION_ID" val="Darwin_21138426"/>
  <p:tag name="UPDATE" val="unlock"/>
  <p:tag name="STASSIGID" val="StasSigId_93602673"/>
  <p:tag name="SYNQRY" val="SYNQRY#1#$$!$FileVersion--Ver-7o0o0$!$IsAlias--False$!$Project--523$!$IsNestedSegments--True$!$ProjectSegmentIDs--$!$Survey--396851$!$RequiredColumns--title@:@title@:@@:@$$Code@:@Code@:@@:@$$W27@:@W27@:@0%@:@$$W28@:@W28@:@0%@:@$$W29@:@W29@:@0%@:@$$W30@:@W30@:@0%@:@$$W31@:@W31@:@0%@:@$$W32@:@W32@:@0%@:@$!$LongFilterCondition--AND$!$Metric--none$!$SelectedColumns--Code@:@Code@:@@:@$$W27@:@W27@:@0%@:@$$W28@:@W28@:@0%@:@$$W29@:@W29@:@0%@:@$$W30@:@W30@:@0%@:@$$W31@:@W31@:@0%@:@$$W32@:@W32@:@0%@:@$!$PivotFilterCondition--AND$!$Analysis--4470$!$SelectedRows--ALL$!$AddLatestColumnToFirst--False$!$RecentWave--W2#6$!$ChartSplit--1$!$IsClientDeliverable--True$!$SelectedWave--99193,96918,94851,92150,89797,87194$!$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True$!$LastUpdate--13-01-2026 12:45:31$!$AddSplitObjectsToSingleSlide--False$!$LongFilterFields--$!$TableHeader--1$!$PivotEntry--1$!$TopNRows--0$!$IsProjectAnalysis--True$!$SelectAllColumns--False$!$PivotFilterFields--$!$IsAddLegend--False$!$xField--title,Code$!$Status--Create:Success$!$yField--segment_0$!$MoveFirst--$!$vField--ME$!$MoveLast--$!$fnField--Average"/>
  <p:tag name="MIGRATIONPHASE" val="Phase0"/>
  <p:tag name="REPORTCONFIGHASH_BACKUP" val="{&quot;AnalysisIds&quot;:[63209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3392922"/>
  <p:tag name="SPLITORDER" val="12"/>
  <p:tag name="REPORTCONFIGHASH" val="986948a0acbdb15b651a107fd4c2d17ac0ccf74b42c346fcbb94d88903a7d3bb"/>
  <p:tag name="DATAFRAMECONFIGHASH" val="742ba49fbe8675741860167bb688efae8a320ccefa88075d7619a1ccdd4fb4ae"/>
  <p:tag name="MAPPINGCONFIG" val="{&quot;selectedColumns&quot;:[&quot;y_code&quot;,&quot;Oct'25&quot;,&quot;Nov'25&quot;,&quot;Dec'25&quot;,&quot;Jan'26&quot;,&quot;Feb'26&quot;,&quot;Mar'26&quot;],&quot;selectedRows&quot;:[&quot;CR9@:@CREON significantly improves fat absorption compared with placebo in randomized clinical trials of patients with EPI due to CF, CP, or pancreatectomy.&quot;,&quot;CR10@:@CREON is the #1 PERT prescribed by Gastroenterologists, Primary Care Physicians, and Nurse Practitioners and Physician Assistants.&quot;,&quot;CR16@:@Based on the FDA-approved label, CREON is the only PERT specifically studied for patients with EPI due to chronic pancreatitis and pancreatectomy, in addition to cystic fibrosis&quot;,&quot;CR3@:@Exocrine Pancreatic Insufficiency (EPI) is under-recognized and can have an impact on nutritional health and quality of life&quot;,&quot;CR1@:@CREON maintains category leading coverage: 89% of national commercial and Medicare Part D insured lives have preferred access to CREON with the lowest branded copay, without a prior authorization.&quot;,&quot;CR11@:@95% of commercially eligible patients pay $5 or less for their CREON prescription with the CREON Complete Savings card.&quot;,&quot;CR17@:@More than 8 out of 10 GEs and PCPs prescribe CREON more than other PERTs&quot;,&quot;CR7@:@CREON 36K capsules can be an appropriate dose for many adults.&quot;,&quot;CR21@:@CREON Complete may help patients start and stay on track with their treatment.&quot;,&quot;CR20@:@Significant experience, exceptional patient support, and excellent coverage make CREON a proven partner for patients with EPl.&quot;,&quot;CR22@:@71% of CREON Medicare Part D patients paid less than $30 in 2024.&quot;,&quot;CR4@:@EPI is largely a clinical diagnosis based on signs and symptoms and should be considered as part of the differential diagnosis of GI symptoms.&quot;,&quot;CR6@:@Take CREON every meal, every snack, every day.&quot;],&quot;selectAllRows&quot;:false,&quot;addQuestionText&quot;:false,&quot;applyTranspose&quot;:true,&quot;addLegend&quot;:false,&quot;rowsPerObject&quot;:1,&quot;addSplitObjectsToSingleSlide&quot;:true,&quot;topNRows&quot;:null,&quot;rowIdentifierColumnName&quot;:null,&quot;customChartType&quot;:null,&quot;tableHeaderMode&quot;:0,&quot;insertEmptyColumnsAt&quot;:null,&quot;moveRowsToFirst&quot;:[],&quot;moveRowsToLast&quot;:[]}"/>
  <p:tag name="LASTREFRESHTIME" val="2026-04-21T18:46:16.0603257+05:30"/>
</p:tagLst>
</file>

<file path=ppt/tags/tag198.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60856081"/>
  <p:tag name="MIGRATIONPHASE" val="Phase0"/>
  <p:tag name="REPORTCONFIGHASH" val="f3f575dbbe81d1f857a508435771ec45746edd387f3ca6a80bbc8435caadfdd6"/>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742ba49fbe8675741860167bb688efae8a320ccefa88075d7619a1ccdd4fb4ae"/>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21T19:15:00.3739410+05:30"/>
  <p:tag name="COLUMNKEYLABELMAP" val="{&quot;time_period_name&quot;:&quot;Deliverable&quot;,&quot;y_code&quot;:&quot;Code_Y&quot;,&quot;y_label&quot;:&quot;SubQ_Y&quot;,&quot;x_code&quot;:&quot;Code_X&quot;,&quot;x_label&quot;:&quot;SubQ_X&quot;,&quot;measure&quot;:&quot;Measure&quot;,&quot;base&quot;:&quot;Base&quot;,&quot;count&quot;:&quot;Count&quot;,&quot;respondents&quot;:&quot;Respondents&quot;,&quot;decimal&quot;:&quot;Value(%)&quot;,&quot;me_score&quot;:&quot;Message Effectiveness(%)&quot;}"/>
  <p:tag name="ANALYSISTYPE" val="SINGLE_QUESTION"/>
</p:tagLst>
</file>

<file path=ppt/tags/tag199.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SPLITORDER" val="0"/>
  <p:tag name="VISUALISATION_ID" val="Darwin_92724857"/>
  <p:tag name="FAILEDREFRESHICONID" val="Darwin_92724857"/>
  <p:tag name="UPDATE" val="unlock"/>
  <p:tag name="STASSIGID" val="StasSigId_12462566"/>
  <p:tag name="SPLITGROUPID" val="45683082"/>
  <p:tag name="MIGRATIONPHASE" val="Phase0"/>
  <p:tag name="REPORTCONFIGHASH" val="f3f575dbbe81d1f857a508435771ec45746edd387f3ca6a80bbc8435caadfdd6"/>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742ba49fbe8675741860167bb688efae8a320ccefa88075d7619a1ccdd4fb4ae"/>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5:56.1353291+05:30"/>
  <p:tag name="COLUMNKEYLABELMAP" val="{&quot;time_period_name&quot;:&quot;Deliverable&quot;,&quot;y_code&quot;:&quot;Code_Y&quot;,&quot;y_label&quot;:&quot;SubQ_Y&quot;,&quot;x_code&quot;:&quot;Code_X&quot;,&quot;x_label&quot;:&quot;SubQ_X&quot;,&quot;measure&quot;:&quot;Measure&quot;,&quot;base&quot;:&quot;Base&quot;,&quot;count&quot;:&quot;Count&quot;,&quot;respondents&quot;:&quot;Respondents&quot;,&quot;decimal&quot;:&quot;Value(%)&quot;,&quot;me_score&quot;:&quot;Message Effectiveness(%)&quot;}"/>
  <p:tag name="ANALYSISTYPE" val="SINGLE_QUESTION"/>
</p:tagLst>
</file>

<file path=ppt/tags/tag200.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32943587"/>
  <p:tag name="UPDATE" val="unlock"/>
  <p:tag name="VISUALISATION_ID" val="Darwin_23019065"/>
</p:tagLst>
</file>

<file path=ppt/tags/tag201.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90125014"/>
  <p:tag name="UPDATE" val="unlock"/>
  <p:tag name="VISUALISATION_ID" val="Darwin_23019065"/>
</p:tagLst>
</file>

<file path=ppt/tags/tag202.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3-03-2025 20:06:51$!$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NON_CONNECTED_SHAPE_ID" val="17952657"/>
  <p:tag name="VISUALISATION_ID" val="Darwin_14443871"/>
</p:tagLst>
</file>

<file path=ppt/tags/tag203.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1"/>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5:57.4757423+05:30"/>
</p:tagLst>
</file>

<file path=ppt/tags/tag204.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2"/>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5:58.7557051+05:30"/>
</p:tagLst>
</file>

<file path=ppt/tags/tag205.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3"/>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5:59.9986604+05:30"/>
</p:tagLst>
</file>

<file path=ppt/tags/tag206.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4"/>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1.2422468+05:30"/>
</p:tagLst>
</file>

<file path=ppt/tags/tag207.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5"/>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2.5141214+05:30"/>
</p:tagLst>
</file>

<file path=ppt/tags/tag208.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6"/>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3.7525874+05:30"/>
</p:tagLst>
</file>

<file path=ppt/tags/tag209.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7"/>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5.0038220+05:30"/>
</p:tagLst>
</file>

<file path=ppt/tags/tag210.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8"/>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6.2858858+05:30"/>
</p:tagLst>
</file>

<file path=ppt/tags/tag211.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9"/>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07.9322713+05:30"/>
</p:tagLst>
</file>

<file path=ppt/tags/tag212.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10"/>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10.4470719+05:30"/>
</p:tagLst>
</file>

<file path=ppt/tags/tag213.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11"/>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12.3415672+05:30"/>
</p:tagLst>
</file>

<file path=ppt/tags/tag214.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12"/>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14.1128262+05:30"/>
</p:tagLst>
</file>

<file path=ppt/tags/tag215.xml><?xml version="1.0" encoding="utf-8"?>
<p:tagLst xmlns:a="http://schemas.openxmlformats.org/drawingml/2006/main" xmlns:r="http://schemas.openxmlformats.org/officeDocument/2006/relationships" xmlns:p="http://schemas.openxmlformats.org/presentationml/2006/main">
  <p:tag name="DARWINVERSION" val="CSharp"/>
  <p:tag name="GROUPID" val="Group_45683082"/>
  <p:tag name="VISUALISATION_ID" val="Darwin_92724857"/>
  <p:tag name="FAILEDREFRESHICONID" val="Darwin_92724857"/>
  <p:tag name="UPDATE" val="unlock"/>
  <p:tag name="STASSIGID" val="StasSigId_12462566"/>
  <p:tag name="SYNQRY" val="SYNQRY#1#$$!$FileVersion--Ver-7o0o0$!$IsAlias--False$!$Project--523$!$IsNestedSegments--True$!$ProjectSegmentIDs--$!$Survey--396851$!$RequiredColumns--code@:@code@:@@:@$$title@:@title@:@@:@$$W27@:@W27@:@0%@:@$$W28@:@W28@:@0%@:@$$W29@:@W29@:@0%@:@$$W30@:@W30@:@0%@:@$$W31@:@W31@:@0%@:@$$W32@:@W32@:@0%@:@$!$LongFilterCondition--AND$!$Metric--none$!$SelectedColumns--W27@:@W27@:@0%@:@$$W28@:@W28@:@0%@:@$$W29@:@W29@:@0%@:@$$W30@:@W30@:@0%@:@$$W31@:@W31@:@0%@:@$$W32@:@W32@:@0%@:@$!$PivotFilterCondition--AND$!$Analysis--4469$!$SelectedRows--ALL$!$AddLatestColumnToFirst--False$!$RecentWave--W2#6$!$ChartSplit--1$!$IsClientDeliverable--True$!$SelectedWave--99193,96918,94851,92150,89797,87194$!$Transpose--True$!$ClientDeliverableID--96$!$SelectedSeg--$!$IsOverlapping--False$!$ClientDeliverableSegmentIDs--14251,13101,12140,11580,10823,10014$!$SelectedGp--wave$!$IsSorted--True$!$ChartType--Line$!$SelectedMulRolling--$!$SortedField--W32$$Descending$$$!$FetchOverallData--False$!$Relative--True$!$IsAddQuestionText--False$!$StatisticsSignificance--[]$!$LiveWave--False$!$IsNonOverlapping--False$!$StatisticsSignificanceNValue--30$!$IsSplit--True$!$LastUpdate--13-01-2026 12:47:16$!$AddSplitObjectsToSingleSlide--False$!$LongFilterFields--$!$TableHeader--1$!$PivotEntry--1$!$TopNRows--0$!$IsProjectAnalysis--True$!$SelectAllColumns--False$!$PivotFilterFields--$!$IsAddLegend--False$!$xField--code,title$!$Status--Create:Success$!$yField--segment_0$!$MoveFirst--$!$vField--ME$!$MoveLast--$!$fnField--Average"/>
  <p:tag name="MIGRATIONPHASE" val="Phase0"/>
  <p:tag name="REPORTCONFIGHASH_BACKUP" val="{&quot;AnalysisIds&quot;:[691708],&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_BACKUP" val="{&quot;AggregationType&quot;:1,&quot;ColumnFields&quot;:[&quot;time_period_name&quot;],&quot;FilterCondition&quot;:0,&quot;Filters&quot;:[],&quot;LatestColumnsFirst&quot;:false,&quot;RowFields&quot;:[&quot;y_code&quot;,&quot;y_label&quot;],&quot;ValueFields&quot;:[&quot;me_score&quot;],&quot;columnDefinitions&quot;:[{&quot;IsDefaultAlias&quot;:true,&quot;Name&quot;:&quot;y_code&quot;},{&quot;IsDefaultAlias&quot;:true,&quot;Name&quot;:&quot;y_label&quot;},{&quot;Format&quot;:&quot;0%&quot;,&quot;IsDefaultAlias&quot;:true,&quot;Name&quot;:&quot;Oct'25&quot;},{&quot;Format&quot;:&quot;0%&quot;,&quot;IsDefaultAlias&quot;:true,&quot;Name&quot;:&quot;Nov'25&quot;},{&quot;Format&quot;:&quot;0%&quot;,&quot;IsDefaultAlias&quot;:true,&quot;Name&quot;:&quot;Dec'25&quot;},{&quot;Format&quot;:&quot;0%&quot;,&quot;IsDefaultAlias&quot;:true,&quot;Name&quot;:&quot;Jan'26&quot;},{&quot;Format&quot;:&quot;0%&quot;,&quot;IsDefaultAlias&quot;:true,&quot;Name&quot;:&quot;Feb'26&quot;},{&quot;Format&quot;:&quot;0%&quot;,&quot;IsDefaultAlias&quot;:true,&quot;Name&quot;:&quot;Mar'26&quot;,&quot;sortCriteria&quot;:{&quot;CustomList&quot;:[],&quot;Level&quot;:1,&quot;Order&quot;:1}}]}"/>
  <p:tag name="SPLITGROUPID" val="45683082"/>
  <p:tag name="SPLITORDER" val="13"/>
  <p:tag name="REPORTCONFIGHASH" val="f3f575dbbe81d1f857a508435771ec45746edd387f3ca6a80bbc8435caadfdd6"/>
  <p:tag name="DATAFRAMECONFIGHASH" val="742ba49fbe8675741860167bb688efae8a320ccefa88075d7619a1ccdd4fb4ae"/>
  <p:tag name="MAPPINGCONFIG" val="{&quot;selectedColumns&quot;:[&quot;y_code&quot;,&quot;y_label&quot;,&quot;Oct'25&quot;,&quot;Nov'25&quot;,&quot;Dec'25&quot;,&quot;Jan'26&quot;,&quot;Feb'26&quot;,&quot;Mar'26&quot;],&quot;selectedRows&quot;:[],&quot;selectAllRows&quot;:true,&quot;addQuestionText&quot;:false,&quot;applyTranspose&quot;:true,&quot;addLegend&quot;:false,&quot;rowsPerObject&quot;:1,&quot;addSplitObjectsToSingleSlide&quot;:true,&quot;topNRows&quot;:null,&quot;rowIdentifierColumnName&quot;:null,&quot;customChartType&quot;:null,&quot;tableHeaderMode&quot;:1,&quot;insertEmptyColumnsAt&quot;:null,&quot;moveRowsToFirst&quot;:[],&quot;moveRowsToLast&quot;:[]}"/>
  <p:tag name="LASTREFRESHTIME" val="2026-04-21T19:16:15.9245326+05:30"/>
</p:tagLst>
</file>

<file path=ppt/tags/tag216.xml><?xml version="1.0" encoding="utf-8"?>
<p:tagLst xmlns:a="http://schemas.openxmlformats.org/drawingml/2006/main" xmlns:r="http://schemas.openxmlformats.org/officeDocument/2006/relationships" xmlns:p="http://schemas.openxmlformats.org/presentationml/2006/main">
  <p:tag name="NON_CONNECTED_SHAPE_ID" val="28265226"/>
  <p:tag name="UPDATE" val="unlock"/>
</p:tagLst>
</file>

<file path=ppt/tags/tag217.xml><?xml version="1.0" encoding="utf-8"?>
<p:tagLst xmlns:a="http://schemas.openxmlformats.org/drawingml/2006/main" xmlns:r="http://schemas.openxmlformats.org/officeDocument/2006/relationships" xmlns:p="http://schemas.openxmlformats.org/presentationml/2006/main">
  <p:tag name="NON_CONNECTED_SHAPE_ID" val="25356275"/>
  <p:tag name="UPDATE" val="unlock"/>
  <p:tag name="DARWINVERSION" val="CSharp"/>
  <p:tag name="VISUALISATION_ID" val="Darwin_78482207"/>
  <p:tag name="SYNQRY" val="SYNQRY#1#$$!$FileVersion--1.6.5.1$!$IsAlias--True$!$Project--523$!$IsNestedSegments--True$!$ProjectSegmentIDs--$!$Survey--482371$!$RequiredColumns--Code@:@Code@:@@:@$$title@:@title@:@@:@$$C_MR - Wave 27@:@C_MR - Wave 27@:@@:@$!$LongFilterCondition--AND$!$Metric--$!$SelectedColumns--Code@:@Code@:@@:@$$title@:@title@:@@:@$!$PivotFilterCondition--AND$!$Analysis--4470$!$SelectedRows--ALL$!$AddLatestColumnToFirst--False$!$RecentWave--W2#1$!$ChartSplit--$!$IsClientDeliverable--False$!$SelectedWave--112550$!$Transpose--False$!$ClientDeliverableID--$!$SelectedSeg--$!$IsOverlapping--False$!$ClientDeliverableSegmentIDs--$!$SelectedGp--wave$!$IsSorted--True$!$ChartType--Table$!$SelectedMulRolling--$!$SortedField--C_MR - Wave 27$$Descending$$$!$FetchOverallData--False$!$Relative--True$!$IsAddQuestionText--False$!$StatisticsSignificance--[]$!$LiveWave--False$!$IsNonOverlapping--False$!$StatisticsSignificanceNValue--30$!$IsSplit--False$!$LastUpdate--21-05-2024 16:43:34$!$AddSplitObjectsToSingleSlide--False$!$LongFilterFields--analysis_id@:@IN@:@C_MR$!$TableHeader--2$!$PivotEntry--1$!$TopNRows--0$!$IsProjectAnalysis--True$!$SelectAllColumns--False$!$PivotFilterFields--$!$IsAddLegend--False$!$xField--title,Code$!$Status--Create:Success$!$yField--analysis_id,segment_0$!$MoveFirst--$!$vField--decimal$!$MoveLast--$!$fnField--Average"/>
  <p:tag name="REPORTCONFIGHASH" val="02522cb480d7d0425dac60628b34a0332c5b06b7c572aaafc8fcde4962db8e6b"/>
  <p:tag name="REPORTCONFIGHASH_BACKUP" val="{&quot;AnalysisIds&quot;:[654353],&quot;DynamicTimePeriod&quot;:{&quot;IncludeLiveWave&quot;:false,&quot;LatestNDeliverables&quot;:1},&quot;IncludeAlias&quot;:true,&quot;IncludeOverallSegment&quot;:false,&quot;NestSegments&quot;:false,&quot;ProjectId&quot;:523,&quot;ReportingPlanId&quot;:1602,&quot;RollUpDeliverables&quot;:false,&quot;SegmentIds&quot;:[],&quot;SurveyId&quot;:482371,&quot;TimePeriodType&quot;:1}"/>
  <p:tag name="DATAFRAMECONFIGHASH" val="8ce98b38ade02d52ed74042a43e612098eae0ccf2615c95a210c5898caec265e"/>
  <p:tag name="DATAFRAMECONFIGHASH_BACKUP" val="{&quot;AggregationType&quot;:1,&quot;ColumnFields&quot;:[&quot;alias_label&quot;,&quot;time_period_name&quot;],&quot;FilterCondition&quot;:0,&quot;Filters&quot;:[{&quot;ColumnKey&quot;:&quot;alias_label&quot;,&quot;Type&quot;:1,&quot;Value&quot;:&quot;C_MR&quot;,&quot;filterCriteria&quot;:1}],&quot;LatestColumnsFirst&quot;:false,&quot;RowFields&quot;:[&quot;title&quot;,&quot;Code&quot;],&quot;ValueFields&quot;:[&quot;decimal&quot;],&quot;columnDefinitions&quot;:[{&quot;Format&quot;:&quot;&quot;,&quot;Formula&quot;:&quot;&quot;,&quot;IsDefaultAlias&quot;:false,&quot;Name&quot;:&quot;title&quot;},{&quot;Format&quot;:&quot;&quot;,&quot;Formula&quot;:&quot;&quot;,&quot;IsDefaultAlias&quot;:false,&quot;Name&quot;:&quot;Code&quot;},{&quot;Format&quot;:&quot;&quot;,&quot;Formula&quot;:&quot;&quot;,&quot;IsDefaultAlias&quot;:false,&quot;Name&quot;:&quot;C_MR - Project Wave 33&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218.xml><?xml version="1.0" encoding="utf-8"?>
<p:tagLst xmlns:a="http://schemas.openxmlformats.org/drawingml/2006/main" xmlns:r="http://schemas.openxmlformats.org/officeDocument/2006/relationships" xmlns:p="http://schemas.openxmlformats.org/presentationml/2006/main">
  <p:tag name="NON_CONNECTED_SHAPE_ID" val="12283977"/>
  <p:tag name="SYNQ##Q2" val="SynQ##call generateReports('674571','##wSel##','120275','Wave',CURRENT_DATE())$!$Fields--s_1v,title,value,count,total_count,percentage,$!$Filter--$!$Sorting--$!$NumOfWaves--2$!$Recent--0"/>
  <p:tag name="UPDATE" val="unlock"/>
</p:tagLst>
</file>

<file path=ppt/tags/tag219.xml><?xml version="1.0" encoding="utf-8"?>
<p:tagLst xmlns:a="http://schemas.openxmlformats.org/drawingml/2006/main" xmlns:r="http://schemas.openxmlformats.org/officeDocument/2006/relationships" xmlns:p="http://schemas.openxmlformats.org/presentationml/2006/main">
  <p:tag name="NON_CONNECTED_SHAPE_ID" val="25356275"/>
  <p:tag name="UPDATE" val="unlock"/>
  <p:tag name="DARWINVERSION" val="CSharp"/>
  <p:tag name="SYNQRY" val="SYNQRY#1#$$!$FileVersion--1.6.5.1$!$IsAlias--True$!$Project--523$!$IsNestedSegments--True$!$ProjectSegmentIDs--$!$Survey--482371$!$RequiredColumns--Code@:@Code@:@@:@$$title@:@title@:@@:@$$C_MR - Wave 27@:@C_MR - Wave 27@:@@:@$!$LongFilterCondition--AND$!$Metric--$!$SelectedColumns--Code@:@Code@:@@:@$$title@:@title@:@@:@$!$PivotFilterCondition--AND$!$Analysis--4470$!$SelectedRows--ALL$!$AddLatestColumnToFirst--False$!$RecentWave--W2#1$!$ChartSplit--$!$IsClientDeliverable--False$!$SelectedWave--112550$!$Transpose--False$!$ClientDeliverableID--$!$SelectedSeg--$!$IsOverlapping--False$!$ClientDeliverableSegmentIDs--$!$SelectedGp--wave$!$IsSorted--True$!$ChartType--Table$!$SelectedMulRolling--$!$SortedField--C_MR - Wave 27$$Descending$$$!$FetchOverallData--False$!$Relative--True$!$IsAddQuestionText--False$!$StatisticsSignificance--[]$!$LiveWave--False$!$IsNonOverlapping--False$!$StatisticsSignificanceNValue--30$!$IsSplit--False$!$LastUpdate--21-05-2024 16:43:34$!$AddSplitObjectsToSingleSlide--False$!$LongFilterFields--analysis_id@:@IN@:@C_MR$!$TableHeader--2$!$PivotEntry--1$!$TopNRows--0$!$IsProjectAnalysis--True$!$SelectAllColumns--False$!$PivotFilterFields--$!$IsAddLegend--False$!$xField--title,Code$!$Status--Create:Success$!$yField--analysis_id,segment_0$!$MoveFirst--$!$vField--decimal$!$MoveLast--$!$fnField--Average"/>
  <p:tag name="VISUALISATION_ID" val="Darwin_32519495"/>
  <p:tag name="REPORTCONFIGHASH" val="02522cb480d7d0425dac60628b34a0332c5b06b7c572aaafc8fcde4962db8e6b"/>
  <p:tag name="REPORTCONFIGHASH_BACKUP" val="{&quot;AnalysisIds&quot;:[654353],&quot;DynamicTimePeriod&quot;:{&quot;IncludeLiveWave&quot;:false,&quot;LatestNDeliverables&quot;:1},&quot;IncludeAlias&quot;:true,&quot;IncludeOverallSegment&quot;:false,&quot;NestSegments&quot;:false,&quot;ProjectId&quot;:523,&quot;ReportingPlanId&quot;:1602,&quot;RollUpDeliverables&quot;:false,&quot;SegmentIds&quot;:[],&quot;SurveyId&quot;:482371,&quot;TimePeriodType&quot;:1}"/>
  <p:tag name="DATAFRAMECONFIGHASH" val="8ce98b38ade02d52ed74042a43e612098eae0ccf2615c95a210c5898caec265e"/>
  <p:tag name="DATAFRAMECONFIGHASH_BACKUP" val="{&quot;AggregationType&quot;:1,&quot;ColumnFields&quot;:[&quot;alias_label&quot;,&quot;time_period_name&quot;],&quot;FilterCondition&quot;:0,&quot;Filters&quot;:[{&quot;ColumnKey&quot;:&quot;alias_label&quot;,&quot;Type&quot;:1,&quot;Value&quot;:&quot;C_MR&quot;,&quot;filterCriteria&quot;:1}],&quot;LatestColumnsFirst&quot;:false,&quot;RowFields&quot;:[&quot;title&quot;,&quot;Code&quot;],&quot;ValueFields&quot;:[&quot;decimal&quot;],&quot;columnDefinitions&quot;:[{&quot;Format&quot;:&quot;&quot;,&quot;Formula&quot;:&quot;&quot;,&quot;IsDefaultAlias&quot;:false,&quot;Name&quot;:&quot;title&quot;},{&quot;Format&quot;:&quot;&quot;,&quot;Formula&quot;:&quot;&quot;,&quot;IsDefaultAlias&quot;:false,&quot;Name&quot;:&quot;Code&quot;},{&quot;Format&quot;:&quot;&quot;,&quot;Formula&quot;:&quot;&quot;,&quot;IsDefaultAlias&quot;:false,&quot;Name&quot;:&quot;C_MR - Project Wave 33&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220.xml><?xml version="1.0" encoding="utf-8"?>
<p:tagLst xmlns:a="http://schemas.openxmlformats.org/drawingml/2006/main" xmlns:r="http://schemas.openxmlformats.org/officeDocument/2006/relationships" xmlns:p="http://schemas.openxmlformats.org/presentationml/2006/main">
  <p:tag name="NON_CONNECTED_SHAPE_ID" val="12283977"/>
  <p:tag name="SYNQ##Q2" val="SynQ##call generateReports('674571','##wSel##','120275','Wave',CURRENT_DATE())$!$Fields--s_1v,title,value,count,total_count,percentage,$!$Filter--$!$Sorting--$!$NumOfWaves--2$!$Recent--0"/>
  <p:tag name="UPDATE" val="unlock"/>
</p:tagLst>
</file>

<file path=ppt/tags/tag22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40742409"/>
  <p:tag name="FAILEDREFRESHICONID" val="Darwin_40742409"/>
  <p:tag name="STASSIGID" val="StasSigId_66615224"/>
  <p:tag name="SYNQRY" val="SYNQRY#1#$$!$FileVersion--Ver-6o3o2a$!$IsAlias--False$!$Project--523$!$IsNestedSegments--True$!$ProjectSegmentIDs--$!$Survey--482371$!$RequiredColumns--segment_0@:@segment_0@:@0%@:@$$EPI Deepdive Module - 482371 - 2_100bz_c895297@:@EPI Deepdive Module - 482371 - 2_100bz_c895297@:@0%@:@$$EPI Deepdive Module - 482371 - 2_100bz_z895450@:@EPI Deepdive Module - 482371 - 2_100bz_z895450@:@0%@:@$!$LongFilterCondition--AND$!$Metric--$!$SelectedColumns--segment_0@:@segment_0@:@0%@:@$$EPI Deepdive Module - 482371 - 2_100bz_c895297@:@EPI Deepdive Module - 482371 - 2_100bz_c895297@:@0%@:@$$EPI Deepdive Module - 482371 - 2_100bz_z895450@:@EPI Deepdive Module - 482371 - 2_100bz_z895450@:@0%@:@$!$PivotFilterCondition--AND$!$Analysis--1800$!$SelectedRows--ALL$!$AddLatestColumnToFirst--False$!$RecentWave--W2#6$!$ChartSplit--$!$IsClientDeliverable--True$!$SelectedWave--78853,75893,72393,69483,65968,61151$!$Transpose--Fals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7:51$!$AddSplitObjectsToSingleSlide--False$!$LongFilterFields--segment_1@:@LIKE@:@PCPs$!$TableHeader--0$!$PivotEntry--1$!$TopNRows--0$!$IsProjectAnalysis--True$!$SelectAllColumns--False$!$PivotFilterFields--$!$IsAddLegend--False$!$xField--segment_0,time_period_id$!$Status--Create:Success$!$yField--analysis_id$!$MoveFirst--$!$vField--decimal$!$MoveLast--$!$fnField--Average"/>
  <p:tag name="REPORTCONFIGHASH" val="f411afb8abdb2f43968a07501f8366209db01a5468305e575b4c7c58cfa92711"/>
  <p:tag name="REPORTCONFIGHASH_BACKUP" val="{&quot;AnalysisIds&quot;:[651720],&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ecfcf9ca510c3f878aeb944cefbb19e314494373258259751b24eea8e0dcf10"/>
  <p:tag name="DATAFRAMECONFIGHASH_BACKUP" val="{&quot;AggregationType&quot;:1,&quot;ColumnFields&quot;:[&quot;alias_label&quot;],&quot;FilterCondition&quot;:0,&quot;Filters&quot;:[{&quot;ColumnKey&quot;:&quot;segment_1&quot;,&quot;Type&quot;:1,&quot;Value&quot;:&quot;PCPs&quot;,&quot;filterCriteria&quot;:0}],&quot;LatestColumnsFirst&quot;:false,&quot;RowFields&quot;:[&quot;time_period_name&quot;,&quot;time_period_id&quot;],&quot;ValueFields&quot;:[&quot;decimal&quot;],&quot;columnDefinitions&quot;:[{&quot;Format&quot;:&quot;0%&quot;,&quot;Formula&quot;:&quot;&quot;,&quot;IsDefaultAlias&quot;:false,&quot;Name&quot;:&quot;time_period_name&quot;},{&quot;IsDefaultAlias&quot;:false,&quot;Name&quot;:&quot;time_period_id&quot;},{&quot;Format&quot;:&quot;0%&quot;,&quot;Formula&quot;:&quot;&quot;,&quot;IsDefaultAlias&quot;:false,&quot;Name&quot;:&quot;EPI Deepdive Module - 482371 - 2_100bz_c895297&quot;},{&quot;Format&quot;:&quot;0%&quot;,&quot;Formula&quot;:&quot;&quot;,&quot;IsDefaultAlias&quot;:false,&quot;Name&quot;:&quot;EPI Deepdive Module - 482371 - 2_100bz_z895450&quot;}]}"/>
  <p:tag name="MAPPINGCONFIG" val="{&quot;selectedColumns&quot;:[&quot;time_period_name&quot;,&quot;EPI Deepdive Module - 482371 - 2_100bz_c895297&quot;,&quot;EPI Deepdive Module - 482371 - 2_100bz_z895450&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2.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12099211"/>
  <p:tag name="UPDATE" val="unlock"/>
  <p:tag name="FAILEDREFRESHICONID" val="Darwin_12099211"/>
  <p:tag name="STASSIGID" val="StasSigId_11609155"/>
  <p:tag name="SYNQRY" val="SYNQRY#1#$$!$FileVersion--Ver-6o3o2a$!$IsAlias--False$!$Project--523$!$IsNestedSegments--True$!$ProjectSegmentIDs--$!$Survey--482371$!$RequiredColumns--segment_0@:@segment_0@:@@@:@$$time_period_id@:@time_period_id@:@@@:@$$EPI Deepdive Module - 482371 - 2_100bz_c895297@:@EPI Deepdive Module - 482371 - 2_100bz_c895297@:@0%@:@$$EPI Deepdive Module - 482371 - 2_100bz_z895450@:@EPI Deepdive Module - 482371 - 2_100bz_z895450@:@0%@:@$!$LongFilterCondition--AND$!$Metric--$!$SelectedColumns--segment_0@:@segment_0@:@@@:@$$EPI Deepdive Module - 482371 - 2_100bz_c895297@:@EPI Deepdive Module - 482371 - 2_100bz_c895297@:@0%@:@$$EPI Deepdive Module - 482371 - 2_100bz_z895450@:@EPI Deepdive Module - 482371 - 2_100bz_z895450@:@0%@:@$!$PivotFilterCondition--AND$!$Analysis--1800$!$SelectedRows--ALL$!$AddLatestColumnToFirst--False$!$RecentWave--W2#6$!$ChartSplit--$!$IsClientDeliverable--True$!$SelectedWave--78853,75893,72393,69483,65968,61151$!$Transpose--False$!$ClientDeliverableID--96$!$SelectedSeg--$!$IsOverlapping--False$!$ClientDeliverableSegmentIDs--14251,13101,12140,11580,10823,10014$!$SelectedGp--wave$!$IsSorted--True$!$ChartType--Line$!$SelectedMulRolling--$!$SortedField--time_period_id$$Ascending$$$!$FetchOverallData--False$!$Relative--True$!$IsAddQuestionText--False$!$StatisticsSignificance--[]$!$LiveWave--False$!$IsNonOverlapping--False$!$StatisticsSignificanceNValue--30$!$IsSplit--False$!$LastUpdate--23-01-2026 16:47:56$!$AddSplitObjectsToSingleSlide--False$!$LongFilterFields--$!$TableHeader--0$!$PivotEntry--1$!$TopNRows--0$!$IsProjectAnalysis--True$!$SelectAllColumns--False$!$PivotFilterFields--$!$IsAddLegend--False$!$xField--title,segment_0,time_period_id$!$Status--Create:Success$!$yField--analysis_id$!$MoveFirst--$!$vField--decimal$!$MoveLast--$!$fnField--Average"/>
  <p:tag name="REPORTCONFIGHASH" val="c089c9dd4b1c941818578c9156c669a59c13f807bd6cac1ce2675e1493b8853f"/>
  <p:tag name="REPORTCONFIGHASH_BACKUP" val="{&quot;AnalysisIds&quot;:[651720],&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585ce743b10058c74ccd6e57d9b5a87e242cfe227b98b40fc168e99ddc338a1f"/>
  <p:tag name="DATAFRAMECONFIGHASH_BACKUP" val="{&quot;AggregationType&quot;:1,&quot;ColumnFields&quot;:[&quot;alias_label&quot;],&quot;FilterCondition&quot;:0,&quot;Filters&quot;:[],&quot;LatestColumnsFirst&quot;:false,&quot;RowFields&quot;:[&quot;title&quot;,&quot;time_period_name&quot;,&quot;time_period_id&quot;],&quot;ValueFields&quot;:[&quot;decimal&quot;],&quot;columnDefinitions&quot;:[{&quot;IsDefaultAlias&quot;:false,&quot;Name&quot;:&quot;title&quot;},{&quot;Format&quot;:&quot;@&quot;,&quot;Formula&quot;:&quot;&quot;,&quot;IsDefaultAlias&quot;:false,&quot;Name&quot;:&quot;time_period_name&quot;},{&quot;Format&quot;:&quot;@&quot;,&quot;Formula&quot;:&quot;&quot;,&quot;IsDefaultAlias&quot;:false,&quot;Name&quot;:&quot;time_period_id&quot;,&quot;sortCriteria&quot;:{&quot;CustomList&quot;:[],&quot;Level&quot;:1,&quot;Order&quot;:0}},{&quot;Format&quot;:&quot;0%&quot;,&quot;Formula&quot;:&quot;&quot;,&quot;IsDefaultAlias&quot;:false,&quot;Name&quot;:&quot;EPI Deepdive Module - 482371 - 2_100bz_c895297&quot;},{&quot;Format&quot;:&quot;0%&quot;,&quot;Formula&quot;:&quot;&quot;,&quot;IsDefaultAlias&quot;:false,&quot;Name&quot;:&quot;EPI Deepdive Module - 482371 - 2_100bz_z895450&quot;}]}"/>
  <p:tag name="MAPPINGCONFIG" val="{&quot;selectedColumns&quot;:[&quot;time_period_name&quot;,&quot;EPI Deepdive Module - 482371 - 2_100bz_c895297&quot;,&quot;EPI Deepdive Module - 482371 - 2_100bz_z895450&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3.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29892718"/>
  <p:tag name="FAILEDREFRESHICONID" val="Darwin_29892718"/>
  <p:tag name="STASSIGID" val="StasSigId_95453242"/>
  <p:tag name="SYNQRY" val="SYNQRY#1#$$!$FileVersion--Ver-6o3o2a$!$IsAlias--False$!$Project--523$!$IsNestedSegments--True$!$ProjectSegmentIDs--$!$Survey--482371$!$RequiredColumns--segment_0@:@segment_0@:@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8:16$!$AddSplitObjectsToSingleSlide--False$!$LongFilterFields--title@:@LIKE@:@overall$!$TableHeader--0$!$PivotEntry--1$!$TopNRows--0$!$IsProjectAnalysis--True$!$SelectAllColumns--False$!$PivotFilterFields--$!$IsAddLegend--False$!$xField--title,time_period_id,segment_0$!$Status--Create:Success$!$yField--analysis_id$!$MoveFirst--$!$vField--decimal$!$MoveLast--$!$fnField--Average"/>
  <p:tag name="REPORTCONFIGHASH" val="bb62fd23d87917e4272a115f5bf393242f71dc9bab41749175afec6efd35456c"/>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56cb3a3bd8fa1bce4ba3442d964a0098bf324dc6a1a0fa20e8648027b82c1240"/>
  <p:tag name="DATAFRAMECONFIGHASH_BACKUP" val="{&quot;AggregationType&quot;:1,&quot;ColumnFields&quot;:[&quot;alias_label&quot;],&quot;FilterCondition&quot;:0,&quot;Filters&quot;:[{&quot;ColumnKey&quot;:&quot;title&quot;,&quot;Type&quot;:1,&quot;Value&quot;:&quot;overall&quot;,&quot;filterCriteria&quot;:0}],&quot;LatestColumnsFirst&quot;:false,&quot;RowFields&quot;:[&quot;title&quot;,&quot;time_period_id&quot;,&quot;time_period_name&quot;],&quot;ValueFields&quot;:[&quot;decimal&quot;],&quot;columnDefinitions&quot;:[{&quot;IsDefaultAlias&quot;:false,&quot;Name&quot;:&quot;title&quot;},{&quot;IsDefaultAlias&quot;:false,&quot;Name&quot;:&quot;time_period_id&quot;},{&quot;Format&quot;:&quot;0%&quot;,&quot;Formula&quot;:&quot;&quot;,&quot;IsDefaultAlias&quot;:false,&quot;Name&quot;:&quot;time_period_name&quot;},{&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4.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67279890"/>
  <p:tag name="FAILEDREFRESHICONID" val="Darwin_67279890"/>
  <p:tag name="STASSIGID" val="StasSigId_97148194"/>
  <p:tag name="SYNQRY" val="SYNQRY#1#$$!$FileVersion--Ver-6o3o2a$!$IsAlias--False$!$Project--523$!$IsNestedSegments--True$!$ProjectSegmentIDs--$!$Survey--482371$!$RequiredColumns--segment_0@:@segment_0@:@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8:12$!$AddSplitObjectsToSingleSlide--False$!$LongFilterFields--title@:@LIKE@:@overall$$segment_1@:@LIKE@:@Gastro$!$TableHeader--0$!$PivotEntry--1$!$TopNRows--0$!$IsProjectAnalysis--True$!$SelectAllColumns--False$!$PivotFilterFields--$!$IsAddLegend--False$!$xField--title,segment_0,time_period_id$!$Status--Create:Success$!$yField--analysis_id$!$MoveFirst--$!$vField--decimal$!$MoveLast--$!$fnField--Average"/>
  <p:tag name="REPORTCONFIGHASH" val="cb971ae16e682331827d6a7ed279783731e0aa94cb63426b22b939876a26e6a1"/>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b157e750ba3ecfe7150954268b220500afc632803268c81ed0d0798f1337771"/>
  <p:tag name="DATAFRAMECONFIGHASH_BACKUP" val="{&quot;AggregationType&quot;:1,&quot;ColumnFields&quot;:[&quot;alias_label&quot;],&quot;FilterCondition&quot;:0,&quot;Filters&quot;:[{&quot;ColumnKey&quot;:&quot;segment_1&quot;,&quot;Type&quot;:1,&quot;Value&quot;:&quot;Gastro&quot;,&quot;filterCriteria&quot;:0},{&quot;ColumnKey&quot;:&quot;title&quot;,&quot;Type&quot;:1,&quot;Value&quot;:&quot;overall&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IsDefaultAlias&quot;:false,&quot;Name&quot;:&quot;time_period_id&quot;},{&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5.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55437440"/>
  <p:tag name="FAILEDREFRESHICONID" val="Darwin_55437440"/>
  <p:tag name="STASSIGID" val="StasSigId_76455834"/>
  <p:tag name="SYNQRY" val="SYNQRY#1#$$!$FileVersion--Ver-6o3o2a$!$IsAlias--False$!$Project--523$!$IsNestedSegments--True$!$ProjectSegmentIDs--$!$Survey--482371$!$RequiredColumns--segment_0@:@segment_0@:@0%@:@$$EPI Deepdive Module - 482371 - 2_100bz_c895297@:@EPI Deepdive Module - 482371 - 2_100bz_c895297@:@0%@:@$$EPI Deepdive Module - 482371 - 2_100bz_z895450@:@EPI Deepdive Module - 482371 - 2_100bz_z895450@:@0%@:@$!$LongFilterCondition--AND$!$Metric--$!$SelectedColumns--segment_0@:@segment_0@:@0%@:@$$EPI Deepdive Module - 482371 - 2_100bz_c895297@:@EPI Deepdive Module - 482371 - 2_100bz_c895297@:@0%@:@$$EPI Deepdive Module - 482371 - 2_100bz_z895450@:@EPI Deepdive Module - 482371 - 2_100bz_z895450@:@0%@:@$!$PivotFilterCondition--AND$!$Analysis--1800$!$SelectedRows--ALL$!$AddLatestColumnToFirst--False$!$RecentWave--W2#6$!$ChartSplit--$!$IsClientDeliverable--True$!$SelectedWave--78853,75893,72393,69483,65968,61151$!$Transpose--Fals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7:56$!$AddSplitObjectsToSingleSlide--False$!$LongFilterFields--segment_1@:@LIKE@:@Gastro$!$TableHeader--0$!$PivotEntry--1$!$TopNRows--0$!$IsProjectAnalysis--True$!$SelectAllColumns--False$!$PivotFilterFields--$!$IsAddLegend--False$!$xField--title,segment_0,time_period_id$!$Status--Create:Success$!$yField--analysis_id$!$MoveFirst--$!$vField--decimal$!$MoveLast--$!$fnField--Average"/>
  <p:tag name="REPORTCONFIGHASH" val="f411afb8abdb2f43968a07501f8366209db01a5468305e575b4c7c58cfa92711"/>
  <p:tag name="REPORTCONFIGHASH_BACKUP" val="{&quot;AnalysisIds&quot;:[651720],&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67be6f0e1258b00daa26fb0178eaceaa25b9776aa47143465f469be0e8e17402"/>
  <p:tag name="DATAFRAMECONFIGHASH_BACKUP" val="{&quot;AggregationType&quot;:1,&quot;ColumnFields&quot;:[&quot;alias_label&quot;],&quot;FilterCondition&quot;:0,&quot;Filters&quot;:[{&quot;ColumnKey&quot;:&quot;segment_1&quot;,&quot;Type&quot;:1,&quot;Value&quot;:&quot;Gastro&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IsDefaultAlias&quot;:false,&quot;Name&quot;:&quot;time_period_id&quot;},{&quot;Format&quot;:&quot;0%&quot;,&quot;Formula&quot;:&quot;&quot;,&quot;IsDefaultAlias&quot;:false,&quot;Name&quot;:&quot;EPI Deepdive Module - 482371 - 2_100bz_c895297&quot;},{&quot;Format&quot;:&quot;0%&quot;,&quot;Formula&quot;:&quot;&quot;,&quot;IsDefaultAlias&quot;:false,&quot;Name&quot;:&quot;EPI Deepdive Module - 482371 - 2_100bz_z895450&quot;}]}"/>
  <p:tag name="MAPPINGCONFIG" val="{&quot;selectedColumns&quot;:[&quot;time_period_name&quot;,&quot;EPI Deepdive Module - 482371 - 2_100bz_c895297&quot;,&quot;EPI Deepdive Module - 482371 - 2_100bz_z895450&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6.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33785248"/>
  <p:tag name="FAILEDREFRESHICONID" val="Darwin_33785248"/>
  <p:tag name="STASSIGID" val="StasSigId_83151676"/>
  <p:tag name="SYNQRY" val="SYNQRY#1#$$!$FileVersion--Ver-6o3o2a$!$IsAlias--False$!$Project--523$!$IsNestedSegments--True$!$ProjectSegmentIDs--$!$Survey--482371$!$RequiredColumns--segment_0@:@segment_0@:@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8:16$!$AddSplitObjectsToSingleSlide--False$!$LongFilterFields--title@:@LIKE@:@overall$$segment_1@:@LIKE@:@PCPs$!$TableHeader--0$!$PivotEntry--1$!$TopNRows--0$!$IsProjectAnalysis--True$!$SelectAllColumns--False$!$PivotFilterFields--$!$IsAddLegend--False$!$xField--title,segment_0,time_period_id$!$Status--Create:Success$!$yField--analysis_id$!$MoveFirst--$!$vField--decimal$!$MoveLast--$!$fnField--Average"/>
  <p:tag name="REPORTCONFIGHASH" val="cb971ae16e682331827d6a7ed279783731e0aa94cb63426b22b939876a26e6a1"/>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23cc557f3da2f4c2751698c699decdc50b9a3c79022da1f611da5bf3e41f58d7"/>
  <p:tag name="DATAFRAMECONFIGHASH_BACKUP" val="{&quot;AggregationType&quot;:1,&quot;ColumnFields&quot;:[&quot;alias_label&quot;],&quot;FilterCondition&quot;:0,&quot;Filters&quot;:[{&quot;ColumnKey&quot;:&quot;segment_1&quot;,&quot;Type&quot;:1,&quot;Value&quot;:&quot;PCPs&quot;,&quot;filterCriteria&quot;:0},{&quot;ColumnKey&quot;:&quot;title&quot;,&quot;Type&quot;:1,&quot;Value&quot;:&quot;overall&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IsDefaultAlias&quot;:false,&quot;Name&quot;:&quot;time_period_id&quot;},{&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27.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82338863"/>
  <p:tag name="FAILEDREFRESHICONID" val="Darwin_82338863"/>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4-03-2025 11:55: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28.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5178057"/>
  <p:tag name="FAILEDREFRESHICONID" val="Darwin_55178057"/>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4-03-2025 11:55: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29.xml><?xml version="1.0" encoding="utf-8"?>
<p:tagLst xmlns:a="http://schemas.openxmlformats.org/drawingml/2006/main" xmlns:r="http://schemas.openxmlformats.org/officeDocument/2006/relationships" xmlns:p="http://schemas.openxmlformats.org/presentationml/2006/main">
  <p:tag name="UPDATE" val="unlock"/>
  <p:tag name="VISUALISATION_ID" val="Darwin_97704515"/>
  <p:tag name="DARWINVERSION" val="CSharp"/>
  <p:tag name="FAILEDREFRESHICONID" val="Darwin_97704515"/>
  <p:tag name="STASSIGID" val="StasSigId_33940937"/>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3-01-2026 16:48:32$!$AddSplitObjectsToSingleSlide--False$!$LongFilterFields--segment_1@:@IN@:@Speciality  - NP/PA$$title@:@IN@:@The overall quality of the rep’s interaction$!$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dfedb1e8329c8d749134e72dc57d6ee0ea9e8233c056892ef979c1506c8013f"/>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overall quality of the rep’s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0.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81282429"/>
  <p:tag name="UPDATE" val="unlock"/>
  <p:tag name="VISUALISATION_ID" val="Darwin_32329018"/>
  <p:tag name="SYNQRY" val="SYNQRY#1#$$!$FileVersion--1.6.5.8$!$IsAlias--True$!$Project--523$!$IsNestedSegments--True$!$ProjectSegmentIDs--$!$Survey--482371$!$RequiredColumns--segment_1@:@segment_1@:@@:@$$EPI Deepdive Module - 482371 - 2_100bz_c895297@:@EPI Deepdive Module - 482371 - 2_100bz_c895297@:@0%@:@$$EPI Deepdive Module - 482371 - 2_100bz_z895450@:@EPI Deepdive Module - 482371 - 2_100bz_z895450@:@0%@:@$!$LongFilterCondition--AND$!$Metric--$!$SelectedColumns--segment_1@:@segment_1@:@@:@$$EPI Deepdive Module - 482371 - 2_100bz_c895297@:@EPI Deepdive Module - 482371 - 2_100bz_c895297@:@0%@:@$$EPI Deepdive Module - 482371 - 2_100bz_z895450@:@EPI Deepdive Module - 482371 - 2_100bz_z895450@:@0%@:@$!$PivotFilterCondition--AND$!$Analysis--1800$!$SelectedRows--ALL$!$AddLatestColumnToFirst--False$!$RecentWave--W2#6$!$ChartSplit--$!$IsClientDeliverable--False$!$SelectedWave--127953,124603,120937,118248,115138,112550$!$Transpose--False$!$ClientDeliverableID--$!$SelectedSeg--13325$!$IsOverlapping--False$!$ClientDeliverableSegmentIDs--$!$SelectedGp--wave$!$IsSorted--False$!$ChartType--Line$!$SelectedMulRolling--$!$SortedField--$!$FetchOverallData--False$!$Relative--True$!$IsAddQuestionText--False$!$StatisticsSignificance--[]$!$LiveWave--False$!$IsNonOverlapping--False$!$StatisticsSignificanceNValue--30$!$IsSplit--False$!$LastUpdate--23-01-2026 16:55:22$!$AddSplitObjectsToSingleSlide--False$!$LongFilterFields--segment_0@:@IN@:@Speciality  - NP/PA$!$TableHeader--1$!$PivotEntry--1$!$TopNRows--0$!$IsProjectAnalysis--True$!$SelectAllColumns--True$!$PivotFilterFields--$!$IsAddLegend--False$!$xField--segment_1$!$Status--Create:Success$!$yField--analysis_id$!$MoveFirst--$!$vField--decimal$!$MoveLast--$!$fnField--Average"/>
  <p:tag name="STASSIGID" val="StasSigId_8903767"/>
  <p:tag name="REPORTCONFIGHASH" val="9f56c050b58ae0051006d4312dcf0702d7c2fc030bbff7be5b28d3000184d8bb"/>
  <p:tag name="REPORTCONFIGHASH_BACKUP" val="{&quot;AnalysisIds&quot;:[651720],&quot;DynamicTimePeriod&quot;:{&quot;IncludeLiveWave&quot;:false,&quot;LatestNDeliverables&quot;:6},&quot;IncludeAlias&quot;:true,&quot;IncludeOverallSegment&quot;:false,&quot;NestSegments&quot;:false,&quot;ProjectId&quot;:523,&quot;ReportingPlanId&quot;:1602,&quot;RollUpDeliverables&quot;:false,&quot;SegmentIds&quot;:[2447],&quot;SurveyId&quot;:482371,&quot;TimePeriodType&quot;:1}"/>
  <p:tag name="DATAFRAMECONFIGHASH" val="17baf0828e43d618b407083eacb8d48ffeb822e55eec10327b10a18b4d14ee6d"/>
  <p:tag name="DATAFRAMECONFIGHASH_BACKUP" val="{&quot;AggregationType&quot;:1,&quot;ColumnFields&quot;:[&quot;alias_label&quot;],&quot;FilterCondition&quot;:0,&quot;Filters&quot;:[{&quot;ColumnKey&quot;:&quot;segment_1&quot;,&quot;Type&quot;:1,&quot;Value&quot;:&quot;Speciality - NP/PA&quot;,&quot;filterCriteria&quot;:1}],&quot;LatestColumnsFirst&quot;:false,&quot;RowFields&quot;:[&quot;time_period_name&quot;],&quot;ValueFields&quot;:[&quot;decimal&quot;],&quot;columnDefinitions&quot;:[{&quot;Format&quot;:&quot;&quot;,&quot;Formula&quot;:&quot;&quot;,&quot;IsDefaultAlias&quot;:false,&quot;Name&quot;:&quot;time_period_name&quot;},{&quot;Format&quot;:&quot;0%&quot;,&quot;Formula&quot;:&quot;&quot;,&quot;IsDefaultAlias&quot;:false,&quot;Name&quot;:&quot;EPI Deepdive Module - 482371 - 2_100bz_c895297&quot;},{&quot;Format&quot;:&quot;0%&quot;,&quot;Formula&quot;:&quot;&quot;,&quot;IsDefaultAlias&quot;:false,&quot;Name&quot;:&quot;EPI Deepdive Module - 482371 - 2_100bz_z895450&quot;}]}"/>
  <p:tag name="MAPPINGCONFIG" val="{&quot;selectedColumns&quot;:[&quot;time_period_name&quot;,&quot;EPI Deepdive Module - 482371 - 2_100bz_c895297&quot;,&quot;EPI Deepdive Module - 482371 - 2_100bz_z895450&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1.xml><?xml version="1.0" encoding="utf-8"?>
<p:tagLst xmlns:a="http://schemas.openxmlformats.org/drawingml/2006/main" xmlns:r="http://schemas.openxmlformats.org/officeDocument/2006/relationships" xmlns:p="http://schemas.openxmlformats.org/presentationml/2006/main">
  <p:tag name="NON_CONNECTED_SHAPE_ID" val="87258144"/>
  <p:tag name="UPDATE" val="unlock"/>
</p:tagLst>
</file>

<file path=ppt/tags/tag232.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93517620"/>
  <p:tag name="STASSIGID" val="StasSigId_987831"/>
  <p:tag name="SYNQRY" val="SYNQRY#1#$$!$FileVersion--Ver-6o3o2a$!$IsAlias--False$!$Project--523$!$IsNestedSegments--True$!$ProjectSegmentIDs--$!$Survey--482371$!$RequiredColumns--segment_0@:@segment_0@:@0%@:@$$time_period_id@:@time_period_id@:@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IsOverlapping--False$!$ClientDeliverableSegmentIDs--14251,13101,12140,11580,10823,10014$!$SelectedGp--wave$!$IsSorted--True$!$ChartType--Line$!$SelectedMulRolling--$!$SortedField--time_period_id$$Ascending$$$!$FetchOverallData--False$!$Relative--True$!$IsAddQuestionText--False$!$StatisticsSignificance--[]$!$LiveWave--False$!$IsNonOverlapping--False$!$StatisticsSignificanceNValue--30$!$IsSplit--False$!$LastUpdate--27-01-2026 12:16:13$!$AddSplitObjectsToSingleSlide--False$!$LongFilterFields--title@:@LIKE@:@reason$!$TableHeader--0$!$PivotEntry--1$!$TopNRows--0$!$IsProjectAnalysis--True$!$SelectAllColumns--False$!$PivotFilterFields--$!$IsAddLegend--False$!$xField--title,segment_0,time_period_id$!$Status--Create:Success$!$yField--analysis_id$!$MoveFirst--$!$vField--decimal$!$MoveLast--$!$fnField--Average"/>
  <p:tag name="REPORTCONFIGHASH" val="bb62fd23d87917e4272a115f5bf393242f71dc9bab41749175afec6efd35456c"/>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09eb37047ffb401effe6f7cd9576aaaeca7ef90d440f2d2bc544fca42c333d73"/>
  <p:tag name="DATAFRAMECONFIGHASH_BACKUP" val="{&quot;AggregationType&quot;:1,&quot;ColumnFields&quot;:[&quot;alias_label&quot;],&quot;FilterCondition&quot;:0,&quot;Filters&quot;:[{&quot;ColumnKey&quot;:&quot;title&quot;,&quot;Type&quot;:1,&quot;Value&quot;:&quot;reason&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Format&quot;:&quot;0%&quot;,&quot;Formula&quot;:&quot;&quot;,&quot;IsDefaultAlias&quot;:false,&quot;Name&quot;:&quot;time_period_id&quot;,&quot;sortCriteria&quot;:{&quot;CustomList&quot;:[],&quot;Level&quot;:1,&quot;Order&quot;:0}},{&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3.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28266618"/>
  <p:tag name="STASSIGID" val="StasSigId_55607090"/>
  <p:tag name="SYNQRY" val="SYNQRY#1#$$!$FileVersion--Ver-6o3o2a$!$IsAlias--False$!$Project--523$!$IsNestedSegments--True$!$ProjectSegmentIDs--$!$Survey--482371$!$RequiredColumns--segment_0@:@segment_0@:@0%@:@$$time_period_id@:@time_period_id@:@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IsOverlapping--False$!$ClientDeliverableSegmentIDs--14251,13101,12140,11580,10823,10014$!$SelectedGp--wave$!$IsSorted--True$!$ChartType--Line$!$SelectedMulRolling--$!$SortedField--time_period_id$$Ascending$$$!$FetchOverallData--False$!$Relative--True$!$IsAddQuestionText--False$!$StatisticsSignificance--[]$!$LiveWave--False$!$IsNonOverlapping--False$!$StatisticsSignificanceNValue--30$!$IsSplit--False$!$LastUpdate--27-01-2026 12:16:13$!$AddSplitObjectsToSingleSlide--False$!$LongFilterFields--title@:@LIKE@:@overall$!$TableHeader--0$!$PivotEntry--1$!$TopNRows--0$!$IsProjectAnalysis--True$!$SelectAllColumns--False$!$PivotFilterFields--$!$IsAddLegend--False$!$xField--title,segment_0,time_period_id$!$Status--Create:Success$!$yField--analysis_id$!$MoveFirst--$!$vField--decimal$!$MoveLast--$!$fnField--Average"/>
  <p:tag name="REPORTCONFIGHASH" val="bb62fd23d87917e4272a115f5bf393242f71dc9bab41749175afec6efd35456c"/>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115d8a30d8c36bb67b00dba46353ca8524c5da67ed300b170bff5403483211a7"/>
  <p:tag name="DATAFRAMECONFIGHASH_BACKUP" val="{&quot;AggregationType&quot;:1,&quot;ColumnFields&quot;:[&quot;alias_label&quot;],&quot;FilterCondition&quot;:0,&quot;Filters&quot;:[{&quot;ColumnKey&quot;:&quot;title&quot;,&quot;Type&quot;:1,&quot;Value&quot;:&quot;overall&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Format&quot;:&quot;0%&quot;,&quot;Formula&quot;:&quot;&quot;,&quot;IsDefaultAlias&quot;:false,&quot;Name&quot;:&quot;time_period_id&quot;,&quot;sortCriteria&quot;:{&quot;CustomList&quot;:[],&quot;Level&quot;:1,&quot;Order&quot;:0}},{&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4.xml><?xml version="1.0" encoding="utf-8"?>
<p:tagLst xmlns:a="http://schemas.openxmlformats.org/drawingml/2006/main" xmlns:r="http://schemas.openxmlformats.org/officeDocument/2006/relationships" xmlns:p="http://schemas.openxmlformats.org/presentationml/2006/main">
  <p:tag name="NON_CONNECTED_SHAPE_ID" val="48158803"/>
  <p:tag name="DARWINVERSION" val="CSharp"/>
  <p:tag name="UPDATE" val="unlock"/>
  <p:tag name="VISUALISATION_ID" val="Darwin_68655921"/>
  <p:tag name="STASSIGID" val="StasSigId_91529234"/>
  <p:tag name="SYNQRY" val="SYNQRY#1#$$!$FileVersion--1.6.5.6$!$IsAlias--True$!$Project--523$!$IsNestedSegments--True$!$ProjectSegmentIDs--$!$Survey--482371$!$RequiredColumns--segment_0@:@segment_0@:@@:@$$title@:@title@:@@:@$$EPI Deepdive Module - 482371 - Q2_40BZ_C1895288@:@EPI Deepdive Module - 482371 - Q2_40BZ_C1895288@:@0%@:@$$EPI Deepdive Module - 482371 - Q2_40BZ_Z1895441@:@EPI Deepdive Module - 482371 - Q2_40BZ_Z1895441@:@0%@:@$!$LongFilterCondition--AND$!$Metric--none$!$SelectedColumns--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112550,110139,107406,105134,102306,98932$!$Transpose--Fals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16:13$!$AddSplitObjectsToSingleSlide--False$!$LongFilterFields--title@:@IN@:@The rep’s knowledge of the product being discussed$!$TableHeader--1$!$PivotEntry--1$!$TopNRows--0$!$IsProjectAnalysis--True$!$SelectAllColumns--False$!$PivotFilterFields--$!$IsAddLegend--False$!$xField--segment_0,title$!$Status--Create:Success$!$yField--analysis_id$!$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1669a328aeb2f0e3f6f9ff7b949843e0149474a6d4a201527b2f41e744148c8f"/>
  <p:tag name="DATAFRAMECONFIGHASH_BACKUP" val="{&quot;AggregationType&quot;:1,&quot;ColumnFields&quot;:[&quot;alias_label&quot;],&quot;FilterCondition&quot;:0,&quot;Filters&quot;:[{&quot;ColumnKey&quot;:&quot;title&quot;,&quot;Type&quot;:1,&quot;Value&quot;:&quot;The rep’s knowledge of the product being discussed&quot;,&quot;filterCriteria&quot;:1}],&quot;LatestColumnsFirst&quot;:false,&quot;RowFields&quot;:[&quot;time_period_name&quot;,&quot;title&quot;],&quot;ValueFields&quot;:[&quot;decimal&quot;],&quot;columnDefinitions&quot;:[{&quot;Format&quot;:&quot;&quot;,&quot;Formula&quot;:&quot;&quot;,&quot;IsDefaultAlias&quot;:false,&quot;Name&quot;:&quot;time_period_name&quot;},{&quot;Format&quot;:&quot;&quot;,&quot;Formula&quot;:&quot;&quot;,&quot;IsDefaultAlias&quot;:false,&quot;Name&quot;:&quot;title&quot;},{&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5.xml><?xml version="1.0" encoding="utf-8"?>
<p:tagLst xmlns:a="http://schemas.openxmlformats.org/drawingml/2006/main" xmlns:r="http://schemas.openxmlformats.org/officeDocument/2006/relationships" xmlns:p="http://schemas.openxmlformats.org/presentationml/2006/main">
  <p:tag name="NON_CONNECTED_SHAPE_ID" val="92871352"/>
  <p:tag name="DARWINVERSION" val="CSharp"/>
  <p:tag name="UPDATE" val="unlock"/>
  <p:tag name="VISUALISATION_ID" val="Darwin_32022375"/>
  <p:tag name="FAILEDREFRESHICONID" val="Darwin_32022375"/>
  <p:tag name="STASSIGID" val="StasSigId_29484184"/>
  <p:tag name="SYNQRY" val="SYNQRY#1#$$!$FileVersion--1.6.5.6$!$IsAlias--True$!$Project--523$!$IsNestedSegments--True$!$ProjectSegmentIDs--$!$Survey--482371$!$RequiredColumns--segment_0@:@segment_0@:@@:@$$title@:@title@:@@:@$$CREON@:@CREON@:@0%@:@$$ZENPEP@:@ZENPEP@:@0%@:@$!$LongFilterCondition--AND$!$Metric--none$!$SelectedColumns--CREON@:@CREON@:@0%@:@$$ZENPEP@:@ZENPEP@:@0%@:@$!$PivotFilterCondition--AND$!$Analysis--1863$!$SelectedRows--ALL$!$AddLatestColumnToFirst--False$!$RecentWave--W2#6$!$ChartSplit--$!$IsClientDeliverable--True$!$SelectedWave--112550,110139,107406,105134,102306,98932$!$Transpose--Fals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16:40$!$AddSplitObjectsToSingleSlide--False$!$LongFilterFields--title@:@IN@:@The rep’s preparedness$!$TableHeader--1$!$PivotEntry--1$!$TopNRows--0$!$IsProjectAnalysis--True$!$SelectAllColumns--False$!$PivotFilterFields--$!$IsAddLegend--False$!$xField--segment_0,title$!$Status--Create:Success$!$yField--analysis_id$!$MoveFirst--$!$vField--decimal$!$MoveLast--$!$fnField--Average"/>
  <p:tag name="REPORTCONFIGHASH" val="008a063414191a7472177968e425eb7e40bb3a062abdf81d4e49dd45224583d8"/>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99e3d4ff774d4d7485cb1da66ec83461d293dbe4c293f8a26a580f769dd5f6e1"/>
  <p:tag name="DATAFRAMECONFIGHASH_BACKUP" val="{&quot;AggregationType&quot;:1,&quot;ColumnFields&quot;:[&quot;alias_label&quot;],&quot;FilterCondition&quot;:0,&quot;Filters&quot;:[{&quot;ColumnKey&quot;:&quot;title&quot;,&quot;Type&quot;:1,&quot;Value&quot;:&quot;The rep’s preparedness&quot;,&quot;filterCriteria&quot;:1}],&quot;LatestColumnsFirst&quot;:false,&quot;RowFields&quot;:[&quot;time_period_name&quot;,&quot;title&quot;],&quot;ValueFields&quot;:[&quot;decimal&quot;],&quot;columnDefinitions&quot;:[{&quot;Format&quot;:&quot;&quot;,&quot;Formula&quot;:&quot;&quot;,&quot;IsDefaultAlias&quot;:false,&quot;Name&quot;:&quot;time_period_name&quot;},{&quot;Format&quot;:&quot;&quot;,&quot;Formula&quot;:&quot;&quot;,&quot;IsDefaultAlias&quot;:false,&quot;Name&quot;:&quot;title&quot;},{&quot;Format&quot;:&quot;0%&quot;,&quot;Formula&quot;:&quot;&quot;,&quot;IsDefaultAlias&quot;:false,&quot;Name&quot;:&quot;CREON&quot;},{&quot;Format&quot;:&quot;0%&quot;,&quot;Formula&quot;:&quot;&quot;,&quot;IsDefaultAlias&quot;:false,&quot;Name&quot;:&quot;ZENPEP&quot;}]}"/>
  <p:tag name="MAPPINGCONFIG" val="{&quot;selectedColumns&quot;:[&quot;CREON&quot;,&quot;ZENPEP&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6.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1516107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823,10014,9519,8970,8304,7814$!$SelectedGp--wave$!$IsSorted--False$!$ChartType--Table$!$SelectedMulRolling--$!$SortedField--$!$FetchOverallData--False$!$Relative--True$!$IsAddQuestionText--False$!$StatisticsSignificance--[]$!$LiveWave--False$!$IsNonOverlapping--False$!$StatisticsSignificanceNValue--30$!$IsSplit--False$!$LastUpdate--13-05-2025 17:43:4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37.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92245822"/>
  <p:tag name="STASSIGID" val="StasSigId_83977175"/>
  <p:tag name="SYNQRY" val="SYNQRY#1#$$!$FileVersion--Ver-6o3o2a$!$IsAlias--False$!$Project--523$!$IsNestedSegments--True$!$ProjectSegmentIDs--$!$Survey--482371$!$RequiredColumns--segment_0@:@segment_0@:@@:@$$time_period_id@:@time_period_id@:@@:@$$EPI Deepdive Module - 482371 - Q2_40BZ_C1895288@:@EPI Deepdive Module - 482371 - Q2_40BZ_C1895288@:@0%@:@$$EPI Deepdive Module - 482371 - Q2_40BZ_Z1895441@:@EPI Deepdive Module - 482371 - Q2_40BZ_Z1895441@:@0%@:@$!$LongFilterCondition--AND$!$Metric--none$!$SelectedColumns--segment_0@:@segment_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16:13$!$AddSplitObjectsToSingleSlide--False$!$LongFilterFields--title@:@IN@:@The rep’s ability to execute a smooth interaction$!$TableHeader--0$!$PivotEntry--1$!$TopNRows--0$!$IsProjectAnalysis--True$!$SelectAllColumns--False$!$PivotFilterFields--$!$IsAddLegend--False$!$xField--title,segment_0,time_period_id$!$Status--Create:Success$!$yField--analysis_id$!$MoveFirst--$!$vField--decimal$!$MoveLast--$!$fnField--Average"/>
  <p:tag name="REPORTCONFIGHASH" val="bb62fd23d87917e4272a115f5bf393242f71dc9bab41749175afec6efd35456c"/>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5120fb4d936079520460ee4297bd5807f12056ee436b3ae5d2dd6d8394756f19"/>
  <p:tag name="DATAFRAMECONFIGHASH_BACKUP" val="{&quot;AggregationType&quot;:1,&quot;ColumnFields&quot;:[&quot;alias_label&quot;],&quot;FilterCondition&quot;:0,&quot;Filters&quot;:[{&quot;ColumnKey&quot;:&quot;title&quot;,&quot;Type&quot;:1,&quot;Value&quot;:&quot;The rep’s ability to execute a smooth interaction&quot;,&quot;filterCriteria&quot;:1}],&quot;LatestColumnsFirst&quot;:false,&quot;RowFields&quot;:[&quot;title&quot;,&quot;time_period_name&quot;,&quot;time_period_id&quot;],&quot;ValueFields&quot;:[&quot;decimal&quot;],&quot;columnDefinitions&quot;:[{&quot;IsDefaultAlias&quot;:false,&quot;Name&quot;:&quot;title&quot;},{&quot;Format&quot;:&quot;&quot;,&quot;Formula&quot;:&quot;&quot;,&quot;IsDefaultAlias&quot;:false,&quot;Name&quot;:&quot;time_period_name&quot;},{&quot;Format&quot;:&quot;&quot;,&quot;Formula&quot;:&quot;&quot;,&quot;IsDefaultAlias&quot;:false,&quot;Name&quot;:&quot;time_period_id&quot;},{&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8.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27885535"/>
  <p:tag name="STASSIGID" val="StasSigId_31787413"/>
  <p:tag name="SYNQRY" val="SYNQRY#1#$$!$FileVersion--Ver-6o3o2a$!$IsAlias--False$!$Project--523$!$IsNestedSegments--True$!$ProjectSegmentIDs--$!$Survey--482371$!$RequiredColumns--segment_0@:@segment_0@:@0%@:@$$time_period_id@:@time_period_id@:@0%@:@$$EPI Deepdive Module - 482371 - Q2_40BZ_C1895288@:@EPI Deepdive Module - 482371 - Q2_40BZ_C1895288@:@0%@:@$$EPI Deepdive Module - 482371 - Q2_40BZ_Z1895441@:@EPI Deepdive Module - 482371 - Q2_40BZ_Z1895441@:@0%@:@$!$LongFilterCondition--AND$!$Metric--$!$SelectedColumns--segment_0@:@segment_0@:@0%@:@$$EPI Deepdive Module - 482371 - Q2_40BZ_C1895288@:@EPI Deepdive Module - 482371 - Q2_40BZ_C1895288@:@0%@:@$$EPI Deepdive Module - 482371 - Q2_40BZ_Z1895441@:@EPI Deepdive Module - 482371 - Q2_40BZ_Z1895441@:@0%@:@$!$PivotFilterCondition--AND$!$Analysis--1749$!$SelectedRows--ALL$!$AddLatestColumnToFirst--False$!$RecentWave--W2#6$!$ChartSplit--$!$IsClientDeliverable--True$!$SelectedWave--78853,75893,72393,69483,65968,61151$!$Transpose--False$!$ClientDeliverableID--96$!$SelectedSeg--$!$IsOverlapping--False$!$ClientDeliverableSegmentIDs--14251,13101,12140,11580,10823,10014$!$SelectedGp--wave$!$IsSorted--True$!$ChartType--Line$!$SelectedMulRolling--$!$SortedField--time_period_id$$Ascending$$$!$FetchOverallData--False$!$Relative--True$!$IsAddQuestionText--False$!$StatisticsSignificance--[]$!$LiveWave--False$!$IsNonOverlapping--False$!$StatisticsSignificanceNValue--30$!$IsSplit--False$!$LastUpdate--27-01-2026 12:16:13$!$AddSplitObjectsToSingleSlide--False$!$LongFilterFields--title@:@LIKE@:@coverage$!$TableHeader--0$!$PivotEntry--1$!$TopNRows--0$!$IsProjectAnalysis--True$!$SelectAllColumns--False$!$PivotFilterFields--$!$IsAddLegend--False$!$xField--title,segment_0,time_period_id$!$Status--Create:Success$!$yField--analysis_id$!$MoveFirst--$!$vField--decimal$!$MoveLast--$!$fnField--Average"/>
  <p:tag name="REPORTCONFIGHASH" val="bb62fd23d87917e4272a115f5bf393242f71dc9bab41749175afec6efd35456c"/>
  <p:tag name="REPORTCONFIGHASH_BACKUP" val="{&quot;AnalysisIds&quot;:[651669],&quot;DynamicTimePeriod&quot;:{&quot;IncludeLiveWave&quot;:false,&quot;LatestNDeliverables&quot;:6},&quot;IncludeAlias&quot;:false,&quot;IncludeOverallSegment&quot;:false,&quot;NestSegments&quot;:false,&quot;ProjectId&quot;:523,&quot;ReportingPlanId&quot;:96,&quot;RollUpDeliverables&quot;:false,&quot;SegmentIds&quot;:[],&quot;SurveyId&quot;:482371,&quot;TimePeriodType&quot;:1}"/>
  <p:tag name="DATAFRAMECONFIGHASH" val="a5a689011ffd9a79a2d3815dd13b722d36acfb8628416add066886bd6e46084e"/>
  <p:tag name="DATAFRAMECONFIGHASH_BACKUP" val="{&quot;AggregationType&quot;:1,&quot;ColumnFields&quot;:[&quot;alias_label&quot;],&quot;FilterCondition&quot;:0,&quot;Filters&quot;:[{&quot;ColumnKey&quot;:&quot;title&quot;,&quot;Type&quot;:1,&quot;Value&quot;:&quot;coverage&quot;,&quot;filterCriteria&quot;:0}],&quot;LatestColumnsFirst&quot;:false,&quot;RowFields&quot;:[&quot;title&quot;,&quot;time_period_name&quot;,&quot;time_period_id&quot;],&quot;ValueFields&quot;:[&quot;decimal&quot;],&quot;columnDefinitions&quot;:[{&quot;IsDefaultAlias&quot;:false,&quot;Name&quot;:&quot;title&quot;},{&quot;Format&quot;:&quot;0%&quot;,&quot;Formula&quot;:&quot;&quot;,&quot;IsDefaultAlias&quot;:false,&quot;Name&quot;:&quot;time_period_name&quot;},{&quot;Format&quot;:&quot;0%&quot;,&quot;Formula&quot;:&quot;&quot;,&quot;IsDefaultAlias&quot;:false,&quot;Name&quot;:&quot;time_period_id&quot;,&quot;sortCriteria&quot;:{&quot;CustomList&quot;:[],&quot;Level&quot;:1,&quot;Order&quot;:0}},{&quot;Format&quot;:&quot;0%&quot;,&quot;Formula&quot;:&quot;&quot;,&quot;IsDefaultAlias&quot;:false,&quot;Name&quot;:&quot;EPI Deepdive Module - 482371 - Q2_40BZ_C1895288&quot;},{&quot;Format&quot;:&quot;0%&quot;,&quot;Formula&quot;:&quot;&quot;,&quot;IsDefaultAlias&quot;:false,&quot;Name&quot;:&quot;EPI Deepdive Module - 482371 - Q2_40BZ_Z1895441&quot;}]}"/>
  <p:tag name="MAPPINGCONFIG" val="{&quot;selectedColumns&quot;:[&quot;time_period_name&quot;,&quot;EPI Deepdive Module - 482371 - Q2_40BZ_C1895288&quot;,&quot;EPI Deepdive Module - 482371 - Q2_40BZ_Z1895441&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39.xml><?xml version="1.0" encoding="utf-8"?>
<p:tagLst xmlns:a="http://schemas.openxmlformats.org/drawingml/2006/main" xmlns:r="http://schemas.openxmlformats.org/officeDocument/2006/relationships" xmlns:p="http://schemas.openxmlformats.org/presentationml/2006/main">
  <p:tag name="NON_CONNECTED_SHAPE_ID" val="87258144"/>
  <p:tag name="UPDATE" val="unlock"/>
</p:tagLst>
</file>

<file path=ppt/tags/tag240.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823,10014,9519,8970,8304,7814$!$SelectedGp--wave$!$IsSorted--False$!$ChartType--Table$!$SelectedMulRolling--$!$SortedField--$!$FetchOverallData--False$!$Relative--True$!$IsAddQuestionText--False$!$StatisticsSignificance--[]$!$LiveWave--False$!$IsNonOverlapping--False$!$StatisticsSignificanceNValue--30$!$IsSplit--False$!$LastUpdate--13-05-2025 17:43:49$!$AddSplitObjectsToSingleSlide--False$!$LongFilterFields--$!$TableHeader--2$!$PivotEntry--1$!$TopNRows--0$!$IsProjectAnalysis--True$!$SelectAllColumns--False$!$PivotFilterFields--$!$IsAddLegend--False$!$xField--segment_0,time_period_id$!$Status--Create:Success$!$yField--title$!$MoveFirst--$!$vField--n - value$!$MoveLast--$!$fnField--Sum"/>
  <p:tag name="VISUALISATION_ID" val="Darwin_31010598"/>
  <p:tag name="UPDATE" val="lock"/>
</p:tagLst>
</file>

<file path=ppt/tags/tag24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15512752"/>
  <p:tag name="FAILEDREFRESHICONID" val="Darwin_15512752"/>
  <p:tag name="STASSIGID" val="StasSigId_72996633"/>
  <p:tag name="SYNQRY" val="SYNQRY#1#$$!$FileVersion--1.6.5.7$!$IsAlias--True$!$Project--523$!$IsNestedSegments--True$!$ProjectSegmentIDs--$!$Survey--482371$!$RequiredColumns--analysis_id@:@analysis_id@:@@:@$$title@:@title@:@@:@$$W27@:@W27@:@0%@:@$$W28@:@W28@:@0%@:@$$W29@:@W29@:@0%@:@$$W30@:@W30@:@0%@:@$$W31@:@W31@:@0%@:@$$W32@:@W32@:@0%@:@$!$LongFilterCondition--AND$!$Metric--$!$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03$!$AddSplitObjectsToSingleSlide--False$!$LongFilterFields--title@:@IN@:@How well the rep performed in discussing efficacy$!$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751f16e212a3bbbf9acc2cc1965f0e7f6b1de3b243a42f125f6f9c1de8190e31"/>
  <p:tag name="DATAFRAMECONFIGHASH_BACKUP" val="{&quot;AggregationType&quot;:1,&quot;ColumnFields&quot;:[&quot;time_period_name&quot;],&quot;FilterCondition&quot;:0,&quot;Filters&quot;:[{&quot;ColumnKey&quot;:&quot;title&quot;,&quot;Type&quot;:1,&quot;Value&quot;:&quot;How well the rep performed in discussing efficacy&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2.xml><?xml version="1.0" encoding="utf-8"?>
<p:tagLst xmlns:a="http://schemas.openxmlformats.org/drawingml/2006/main" xmlns:r="http://schemas.openxmlformats.org/officeDocument/2006/relationships" xmlns:p="http://schemas.openxmlformats.org/presentationml/2006/main">
  <p:tag name="UPDATE" val="unlock"/>
  <p:tag name="VISUALISATION_ID" val="Darwin_3664209"/>
  <p:tag name="DARWINVERSION" val="CSharp"/>
  <p:tag name="STASSIGID" val="StasSigId_80344449"/>
  <p:tag name="SYNQRY" val="SYNQRY#1#$$!$FileVersion--1.6.5.7$!$IsAlias--True$!$Project--523$!$IsNestedSegments--True$!$ProjectSegmentIDs--$!$Survey--482371$!$RequiredColumns--analysis_id@:@analysis_id@:@@:@$$title@:@title@:@@:@$$W27@:@W27@:@0%@:@$$W28@:@W28@:@0%@:@$$W29@:@W29@:@0%@:@$$W30@:@W30@:@0%@:@$$W31@:@W31@:@0%@:@$$W32@:@W32@:@0%@:@$!$LongFilterCondition--AND$!$Metric--none$!$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03$!$AddSplitObjectsToSingleSlide--False$!$LongFilterFields--title@:@IN@:@How well the rep performed on providing credible support for product claims$!$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522a6fa9a017a1942acef5f11ea90566e58cfef90fb87e7ff3b8455415cddbe3"/>
  <p:tag name="DATAFRAMECONFIGHASH_BACKUP" val="{&quot;AggregationType&quot;:1,&quot;ColumnFields&quot;:[&quot;time_period_name&quot;],&quot;FilterCondition&quot;:0,&quot;Filters&quot;:[{&quot;ColumnKey&quot;:&quot;title&quot;,&quot;Type&quot;:1,&quot;Value&quot;:&quot;How well the rep performed on providing credible support for product claim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3.xml><?xml version="1.0" encoding="utf-8"?>
<p:tagLst xmlns:a="http://schemas.openxmlformats.org/drawingml/2006/main" xmlns:r="http://schemas.openxmlformats.org/officeDocument/2006/relationships" xmlns:p="http://schemas.openxmlformats.org/presentationml/2006/main">
  <p:tag name="UPDATE" val="unlock"/>
  <p:tag name="VISUALISATION_ID" val="Darwin_87697946"/>
  <p:tag name="DARWINVERSION" val="CSharp"/>
  <p:tag name="STASSIGID" val="StasSigId_55257464"/>
  <p:tag name="SYNQRY" val="SYNQRY#1#$$!$FileVersion--1.6.5.7$!$IsAlias--True$!$Project--523$!$IsNestedSegments--True$!$ProjectSegmentIDs--$!$Survey--482371$!$RequiredColumns--analysis_id@:@analysis_id@:@@:@$$title@:@title@:@@:@$$W27@:@W27@:@0%@:@$$W28@:@W28@:@0%@:@$$W29@:@W29@:@0%@:@$$W30@:@W30@:@0%@:@$$W31@:@W31@:@0%@:@$$W32@:@W32@:@0%@:@$!$LongFilterCondition--AND$!$Metric--none$!$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06$!$AddSplitObjectsToSingleSlide--False$!$LongFilterFields--title@:@IN@:@The rep’s knowledge of EPI and its associated illnesses$!$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579e2e5cbcc20b377d45843e4be1f22df2c39716110a2788bd2d08fe6f1f8136"/>
  <p:tag name="DATAFRAMECONFIGHASH_BACKUP" val="{&quot;AggregationType&quot;:1,&quot;ColumnFields&quot;:[&quot;time_period_name&quot;],&quot;FilterCondition&quot;:0,&quot;Filters&quot;:[{&quot;ColumnKey&quot;:&quot;title&quot;,&quot;Type&quot;:1,&quot;Value&quot;:&quot;The rep’s knowledge of EPI and its associated illnesse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4.xml><?xml version="1.0" encoding="utf-8"?>
<p:tagLst xmlns:a="http://schemas.openxmlformats.org/drawingml/2006/main" xmlns:r="http://schemas.openxmlformats.org/officeDocument/2006/relationships" xmlns:p="http://schemas.openxmlformats.org/presentationml/2006/main">
  <p:tag name="UPDATE" val="unlock"/>
  <p:tag name="VISUALISATION_ID" val="Darwin_69449600"/>
  <p:tag name="DARWINVERSION" val="CSharp"/>
  <p:tag name="STASSIGID" val="StasSigId_71988995"/>
  <p:tag name="SYNQRY" val="SYNQRY#1#$$!$FileVersion--1.6.5.7$!$IsAlias--True$!$Project--523$!$IsNestedSegments--True$!$ProjectSegmentIDs--$!$Survey--482371$!$RequiredColumns--analysis_id@:@analysis_id@:@@:@$$title@:@title@:@@:@$$W27@:@W27@:@0%@:@$$W28@:@W28@:@0%@:@$$W29@:@W29@:@0%@:@$$W30@:@W30@:@0%@:@$$W31@:@W31@:@0%@:@$$W32@:@W32@:@0%@:@$!$LongFilterCondition--AND$!$Metric--none$!$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08$!$AddSplitObjectsToSingleSlide--False$!$LongFilterFields--title@:@IN@:@How well the rep explained dosing guidelines and considerations$!$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65a181f65296248cc5df847f8fed3ea7b33ad1e6b87a80c3c3844bedde584e41"/>
  <p:tag name="DATAFRAMECONFIGHASH_BACKUP" val="{&quot;AggregationType&quot;:1,&quot;ColumnFields&quot;:[&quot;time_period_name&quot;],&quot;FilterCondition&quot;:0,&quot;Filters&quot;:[{&quot;ColumnKey&quot;:&quot;title&quot;,&quot;Type&quot;:1,&quot;Value&quot;:&quot;How well the rep explained dosing guidelines and consideration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5.xml><?xml version="1.0" encoding="utf-8"?>
<p:tagLst xmlns:a="http://schemas.openxmlformats.org/drawingml/2006/main" xmlns:r="http://schemas.openxmlformats.org/officeDocument/2006/relationships" xmlns:p="http://schemas.openxmlformats.org/presentationml/2006/main">
  <p:tag name="UPDATE" val="unlock"/>
  <p:tag name="VISUALISATION_ID" val="Darwin_43323154"/>
  <p:tag name="DARWINVERSION" val="CSharp"/>
  <p:tag name="STASSIGID" val="StasSigId_53734921"/>
  <p:tag name="SYNQRY" val="SYNQRY#1#$$!$FileVersion--1.6.5.7$!$IsAlias--True$!$Project--523$!$IsNestedSegments--True$!$ProjectSegmentIDs--$!$Survey--482371$!$RequiredColumns--analysis_id@:@analysis_id@:@@:@$$title@:@title@:@@:@$$W27@:@W27@:@0%@:@$$W28@:@W28@:@0%@:@$$W29@:@W29@:@0%@:@$$W30@:@W30@:@0%@:@$$W31@:@W31@:@0%@:@$$W32@:@W32@:@0%@:@$!$LongFilterCondition--AND$!$Metric--none$!$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09$!$AddSplitObjectsToSingleSlide--False$!$LongFilterFields--title@:@IN@:@How well the rep performed in discussing safety$!$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090625fa15f2c5ac387b00b76528010e9f22631a0d762cc4237baee5d27161ec"/>
  <p:tag name="DATAFRAMECONFIGHASH_BACKUP" val="{&quot;AggregationType&quot;:1,&quot;ColumnFields&quot;:[&quot;time_period_name&quot;],&quot;FilterCondition&quot;:0,&quot;Filters&quot;:[{&quot;ColumnKey&quot;:&quot;title&quot;,&quot;Type&quot;:1,&quot;Value&quot;:&quot;How well the rep performed in discussing safety&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6.xml><?xml version="1.0" encoding="utf-8"?>
<p:tagLst xmlns:a="http://schemas.openxmlformats.org/drawingml/2006/main" xmlns:r="http://schemas.openxmlformats.org/officeDocument/2006/relationships" xmlns:p="http://schemas.openxmlformats.org/presentationml/2006/main">
  <p:tag name="UPDATE" val="unlock"/>
  <p:tag name="VISUALISATION_ID" val="Darwin_73806831"/>
  <p:tag name="DARWINVERSION" val="CSharp"/>
  <p:tag name="STASSIGID" val="StasSigId_404032"/>
  <p:tag name="SYNQRY" val="SYNQRY#1#$$!$FileVersion--1.6.5.7$!$IsAlias--True$!$Project--523$!$IsNestedSegments--True$!$ProjectSegmentIDs--$!$Survey--482371$!$RequiredColumns--analysis_id@:@analysis_id@:@@:@$$title@:@title@:@@:@$$W27@:@W27@:@0%@:@$$W28@:@W28@:@0%@:@$$W29@:@W29@:@0%@:@$$W30@:@W30@:@0%@:@$$W31@:@W31@:@0%@:@$$W32@:@W32@:@0%@:@$!$LongFilterCondition--AND$!$Metric--none$!$SelectedColumns--analysis_id@:@analysis_id@:@@:@$$title@:@title@:@@:@$$W27@:@W27@:@0%@:@$$W28@:@W28@:@0%@:@$$W29@:@W29@:@0%@:@$$W30@:@W30@:@0%@:@$$W31@:@W31@:@0%@:@$$W32@:@W32@:@0%@:@$!$PivotFilterCondition--AND$!$Analysis--1749$!$SelectedRows--ALL$!$AddLatestColumnToFirst--False$!$RecentWave--W2#6$!$ChartSplit--$!$IsClientDeliverable--True$!$SelectedWave--120937,118248,115138,112550,110139,107406$!$Transpose--True$!$ClientDeliverableID--96$!$SelectedSeg--$!$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2:37:10$!$AddSplitObjectsToSingleSlide--False$!$LongFilterFields--title@:@IN@:@How well the rep articulated differentiation as a treatment for exocrine pancreatic insufficiency (EPI)$!$TableHeader--1$!$PivotEntry--1$!$TopNRows--0$!$IsProjectAnalysis--True$!$SelectAllColumns--True$!$PivotFilterFields--$!$IsAddLegend--False$!$xField--analysis_id,title$!$Status--Create:Success$!$yField--segment_0$!$MoveFirst--$!$vField--decimal$!$MoveLast--$!$fnField--Average"/>
  <p:tag name="REPORTCONFIGHASH" val="6738fcecee2045247701ec03a45655c441dff341a0a5b0fef3f9590655c08ca4"/>
  <p:tag name="REPORTCONFIGHASH_BACKUP" val="{&quot;AnalysisIds&quot;:[651669],&quot;DynamicTimePeriod&quot;:{&quot;IncludeLiveWave&quot;:false,&quot;LatestNDeliverables&quot;:6},&quot;IncludeAlias&quot;:true,&quot;IncludeOverallSegment&quot;:false,&quot;NestSegments&quot;:false,&quot;ProjectId&quot;:523,&quot;ReportingPlanId&quot;:96,&quot;RollUpDeliverables&quot;:false,&quot;SegmentIds&quot;:[],&quot;SurveyId&quot;:482371,&quot;TimePeriodType&quot;:1}"/>
  <p:tag name="DATAFRAMECONFIGHASH" val="9287c6f6d7b504edf218ef6f244857774b994d41c22e60da6ef9cd444d459789"/>
  <p:tag name="DATAFRAMECONFIGHASH_BACKUP" val="{&quot;AggregationType&quot;:1,&quot;ColumnFields&quot;:[&quot;time_period_name&quot;],&quot;FilterCondition&quot;:0,&quot;Filters&quot;:[{&quot;ColumnKey&quot;:&quot;title&quot;,&quot;Type&quot;:1,&quot;Value&quot;:&quot;How well the rep articulated differentiation as a treatment for exocrine pancreatic insufficiency (EPI)&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quot;},{&quot;Format&quot;:&quot;0%&quot;,&quot;Formula&quot;:&quot;&quot;,&quot;IsDefaultAlias&quot;:false,&quot;Name&quot;:&quot;W29&quot;},{&quot;Format&quot;:&quot;0%&quot;,&quot;Formula&quot;:&quot;&quot;,&quot;IsDefaultAlias&quot;:false,&quot;Name&quot;:&quot;W30&quot;},{&quot;Format&quot;:&quot;0%&quot;,&quot;Formula&quot;:&quot;&quot;,&quot;IsDefaultAlias&quot;:false,&quot;Name&quot;:&quot;W31&quot;},{&quot;Format&quot;:&quot;0%&quot;,&quot;Formula&quot;:&quot;&quot;,&quot;IsDefaultAlias&quot;:false,&quot;Name&quot;:&quot;W32&quot;},{&quot;Format&quot;:&quot;0%&quot;,&quot;Formula&quot;:&quot;&quot;,&quot;IsDefaultAlias&quot;:false,&quot;Name&quot;:&quot;Jan-Feb 2026&quot;}]}"/>
  <p:tag name="MAPPINGCONFIG" val="{&quot;selectedColumns&quot;:[&quot;alias_label&quot;,&quot;title&quot;,&quot;W28&quot;,&quot;W29&quot;,&quot;W30&quot;,&quot;W31&quot;,&quot;W32&quot;,&quot;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7.xml><?xml version="1.0" encoding="utf-8"?>
<p:tagLst xmlns:a="http://schemas.openxmlformats.org/drawingml/2006/main" xmlns:r="http://schemas.openxmlformats.org/officeDocument/2006/relationships" xmlns:p="http://schemas.openxmlformats.org/presentationml/2006/main">
  <p:tag name="NON_CONNECTED_SHAPE_ID" val="87258144"/>
  <p:tag name="UPDATE" val="unlock"/>
</p:tagLst>
</file>

<file path=ppt/tags/tag248.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29249875"/>
  <p:tag name="STASSIGID" val="StasSigId_69015051"/>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37$!$AddSplitObjectsToSingleSlide--False$!$LongFilterFields--segment_1@:@IN@:@Speciality  - Gastro$$title@:@IN@:@The overall quality of the rep’s interaction$!$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858e5242800da4848a9755390f9c0e9f04d331c95a0a3c9ad3c55bc79e143fb"/>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The overall quality of the rep’s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49.xml><?xml version="1.0" encoding="utf-8"?>
<p:tagLst xmlns:a="http://schemas.openxmlformats.org/drawingml/2006/main" xmlns:r="http://schemas.openxmlformats.org/officeDocument/2006/relationships" xmlns:p="http://schemas.openxmlformats.org/presentationml/2006/main">
  <p:tag name="UPDATE" val="unlock"/>
  <p:tag name="VISUALISATION_ID" val="Darwin_94964098"/>
  <p:tag name="DARWINVERSION" val="CSharp"/>
  <p:tag name="STASSIGID" val="StasSigId_5421055"/>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37$!$AddSplitObjectsToSingleSlide--False$!$LongFilterFields--segment_1@:@IN@:@Speciality  - Gastro$$title@:@IN@:@The rep’s preparedness$!$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e95db35dc94f98efdf00f02b7f0acafa2df33244f069ff5a44e1ed23fb5ae0"/>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The rep’s preparedn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0.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62769556"/>
  <p:tag name="STASSIGID" val="StasSigId_13893927"/>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37$!$AddSplitObjectsToSingleSlide--False$!$LongFilterFields--segment_1@:@IN@:@Speciality  - Gastro$$title@:@IN@:@The rep’s understanding of insurance and access$!$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ed22e7a1a2ecaf15d1b48b42c2a29e09cf9aa5368e63cba4588fdacbc54d1d"/>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The rep’s understanding of insurance and acc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1.xml><?xml version="1.0" encoding="utf-8"?>
<p:tagLst xmlns:a="http://schemas.openxmlformats.org/drawingml/2006/main" xmlns:r="http://schemas.openxmlformats.org/officeDocument/2006/relationships" xmlns:p="http://schemas.openxmlformats.org/presentationml/2006/main">
  <p:tag name="UPDATE" val="unlock"/>
  <p:tag name="VISUALISATION_ID" val="Darwin_58810922"/>
  <p:tag name="DARWINVERSION" val="CSharp"/>
  <p:tag name="STASSIGID" val="StasSigId_76325018"/>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37$!$AddSplitObjectsToSingleSlide--False$!$LongFilterFields--segment_1@:@IN@:@Speciality  - Gastro$$title@:@IN@:@How well the rep performed in providing a compelling reason to prescribe CREON$!$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4d153a23e97e3a28d478f388ad250c587a9e3f61b3c7a39e781c43e231458d7"/>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How well the rep performed in providing a compelling reason to prescribe CRE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2.xml><?xml version="1.0" encoding="utf-8"?>
<p:tagLst xmlns:a="http://schemas.openxmlformats.org/drawingml/2006/main" xmlns:r="http://schemas.openxmlformats.org/officeDocument/2006/relationships" xmlns:p="http://schemas.openxmlformats.org/presentationml/2006/main">
  <p:tag name="UPDATE" val="unlock"/>
  <p:tag name="VISUALISATION_ID" val="Darwin_4749111"/>
  <p:tag name="DARWINVERSION" val="CSharp"/>
  <p:tag name="STASSIGID" val="StasSigId_51452696"/>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37$!$AddSplitObjectsToSingleSlide--False$!$LongFilterFields--segment_1@:@IN@:@Speciality  - Gastro$$title@:@IN@:@The rep’s knowledge of the product being discussed$!$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f88c7975008aece1b1388da3da1ffc076b484a137b3be1f732d460c15b7f7881"/>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The rep’s knowledge of the product being discussed&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3.xml><?xml version="1.0" encoding="utf-8"?>
<p:tagLst xmlns:a="http://schemas.openxmlformats.org/drawingml/2006/main" xmlns:r="http://schemas.openxmlformats.org/officeDocument/2006/relationships" xmlns:p="http://schemas.openxmlformats.org/presentationml/2006/main">
  <p:tag name="UPDATE" val="unlock"/>
  <p:tag name="VISUALISATION_ID" val="Darwin_89311100"/>
  <p:tag name="DARWINVERSION" val="CSharp"/>
  <p:tag name="STASSIGID" val="StasSigId_81507463"/>
  <p:tag name="SYNQRY" val="SYNQRY#1#$$!$FileVersion--1.6.5.7$!$IsAlias--True$!$Project--523$!$IsNestedSegments--True$!$ProjectSegmentIDs--$!$Survey--482371$!$Requir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analysis_id@:@analysis_id@:@@:@$$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863$!$SelectedRows--ALL$!$AddLatestColumnToFirst--False$!$RecentWave--W2#6$!$ChartSplit--$!$IsClientDeliverable--True$!$SelectedWave--118248,115138,112550,110139,107406,105134$!$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3:41$!$AddSplitObjectsToSingleSlide--False$!$LongFilterFields--segment_1@:@IN@:@Speciality  - Gastro$$title@:@IN@:@The rep’s ability to execute a smooth interaction$!$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d1ec62e47bf9eb78eddf2119fa926000bb7150927f24fbaf75437ff8e0c1896"/>
  <p:tag name="DATAFRAMECONFIGHASH_BACKUP" val="{&quot;AggregationType&quot;:1,&quot;ColumnFields&quot;:[&quot;time_period_name&quot;,&quot;segment_1&quot;],&quot;FilterCondition&quot;:0,&quot;Filters&quot;:[{&quot;ColumnKey&quot;:&quot;segment_1&quot;,&quot;Type&quot;:1,&quot;Value&quot;:&quot;Speciality - Gastro&quot;,&quot;filterCriteria&quot;:1},{&quot;ColumnKey&quot;:&quot;title&quot;,&quot;Type&quot;:1,&quot;Value&quot;:&quot;The rep’s ability to execute a smooth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
  <p:tag name="MAPPINGCONFIG" val="{&quot;selectedColumns&quot;:[&quot;alias_label&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4.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823,10014,9519,8970,8304,7814$!$SelectedGp--wave$!$IsSorted--False$!$ChartType--Table$!$SelectedMulRolling--$!$SortedField--$!$FetchOverallData--False$!$Relative--True$!$IsAddQuestionText--False$!$StatisticsSignificance--[]$!$LiveWave--False$!$IsNonOverlapping--False$!$StatisticsSignificanceNValue--30$!$IsSplit--False$!$LastUpdate--13-05-2025 17:43:4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21599204"/>
</p:tagLst>
</file>

<file path=ppt/tags/tag255.xml><?xml version="1.0" encoding="utf-8"?>
<p:tagLst xmlns:a="http://schemas.openxmlformats.org/drawingml/2006/main" xmlns:r="http://schemas.openxmlformats.org/officeDocument/2006/relationships" xmlns:p="http://schemas.openxmlformats.org/presentationml/2006/main">
  <p:tag name="UPDATE" val="unlock"/>
  <p:tag name="VISUALISATION_ID" val="Darwin_15303734"/>
  <p:tag name="DARWINVERSION" val="CSharp"/>
  <p:tag name="STASSIGID" val="StasSigId_2450566"/>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5$!$AddSplitObjectsToSingleSlide--False$!$LongFilterFields--segment_1@:@IN@:@Speciality  - PCPs$$title@:@IN@:@The overall quality of the rep’s interaction$!$TableHeader--1$!$PivotEntry--1$!$TopNRows--0$!$IsProjectAnalysis--True$!$SelectAllColumns--True$!$PivotFilterFields--$!$IsAddLegend--False$!$xField--title,analysis_id$!$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328e5e00920e20783f14047a49a89621761cce5a755675906171e67fdecb64f"/>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The overall quality of the rep’s interaction&quot;,&quot;filterCriteria&quot;:1}],&quot;LatestColumnsFirst&quot;:false,&quot;RowFields&quot;:[&quot;title&quot;,&quot;alias_label&quot;],&quot;ValueFields&quot;:[&quot;decimal&quot;],&quot;columnDefinitions&quot;:[{&quot;Format&quot;:&quot;&quot;,&quot;Formula&quot;:&quot;&quot;,&quot;IsDefaultAlias&quot;:false,&quot;Name&quot;:&quot;title&quot;},{&quot;Format&quot;:&quot;&quot;,&quot;Formula&quot;:&quot;&quot;,&quot;IsDefaultAlias&quot;:false,&quot;Name&quot;:&quot;alias_label&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6.xml><?xml version="1.0" encoding="utf-8"?>
<p:tagLst xmlns:a="http://schemas.openxmlformats.org/drawingml/2006/main" xmlns:r="http://schemas.openxmlformats.org/officeDocument/2006/relationships" xmlns:p="http://schemas.openxmlformats.org/presentationml/2006/main">
  <p:tag name="UPDATE" val="unlock"/>
  <p:tag name="VISUALISATION_ID" val="Darwin_74405679"/>
  <p:tag name="DARWINVERSION" val="CSharp"/>
  <p:tag name="STASSIGID" val="StasSigId_30751466"/>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5$!$AddSplitObjectsToSingleSlide--False$!$LongFilterFields--segment_1@:@IN@:@Speciality  - PCPs$$title@:@IN@:@The rep’s preparedness$!$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0f5ba0ef0bdb3ab55dc8adfaf65bbb11ad2cc2549294edf3751ccec4b3e11d56"/>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The rep’s preparedn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7.xml><?xml version="1.0" encoding="utf-8"?>
<p:tagLst xmlns:a="http://schemas.openxmlformats.org/drawingml/2006/main" xmlns:r="http://schemas.openxmlformats.org/officeDocument/2006/relationships" xmlns:p="http://schemas.openxmlformats.org/presentationml/2006/main">
  <p:tag name="UPDATE" val="unlock"/>
  <p:tag name="VISUALISATION_ID" val="Darwin_84127352"/>
  <p:tag name="DARWINVERSION" val="CSharp"/>
  <p:tag name="STASSIGID" val="StasSigId_38088015"/>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5$!$AddSplitObjectsToSingleSlide--False$!$LongFilterFields--segment_1@:@IN@:@Speciality  - PCPs$$title@:@IN@:@The rep’s understanding of insurance and access$!$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477fd207df0b48a1b1b97fa4fecc1b0067914338ab09f003057f5788c73a92e5"/>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The rep’s understanding of insurance and acc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8.xml><?xml version="1.0" encoding="utf-8"?>
<p:tagLst xmlns:a="http://schemas.openxmlformats.org/drawingml/2006/main" xmlns:r="http://schemas.openxmlformats.org/officeDocument/2006/relationships" xmlns:p="http://schemas.openxmlformats.org/presentationml/2006/main">
  <p:tag name="UPDATE" val="unlock"/>
  <p:tag name="VISUALISATION_ID" val="Darwin_13733880"/>
  <p:tag name="DARWINVERSION" val="CSharp"/>
  <p:tag name="STASSIGID" val="StasSigId_53594741"/>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5$!$AddSplitObjectsToSingleSlide--False$!$LongFilterFields--segment_1@:@IN@:@Speciality  - PCPs$$title@:@IN@:@How well the rep performed in providing a compelling reason to prescribe CREON$!$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caa2344fd27d67be2f0a155b1b99093d2cfeb333a463d8edf219f8f5e88e3aa"/>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How well the rep performed in providing a compelling reason to prescribe CRE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59.xml><?xml version="1.0" encoding="utf-8"?>
<p:tagLst xmlns:a="http://schemas.openxmlformats.org/drawingml/2006/main" xmlns:r="http://schemas.openxmlformats.org/officeDocument/2006/relationships" xmlns:p="http://schemas.openxmlformats.org/presentationml/2006/main">
  <p:tag name="UPDATE" val="unlock"/>
  <p:tag name="VISUALISATION_ID" val="Darwin_47784928"/>
  <p:tag name="DARWINVERSION" val="CSharp"/>
  <p:tag name="STASSIGID" val="StasSigId_90855100"/>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5$!$AddSplitObjectsToSingleSlide--False$!$LongFilterFields--segment_1@:@IN@:@Speciality  - PCPs$$title@:@IN@:@The rep’s knowledge of the product being discussed$!$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a4dec50bb924b3bc11b5f73f66e32497ffeb68b3583acc5c4afcb2c10f2856f"/>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The rep’s knowledge of the product being discussed&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0.xml><?xml version="1.0" encoding="utf-8"?>
<p:tagLst xmlns:a="http://schemas.openxmlformats.org/drawingml/2006/main" xmlns:r="http://schemas.openxmlformats.org/officeDocument/2006/relationships" xmlns:p="http://schemas.openxmlformats.org/presentationml/2006/main">
  <p:tag name="UPDATE" val="unlock"/>
  <p:tag name="VISUALISATION_ID" val="Darwin_41645900"/>
  <p:tag name="DARWINVERSION" val="CSharp"/>
  <p:tag name="STASSIGID" val="StasSigId_38551702"/>
  <p:tag name="SYNQRY" val="SYNQRY#1#$$!$FileVersion--1.6.5.7$!$IsAlias--True$!$Project--523$!$IsNestedSegments--True$!$ProjectSegmentIDs--$!$Survey--482371$!$Requir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analysis_id@:@analysis_id@:@@:@$$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4:27$!$AddSplitObjectsToSingleSlide--False$!$LongFilterFields--segment_1@:@IN@:@Speciality  - PCPs$$title@:@IN@:@The rep’s ability to execute a smooth interaction$!$TableHeader--1$!$PivotEntry--1$!$TopNRows--0$!$IsProjectAnalysis--True$!$SelectAllColumns--True$!$PivotFilterFields--$!$IsAddLegend--False$!$xField--analysis_id,title$!$Status--Create:Success$!$yField--segment_0,segment_1$!$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76f3e360120bd08e6ef9ca00919082b483fe2f9809240cf806eb7dd046e516a"/>
  <p:tag name="DATAFRAMECONFIGHASH_BACKUP" val="{&quot;AggregationType&quot;:1,&quot;ColumnFields&quot;:[&quot;time_period_name&quot;,&quot;segment_1&quot;],&quot;FilterCondition&quot;:0,&quot;Filters&quot;:[{&quot;ColumnKey&quot;:&quot;segment_1&quot;,&quot;Type&quot;:1,&quot;Value&quot;:&quot;Speciality - PCPs&quot;,&quot;filterCriteria&quot;:1},{&quot;ColumnKey&quot;:&quot;title&quot;,&quot;Type&quot;:1,&quot;Value&quot;:&quot;The rep’s ability to execute a smooth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
  <p:tag name="MAPPINGCONFIG" val="{&quot;selectedColumns&quot;:[&quot;alias_label&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1.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823,10014,9519,8970,8304,7814$!$SelectedGp--wave$!$IsSorted--False$!$ChartType--Table$!$SelectedMulRolling--$!$SortedField--$!$FetchOverallData--False$!$Relative--True$!$IsAddQuestionText--False$!$StatisticsSignificance--[]$!$LiveWave--False$!$IsNonOverlapping--False$!$StatisticsSignificanceNValue--30$!$IsSplit--False$!$LastUpdate--13-05-2025 17:43:4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48629116"/>
</p:tagLst>
</file>

<file path=ppt/tags/tag262.xml><?xml version="1.0" encoding="utf-8"?>
<p:tagLst xmlns:a="http://schemas.openxmlformats.org/drawingml/2006/main" xmlns:r="http://schemas.openxmlformats.org/officeDocument/2006/relationships" xmlns:p="http://schemas.openxmlformats.org/presentationml/2006/main">
  <p:tag name="NON_CONNECTED_SHAPE_ID" val="87258144"/>
  <p:tag name="UPDATE" val="unlock"/>
</p:tagLst>
</file>

<file path=ppt/tags/tag263.xml><?xml version="1.0" encoding="utf-8"?>
<p:tagLst xmlns:a="http://schemas.openxmlformats.org/drawingml/2006/main" xmlns:r="http://schemas.openxmlformats.org/officeDocument/2006/relationships" xmlns:p="http://schemas.openxmlformats.org/presentationml/2006/main">
  <p:tag name="UPDATE" val="unlock"/>
  <p:tag name="DARWINVERSION" val="CSharp"/>
  <p:tag name="VISUALISATION_ID" val="Darwin_43596952"/>
  <p:tag name="STASSIGID" val="StasSigId_54319189"/>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18$!$AddSplitObjectsToSingleSlide--False$!$LongFilterFields--segment_1@:@IN@:@Speciality  - NP/PA$$title@:@IN@:@The overall quality of the rep’s interaction$!$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dfedb1e8329c8d749134e72dc57d6ee0ea9e8233c056892ef979c1506c8013f"/>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overall quality of the rep’s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4.xml><?xml version="1.0" encoding="utf-8"?>
<p:tagLst xmlns:a="http://schemas.openxmlformats.org/drawingml/2006/main" xmlns:r="http://schemas.openxmlformats.org/officeDocument/2006/relationships" xmlns:p="http://schemas.openxmlformats.org/presentationml/2006/main">
  <p:tag name="UPDATE" val="unlock"/>
  <p:tag name="VISUALISATION_ID" val="Darwin_57245001"/>
  <p:tag name="DARWINVERSION" val="CSharp"/>
  <p:tag name="STASSIGID" val="StasSigId_22173703"/>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18$!$AddSplitObjectsToSingleSlide--False$!$LongFilterFields--segment_1@:@IN@:@Speciality  - NP/PA$$title@:@IN@:@The rep’s preparedness$!$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10586e54f18d7c96f68dd3c78eeac51768578f4301bc93b9aa3f7244b73b904"/>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rep’s preparedn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5.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44013582"/>
  <p:tag name="STASSIGID" val="StasSigId_13023409"/>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18$!$AddSplitObjectsToSingleSlide--False$!$LongFilterFields--segment_1@:@IN@:@Speciality  - NP/PA$$title@:@IN@:@The rep’s understanding of insurance and access$!$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413a3e3345f3c1c42dcef9f8b5a10bb1a30753b8d5eb451376659c78b630835a"/>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rep’s understanding of insurance and access&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6.xml><?xml version="1.0" encoding="utf-8"?>
<p:tagLst xmlns:a="http://schemas.openxmlformats.org/drawingml/2006/main" xmlns:r="http://schemas.openxmlformats.org/officeDocument/2006/relationships" xmlns:p="http://schemas.openxmlformats.org/presentationml/2006/main">
  <p:tag name="UPDATE" val="unlock"/>
  <p:tag name="VISUALISATION_ID" val="Darwin_86284363"/>
  <p:tag name="DARWINVERSION" val="CSharp"/>
  <p:tag name="STASSIGID" val="StasSigId_71875289"/>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18$!$AddSplitObjectsToSingleSlide--False$!$LongFilterFields--segment_1@:@IN@:@Speciality  - NP/PA$$title@:@IN@:@How well the rep performed in providing a compelling reason to prescribe CREON$!$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9133df990232aa5ecfae3b9f95ecb202da6b9758758cbd265462d52a463dd7f"/>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How well the rep performed in providing a compelling reason to prescribe CRE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7.xml><?xml version="1.0" encoding="utf-8"?>
<p:tagLst xmlns:a="http://schemas.openxmlformats.org/drawingml/2006/main" xmlns:r="http://schemas.openxmlformats.org/officeDocument/2006/relationships" xmlns:p="http://schemas.openxmlformats.org/presentationml/2006/main">
  <p:tag name="UPDATE" val="unlock"/>
  <p:tag name="VISUALISATION_ID" val="Darwin_85419036"/>
  <p:tag name="DARWINVERSION" val="CSharp"/>
  <p:tag name="STASSIGID" val="StasSigId_22458989"/>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18$!$AddSplitObjectsToSingleSlide--False$!$LongFilterFields--segment_1@:@IN@:@Speciality  - NP/PA$$title@:@IN@:@The rep’s knowledge of the product being discussed$!$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ea090f7eb272810c071cfc0b8892bef4f919a8841de7095bf01693d284effe2"/>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rep’s knowledge of the product being discussed&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8.xml><?xml version="1.0" encoding="utf-8"?>
<p:tagLst xmlns:a="http://schemas.openxmlformats.org/drawingml/2006/main" xmlns:r="http://schemas.openxmlformats.org/officeDocument/2006/relationships" xmlns:p="http://schemas.openxmlformats.org/presentationml/2006/main">
  <p:tag name="UPDATE" val="unlock"/>
  <p:tag name="VISUALISATION_ID" val="Darwin_28209387"/>
  <p:tag name="DARWINVERSION" val="CSharp"/>
  <p:tag name="STASSIGID" val="StasSigId_72227514"/>
  <p:tag name="SYNQRY" val="SYNQRY#1#$$!$FileVersion--1.6.5.7$!$IsAlias--True$!$Project--523$!$IsNestedSegments--True$!$ProjectSegmentIDs--$!$Survey--482371$!$Requir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LongFilterCondition--AND$!$Metric--none$!$SelectedColumns--analysis_id@:@analysis_id@:@@:@$$title@:@title@:@@:@$$Speciality  - NP/PA - W27@:@Speciality  - NP/PA - W27@:@0%@:@$$Speciality  - NP/PA - W28@:@Speciality  - NP/PA - W28@:@0%@:@$$Speciality  - NP/PA - W29@:@Speciality  - NP/PA - W29@:@0%@:@$$Speciality  - NP/PA - W30@:@Speciality  - NP/PA - W30@:@0%@:@$$Speciality  - NP/PA - W31@:@Speciality  - NP/PA - W31@:@0%@:@$$Speciality  - NP/PA - W32@:@Speciality  - NP/PA - W32@:@0%@:@$!$PivotFilterCondition--AND$!$Analysis--1863$!$SelectedRows--ALL$!$AddLatestColumnToFirst--False$!$RecentWave--W2#6$!$ChartSplit--$!$IsClientDeliverable--True$!$SelectedWave--120937,118248,115138,112550,110139,107406$!$Transpose--True$!$ClientDeliverableID--96$!$SelectedSeg--13325$!$IsOverlapping--False$!$ClientDeliverableSegmentIDs--14251,13101,12140,11580,10823,10014$!$SelectedGp--wave$!$IsSorted--False$!$ChartType--Line$!$SelectedMulRolling--$!$SortedField--$!$FetchOverallData--False$!$Relative--True$!$IsAddQuestionText--False$!$StatisticsSignificance--[]$!$LiveWave--False$!$IsNonOverlapping--False$!$StatisticsSignificanceNValue--30$!$IsSplit--False$!$LastUpdate--27-01-2026 13:15:21$!$AddSplitObjectsToSingleSlide--False$!$LongFilterFields--segment_1@:@IN@:@Speciality  - NP/PA$$title@:@IN@:@The rep’s ability to execute a smooth interaction$!$TableHeader--1$!$PivotEntry--1$!$TopNRows--0$!$IsProjectAnalysis--True$!$SelectAllColumns--True$!$PivotFilterFields--$!$IsAddLegend--False$!$xField--analysis_id,title$!$Status--Create:Success$!$yField--segment_1,segment_0$!$MoveFirst--$!$vField--decimal$!$MoveLast--$!$fnField--Average"/>
  <p:tag name="REPORTCONFIGHASH" val="e9952114cd3a7dcb110630a8f9deccc77efaa34458d3c8319481de3e22c17a2a"/>
  <p:tag name="REPORTCONFIGHASH_BACKUP" val="{&quot;AnalysisIds&quot;:[65178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fbfceb8030702c12215b8ea8e581d2abefebdb1f6d806ca88e0da7fd1b2c7c43"/>
  <p:tag name="DATAFRAMECONFIGHASH_BACKUP" val="{&quot;AggregationType&quot;:1,&quot;ColumnFields&quot;:[&quot;segment_1&quot;,&quot;time_period_name&quot;],&quot;FilterCondition&quot;:0,&quot;Filters&quot;:[{&quot;ColumnKey&quot;:&quot;segment_1&quot;,&quot;Type&quot;:1,&quot;Value&quot;:&quot;Speciality - NP/PA&quot;,&quot;filterCriteria&quot;:1},{&quot;ColumnKey&quot;:&quot;title&quot;,&quot;Type&quot;:1,&quot;Value&quot;:&quot;The rep’s ability to execute a smooth interaction&quot;,&quot;filterCriteria&quot;:1}],&quot;LatestColumnsFirst&quot;:false,&quot;RowFields&quot;:[&quot;alias_label&quot;,&quot;title&quot;],&quot;ValueFields&quot;:[&quot;decimal&quot;],&quot;columnDefinitions&quot;:[{&quot;Format&quot;:&quot;&quot;,&quot;Formula&quot;:&quot;&quot;,&quot;IsDefaultAlias&quot;:false,&quot;Name&quot;:&quot;alias_label&quot;},{&quot;Format&quot;:&quot;&quot;,&quot;Formula&quot;:&quot;&quot;,&quot;IsDefaultAlias&quot;:false,&quot;Name&quot;:&quot;title&quot;},{&quot;Format&quot;:&quot;0%&quot;,&quot;Formula&quot;:&quot;&quot;,&quot;IsDefaultAlias&quot;:false,&quot;Name&quot;:&quot;Speciality - NP/PA - W28&quot;},{&quot;Format&quot;:&quot;0%&quot;,&quot;Formula&quot;:&quot;&quot;,&quot;IsDefaultAlias&quot;:false,&quot;Name&quot;:&quot;Speciality - NP/PA - W29&quot;},{&quot;Format&quot;:&quot;0%&quot;,&quot;Formula&quot;:&quot;&quot;,&quot;IsDefaultAlias&quot;:false,&quot;Name&quot;:&quot;Speciality - NP/PA - W30&quot;},{&quot;Format&quot;:&quot;0%&quot;,&quot;Formula&quot;:&quot;&quot;,&quot;IsDefaultAlias&quot;:false,&quot;Name&quot;:&quot;Speciality - NP/PA - W31&quot;},{&quot;Format&quot;:&quot;0%&quot;,&quot;Formula&quot;:&quot;&quot;,&quot;IsDefaultAlias&quot;:false,&quot;Name&quot;:&quot;Speciality - NP/PA - W32&quot;},{&quot;Format&quot;:&quot;0%&quot;,&quot;Formula&quot;:&quot;&quot;,&quot;IsDefaultAlias&quot;:false,&quot;Name&quot;:&quot;Speciality - NP/PA - Jan-Feb 2026&quot;}]}"/>
  <p:tag name="MAPPINGCONFIG" val="{&quot;selectedColumns&quot;:[&quot;alias_label&quot;,&quot;title&quot;,&quot;Speciality - NP/PA - W28&quot;,&quot;Speciality - NP/PA - W29&quot;,&quot;Speciality - NP/PA - W30&quot;,&quot;Speciality - NP/PA - W31&quot;,&quot;Speciality - NP/PA - W32&quot;,&quot;Speciality - NP/PA - Jan-Feb 2026&quot;],&quot;selectedRows&quot;:[],&quot;selectAllRows&quot;:true,&quot;addQuestionText&quot;:false,&quot;applyTranspose&quot;:tru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269.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823,10014,9519,8970,8304,7814$!$SelectedGp--wave$!$IsSorted--False$!$ChartType--Table$!$SelectedMulRolling--$!$SortedField--$!$FetchOverallData--False$!$Relative--True$!$IsAddQuestionText--False$!$StatisticsSignificance--[]$!$LiveWave--False$!$IsNonOverlapping--False$!$StatisticsSignificanceNValue--30$!$IsSplit--False$!$LastUpdate--13-05-2025 17:43:4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37938367"/>
</p:tagLst>
</file>

<file path=ppt/tags/tag270.xml><?xml version="1.0" encoding="utf-8"?>
<p:tagLst xmlns:a="http://schemas.openxmlformats.org/drawingml/2006/main" xmlns:r="http://schemas.openxmlformats.org/officeDocument/2006/relationships" xmlns:p="http://schemas.openxmlformats.org/presentationml/2006/main">
  <p:tag name="NON_CONNECTED_SHAPE_ID" val="87258144"/>
  <p:tag name="UPDATE" val="unlock"/>
</p:tagLst>
</file>

<file path=ppt/tags/tag271.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VISUALISATION_ID" val="Darwin_39279324"/>
  <p:tag name="FAILEDREFRESHICONID" val="Darwin_30790436"/>
  <p:tag name="STASSIGID" val="StasSigId_17947069"/>
  <p:tag name="REPORTCONFIGHASH" val="f37fb54163bc097905823f77cc881376f456dde11dcd9de14a60330257d4c6ca"/>
  <p:tag name="REPORTCONFIGHASH_BACKUP" val="{&quot;AnalysisIds&quot;:[641432],&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695b701d293ad3645d4cb877637788cc10de7c10d2e4f1d4a281cb31b03c68f7"/>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AbbVie&quot;},{&quot;Format&quot;:&quot;0%&quot;,&quot;IsDefaultAlias&quot;:true,&quot;Name&quot;:&quot;Digestive Care, Inc&quot;},{&quot;Format&quot;:&quot;0%&quot;,&quot;IsDefaultAlias&quot;:true,&quot;Name&quot;:&quot;Nestlé Health Science&quot;},{&quot;Format&quot;:&quot;0%&quot;,&quot;IsDefaultAlias&quot;:true,&quot;Name&quot;:&quot;Vivus&quot;}]}"/>
  <p:tag name="MAPPINGCONFIG" val="{&quot;selectedColumns&quot;:[&quot;time_period_name&quot;,&quot;AbbVie&quot;,&quot;Digestive Care, Inc&quot;,&quot;Nestlé Health Science&quot;,&quot;Vivus&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4:08:03.5035246+05:30"/>
  <p:tag name="COLUMNKEYLABELMAP" val="{&quot;time_period_name&quot;:&quot;Deliverable&quot;,&quot;y_code&quot;:&quot;Code&quot;,&quot;y_label&quot;:&quot;SubQ&quot;,&quot;measure&quot;:&quot;Measure&quot;,&quot;base&quot;:&quot;Base&quot;,&quot;count&quot;:&quot;Count&quot;,&quot;respondents&quot;:&quot;Respondents&quot;,&quot;decimal&quot;:&quot;Value(%)&quot;}"/>
  <p:tag name="ANALYSISTYPE" val="SINGLE_QUESTION"/>
</p:tagLst>
</file>

<file path=ppt/tags/tag272.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73.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4437038"/>
  <p:tag name="FAILEDREFRESHICONID" val="Darwin_4437038"/>
  <p:tag name="STASSIGID" val="StasSigId_10406828"/>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I consider the Company rep a \&quot;Best in Class\&quot; sales representative. @:@ CREON&quot;,&quot;I consider the Company rep a \&quot;Best in Class\&quot; sales representativ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16:47.9733833+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4.xml><?xml version="1.0" encoding="utf-8"?>
<p:tagLst xmlns:a="http://schemas.openxmlformats.org/drawingml/2006/main" xmlns:r="http://schemas.openxmlformats.org/officeDocument/2006/relationships" xmlns:p="http://schemas.openxmlformats.org/presentationml/2006/main">
  <p:tag name="NON_CONNECTED_SHAPE_ID" val="93882655"/>
  <p:tag name="DARWINVERSION" val="CSharp"/>
  <p:tag name="UPDATE" val="unlock"/>
  <p:tag name="VISUALISATION_ID" val="Darwin_7809901"/>
  <p:tag name="FAILEDREFRESHICONID" val="Darwin_7809901"/>
  <p:tag name="STASSIGID" val="StasSigId_45245933"/>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Company is focused on exocrine pancreatic insufficiency (EPI) patients (e.g., offers patient-focused programs for financial support, treatment logistics, disease education, peer network building, etc.) @:@ CREON&quot;,&quot;Company is focused on exocrine pancreatic insufficiency (EPI) patients (e.g., offers patient-focused programs for financial support, treatment logistics, disease education, peer network building, etc.)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19:10.8249356+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5.xml><?xml version="1.0" encoding="utf-8"?>
<p:tagLst xmlns:a="http://schemas.openxmlformats.org/drawingml/2006/main" xmlns:r="http://schemas.openxmlformats.org/officeDocument/2006/relationships" xmlns:p="http://schemas.openxmlformats.org/presentationml/2006/main">
  <p:tag name="GROUPID" val="Group_88816291"/>
  <p:tag name="UPDATE" val="unlock"/>
  <p:tag name="DARWINVERSION" val="CSharp"/>
  <p:tag name="VISUALISATION_ID" val="Darwin_93723991"/>
  <p:tag name="FAILEDREFRESHICONID" val="Darwin_93723991"/>
  <p:tag name="STASSIGID" val="StasSigId_40617627"/>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Company reps provide better support than the average exocrine pancreatic insufficiency (EPI) rep @:@ CREON&quot;,&quot;Company reps provide better support than the average exocrine pancreatic insufficiency (EPI) rep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17:57.4024487+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6.xml><?xml version="1.0" encoding="utf-8"?>
<p:tagLst xmlns:a="http://schemas.openxmlformats.org/drawingml/2006/main" xmlns:r="http://schemas.openxmlformats.org/officeDocument/2006/relationships" xmlns:p="http://schemas.openxmlformats.org/presentationml/2006/main">
  <p:tag name="NON_CONNECTED_SHAPE_ID" val="51454501"/>
  <p:tag name="DARWINVERSION" val="CSharp"/>
  <p:tag name="UPDATE" val="unlock"/>
  <p:tag name="VISUALISATION_ID" val="Darwin_57426599"/>
  <p:tag name="FAILEDREFRESHICONID" val="Darwin_57426599"/>
  <p:tag name="STASSIGID" val="StasSigId_38544029"/>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Company offers innovative and differentiating exocrine pancreatic insufficiency (EPI) therapies @:@ CREON&quot;,&quot;Company offers innovative and differentiating exocrine pancreatic insufficiency (EPI) therapies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20:01.9754105+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7.xml><?xml version="1.0" encoding="utf-8"?>
<p:tagLst xmlns:a="http://schemas.openxmlformats.org/drawingml/2006/main" xmlns:r="http://schemas.openxmlformats.org/officeDocument/2006/relationships" xmlns:p="http://schemas.openxmlformats.org/presentationml/2006/main">
  <p:tag name="NON_CONNECTED_SHAPE_ID" val="48119955"/>
  <p:tag name="UPDATE" val="unlock"/>
  <p:tag name="DARWINVERSION" val="CSharp"/>
  <p:tag name="VISUALISATION_ID" val="Darwin_63492180"/>
  <p:tag name="FAILEDREFRESHICONID" val="Darwin_63492180"/>
  <p:tag name="STASSIGID" val="StasSigId_96498305"/>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Company is focused on affordability and access (e.g., offers reimbursement support programs, product pricing reflects value, products are well-covered by insurers, etc.) @:@ CREON&quot;,&quot;Company is focused on affordability and access (e.g., offers reimbursement support programs, product pricing reflects value, products are well-covered by insurers, etc.)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19:36.0733576+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8.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81616431"/>
  <p:tag name="FAILEDREFRESHICONID" val="Darwin_81616431"/>
  <p:tag name="STASSIGID" val="StasSigId_46780451"/>
  <p:tag name="MIGRATIONPHASE" val="Phase0"/>
  <p:tag name="REPORTCONFIGHASH" val="f743c2dcd411e96dfce832bf2ba1533d0a20c4017d9d092344e63a9d9628d78f"/>
  <p:tag name="REPORTCONFIGHASH_BACKUP" val="{&quot;AnalysisIds&quot;:[690483],&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c8b33c79da3c5d4691b01a49efbea6e6791f09ae5015efb3bac8d875017887c6"/>
  <p:tag name="DATAFRAMECONFIGHASH_BACKUP" val="{&quot;AggregationType&quot;:0,&quot;ColumnFields&quot;:[&quot;y_label&quot;,&quot;alias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ompany is a leader in the exocrine pancreatic insufficiency (EPI) space. @:@ CREON&quot;},{&quot;Format&quot;:&quot;0%&quot;,&quot;IsDefaultAlias&quot;:true,&quot;Name&quot;:&quot;Company is a leader in the exocrine pancreatic insufficiency (EPI) space. @:@ ZENPEP&quot;},{&quot;Format&quot;:&quot;0%&quot;,&quot;IsDefaultAlias&quot;:true,&quot;Name&quot;:&quot;Company is focused on affordability and access (e.g., offers reimbursement support programs, product pricing reflects value, products are well-covered by insurers, etc.) @:@ CREON&quot;},{&quot;Format&quot;:&quot;0%&quot;,&quot;IsDefaultAlias&quot;:true,&quot;Name&quot;:&quot;Company is focused on affordability and access (e.g., offers reimbursement support programs, product pricing reflects value, products are well-covered by insurers, etc.) @:@ ZENPEP&quot;},{&quot;Format&quot;:&quot;0%&quot;,&quot;IsDefaultAlias&quot;:true,&quot;Name&quot;:&quot;Company is focused on exocrine pancreatic insufficiency (EPI) patients (e.g., offers patient-focused programs for financial support, treatment logistics, disease education, peer network building, etc.) @:@ CREON&quot;},{&quot;Format&quot;:&quot;0%&quot;,&quot;IsDefaultAlias&quot;:true,&quot;Name&quot;:&quot;Company is focused on exocrine pancreatic insufficiency (EPI) patients (e.g., offers patient-focused programs for financial support, treatment logistics, disease education, peer network building, etc.) @:@ ZENPEP&quot;},{&quot;Format&quot;:&quot;0%&quot;,&quot;IsDefaultAlias&quot;:true,&quot;Name&quot;:&quot;Company offers innovative and differentiating exocrine pancreatic insufficiency (EPI) therapies @:@ CREON&quot;},{&quot;Format&quot;:&quot;0%&quot;,&quot;IsDefaultAlias&quot;:true,&quot;Name&quot;:&quot;Company offers innovative and differentiating exocrine pancreatic insufficiency (EPI) therapies @:@ ZENPEP&quot;},{&quot;Format&quot;:&quot;0%&quot;,&quot;IsDefaultAlias&quot;:true,&quot;Name&quot;:&quot;Company reps provide better support than the average exocrine pancreatic insufficiency (EPI) rep @:@ CREON&quot;},{&quot;Format&quot;:&quot;0%&quot;,&quot;IsDefaultAlias&quot;:true,&quot;Name&quot;:&quot;Company reps provide better support than the average exocrine pancreatic insufficiency (EPI) rep @:@ ZENPEP&quot;},{&quot;Format&quot;:&quot;0%&quot;,&quot;IsDefaultAlias&quot;:true,&quot;Name&quot;:&quot;I consider the Company rep a \&quot;Best in Class\&quot; sales representative. @:@ CREON&quot;},{&quot;Format&quot;:&quot;0%&quot;,&quot;IsDefaultAlias&quot;:true,&quot;Name&quot;:&quot;I consider the Company rep a \&quot;Best in Class\&quot; sales representative. @:@ ZENPEP&quot;}]}"/>
  <p:tag name="MAPPINGCONFIG" val="{&quot;selectedColumns&quot;:[&quot;time_period_name&quot;,&quot;Company is a leader in the exocrine pancreatic insufficiency (EPI) space. @:@ CREON&quot;,&quot;Company is a leader in the exocrine pancreatic insufficiency (EPI) space. @:@ 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17:17.2132774+05:30"/>
  <p:tag name="COLUMNKEYLABELMAP" val="{&quot;time_period_name&quot;:&quot;Deliverable&quot;,&quot;alias_label&quot;:&quot;Analysis&quot;,&quot;measure&quot;:&quot;Measure&quot;,&quot;y_label&quot;:&quot;Code_Y&quot;,&quot;base&quot;:&quot;Base&quot;,&quot;count&quot;:&quot;Count&quot;,&quot;respondents&quot;:&quot;Respondents&quot;,&quot;decimal&quot;:&quot;Value(%)&quot;}"/>
  <p:tag name="ANALYSISTYPE" val="MULTI_QUESTION"/>
</p:tagLst>
</file>

<file path=ppt/tags/tag279.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80.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7625230"/>
  <p:tag name="VISUALISATION_ID" val="Darwin_12214506"/>
  <p:tag name="SYNQRY" val="SYNQRY#1#$$!$FileVersion--1.4.0$!$IsAlias--True$!$Project--523$!$IsNestedSegments--True$!$ProjectSegmentIDs--$!$Survey--396851$!$RequiredColumns--title@:@title@:@@:@$$Wave 30@:@Wave 30@:@@:@$!$LongFilterCondition--AND$!$Metric--none$!$SelectedColumns--title@:@title@:@@:@$!$PivotFilterCondition--AND$!$Analysis--2493$!$SelectedRows--ALL$!$AddLatestColumnToFirst--False$!$RecentWave--W2#1$!$ChartSplit--$!$IsClientDeliverable--False$!$SelectedWave--121477$!$Transpose--False$!$ClientDeliverableID--$!$SelectedSeg--$!$IsOverlapping--False$!$ClientDeliverableSegmentIDs--$!$SelectedGp--wave$!$IsSorted--True$!$ChartType--Table$!$SelectedMulRolling--$!$SortedField--Wave 30$$Descending$$$!$FetchOverallData--False$!$Relative--True$!$IsAddQuestionText--False$!$StatisticsSignificance--[]$!$LiveWave--True$!$IsNonOverlapping--False$!$StatisticsSignificanceNValue--30$!$IsSplit--False$!$LastUpdate--14-07-2025 13:41:21$!$AddSplitObjectsToSingleSlide--False$!$LongFilterFields--analysis_id@:@LIKE@:@CREON$!$TableHeader--2$!$PivotEntry--1$!$TopNRows--0$!$IsProjectAnalysis--True$!$SelectAllColumns--False$!$PivotFilterFields--$!$IsAddLegend--False$!$xField--title$!$Status--Create:Success$!$yField--segment_0$!$MoveFirst--$!$vField--decimal$!$MoveLast--$!$fnField--Average"/>
  <p:tag name="UPDATE" val="lock"/>
</p:tagLst>
</file>

<file path=ppt/tags/tag28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63568346"/>
  <p:tag name="FAILEDREFRESHICONID" val="Darwin_63568346"/>
  <p:tag name="STASSIGID" val="StasSigId_98390273"/>
  <p:tag name="MIGRATIONPHASE" val="Phase0"/>
  <p:tag name="REPORTCONFIGHASH" val="85eab2d3af3711885ee4064f5f53f2b07bc64cacb0d410fe39542e2c5d2da981"/>
  <p:tag name="REPORTCONFIGHASH_BACKUP" val="{&quot;AnalysisIds&quot;:[690503],&quot;DynamicTimePeriod&quot;:{&quot;IncludeLiveWave&quot;:false,&quot;LatestNDeliverables&quot;:1},&quot;IncludeAlias&quot;:true,&quot;IncludeOverallSegment&quot;:true,&quot;NestSegments&quot;:false,&quot;ProjectId&quot;:523,&quot;ReportingPlanId&quot;:1143,&quot;RollUpDeliverables&quot;:false,&quot;SegmentIds&quot;:[],&quot;SurveyId&quot;:396851,&quot;TimePeriodType&quot;:1}"/>
  <p:tag name="DATAFRAMECONFIGHASH" val="631fa6c1d260acf5a464a2bea45efbf2cad4f732567a038d3f2e5f2b6a5a0e96"/>
  <p:tag name="DATAFRAMECONFIGHASH_BACKUP" val="{&quot;AggregationType&quot;:0,&quot;ColumnFields&quot;:[&quot;time_period_name&quot;],&quot;FilterCondition&quot;:0,&quot;Filters&quot;:[],&quot;LatestColumnsFirst&quot;:false,&quot;RowFields&quot;:[&quot;y_label&quot;],&quot;ValueFields&quot;:[&quot;decimal&quot;],&quot;columnDefinitions&quot;:[{&quot;IsDefaultAlias&quot;:true,&quot;Name&quot;:&quot;y_label&quot;},{&quot;Format&quot;:&quot;0%&quot;,&quot;IsDefaultAlias&quot;:true,&quot;Name&quot;:&quot;Mar'26&quot;,&quot;sortCriteria&quot;:{&quot;CustomList&quot;:[],&quot;Level&quot;:1,&quot;Order&quot;:1}}]}"/>
  <p:tag name="MAPPINGCONFIG" val="{&quot;selectedColumns&quot;:[&quot;y_label&quot;,&quot;Mar'26&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5:59:26.2723040+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2.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VISUALISATION_ID" val="Darwin_1541995"/>
  <p:tag name="MIGRATIONPHASE" val="Phase0"/>
  <p:tag name="REPORTCONFIGHASH" val="85eab2d3af3711885ee4064f5f53f2b07bc64cacb0d410fe39542e2c5d2da981"/>
  <p:tag name="REPORTCONFIGHASH_BACKUP" val="{&quot;AnalysisIds&quot;:[690503],&quot;DynamicTimePeriod&quot;:{&quot;IncludeLiveWave&quot;:false,&quot;LatestNDeliverables&quot;:1},&quot;IncludeAlias&quot;:true,&quot;IncludeOverallSegment&quot;:true,&quot;NestSegments&quot;:false,&quot;ProjectId&quot;:523,&quot;ReportingPlanId&quot;:1143,&quot;RollUpDeliverables&quot;:false,&quot;SegmentIds&quot;:[],&quot;SurveyId&quot;:396851,&quot;TimePeriodType&quot;:1}"/>
  <p:tag name="DATAFRAMECONFIGHASH" val="631fa6c1d260acf5a464a2bea45efbf2cad4f732567a038d3f2e5f2b6a5a0e96"/>
  <p:tag name="DATAFRAMECONFIGHASH_BACKUP" val="{&quot;AggregationType&quot;:0,&quot;ColumnFields&quot;:[&quot;time_period_name&quot;],&quot;FilterCondition&quot;:0,&quot;Filters&quot;:[],&quot;LatestColumnsFirst&quot;:false,&quot;RowFields&quot;:[&quot;y_label&quot;],&quot;ValueFields&quot;:[&quot;decimal&quot;],&quot;columnDefinitions&quot;:[{&quot;IsDefaultAlias&quot;:true,&quot;Name&quot;:&quot;y_label&quot;},{&quot;Format&quot;:&quot;0%&quot;,&quot;IsDefaultAlias&quot;:true,&quot;Name&quot;:&quot;Mar'26&quot;,&quot;sortCriteria&quot;:{&quot;CustomList&quot;:[],&quot;Level&quot;:1,&quot;Order&quot;:1}}]}"/>
  <p:tag name="MAPPINGCONFIG" val="{&quot;selectedColumns&quot;:[&quot;y_label&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1,&quot;insertEmptyColumnsAt&quot;:null,&quot;moveRowsToFirst&quot;:[],&quot;moveRowsToLast&quot;:[]}"/>
  <p:tag name="LASTREFRESHTIME" val="2026-04-17T15:56:37.0052027+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3.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1.3.2$!$IsAlias--True$!$Project--523$!$IsNestedSegments--True$!$ProjectSegmentIDs--$!$Survey--396851$!$RequiredColumns--value@:@value@:@@:@$$Sep-Oct 2023@:@Sep-Oct 2023@:@0%@:@$!$LongFilterCondition--AND$!$Metric--$!$SelectedColumns--value@:@value@:@@:@$!$PivotFilterCondition--AND$!$Analysis--352341$!$SelectedRows--ALL$!$AddLatestColumnToFirst--False$!$RecentWave--W2#1$!$ChartSplit--$!$IsClientDeliverable--True$!$SelectedWave--84177$!$Transpose--False$!$ClientDeliverableID--96$!$SelectedSeg--$!$IsOverlapping--False$!$ClientDeliverableSegmentIDs--6530$!$SelectedGp--wave$!$IsSorted--True$!$ChartType--Table$!$SelectedMulRolling--$!$SortedField--value$$Descending$$$!$FetchOverallData--False$!$Relative--True$!$IsAddQuestionText--False$!$StatisticsSignificance--[]$!$LiveWave--False$!$IsNonOverlapping--False$!$StatisticsSignificanceNValue--30$!$IsSplit--False$!$LastUpdate--21-01-2024 19:58:32$!$LongFilterFields--$!$TableHeader--2$!$PivotEntry--1$!$TopNRows--0$!$IsProjectAnalysis--False$!$SelectAllColumns--False$!$PivotFilterFields--$!$IsAddLegend--False$!$xField--value$!$Status--Create:Success$!$yField--segment_0$!$MoveFirst--$!$vField--decimal$!$MoveLast--$!$fnField--Average"/>
  <p:tag name="VISUALISATION_ID" val="Darwin_45490128"/>
  <p:tag name="FAILEDREFRESHICONID" val="Darwin_45490128"/>
  <p:tag name="UPDATE" val="lock"/>
</p:tagLst>
</file>

<file path=ppt/tags/tag284.xml><?xml version="1.0" encoding="utf-8"?>
<p:tagLst xmlns:a="http://schemas.openxmlformats.org/drawingml/2006/main" xmlns:r="http://schemas.openxmlformats.org/officeDocument/2006/relationships" xmlns:p="http://schemas.openxmlformats.org/presentationml/2006/main">
  <p:tag name="GROUPID" val="Group_92062096"/>
  <p:tag name="SPLITORDER" val="0"/>
  <p:tag name="VISUALISATION_ID" val="Darwin_60414788"/>
  <p:tag name="DARWINVERSION" val="CSharp"/>
  <p:tag name="UPDATE" val="unlock"/>
  <p:tag name="STASSIGID" val="StasSigId_62317828"/>
  <p:tag name="SPLITGROUPID" val="92062096"/>
  <p:tag name="MIGRATIONPHASE" val="Phase0"/>
  <p:tag name="REPORTCONFIGHASH" val="302c8a40e25ef298092fc97b936a0cbb2984618f90a155183e023b44faf4dd0f"/>
  <p:tag name="REPORTCONFIGHASH_BACKUP" val="{&quot;AnalysisIds&quot;:[69051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59133c7e2512f5b43e7b970f9eb08f78915d275b54c78452bd0b5b9fda7c0714"/>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REON&quot;},{&quot;Format&quot;:&quot;0%&quot;,&quot;IsDefaultAlias&quot;:true,&quot;Name&quot;:&quot;None of the above&quot;},{&quot;Format&quot;:&quot;0%&quot;,&quot;IsDefaultAlias&quot;:true,&quot;Name&quot;:&quot;PANCREAZE&quot;},{&quot;Format&quot;:&quot;0%&quot;,&quot;IsDefaultAlias&quot;:true,&quot;Name&quot;:&quot;PERTZYE&quot;},{&quot;Format&quot;:&quot;0%&quot;,&quot;IsDefaultAlias&quot;:true,&quot;Name&quot;:&quot;ZENPEP&quot;}]}"/>
  <p:tag name="MAPPINGCONFIG" val="{&quot;selectedColumns&quot;:[&quot;time_period_name&quot;,&quot;CREON&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52:16.7157898+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5.xml><?xml version="1.0" encoding="utf-8"?>
<p:tagLst xmlns:a="http://schemas.openxmlformats.org/drawingml/2006/main" xmlns:r="http://schemas.openxmlformats.org/officeDocument/2006/relationships" xmlns:p="http://schemas.openxmlformats.org/presentationml/2006/main">
  <p:tag name="GROUPID" val="Group_92062096"/>
  <p:tag name="SPLITORDER" val="1"/>
  <p:tag name="VISUALISATION_ID" val="Darwin_27414541"/>
  <p:tag name="DARWINVERSION" val="CSharp"/>
  <p:tag name="UPDATE" val="unlock"/>
  <p:tag name="STASSIGID" val="StasSigId_44847178"/>
  <p:tag name="SPLITGROUPID" val="92062096"/>
  <p:tag name="MIGRATIONPHASE" val="Phase0"/>
  <p:tag name="REPORTCONFIGHASH" val="302c8a40e25ef298092fc97b936a0cbb2984618f90a155183e023b44faf4dd0f"/>
  <p:tag name="REPORTCONFIGHASH_BACKUP" val="{&quot;AnalysisIds&quot;:[69051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59133c7e2512f5b43e7b970f9eb08f78915d275b54c78452bd0b5b9fda7c0714"/>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REON&quot;},{&quot;Format&quot;:&quot;0%&quot;,&quot;IsDefaultAlias&quot;:true,&quot;Name&quot;:&quot;None of the above&quot;},{&quot;Format&quot;:&quot;0%&quot;,&quot;IsDefaultAlias&quot;:true,&quot;Name&quot;:&quot;PANCREAZE&quot;},{&quot;Format&quot;:&quot;0%&quot;,&quot;IsDefaultAlias&quot;:true,&quot;Name&quot;:&quot;PERTZYE&quot;},{&quot;Format&quot;:&quot;0%&quot;,&quot;IsDefaultAlias&quot;:true,&quot;Name&quot;:&quot;ZENPEP&quot;}]}"/>
  <p:tag name="MAPPINGCONFIG" val="{&quot;selectedColumns&quot;:[&quot;time_period_name&quot;,&quot;None of the abov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52:37.4379620+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6.xml><?xml version="1.0" encoding="utf-8"?>
<p:tagLst xmlns:a="http://schemas.openxmlformats.org/drawingml/2006/main" xmlns:r="http://schemas.openxmlformats.org/officeDocument/2006/relationships" xmlns:p="http://schemas.openxmlformats.org/presentationml/2006/main">
  <p:tag name="GROUPID" val="Group_92062096"/>
  <p:tag name="SPLITORDER" val="3"/>
  <p:tag name="VISUALISATION_ID" val="Darwin_54829477"/>
  <p:tag name="DARWINVERSION" val="CSharp"/>
  <p:tag name="UPDATE" val="unlock"/>
  <p:tag name="STASSIGID" val="StasSigId_38543910"/>
  <p:tag name="SPLITGROUPID" val="92062096"/>
  <p:tag name="MIGRATIONPHASE" val="Phase0"/>
  <p:tag name="REPORTCONFIGHASH" val="302c8a40e25ef298092fc97b936a0cbb2984618f90a155183e023b44faf4dd0f"/>
  <p:tag name="REPORTCONFIGHASH_BACKUP" val="{&quot;AnalysisIds&quot;:[69051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59133c7e2512f5b43e7b970f9eb08f78915d275b54c78452bd0b5b9fda7c0714"/>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REON&quot;},{&quot;Format&quot;:&quot;0%&quot;,&quot;IsDefaultAlias&quot;:true,&quot;Name&quot;:&quot;None of the above&quot;},{&quot;Format&quot;:&quot;0%&quot;,&quot;IsDefaultAlias&quot;:true,&quot;Name&quot;:&quot;PANCREAZE&quot;},{&quot;Format&quot;:&quot;0%&quot;,&quot;IsDefaultAlias&quot;:true,&quot;Name&quot;:&quot;PERTZYE&quot;},{&quot;Format&quot;:&quot;0%&quot;,&quot;IsDefaultAlias&quot;:true,&quot;Name&quot;:&quot;ZENPEP&quot;}]}"/>
  <p:tag name="MAPPINGCONFIG" val="{&quot;selectedColumns&quot;:[&quot;time_period_name&quot;,&quot;PERTZY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52:50.5365008+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7.xml><?xml version="1.0" encoding="utf-8"?>
<p:tagLst xmlns:a="http://schemas.openxmlformats.org/drawingml/2006/main" xmlns:r="http://schemas.openxmlformats.org/officeDocument/2006/relationships" xmlns:p="http://schemas.openxmlformats.org/presentationml/2006/main">
  <p:tag name="GROUPID" val="Group_92062096"/>
  <p:tag name="SPLITORDER" val="4"/>
  <p:tag name="VISUALISATION_ID" val="Darwin_52872824"/>
  <p:tag name="DARWINVERSION" val="CSharp"/>
  <p:tag name="UPDATE" val="unlock"/>
  <p:tag name="STASSIGID" val="StasSigId_33867937"/>
  <p:tag name="SPLITGROUPID" val="92062096"/>
  <p:tag name="MIGRATIONPHASE" val="Phase0"/>
  <p:tag name="REPORTCONFIGHASH" val="302c8a40e25ef298092fc97b936a0cbb2984618f90a155183e023b44faf4dd0f"/>
  <p:tag name="REPORTCONFIGHASH_BACKUP" val="{&quot;AnalysisIds&quot;:[69051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59133c7e2512f5b43e7b970f9eb08f78915d275b54c78452bd0b5b9fda7c0714"/>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REON&quot;},{&quot;Format&quot;:&quot;0%&quot;,&quot;IsDefaultAlias&quot;:true,&quot;Name&quot;:&quot;None of the above&quot;},{&quot;Format&quot;:&quot;0%&quot;,&quot;IsDefaultAlias&quot;:true,&quot;Name&quot;:&quot;PANCREAZE&quot;},{&quot;Format&quot;:&quot;0%&quot;,&quot;IsDefaultAlias&quot;:true,&quot;Name&quot;:&quot;PERTZYE&quot;},{&quot;Format&quot;:&quot;0%&quot;,&quot;IsDefaultAlias&quot;:true,&quot;Name&quot;:&quot;ZENPEP&quot;}]}"/>
  <p:tag name="MAPPINGCONFIG" val="{&quot;selectedColumns&quot;:[&quot;time_period_name&quot;,&quot;ZENPEP&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53:02.7283998+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8.xml><?xml version="1.0" encoding="utf-8"?>
<p:tagLst xmlns:a="http://schemas.openxmlformats.org/drawingml/2006/main" xmlns:r="http://schemas.openxmlformats.org/officeDocument/2006/relationships" xmlns:p="http://schemas.openxmlformats.org/presentationml/2006/main">
  <p:tag name="GROUPID" val="Group_92062096"/>
  <p:tag name="DARWINVERSION" val="CSharp"/>
  <p:tag name="SPLITORDER" val="2"/>
  <p:tag name="VISUALISATION_ID" val="Darwin_65021303"/>
  <p:tag name="UPDATE" val="unlock"/>
  <p:tag name="STASSIGID" val="StasSigId_37636883"/>
  <p:tag name="SPLITGROUPID" val="92062096"/>
  <p:tag name="MIGRATIONPHASE" val="Phase0"/>
  <p:tag name="REPORTCONFIGHASH" val="302c8a40e25ef298092fc97b936a0cbb2984618f90a155183e023b44faf4dd0f"/>
  <p:tag name="REPORTCONFIGHASH_BACKUP" val="{&quot;AnalysisIds&quot;:[690510],&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59133c7e2512f5b43e7b970f9eb08f78915d275b54c78452bd0b5b9fda7c0714"/>
  <p:tag name="DATAFRAMECONFIGHASH_BACKUP" val="{&quot;AggregationType&quot;:0,&quot;ColumnFields&quot;:[&quot;y_label&quot;],&quot;FilterCondition&quot;:0,&quot;Filters&quot;:[],&quot;LatestColumnsFirst&quot;:false,&quot;RowFields&quot;:[&quot;time_period_name&quot;],&quot;ValueFields&quot;:[&quot;decimal&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CREON&quot;},{&quot;Format&quot;:&quot;0%&quot;,&quot;IsDefaultAlias&quot;:true,&quot;Name&quot;:&quot;None of the above&quot;},{&quot;Format&quot;:&quot;0%&quot;,&quot;IsDefaultAlias&quot;:true,&quot;Name&quot;:&quot;PANCREAZE&quot;},{&quot;Format&quot;:&quot;0%&quot;,&quot;IsDefaultAlias&quot;:true,&quot;Name&quot;:&quot;PERTZYE&quot;},{&quot;Format&quot;:&quot;0%&quot;,&quot;IsDefaultAlias&quot;:true,&quot;Name&quot;:&quot;ZENPEP&quot;}]}"/>
  <p:tag name="MAPPINGCONFIG" val="{&quot;selectedColumns&quot;:[&quot;time_period_name&quot;,&quot;PANCREAZ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53:14.7763654+05:30"/>
  <p:tag name="COLUMNKEYLABELMAP" val="{&quot;time_period_name&quot;:&quot;Deliverable&quot;,&quot;y_code&quot;:&quot;Code&quot;,&quot;y_label&quot;:&quot;SubQ&quot;,&quot;base&quot;:&quot;Base&quot;,&quot;count&quot;:&quot;Count&quot;,&quot;respondents&quot;:&quot;Respondents&quot;,&quot;decimal&quot;:&quot;Value(%)&quot;}"/>
  <p:tag name="ANALYSISTYPE" val="SINGLE_QUESTION"/>
</p:tagLst>
</file>

<file path=ppt/tags/tag289.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90.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8118431"/>
  <p:tag name="VISUALISATION_ID" val="Darwin_22625299"/>
  <p:tag name="STASSIGID" val="StasSigId_10211986"/>
  <p:tag name="MIGRATIONPHASE" val="Phase0"/>
  <p:tag name="REPORTCONFIGHASH" val="4f24f241eced144c2e1182786aef361ccf3a205f2696a97b8e693c7d4234e26b"/>
  <p:tag name="REPORTCONFIGHASH_BACKUP" val="{&quot;AnalysisIds&quot;:[690515],&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f3f3d9c5aaa21a1c335b42a6b4b5ba1466d2b6e3fc54744aadc9db26127aa900"/>
  <p:tag name="DATAFRAMECONFIGHASH_BACKUP" val="{&quot;AggregationType&quot;:0,&quot;ColumnFields&quot;:[&quot;y_label&quot;,&quot;alias_label&quot;],&quot;FilterCondition&quot;:0,&quot;Filters&quot;:[{&quot;ColumnKey&quot;:&quot;y_label&quot;,&quot;Type&quot;:1,&quot;Value&quot;:&quot;Discussed Product and gave patient a sample and/or prescription for ZENPEP&quot;,&quot;filterCriteria&quot;:1}],&quot;LatestColumnsFirst&quot;:false,&quot;RowFields&quot;:[&quot;time_period_name&quot;],&quot;ValueFields&quot;:[&quot;share&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Discussed Product and gave patient a sample and/or prescription for ZENPEP @:@ CREON&quot;},{&quot;Format&quot;:&quot;0%&quot;,&quot;IsDefaultAlias&quot;:true,&quot;Name&quot;:&quot;Discussed Product and gave patient a sample and/or prescription for ZENPEP @:@ PANCREAZE&quot;},{&quot;Format&quot;:&quot;0%&quot;,&quot;IsDefaultAlias&quot;:true,&quot;Name&quot;:&quot;Discussed Product and gave patient a sample and/or prescription for ZENPEP @:@ PERTZYE&quot;},{&quot;Format&quot;:&quot;0%&quot;,&quot;IsDefaultAlias&quot;:true,&quot;Name&quot;:&quot;Discussed Product and gave patient a sample and/or prescription for ZENPEP @:@ ZENPEP&quot;}]}"/>
  <p:tag name="MAPPINGCONFIG" val="{&quot;selectedColumns&quot;:[&quot;time_period_name&quot;,&quot;Discussed Product and gave patient a sample and/or prescription for ZENPEP @:@ CREON&quot;,&quot;Discussed Product and gave patient a sample and/or prescription for ZENPEP @:@ ZENPEP&quot;,&quot;Discussed Product and gave patient a sample and/or prescription for ZENPEP @:@ PERTZYE&quot;,&quot;Discussed Product and gave patient a sample and/or prescription for ZENPEP @:@ PANCREAZ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21:42.6409310+05:30"/>
  <p:tag name="COLUMNKEYLABELMAP" val="{&quot;time_period_name&quot;:&quot;Deliverable&quot;,&quot;alias_label&quot;:&quot;Analysis&quot;,&quot;y_label&quot;:&quot;Code_Y&quot;,&quot;base&quot;:&quot;Base&quot;,&quot;count&quot;:&quot;Count&quot;,&quot;respondents&quot;:&quot;Respondents&quot;,&quot;total_sum&quot;:&quot;Share Base&quot;,&quot;sum&quot;:&quot;Sum&quot;,&quot;share&quot;:&quot;Share(%)&quot;,&quot;penetration&quot;:&quot;Penetration(%)&quot;}"/>
  <p:tag name="ANALYSISTYPE" val="MULTI_QUESTION"/>
</p:tagLst>
</file>

<file path=ppt/tags/tag29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26968906"/>
  <p:tag name="VISUALISATION_ID" val="Darwin_34047773"/>
  <p:tag name="STASSIGID" val="StasSigId_79545147"/>
  <p:tag name="MIGRATIONPHASE" val="Phase0"/>
  <p:tag name="REPORTCONFIGHASH" val="4f24f241eced144c2e1182786aef361ccf3a205f2696a97b8e693c7d4234e26b"/>
  <p:tag name="REPORTCONFIGHASH_BACKUP" val="{&quot;AnalysisIds&quot;:[690515],&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ba9c4e7f809b8a81752e320f84ef3a6dac60f3feb966b5bb2f10a1804b0803a9"/>
  <p:tag name="DATAFRAMECONFIGHASH_BACKUP" val="{&quot;AggregationType&quot;:0,&quot;ColumnFields&quot;:[&quot;y_label&quot;,&quot;alias_label&quot;],&quot;FilterCondition&quot;:0,&quot;Filters&quot;:[{&quot;ColumnKey&quot;:&quot;y_label&quot;,&quot;Type&quot;:1,&quot;Value&quot;:&quot;Discussed Product and decided to recommend another Rx PERT medication instead&quot;,&quot;filterCriteria&quot;:1}],&quot;LatestColumnsFirst&quot;:false,&quot;RowFields&quot;:[&quot;time_period_name&quot;],&quot;ValueFields&quot;:[&quot;share&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Discussed Product and decided to recommend another Rx PERT medication instead @:@ CREON&quot;},{&quot;Format&quot;:&quot;0%&quot;,&quot;IsDefaultAlias&quot;:true,&quot;Name&quot;:&quot;Discussed Product and decided to recommend another Rx PERT medication instead @:@ PANCREAZE&quot;},{&quot;Format&quot;:&quot;0%&quot;,&quot;IsDefaultAlias&quot;:true,&quot;Name&quot;:&quot;Discussed Product and decided to recommend another Rx PERT medication instead @:@ PERTZYE&quot;},{&quot;Format&quot;:&quot;0%&quot;,&quot;IsDefaultAlias&quot;:true,&quot;Name&quot;:&quot;Discussed Product and decided to recommend another Rx PERT medication instead @:@ ZENPEP&quot;}]}"/>
  <p:tag name="MAPPINGCONFIG" val="{&quot;selectedColumns&quot;:[&quot;time_period_name&quot;,&quot;Discussed Product and decided to recommend another Rx PERT medication instead @:@ CREON&quot;,&quot;Discussed Product and decided to recommend another Rx PERT medication instead @:@ ZENPEP&quot;,&quot;Discussed Product and decided to recommend another Rx PERT medication instead @:@ PERTZYE&quot;,&quot;Discussed Product and decided to recommend another Rx PERT medication instead @:@ PANCREAZ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23:52.5387354+05:30"/>
  <p:tag name="COLUMNKEYLABELMAP" val="{&quot;time_period_name&quot;:&quot;Deliverable&quot;,&quot;alias_label&quot;:&quot;Analysis&quot;,&quot;y_label&quot;:&quot;Code_Y&quot;,&quot;base&quot;:&quot;Base&quot;,&quot;count&quot;:&quot;Count&quot;,&quot;respondents&quot;:&quot;Respondents&quot;,&quot;total_sum&quot;:&quot;Share Base&quot;,&quot;sum&quot;:&quot;Sum&quot;,&quot;share&quot;:&quot;Share(%)&quot;,&quot;penetration&quot;:&quot;Penetration(%)&quot;}"/>
  <p:tag name="ANALYSISTYPE" val="MULTI_QUESTION"/>
</p:tagLst>
</file>

<file path=ppt/tags/tag292.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53621557"/>
  <p:tag name="VISUALISATION_ID" val="Darwin_68278841"/>
  <p:tag name="STASSIGID" val="StasSigId_15809461"/>
  <p:tag name="MIGRATIONPHASE" val="Phase0"/>
  <p:tag name="REPORTCONFIGHASH" val="4f24f241eced144c2e1182786aef361ccf3a205f2696a97b8e693c7d4234e26b"/>
  <p:tag name="REPORTCONFIGHASH_BACKUP" val="{&quot;AnalysisIds&quot;:[690515],&quot;DynamicTimePeriod&quot;:{&quot;IncludeLiveWave&quot;:false,&quot;LatestNDeliverables&quot;:6},&quot;IncludeAlias&quot;:true,&quot;IncludeOverallSegment&quot;:true,&quot;NestSegments&quot;:false,&quot;ProjectId&quot;:523,&quot;ReportingPlanId&quot;:1143,&quot;RollUpDeliverables&quot;:false,&quot;SegmentIds&quot;:[],&quot;SurveyId&quot;:396851,&quot;TimePeriodType&quot;:1}"/>
  <p:tag name="DATAFRAMECONFIGHASH" val="91de9bdd4f975df77f85f9767713e88862c5e0103820c3012722b93d9665c8a7"/>
  <p:tag name="DATAFRAMECONFIGHASH_BACKUP" val="{&quot;AggregationType&quot;:0,&quot;ColumnFields&quot;:[&quot;y_label&quot;,&quot;alias_label&quot;],&quot;FilterCondition&quot;:0,&quot;Filters&quot;:[{&quot;ColumnKey&quot;:&quot;y_label&quot;,&quot;Type&quot;:1,&quot;Value&quot;:&quot;Discussed Product and decided to recommend an OTC product or supplement instead&quot;,&quot;filterCriteria&quot;:1}],&quot;LatestColumnsFirst&quot;:false,&quot;RowFields&quot;:[&quot;time_period_name&quot;],&quot;ValueFields&quot;:[&quot;share&quot;],&quot;columnDefinitions&quot;:[{&quot;IsDefaultAlias&quot;:true,&quot;Name&quot;:&quot;time_period_name&quot;,&quot;sortCriteria&quot;:{&quot;CustomList&quot;:[&quot;Oct'25&quot;,&quot;Nov'25&quot;,&quot;Dec'25&quot;,&quot;Jan'26&quot;,&quot;Feb'26&quot;,&quot;Mar'26&quot;],&quot;Level&quot;:1,&quot;Order&quot;:0}},{&quot;Format&quot;:&quot;0%&quot;,&quot;IsDefaultAlias&quot;:true,&quot;Name&quot;:&quot;Discussed Product and decided to recommend an OTC product or supplement instead @:@ CREON&quot;},{&quot;Format&quot;:&quot;0%&quot;,&quot;IsDefaultAlias&quot;:true,&quot;Name&quot;:&quot;Discussed Product and decided to recommend an OTC product or supplement instead @:@ PANCREAZE&quot;},{&quot;Format&quot;:&quot;0%&quot;,&quot;IsDefaultAlias&quot;:true,&quot;Name&quot;:&quot;Discussed Product and decided to recommend an OTC product or supplement instead @:@ PERTZYE&quot;},{&quot;Format&quot;:&quot;0%&quot;,&quot;IsDefaultAlias&quot;:true,&quot;Name&quot;:&quot;Discussed Product and decided to recommend an OTC product or supplement instead @:@ ZENPEP&quot;}]}"/>
  <p:tag name="MAPPINGCONFIG" val="{&quot;selectedColumns&quot;:[&quot;time_period_name&quot;,&quot;Discussed Product and decided to recommend an OTC product or supplement instead @:@ CREON&quot;,&quot;Discussed Product and decided to recommend an OTC product or supplement instead @:@ ZENPEP&quot;,&quot;Discussed Product and decided to recommend an OTC product or supplement instead @:@ PERTZYE&quot;,&quot;Discussed Product and decided to recommend an OTC product or supplement instead @:@ PANCREAZE&quot;],&quot;selectedRows&quot;:[],&quot;selectAllRows&quot;:true,&quot;addQuestionText&quot;:false,&quot;applyTranspose&quot;:false,&quot;addLegend&quot;:false,&quot;rowsPerObject&quot;:null,&quot;addSplitObjectsToSingleSlide&quot;:false,&quot;topNRows&quot;:null,&quot;rowIdentifierColumnName&quot;:null,&quot;customChartType&quot;:null,&quot;tableHeaderMode&quot;:0,&quot;insertEmptyColumnsAt&quot;:null,&quot;moveRowsToFirst&quot;:[],&quot;moveRowsToLast&quot;:[]}"/>
  <p:tag name="LASTREFRESHTIME" val="2026-04-17T17:24:43.2372172+05:30"/>
  <p:tag name="COLUMNKEYLABELMAP" val="{&quot;time_period_name&quot;:&quot;Deliverable&quot;,&quot;alias_label&quot;:&quot;Analysis&quot;,&quot;y_label&quot;:&quot;Code_Y&quot;,&quot;base&quot;:&quot;Base&quot;,&quot;count&quot;:&quot;Count&quot;,&quot;respondents&quot;:&quot;Respondents&quot;,&quot;total_sum&quot;:&quot;Share Base&quot;,&quot;sum&quot;:&quot;Sum&quot;,&quot;share&quot;:&quot;Share(%)&quot;,&quot;penetration&quot;:&quot;Penetration(%)&quot;}"/>
  <p:tag name="ANALYSISTYPE" val="MULTI_QUESTION"/>
</p:tagLst>
</file>

<file path=ppt/tags/tag293.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94.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95.xml><?xml version="1.0" encoding="utf-8"?>
<p:tagLst xmlns:a="http://schemas.openxmlformats.org/drawingml/2006/main" xmlns:r="http://schemas.openxmlformats.org/officeDocument/2006/relationships" xmlns:p="http://schemas.openxmlformats.org/presentationml/2006/main">
  <p:tag name="DARWINVERSION" val="CSharp"/>
  <p:tag name="VISUALISATION_ID" val="Darwin_5982992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1580,10823,10014,9519,8970,8304$!$SelectedGp--wave$!$IsSorted--False$!$ChartType--Table$!$SelectedMulRolling--$!$SortedField--$!$FetchOverallData--False$!$Relative--True$!$IsAddQuestionText--False$!$StatisticsSignificance--[]$!$LiveWave--False$!$IsNonOverlapping--False$!$StatisticsSignificanceNValue--30$!$IsSplit--False$!$LastUpdate--01-07-2025 17:18:05$!$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296.xml><?xml version="1.0" encoding="utf-8"?>
<p:tagLst xmlns:a="http://schemas.openxmlformats.org/drawingml/2006/main" xmlns:r="http://schemas.openxmlformats.org/officeDocument/2006/relationships" xmlns:p="http://schemas.openxmlformats.org/presentationml/2006/main">
  <p:tag name="NON_CONNECTED_SHAPE_ID" val="95984939"/>
  <p:tag name="UPDATE" val="unlock"/>
</p:tagLst>
</file>

<file path=ppt/tags/tag297.xml><?xml version="1.0" encoding="utf-8"?>
<p:tagLst xmlns:a="http://schemas.openxmlformats.org/drawingml/2006/main" xmlns:r="http://schemas.openxmlformats.org/officeDocument/2006/relationships" xmlns:p="http://schemas.openxmlformats.org/presentationml/2006/main">
  <p:tag name="NON_CONNECTED_SHAPE_ID" val="73388469"/>
  <p:tag name="UPDATE" val="unlock"/>
</p:tagLst>
</file>

<file path=ppt/tags/tag298.xml><?xml version="1.0" encoding="utf-8"?>
<p:tagLst xmlns:a="http://schemas.openxmlformats.org/drawingml/2006/main" xmlns:r="http://schemas.openxmlformats.org/officeDocument/2006/relationships" xmlns:p="http://schemas.openxmlformats.org/presentationml/2006/main">
  <p:tag name="NON_CONNECTED_SHAPE_ID" val="20977999"/>
  <p:tag name="UPDATE" val="unlock"/>
</p:tagLst>
</file>

<file path=ppt/tags/tag299.xml><?xml version="1.0" encoding="utf-8"?>
<p:tagLst xmlns:a="http://schemas.openxmlformats.org/drawingml/2006/main" xmlns:r="http://schemas.openxmlformats.org/officeDocument/2006/relationships" xmlns:p="http://schemas.openxmlformats.org/presentationml/2006/main">
  <p:tag name="NON_CONNECTED_SHAPE_ID" val="39706477"/>
  <p:tag name="UPDATE" val="unlock"/>
</p:tagLst>
</file>

<file path=ppt/tags/tag300.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9470002"/>
  <p:tag name="UPDATE" val="unlock"/>
  <p:tag name="VISUALISATION_ID" val="Darwin_83197759"/>
  <p:tag name="STASSIGID" val="StasSigId_41125659"/>
  <p:tag name="SYNQRY" val="SYNQRY#1#$$!$FileVersion--1.6.5.7$!$IsAlias--True$!$Project--523$!$IsNestedSegments--False$!$ProjectSegmentIDs--$!$Survey--482371$!$RequiredColumns--value@:@value@:@@:@$$W32@:@W32@:@0%@:@$$W31@:@W31@:@0%@:@$!$LongFilterCondition--AND$!$Metric--none$!$SelectedColumns--value@:@value@:@@:@$$W32@:@W32@:@0%@:@$$W31@:@W31@:@0%@:@$!$PivotFilterCondition--AND$!$Analysis--502549$!$SelectedRows--ALL$!$AddLatestColumnToFirst--False$!$RecentWave--W2#2$!$ChartSplit--$!$IsClientDeliverable--True$!$SelectedWave--120937,118248$!$Transpose--False$!$ClientDeliverableID--96$!$SelectedSeg--$!$IsOverlapping--False$!$ClientDeliverableSegmentIDs--14251,13101$!$SelectedGp--wave$!$IsSorted--True$!$ChartType--Clustered Bar$!$SelectedMulRolling--$!$SortedField--value$$Ascending$$3K;6k;12k;15K;24K;30K;36K;50K;80K;I don’t remember;No specific dosing options were discussed$!$FetchOverallData--False$!$Relative--True$!$IsAddQuestionText--False$!$StatisticsSignificance--[]$!$LiveWave--False$!$IsNonOverlapping--False$!$StatisticsSignificanceNValue--30$!$IsSplit--False$!$LastUpdate--13-01-2026 19:54:38$!$AddSplitObjectsToSingleSlide--False$!$LongFilterFields--$!$TableHeader--1$!$PivotEntry--1$!$TopNRows--0$!$IsProjectAnalysis--False$!$SelectAllColumns--True$!$PivotFilterFields--$!$IsAddLegend--False$!$xField--value$!$Status--Create:Success$!$yField--segment_0$!$MoveFirst--$!$vField--penetration$!$MoveLast--$!$fnField--Average"/>
  <p:tag name="REPORTCONFIGHASH" val="9ddba404fc841feabc6de052d3f165b261742447a6ad6f69aef8457e1d7a5bc9"/>
  <p:tag name="REPORTCONFIGHASH_BACKUP" val="{&quot;AnalysisIds&quot;:[502549],&quot;DynamicTimePeriod&quot;:{&quot;IncludeLiveWave&quot;:false,&quot;LatestNDeliverables&quot;:2},&quot;IncludeAlias&quot;:true,&quot;IncludeOverallSegment&quot;:false,&quot;NestSegments&quot;:false,&quot;ProjectId&quot;:523,&quot;ReportingPlanId&quot;:96,&quot;RollUpDeliverables&quot;:false,&quot;SegmentIds&quot;:[],&quot;SurveyId&quot;:482371,&quot;TimePeriodType&quot;:1}"/>
  <p:tag name="DATAFRAMECONFIGHASH" val="c3093b4899c777dd0504623b4cfd17250dd26a6515709ce5b2c206e89690a6cd"/>
  <p:tag name="DATAFRAMECONFIGHASH_BACKUP" val="{&quot;AggregationType&quot;:1,&quot;ColumnFields&quot;:[&quot;time_period_name&quot;],&quot;FilterCondition&quot;:0,&quot;Filters&quot;:[],&quot;LatestColumnsFirst&quot;:false,&quot;RowFields&quot;:[&quot;value&quot;],&quot;ValueFields&quot;:[&quot;penetration&quot;],&quot;columnDefinitions&quot;:[{&quot;Format&quot;:&quot;&quot;,&quot;Formula&quot;:&quot;&quot;,&quot;IsDefaultAlias&quot;:false,&quot;Name&quot;:&quot;value&quot;,&quot;sortCriteria&quot;:{&quot;CustomList&quot;:[&quot;3K&quot;,&quot;6k&quot;,&quot;12k&quot;,&quot;15K&quot;,&quot;24K&quot;,&quot;30K&quot;,&quot;36K&quot;,&quot;50K&quot;,&quot;80K&quot;,&quot;I don’t remember&quot;,&quot;No specific dosing options were discussed&quot;],&quot;Level&quot;:1,&quot;Order&quot;:0}},{&quot;Format&quot;:&quot;0%&quot;,&quot;Formula&quot;:&quot;&quot;,&quot;IsDefaultAlias&quot;:false,&quot;Name&quot;:&quot;Jan-Feb 2026&quot;},{&quot;Format&quot;:&quot;0%&quot;,&quot;Formula&quot;:&quot;&quot;,&quot;IsDefaultAlias&quot;:false,&quot;Name&quot;:&quot;W32&quot;}]}"/>
  <p:tag name="MAPPINGCONFIG" val="{&quot;selectedColumns&quot;:[&quot;value&quot;,&quot;Jan-Feb 2026&quot;,&quot;W32&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0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50348306"/>
  <p:tag name="VISUALISATION_ID" val="Darwin_86236448"/>
  <p:tag name="STASSIGID" val="StasSigId_45824082"/>
  <p:tag name="SYNQRY" val="SYNQRY#1#$$!$FileVersion--1.4.0$!$IsAlias--True$!$Project--523$!$IsNestedSegments--True$!$ProjectSegmentIDs--$!$Survey--482371$!$RequiredColumns--value@:@value@:@@:@$$W32@:@W32@:@0%@:@$$W31@:@W31@:@0%@:@$!$LongFilterCondition--AND$!$Metric--none$!$SelectedColumns--value@:@value@:@@:@$$W32@:@W32@:@0%@:@$$W31@:@W31@:@0%@:@$!$PivotFilterCondition--AND$!$Analysis--499929$!$SelectedRows--ALL$!$AddLatestColumnToFirst--False$!$RecentWave--W2#2$!$ChartSplit--$!$IsClientDeliverable--True$!$SelectedWave--105134,102306$!$Transpose--False$!$ClientDeliverableID--96$!$SelectedSeg--$!$IsOverlapping--False$!$ClientDeliverableSegmentIDs--14251,13101$!$SelectedGp--wave$!$IsSorted--True$!$ChartType--Clustered Bar$!$SelectedMulRolling--$!$SortedField--value$$Ascending$$3K;5K;10K;15K;20K;25K;30K;40K;50K;60K;80K;I don’t remember;No specific dosing options were discussed$!$FetchOverallData--False$!$Relative--True$!$IsAddQuestionText--False$!$StatisticsSignificance--[]$!$LiveWave--False$!$IsNonOverlapping--False$!$StatisticsSignificanceNValue--30$!$IsSplit--False$!$LastUpdate--13-01-2026 19:54:21$!$AddSplitObjectsToSingleSlide--False$!$LongFilterFields--$!$TableHeader--1$!$PivotEntry--1$!$TopNRows--0$!$IsProjectAnalysis--False$!$SelectAllColumns--True$!$PivotFilterFields--$!$IsAddLegend--False$!$xField--value$!$Status--Create:Success$!$yField--segment_0$!$MoveFirst--$!$vField--penetration$!$MoveLast--$!$fnField--Average"/>
  <p:tag name="REPORTCONFIGHASH" val="0c7ca63c413881ba2dc955a4a81f85e22ca751ce811989a08bc5b15210d441a7"/>
  <p:tag name="REPORTCONFIGHASH_BACKUP" val="{&quot;AnalysisIds&quot;:[499929],&quot;DynamicTimePeriod&quot;:{&quot;IncludeLiveWave&quot;:false,&quot;LatestNDeliverables&quot;:2},&quot;IncludeAlias&quot;:true,&quot;IncludeOverallSegment&quot;:false,&quot;NestSegments&quot;:false,&quot;ProjectId&quot;:523,&quot;ReportingPlanId&quot;:96,&quot;RollUpDeliverables&quot;:false,&quot;SegmentIds&quot;:[],&quot;SurveyId&quot;:482371,&quot;TimePeriodType&quot;:1}"/>
  <p:tag name="DATAFRAMECONFIGHASH" val="f2eb95471b901050be46003b3ab40932dcdbfa072500739789196f2a8998b13a"/>
  <p:tag name="DATAFRAMECONFIGHASH_BACKUP" val="{&quot;AggregationType&quot;:1,&quot;ColumnFields&quot;:[&quot;time_period_name&quot;],&quot;FilterCondition&quot;:0,&quot;Filters&quot;:[],&quot;LatestColumnsFirst&quot;:false,&quot;RowFields&quot;:[&quot;value&quot;],&quot;ValueFields&quot;:[&quot;penetration&quot;],&quot;columnDefinitions&quot;:[{&quot;Format&quot;:&quot;&quot;,&quot;Formula&quot;:&quot;&quot;,&quot;IsDefaultAlias&quot;:false,&quot;Name&quot;:&quot;value&quot;,&quot;sortCriteria&quot;:{&quot;CustomList&quot;:[&quot;3K&quot;,&quot;5K&quot;,&quot;10K&quot;,&quot;15K&quot;,&quot;20K&quot;,&quot;25K&quot;,&quot;30K&quot;,&quot;40K&quot;,&quot;50K&quot;,&quot;60K&quot;,&quot;80K&quot;,&quot;I don’t remember&quot;,&quot;No specific dosing options were discussed&quot;],&quot;Level&quot;:1,&quot;Order&quot;:0}},{&quot;Format&quot;:&quot;0%&quot;,&quot;Formula&quot;:&quot;&quot;,&quot;IsDefaultAlias&quot;:false,&quot;Name&quot;:&quot;Jan-Feb 2026&quot;},{&quot;Format&quot;:&quot;0%&quot;,&quot;Formula&quot;:&quot;&quot;,&quot;IsDefaultAlias&quot;:false,&quot;Name&quot;:&quot;W32&quot;}]}"/>
  <p:tag name="MAPPINGCONFIG" val="{&quot;selectedColumns&quot;:[&quot;value&quot;,&quot;Jan-Feb 2026&quot;,&quot;W32&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02.xml><?xml version="1.0" encoding="utf-8"?>
<p:tagLst xmlns:a="http://schemas.openxmlformats.org/drawingml/2006/main" xmlns:r="http://schemas.openxmlformats.org/officeDocument/2006/relationships" xmlns:p="http://schemas.openxmlformats.org/presentationml/2006/main">
  <p:tag name="NON_CONNECTED_SHAPE_ID" val="13441934"/>
  <p:tag name="UPDATE" val="unlock"/>
</p:tagLst>
</file>

<file path=ppt/tags/tag303.xml><?xml version="1.0" encoding="utf-8"?>
<p:tagLst xmlns:a="http://schemas.openxmlformats.org/drawingml/2006/main" xmlns:r="http://schemas.openxmlformats.org/officeDocument/2006/relationships" xmlns:p="http://schemas.openxmlformats.org/presentationml/2006/main">
  <p:tag name="NON_CONNECTED_SHAPE_ID" val="31509364"/>
  <p:tag name="UPDATE" val="unlock"/>
</p:tagLst>
</file>

<file path=ppt/tags/tag304.xml><?xml version="1.0" encoding="utf-8"?>
<p:tagLst xmlns:a="http://schemas.openxmlformats.org/drawingml/2006/main" xmlns:r="http://schemas.openxmlformats.org/officeDocument/2006/relationships" xmlns:p="http://schemas.openxmlformats.org/presentationml/2006/main">
  <p:tag name="NON_CONNECTED_SHAPE_ID" val="34041964"/>
  <p:tag name="UPDATE" val="unlock"/>
</p:tagLst>
</file>

<file path=ppt/tags/tag305.xml><?xml version="1.0" encoding="utf-8"?>
<p:tagLst xmlns:a="http://schemas.openxmlformats.org/drawingml/2006/main" xmlns:r="http://schemas.openxmlformats.org/officeDocument/2006/relationships" xmlns:p="http://schemas.openxmlformats.org/presentationml/2006/main">
  <p:tag name="NON_CONNECTED_SHAPE_ID" val="25093366"/>
  <p:tag name="UPDATE" val="unlock"/>
</p:tagLst>
</file>

<file path=ppt/tags/tag306.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70109909"/>
  <p:tag name="UPDATE" val="unlock"/>
  <p:tag name="VISUALISATION_ID" val="Darwin_28051250"/>
  <p:tag name="SYNQRY" val="SYNQRY#1#$$!$FileVersion--Ver-6o3o2a$!$IsAlias--False$!$Project--523$!$IsNestedSegments--False$!$ProjectSegmentIDs--$!$Survey--482371$!$RequiredColumns--Code@:@Code@:@@:@$$title@:@title@:@@:@$$W32 - (blank)@:@W32 - (blank)@:@0%@:@$$W32 - Options  - Motivating to Prescribe@:@W32 - Options  - Motivating to Prescribe@:@0%@:@$$W32 - Options  - Differentiated@:@W32 - Options  - Differentiated@:@0%@:@$$W32 - Options  - Believable@:@W32 - Options  - Believable@:@0%@:@$$&lt;blank:ME&gt;@:@ME@:@0%@:@=GEOMEAN(D2:F2)$!$LongFilterCondition--AND$!$Metric--none$!$SelectedColumns--Code@:@Code@:@@:@$$title@:@title@:@@:@$!$PivotFilterCondition--AND$!$Analysis--4470$!$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7:40:24$!$AddSplitObjectsToSingleSlide--False$!$LongFilterFields--segment_1@:@IN@:@Speciality  - Gastro$!$TableHeader--2$!$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88dde05e963323c989daaa68528ca4df6980ac2886cb43cf4e83bd9b34b1e65"/>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Motivating to Prescribe&quot;},{&quot;Format&quot;:&quot;0%&quot;,&quot;Formula&quot;:&quot;&quot;,&quot;IsDefaultAlias&quot;:false,&quot;Name&quot;:&quot;Jan-Feb 2026 - Options - Differentiated&quot;},{&quot;Format&quot;:&quot;0%&quot;,&quot;Formula&quot;:&quot;&quot;,&quot;IsDefaultAlias&quot;:false,&quot;Name&quot;:&quot;Jan-Feb 2026 - Options - Believable&quot;},{&quot;Alias&quot;:&quot;ME&quot;,&quot;Format&quot;:&quot;0%&quot;,&quot;Formula&quot;:&quot;=GEOMEAN(D2:D2, E2:E2, F2:F2)&quot;,&quot;IsDefaultAlias&quot;:false,&quot;Name&quot;:&quot;&lt;blank:ME&gt;&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07.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SPLITORDER" val="0"/>
  <p:tag name="VISUALISATION_ID" val="Darwin_89107916"/>
  <p:tag name="FAILEDREFRESHICONID" val="Darwin_89107916"/>
  <p:tag name="UPDATE" val="unlock"/>
  <p:tag name="STASSIGID" val="StasSigId_457083"/>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08.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1"/>
  <p:tag name="VISUALISATION_ID" val="Darwin_44505927"/>
  <p:tag name="UPDATE" val="unlock"/>
  <p:tag name="STASSIGID" val="StasSigId_89656752"/>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09.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2"/>
  <p:tag name="VISUALISATION_ID" val="Darwin_97406219"/>
  <p:tag name="UPDATE" val="unlock"/>
  <p:tag name="STASSIGID" val="StasSigId_69538428"/>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0.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3"/>
  <p:tag name="VISUALISATION_ID" val="Darwin_62413466"/>
  <p:tag name="UPDATE" val="unlock"/>
  <p:tag name="STASSIGID" val="StasSigId_22983455"/>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1.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4"/>
  <p:tag name="VISUALISATION_ID" val="Darwin_87242267"/>
  <p:tag name="UPDATE" val="unlock"/>
  <p:tag name="STASSIGID" val="StasSigId_62316016"/>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2.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5"/>
  <p:tag name="VISUALISATION_ID" val="Darwin_43698015"/>
  <p:tag name="UPDATE" val="unlock"/>
  <p:tag name="STASSIGID" val="StasSigId_2470338"/>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3.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6"/>
  <p:tag name="VISUALISATION_ID" val="Darwin_32125629"/>
  <p:tag name="UPDATE" val="unlock"/>
  <p:tag name="STASSIGID" val="StasSigId_42832430"/>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4.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7"/>
  <p:tag name="VISUALISATION_ID" val="Darwin_39988642"/>
  <p:tag name="UPDATE" val="unlock"/>
  <p:tag name="STASSIGID" val="StasSigId_11412716"/>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5.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8"/>
  <p:tag name="VISUALISATION_ID" val="Darwin_18990984"/>
  <p:tag name="UPDATE" val="unlock"/>
  <p:tag name="STASSIGID" val="StasSigId_12593620"/>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6.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9"/>
  <p:tag name="VISUALISATION_ID" val="Darwin_20484748"/>
  <p:tag name="UPDATE" val="unlock"/>
  <p:tag name="STASSIGID" val="StasSigId_61987678"/>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7.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10"/>
  <p:tag name="VISUALISATION_ID" val="Darwin_61949112"/>
  <p:tag name="UPDATE" val="unlock"/>
  <p:tag name="STASSIGID" val="StasSigId_32217396"/>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8.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11"/>
  <p:tag name="VISUALISATION_ID" val="Darwin_34333611"/>
  <p:tag name="UPDATE" val="unlock"/>
  <p:tag name="STASSIGID" val="StasSigId_56838024"/>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19.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VISUALISATION_ID" val="Darwin_17792502"/>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42:3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320.xml><?xml version="1.0" encoding="utf-8"?>
<p:tagLst xmlns:a="http://schemas.openxmlformats.org/drawingml/2006/main" xmlns:r="http://schemas.openxmlformats.org/officeDocument/2006/relationships" xmlns:p="http://schemas.openxmlformats.org/presentationml/2006/main">
  <p:tag name="DARWINVERSION" val="CSharp"/>
  <p:tag name="GROUPID" val="Group_3970701"/>
  <p:tag name="FAILEDREFRESHICONID" val="Darwin_30814602"/>
  <p:tag name="SPLITORDER" val="12"/>
  <p:tag name="VISUALISATION_ID" val="Darwin_72877659"/>
  <p:tag name="UPDATE" val="unlock"/>
  <p:tag name="STASSIGID" val="StasSigId_3994340"/>
  <p:tag name="SYNQRY" val="SYNQRY#1#$$!$FileVersion--Ver-6o3o2a$!$IsAlias--False$!$Project--523$!$IsNestedSegments--False$!$ProjectSegmentIDs--$!$Survey--482371$!$RequiredColumns--Code@:@Cod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7:40:31$!$AddSplitObjectsToSingleSlide--False$!$LongFilterFields--segment_1@:@IN@:@Speciality  - Gastro$!$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de37d59b6c5e011b7972299480335973a932c984db3c2f44c4394a6b63db2a39"/>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3970701"/>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1.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4297295"/>
  <p:tag name="UPDATE" val="unlock"/>
  <p:tag name="VISUALISATION_ID" val="Darwin_65787319"/>
  <p:tag name="SYNQRY" val="SYNQRY#1#$$!$FileVersion--Ver-6o3o2a$!$IsAlias--False$!$Project--523$!$IsNestedSegments--False$!$ProjectSegmentIDs--$!$Survey--482371$!$RequiredColumns--Code@:@Code@:@@:@$$title@:@title@:@@:@$$W32 - (blank)@:@W32 - (blank)@:@0%@:@$$W32 - Options  - Motivating to Prescribe@:@W32 - Options  - Motivating to Prescribe@:@0%@:@$$W32 - Options  - Differentiated@:@W32 - Options  - Differentiated@:@0%@:@$$W32 - Options  - Believable@:@W32 - Options  - Believable@:@0%@:@$$&lt;blank:ME&gt;@:@ME@:@0%@:@=GEOMEAN(D2:F2)$!$LongFilterCondition--AND$!$Metric--none$!$SelectedColumns--Code@:@Code@:@@:@$$title@:@title@:@@:@$!$PivotFilterCondition--AND$!$Analysis--4470$!$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8:03:28$!$AddSplitObjectsToSingleSlide--False$!$LongFilterFields--segment_1@:@IN@:@Speciality  - PCPs$!$TableHeader--2$!$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f3e8638554c47bee933093ae7e7aaf8db4198055af52bc8f26707a73bc6f33df"/>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Motivating to Prescribe&quot;},{&quot;Format&quot;:&quot;0%&quot;,&quot;Formula&quot;:&quot;&quot;,&quot;IsDefaultAlias&quot;:false,&quot;Name&quot;:&quot;Jan-Feb 2026 - Options - Differentiated&quot;},{&quot;Format&quot;:&quot;0%&quot;,&quot;Formula&quot;:&quot;&quot;,&quot;IsDefaultAlias&quot;:false,&quot;Name&quot;:&quot;Jan-Feb 2026 - Options - Believable&quot;},{&quot;Alias&quot;:&quot;ME&quot;,&quot;Format&quot;:&quot;0%&quot;,&quot;Formula&quot;:&quot;=GEOMEAN(D2:D2, E2:E2, F2:F2)&quot;,&quot;IsDefaultAlias&quot;:false,&quot;Name&quot;:&quot;&lt;blank:ME&gt;&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22.xml><?xml version="1.0" encoding="utf-8"?>
<p:tagLst xmlns:a="http://schemas.openxmlformats.org/drawingml/2006/main" xmlns:r="http://schemas.openxmlformats.org/officeDocument/2006/relationships" xmlns:p="http://schemas.openxmlformats.org/presentationml/2006/main">
  <p:tag name="SPLITORDER" val="0"/>
  <p:tag name="GROUPID" val="Group_13369706"/>
  <p:tag name="DARWINVERSION" val="CSharp"/>
  <p:tag name="NON_CONNECTED_SHAPE_ID" val="17782526"/>
  <p:tag name="FAILEDREFRESHICONID" val="Darwin_87694923"/>
  <p:tag name="VISUALISATION_ID" val="Darwin_78371469"/>
  <p:tag name="UPDATE" val="unlock"/>
  <p:tag name="STASSIGID" val="StasSigId_6326762"/>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3.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1"/>
  <p:tag name="VISUALISATION_ID" val="Darwin_75113782"/>
  <p:tag name="UPDATE" val="unlock"/>
  <p:tag name="STASSIGID" val="StasSigId_9710015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4.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2"/>
  <p:tag name="VISUALISATION_ID" val="Darwin_86569439"/>
  <p:tag name="UPDATE" val="unlock"/>
  <p:tag name="STASSIGID" val="StasSigId_93911662"/>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5.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3"/>
  <p:tag name="VISUALISATION_ID" val="Darwin_76657636"/>
  <p:tag name="UPDATE" val="unlock"/>
  <p:tag name="STASSIGID" val="StasSigId_98221247"/>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6.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4"/>
  <p:tag name="VISUALISATION_ID" val="Darwin_44718690"/>
  <p:tag name="UPDATE" val="unlock"/>
  <p:tag name="STASSIGID" val="StasSigId_37936142"/>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7.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5"/>
  <p:tag name="VISUALISATION_ID" val="Darwin_69429351"/>
  <p:tag name="UPDATE" val="unlock"/>
  <p:tag name="STASSIGID" val="StasSigId_12591614"/>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8.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6"/>
  <p:tag name="VISUALISATION_ID" val="Darwin_10655805"/>
  <p:tag name="UPDATE" val="unlock"/>
  <p:tag name="STASSIGID" val="StasSigId_92143052"/>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29.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7"/>
  <p:tag name="VISUALISATION_ID" val="Darwin_98679388"/>
  <p:tag name="UPDATE" val="unlock"/>
  <p:tag name="STASSIGID" val="StasSigId_2307752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0.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8"/>
  <p:tag name="VISUALISATION_ID" val="Darwin_62908676"/>
  <p:tag name="UPDATE" val="unlock"/>
  <p:tag name="STASSIGID" val="StasSigId_64662436"/>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1.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9"/>
  <p:tag name="VISUALISATION_ID" val="Darwin_71894648"/>
  <p:tag name="UPDATE" val="unlock"/>
  <p:tag name="STASSIGID" val="StasSigId_52635274"/>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2.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10"/>
  <p:tag name="VISUALISATION_ID" val="Darwin_78078326"/>
  <p:tag name="UPDATE" val="unlock"/>
  <p:tag name="STASSIGID" val="StasSigId_90039954"/>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3.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11"/>
  <p:tag name="VISUALISATION_ID" val="Darwin_42671109"/>
  <p:tag name="UPDATE" val="unlock"/>
  <p:tag name="STASSIGID" val="StasSigId_60142973"/>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4.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42:39$!$AddSplitObjectsToSingleSlide--False$!$LongFilterFields--$!$TableHeader--2$!$PivotEntry--1$!$TopNRows--0$!$IsProjectAnalysis--True$!$SelectAllColumns--False$!$PivotFilterFields--$!$IsAddLegend--False$!$xField--segment_0,time_period_id$!$Status--Create:Success$!$yField--title$!$MoveFirst--$!$vField--n - value$!$MoveLast--$!$fnField--Sum"/>
  <p:tag name="VISUALISATION_ID" val="Darwin_81099115"/>
  <p:tag name="UPDATE" val="lock"/>
</p:tagLst>
</file>

<file path=ppt/tags/tag335.xml><?xml version="1.0" encoding="utf-8"?>
<p:tagLst xmlns:a="http://schemas.openxmlformats.org/drawingml/2006/main" xmlns:r="http://schemas.openxmlformats.org/officeDocument/2006/relationships" xmlns:p="http://schemas.openxmlformats.org/presentationml/2006/main">
  <p:tag name="GROUPID" val="Group_13369706"/>
  <p:tag name="DARWINVERSION" val="CSharp"/>
  <p:tag name="NON_CONNECTED_SHAPE_ID" val="17782526"/>
  <p:tag name="FAILEDREFRESHICONID" val="Darwin_87694923"/>
  <p:tag name="SPLITORDER" val="12"/>
  <p:tag name="VISUALISATION_ID" val="Darwin_86515855"/>
  <p:tag name="UPDATE" val="unlock"/>
  <p:tag name="STASSIGID" val="StasSigId_69404950"/>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03:35$!$AddSplitObjectsToSingleSlide--False$!$LongFilterFields--segment_1@:@IN@:@Speciality  - PCPs$!$TableHeader--1$!$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90375bc03bdc895a4bc7f2ce6d5c7a17c6113aac006c2513b872acc783253ba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13369706"/>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36.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0"/>
  <p:tag name="VISUALISATION_ID" val="Darwin_11857793"/>
  <p:tag name="UPDATE" val="unlock"/>
  <p:tag name="STASSIGID" val="StasSigId_57309485"/>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37.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VISUALISATION_ID" val="Darwin_1814540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54:58$!$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338.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4297295"/>
  <p:tag name="UPDATE" val="unlock"/>
  <p:tag name="VISUALISATION_ID" val="Darwin_49854784"/>
  <p:tag name="SYNQRY" val="SYNQRY#1#$$!$FileVersion--Ver-6o3o2a$!$IsAlias--False$!$Project--523$!$IsNestedSegments--False$!$ProjectSegmentIDs--$!$Survey--482371$!$RequiredColumns--Code@:@Code@:@@:@$$title@:@title@:@@:@$$W27 - Options  - Believable@:@W27 - Options  - Believable@:@@:@$$W27 - Options  - Differentiated@:@W27 - Options  - Differentiated@:@@:@$$W27 - Options  - Motivating to Prescribe@:@W27 - Options  - Motivating to Prescribe@:@@:@$$W27 - (blank)@:@W27 - (blank)@:@@:@$$W28 - Options  - Believable@:@W28 - Options  - Believable@:@@:@$$W28 - Options  - Differentiated@:@W28 - Options  - Differentiated@:@@:@$$W28 - Options  - Motivating to Prescribe@:@W28 - Options  - Motivating to Prescribe@:@@:@$$W28 - (blank)@:@W28 - (blank)@:@@:@$$W29 - Options  - Believable@:@W29 - Options  - Believable@:@@:@$$W29 - Options  - Differentiated@:@W29 - Options  - Differentiated@:@@:@$$W29 - Options  - Motivating to Prescribe@:@W29 - Options  - Motivating to Prescribe@:@@:@$$W29 - (blank)@:@W29 - (blank)@:@@:@$$W30 - Options  - Believable@:@W30 - Options  - Believable@:@@:@$$W30 - Options  - Differentiated@:@W30 - Options  - Differentiated@:@@:@$$W30 - Options  - Motivating to Prescribe@:@W30 - Options  - Motivating to Prescribe@:@@:@$$W30 - (blank)@:@W30 - (blank)@:@@:@$$W31 - Options  - Believable@:@W31 - Options  - Believable@:@@:@$$W31 - Options  - Differentiated@:@W31 - Options  - Differentiated@:@@:@$$W31 - Options  - Motivating to Prescribe@:@W31 - Options  - Motivating to Prescribe@:@@:@$$W31 - (blank)@:@W31 - (blank)@:@@:@$$W32 - Options  - Believable@:@W32 - Options  - Believable@:@@:@$$W32 - Options  - Differentiated@:@W32 - Options  - Differentiated@:@@:@$$W32 - Options  - Motivating to Prescribe@:@W32 - Options  - Motivating to Prescribe@:@@:@$$W32 - (blank)@:@W32 - (blank)@:@0%@:@$!$LongFilterCondition--AND$!$Metric--none$!$SelectedColumns--Code@:@Code@:@@:@$$title@:@title@:@@:@$!$PivotFilterCondition--AND$!$Analysis--4470$!$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8:14:27$!$AddSplitObjectsToSingleSlide--False$!$LongFilterFields--segment_1@:@IN@:@Speciality  - NP/PA$!$TableHeader--2$!$PivotEntry--1$!$TopNRows--0$!$IsProjectAnalysis--True$!$SelectAllColumns--Fals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cd67c7e653fde02cc25be9530408d9d1fe09340309966eea99c6b2c6fd0d9b3b"/>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Options - Believable&quot;},{&quot;Format&quot;:&quot;&quot;,&quot;Formula&quot;:&quot;&quot;,&quot;IsDefaultAlias&quot;:false,&quot;Name&quot;:&quot;W28 - Options - Differentiated&quot;},{&quot;Format&quot;:&quot;&quot;,&quot;Formula&quot;:&quot;&quot;,&quot;IsDefaultAlias&quot;:false,&quot;Name&quot;:&quot;W28 - Options - Motivating to Prescribe&quot;},{&quot;Format&quot;:&quot;&quot;,&quot;Formula&quot;:&quot;&quot;,&quot;IsDefaultAlias&quot;:false,&quot;Name&quot;:&quot;W28 - (blank)&quot;},{&quot;Format&quot;:&quot;&quot;,&quot;Formula&quot;:&quot;&quot;,&quot;IsDefaultAlias&quot;:false,&quot;Name&quot;:&quot;W29 - Options - Believable&quot;},{&quot;Format&quot;:&quot;&quot;,&quot;Formula&quot;:&quot;&quot;,&quot;IsDefaultAlias&quot;:false,&quot;Name&quot;:&quot;W29 - Options - Differentiated&quot;},{&quot;Format&quot;:&quot;&quot;,&quot;Formula&quot;:&quot;&quot;,&quot;IsDefaultAlias&quot;:false,&quot;Name&quot;:&quot;W29 - Options - Motivating to Prescribe&quot;},{&quot;Format&quot;:&quot;&quot;,&quot;Formula&quot;:&quot;&quot;,&quot;IsDefaultAlias&quot;:false,&quot;Name&quot;:&quot;W29 - (blank)&quot;},{&quot;Format&quot;:&quot;&quot;,&quot;Formula&quot;:&quot;&quot;,&quot;IsDefaultAlias&quot;:false,&quot;Name&quot;:&quot;W30 - Options - Believable&quot;},{&quot;Format&quot;:&quot;&quot;,&quot;Formula&quot;:&quot;&quot;,&quot;IsDefaultAlias&quot;:false,&quot;Name&quot;:&quot;W30 - Options - Differentiated&quot;},{&quot;Format&quot;:&quot;&quot;,&quot;Formula&quot;:&quot;&quot;,&quot;IsDefaultAlias&quot;:false,&quot;Name&quot;:&quot;W30 - Options - Motivating to Prescribe&quot;},{&quot;Format&quot;:&quot;&quot;,&quot;Formula&quot;:&quot;&quot;,&quot;IsDefaultAlias&quot;:false,&quot;Name&quot;:&quot;W30 - (blank)&quot;},{&quot;Format&quot;:&quot;&quot;,&quot;Formula&quot;:&quot;&quot;,&quot;IsDefaultAlias&quot;:false,&quot;Name&quot;:&quot;W31 - Options - Believable&quot;},{&quot;Format&quot;:&quot;&quot;,&quot;Formula&quot;:&quot;&quot;,&quot;IsDefaultAlias&quot;:false,&quot;Name&quot;:&quot;W31 - Options - Differentiated&quot;},{&quot;Format&quot;:&quot;&quot;,&quot;Formula&quot;:&quot;&quot;,&quot;IsDefaultAlias&quot;:false,&quot;Name&quot;:&quot;W31 - Options - Motivating to Prescribe&quot;},{&quot;Format&quot;:&quot;&quot;,&quot;Formula&quot;:&quot;&quot;,&quot;IsDefaultAlias&quot;:false,&quot;Name&quot;:&quot;W31 - (blank)&quot;},{&quot;Format&quot;:&quot;&quot;,&quot;Formula&quot;:&quot;&quot;,&quot;IsDefaultAlias&quot;:false,&quot;Name&quot;:&quot;W32 - Options - Believable&quot;},{&quot;Format&quot;:&quot;&quot;,&quot;Formula&quot;:&quot;&quot;,&quot;IsDefaultAlias&quot;:false,&quot;Name&quot;:&quot;W32 - Options - Differentiated&quot;},{&quot;Format&quot;:&quot;&quot;,&quot;Formula&quot;:&quot;&quot;,&quot;IsDefaultAlias&quot;:false,&quot;Name&quot;:&quot;W32 - Options - Motivating to Prescribe&quot;},{&quot;Format&quot;:&quot;&quot;,&quot;Formula&quot;:&quot;&quot;,&quot;IsDefaultAlias&quot;:false,&quot;Name&quot;:&quot;W32 - (blank)&quot;},{&quot;Format&quot;:&quot;&quot;,&quot;Formula&quot;:&quot;&quot;,&quot;IsDefaultAlias&quot;:false,&quot;Name&quot;:&quot;Jan-Feb 2026 - Options - Believable&quot;},{&quot;Format&quot;:&quot;&quot;,&quot;Formula&quot;:&quot;&quot;,&quot;IsDefaultAlias&quot;:false,&quot;Name&quot;:&quot;Jan-Feb 2026 - Options - Differentiated&quot;},{&quot;Format&quot;:&quot;&quot;,&quot;Formula&quot;:&quot;&quot;,&quot;IsDefaultAlias&quot;:false,&quot;Name&quot;:&quot;Jan-Feb 2026 - Options - Motivating to Prescribe&quot;},{&quot;Format&quot;:&quot;0%&quot;,&quot;Formula&quot;:&quot;&quot;,&quot;IsDefaultAlias&quot;:false,&quot;Name&quot;:&quot;Jan-Feb 2026 - (blank)&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39.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1"/>
  <p:tag name="VISUALISATION_ID" val="Darwin_21332675"/>
  <p:tag name="UPDATE" val="unlock"/>
  <p:tag name="STASSIGID" val="StasSigId_23104482"/>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0.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2"/>
  <p:tag name="VISUALISATION_ID" val="Darwin_22595919"/>
  <p:tag name="UPDATE" val="unlock"/>
  <p:tag name="STASSIGID" val="StasSigId_2128890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1.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3"/>
  <p:tag name="VISUALISATION_ID" val="Darwin_84138187"/>
  <p:tag name="UPDATE" val="unlock"/>
  <p:tag name="STASSIGID" val="StasSigId_8611159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2.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4"/>
  <p:tag name="VISUALISATION_ID" val="Darwin_90555025"/>
  <p:tag name="UPDATE" val="unlock"/>
  <p:tag name="STASSIGID" val="StasSigId_26347999"/>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3.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5"/>
  <p:tag name="VISUALISATION_ID" val="Darwin_16163054"/>
  <p:tag name="UPDATE" val="unlock"/>
  <p:tag name="STASSIGID" val="StasSigId_38439550"/>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4.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6"/>
  <p:tag name="VISUALISATION_ID" val="Darwin_74427708"/>
  <p:tag name="UPDATE" val="unlock"/>
  <p:tag name="STASSIGID" val="StasSigId_15954483"/>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5.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7"/>
  <p:tag name="VISUALISATION_ID" val="Darwin_66020416"/>
  <p:tag name="UPDATE" val="unlock"/>
  <p:tag name="STASSIGID" val="StasSigId_3650566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6.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8"/>
  <p:tag name="VISUALISATION_ID" val="Darwin_14588581"/>
  <p:tag name="UPDATE" val="unlock"/>
  <p:tag name="STASSIGID" val="StasSigId_1431255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7.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9"/>
  <p:tag name="VISUALISATION_ID" val="Darwin_95699513"/>
  <p:tag name="UPDATE" val="unlock"/>
  <p:tag name="STASSIGID" val="StasSigId_18681958"/>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8.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10"/>
  <p:tag name="VISUALISATION_ID" val="Darwin_2295611"/>
  <p:tag name="UPDATE" val="unlock"/>
  <p:tag name="STASSIGID" val="StasSigId_63766431"/>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49.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11"/>
  <p:tag name="VISUALISATION_ID" val="Darwin_31839168"/>
  <p:tag name="UPDATE" val="unlock"/>
  <p:tag name="STASSIGID" val="StasSigId_94281253"/>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50.xml><?xml version="1.0" encoding="utf-8"?>
<p:tagLst xmlns:a="http://schemas.openxmlformats.org/drawingml/2006/main" xmlns:r="http://schemas.openxmlformats.org/officeDocument/2006/relationships" xmlns:p="http://schemas.openxmlformats.org/presentationml/2006/main">
  <p:tag name="DARWINVERSION" val="CSharp"/>
  <p:tag name="NON_CONNECTED_SHAPE_ID" val="17782526"/>
  <p:tag name="FAILEDREFRESHICONID" val="Darwin_87694923"/>
  <p:tag name="GROUPID" val="Group_47320833"/>
  <p:tag name="SPLITORDER" val="12"/>
  <p:tag name="VISUALISATION_ID" val="Darwin_41160964"/>
  <p:tag name="UPDATE" val="unlock"/>
  <p:tag name="STASSIGID" val="StasSigId_44246409"/>
  <p:tag name="SYNQRY" val="SYNQRY#1#$$!$FileVersion--Ver-6o3o2a$!$IsAlias--False$!$Project--523$!$IsNestedSegments--False$!$ProjectSegmentIDs--$!$Survey--482371$!$RequiredColumns--Code@:@Code@:@@:@$$title@:@title@:@@:@$$W27 - (blank)@:@W27 - (blank)@:@0%@:@$$W28 - (blank)@:@W28 - (blank)@:@0%@:@$$W29 - (blank)@:@W29 - (blank)@:@0%@:@$$W30 - (blank)@:@W30 - (blank)@:@0%@:@$$W31 - (blank)@:@W31 - (blank)@:@0%@:@$$W32 - (blank)@:@W32 - (blank)@:@0%@:@$!$LongFilterCondition--AND$!$Metric--none$!$SelectedColumns--Code@:@Code@:@@:@$$title@:@title@:@@:@$$W27 - (blank)@:@W27 - (blank)@:@0%@:@$$W28 - (blank)@:@W28 - (blank)@:@0%@:@$$W29 - (blank)@:@W29 - (blank)@:@0%@:@$$W30 - (blank)@:@W30 - (blank)@:@0%@:@$$W31 - (blank)@:@W31 - (blank)@:@0%@:@$$W32 - (blank)@:@W32 - (blank)@:@0%@:@$!$PivotFilterCondition--AND$!$Analysis--4470$!$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13:44$!$AddSplitObjectsToSingleSlide--True$!$LongFilterFields--segment_1@:@IN@:@Speciality  - NP/PA$!$TableHeader--1$!$PivotEntry--1$!$TopNRows--0$!$IsProjectAnalysis--True$!$SelectAllColumns--True$!$PivotFilterFields--$!$IsAddLegend--False$!$xField--Code,title$!$Status--Create:Success$!$yField--segment_0,segment_2$!$MoveFirst--$!$vField--decimal$!$MoveLast--$!$fnField--Average"/>
  <p:tag name="REPORTCONFIGHASH" val="cd54a93a0514e7be83829fa39c1c22f09c7ac7c8bd97fe4864c6ac69c010b505"/>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b5a094e28a7aee7315cafde97f997537e1a42c884327e94a4d0a6c7043700013"/>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
  <p:tag name="SPLITGROUPID" val="47320833"/>
  <p:tag name="MAPPINGCONFIG" val="{&quot;selectedColumns&quot;:[&quot;Code&quot;,&quot;titl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51.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31532195"/>
  <p:tag name="VISUALISATION_ID" val="Darwin_47004000"/>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title@:@title@:@@:@$!$PivotFilterCondition--AND$!$Analysis--4469$!$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8:43:06$!$AddSplitObjectsToSingleSlide--False$!$LongFilterFields--segment_1@:@IN@:@Speciality  - Gastro$!$TableHeader--2$!$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52.xml><?xml version="1.0" encoding="utf-8"?>
<p:tagLst xmlns:a="http://schemas.openxmlformats.org/drawingml/2006/main" xmlns:r="http://schemas.openxmlformats.org/officeDocument/2006/relationships" xmlns:p="http://schemas.openxmlformats.org/presentationml/2006/main">
  <p:tag name="SPLITORDER" val="0"/>
  <p:tag name="GROUPID" val="Group_50228682"/>
  <p:tag name="DARWINVERSION" val="CSharp"/>
  <p:tag name="FAILEDREFRESHICONID" val="Darwin_78113201"/>
  <p:tag name="VISUALISATION_ID" val="Darwin_78113201"/>
  <p:tag name="UPDATE" val="unlock"/>
  <p:tag name="STASSIGID" val="StasSigId_71430650"/>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3.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1"/>
  <p:tag name="VISUALISATION_ID" val="Darwin_52662728"/>
  <p:tag name="UPDATE" val="unlock"/>
  <p:tag name="STASSIGID" val="StasSigId_34833567"/>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4.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2"/>
  <p:tag name="VISUALISATION_ID" val="Darwin_22487581"/>
  <p:tag name="UPDATE" val="unlock"/>
  <p:tag name="STASSIGID" val="StasSigId_99973046"/>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5.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5"/>
  <p:tag name="VISUALISATION_ID" val="Darwin_29367940"/>
  <p:tag name="UPDATE" val="unlock"/>
  <p:tag name="STASSIGID" val="StasSigId_43373527"/>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6.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6"/>
  <p:tag name="VISUALISATION_ID" val="Darwin_4924436"/>
  <p:tag name="UPDATE" val="unlock"/>
  <p:tag name="STASSIGID" val="StasSigId_66523676"/>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7.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8"/>
  <p:tag name="VISUALISATION_ID" val="Darwin_95953700"/>
  <p:tag name="UPDATE" val="unlock"/>
  <p:tag name="STASSIGID" val="StasSigId_63691955"/>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8.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10"/>
  <p:tag name="VISUALISATION_ID" val="Darwin_33442841"/>
  <p:tag name="UPDATE" val="unlock"/>
  <p:tag name="STASSIGID" val="StasSigId_21703422"/>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59.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11"/>
  <p:tag name="VISUALISATION_ID" val="Darwin_71217579"/>
  <p:tag name="UPDATE" val="unlock"/>
  <p:tag name="STASSIGID" val="StasSigId_53450467"/>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0.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9"/>
  <p:tag name="VISUALISATION_ID" val="Darwin_69444234"/>
  <p:tag name="UPDATE" val="unlock"/>
  <p:tag name="STASSIGID" val="StasSigId_92889414"/>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1.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4"/>
  <p:tag name="VISUALISATION_ID" val="Darwin_92257062"/>
  <p:tag name="UPDATE" val="unlock"/>
  <p:tag name="STASSIGID" val="StasSigId_58825525"/>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2.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3"/>
  <p:tag name="VISUALISATION_ID" val="Darwin_71355114"/>
  <p:tag name="UPDATE" val="unlock"/>
  <p:tag name="STASSIGID" val="StasSigId_71259185"/>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3.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7"/>
  <p:tag name="VISUALISATION_ID" val="Darwin_86587125"/>
  <p:tag name="UPDATE" val="unlock"/>
  <p:tag name="STASSIGID" val="StasSigId_71478757"/>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4.xml><?xml version="1.0" encoding="utf-8"?>
<p:tagLst xmlns:a="http://schemas.openxmlformats.org/drawingml/2006/main" xmlns:r="http://schemas.openxmlformats.org/officeDocument/2006/relationships" xmlns:p="http://schemas.openxmlformats.org/presentationml/2006/main">
  <p:tag name="GROUPID" val="Group_50228682"/>
  <p:tag name="DARWINVERSION" val="CSharp"/>
  <p:tag name="FAILEDREFRESHICONID" val="Darwin_78113201"/>
  <p:tag name="SPLITORDER" val="12"/>
  <p:tag name="VISUALISATION_ID" val="Darwin_23898513"/>
  <p:tag name="UPDATE" val="unlock"/>
  <p:tag name="STASSIGID" val="StasSigId_92525086"/>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W27 - (blank)@:@W27 - (blank)@:@0%@:@$$W28 - (blank)@:@W28 - (blank)@:@0%@:@$$W29 - (blank)@:@W29 - (blank)@:@0%@:@$$W30 - (blank)@:@W30 - (blank)@:@0%@:@$$W31 - (blank)@:@W31 - (blank)@:@0%@:@$$W32 - (blank)@:@W32 - (blank)@:@0%@:@$!$PivotFilterCondition--AND$!$Analysis--4469$!$SelectedRows--ALL$!$AddLatestColumnToFirst--False$!$RecentWave--W2#6$!$ChartSplit--1$!$IsClientDeliverable--True$!$SelectedWave--98932,96675,94612,91847,89341,86858$!$Transpose--True$!$ClientDeliverableID--96$!$SelectedSeg--13325$!$IsOverlapping--False$!$ClientDeliverableSegmentIDs--14251,13101,12140,11580,10823,10014$!$SelectedGp--wave$!$IsSorted--True$!$ChartType--Line$!$SelectedMulRolling--$!$SortedField--W32 - (blank)$$Descending$$$!$FetchOverallData--False$!$Relative--True$!$IsAddQuestionText--False$!$StatisticsSignificance--[]$!$LiveWave--False$!$IsNonOverlapping--False$!$StatisticsSignificanceNValue--30$!$IsSplit--True$!$LastUpdate--27-01-2026 18:43:15$!$AddSplitObjectsToSingleSlide--False$!$LongFilterFields--segment_1@:@IN@:@Speciality  - Gastro$!$TableHeader--1$!$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4403dcae4125a3f1021df72aa3e9ca292f624f84a090d7a906f450ca95647fd6"/>
  <p:tag name="DATAFRAMECONFIGHASH_BACKUP" val="{&quot;AggregationType&quot;:1,&quot;ColumnFields&quot;:[&quot;time_period_name&quot;,&quot;segment_2&quot;],&quot;FilterCondition&quot;:0,&quot;Filters&quot;:[{&quot;ColumnKey&quot;:&quot;segment_1&quot;,&quot;Type&quot;:1,&quot;Value&quot;:&quot;Speciality - Gastro&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SPLITGROUPID" val="50228682"/>
  <p:tag name="MAPPINGCONFIG" val="{&quot;selectedColumns&quot;:[&quot;code&quot;,&quot;W28 - (blank)&quot;,&quot;W29 - (blank)&quot;,&quot;W30 - (blank)&quot;,&quot;W31 - (blank)&quot;,&quot;W32 - (blank)&quot;,&quot;Jan-Feb 2026 - (blank)&quot;],&quot;selectedRows&quot;:[],&quot;selectAllRows&quot;:true,&quot;addQuestionText&quot;:false,&quot;applyTranspose&quot;:true,&quot;addLegend&quot;:false,&quot;rowsPerObject&quot;:1,&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365.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42:3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72545953"/>
</p:tagLst>
</file>

<file path=ppt/tags/tag366.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92998174"/>
  <p:tag name="VISUALISATION_ID" val="Darwin_1229918"/>
  <p:tag name="SYNQRY" val="SYNQRY#1#$$!$FileVersion--Ver-7o0o0$!$IsAlias--False$!$Project--523$!$IsNestedSegments--False$!$ProjectSegmentIDs--$!$Survey--482371$!$RequiredColumns--code@:@code@:@@:@$$title@:@title@:@@:@$$W27 - (blank)@:@W27 - (blank)@:@0%@:@$$W28 - (blank)@:@W28 - (blank)@:@0%@:@$$W29 - (blank)@:@W29 - (blank)@:@0%@:@$$W30 - (blank)@:@W30 - (blank)@:@0%@:@$$W31 - (blank)@:@W31 - (blank)@:@0%@:@$$W32 - (blank)@:@W32 - (blank)@:@0%@:@$$W32 - Options  - Believable@:@W32 - Options  - Believable@:@0%@:@$$W32 - Options  - Differentiated@:@W32 - Options  - Differentiated@:@0%@:@$$W32 - Options  - Motivating to Prescribe@:@W32 - Options  - Motivating to Prescribe@:@0%@:@$$&lt;blank:ME&gt;@:@ME@:@0%@:@=GEOMEAN(I2:K2)$!$LongFilterCondition--AND$!$Metric--none$!$SelectedColumns--code@:@code@:@@:@$$title@:@title@:@@:@$!$PivotFilterCondition--AND$!$Analysis--4469$!$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9:02:26$!$AddSplitObjectsToSingleSlide--False$!$LongFilterFields--segment_1@:@IN@:@Speciality  - PCPs$!$TableHeader--2$!$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2660ca25b72ef321dcd31534981a5242ba1fe0d57344e71d08f30514b114cb1"/>
  <p:tag name="DATAFRAMECONFIGHASH_BACKUP" val="{&quot;AggregationType&quot;:1,&quot;ColumnFields&quot;:[&quot;time_period_name&quot;,&quot;segment_2&quot;],&quot;FilterCondition&quot;:0,&quot;Filters&quot;:[{&quot;ColumnKey&quot;:&quot;segment_1&quot;,&quot;Type&quot;:1,&quot;Value&quot;:&quot;Speciality - PCPs&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blank)&quot;},{&quot;Format&quot;:&quot;0%&quot;,&quot;Formula&quot;:&quot;&quot;,&quot;IsDefaultAlias&quot;:false,&quot;Name&quot;:&quot;W29 - (blank)&quot;},{&quot;Format&quot;:&quot;0%&quot;,&quot;Formula&quot;:&quot;&quot;,&quot;IsDefaultAlias&quot;:false,&quot;Name&quot;:&quot;W30 - (blank)&quot;},{&quot;Format&quot;:&quot;0%&quot;,&quot;Formula&quot;:&quot;&quot;,&quot;IsDefaultAlias&quot;:false,&quot;Name&quot;:&quot;W31 - (blank)&quot;},{&quot;Format&quot;:&quot;0%&quot;,&quot;Formula&quot;:&quot;&quot;,&quot;IsDefaultAlias&quot;:false,&quot;Name&quot;:&quot;W32 - (blank)&quot;},{&quot;Format&quot;:&quot;0%&quot;,&quot;Formula&quot;:&quot;&quot;,&quot;IsDefaultAlias&quot;:false,&quot;Name&quot;:&quot;Jan-Feb 2026 - (blank)&quot;,&quot;sortCriteria&quot;:{&quot;CustomList&quot;:[],&quot;Level&quot;:1,&quot;Order&quot;:1}},{&quot;Format&quot;:&quot;0%&quot;,&quot;Formula&quot;:&quot;&quot;,&quot;IsDefaultAlias&quot;:false,&quot;Name&quot;:&quot;Jan-Feb 2026 - Options - Believable&quot;},{&quot;Format&quot;:&quot;0%&quot;,&quot;Formula&quot;:&quot;&quot;,&quot;IsDefaultAlias&quot;:false,&quot;Name&quot;:&quot;Jan-Feb 2026 - Options - Differentiated&quot;},{&quot;Format&quot;:&quot;0%&quot;,&quot;Formula&quot;:&quot;&quot;,&quot;IsDefaultAlias&quot;:false,&quot;Name&quot;:&quot;Jan-Feb 2026 - Options - Motivating to Prescribe&quot;},{&quot;Alias&quot;:&quot;ME&quot;,&quot;Format&quot;:&quot;0%&quot;,&quot;Formula&quot;:&quot;=GEOMEAN(I2:I2, J2:J2, K2:K2)&quot;,&quot;IsDefaultAlias&quot;:false,&quot;Name&quot;:&quot;&lt;blank:ME&gt;&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67.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8304,7814,7405,6995,6530,6043$!$SelectedGp--wave$!$IsSorted--False$!$ChartType--Table$!$SelectedMulRolling--$!$SortedField--$!$FetchOverallData--False$!$Relative--True$!$IsAddQuestionText--False$!$StatisticsSignificance--[]$!$LiveWave--False$!$IsNonOverlapping--False$!$StatisticsSignificanceNValue--30$!$IsSplit--False$!$LastUpdate--15-01-2024 21:33:58$!$AddSplitObjectsToSingleSlide--False$!$LongFilterFields--$!$TableHeader--2$!$PivotEntry--1$!$TopNRows--0$!$IsProjectAnalysis--True$!$SelectAllColumns--False$!$PivotFilterFields--$!$IsAddLegend--False$!$xField--segment_0,time_period_id$!$Status--Create:Success$!$yField--title$!$MoveFirst--$!$vField--n - value$!$MoveLast--$!$fnField--Sum"/>
  <p:tag name="FAILEDREFRESHICONID" val="Darwin_51338877"/>
  <p:tag name="VISUALISATION_ID" val="Darwin_78557933"/>
  <p:tag name="UPDATE" val="lock"/>
</p:tagLst>
</file>

<file path=ppt/tags/tag368.xml><?xml version="1.0" encoding="utf-8"?>
<p:tagLst xmlns:a="http://schemas.openxmlformats.org/drawingml/2006/main" xmlns:r="http://schemas.openxmlformats.org/officeDocument/2006/relationships" xmlns:p="http://schemas.openxmlformats.org/presentationml/2006/main">
  <p:tag name="GROUPID" val="Group_25912087"/>
  <p:tag name="SPLITORDER" val="0"/>
  <p:tag name="DARWINVERSION" val="CSharp"/>
  <p:tag name="VISUALISATION_ID" val="Darwin_67898502"/>
  <p:tag name="UPDATE" val="unlock"/>
  <p:tag name="STASSIGID" val="StasSigId_43727109"/>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69.xml><?xml version="1.0" encoding="utf-8"?>
<p:tagLst xmlns:a="http://schemas.openxmlformats.org/drawingml/2006/main" xmlns:r="http://schemas.openxmlformats.org/officeDocument/2006/relationships" xmlns:p="http://schemas.openxmlformats.org/presentationml/2006/main">
  <p:tag name="GROUPID" val="Group_25912087"/>
  <p:tag name="SPLITORDER" val="1"/>
  <p:tag name="DARWINVERSION" val="CSharp"/>
  <p:tag name="VISUALISATION_ID" val="Darwin_61530623"/>
  <p:tag name="UPDATE" val="unlock"/>
  <p:tag name="STASSIGID" val="StasSigId_17573737"/>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0.xml><?xml version="1.0" encoding="utf-8"?>
<p:tagLst xmlns:a="http://schemas.openxmlformats.org/drawingml/2006/main" xmlns:r="http://schemas.openxmlformats.org/officeDocument/2006/relationships" xmlns:p="http://schemas.openxmlformats.org/presentationml/2006/main">
  <p:tag name="GROUPID" val="Group_25912087"/>
  <p:tag name="SPLITORDER" val="2"/>
  <p:tag name="DARWINVERSION" val="CSharp"/>
  <p:tag name="VISUALISATION_ID" val="Darwin_3060933"/>
  <p:tag name="UPDATE" val="unlock"/>
  <p:tag name="STASSIGID" val="StasSigId_66943721"/>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1.xml><?xml version="1.0" encoding="utf-8"?>
<p:tagLst xmlns:a="http://schemas.openxmlformats.org/drawingml/2006/main" xmlns:r="http://schemas.openxmlformats.org/officeDocument/2006/relationships" xmlns:p="http://schemas.openxmlformats.org/presentationml/2006/main">
  <p:tag name="GROUPID" val="Group_25912087"/>
  <p:tag name="SPLITORDER" val="3"/>
  <p:tag name="DARWINVERSION" val="CSharp"/>
  <p:tag name="VISUALISATION_ID" val="Darwin_62315373"/>
  <p:tag name="UPDATE" val="unlock"/>
  <p:tag name="STASSIGID" val="StasSigId_75872469"/>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2.xml><?xml version="1.0" encoding="utf-8"?>
<p:tagLst xmlns:a="http://schemas.openxmlformats.org/drawingml/2006/main" xmlns:r="http://schemas.openxmlformats.org/officeDocument/2006/relationships" xmlns:p="http://schemas.openxmlformats.org/presentationml/2006/main">
  <p:tag name="GROUPID" val="Group_25912087"/>
  <p:tag name="SPLITORDER" val="4"/>
  <p:tag name="DARWINVERSION" val="CSharp"/>
  <p:tag name="VISUALISATION_ID" val="Darwin_81681418"/>
  <p:tag name="UPDATE" val="unlock"/>
  <p:tag name="STASSIGID" val="StasSigId_20197792"/>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3.xml><?xml version="1.0" encoding="utf-8"?>
<p:tagLst xmlns:a="http://schemas.openxmlformats.org/drawingml/2006/main" xmlns:r="http://schemas.openxmlformats.org/officeDocument/2006/relationships" xmlns:p="http://schemas.openxmlformats.org/presentationml/2006/main">
  <p:tag name="GROUPID" val="Group_25912087"/>
  <p:tag name="SPLITORDER" val="5"/>
  <p:tag name="DARWINVERSION" val="CSharp"/>
  <p:tag name="VISUALISATION_ID" val="Darwin_70457149"/>
  <p:tag name="UPDATE" val="unlock"/>
  <p:tag name="STASSIGID" val="StasSigId_70382739"/>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4.xml><?xml version="1.0" encoding="utf-8"?>
<p:tagLst xmlns:a="http://schemas.openxmlformats.org/drawingml/2006/main" xmlns:r="http://schemas.openxmlformats.org/officeDocument/2006/relationships" xmlns:p="http://schemas.openxmlformats.org/presentationml/2006/main">
  <p:tag name="GROUPID" val="Group_25912087"/>
  <p:tag name="SPLITORDER" val="6"/>
  <p:tag name="DARWINVERSION" val="CSharp"/>
  <p:tag name="VISUALISATION_ID" val="Darwin_41613277"/>
  <p:tag name="UPDATE" val="unlock"/>
  <p:tag name="STASSIGID" val="StasSigId_72815759"/>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5.xml><?xml version="1.0" encoding="utf-8"?>
<p:tagLst xmlns:a="http://schemas.openxmlformats.org/drawingml/2006/main" xmlns:r="http://schemas.openxmlformats.org/officeDocument/2006/relationships" xmlns:p="http://schemas.openxmlformats.org/presentationml/2006/main">
  <p:tag name="GROUPID" val="Group_25912087"/>
  <p:tag name="SPLITORDER" val="7"/>
  <p:tag name="DARWINVERSION" val="CSharp"/>
  <p:tag name="VISUALISATION_ID" val="Darwin_9698783"/>
  <p:tag name="UPDATE" val="unlock"/>
  <p:tag name="STASSIGID" val="StasSigId_77017720"/>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6.xml><?xml version="1.0" encoding="utf-8"?>
<p:tagLst xmlns:a="http://schemas.openxmlformats.org/drawingml/2006/main" xmlns:r="http://schemas.openxmlformats.org/officeDocument/2006/relationships" xmlns:p="http://schemas.openxmlformats.org/presentationml/2006/main">
  <p:tag name="GROUPID" val="Group_25912087"/>
  <p:tag name="SPLITORDER" val="8"/>
  <p:tag name="DARWINVERSION" val="CSharp"/>
  <p:tag name="VISUALISATION_ID" val="Darwin_32747678"/>
  <p:tag name="UPDATE" val="unlock"/>
  <p:tag name="STASSIGID" val="StasSigId_29739829"/>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7.xml><?xml version="1.0" encoding="utf-8"?>
<p:tagLst xmlns:a="http://schemas.openxmlformats.org/drawingml/2006/main" xmlns:r="http://schemas.openxmlformats.org/officeDocument/2006/relationships" xmlns:p="http://schemas.openxmlformats.org/presentationml/2006/main">
  <p:tag name="GROUPID" val="Group_25912087"/>
  <p:tag name="SPLITORDER" val="9"/>
  <p:tag name="DARWINVERSION" val="CSharp"/>
  <p:tag name="VISUALISATION_ID" val="Darwin_43461867"/>
  <p:tag name="UPDATE" val="unlock"/>
  <p:tag name="STASSIGID" val="StasSigId_89097543"/>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8.xml><?xml version="1.0" encoding="utf-8"?>
<p:tagLst xmlns:a="http://schemas.openxmlformats.org/drawingml/2006/main" xmlns:r="http://schemas.openxmlformats.org/officeDocument/2006/relationships" xmlns:p="http://schemas.openxmlformats.org/presentationml/2006/main">
  <p:tag name="GROUPID" val="Group_25912087"/>
  <p:tag name="SPLITORDER" val="10"/>
  <p:tag name="DARWINVERSION" val="CSharp"/>
  <p:tag name="VISUALISATION_ID" val="Darwin_58020280"/>
  <p:tag name="UPDATE" val="unlock"/>
  <p:tag name="STASSIGID" val="StasSigId_72561272"/>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79.xml><?xml version="1.0" encoding="utf-8"?>
<p:tagLst xmlns:a="http://schemas.openxmlformats.org/drawingml/2006/main" xmlns:r="http://schemas.openxmlformats.org/officeDocument/2006/relationships" xmlns:p="http://schemas.openxmlformats.org/presentationml/2006/main">
  <p:tag name="GROUPID" val="Group_25912087"/>
  <p:tag name="DARWINVERSION" val="CSharp"/>
  <p:tag name="SPLITORDER" val="12"/>
  <p:tag name="VISUALISATION_ID" val="Darwin_50846109"/>
  <p:tag name="UPDATE" val="unlock"/>
  <p:tag name="STASSIGID" val="StasSigId_14752145"/>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0.xml><?xml version="1.0" encoding="utf-8"?>
<p:tagLst xmlns:a="http://schemas.openxmlformats.org/drawingml/2006/main" xmlns:r="http://schemas.openxmlformats.org/officeDocument/2006/relationships" xmlns:p="http://schemas.openxmlformats.org/presentationml/2006/main">
  <p:tag name="GROUPID" val="Group_25912087"/>
  <p:tag name="DARWINVERSION" val="CSharp"/>
  <p:tag name="SPLITORDER" val="11"/>
  <p:tag name="VISUALISATION_ID" val="Darwin_6990529"/>
  <p:tag name="UPDATE" val="unlock"/>
  <p:tag name="STASSIGID" val="StasSigId_43763318"/>
  <p:tag name="SYNQRY" val="SYNQRY#1#$$!$FileVersion--1.6.5.7$!$IsAlias--True$!$Project--523$!$IsNestedSegments--False$!$ProjectSegmentIDs--$!$Survey--482371$!$RequiredColumns--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19:01:38$!$AddSplitObjectsToSingleSlide--True$!$LongFilterFields--segment_1@:@IN@:@Speciality  - PCPs$!$TableHeader--1$!$PivotEntry--1$!$TopNRows--0$!$IsProjectAnalysis--False$!$SelectAllColumns--True$!$PivotFilterFields--$!$IsAddLegend--False$!$xField--title$!$Status--Create:Success$!$yField--segment_0,segment_1$!$MoveFirst--$!$vField--decimal$!$MoveLast--$!$fnField--Average"/>
  <p:tag name="REPORTCONFIGHASH" val="805ecd44af05071b0d4d029dba1b79aa4a65420ad8086ff663d7bbbbd2b8787b"/>
  <p:tag name="REPORTCONFIGHASH_BACKUP" val="{&quot;AnalysisIds&quot;:[11741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2f9111b33b73e2fecbcdedee4d911e4216e26098ccd4560c339167e949c915"/>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5912087"/>
  <p:tag name="MAPPINGCONFIG" val="{&quot;selectedColumns&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1.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92998174"/>
  <p:tag name="UPDATE" val="unlock"/>
  <p:tag name="VISUALISATION_ID" val="Darwin_29382606"/>
  <p:tag name="SYNQRY" val="SYNQRY#1#$$!$FileVersion--Ver-7o0o0$!$IsAlias--False$!$Project--523$!$IsNestedSegments--False$!$ProjectSegmentIDs--$!$Survey--482371$!$RequiredColumns--code@:@code@:@@:@$$title@:@title@:@@:@$$W27 - Options  - Believable@:@W27 - Options  - Believable@:@@:@$$W27 - Options  - Differentiated@:@W27 - Options  - Differentiated@:@@:@$$W27 - Options  - Motivating to Prescribe@:@W27 - Options  - Motivating to Prescribe@:@@:@$$W27 - (blank)@:@W27 - (blank)@:@@:@$$W28 - Options  - Believable@:@W28 - Options  - Believable@:@@:@$$W28 - Options  - Differentiated@:@W28 - Options  - Differentiated@:@@:@$$W28 - Options  - Motivating to Prescribe@:@W28 - Options  - Motivating to Prescribe@:@@:@$$W28 - (blank)@:@W28 - (blank)@:@@:@$$W29 - Options  - Believable@:@W29 - Options  - Believable@:@@:@$$W29 - Options  - Differentiated@:@W29 - Options  - Differentiated@:@@:@$$W29 - Options  - Motivating to Prescribe@:@W29 - Options  - Motivating to Prescribe@:@@:@$$W29 - (blank)@:@W29 - (blank)@:@@:@$$W30 - Options  - Believable@:@W30 - Options  - Believable@:@@:@$$W30 - Options  - Differentiated@:@W30 - Options  - Differentiated@:@@:@$$W30 - Options  - Motivating to Prescribe@:@W30 - Options  - Motivating to Prescribe@:@@:@$$W30 - (blank)@:@W30 - (blank)@:@@:@$$W31 - Options  - Believable@:@W31 - Options  - Believable@:@@:@$$W31 - Options  - Differentiated@:@W31 - Options  - Differentiated@:@@:@$$W31 - Options  - Motivating to Prescribe@:@W31 - Options  - Motivating to Prescribe@:@@:@$$W31 - (blank)@:@W31 - (blank)@:@@:@$$W32 - Options  - Believable@:@W32 - Options  - Believable@:@@:@$$W32 - Options  - Differentiated@:@W32 - Options  - Differentiated@:@@:@$$W32 - Options  - Motivating to Prescribe@:@W32 - Options  - Motivating to Prescribe@:@@:@$$W32 - (blank)@:@W32 - (blank)@:@0%@:@$!$LongFilterCondition--AND$!$Metric--none$!$SelectedColumns--code@:@code@:@@:@$$title@:@title@:@@:@$!$PivotFilterCondition--AND$!$Analysis--4469$!$SelectedRows--ALL$!$AddLatestColumnToFirst--False$!$RecentWave--W2#6$!$ChartSplit--$!$IsClientDeliverable--True$!$SelectedWave--98932,96675,94612,91847,89341,86858$!$Transpose--False$!$ClientDeliverableID--96$!$SelectedSeg--13325$!$IsOverlapping--False$!$ClientDeliverableSegmentIDs--14251,13101,12140,11580,10823,10014$!$SelectedGp--wave$!$IsSorted--True$!$ChartType--Table$!$SelectedMulRolling--$!$SortedField--W32 - (blank)$$Descending$$$!$FetchOverallData--False$!$Relative--True$!$IsAddQuestionText--False$!$StatisticsSignificance--[]$!$LiveWave--False$!$IsNonOverlapping--False$!$StatisticsSignificanceNValue--30$!$IsSplit--False$!$LastUpdate--27-01-2026 19:14:51$!$AddSplitObjectsToSingleSlide--False$!$LongFilterFields--segment_1@:@IN@:@Speciality  - NP/PA$!$TableHeader--2$!$PivotEntry--1$!$TopNRows--0$!$IsProjectAnalysis--True$!$SelectAllColumns--False$!$PivotFilterFields--$!$IsAddLegend--False$!$xField--code,title$!$Status--Create:Success$!$yField--segment_0,segment_2$!$MoveFirst--$!$vField--decimal$!$MoveLast--$!$fnField--Average"/>
  <p:tag name="REPORTCONFIGHASH" val="480714a8ae118b82692f38e45c1cff28cd70a5430c421e0db757b12ad42d2f4e"/>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c3fe147a0a69c46c667d4125c040de89f6f9dd0f71b09ccb8717630c13f53f68"/>
  <p:tag name="DATAFRAMECONFIGHASH_BACKUP" val="{&quot;AggregationType&quot;:1,&quot;ColumnFields&quot;:[&quot;time_period_name&quot;,&quot;segment_2&quot;],&quot;FilterCondition&quot;:0,&quot;Filters&quot;:[{&quot;ColumnKey&quot;:&quot;segment_1&quot;,&quot;Type&quot;:1,&quot;Value&quot;:&quot;Speciality - NP/PA&quot;,&quot;filterCriteria&quot;:1}],&quot;LatestColumnsFirst&quot;:false,&quot;RowFields&quot;:[&quot;code&quot;,&quot;title&quot;],&quot;ValueFields&quot;:[&quot;decimal&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Options - Believable&quot;},{&quot;Format&quot;:&quot;&quot;,&quot;Formula&quot;:&quot;&quot;,&quot;IsDefaultAlias&quot;:false,&quot;Name&quot;:&quot;W28 - Options - Differentiated&quot;},{&quot;Format&quot;:&quot;&quot;,&quot;Formula&quot;:&quot;&quot;,&quot;IsDefaultAlias&quot;:false,&quot;Name&quot;:&quot;W28 - Options - Motivating to Prescribe&quot;},{&quot;Format&quot;:&quot;&quot;,&quot;Formula&quot;:&quot;&quot;,&quot;IsDefaultAlias&quot;:false,&quot;Name&quot;:&quot;W28 - (blank)&quot;},{&quot;Format&quot;:&quot;&quot;,&quot;Formula&quot;:&quot;&quot;,&quot;IsDefaultAlias&quot;:false,&quot;Name&quot;:&quot;W29 - Options - Believable&quot;},{&quot;Format&quot;:&quot;&quot;,&quot;Formula&quot;:&quot;&quot;,&quot;IsDefaultAlias&quot;:false,&quot;Name&quot;:&quot;W29 - Options - Differentiated&quot;},{&quot;Format&quot;:&quot;&quot;,&quot;Formula&quot;:&quot;&quot;,&quot;IsDefaultAlias&quot;:false,&quot;Name&quot;:&quot;W29 - Options - Motivating to Prescribe&quot;},{&quot;Format&quot;:&quot;&quot;,&quot;Formula&quot;:&quot;&quot;,&quot;IsDefaultAlias&quot;:false,&quot;Name&quot;:&quot;W29 - (blank)&quot;},{&quot;Format&quot;:&quot;&quot;,&quot;Formula&quot;:&quot;&quot;,&quot;IsDefaultAlias&quot;:false,&quot;Name&quot;:&quot;W30 - Options - Believable&quot;},{&quot;Format&quot;:&quot;&quot;,&quot;Formula&quot;:&quot;&quot;,&quot;IsDefaultAlias&quot;:false,&quot;Name&quot;:&quot;W30 - Options - Differentiated&quot;},{&quot;Format&quot;:&quot;&quot;,&quot;Formula&quot;:&quot;&quot;,&quot;IsDefaultAlias&quot;:false,&quot;Name&quot;:&quot;W30 - Options - Motivating to Prescribe&quot;},{&quot;Format&quot;:&quot;&quot;,&quot;Formula&quot;:&quot;&quot;,&quot;IsDefaultAlias&quot;:false,&quot;Name&quot;:&quot;W30 - (blank)&quot;},{&quot;Format&quot;:&quot;&quot;,&quot;Formula&quot;:&quot;&quot;,&quot;IsDefaultAlias&quot;:false,&quot;Name&quot;:&quot;W31 - Options - Believable&quot;},{&quot;Format&quot;:&quot;&quot;,&quot;Formula&quot;:&quot;&quot;,&quot;IsDefaultAlias&quot;:false,&quot;Name&quot;:&quot;W31 - Options - Differentiated&quot;},{&quot;Format&quot;:&quot;&quot;,&quot;Formula&quot;:&quot;&quot;,&quot;IsDefaultAlias&quot;:false,&quot;Name&quot;:&quot;W31 - Options - Motivating to Prescribe&quot;},{&quot;Format&quot;:&quot;&quot;,&quot;Formula&quot;:&quot;&quot;,&quot;IsDefaultAlias&quot;:false,&quot;Name&quot;:&quot;W31 - (blank)&quot;},{&quot;Format&quot;:&quot;&quot;,&quot;Formula&quot;:&quot;&quot;,&quot;IsDefaultAlias&quot;:false,&quot;Name&quot;:&quot;W32 - Options - Believable&quot;},{&quot;Format&quot;:&quot;&quot;,&quot;Formula&quot;:&quot;&quot;,&quot;IsDefaultAlias&quot;:false,&quot;Name&quot;:&quot;W32 - Options - Differentiated&quot;},{&quot;Format&quot;:&quot;&quot;,&quot;Formula&quot;:&quot;&quot;,&quot;IsDefaultAlias&quot;:false,&quot;Name&quot;:&quot;W32 - Options - Motivating to Prescribe&quot;},{&quot;Format&quot;:&quot;&quot;,&quot;Formula&quot;:&quot;&quot;,&quot;IsDefaultAlias&quot;:false,&quot;Name&quot;:&quot;W32 - (blank)&quot;},{&quot;Format&quot;:&quot;&quot;,&quot;Formula&quot;:&quot;&quot;,&quot;IsDefaultAlias&quot;:false,&quot;Name&quot;:&quot;Jan-Feb 2026 - Options - Believable&quot;},{&quot;Format&quot;:&quot;&quot;,&quot;Formula&quot;:&quot;&quot;,&quot;IsDefaultAlias&quot;:false,&quot;Name&quot;:&quot;Jan-Feb 2026 - Options - Differentiated&quot;},{&quot;Format&quot;:&quot;&quot;,&quot;Formula&quot;:&quot;&quot;,&quot;IsDefaultAlias&quot;:false,&quot;Name&quot;:&quot;Jan-Feb 2026 - Options - Motivating to Prescribe&quot;},{&quot;Format&quot;:&quot;0%&quot;,&quot;Formula&quot;:&quot;&quot;,&quot;IsDefaultAlias&quot;:false,&quot;Name&quot;:&quot;Jan-Feb 2026 - (blank)&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82.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VISUALISATION_ID" val="Darwin_93110505"/>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8:09:57$!$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Lst>
</file>

<file path=ppt/tags/tag383.xml><?xml version="1.0" encoding="utf-8"?>
<p:tagLst xmlns:a="http://schemas.openxmlformats.org/drawingml/2006/main" xmlns:r="http://schemas.openxmlformats.org/officeDocument/2006/relationships" xmlns:p="http://schemas.openxmlformats.org/presentationml/2006/main">
  <p:tag name="SPLITORDER" val="0"/>
  <p:tag name="GROUPID" val="Group_89468552"/>
  <p:tag name="DARWINVERSION" val="CSharp"/>
  <p:tag name="FAILEDREFRESHICONID" val="Darwin_8066625"/>
  <p:tag name="VISUALISATION_ID" val="Darwin_8066625"/>
  <p:tag name="UPDATE" val="unlock"/>
  <p:tag name="STASSIGID" val="StasSigId_55207274"/>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4.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1"/>
  <p:tag name="VISUALISATION_ID" val="Darwin_39455757"/>
  <p:tag name="UPDATE" val="unlock"/>
  <p:tag name="STASSIGID" val="StasSigId_77032568"/>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5.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2"/>
  <p:tag name="VISUALISATION_ID" val="Darwin_41392774"/>
  <p:tag name="UPDATE" val="unlock"/>
  <p:tag name="STASSIGID" val="StasSigId_56701425"/>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6.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3"/>
  <p:tag name="VISUALISATION_ID" val="Darwin_18778059"/>
  <p:tag name="UPDATE" val="unlock"/>
  <p:tag name="STASSIGID" val="StasSigId_96923127"/>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7.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4"/>
  <p:tag name="VISUALISATION_ID" val="Darwin_87637033"/>
  <p:tag name="UPDATE" val="unlock"/>
  <p:tag name="STASSIGID" val="StasSigId_9723357"/>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8.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5"/>
  <p:tag name="VISUALISATION_ID" val="Darwin_27519970"/>
  <p:tag name="UPDATE" val="unlock"/>
  <p:tag name="STASSIGID" val="StasSigId_75315676"/>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89.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6"/>
  <p:tag name="VISUALISATION_ID" val="Darwin_43097362"/>
  <p:tag name="UPDATE" val="unlock"/>
  <p:tag name="STASSIGID" val="StasSigId_91881803"/>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0.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7"/>
  <p:tag name="VISUALISATION_ID" val="Darwin_67494169"/>
  <p:tag name="UPDATE" val="unlock"/>
  <p:tag name="STASSIGID" val="StasSigId_95386715"/>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1.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8"/>
  <p:tag name="VISUALISATION_ID" val="Darwin_84218238"/>
  <p:tag name="UPDATE" val="unlock"/>
  <p:tag name="STASSIGID" val="StasSigId_51280965"/>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2.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9"/>
  <p:tag name="VISUALISATION_ID" val="Darwin_72120773"/>
  <p:tag name="UPDATE" val="unlock"/>
  <p:tag name="STASSIGID" val="StasSigId_22142346"/>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3.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10"/>
  <p:tag name="VISUALISATION_ID" val="Darwin_19202919"/>
  <p:tag name="UPDATE" val="unlock"/>
  <p:tag name="STASSIGID" val="StasSigId_60215816"/>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4.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11"/>
  <p:tag name="VISUALISATION_ID" val="Darwin_92518540"/>
  <p:tag name="UPDATE" val="unlock"/>
  <p:tag name="STASSIGID" val="StasSigId_21348201"/>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5.xml><?xml version="1.0" encoding="utf-8"?>
<p:tagLst xmlns:a="http://schemas.openxmlformats.org/drawingml/2006/main" xmlns:r="http://schemas.openxmlformats.org/officeDocument/2006/relationships" xmlns:p="http://schemas.openxmlformats.org/presentationml/2006/main">
  <p:tag name="GROUPID" val="Group_89468552"/>
  <p:tag name="DARWINVERSION" val="CSharp"/>
  <p:tag name="FAILEDREFRESHICONID" val="Darwin_34306445"/>
  <p:tag name="SPLITORDER" val="12"/>
  <p:tag name="VISUALISATION_ID" val="Darwin_19954172"/>
  <p:tag name="UPDATE" val="unlock"/>
  <p:tag name="STASSIGID" val="StasSigId_54835774"/>
  <p:tag name="SYNQRY" val="SYNQRY#1#$$!$FileVersion--Ver-7o0o0$!$IsAlias--False$!$Project--523$!$IsNestedSegments--False$!$ProjectSegmentIDs--$!$Survey--482371$!$RequiredColumns--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414$!$SelectedRows--ALL$!$AddLatestColumnToFirst--False$!$RecentWave--W2#6$!$ChartSplit--1$!$IsClientDeliverable--True$!$SelectedWave--120937,118248,115138,112550,110139,107406$!$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19:13:57$!$AddSplitObjectsToSingleSlide--True$!$LongFilterFields--segment_1@:@IN@:@Speciality  - NP/PA$!$TableHeader--1$!$PivotEntry--1$!$TopNRows--0$!$IsProjectAnalysis--False$!$SelectAllColumns--True$!$PivotFilterFields--$!$IsAddLegend--False$!$xField--title$!$Status--Create:Success$!$yField--segment_0,segment_1$!$MoveFirst--$!$vField--decimal$!$MoveLast--$!$fnField--Average"/>
  <p:tag name="REPORTCONFIGHASH" val="dc51faeea8ba61bc3a9fc231b912d8d431547167420f409e646df6f8c5dde34d"/>
  <p:tag name="REPORTCONFIGHASH_BACKUP" val="{&quot;AnalysisIds&quot;:[117414],&quot;DynamicTimePeriod&quot;:{&quot;IncludeLiveWave&quot;:false,&quot;LatestNDeliverables&quot;:6},&quot;IncludeAlias&quot;:false,&quot;IncludeOverallSegment&quot;:false,&quot;NestSegments&quot;:false,&quot;ProjectId&quot;:523,&quot;ReportingPlanId&quot;:96,&quot;RollUpDeliverables&quot;:false,&quot;SegmentIds&quot;:[2447],&quot;SurveyId&quot;:482371,&quot;TimePeriodType&quot;:1}"/>
  <p:tag name="DATAFRAMECONFIGHASH" val="81746c6b4784b86105a4cfc6e281fdb476064d3eb961ee16dedf2b6d9f73cd3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title&quot;],&quot;ValueFields&quot;:[&quot;decimal&quot;],&quot;columnDefinitions&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9468552"/>
  <p:tag name="MAPPINGCONFIG" val="{&quot;selectedColumns&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6.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41588495"/>
  <p:tag name="SYNQRY" val="SYNQRY#1#$$!$FileVersion--Ver-7o0o0$!$IsAlias--False$!$Project--523$!$IsNestedSegments--True$!$ProjectSegmentIDs--$!$Survey--396851$!$RequiredColumns--Code@:@Code@:@@:@$$title@:@title@:@@:@$$W27 - Speciality  - Gastro@:@W27 - Speciality  - Gastro@:@@:@$$W28 - Speciality  - Gastro@:@W28 - Speciality  - Gastro@:@@:@$$W29 - Speciality  - Gastro@:@W29 - Speciality  - Gastro@:@@:@$$W30 - Speciality  - Gastro@:@W30 - Speciality  - Gastro@:@@:@$$W31 - Speciality  - Gastro@:@W31 - Speciality  - Gastro@:@@:@$$W32 - Speciality  - Gastro@:@W32 - Speciality  - Gastro@:@0%@:@$!$LongFilterCondition--AND$!$Metric--none$!$SelectedColumns--Code@:@Code@:@@:@$$title@:@title@:@@:@$!$PivotFilterCondition--AND$!$Analysis--4470$!$SelectedRows--ALL$!$AddLatestColumnToFirst--False$!$RecentWave--W2#6$!$ChartSplit--$!$IsClientDeliverable--True$!$SelectedWave--118622,115552,113101,110630,107626,105422$!$Transpose--False$!$ClientDeliverableID--96$!$SelectedSeg--13330$!$IsOverlapping--False$!$ClientDeliverableSegmentIDs--14251,13101,12140,11580,10823,10014$!$SelectedGp--wave$!$IsSorted--True$!$ChartType--Table$!$SelectedMulRolling--$!$SortedField--W32 - Speciality  - Gastro$$Descending$$$!$FetchOverallData--False$!$Relative--True$!$IsAddQuestionText--False$!$StatisticsSignificance--[]$!$LiveWave--False$!$IsNonOverlapping--False$!$StatisticsSignificanceNValue--30$!$IsSplit--False$!$LastUpdate--27-01-2026 20:40:11$!$AddSplitObjectsToSingleSlide--False$!$LongFilterFields--segment_1@:@IN@:@Speciality  - Gastro$!$TableHeader--2$!$PivotEntry--1$!$TopNRows--0$!$IsProjectAnalysis--True$!$SelectAllColumns--False$!$PivotFilterFields--$!$IsAddLegend--False$!$xField--Code,title$!$Status--Create:Success$!$yField--segment_0,segment_1$!$MoveFirst--$!$vField--ME$!$MoveLast--$!$fnField--Average"/>
  <p:tag name="REPORTCONFIGHASH" val="e2f26ff6c86b5dffd347cc38b2a9322c1c0061ab5cae129198b419449571c663"/>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396851,&quot;TimePeriodType&quot;:1}"/>
  <p:tag name="DATAFRAMECONFIGHASH" val="303c2354f42a9c2c08944c9caebc9f2f35006d5eaa353af26822515219b5d76b"/>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Speciality - Gastro&quot;},{&quot;Format&quot;:&quot;&quot;,&quot;Formula&quot;:&quot;&quot;,&quot;IsDefaultAlias&quot;:false,&quot;Name&quot;:&quot;W29 - Speciality - Gastro&quot;},{&quot;Format&quot;:&quot;&quot;,&quot;Formula&quot;:&quot;&quot;,&quot;IsDefaultAlias&quot;:false,&quot;Name&quot;:&quot;W30 - Speciality - Gastro&quot;},{&quot;Format&quot;:&quot;&quot;,&quot;Formula&quot;:&quot;&quot;,&quot;IsDefaultAlias&quot;:false,&quot;Name&quot;:&quot;W31 - Speciality - Gastro&quot;},{&quot;Format&quot;:&quot;&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397.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0"/>
  <p:tag name="DARWINVERSION" val="CSharp"/>
  <p:tag name="VISUALISATION_ID" val="Darwin_88185757"/>
  <p:tag name="UPDATE" val="unlock"/>
  <p:tag name="STASSIGID" val="StasSigId_5721055"/>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8.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1"/>
  <p:tag name="DARWINVERSION" val="CSharp"/>
  <p:tag name="VISUALISATION_ID" val="Darwin_41151921"/>
  <p:tag name="UPDATE" val="unlock"/>
  <p:tag name="STASSIGID" val="StasSigId_65815020"/>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399.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2"/>
  <p:tag name="DARWINVERSION" val="CSharp"/>
  <p:tag name="VISUALISATION_ID" val="Darwin_42855642"/>
  <p:tag name="UPDATE" val="unlock"/>
  <p:tag name="STASSIGID" val="StasSigId_96153686"/>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0.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3"/>
  <p:tag name="DARWINVERSION" val="CSharp"/>
  <p:tag name="VISUALISATION_ID" val="Darwin_56895440"/>
  <p:tag name="UPDATE" val="unlock"/>
  <p:tag name="STASSIGID" val="StasSigId_77110705"/>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1.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4"/>
  <p:tag name="DARWINVERSION" val="CSharp"/>
  <p:tag name="VISUALISATION_ID" val="Darwin_74019243"/>
  <p:tag name="UPDATE" val="unlock"/>
  <p:tag name="STASSIGID" val="StasSigId_57063547"/>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2.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5"/>
  <p:tag name="DARWINVERSION" val="CSharp"/>
  <p:tag name="VISUALISATION_ID" val="Darwin_95308843"/>
  <p:tag name="UPDATE" val="unlock"/>
  <p:tag name="STASSIGID" val="StasSigId_65459808"/>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3.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6"/>
  <p:tag name="DARWINVERSION" val="CSharp"/>
  <p:tag name="VISUALISATION_ID" val="Darwin_44027961"/>
  <p:tag name="UPDATE" val="unlock"/>
  <p:tag name="STASSIGID" val="StasSigId_33890269"/>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4.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7"/>
  <p:tag name="DARWINVERSION" val="CSharp"/>
  <p:tag name="VISUALISATION_ID" val="Darwin_24590777"/>
  <p:tag name="UPDATE" val="unlock"/>
  <p:tag name="STASSIGID" val="StasSigId_95528703"/>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5.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8"/>
  <p:tag name="DARWINVERSION" val="CSharp"/>
  <p:tag name="VISUALISATION_ID" val="Darwin_36585685"/>
  <p:tag name="UPDATE" val="unlock"/>
  <p:tag name="STASSIGID" val="StasSigId_58050719"/>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6.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9"/>
  <p:tag name="DARWINVERSION" val="CSharp"/>
  <p:tag name="VISUALISATION_ID" val="Darwin_6097881"/>
  <p:tag name="UPDATE" val="unlock"/>
  <p:tag name="STASSIGID" val="StasSigId_46840191"/>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7.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10"/>
  <p:tag name="DARWINVERSION" val="CSharp"/>
  <p:tag name="VISUALISATION_ID" val="Darwin_79386432"/>
  <p:tag name="UPDATE" val="unlock"/>
  <p:tag name="STASSIGID" val="StasSigId_1194342"/>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8.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SPLITORDER" val="11"/>
  <p:tag name="DARWINVERSION" val="CSharp"/>
  <p:tag name="VISUALISATION_ID" val="Darwin_37524747"/>
  <p:tag name="UPDATE" val="unlock"/>
  <p:tag name="STASSIGID" val="StasSigId_97230277"/>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09.xml><?xml version="1.0" encoding="utf-8"?>
<p:tagLst xmlns:a="http://schemas.openxmlformats.org/drawingml/2006/main" xmlns:r="http://schemas.openxmlformats.org/officeDocument/2006/relationships" xmlns:p="http://schemas.openxmlformats.org/presentationml/2006/main">
  <p:tag name="NON_CONNECTED_SHAPE_ID" val="3220951"/>
  <p:tag name="GROUPID" val="Group_49384193"/>
  <p:tag name="DARWINVERSION" val="CSharp"/>
  <p:tag name="SPLITORDER" val="12"/>
  <p:tag name="VISUALISATION_ID" val="Darwin_30221256"/>
  <p:tag name="UPDATE" val="unlock"/>
  <p:tag name="STASSIGID" val="StasSigId_91722761"/>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39:14$!$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cd1da6e1b2cef103c6b239b8875e48c90c68776402b099bddd0c2aa1da2b739e"/>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49384193"/>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0.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42:3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70511062"/>
</p:tagLst>
</file>

<file path=ppt/tags/tag411.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8304,7814,7405,6995,6530,6043$!$SelectedGp--wave$!$IsSorted--False$!$ChartType--Table$!$SelectedMulRolling--$!$SortedField--$!$FetchOverallData--False$!$Relative--True$!$IsAddQuestionText--False$!$StatisticsSignificance--[]$!$LiveWave--False$!$IsNonOverlapping--False$!$StatisticsSignificanceNValue--30$!$IsSplit--False$!$LastUpdate--15-01-2024 21:33:58$!$AddSplitObjectsToSingleSlide--False$!$LongFilterFields--$!$TableHeader--2$!$PivotEntry--1$!$TopNRows--0$!$IsProjectAnalysis--True$!$SelectAllColumns--False$!$PivotFilterFields--$!$IsAddLegend--False$!$xField--segment_0,time_period_id$!$Status--Create:Success$!$yField--title$!$MoveFirst--$!$vField--n - value$!$MoveLast--$!$fnField--Sum"/>
  <p:tag name="FAILEDREFRESHICONID" val="Darwin_51338877"/>
  <p:tag name="VISUALISATION_ID" val="Darwin_84321237"/>
  <p:tag name="UPDATE" val="lock"/>
</p:tagLst>
</file>

<file path=ppt/tags/tag412.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98537131"/>
  <p:tag name="SYNQRY" val="SYNQRY#1#$$!$FileVersion--Ver-7o0o0$!$IsAlias--False$!$Project--523$!$IsNestedSegments--True$!$ProjectSegmentIDs--$!$Survey--396851$!$RequiredColumns--Code@:@Code@:@@:@$$title@:@title@:@@:@$$W27 - Speciality  - PCPs@:@W27 - Speciality  - PCPs@:@@:@$$W28 - Speciality  - PCPs@:@W28 - Speciality  - PCPs@:@@:@$$W29 - Speciality  - PCPs@:@W29 - Speciality  - PCPs@:@@:@$$W30 - Speciality  - PCPs@:@W30 - Speciality  - PCPs@:@@:@$$W31 - Speciality  - PCPs@:@W31 - Speciality  - PCPs@:@@:@$$W32 - Speciality  - PCPs@:@W32 - Speciality  - PCPs@:@0%@:@$!$LongFilterCondition--AND$!$Metric--none$!$SelectedColumns--Code@:@Code@:@@:@$$title@:@title@:@@:@$!$PivotFilterCondition--AND$!$Analysis--4470$!$SelectedRows--ALL$!$AddLatestColumnToFirst--False$!$RecentWave--W2#6$!$ChartSplit--$!$IsClientDeliverable--True$!$SelectedWave--118622,115552,113101,110630,107626,105422$!$Transpose--False$!$ClientDeliverableID--96$!$SelectedSeg--13330$!$IsOverlapping--False$!$ClientDeliverableSegmentIDs--14251,13101,12140,11580,10823,10014$!$SelectedGp--wave$!$IsSorted--True$!$ChartType--Table$!$SelectedMulRolling--$!$SortedField--W32 - Speciality  - PCPs$$Descending$$$!$FetchOverallData--False$!$Relative--True$!$IsAddQuestionText--False$!$StatisticsSignificance--[]$!$LiveWave--False$!$IsNonOverlapping--False$!$StatisticsSignificanceNValue--30$!$IsSplit--False$!$LastUpdate--27-01-2026 20:44:52$!$AddSplitObjectsToSingleSlide--False$!$LongFilterFields--segment_1@:@IN@:@Speciality  - PCPs$!$TableHeader--2$!$PivotEntry--1$!$TopNRows--0$!$IsProjectAnalysis--True$!$SelectAllColumns--False$!$PivotFilterFields--$!$IsAddLegend--False$!$xField--Code,title$!$Status--Create:Success$!$yField--segment_0,segment_1$!$MoveFirst--$!$vField--ME$!$MoveLast--$!$fnField--Average"/>
  <p:tag name="REPORTCONFIGHASH" val="e2f26ff6c86b5dffd347cc38b2a9322c1c0061ab5cae129198b419449571c663"/>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396851,&quot;TimePeriodType&quot;:1}"/>
  <p:tag name="DATAFRAMECONFIGHASH" val="bbf0fdfe1af5695a33beb0099907575a94963af076b2a9da5c507cc86f3089f7"/>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Speciality - PCPs&quot;},{&quot;Format&quot;:&quot;&quot;,&quot;Formula&quot;:&quot;&quot;,&quot;IsDefaultAlias&quot;:false,&quot;Name&quot;:&quot;W29 - Speciality - PCPs&quot;},{&quot;Format&quot;:&quot;&quot;,&quot;Formula&quot;:&quot;&quot;,&quot;IsDefaultAlias&quot;:false,&quot;Name&quot;:&quot;W30 - Speciality - PCPs&quot;},{&quot;Format&quot;:&quot;&quot;,&quot;Formula&quot;:&quot;&quot;,&quot;IsDefaultAlias&quot;:false,&quot;Name&quot;:&quot;W31 - Speciality - PCPs&quot;},{&quot;Format&quot;:&quot;&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13.xml><?xml version="1.0" encoding="utf-8"?>
<p:tagLst xmlns:a="http://schemas.openxmlformats.org/drawingml/2006/main" xmlns:r="http://schemas.openxmlformats.org/officeDocument/2006/relationships" xmlns:p="http://schemas.openxmlformats.org/presentationml/2006/main">
  <p:tag name="GROUPID" val="Group_43794717"/>
  <p:tag name="SPLITORDER" val="0"/>
  <p:tag name="VISUALISATION_ID" val="Darwin_51014316"/>
  <p:tag name="DARWINVERSION" val="CSharp"/>
  <p:tag name="UPDATE" val="unlock"/>
  <p:tag name="STASSIGID" val="StasSigId_28684918"/>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4.xml><?xml version="1.0" encoding="utf-8"?>
<p:tagLst xmlns:a="http://schemas.openxmlformats.org/drawingml/2006/main" xmlns:r="http://schemas.openxmlformats.org/officeDocument/2006/relationships" xmlns:p="http://schemas.openxmlformats.org/presentationml/2006/main">
  <p:tag name="GROUPID" val="Group_43794717"/>
  <p:tag name="SPLITORDER" val="1"/>
  <p:tag name="VISUALISATION_ID" val="Darwin_80532305"/>
  <p:tag name="DARWINVERSION" val="CSharp"/>
  <p:tag name="UPDATE" val="unlock"/>
  <p:tag name="STASSIGID" val="StasSigId_91636865"/>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5.xml><?xml version="1.0" encoding="utf-8"?>
<p:tagLst xmlns:a="http://schemas.openxmlformats.org/drawingml/2006/main" xmlns:r="http://schemas.openxmlformats.org/officeDocument/2006/relationships" xmlns:p="http://schemas.openxmlformats.org/presentationml/2006/main">
  <p:tag name="GROUPID" val="Group_43794717"/>
  <p:tag name="SPLITORDER" val="2"/>
  <p:tag name="VISUALISATION_ID" val="Darwin_39719623"/>
  <p:tag name="DARWINVERSION" val="CSharp"/>
  <p:tag name="UPDATE" val="unlock"/>
  <p:tag name="STASSIGID" val="StasSigId_3603678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6.xml><?xml version="1.0" encoding="utf-8"?>
<p:tagLst xmlns:a="http://schemas.openxmlformats.org/drawingml/2006/main" xmlns:r="http://schemas.openxmlformats.org/officeDocument/2006/relationships" xmlns:p="http://schemas.openxmlformats.org/presentationml/2006/main">
  <p:tag name="GROUPID" val="Group_43794717"/>
  <p:tag name="SPLITORDER" val="3"/>
  <p:tag name="VISUALISATION_ID" val="Darwin_37196202"/>
  <p:tag name="DARWINVERSION" val="CSharp"/>
  <p:tag name="UPDATE" val="unlock"/>
  <p:tag name="STASSIGID" val="StasSigId_87436167"/>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7.xml><?xml version="1.0" encoding="utf-8"?>
<p:tagLst xmlns:a="http://schemas.openxmlformats.org/drawingml/2006/main" xmlns:r="http://schemas.openxmlformats.org/officeDocument/2006/relationships" xmlns:p="http://schemas.openxmlformats.org/presentationml/2006/main">
  <p:tag name="GROUPID" val="Group_43794717"/>
  <p:tag name="SPLITORDER" val="4"/>
  <p:tag name="VISUALISATION_ID" val="Darwin_25678756"/>
  <p:tag name="DARWINVERSION" val="CSharp"/>
  <p:tag name="UPDATE" val="unlock"/>
  <p:tag name="STASSIGID" val="StasSigId_53648018"/>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8.xml><?xml version="1.0" encoding="utf-8"?>
<p:tagLst xmlns:a="http://schemas.openxmlformats.org/drawingml/2006/main" xmlns:r="http://schemas.openxmlformats.org/officeDocument/2006/relationships" xmlns:p="http://schemas.openxmlformats.org/presentationml/2006/main">
  <p:tag name="GROUPID" val="Group_43794717"/>
  <p:tag name="SPLITORDER" val="5"/>
  <p:tag name="VISUALISATION_ID" val="Darwin_20756356"/>
  <p:tag name="DARWINVERSION" val="CSharp"/>
  <p:tag name="UPDATE" val="unlock"/>
  <p:tag name="STASSIGID" val="StasSigId_2175010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19.xml><?xml version="1.0" encoding="utf-8"?>
<p:tagLst xmlns:a="http://schemas.openxmlformats.org/drawingml/2006/main" xmlns:r="http://schemas.openxmlformats.org/officeDocument/2006/relationships" xmlns:p="http://schemas.openxmlformats.org/presentationml/2006/main">
  <p:tag name="GROUPID" val="Group_43794717"/>
  <p:tag name="SPLITORDER" val="6"/>
  <p:tag name="VISUALISATION_ID" val="Darwin_50883035"/>
  <p:tag name="DARWINVERSION" val="CSharp"/>
  <p:tag name="UPDATE" val="unlock"/>
  <p:tag name="STASSIGID" val="StasSigId_61660547"/>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0.xml><?xml version="1.0" encoding="utf-8"?>
<p:tagLst xmlns:a="http://schemas.openxmlformats.org/drawingml/2006/main" xmlns:r="http://schemas.openxmlformats.org/officeDocument/2006/relationships" xmlns:p="http://schemas.openxmlformats.org/presentationml/2006/main">
  <p:tag name="GROUPID" val="Group_43794717"/>
  <p:tag name="SPLITORDER" val="7"/>
  <p:tag name="VISUALISATION_ID" val="Darwin_47061486"/>
  <p:tag name="DARWINVERSION" val="CSharp"/>
  <p:tag name="UPDATE" val="unlock"/>
  <p:tag name="STASSIGID" val="StasSigId_89665660"/>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1.xml><?xml version="1.0" encoding="utf-8"?>
<p:tagLst xmlns:a="http://schemas.openxmlformats.org/drawingml/2006/main" xmlns:r="http://schemas.openxmlformats.org/officeDocument/2006/relationships" xmlns:p="http://schemas.openxmlformats.org/presentationml/2006/main">
  <p:tag name="GROUPID" val="Group_43794717"/>
  <p:tag name="SPLITORDER" val="8"/>
  <p:tag name="VISUALISATION_ID" val="Darwin_75444410"/>
  <p:tag name="DARWINVERSION" val="CSharp"/>
  <p:tag name="UPDATE" val="unlock"/>
  <p:tag name="STASSIGID" val="StasSigId_85465945"/>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2.xml><?xml version="1.0" encoding="utf-8"?>
<p:tagLst xmlns:a="http://schemas.openxmlformats.org/drawingml/2006/main" xmlns:r="http://schemas.openxmlformats.org/officeDocument/2006/relationships" xmlns:p="http://schemas.openxmlformats.org/presentationml/2006/main">
  <p:tag name="GROUPID" val="Group_43794717"/>
  <p:tag name="SPLITORDER" val="9"/>
  <p:tag name="VISUALISATION_ID" val="Darwin_22714732"/>
  <p:tag name="DARWINVERSION" val="CSharp"/>
  <p:tag name="UPDATE" val="unlock"/>
  <p:tag name="STASSIGID" val="StasSigId_2598865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3.xml><?xml version="1.0" encoding="utf-8"?>
<p:tagLst xmlns:a="http://schemas.openxmlformats.org/drawingml/2006/main" xmlns:r="http://schemas.openxmlformats.org/officeDocument/2006/relationships" xmlns:p="http://schemas.openxmlformats.org/presentationml/2006/main">
  <p:tag name="GROUPID" val="Group_43794717"/>
  <p:tag name="SPLITORDER" val="10"/>
  <p:tag name="VISUALISATION_ID" val="Darwin_89194644"/>
  <p:tag name="DARWINVERSION" val="CSharp"/>
  <p:tag name="UPDATE" val="unlock"/>
  <p:tag name="STASSIGID" val="StasSigId_83105111"/>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4.xml><?xml version="1.0" encoding="utf-8"?>
<p:tagLst xmlns:a="http://schemas.openxmlformats.org/drawingml/2006/main" xmlns:r="http://schemas.openxmlformats.org/officeDocument/2006/relationships" xmlns:p="http://schemas.openxmlformats.org/presentationml/2006/main">
  <p:tag name="GROUPID" val="Group_43794717"/>
  <p:tag name="SPLITORDER" val="11"/>
  <p:tag name="VISUALISATION_ID" val="Darwin_5327814"/>
  <p:tag name="DARWINVERSION" val="CSharp"/>
  <p:tag name="UPDATE" val="unlock"/>
  <p:tag name="STASSIGID" val="StasSigId_64284653"/>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5.xml><?xml version="1.0" encoding="utf-8"?>
<p:tagLst xmlns:a="http://schemas.openxmlformats.org/drawingml/2006/main" xmlns:r="http://schemas.openxmlformats.org/officeDocument/2006/relationships" xmlns:p="http://schemas.openxmlformats.org/presentationml/2006/main">
  <p:tag name="GROUPID" val="Group_43794717"/>
  <p:tag name="DARWINVERSION" val="CSharp"/>
  <p:tag name="SPLITORDER" val="12"/>
  <p:tag name="VISUALISATION_ID" val="Darwin_44739269"/>
  <p:tag name="UPDATE" val="unlock"/>
  <p:tag name="STASSIGID" val="StasSigId_89375965"/>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0:43:38$!$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e87308dceb72bfb5f61575931557e6d5e15a3acb705dbe525717d7be4e805ca"/>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43794717"/>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6.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8304,7814,7405,6995,6530,6043$!$SelectedGp--wave$!$IsSorted--False$!$ChartType--Table$!$SelectedMulRolling--$!$SortedField--$!$FetchOverallData--False$!$Relative--True$!$IsAddQuestionText--False$!$StatisticsSignificance--[]$!$LiveWave--False$!$IsNonOverlapping--False$!$StatisticsSignificanceNValue--30$!$IsSplit--False$!$LastUpdate--15-01-2024 21:33:58$!$AddSplitObjectsToSingleSlide--False$!$LongFilterFields--$!$TableHeader--2$!$PivotEntry--1$!$TopNRows--0$!$IsProjectAnalysis--True$!$SelectAllColumns--False$!$PivotFilterFields--$!$IsAddLegend--False$!$xField--segment_0,time_period_id$!$Status--Create:Success$!$yField--title$!$MoveFirst--$!$vField--n - value$!$MoveLast--$!$fnField--Sum"/>
  <p:tag name="FAILEDREFRESHICONID" val="Darwin_51338877"/>
  <p:tag name="VISUALISATION_ID" val="Darwin_89277135"/>
  <p:tag name="UPDATE" val="lock"/>
</p:tagLst>
</file>

<file path=ppt/tags/tag427.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30232805"/>
  <p:tag name="SYNQRY" val="SYNQRY#1#$$!$FileVersion--Ver-7o0o0$!$IsAlias--False$!$Project--523$!$IsNestedSegments--True$!$ProjectSegmentIDs--$!$Survey--396851$!$RequiredColumns--Code@:@Code@:@@:@$$title@:@title@:@@:@$$W27 - Speciality  - NP/PA@:@W27 - Speciality  - NP/PA@:@@:@$$W28 - Speciality  - NP/PA@:@W28 - Speciality  - NP/PA@:@@:@$$W29 - Speciality  - NP/PA@:@W29 - Speciality  - NP/PA@:@@:@$$W30 - Speciality  - NP/PA@:@W30 - Speciality  - NP/PA@:@@:@$$W31 - Speciality  - NP/PA@:@W31 - Speciality  - NP/PA@:@@:@$$W32 - Speciality  - NP/PA@:@W32 - Speciality  - NP/PA@:@0%@:@$!$LongFilterCondition--AND$!$Metric--none$!$SelectedColumns--Code@:@Code@:@@:@$$title@:@title@:@@:@$!$PivotFilterCondition--AND$!$Analysis--4470$!$SelectedRows--ALL$!$AddLatestColumnToFirst--False$!$RecentWave--W2#6$!$ChartSplit--$!$IsClientDeliverable--True$!$SelectedWave--118622,115552,113101,110630,107626,105422$!$Transpose--False$!$ClientDeliverableID--96$!$SelectedSeg--13330$!$IsOverlapping--False$!$ClientDeliverableSegmentIDs--14251,13101,12140,11580,10823,10014$!$SelectedGp--wave$!$IsSorted--True$!$ChartType--Table$!$SelectedMulRolling--$!$SortedField--W32 - Speciality  - NP/PA$$Descending$$$!$FetchOverallData--False$!$Relative--True$!$IsAddQuestionText--False$!$StatisticsSignificance--[]$!$LiveWave--False$!$IsNonOverlapping--False$!$StatisticsSignificanceNValue--30$!$IsSplit--False$!$LastUpdate--27-01-2026 20:49:32$!$AddSplitObjectsToSingleSlide--False$!$LongFilterFields--segment_1@:@IN@:@Speciality  - NP/PA$!$TableHeader--2$!$PivotEntry--1$!$TopNRows--0$!$IsProjectAnalysis--True$!$SelectAllColumns--False$!$PivotFilterFields--$!$IsAddLegend--False$!$xField--Code,title$!$Status--Create:Success$!$yField--segment_0,segment_1$!$MoveFirst--$!$vField--ME$!$MoveLast--$!$fnField--Average"/>
  <p:tag name="REPORTCONFIGHASH" val="e2f26ff6c86b5dffd347cc38b2a9322c1c0061ab5cae129198b419449571c663"/>
  <p:tag name="REPORTCONFIGHASH_BACKUP" val="{&quot;AnalysisIds&quot;:[654353],&quot;DynamicTimePeriod&quot;:{&quot;IncludeLiveWave&quot;:false,&quot;LatestNDeliverables&quot;:6},&quot;IncludeAlias&quot;:false,&quot;IncludeOverallSegment&quot;:false,&quot;NestSegments&quot;:false,&quot;ProjectId&quot;:523,&quot;ReportingPlanId&quot;:96,&quot;RollUpDeliverables&quot;:false,&quot;SegmentIds&quot;:[2447],&quot;SurveyId&quot;:396851,&quot;TimePeriodType&quot;:1}"/>
  <p:tag name="DATAFRAMECONFIGHASH" val="3fc97974e8cd7f10cfa0ef120ad0930ab0e421f2bbd82f6188b3ccdf95fb99af"/>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Speciality - NP/PA&quot;},{&quot;Format&quot;:&quot;&quot;,&quot;Formula&quot;:&quot;&quot;,&quot;IsDefaultAlias&quot;:false,&quot;Name&quot;:&quot;W29 - Speciality - NP/PA&quot;},{&quot;Format&quot;:&quot;&quot;,&quot;Formula&quot;:&quot;&quot;,&quot;IsDefaultAlias&quot;:false,&quot;Name&quot;:&quot;W30 - Speciality - NP/PA&quot;},{&quot;Format&quot;:&quot;&quot;,&quot;Formula&quot;:&quot;&quot;,&quot;IsDefaultAlias&quot;:false,&quot;Name&quot;:&quot;W31 - Speciality - NP/PA&quot;},{&quot;Format&quot;:&quot;&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28.xml><?xml version="1.0" encoding="utf-8"?>
<p:tagLst xmlns:a="http://schemas.openxmlformats.org/drawingml/2006/main" xmlns:r="http://schemas.openxmlformats.org/officeDocument/2006/relationships" xmlns:p="http://schemas.openxmlformats.org/presentationml/2006/main">
  <p:tag name="GROUPID" val="Group_36254836"/>
  <p:tag name="SPLITORDER" val="0"/>
  <p:tag name="DARWINVERSION" val="CSharp"/>
  <p:tag name="VISUALISATION_ID" val="Darwin_34714685"/>
  <p:tag name="UPDATE" val="unlock"/>
  <p:tag name="STASSIGID" val="StasSigId_31583891"/>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29.xml><?xml version="1.0" encoding="utf-8"?>
<p:tagLst xmlns:a="http://schemas.openxmlformats.org/drawingml/2006/main" xmlns:r="http://schemas.openxmlformats.org/officeDocument/2006/relationships" xmlns:p="http://schemas.openxmlformats.org/presentationml/2006/main">
  <p:tag name="GROUPID" val="Group_36254836"/>
  <p:tag name="SPLITORDER" val="1"/>
  <p:tag name="DARWINVERSION" val="CSharp"/>
  <p:tag name="VISUALISATION_ID" val="Darwin_24159784"/>
  <p:tag name="UPDATE" val="unlock"/>
  <p:tag name="STASSIGID" val="StasSigId_93475568"/>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0.xml><?xml version="1.0" encoding="utf-8"?>
<p:tagLst xmlns:a="http://schemas.openxmlformats.org/drawingml/2006/main" xmlns:r="http://schemas.openxmlformats.org/officeDocument/2006/relationships" xmlns:p="http://schemas.openxmlformats.org/presentationml/2006/main">
  <p:tag name="GROUPID" val="Group_36254836"/>
  <p:tag name="SPLITORDER" val="2"/>
  <p:tag name="DARWINVERSION" val="CSharp"/>
  <p:tag name="VISUALISATION_ID" val="Darwin_45438419"/>
  <p:tag name="UPDATE" val="unlock"/>
  <p:tag name="STASSIGID" val="StasSigId_56854796"/>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1.xml><?xml version="1.0" encoding="utf-8"?>
<p:tagLst xmlns:a="http://schemas.openxmlformats.org/drawingml/2006/main" xmlns:r="http://schemas.openxmlformats.org/officeDocument/2006/relationships" xmlns:p="http://schemas.openxmlformats.org/presentationml/2006/main">
  <p:tag name="GROUPID" val="Group_36254836"/>
  <p:tag name="SPLITORDER" val="3"/>
  <p:tag name="DARWINVERSION" val="CSharp"/>
  <p:tag name="VISUALISATION_ID" val="Darwin_40090814"/>
  <p:tag name="UPDATE" val="unlock"/>
  <p:tag name="STASSIGID" val="StasSigId_60676394"/>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2.xml><?xml version="1.0" encoding="utf-8"?>
<p:tagLst xmlns:a="http://schemas.openxmlformats.org/drawingml/2006/main" xmlns:r="http://schemas.openxmlformats.org/officeDocument/2006/relationships" xmlns:p="http://schemas.openxmlformats.org/presentationml/2006/main">
  <p:tag name="GROUPID" val="Group_36254836"/>
  <p:tag name="SPLITORDER" val="4"/>
  <p:tag name="DARWINVERSION" val="CSharp"/>
  <p:tag name="VISUALISATION_ID" val="Darwin_51406909"/>
  <p:tag name="UPDATE" val="unlock"/>
  <p:tag name="STASSIGID" val="StasSigId_84585294"/>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3.xml><?xml version="1.0" encoding="utf-8"?>
<p:tagLst xmlns:a="http://schemas.openxmlformats.org/drawingml/2006/main" xmlns:r="http://schemas.openxmlformats.org/officeDocument/2006/relationships" xmlns:p="http://schemas.openxmlformats.org/presentationml/2006/main">
  <p:tag name="GROUPID" val="Group_36254836"/>
  <p:tag name="SPLITORDER" val="5"/>
  <p:tag name="DARWINVERSION" val="CSharp"/>
  <p:tag name="VISUALISATION_ID" val="Darwin_2639165"/>
  <p:tag name="UPDATE" val="unlock"/>
  <p:tag name="STASSIGID" val="StasSigId_68384204"/>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4.xml><?xml version="1.0" encoding="utf-8"?>
<p:tagLst xmlns:a="http://schemas.openxmlformats.org/drawingml/2006/main" xmlns:r="http://schemas.openxmlformats.org/officeDocument/2006/relationships" xmlns:p="http://schemas.openxmlformats.org/presentationml/2006/main">
  <p:tag name="GROUPID" val="Group_36254836"/>
  <p:tag name="SPLITORDER" val="6"/>
  <p:tag name="DARWINVERSION" val="CSharp"/>
  <p:tag name="VISUALISATION_ID" val="Darwin_68418067"/>
  <p:tag name="UPDATE" val="unlock"/>
  <p:tag name="STASSIGID" val="StasSigId_20720539"/>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5.xml><?xml version="1.0" encoding="utf-8"?>
<p:tagLst xmlns:a="http://schemas.openxmlformats.org/drawingml/2006/main" xmlns:r="http://schemas.openxmlformats.org/officeDocument/2006/relationships" xmlns:p="http://schemas.openxmlformats.org/presentationml/2006/main">
  <p:tag name="GROUPID" val="Group_36254836"/>
  <p:tag name="SPLITORDER" val="7"/>
  <p:tag name="DARWINVERSION" val="CSharp"/>
  <p:tag name="VISUALISATION_ID" val="Darwin_84979537"/>
  <p:tag name="UPDATE" val="unlock"/>
  <p:tag name="STASSIGID" val="StasSigId_5205351"/>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6.xml><?xml version="1.0" encoding="utf-8"?>
<p:tagLst xmlns:a="http://schemas.openxmlformats.org/drawingml/2006/main" xmlns:r="http://schemas.openxmlformats.org/officeDocument/2006/relationships" xmlns:p="http://schemas.openxmlformats.org/presentationml/2006/main">
  <p:tag name="GROUPID" val="Group_36254836"/>
  <p:tag name="SPLITORDER" val="8"/>
  <p:tag name="DARWINVERSION" val="CSharp"/>
  <p:tag name="VISUALISATION_ID" val="Darwin_85653493"/>
  <p:tag name="UPDATE" val="unlock"/>
  <p:tag name="STASSIGID" val="StasSigId_3891838"/>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7.xml><?xml version="1.0" encoding="utf-8"?>
<p:tagLst xmlns:a="http://schemas.openxmlformats.org/drawingml/2006/main" xmlns:r="http://schemas.openxmlformats.org/officeDocument/2006/relationships" xmlns:p="http://schemas.openxmlformats.org/presentationml/2006/main">
  <p:tag name="GROUPID" val="Group_36254836"/>
  <p:tag name="SPLITORDER" val="9"/>
  <p:tag name="DARWINVERSION" val="CSharp"/>
  <p:tag name="VISUALISATION_ID" val="Darwin_56360126"/>
  <p:tag name="UPDATE" val="unlock"/>
  <p:tag name="STASSIGID" val="StasSigId_22013930"/>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8.xml><?xml version="1.0" encoding="utf-8"?>
<p:tagLst xmlns:a="http://schemas.openxmlformats.org/drawingml/2006/main" xmlns:r="http://schemas.openxmlformats.org/officeDocument/2006/relationships" xmlns:p="http://schemas.openxmlformats.org/presentationml/2006/main">
  <p:tag name="GROUPID" val="Group_36254836"/>
  <p:tag name="SPLITORDER" val="10"/>
  <p:tag name="DARWINVERSION" val="CSharp"/>
  <p:tag name="VISUALISATION_ID" val="Darwin_50751114"/>
  <p:tag name="UPDATE" val="unlock"/>
  <p:tag name="STASSIGID" val="StasSigId_59404023"/>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39.xml><?xml version="1.0" encoding="utf-8"?>
<p:tagLst xmlns:a="http://schemas.openxmlformats.org/drawingml/2006/main" xmlns:r="http://schemas.openxmlformats.org/officeDocument/2006/relationships" xmlns:p="http://schemas.openxmlformats.org/presentationml/2006/main">
  <p:tag name="GROUPID" val="Group_36254836"/>
  <p:tag name="SPLITORDER" val="11"/>
  <p:tag name="DARWINVERSION" val="CSharp"/>
  <p:tag name="VISUALISATION_ID" val="Darwin_3119642"/>
  <p:tag name="UPDATE" val="unlock"/>
  <p:tag name="STASSIGID" val="StasSigId_47546323"/>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0.xml><?xml version="1.0" encoding="utf-8"?>
<p:tagLst xmlns:a="http://schemas.openxmlformats.org/drawingml/2006/main" xmlns:r="http://schemas.openxmlformats.org/officeDocument/2006/relationships" xmlns:p="http://schemas.openxmlformats.org/presentationml/2006/main">
  <p:tag name="GROUPID" val="Group_36254836"/>
  <p:tag name="DARWINVERSION" val="CSharp"/>
  <p:tag name="SPLITORDER" val="12"/>
  <p:tag name="VISUALISATION_ID" val="Darwin_55383612"/>
  <p:tag name="UPDATE" val="unlock"/>
  <p:tag name="STASSIGID" val="StasSigId_75480168"/>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70$!$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0:47:53$!$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82d174d9bb487a97af5d2c8a7da663492d1d593d113d20f97b5b894ff0bd041a"/>
  <p:tag name="REPORTCONFIGHASH_BACKUP" val="{&quot;AnalysisIds&quot;:[654353],&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cb589c38b013116041693111a6fd05ffdda14ba2812639c646b0e8c4c7e4f1c"/>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36254836"/>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1.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83732955"/>
  <p:tag name="SYNQRY" val="SYNQRY#1#$$!$FileVersion--Ver-7o0o0$!$IsAlias--False$!$Project--523$!$IsNestedSegments--True$!$ProjectSegmentIDs--$!$Survey--396851$!$RequiredColumns--code@:@code@:@@:@$$title@:@title@:@@:@$$W27 - Speciality  - Gastro@:@W27 - Speciality  - Gastro@:@@:@$$W28 - Speciality  - Gastro@:@W28 - Speciality  - Gastro@:@@:@$$W29 - Speciality  - Gastro@:@W29 - Speciality  - Gastro@:@@:@$$W30 - Speciality  - Gastro@:@W30 - Speciality  - Gastro@:@@:@$$W31 - Speciality  - Gastro@:@W31 - Speciality  - Gastro@:@@:@$$W32 - Speciality  - Gastro@:@W32 - Speciality  - Gastro@:@0%@:@$!$LongFilterCondition--AND$!$Metric--none$!$SelectedColumns--code@:@code@:@@:@$$title@:@title@:@@:@$!$PivotFilterCondition--AND$!$Analysis--4469$!$SelectedRows--ALL$!$AddLatestColumnToFirst--False$!$RecentWave--W2#6$!$ChartSplit--$!$IsClientDeliverable--True$!$SelectedWave--118622,115552,113101,110630,107626,105422$!$Transpose--False$!$ClientDeliverableID--96$!$SelectedSeg--13330$!$IsOverlapping--False$!$ClientDeliverableSegmentIDs--14251,13101,12140,11580,10823,10014$!$SelectedGp--wave$!$IsSorted--True$!$ChartType--Table$!$SelectedMulRolling--$!$SortedField--W32 - Speciality  - Gastro$$Descending$$$!$FetchOverallData--False$!$Relative--True$!$IsAddQuestionText--False$!$StatisticsSignificance--[]$!$LiveWave--False$!$IsNonOverlapping--False$!$StatisticsSignificanceNValue--30$!$IsSplit--False$!$LastUpdate--27-01-2026 20:54:19$!$AddSplitObjectsToSingleSlide--False$!$LongFilterFields--segment_1@:@IN@:@Speciality  - Gastro$!$TableHeader--2$!$PivotEntry--1$!$TopNRows--0$!$IsProjectAnalysis--True$!$SelectAllColumns--False$!$PivotFilterFields--$!$IsAddLegend--False$!$xField--code,title$!$Status--Create:Success$!$yField--segment_0,segment_1$!$MoveFirst--$!$vField--ME$!$MoveLast--$!$fnField--Average"/>
  <p:tag name="REPORTCONFIGHASH" val="80edf0d2eb0203301790d854d1e7546f71ae68cdf4905bff0f1784f6cc10e600"/>
  <p:tag name="REPORTCONFIGHASH_BACKUP" val="{&quot;AnalysisIds&quot;:[654352],&quot;DynamicTimePeriod&quot;:{&quot;IncludeLiveWave&quot;:false,&quot;LatestNDeliverables&quot;:6},&quot;IncludeAlias&quot;:false,&quot;IncludeOverallSegment&quot;:false,&quot;NestSegments&quot;:false,&quot;ProjectId&quot;:523,&quot;ReportingPlanId&quot;:96,&quot;RollUpDeliverables&quot;:false,&quot;SegmentIds&quot;:[2447],&quot;SurveyId&quot;:396851,&quot;TimePeriodType&quot;:1}"/>
  <p:tag name="DATAFRAMECONFIGHASH" val="007daeb981607b8b5370a5a9379eb2478310fec55d1a0e6c53274c3b4bbdf605"/>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quot;,&quot;Formula&quot;:&quot;&quot;,&quot;IsDefaultAlias&quot;:false,&quot;Name&quot;:&quot;W28 - Speciality - Gastro&quot;},{&quot;Format&quot;:&quot;&quot;,&quot;Formula&quot;:&quot;&quot;,&quot;IsDefaultAlias&quot;:false,&quot;Name&quot;:&quot;W29 - Speciality - Gastro&quot;},{&quot;Format&quot;:&quot;&quot;,&quot;Formula&quot;:&quot;&quot;,&quot;IsDefaultAlias&quot;:false,&quot;Name&quot;:&quot;W30 - Speciality - Gastro&quot;},{&quot;Format&quot;:&quot;&quot;,&quot;Formula&quot;:&quot;&quot;,&quot;IsDefaultAlias&quot;:false,&quot;Name&quot;:&quot;W31 - Speciality - Gastro&quot;},{&quot;Format&quot;:&quot;&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42.xml><?xml version="1.0" encoding="utf-8"?>
<p:tagLst xmlns:a="http://schemas.openxmlformats.org/drawingml/2006/main" xmlns:r="http://schemas.openxmlformats.org/officeDocument/2006/relationships" xmlns:p="http://schemas.openxmlformats.org/presentationml/2006/main">
  <p:tag name="GROUPID" val="Group_76128617"/>
  <p:tag name="SPLITORDER" val="0"/>
  <p:tag name="VISUALISATION_ID" val="Darwin_75154798"/>
  <p:tag name="DARWINVERSION" val="CSharp"/>
  <p:tag name="UPDATE" val="unlock"/>
  <p:tag name="STASSIGID" val="StasSigId_49127275"/>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3.xml><?xml version="1.0" encoding="utf-8"?>
<p:tagLst xmlns:a="http://schemas.openxmlformats.org/drawingml/2006/main" xmlns:r="http://schemas.openxmlformats.org/officeDocument/2006/relationships" xmlns:p="http://schemas.openxmlformats.org/presentationml/2006/main">
  <p:tag name="GROUPID" val="Group_76128617"/>
  <p:tag name="SPLITORDER" val="1"/>
  <p:tag name="VISUALISATION_ID" val="Darwin_6584754"/>
  <p:tag name="DARWINVERSION" val="CSharp"/>
  <p:tag name="UPDATE" val="unlock"/>
  <p:tag name="STASSIGID" val="StasSigId_45964073"/>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4.xml><?xml version="1.0" encoding="utf-8"?>
<p:tagLst xmlns:a="http://schemas.openxmlformats.org/drawingml/2006/main" xmlns:r="http://schemas.openxmlformats.org/officeDocument/2006/relationships" xmlns:p="http://schemas.openxmlformats.org/presentationml/2006/main">
  <p:tag name="GROUPID" val="Group_76128617"/>
  <p:tag name="SPLITORDER" val="2"/>
  <p:tag name="VISUALISATION_ID" val="Darwin_13396479"/>
  <p:tag name="DARWINVERSION" val="CSharp"/>
  <p:tag name="UPDATE" val="unlock"/>
  <p:tag name="STASSIGID" val="StasSigId_12525496"/>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5.xml><?xml version="1.0" encoding="utf-8"?>
<p:tagLst xmlns:a="http://schemas.openxmlformats.org/drawingml/2006/main" xmlns:r="http://schemas.openxmlformats.org/officeDocument/2006/relationships" xmlns:p="http://schemas.openxmlformats.org/presentationml/2006/main">
  <p:tag name="GROUPID" val="Group_76128617"/>
  <p:tag name="SPLITORDER" val="3"/>
  <p:tag name="VISUALISATION_ID" val="Darwin_68039172"/>
  <p:tag name="DARWINVERSION" val="CSharp"/>
  <p:tag name="UPDATE" val="unlock"/>
  <p:tag name="STASSIGID" val="StasSigId_88194220"/>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6.xml><?xml version="1.0" encoding="utf-8"?>
<p:tagLst xmlns:a="http://schemas.openxmlformats.org/drawingml/2006/main" xmlns:r="http://schemas.openxmlformats.org/officeDocument/2006/relationships" xmlns:p="http://schemas.openxmlformats.org/presentationml/2006/main">
  <p:tag name="GROUPID" val="Group_76128617"/>
  <p:tag name="SPLITORDER" val="4"/>
  <p:tag name="VISUALISATION_ID" val="Darwin_78512518"/>
  <p:tag name="DARWINVERSION" val="CSharp"/>
  <p:tag name="UPDATE" val="unlock"/>
  <p:tag name="STASSIGID" val="StasSigId_41482228"/>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7.xml><?xml version="1.0" encoding="utf-8"?>
<p:tagLst xmlns:a="http://schemas.openxmlformats.org/drawingml/2006/main" xmlns:r="http://schemas.openxmlformats.org/officeDocument/2006/relationships" xmlns:p="http://schemas.openxmlformats.org/presentationml/2006/main">
  <p:tag name="GROUPID" val="Group_76128617"/>
  <p:tag name="SPLITORDER" val="5"/>
  <p:tag name="VISUALISATION_ID" val="Darwin_32958847"/>
  <p:tag name="DARWINVERSION" val="CSharp"/>
  <p:tag name="FAILEDREFRESHICONID" val="Darwin_32958847"/>
  <p:tag name="UPDATE" val="unlock"/>
  <p:tag name="STASSIGID" val="StasSigId_71894339"/>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8.xml><?xml version="1.0" encoding="utf-8"?>
<p:tagLst xmlns:a="http://schemas.openxmlformats.org/drawingml/2006/main" xmlns:r="http://schemas.openxmlformats.org/officeDocument/2006/relationships" xmlns:p="http://schemas.openxmlformats.org/presentationml/2006/main">
  <p:tag name="GROUPID" val="Group_76128617"/>
  <p:tag name="SPLITORDER" val="6"/>
  <p:tag name="VISUALISATION_ID" val="Darwin_37398572"/>
  <p:tag name="DARWINVERSION" val="CSharp"/>
  <p:tag name="UPDATE" val="unlock"/>
  <p:tag name="STASSIGID" val="StasSigId_30388675"/>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49.xml><?xml version="1.0" encoding="utf-8"?>
<p:tagLst xmlns:a="http://schemas.openxmlformats.org/drawingml/2006/main" xmlns:r="http://schemas.openxmlformats.org/officeDocument/2006/relationships" xmlns:p="http://schemas.openxmlformats.org/presentationml/2006/main">
  <p:tag name="GROUPID" val="Group_76128617"/>
  <p:tag name="SPLITORDER" val="7"/>
  <p:tag name="VISUALISATION_ID" val="Darwin_50168363"/>
  <p:tag name="DARWINVERSION" val="CSharp"/>
  <p:tag name="UPDATE" val="unlock"/>
  <p:tag name="STASSIGID" val="StasSigId_66366496"/>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0.xml><?xml version="1.0" encoding="utf-8"?>
<p:tagLst xmlns:a="http://schemas.openxmlformats.org/drawingml/2006/main" xmlns:r="http://schemas.openxmlformats.org/officeDocument/2006/relationships" xmlns:p="http://schemas.openxmlformats.org/presentationml/2006/main">
  <p:tag name="GROUPID" val="Group_76128617"/>
  <p:tag name="SPLITORDER" val="8"/>
  <p:tag name="VISUALISATION_ID" val="Darwin_82720245"/>
  <p:tag name="DARWINVERSION" val="CSharp"/>
  <p:tag name="UPDATE" val="unlock"/>
  <p:tag name="STASSIGID" val="StasSigId_30076655"/>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1.xml><?xml version="1.0" encoding="utf-8"?>
<p:tagLst xmlns:a="http://schemas.openxmlformats.org/drawingml/2006/main" xmlns:r="http://schemas.openxmlformats.org/officeDocument/2006/relationships" xmlns:p="http://schemas.openxmlformats.org/presentationml/2006/main">
  <p:tag name="GROUPID" val="Group_76128617"/>
  <p:tag name="SPLITORDER" val="9"/>
  <p:tag name="VISUALISATION_ID" val="Darwin_18889803"/>
  <p:tag name="DARWINVERSION" val="CSharp"/>
  <p:tag name="UPDATE" val="unlock"/>
  <p:tag name="STASSIGID" val="StasSigId_96190092"/>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2.xml><?xml version="1.0" encoding="utf-8"?>
<p:tagLst xmlns:a="http://schemas.openxmlformats.org/drawingml/2006/main" xmlns:r="http://schemas.openxmlformats.org/officeDocument/2006/relationships" xmlns:p="http://schemas.openxmlformats.org/presentationml/2006/main">
  <p:tag name="GROUPID" val="Group_76128617"/>
  <p:tag name="SPLITORDER" val="10"/>
  <p:tag name="VISUALISATION_ID" val="Darwin_91030063"/>
  <p:tag name="DARWINVERSION" val="CSharp"/>
  <p:tag name="UPDATE" val="unlock"/>
  <p:tag name="STASSIGID" val="StasSigId_28611148"/>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3.xml><?xml version="1.0" encoding="utf-8"?>
<p:tagLst xmlns:a="http://schemas.openxmlformats.org/drawingml/2006/main" xmlns:r="http://schemas.openxmlformats.org/officeDocument/2006/relationships" xmlns:p="http://schemas.openxmlformats.org/presentationml/2006/main">
  <p:tag name="GROUPID" val="Group_76128617"/>
  <p:tag name="SPLITORDER" val="11"/>
  <p:tag name="VISUALISATION_ID" val="Darwin_49972238"/>
  <p:tag name="DARWINVERSION" val="CSharp"/>
  <p:tag name="UPDATE" val="unlock"/>
  <p:tag name="STASSIGID" val="StasSigId_65312264"/>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4.xml><?xml version="1.0" encoding="utf-8"?>
<p:tagLst xmlns:a="http://schemas.openxmlformats.org/drawingml/2006/main" xmlns:r="http://schemas.openxmlformats.org/officeDocument/2006/relationships" xmlns:p="http://schemas.openxmlformats.org/presentationml/2006/main">
  <p:tag name="GROUPID" val="Group_76128617"/>
  <p:tag name="DARWINVERSION" val="CSharp"/>
  <p:tag name="SPLITORDER" val="12"/>
  <p:tag name="VISUALISATION_ID" val="Darwin_86576045"/>
  <p:tag name="UPDATE" val="unlock"/>
  <p:tag name="STASSIGID" val="StasSigId_98519816"/>
  <p:tag name="SYNQRY" val="SYNQRY#1#$$!$FileVersion--1.6.5.7$!$IsAlias--True$!$Project--523$!$IsNestedSegments--True$!$ProjectSegmentIDs--$!$Survey--482371$!$Requir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SelectedColumns--code@:@code@:@@:@$$title@:@title@:@@:@$$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7-01-2026 20:54:19$!$AddSplitObjectsToSingleSlide--True$!$LongFilterFields--segment_1@:@IN@:@Speciality  - Gastro$!$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79130b43f4be9cab92c8591cf9df5180e737fcde2fc43a34c43c37eed4198f2"/>
  <p:tag name="DATAFRAMECONFIGHASH_BACKUP" val="{&quot;AggregationType&quot;:1,&quot;ColumnFields&quot;:[&quot;time_period_name&quot;,&quot;segment_1&quot;],&quot;FilterCondition&quot;:0,&quot;Filters&quot;:[{&quot;ColumnKey&quot;:&quot;segment_1&quot;,&quot;Type&quot;:1,&quot;Value&quot;:&quot;Speciality - Gastro&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76128617"/>
  <p:tag name="MAPPINGCONFIG" val="{&quot;selectedColumns&quot;:[&quot;code&quot;,&quot;title&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5.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51338877"/>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2140,11580,10823,10014,9519,8970$!$SelectedGp--wave$!$IsSorted--False$!$ChartType--Table$!$SelectedMulRolling--$!$SortedField--$!$FetchOverallData--False$!$Relative--True$!$IsAddQuestionText--False$!$StatisticsSignificance--[]$!$LiveWave--False$!$IsNonOverlapping--False$!$StatisticsSignificanceNValue--30$!$IsSplit--False$!$LastUpdate--10-09-2025 17:42:39$!$AddSplitObjectsToSingleSlide--False$!$LongFilterFields--$!$TableHeader--2$!$PivotEntry--1$!$TopNRows--0$!$IsProjectAnalysis--True$!$SelectAllColumns--False$!$PivotFilterFields--$!$IsAddLegend--False$!$xField--segment_0,time_period_id$!$Status--Create:Success$!$yField--title$!$MoveFirst--$!$vField--n - value$!$MoveLast--$!$fnField--Sum"/>
  <p:tag name="UPDATE" val="lock"/>
  <p:tag name="VISUALISATION_ID" val="Darwin_65451141"/>
</p:tagLst>
</file>

<file path=ppt/tags/tag456.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8304,7814,7405,6995,6530,6043$!$SelectedGp--wave$!$IsSorted--False$!$ChartType--Table$!$SelectedMulRolling--$!$SortedField--$!$FetchOverallData--False$!$Relative--True$!$IsAddQuestionText--False$!$StatisticsSignificance--[]$!$LiveWave--False$!$IsNonOverlapping--False$!$StatisticsSignificanceNValue--30$!$IsSplit--False$!$LastUpdate--15-01-2024 21:33:58$!$AddSplitObjectsToSingleSlide--False$!$LongFilterFields--$!$TableHeader--2$!$PivotEntry--1$!$TopNRows--0$!$IsProjectAnalysis--True$!$SelectAllColumns--False$!$PivotFilterFields--$!$IsAddLegend--False$!$xField--segment_0,time_period_id$!$Status--Create:Success$!$yField--title$!$MoveFirst--$!$vField--n - value$!$MoveLast--$!$fnField--Sum"/>
  <p:tag name="FAILEDREFRESHICONID" val="Darwin_51338877"/>
  <p:tag name="VISUALISATION_ID" val="Darwin_15057076"/>
  <p:tag name="UPDATE" val="lock"/>
</p:tagLst>
</file>

<file path=ppt/tags/tag457.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76309533"/>
  <p:tag name="SYNQRY" val="SYNQRY#1#$$!$FileVersion--Ver-7o0o0$!$IsAlias--False$!$Project--523$!$IsNestedSegments--True$!$ProjectSegmentIDs--$!$Survey--396851$!$RequiredColumns--code@:@code@:@@:@$$title@:@title@:@@:@$$W32 - Speciality  - PCPs@:@W32 - Speciality  - PCPs@:@0%@:@$$Column1@:@Column1@:@@:@$!$LongFilterCondition--AND$!$Metric--none$!$SelectedColumns--code@:@code@:@@:@$$title@:@title@:@@:@$!$PivotFilterCondition--AND$!$Analysis--4469$!$SelectedRows--ALL$!$AddLatestColumnToFirst--False$!$RecentWave--W2#1$!$ChartSplit--$!$IsClientDeliverable--True$!$SelectedWave--118622$!$Transpose--False$!$ClientDeliverableID--96$!$SelectedSeg--13330$!$IsOverlapping--False$!$ClientDeliverableSegmentIDs--14251$!$SelectedGp--wave$!$IsSorted--True$!$ChartType--Table$!$SelectedMulRolling--$!$SortedField--W32 - Speciality  - PCPs$$Descending$$$!$FetchOverallData--False$!$Relative--True$!$IsAddQuestionText--False$!$StatisticsSignificance--[]$!$LiveWave--False$!$IsNonOverlapping--False$!$StatisticsSignificanceNValue--30$!$IsSplit--False$!$LastUpdate--27-01-2026 21:03:32$!$AddSplitObjectsToSingleSlide--False$!$LongFilterFields--segment_1@:@IN@:@Speciality  - PCPs$!$TableHeader--2$!$PivotEntry--1$!$TopNRows--0$!$IsProjectAnalysis--True$!$SelectAllColumns--False$!$PivotFilterFields--$!$IsAddLegend--False$!$xField--code,title$!$Status--Create:Success$!$yField--segment_0,segment_1$!$MoveFirst--$!$vField--ME$!$MoveLast--$!$fnField--Average"/>
  <p:tag name="REPORTCONFIGHASH" val="bd25459098108f998cd96fc7a165b8f1383ac642b9da6f4f7906a77e75a429e9"/>
  <p:tag name="REPORTCONFIGHASH_BACKUP" val="{&quot;AnalysisIds&quot;:[654352],&quot;DynamicTimePeriod&quot;:{&quot;IncludeLiveWave&quot;:false,&quot;LatestNDeliverables&quot;:1},&quot;IncludeAlias&quot;:false,&quot;IncludeOverallSegment&quot;:false,&quot;NestSegments&quot;:false,&quot;ProjectId&quot;:523,&quot;ReportingPlanId&quot;:96,&quot;RollUpDeliverables&quot;:false,&quot;SegmentIds&quot;:[2447],&quot;SurveyId&quot;:396851,&quot;TimePeriodType&quot;:1}"/>
  <p:tag name="DATAFRAMECONFIGHASH" val="a8b1094720f04312104867fccbe7e9a0f0bdbafbbf7a6f5c3aa1f0bfeb830c8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Jan-Feb 2026 - Speciality - PCPs&quot;,&quot;sortCriteria&quot;:{&quot;CustomList&quot;:[],&quot;Level&quot;:1,&quot;Order&quot;:1}},{&quot;Format&quot;:&quot;&quot;,&quot;Formula&quot;:&quot;&quot;,&quot;IsDefaultAlias&quot;:false,&quot;Name&quot;:&quot;Column1&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58.xml><?xml version="1.0" encoding="utf-8"?>
<p:tagLst xmlns:a="http://schemas.openxmlformats.org/drawingml/2006/main" xmlns:r="http://schemas.openxmlformats.org/officeDocument/2006/relationships" xmlns:p="http://schemas.openxmlformats.org/presentationml/2006/main">
  <p:tag name="GROUPID" val="Group_29660618"/>
  <p:tag name="SPLITORDER" val="0"/>
  <p:tag name="VISUALISATION_ID" val="Darwin_49061602"/>
  <p:tag name="DARWINVERSION" val="CSharp"/>
  <p:tag name="UPDATE" val="unlock"/>
  <p:tag name="STASSIGID" val="StasSigId_79819313"/>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59.xml><?xml version="1.0" encoding="utf-8"?>
<p:tagLst xmlns:a="http://schemas.openxmlformats.org/drawingml/2006/main" xmlns:r="http://schemas.openxmlformats.org/officeDocument/2006/relationships" xmlns:p="http://schemas.openxmlformats.org/presentationml/2006/main">
  <p:tag name="GROUPID" val="Group_29660618"/>
  <p:tag name="SPLITORDER" val="1"/>
  <p:tag name="VISUALISATION_ID" val="Darwin_73151140"/>
  <p:tag name="DARWINVERSION" val="CSharp"/>
  <p:tag name="UPDATE" val="unlock"/>
  <p:tag name="STASSIGID" val="StasSigId_89137604"/>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0.xml><?xml version="1.0" encoding="utf-8"?>
<p:tagLst xmlns:a="http://schemas.openxmlformats.org/drawingml/2006/main" xmlns:r="http://schemas.openxmlformats.org/officeDocument/2006/relationships" xmlns:p="http://schemas.openxmlformats.org/presentationml/2006/main">
  <p:tag name="GROUPID" val="Group_29660618"/>
  <p:tag name="SPLITORDER" val="2"/>
  <p:tag name="VISUALISATION_ID" val="Darwin_79802272"/>
  <p:tag name="DARWINVERSION" val="CSharp"/>
  <p:tag name="UPDATE" val="unlock"/>
  <p:tag name="STASSIGID" val="StasSigId_75502924"/>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1.xml><?xml version="1.0" encoding="utf-8"?>
<p:tagLst xmlns:a="http://schemas.openxmlformats.org/drawingml/2006/main" xmlns:r="http://schemas.openxmlformats.org/officeDocument/2006/relationships" xmlns:p="http://schemas.openxmlformats.org/presentationml/2006/main">
  <p:tag name="GROUPID" val="Group_29660618"/>
  <p:tag name="SPLITORDER" val="3"/>
  <p:tag name="VISUALISATION_ID" val="Darwin_38143595"/>
  <p:tag name="DARWINVERSION" val="CSharp"/>
  <p:tag name="UPDATE" val="unlock"/>
  <p:tag name="STASSIGID" val="StasSigId_81085290"/>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2.xml><?xml version="1.0" encoding="utf-8"?>
<p:tagLst xmlns:a="http://schemas.openxmlformats.org/drawingml/2006/main" xmlns:r="http://schemas.openxmlformats.org/officeDocument/2006/relationships" xmlns:p="http://schemas.openxmlformats.org/presentationml/2006/main">
  <p:tag name="GROUPID" val="Group_29660618"/>
  <p:tag name="SPLITORDER" val="4"/>
  <p:tag name="VISUALISATION_ID" val="Darwin_54662670"/>
  <p:tag name="DARWINVERSION" val="CSharp"/>
  <p:tag name="UPDATE" val="unlock"/>
  <p:tag name="STASSIGID" val="StasSigId_4647692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3.xml><?xml version="1.0" encoding="utf-8"?>
<p:tagLst xmlns:a="http://schemas.openxmlformats.org/drawingml/2006/main" xmlns:r="http://schemas.openxmlformats.org/officeDocument/2006/relationships" xmlns:p="http://schemas.openxmlformats.org/presentationml/2006/main">
  <p:tag name="GROUPID" val="Group_29660618"/>
  <p:tag name="SPLITORDER" val="5"/>
  <p:tag name="VISUALISATION_ID" val="Darwin_26887616"/>
  <p:tag name="DARWINVERSION" val="CSharp"/>
  <p:tag name="UPDATE" val="unlock"/>
  <p:tag name="STASSIGID" val="StasSigId_62756521"/>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4.xml><?xml version="1.0" encoding="utf-8"?>
<p:tagLst xmlns:a="http://schemas.openxmlformats.org/drawingml/2006/main" xmlns:r="http://schemas.openxmlformats.org/officeDocument/2006/relationships" xmlns:p="http://schemas.openxmlformats.org/presentationml/2006/main">
  <p:tag name="GROUPID" val="Group_29660618"/>
  <p:tag name="SPLITORDER" val="6"/>
  <p:tag name="VISUALISATION_ID" val="Darwin_96611044"/>
  <p:tag name="DARWINVERSION" val="CSharp"/>
  <p:tag name="UPDATE" val="unlock"/>
  <p:tag name="STASSIGID" val="StasSigId_9800924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5.xml><?xml version="1.0" encoding="utf-8"?>
<p:tagLst xmlns:a="http://schemas.openxmlformats.org/drawingml/2006/main" xmlns:r="http://schemas.openxmlformats.org/officeDocument/2006/relationships" xmlns:p="http://schemas.openxmlformats.org/presentationml/2006/main">
  <p:tag name="GROUPID" val="Group_29660618"/>
  <p:tag name="SPLITORDER" val="7"/>
  <p:tag name="VISUALISATION_ID" val="Darwin_6943925"/>
  <p:tag name="DARWINVERSION" val="CSharp"/>
  <p:tag name="UPDATE" val="unlock"/>
  <p:tag name="STASSIGID" val="StasSigId_19256929"/>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6.xml><?xml version="1.0" encoding="utf-8"?>
<p:tagLst xmlns:a="http://schemas.openxmlformats.org/drawingml/2006/main" xmlns:r="http://schemas.openxmlformats.org/officeDocument/2006/relationships" xmlns:p="http://schemas.openxmlformats.org/presentationml/2006/main">
  <p:tag name="GROUPID" val="Group_29660618"/>
  <p:tag name="SPLITORDER" val="8"/>
  <p:tag name="VISUALISATION_ID" val="Darwin_33804617"/>
  <p:tag name="DARWINVERSION" val="CSharp"/>
  <p:tag name="UPDATE" val="unlock"/>
  <p:tag name="STASSIGID" val="StasSigId_74756466"/>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7.xml><?xml version="1.0" encoding="utf-8"?>
<p:tagLst xmlns:a="http://schemas.openxmlformats.org/drawingml/2006/main" xmlns:r="http://schemas.openxmlformats.org/officeDocument/2006/relationships" xmlns:p="http://schemas.openxmlformats.org/presentationml/2006/main">
  <p:tag name="GROUPID" val="Group_29660618"/>
  <p:tag name="SPLITORDER" val="9"/>
  <p:tag name="VISUALISATION_ID" val="Darwin_5867357"/>
  <p:tag name="DARWINVERSION" val="CSharp"/>
  <p:tag name="UPDATE" val="unlock"/>
  <p:tag name="STASSIGID" val="StasSigId_92679855"/>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8.xml><?xml version="1.0" encoding="utf-8"?>
<p:tagLst xmlns:a="http://schemas.openxmlformats.org/drawingml/2006/main" xmlns:r="http://schemas.openxmlformats.org/officeDocument/2006/relationships" xmlns:p="http://schemas.openxmlformats.org/presentationml/2006/main">
  <p:tag name="GROUPID" val="Group_29660618"/>
  <p:tag name="SPLITORDER" val="10"/>
  <p:tag name="VISUALISATION_ID" val="Darwin_35653726"/>
  <p:tag name="DARWINVERSION" val="CSharp"/>
  <p:tag name="UPDATE" val="unlock"/>
  <p:tag name="STASSIGID" val="StasSigId_15697618"/>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69.xml><?xml version="1.0" encoding="utf-8"?>
<p:tagLst xmlns:a="http://schemas.openxmlformats.org/drawingml/2006/main" xmlns:r="http://schemas.openxmlformats.org/officeDocument/2006/relationships" xmlns:p="http://schemas.openxmlformats.org/presentationml/2006/main">
  <p:tag name="GROUPID" val="Group_29660618"/>
  <p:tag name="SPLITORDER" val="11"/>
  <p:tag name="VISUALISATION_ID" val="Darwin_74364721"/>
  <p:tag name="DARWINVERSION" val="CSharp"/>
  <p:tag name="UPDATE" val="unlock"/>
  <p:tag name="STASSIGID" val="StasSigId_80531701"/>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0.xml><?xml version="1.0" encoding="utf-8"?>
<p:tagLst xmlns:a="http://schemas.openxmlformats.org/drawingml/2006/main" xmlns:r="http://schemas.openxmlformats.org/officeDocument/2006/relationships" xmlns:p="http://schemas.openxmlformats.org/presentationml/2006/main">
  <p:tag name="GROUPID" val="Group_29660618"/>
  <p:tag name="DARWINVERSION" val="CSharp"/>
  <p:tag name="SPLITORDER" val="12"/>
  <p:tag name="VISUALISATION_ID" val="Darwin_85881349"/>
  <p:tag name="UPDATE" val="unlock"/>
  <p:tag name="STASSIGID" val="StasSigId_87509684"/>
  <p:tag name="SYNQRY" val="SYNQRY#1#$$!$FileVersion--1.6.5.7$!$IsAlias--True$!$Project--523$!$IsNestedSegments--True$!$ProjectSegmentIDs--$!$Survey--482371$!$Requir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SelectedColumns--code@:@code@:@@:@$$title@:@title@:@@:@$$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7-01-2026 21:01:42$!$AddSplitObjectsToSingleSlide--True$!$LongFilterFields--segment_1@:@IN@:@Speciality  - PCPs$!$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559f62a6cf8dff92da451540588d09b12be2b765eadfb41fda50aecf4c1cc772"/>
  <p:tag name="DATAFRAMECONFIGHASH_BACKUP" val="{&quot;AggregationType&quot;:1,&quot;ColumnFields&quot;:[&quot;time_period_name&quot;,&quot;segment_1&quot;],&quot;FilterCondition&quot;:0,&quot;Filters&quot;:[{&quot;ColumnKey&quot;:&quot;segment_1&quot;,&quot;Type&quot;:1,&quot;Value&quot;:&quot;Speciality - PCPs&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29660618"/>
  <p:tag name="MAPPINGCONFIG" val="{&quot;selectedColumns&quot;:[&quot;code&quot;,&quot;title&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1.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8304,7814,7405,6995,6530,6043$!$SelectedGp--wave$!$IsSorted--False$!$ChartType--Table$!$SelectedMulRolling--$!$SortedField--$!$FetchOverallData--False$!$Relative--True$!$IsAddQuestionText--False$!$StatisticsSignificance--[]$!$LiveWave--False$!$IsNonOverlapping--False$!$StatisticsSignificanceNValue--30$!$IsSplit--False$!$LastUpdate--15-01-2024 21:33:58$!$AddSplitObjectsToSingleSlide--False$!$LongFilterFields--$!$TableHeader--2$!$PivotEntry--1$!$TopNRows--0$!$IsProjectAnalysis--True$!$SelectAllColumns--False$!$PivotFilterFields--$!$IsAddLegend--False$!$xField--segment_0,time_period_id$!$Status--Create:Success$!$yField--title$!$MoveFirst--$!$vField--n - value$!$MoveLast--$!$fnField--Sum"/>
  <p:tag name="FAILEDREFRESHICONID" val="Darwin_51338877"/>
  <p:tag name="VISUALISATION_ID" val="Darwin_898327"/>
  <p:tag name="UPDATE" val="lock"/>
</p:tagLst>
</file>

<file path=ppt/tags/tag472.xml><?xml version="1.0" encoding="utf-8"?>
<p:tagLst xmlns:a="http://schemas.openxmlformats.org/drawingml/2006/main" xmlns:r="http://schemas.openxmlformats.org/officeDocument/2006/relationships" xmlns:p="http://schemas.openxmlformats.org/presentationml/2006/main">
  <p:tag name="DARWINVERSION" val="CSharp"/>
  <p:tag name="FAILEDREFRESHICONID" val="Darwin_16272804"/>
  <p:tag name="UPDATE" val="unlock"/>
  <p:tag name="VISUALISATION_ID" val="Darwin_57194236"/>
  <p:tag name="SYNQRY" val="SYNQRY#1#$$!$FileVersion--Ver-7o0o0$!$IsAlias--False$!$Project--523$!$IsNestedSegments--True$!$ProjectSegmentIDs--$!$Survey--396851$!$RequiredColumns--code@:@code@:@@:@$$title@:@title@:@@:@$$W32 - Speciality  - NP/PA@:@W32 - Speciality  - NP/PA@:@0%@:@$$Column1@:@Column1@:@@:@$!$LongFilterCondition--AND$!$Metric--none$!$SelectedColumns--code@:@code@:@@:@$$title@:@title@:@@:@$!$PivotFilterCondition--AND$!$Analysis--4469$!$SelectedRows--ALL$!$AddLatestColumnToFirst--False$!$RecentWave--W2#1$!$ChartSplit--$!$IsClientDeliverable--True$!$SelectedWave--118622$!$Transpose--False$!$ClientDeliverableID--96$!$SelectedSeg--13330$!$IsOverlapping--False$!$ClientDeliverableSegmentIDs--14251$!$SelectedGp--wave$!$IsSorted--True$!$ChartType--Table$!$SelectedMulRolling--$!$SortedField--W32 - Speciality  - NP/PA$$Descending$$$!$FetchOverallData--False$!$Relative--True$!$IsAddQuestionText--False$!$StatisticsSignificance--[]$!$LiveWave--False$!$IsNonOverlapping--False$!$StatisticsSignificanceNValue--30$!$IsSplit--False$!$LastUpdate--27-01-2026 21:13:19$!$AddSplitObjectsToSingleSlide--False$!$LongFilterFields--segment_1@:@IN@:@Speciality  - NP/PA$!$TableHeader--2$!$PivotEntry--1$!$TopNRows--0$!$IsProjectAnalysis--True$!$SelectAllColumns--False$!$PivotFilterFields--$!$IsAddLegend--False$!$xField--code,title$!$Status--Create:Success$!$yField--segment_0,segment_1$!$MoveFirst--$!$vField--ME$!$MoveLast--$!$fnField--Average"/>
  <p:tag name="REPORTCONFIGHASH" val="bd25459098108f998cd96fc7a165b8f1383ac642b9da6f4f7906a77e75a429e9"/>
  <p:tag name="REPORTCONFIGHASH_BACKUP" val="{&quot;AnalysisIds&quot;:[654352],&quot;DynamicTimePeriod&quot;:{&quot;IncludeLiveWave&quot;:false,&quot;LatestNDeliverables&quot;:1},&quot;IncludeAlias&quot;:false,&quot;IncludeOverallSegment&quot;:false,&quot;NestSegments&quot;:false,&quot;ProjectId&quot;:523,&quot;ReportingPlanId&quot;:96,&quot;RollUpDeliverables&quot;:false,&quot;SegmentIds&quot;:[2447],&quot;SurveyId&quot;:396851,&quot;TimePeriodType&quot;:1}"/>
  <p:tag name="DATAFRAMECONFIGHASH" val="b1ddd3d32d14cccf9a9a73bd2e61662cdbc911d4c8e3898d44e5ecd851ec3508"/>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Jan-Feb 2026 - Speciality - NP/PA&quot;,&quot;sortCriteria&quot;:{&quot;CustomList&quot;:[],&quot;Level&quot;:1,&quot;Order&quot;:1}},{&quot;Format&quot;:&quot;&quot;,&quot;Formula&quot;:&quot;&quot;,&quot;IsDefaultAlias&quot;:false,&quot;Name&quot;:&quot;Column1&quot;}]}"/>
  <p:tag name="MAPPINGCONFIG" val="{&quot;selectedColumns&quot;:[&quot;code&quot;,&quot;title&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73.xml><?xml version="1.0" encoding="utf-8"?>
<p:tagLst xmlns:a="http://schemas.openxmlformats.org/drawingml/2006/main" xmlns:r="http://schemas.openxmlformats.org/officeDocument/2006/relationships" xmlns:p="http://schemas.openxmlformats.org/presentationml/2006/main">
  <p:tag name="GROUPID" val="Group_87210828"/>
  <p:tag name="SPLITORDER" val="0"/>
  <p:tag name="VISUALISATION_ID" val="Darwin_91671966"/>
  <p:tag name="DARWINVERSION" val="CSharp"/>
  <p:tag name="UPDATE" val="unlock"/>
  <p:tag name="STASSIGID" val="StasSigId_56106847"/>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4.xml><?xml version="1.0" encoding="utf-8"?>
<p:tagLst xmlns:a="http://schemas.openxmlformats.org/drawingml/2006/main" xmlns:r="http://schemas.openxmlformats.org/officeDocument/2006/relationships" xmlns:p="http://schemas.openxmlformats.org/presentationml/2006/main">
  <p:tag name="GROUPID" val="Group_87210828"/>
  <p:tag name="SPLITORDER" val="1"/>
  <p:tag name="VISUALISATION_ID" val="Darwin_92811233"/>
  <p:tag name="DARWINVERSION" val="CSharp"/>
  <p:tag name="UPDATE" val="unlock"/>
  <p:tag name="STASSIGID" val="StasSigId_39637421"/>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5.xml><?xml version="1.0" encoding="utf-8"?>
<p:tagLst xmlns:a="http://schemas.openxmlformats.org/drawingml/2006/main" xmlns:r="http://schemas.openxmlformats.org/officeDocument/2006/relationships" xmlns:p="http://schemas.openxmlformats.org/presentationml/2006/main">
  <p:tag name="GROUPID" val="Group_87210828"/>
  <p:tag name="SPLITORDER" val="2"/>
  <p:tag name="VISUALISATION_ID" val="Darwin_66354522"/>
  <p:tag name="DARWINVERSION" val="CSharp"/>
  <p:tag name="UPDATE" val="unlock"/>
  <p:tag name="STASSIGID" val="StasSigId_78288773"/>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6.xml><?xml version="1.0" encoding="utf-8"?>
<p:tagLst xmlns:a="http://schemas.openxmlformats.org/drawingml/2006/main" xmlns:r="http://schemas.openxmlformats.org/officeDocument/2006/relationships" xmlns:p="http://schemas.openxmlformats.org/presentationml/2006/main">
  <p:tag name="GROUPID" val="Group_87210828"/>
  <p:tag name="SPLITORDER" val="3"/>
  <p:tag name="VISUALISATION_ID" val="Darwin_28071396"/>
  <p:tag name="DARWINVERSION" val="CSharp"/>
  <p:tag name="UPDATE" val="unlock"/>
  <p:tag name="STASSIGID" val="StasSigId_21263061"/>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7.xml><?xml version="1.0" encoding="utf-8"?>
<p:tagLst xmlns:a="http://schemas.openxmlformats.org/drawingml/2006/main" xmlns:r="http://schemas.openxmlformats.org/officeDocument/2006/relationships" xmlns:p="http://schemas.openxmlformats.org/presentationml/2006/main">
  <p:tag name="GROUPID" val="Group_87210828"/>
  <p:tag name="SPLITORDER" val="4"/>
  <p:tag name="VISUALISATION_ID" val="Darwin_46325815"/>
  <p:tag name="DARWINVERSION" val="CSharp"/>
  <p:tag name="UPDATE" val="unlock"/>
  <p:tag name="STASSIGID" val="StasSigId_40715972"/>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8.xml><?xml version="1.0" encoding="utf-8"?>
<p:tagLst xmlns:a="http://schemas.openxmlformats.org/drawingml/2006/main" xmlns:r="http://schemas.openxmlformats.org/officeDocument/2006/relationships" xmlns:p="http://schemas.openxmlformats.org/presentationml/2006/main">
  <p:tag name="GROUPID" val="Group_87210828"/>
  <p:tag name="SPLITORDER" val="5"/>
  <p:tag name="VISUALISATION_ID" val="Darwin_93560013"/>
  <p:tag name="DARWINVERSION" val="CSharp"/>
  <p:tag name="UPDATE" val="unlock"/>
  <p:tag name="STASSIGID" val="StasSigId_89932633"/>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79.xml><?xml version="1.0" encoding="utf-8"?>
<p:tagLst xmlns:a="http://schemas.openxmlformats.org/drawingml/2006/main" xmlns:r="http://schemas.openxmlformats.org/officeDocument/2006/relationships" xmlns:p="http://schemas.openxmlformats.org/presentationml/2006/main">
  <p:tag name="GROUPID" val="Group_87210828"/>
  <p:tag name="SPLITORDER" val="6"/>
  <p:tag name="VISUALISATION_ID" val="Darwin_26060698"/>
  <p:tag name="DARWINVERSION" val="CSharp"/>
  <p:tag name="UPDATE" val="unlock"/>
  <p:tag name="STASSIGID" val="StasSigId_86012989"/>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0.xml><?xml version="1.0" encoding="utf-8"?>
<p:tagLst xmlns:a="http://schemas.openxmlformats.org/drawingml/2006/main" xmlns:r="http://schemas.openxmlformats.org/officeDocument/2006/relationships" xmlns:p="http://schemas.openxmlformats.org/presentationml/2006/main">
  <p:tag name="GROUPID" val="Group_87210828"/>
  <p:tag name="SPLITORDER" val="7"/>
  <p:tag name="VISUALISATION_ID" val="Darwin_42888781"/>
  <p:tag name="DARWINVERSION" val="CSharp"/>
  <p:tag name="UPDATE" val="unlock"/>
  <p:tag name="STASSIGID" val="StasSigId_50569362"/>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1.xml><?xml version="1.0" encoding="utf-8"?>
<p:tagLst xmlns:a="http://schemas.openxmlformats.org/drawingml/2006/main" xmlns:r="http://schemas.openxmlformats.org/officeDocument/2006/relationships" xmlns:p="http://schemas.openxmlformats.org/presentationml/2006/main">
  <p:tag name="GROUPID" val="Group_87210828"/>
  <p:tag name="SPLITORDER" val="8"/>
  <p:tag name="VISUALISATION_ID" val="Darwin_68055078"/>
  <p:tag name="DARWINVERSION" val="CSharp"/>
  <p:tag name="UPDATE" val="unlock"/>
  <p:tag name="STASSIGID" val="StasSigId_77228892"/>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2.xml><?xml version="1.0" encoding="utf-8"?>
<p:tagLst xmlns:a="http://schemas.openxmlformats.org/drawingml/2006/main" xmlns:r="http://schemas.openxmlformats.org/officeDocument/2006/relationships" xmlns:p="http://schemas.openxmlformats.org/presentationml/2006/main">
  <p:tag name="GROUPID" val="Group_87210828"/>
  <p:tag name="SPLITORDER" val="9"/>
  <p:tag name="VISUALISATION_ID" val="Darwin_21259572"/>
  <p:tag name="DARWINVERSION" val="CSharp"/>
  <p:tag name="UPDATE" val="unlock"/>
  <p:tag name="STASSIGID" val="StasSigId_54573731"/>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3.xml><?xml version="1.0" encoding="utf-8"?>
<p:tagLst xmlns:a="http://schemas.openxmlformats.org/drawingml/2006/main" xmlns:r="http://schemas.openxmlformats.org/officeDocument/2006/relationships" xmlns:p="http://schemas.openxmlformats.org/presentationml/2006/main">
  <p:tag name="GROUPID" val="Group_87210828"/>
  <p:tag name="SPLITORDER" val="10"/>
  <p:tag name="VISUALISATION_ID" val="Darwin_27632598"/>
  <p:tag name="DARWINVERSION" val="CSharp"/>
  <p:tag name="UPDATE" val="unlock"/>
  <p:tag name="STASSIGID" val="StasSigId_15104802"/>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4.xml><?xml version="1.0" encoding="utf-8"?>
<p:tagLst xmlns:a="http://schemas.openxmlformats.org/drawingml/2006/main" xmlns:r="http://schemas.openxmlformats.org/officeDocument/2006/relationships" xmlns:p="http://schemas.openxmlformats.org/presentationml/2006/main">
  <p:tag name="GROUPID" val="Group_87210828"/>
  <p:tag name="SPLITORDER" val="11"/>
  <p:tag name="VISUALISATION_ID" val="Darwin_75025647"/>
  <p:tag name="DARWINVERSION" val="CSharp"/>
  <p:tag name="UPDATE" val="unlock"/>
  <p:tag name="STASSIGID" val="StasSigId_82134219"/>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5.xml><?xml version="1.0" encoding="utf-8"?>
<p:tagLst xmlns:a="http://schemas.openxmlformats.org/drawingml/2006/main" xmlns:r="http://schemas.openxmlformats.org/officeDocument/2006/relationships" xmlns:p="http://schemas.openxmlformats.org/presentationml/2006/main">
  <p:tag name="GROUPID" val="Group_87210828"/>
  <p:tag name="DARWINVERSION" val="CSharp"/>
  <p:tag name="SPLITORDER" val="12"/>
  <p:tag name="VISUALISATION_ID" val="Darwin_7908779"/>
  <p:tag name="UPDATE" val="unlock"/>
  <p:tag name="STASSIGID" val="StasSigId_2555743"/>
  <p:tag name="SYNQRY" val="SYNQRY#1#$$!$FileVersion--1.6.5.7$!$IsAlias--True$!$Project--523$!$IsNestedSegments--True$!$ProjectSegmentIDs--$!$Survey--482371$!$Requir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SelectedColumns--code@:@code@:@@:@$$title@:@title@:@@:@$$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4469$!$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7-01-2026 21:11:29$!$AddSplitObjectsToSingleSlide--True$!$LongFilterFields--segment_1@:@IN@:@Speciality  - NP/PA$!$TableHeader--1$!$PivotEntry--1$!$TopNRows--0$!$IsProjectAnalysis--True$!$SelectAllColumns--True$!$PivotFilterFields--$!$IsAddLegend--False$!$xField--code,title$!$Status--Create:Success$!$yField--segment_0,segment_1$!$MoveFirst--$!$vField--ME$!$MoveLast--$!$fnField--Average"/>
  <p:tag name="REPORTCONFIGHASH" val="d663e8ff8271000ac33db6703abab78b6fb704fe479308f3fefa158feaff313d"/>
  <p:tag name="REPORTCONFIGHASH_BACKUP" val="{&quot;AnalysisIds&quot;:[654352],&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dea9b94763a6055f983f2475e6ed40d186ba0ce78b034f1d5ef2c0e23b57c407"/>
  <p:tag name="DATAFRAMECONFIGHASH_BACKUP" val="{&quot;AggregationType&quot;:1,&quot;ColumnFields&quot;:[&quot;time_period_name&quot;,&quot;segment_1&quot;],&quot;FilterCondition&quot;:0,&quot;Filters&quot;:[{&quot;ColumnKey&quot;:&quot;segment_1&quot;,&quot;Type&quot;:1,&quot;Value&quot;:&quot;Speciality - NP/PA&quot;,&quot;filterCriteria&quot;:1}],&quot;LatestColumnsFirst&quot;:false,&quot;RowFields&quot;:[&quot;code&quot;,&quot;title&quot;],&quot;ValueFields&quot;:[&quot;ME&quot;],&quot;columnDefinitions&quot;:[{&quot;Format&quot;:&quot;&quot;,&quot;Formula&quot;:&quot;&quot;,&quot;IsDefaultAlias&quot;:false,&quot;Name&quot;:&quot;code&quot;},{&quot;Format&quot;:&quot;&quot;,&quot;Formula&quot;:&quot;&quot;,&quot;IsDefaultAlias&quot;:false,&quot;Name&quot;:&quot;title&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87210828"/>
  <p:tag name="MAPPINGCONFIG" val="{&quot;selectedColumns&quot;:[&quot;code&quot;,&quot;title&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6.xml><?xml version="1.0" encoding="utf-8"?>
<p:tagLst xmlns:a="http://schemas.openxmlformats.org/drawingml/2006/main" xmlns:r="http://schemas.openxmlformats.org/officeDocument/2006/relationships" xmlns:p="http://schemas.openxmlformats.org/presentationml/2006/main">
  <p:tag name="NON_CONNECTED_SHAPE_ID" val="18683707"/>
  <p:tag name="DARWINVERSION" val="CSharp"/>
  <p:tag name="FAILEDREFRESHICONID" val="Darwin_27998460"/>
  <p:tag name="VISUALISATION_ID" val="Darwin_27998460"/>
  <p:tag name="UPDATE" val="unlock"/>
  <p:tag name="SYNQRY" val="SYNQRY#1#$$!$FileVersion--1.6.5.7$!$IsAlias--True$!$Project--523$!$IsNestedSegments--True$!$ProjectSegmentIDs--$!$Survey--482371$!$RequiredColumns--question@:@question@:@@:@$$W32 - Speciality  - Gastro@:@W32 - Speciality  - Gastro@:@0%@:@$!$LongFilterCondition--AND$!$Metric--none$!$SelectedColumns--question@:@question@:@@:@$!$PivotFilterCondition--AND$!$Analysis--117394$!$SelectedRows--ALL$!$AddLatestColumnToFirst--False$!$RecentWave--W2#6$!$ChartSplit--$!$IsClientDeliverable--True$!$SelectedWave--118248,115138,112550,110139,107406,105134$!$Transpose--False$!$ClientDeliverableID--96$!$SelectedSeg--13325$!$IsOverlapping--False$!$ClientDeliverableSegmentIDs--14251,13101,12140,11580,10823,10014$!$SelectedGp--wave$!$IsSorted--True$!$ChartType--Table$!$SelectedMulRolling--$!$SortedField--W32 - Speciality  - Gastro$$Descending$$$!$FetchOverallData--False$!$Relative--True$!$IsAddQuestionText--False$!$StatisticsSignificance--[]$!$LiveWave--False$!$IsNonOverlapping--False$!$StatisticsSignificanceNValue--30$!$IsSplit--False$!$LastUpdate--28-01-2026 15:28:58$!$AddSplitObjectsToSingleSlide--Fals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2$!$PivotEntry--1$!$TopNRows--0$!$IsProjectAnalysis--False$!$SelectAllColumns--Fals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9ae9e3a793d13c839ebaaf1aa5dcaa0314e934c461712c5246f01b72efbc5704"/>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Jan-Feb 2026 - Speciality - Gastro&quot;,&quot;sortCriteria&quot;:{&quot;CustomList&quot;:[],&quot;Level&quot;:1,&quot;Order&quot;:1}}]}"/>
  <p:tag name="MAPPINGCONFIG" val="{&quot;selectedColumns&quot;:[&quot;question&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487.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4-03-2025 11:59:28$!$AddSplitObjectsToSingleSlide--False$!$LongFilterFields--$!$TableHeader--2$!$PivotEntry--1$!$TopNRows--0$!$IsProjectAnalysis--True$!$SelectAllColumns--False$!$PivotFilterFields--$!$IsAddLegend--False$!$xField--segment_0,time_period_id$!$Status--Create:Success$!$yField--title$!$MoveFirst--$!$vField--n - value$!$MoveLast--$!$fnField--Sum"/>
  <p:tag name="VISUALISATION_ID" val="Darwin_47770277"/>
  <p:tag name="UPDATE" val="lock"/>
</p:tagLst>
</file>

<file path=ppt/tags/tag488.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0"/>
  <p:tag name="VISUALISATION_ID" val="Darwin_88708540"/>
  <p:tag name="UPDATE" val="unlock"/>
  <p:tag name="STASSIGID" val="StasSigId_81396797"/>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89.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1"/>
  <p:tag name="VISUALISATION_ID" val="Darwin_29067812"/>
  <p:tag name="FAILEDREFRESHICONID" val="Darwin_29067812"/>
  <p:tag name="UPDATE" val="unlock"/>
  <p:tag name="STASSIGID" val="StasSigId_15149610"/>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0.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2"/>
  <p:tag name="VISUALISATION_ID" val="Darwin_57117048"/>
  <p:tag name="UPDATE" val="unlock"/>
  <p:tag name="STASSIGID" val="StasSigId_66813132"/>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1.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3"/>
  <p:tag name="VISUALISATION_ID" val="Darwin_68327812"/>
  <p:tag name="UPDATE" val="unlock"/>
  <p:tag name="STASSIGID" val="StasSigId_41925301"/>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2.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5"/>
  <p:tag name="VISUALISATION_ID" val="Darwin_12766847"/>
  <p:tag name="UPDATE" val="unlock"/>
  <p:tag name="STASSIGID" val="StasSigId_28137894"/>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3.xml><?xml version="1.0" encoding="utf-8"?>
<p:tagLst xmlns:a="http://schemas.openxmlformats.org/drawingml/2006/main" xmlns:r="http://schemas.openxmlformats.org/officeDocument/2006/relationships" xmlns:p="http://schemas.openxmlformats.org/presentationml/2006/main">
  <p:tag name="GROUPID" val="Group_93870923"/>
  <p:tag name="DARWINVERSION" val="CSharp"/>
  <p:tag name="SPLITORDER" val="4"/>
  <p:tag name="VISUALISATION_ID" val="Darwin_47763556"/>
  <p:tag name="UPDATE" val="unlock"/>
  <p:tag name="STASSIGID" val="StasSigId_34886564"/>
  <p:tag name="SYNQRY" val="SYNQRY#1#$$!$FileVersion--1.6.5.7$!$IsAlias--True$!$Project--523$!$IsNestedSegments--True$!$ProjectSegmentIDs--$!$Survey--482371$!$Requir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LongFilterCondition--AND$!$Metric--none$!$SelectedColumns--question@:@question@:@@:@$$W27 - Speciality  - Gastro@:@W27 - Speciality  - Gastro@:@0%@:@$$W28 - Speciality  - Gastro@:@W28 - Speciality  - Gastro@:@0%@:@$$W29 - Speciality  - Gastro@:@W29 - Speciality  - Gastro@:@0%@:@$$W30 - Speciality  - Gastro@:@W30 - Speciality  - Gastro@:@0%@:@$$W31 - Speciality  - Gastro@:@W31 - Speciality  - Gastro@:@0%@:@$$W32 - Speciality  - Gastro@:@W32 - Speciality  - Gastro@:@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Gastro$$Descending$$$!$FetchOverallData--False$!$Relative--True$!$IsAddQuestionText--False$!$StatisticsSignificance--[]$!$LiveWave--False$!$IsNonOverlapping--False$!$StatisticsSignificanceNValue--30$!$IsSplit--True$!$LastUpdate--28-01-2026 15:28:36$!$AddSplitObjectsToSingleSlide--True$!$LongFilterFields--segment_1@:@IN@:@Speciality  - Gastro$$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781e84ce4648bd5aa63465585c5e41556635694413050e62bcb77e967d6253c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Gastro&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Gastro&quot;},{&quot;Format&quot;:&quot;0%&quot;,&quot;Formula&quot;:&quot;&quot;,&quot;IsDefaultAlias&quot;:false,&quot;Name&quot;:&quot;W29 - Speciality - Gastro&quot;},{&quot;Format&quot;:&quot;0%&quot;,&quot;Formula&quot;:&quot;&quot;,&quot;IsDefaultAlias&quot;:false,&quot;Name&quot;:&quot;W30 - Speciality - Gastro&quot;},{&quot;Format&quot;:&quot;0%&quot;,&quot;Formula&quot;:&quot;&quot;,&quot;IsDefaultAlias&quot;:false,&quot;Name&quot;:&quot;W31 - Speciality - Gastro&quot;},{&quot;Format&quot;:&quot;0%&quot;,&quot;Formula&quot;:&quot;&quot;,&quot;IsDefaultAlias&quot;:false,&quot;Name&quot;:&quot;W32 - Speciality - Gastro&quot;},{&quot;Format&quot;:&quot;0%&quot;,&quot;Formula&quot;:&quot;&quot;,&quot;IsDefaultAlias&quot;:false,&quot;Name&quot;:&quot;Jan-Feb 2026 - Speciality - Gastro&quot;,&quot;sortCriteria&quot;:{&quot;CustomList&quot;:[],&quot;Level&quot;:1,&quot;Order&quot;:1}}]}"/>
  <p:tag name="SPLITGROUPID" val="93870923"/>
  <p:tag name="MAPPINGCONFIG" val="{&quot;selectedColumns&quot;:[&quot;question&quot;,&quot;W28 - Speciality - Gastro&quot;,&quot;W29 - Speciality - Gastro&quot;,&quot;W30 - Speciality - Gastro&quot;,&quot;W31 - Speciality - Gastro&quot;,&quot;W32 - Speciality - Gastro&quot;,&quot;Jan-Feb 2026 - Speciality - Gastro&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4.xml><?xml version="1.0" encoding="utf-8"?>
<p:tagLst xmlns:a="http://schemas.openxmlformats.org/drawingml/2006/main" xmlns:r="http://schemas.openxmlformats.org/officeDocument/2006/relationships" xmlns:p="http://schemas.openxmlformats.org/presentationml/2006/main">
  <p:tag name="GROUPID" val="Group_80068068"/>
  <p:tag name="SPLITORDER" val="4"/>
  <p:tag name="DARWINVERSION" val="CSharp"/>
  <p:tag name="FAILEDREFRESHICONID" val="Darwin_6063710"/>
  <p:tag name="VISUALISATION_ID" val="Darwin_6063710"/>
  <p:tag name="UPDATE" val="unlock"/>
  <p:tag name="STASSIGID" val="StasSigId_15253587"/>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5.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4-03-2025 11:59:28$!$AddSplitObjectsToSingleSlide--False$!$LongFilterFields--$!$TableHeader--2$!$PivotEntry--1$!$TopNRows--0$!$IsProjectAnalysis--True$!$SelectAllColumns--False$!$PivotFilterFields--$!$IsAddLegend--False$!$xField--segment_0,time_period_id$!$Status--Create:Success$!$yField--title$!$MoveFirst--$!$vField--n - value$!$MoveLast--$!$fnField--Sum"/>
  <p:tag name="VISUALISATION_ID" val="Darwin_28734067"/>
  <p:tag name="UPDATE" val="lock"/>
</p:tagLst>
</file>

<file path=ppt/tags/tag496.xml><?xml version="1.0" encoding="utf-8"?>
<p:tagLst xmlns:a="http://schemas.openxmlformats.org/drawingml/2006/main" xmlns:r="http://schemas.openxmlformats.org/officeDocument/2006/relationships" xmlns:p="http://schemas.openxmlformats.org/presentationml/2006/main">
  <p:tag name="GROUPID" val="Group_80068068"/>
  <p:tag name="DARWINVERSION" val="CSharp"/>
  <p:tag name="FAILEDREFRESHICONID" val="Darwin_6063710"/>
  <p:tag name="SPLITORDER" val="0"/>
  <p:tag name="VISUALISATION_ID" val="Darwin_45027365"/>
  <p:tag name="UPDATE" val="unlock"/>
  <p:tag name="STASSIGID" val="StasSigId_70448536"/>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7.xml><?xml version="1.0" encoding="utf-8"?>
<p:tagLst xmlns:a="http://schemas.openxmlformats.org/drawingml/2006/main" xmlns:r="http://schemas.openxmlformats.org/officeDocument/2006/relationships" xmlns:p="http://schemas.openxmlformats.org/presentationml/2006/main">
  <p:tag name="GROUPID" val="Group_80068068"/>
  <p:tag name="DARWINVERSION" val="CSharp"/>
  <p:tag name="FAILEDREFRESHICONID" val="Darwin_6063710"/>
  <p:tag name="SPLITORDER" val="1"/>
  <p:tag name="VISUALISATION_ID" val="Darwin_31234714"/>
  <p:tag name="UPDATE" val="unlock"/>
  <p:tag name="STASSIGID" val="StasSigId_59319300"/>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8.xml><?xml version="1.0" encoding="utf-8"?>
<p:tagLst xmlns:a="http://schemas.openxmlformats.org/drawingml/2006/main" xmlns:r="http://schemas.openxmlformats.org/officeDocument/2006/relationships" xmlns:p="http://schemas.openxmlformats.org/presentationml/2006/main">
  <p:tag name="GROUPID" val="Group_80068068"/>
  <p:tag name="DARWINVERSION" val="CSharp"/>
  <p:tag name="FAILEDREFRESHICONID" val="Darwin_6063710"/>
  <p:tag name="SPLITORDER" val="2"/>
  <p:tag name="VISUALISATION_ID" val="Darwin_86896122"/>
  <p:tag name="UPDATE" val="unlock"/>
  <p:tag name="STASSIGID" val="StasSigId_1801429"/>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499.xml><?xml version="1.0" encoding="utf-8"?>
<p:tagLst xmlns:a="http://schemas.openxmlformats.org/drawingml/2006/main" xmlns:r="http://schemas.openxmlformats.org/officeDocument/2006/relationships" xmlns:p="http://schemas.openxmlformats.org/presentationml/2006/main">
  <p:tag name="GROUPID" val="Group_80068068"/>
  <p:tag name="DARWINVERSION" val="CSharp"/>
  <p:tag name="FAILEDREFRESHICONID" val="Darwin_6063710"/>
  <p:tag name="SPLITORDER" val="3"/>
  <p:tag name="VISUALISATION_ID" val="Darwin_1759939"/>
  <p:tag name="UPDATE" val="unlock"/>
  <p:tag name="STASSIGID" val="StasSigId_70176655"/>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0.xml><?xml version="1.0" encoding="utf-8"?>
<p:tagLst xmlns:a="http://schemas.openxmlformats.org/drawingml/2006/main" xmlns:r="http://schemas.openxmlformats.org/officeDocument/2006/relationships" xmlns:p="http://schemas.openxmlformats.org/presentationml/2006/main">
  <p:tag name="GROUPID" val="Group_80068068"/>
  <p:tag name="DARWINVERSION" val="CSharp"/>
  <p:tag name="FAILEDREFRESHICONID" val="Darwin_6063710"/>
  <p:tag name="SPLITORDER" val="5"/>
  <p:tag name="VISUALISATION_ID" val="Darwin_7053807"/>
  <p:tag name="UPDATE" val="unlock"/>
  <p:tag name="STASSIGID" val="StasSigId_82646935"/>
  <p:tag name="SYNQRY" val="SYNQRY#1#$$!$FileVersion--1.6.5.7$!$IsAlias--True$!$Project--523$!$IsNestedSegments--True$!$ProjectSegmentIDs--$!$Survey--482371$!$Requir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LongFilterCondition--AND$!$Metric--none$!$SelectedColumns--question@:@question@:@@:@$$W27 - Speciality  - PCPs@:@W27 - Speciality  - PCPs@:@0%@:@$$W28 - Speciality  - PCPs@:@W28 - Speciality  - PCPs@:@0%@:@$$W29 - Speciality  - PCPs@:@W29 - Speciality  - PCPs@:@0%@:@$$W30 - Speciality  - PCPs@:@W30 - Speciality  - PCPs@:@0%@:@$$W31 - Speciality  - PCPs@:@W31 - Speciality  - PCPs@:@0%@:@$$W32 - Speciality  - PCPs@:@W32 - Speciality  - PCPs@:@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PCPs$$Descending$$$!$FetchOverallData--False$!$Relative--True$!$IsAddQuestionText--False$!$StatisticsSignificance--[]$!$LiveWave--False$!$IsNonOverlapping--False$!$StatisticsSignificanceNValue--30$!$IsSplit--True$!$LastUpdate--28-01-2026 15:38:54$!$AddSplitObjectsToSingleSlide--Tru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8a3e4f64184e08a71e1621a940b8c35c7d07ccef725aa171598efe3b4497a77e"/>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PCPs&quot;},{&quot;Format&quot;:&quot;0%&quot;,&quot;Formula&quot;:&quot;&quot;,&quot;IsDefaultAlias&quot;:false,&quot;Name&quot;:&quot;W29 - Speciality - PCPs&quot;},{&quot;Format&quot;:&quot;0%&quot;,&quot;Formula&quot;:&quot;&quot;,&quot;IsDefaultAlias&quot;:false,&quot;Name&quot;:&quot;W30 - Speciality - PCPs&quot;},{&quot;Format&quot;:&quot;0%&quot;,&quot;Formula&quot;:&quot;&quot;,&quot;IsDefaultAlias&quot;:false,&quot;Name&quot;:&quot;W31 - Speciality - PCPs&quot;},{&quot;Format&quot;:&quot;0%&quot;,&quot;Formula&quot;:&quot;&quot;,&quot;IsDefaultAlias&quot;:false,&quot;Name&quot;:&quot;W32 - Speciality - PCPs&quot;},{&quot;Format&quot;:&quot;0%&quot;,&quot;Formula&quot;:&quot;&quot;,&quot;IsDefaultAlias&quot;:false,&quot;Name&quot;:&quot;Jan-Feb 2026 - Speciality - PCPs&quot;,&quot;sortCriteria&quot;:{&quot;CustomList&quot;:[],&quot;Level&quot;:1,&quot;Order&quot;:1}}]}"/>
  <p:tag name="SPLITGROUPID" val="80068068"/>
  <p:tag name="MAPPINGCONFIG" val="{&quot;selectedColumns&quot;:[&quot;question&quot;,&quot;W28 - Speciality - PCPs&quot;,&quot;W29 - Speciality - PCPs&quot;,&quot;W30 - Speciality - PCPs&quot;,&quot;W31 - Speciality - PCPs&quot;,&quot;W32 - Speciality - PCPs&quot;,&quot;Jan-Feb 2026 - Speciality - PCPs&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1.xml><?xml version="1.0" encoding="utf-8"?>
<p:tagLst xmlns:a="http://schemas.openxmlformats.org/drawingml/2006/main" xmlns:r="http://schemas.openxmlformats.org/officeDocument/2006/relationships" xmlns:p="http://schemas.openxmlformats.org/presentationml/2006/main">
  <p:tag name="NON_CONNECTED_SHAPE_ID" val="95740637"/>
  <p:tag name="DARWINVERSION" val="CSharp"/>
  <p:tag name="FAILEDREFRESHICONID" val="Darwin_10584018"/>
  <p:tag name="UPDATE" val="unlock"/>
  <p:tag name="VISUALISATION_ID" val="Darwin_42198084"/>
  <p:tag name="SYNQRY" val="SYNQRY#1#$$!$FileVersion--1.6.5.7$!$IsAlias--True$!$Project--523$!$IsNestedSegments--True$!$ProjectSegmentIDs--$!$Survey--482371$!$RequiredColumns--question@:@question@:@@:@$$W32 - Speciality  - PCPs@:@W32 - Speciality  - PCPs@:@0%@:@$!$LongFilterCondition--AND$!$Metric--none$!$SelectedColumns--question@:@question@:@@:@$!$PivotFilterCondition--AND$!$Analysis--117394$!$SelectedRows--ALL$!$AddLatestColumnToFirst--False$!$RecentWave--W2#6$!$ChartSplit--$!$IsClientDeliverable--True$!$SelectedWave--118248,115138,112550,110139,107406,105134$!$Transpose--False$!$ClientDeliverableID--96$!$SelectedSeg--13325$!$IsOverlapping--False$!$ClientDeliverableSegmentIDs--14251,13101,12140,11580,10823,10014$!$SelectedGp--wave$!$IsSorted--True$!$ChartType--Table$!$SelectedMulRolling--$!$SortedField--W32 - Speciality  - PCPs$$Descending$$$!$FetchOverallData--False$!$Relative--True$!$IsAddQuestionText--False$!$StatisticsSignificance--[]$!$LiveWave--False$!$IsNonOverlapping--False$!$StatisticsSignificanceNValue--30$!$IsSplit--False$!$LastUpdate--28-01-2026 15:39:22$!$AddSplitObjectsToSingleSlide--False$!$LongFilterFields--segment_1@:@IN@:@Speciality  - PCPs$$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2$!$PivotEntry--1$!$TopNRows--0$!$IsProjectAnalysis--False$!$SelectAllColumns--Fals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b52a4d13497b944237e2b600d61a56c06f2d9e9ac6b9aa07a0987ced7983b278"/>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PCPs&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Jan-Feb 2026 - Speciality - PCPs&quot;,&quot;sortCriteria&quot;:{&quot;CustomList&quot;:[],&quot;Level&quot;:1,&quot;Order&quot;:1}}]}"/>
  <p:tag name="MAPPINGCONFIG" val="{&quot;selectedColumns&quot;:[&quot;question&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502.xml><?xml version="1.0" encoding="utf-8"?>
<p:tagLst xmlns:a="http://schemas.openxmlformats.org/drawingml/2006/main" xmlns:r="http://schemas.openxmlformats.org/officeDocument/2006/relationships" xmlns:p="http://schemas.openxmlformats.org/presentationml/2006/main">
  <p:tag name="GROUPID" val="Group_52044061"/>
  <p:tag name="SPLITORDER" val="3"/>
  <p:tag name="DARWINVERSION" val="CSharp"/>
  <p:tag name="VISUALISATION_ID" val="Darwin_35051928"/>
  <p:tag name="UPDATE" val="unlock"/>
  <p:tag name="STASSIGID" val="StasSigId_13775680"/>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3.xml><?xml version="1.0" encoding="utf-8"?>
<p:tagLst xmlns:a="http://schemas.openxmlformats.org/drawingml/2006/main" xmlns:r="http://schemas.openxmlformats.org/officeDocument/2006/relationships" xmlns:p="http://schemas.openxmlformats.org/presentationml/2006/main">
  <p:tag name="DARWINVERSION" val="CSharp"/>
  <p:tag name="SYNQRY" val="SYNQRY#1#$$!$FileVersion--Ver-6o3o2a$!$IsAlias--False$!$Project--523$!$IsNestedSegments--True$!$ProjectSegmentIDs--$!$Survey--482371$!$RequiredColumns--segment_0@:@segment_0@:@@@:@$$time_period_id@:@time_period_id@:@@:@$$High@:@High@:@@:@$$&lt;blank:y&gt;@:@y@:@@:@=CONCAT(A2)$!$LongFilterCondition--AND$!$Metric--$!$SelectedColumns--&lt;blank:y&gt;@:@y@:@@:@=CONCAT(A2)$!$PivotFilterCondition--AND$!$Analysis--1800$!$SelectedRows--ALL$!$AddLatestColumnToFirst--False$!$RecentWave--W2#6$!$ChartSplit--$!$IsClientDeliverable--True$!$SelectedWave--78853,75893,72393,69483,65968,61151$!$Transpose--True$!$ClientDeliverableID--96$!$SelectedSeg--$!$IsOverlapping--False$!$ClientDeliverableSegmentIDs--10014,9519,8970,8304,7814,7405$!$SelectedGp--wave$!$IsSorted--False$!$ChartType--Table$!$SelectedMulRolling--$!$SortedField--$!$FetchOverallData--False$!$Relative--True$!$IsAddQuestionText--False$!$StatisticsSignificance--[]$!$LiveWave--False$!$IsNonOverlapping--False$!$StatisticsSignificanceNValue--30$!$IsSplit--False$!$LastUpdate--04-03-2025 11:59:28$!$AddSplitObjectsToSingleSlide--False$!$LongFilterFields--$!$TableHeader--2$!$PivotEntry--1$!$TopNRows--0$!$IsProjectAnalysis--True$!$SelectAllColumns--False$!$PivotFilterFields--$!$IsAddLegend--False$!$xField--segment_0,time_period_id$!$Status--Create:Success$!$yField--title$!$MoveFirst--$!$vField--n - value$!$MoveLast--$!$fnField--Sum"/>
  <p:tag name="VISUALISATION_ID" val="Darwin_63562123"/>
  <p:tag name="UPDATE" val="lock"/>
</p:tagLst>
</file>

<file path=ppt/tags/tag504.xml><?xml version="1.0" encoding="utf-8"?>
<p:tagLst xmlns:a="http://schemas.openxmlformats.org/drawingml/2006/main" xmlns:r="http://schemas.openxmlformats.org/officeDocument/2006/relationships" xmlns:p="http://schemas.openxmlformats.org/presentationml/2006/main">
  <p:tag name="NON_CONNECTED_SHAPE_ID" val="21853859"/>
  <p:tag name="DARWINVERSION" val="CSharp"/>
  <p:tag name="UPDATE" val="unlock"/>
  <p:tag name="VISUALISATION_ID" val="Darwin_80293196"/>
  <p:tag name="SYNQRY" val="SYNQRY#1#$$!$FileVersion--1.6.5.7$!$IsAlias--True$!$Project--523$!$IsNestedSegments--True$!$ProjectSegmentIDs--$!$Survey--482371$!$RequiredColumns--question@:@question@:@@:@$$W32 - Speciality  - NP/PA@:@W32 - Speciality  - NP/PA@:@0%@:@$!$LongFilterCondition--AND$!$Metric--none$!$SelectedColumns--question@:@question@:@@:@$!$PivotFilterCondition--AND$!$Analysis--117394$!$SelectedRows--ALL$!$AddLatestColumnToFirst--False$!$RecentWave--W2#6$!$ChartSplit--$!$IsClientDeliverable--True$!$SelectedWave--118248,115138,112550,110139,107406,105134$!$Transpose--False$!$ClientDeliverableID--96$!$SelectedSeg--13325$!$IsOverlapping--False$!$ClientDeliverableSegmentIDs--14251,13101,12140,11580,10823,10014$!$SelectedGp--wave$!$IsSorted--True$!$ChartType--Table$!$SelectedMulRolling--$!$SortedField--W32 - Speciality  - NP/PA$$Descending$$$!$FetchOverallData--False$!$Relative--True$!$IsAddQuestionText--False$!$StatisticsSignificance--[]$!$LiveWave--False$!$IsNonOverlapping--False$!$StatisticsSignificanceNValue--30$!$IsSplit--False$!$LastUpdate--28-01-2026 15:40:40$!$AddSplitObjectsToSingleSlide--Fals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2$!$PivotEntry--1$!$TopNRows--0$!$IsProjectAnalysis--False$!$SelectAllColumns--Fals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44f429d2b28c90c96d348e9acf4daeaf9d1b85bc40bf9d52d69407e0e1de5b65"/>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Jan-Feb 2026 - Speciality - NP/PA&quot;,&quot;sortCriteria&quot;:{&quot;CustomList&quot;:[],&quot;Level&quot;:1,&quot;Order&quot;:1}}]}"/>
  <p:tag name="MAPPINGCONFIG" val="{&quot;selectedColumns&quot;:[&quot;question&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1,&quot;insertEmptyColumnsAt&quot;:null,&quot;moveRowsToFirst&quot;:[],&quot;moveRowsToLast&quot;:[]}"/>
  <p:tag name="MIGRATIONPHASE" val="Phase0"/>
</p:tagLst>
</file>

<file path=ppt/tags/tag505.xml><?xml version="1.0" encoding="utf-8"?>
<p:tagLst xmlns:a="http://schemas.openxmlformats.org/drawingml/2006/main" xmlns:r="http://schemas.openxmlformats.org/officeDocument/2006/relationships" xmlns:p="http://schemas.openxmlformats.org/presentationml/2006/main">
  <p:tag name="GROUPID" val="Group_52044061"/>
  <p:tag name="DARWINVERSION" val="CSharp"/>
  <p:tag name="SPLITORDER" val="0"/>
  <p:tag name="VISUALISATION_ID" val="Darwin_1143969"/>
  <p:tag name="UPDATE" val="unlock"/>
  <p:tag name="STASSIGID" val="StasSigId_779275"/>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6.xml><?xml version="1.0" encoding="utf-8"?>
<p:tagLst xmlns:a="http://schemas.openxmlformats.org/drawingml/2006/main" xmlns:r="http://schemas.openxmlformats.org/officeDocument/2006/relationships" xmlns:p="http://schemas.openxmlformats.org/presentationml/2006/main">
  <p:tag name="GROUPID" val="Group_52044061"/>
  <p:tag name="DARWINVERSION" val="CSharp"/>
  <p:tag name="SPLITORDER" val="1"/>
  <p:tag name="VISUALISATION_ID" val="Darwin_35491809"/>
  <p:tag name="UPDATE" val="unlock"/>
  <p:tag name="STASSIGID" val="StasSigId_72089178"/>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7.xml><?xml version="1.0" encoding="utf-8"?>
<p:tagLst xmlns:a="http://schemas.openxmlformats.org/drawingml/2006/main" xmlns:r="http://schemas.openxmlformats.org/officeDocument/2006/relationships" xmlns:p="http://schemas.openxmlformats.org/presentationml/2006/main">
  <p:tag name="GROUPID" val="Group_52044061"/>
  <p:tag name="DARWINVERSION" val="CSharp"/>
  <p:tag name="SPLITORDER" val="2"/>
  <p:tag name="VISUALISATION_ID" val="Darwin_45700386"/>
  <p:tag name="UPDATE" val="unlock"/>
  <p:tag name="STASSIGID" val="StasSigId_91331793"/>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8.xml><?xml version="1.0" encoding="utf-8"?>
<p:tagLst xmlns:a="http://schemas.openxmlformats.org/drawingml/2006/main" xmlns:r="http://schemas.openxmlformats.org/officeDocument/2006/relationships" xmlns:p="http://schemas.openxmlformats.org/presentationml/2006/main">
  <p:tag name="GROUPID" val="Group_52044061"/>
  <p:tag name="DARWINVERSION" val="CSharp"/>
  <p:tag name="SPLITORDER" val="4"/>
  <p:tag name="VISUALISATION_ID" val="Darwin_35027758"/>
  <p:tag name="UPDATE" val="unlock"/>
  <p:tag name="STASSIGID" val="StasSigId_27719677"/>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09.xml><?xml version="1.0" encoding="utf-8"?>
<p:tagLst xmlns:a="http://schemas.openxmlformats.org/drawingml/2006/main" xmlns:r="http://schemas.openxmlformats.org/officeDocument/2006/relationships" xmlns:p="http://schemas.openxmlformats.org/presentationml/2006/main">
  <p:tag name="GROUPID" val="Group_52044061"/>
  <p:tag name="DARWINVERSION" val="CSharp"/>
  <p:tag name="SPLITORDER" val="5"/>
  <p:tag name="VISUALISATION_ID" val="Darwin_88432206"/>
  <p:tag name="UPDATE" val="unlock"/>
  <p:tag name="STASSIGID" val="StasSigId_25214533"/>
  <p:tag name="SYNQRY" val="SYNQRY#1#$$!$FileVersion--1.6.5.7$!$IsAlias--True$!$Project--523$!$IsNestedSegments--True$!$ProjectSegmentIDs--$!$Survey--482371$!$Requir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LongFilterCondition--AND$!$Metric--none$!$SelectedColumns--question@:@question@:@@:@$$W27 - Speciality  - NP/PA@:@W27 - Speciality  - NP/PA@:@0%@:@$$W28 - Speciality  - NP/PA@:@W28 - Speciality  - NP/PA@:@0%@:@$$W29 - Speciality  - NP/PA@:@W29 - Speciality  - NP/PA@:@0%@:@$$W30 - Speciality  - NP/PA@:@W30 - Speciality  - NP/PA@:@0%@:@$$W31 - Speciality  - NP/PA@:@W31 - Speciality  - NP/PA@:@0%@:@$$W32 - Speciality  - NP/PA@:@W32 - Speciality  - NP/PA@:@0%@:@$!$PivotFilterCondition--AND$!$Analysis--117394$!$SelectedRows--ALL$!$AddLatestColumnToFirst--False$!$RecentWave--W2#6$!$ChartSplit--1$!$IsClientDeliverable--True$!$SelectedWave--118248,115138,112550,110139,107406,105134$!$Transpose--True$!$ClientDeliverableID--96$!$SelectedSeg--13325$!$IsOverlapping--False$!$ClientDeliverableSegmentIDs--14251,13101,12140,11580,10823,10014$!$SelectedGp--wave$!$IsSorted--True$!$ChartType--Line$!$SelectedMulRolling--$!$SortedField--W32 - Speciality  - NP/PA$$Descending$$$!$FetchOverallData--False$!$Relative--True$!$IsAddQuestionText--False$!$StatisticsSignificance--[]$!$LiveWave--False$!$IsNonOverlapping--False$!$StatisticsSignificanceNValue--30$!$IsSplit--True$!$LastUpdate--28-01-2026 15:40:18$!$AddSplitObjectsToSingleSlide--True$!$LongFilterFields--segment_1@:@IN@:@Speciality  - NP/PA$$question@:@NOT IN@:@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TableHeader--1$!$PivotEntry--1$!$TopNRows--0$!$IsProjectAnalysis--False$!$SelectAllColumns--True$!$PivotFilterFields--$!$IsAddLegend--False$!$xField--question$!$Status--Create:Success$!$yField--segment_0,segment_1$!$MoveFirst--$!$vField--decimal$!$MoveLast--$!$fnField--Average"/>
  <p:tag name="REPORTCONFIGHASH" val="c7e4355e37aa9661ccf959e9a8a10b52ca3f8f4eebed967e44508b845a8c7e29"/>
  <p:tag name="REPORTCONFIGHASH_BACKUP" val="{&quot;AnalysisIds&quot;:[117394],&quot;DynamicTimePeriod&quot;:{&quot;IncludeLiveWave&quot;:false,&quot;LatestNDeliverables&quot;:6},&quot;IncludeAlias&quot;:true,&quot;IncludeOverallSegment&quot;:false,&quot;NestSegments&quot;:false,&quot;ProjectId&quot;:523,&quot;ReportingPlanId&quot;:96,&quot;RollUpDeliverables&quot;:false,&quot;SegmentIds&quot;:[2447],&quot;SurveyId&quot;:482371,&quot;TimePeriodType&quot;:1}"/>
  <p:tag name="DATAFRAMECONFIGHASH" val="a7849b924fea012049fb1cc2167135c3a5e26dde9afe3f69d520fd9a15abb33a"/>
  <p:tag name="DATAFRAMECONFIGHASH_BACKUP" val="{&quot;AggregationType&quot;:1,&quot;ColumnFields&quot;:[&quot;time_period_name&quot;,&quot;segment_1&quot;],&quot;FilterCondition&quot;:0,&quot;Filters&quot;:[{&quot;ColumnKey&quot;:&quot;question&quot;,&quot;Type&quot;:1,&quot;Value&quot;:&quot;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quot;,&quot;filterCriteria&quot;:2},{&quot;ColumnKey&quot;:&quot;segment_1&quot;,&quot;Type&quot;:1,&quot;Value&quot;:&quot;Speciality - NP/PA&quot;,&quot;filterCriteria&quot;:1}],&quot;LatestColumnsFirst&quot;:false,&quot;RowFields&quot;:[&quot;question&quot;],&quot;ValueFields&quot;:[&quot;decimal&quot;],&quot;columnDefinitions&quot;:[{&quot;Format&quot;:&quot;&quot;,&quot;Formula&quot;:&quot;&quot;,&quot;IsDefaultAlias&quot;:false,&quot;Name&quot;:&quot;question&quot;},{&quot;Format&quot;:&quot;0%&quot;,&quot;Formula&quot;:&quot;&quot;,&quot;IsDefaultAlias&quot;:false,&quot;Name&quot;:&quot;W28 - Speciality - NP/PA&quot;},{&quot;Format&quot;:&quot;0%&quot;,&quot;Formula&quot;:&quot;&quot;,&quot;IsDefaultAlias&quot;:false,&quot;Name&quot;:&quot;W29 - Speciality - NP/PA&quot;},{&quot;Format&quot;:&quot;0%&quot;,&quot;Formula&quot;:&quot;&quot;,&quot;IsDefaultAlias&quot;:false,&quot;Name&quot;:&quot;W30 - Speciality - NP/PA&quot;},{&quot;Format&quot;:&quot;0%&quot;,&quot;Formula&quot;:&quot;&quot;,&quot;IsDefaultAlias&quot;:false,&quot;Name&quot;:&quot;W31 - Speciality - NP/PA&quot;},{&quot;Format&quot;:&quot;0%&quot;,&quot;Formula&quot;:&quot;&quot;,&quot;IsDefaultAlias&quot;:false,&quot;Name&quot;:&quot;W32 - Speciality - NP/PA&quot;},{&quot;Format&quot;:&quot;0%&quot;,&quot;Formula&quot;:&quot;&quot;,&quot;IsDefaultAlias&quot;:false,&quot;Name&quot;:&quot;Jan-Feb 2026 - Speciality - NP/PA&quot;,&quot;sortCriteria&quot;:{&quot;CustomList&quot;:[],&quot;Level&quot;:1,&quot;Order&quot;:1}}]}"/>
  <p:tag name="SPLITGROUPID" val="52044061"/>
  <p:tag name="MAPPINGCONFIG" val="{&quot;selectedColumns&quot;:[&quot;question&quot;,&quot;W28 - Speciality - NP/PA&quot;,&quot;W29 - Speciality - NP/PA&quot;,&quot;W30 - Speciality - NP/PA&quot;,&quot;W31 - Speciality - NP/PA&quot;,&quot;W32 - Speciality - NP/PA&quot;,&quot;Jan-Feb 2026 - Speciality - NP/PA&quot;],&quot;selectedRows&quot;:[],&quot;selectAllRows&quot;:true,&quot;addQuestionText&quot;:false,&quot;applyTranspose&quot;:true,&quot;addLegend&quot;:false,&quot;rowsPerObject&quot;:1,&quot;addSplitObjectsToSingleSlide&quot;:true,&quot;topNRows&quot;:0,&quot;rowIdentifierColumnName&quot;:null,&quot;customChartType&quot;:null,&quot;tableHeaderMode&quot;:null,&quot;insertEmptyColumnsAt&quot;:null,&quot;moveRowsToFirst&quot;:[],&quot;moveRowsToLast&quot;:[]}"/>
  <p:tag name="MIGRATIONPHASE" val="Phase0"/>
</p:tagLst>
</file>

<file path=ppt/tags/tag510.xml><?xml version="1.0" encoding="utf-8"?>
<p:tagLst xmlns:a="http://schemas.openxmlformats.org/drawingml/2006/main" xmlns:r="http://schemas.openxmlformats.org/officeDocument/2006/relationships" xmlns:p="http://schemas.openxmlformats.org/presentationml/2006/main">
  <p:tag name="NON_CONNECTED_SHAPE_ID" val="5111171"/>
  <p:tag name="UPDATE" val="unlock"/>
</p:tagLst>
</file>

<file path=ppt/tags/tag511.xml><?xml version="1.0" encoding="utf-8"?>
<p:tagLst xmlns:a="http://schemas.openxmlformats.org/drawingml/2006/main" xmlns:r="http://schemas.openxmlformats.org/officeDocument/2006/relationships" xmlns:p="http://schemas.openxmlformats.org/presentationml/2006/main">
  <p:tag name="NON_CONNECTED_SHAPE_ID" val="94116225"/>
  <p:tag name="UPDATE" val="unlock"/>
</p:tagLst>
</file>

<file path=ppt/tags/tag512.xml><?xml version="1.0" encoding="utf-8"?>
<p:tagLst xmlns:a="http://schemas.openxmlformats.org/drawingml/2006/main" xmlns:r="http://schemas.openxmlformats.org/officeDocument/2006/relationships" xmlns:p="http://schemas.openxmlformats.org/presentationml/2006/main">
  <p:tag name="NON_CONNECTED_SHAPE_ID" val="74646934"/>
  <p:tag name="UPDATE" val="unlock"/>
</p:tagLst>
</file>

<file path=ppt/tags/tag513.xml><?xml version="1.0" encoding="utf-8"?>
<p:tagLst xmlns:a="http://schemas.openxmlformats.org/drawingml/2006/main" xmlns:r="http://schemas.openxmlformats.org/officeDocument/2006/relationships" xmlns:p="http://schemas.openxmlformats.org/presentationml/2006/main">
  <p:tag name="NON_CONNECTED_SHAPE_ID" val="38514117"/>
  <p:tag name="UPDATE" val="unlock"/>
</p:tagLst>
</file>

<file path=ppt/tags/tag514.xml><?xml version="1.0" encoding="utf-8"?>
<p:tagLst xmlns:a="http://schemas.openxmlformats.org/drawingml/2006/main" xmlns:r="http://schemas.openxmlformats.org/officeDocument/2006/relationships" xmlns:p="http://schemas.openxmlformats.org/presentationml/2006/main">
  <p:tag name="NON_CONNECTED_SHAPE_ID" val="57923413"/>
  <p:tag name="UPDATE" val="unlock"/>
</p:tagLst>
</file>

<file path=ppt/tags/tag515.xml><?xml version="1.0" encoding="utf-8"?>
<p:tagLst xmlns:a="http://schemas.openxmlformats.org/drawingml/2006/main" xmlns:r="http://schemas.openxmlformats.org/officeDocument/2006/relationships" xmlns:p="http://schemas.openxmlformats.org/presentationml/2006/main">
  <p:tag name="NON_CONNECTED_SHAPE_ID" val="57178306"/>
  <p:tag name="UPDATE" val="unlock"/>
</p:tagLst>
</file>

<file path=ppt/tags/tag516.xml><?xml version="1.0" encoding="utf-8"?>
<p:tagLst xmlns:a="http://schemas.openxmlformats.org/drawingml/2006/main" xmlns:r="http://schemas.openxmlformats.org/officeDocument/2006/relationships" xmlns:p="http://schemas.openxmlformats.org/presentationml/2006/main">
  <p:tag name="NON_CONNECTED_SHAPE_ID" val="9912112"/>
  <p:tag name="UPDATE" val="unlock"/>
</p:tagLst>
</file>

<file path=ppt/tags/tag517.xml><?xml version="1.0" encoding="utf-8"?>
<p:tagLst xmlns:a="http://schemas.openxmlformats.org/drawingml/2006/main" xmlns:r="http://schemas.openxmlformats.org/officeDocument/2006/relationships" xmlns:p="http://schemas.openxmlformats.org/presentationml/2006/main">
  <p:tag name="NON_CONNECTED_SHAPE_ID" val="86599023"/>
  <p:tag name="UPDATE" val="unlock"/>
</p:tagLst>
</file>

<file path=ppt/tags/tag518.xml><?xml version="1.0" encoding="utf-8"?>
<p:tagLst xmlns:a="http://schemas.openxmlformats.org/drawingml/2006/main" xmlns:r="http://schemas.openxmlformats.org/officeDocument/2006/relationships" xmlns:p="http://schemas.openxmlformats.org/presentationml/2006/main">
  <p:tag name="NON_CONNECTED_SHAPE_ID" val="13637453"/>
  <p:tag name="UPDATE" val="unlock"/>
</p:tagLst>
</file>

<file path=ppt/tags/tag519.xml><?xml version="1.0" encoding="utf-8"?>
<p:tagLst xmlns:a="http://schemas.openxmlformats.org/drawingml/2006/main" xmlns:r="http://schemas.openxmlformats.org/officeDocument/2006/relationships" xmlns:p="http://schemas.openxmlformats.org/presentationml/2006/main">
  <p:tag name="NON_CONNECTED_SHAPE_ID" val="45844590"/>
  <p:tag name="UPDATE" val="unlock"/>
</p:tagLst>
</file>

<file path=ppt/tags/tag520.xml><?xml version="1.0" encoding="utf-8"?>
<p:tagLst xmlns:a="http://schemas.openxmlformats.org/drawingml/2006/main" xmlns:r="http://schemas.openxmlformats.org/officeDocument/2006/relationships" xmlns:p="http://schemas.openxmlformats.org/presentationml/2006/main">
  <p:tag name="NON_CONNECTED_SHAPE_ID" val="70280585"/>
  <p:tag name="UPDATE" val="unlock"/>
</p:tagLst>
</file>

<file path=ppt/tags/tag521.xml><?xml version="1.0" encoding="utf-8"?>
<p:tagLst xmlns:a="http://schemas.openxmlformats.org/drawingml/2006/main" xmlns:r="http://schemas.openxmlformats.org/officeDocument/2006/relationships" xmlns:p="http://schemas.openxmlformats.org/presentationml/2006/main">
  <p:tag name="NON_CONNECTED_SHAPE_ID" val="73231611"/>
  <p:tag name="UPDATE" val="unlock"/>
</p:tagLst>
</file>

<file path=ppt/tags/tag522.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VISUALISATION_ID" val="Darwin_30790436"/>
  <p:tag name="FAILEDREFRESHICONID" val="Darwin_30790436"/>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Lst>
</file>

<file path=ppt/tags/tag523.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30004128"/>
  <p:tag name="FAILEDREFRESHICONID" val="Darwin_30790436"/>
</p:tagLst>
</file>

<file path=ppt/tags/tag524.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41622493"/>
  <p:tag name="FAILEDREFRESHICONID" val="Darwin_30790436"/>
</p:tagLst>
</file>

<file path=ppt/tags/tag525.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20231182"/>
  <p:tag name="FAILEDREFRESHICONID" val="Darwin_30790436"/>
</p:tagLst>
</file>

<file path=ppt/tags/tag526.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64888482"/>
  <p:tag name="FAILEDREFRESHICONID" val="Darwin_30790436"/>
</p:tagLst>
</file>

<file path=ppt/tags/tag527.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87631761"/>
  <p:tag name="FAILEDREFRESHICONID" val="Darwin_30790436"/>
</p:tagLst>
</file>

<file path=ppt/tags/tag528.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68405998"/>
  <p:tag name="FAILEDREFRESHICONID" val="Darwin_30790436"/>
</p:tagLst>
</file>

<file path=ppt/tags/tag529.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77086379"/>
  <p:tag name="FAILEDREFRESHICONID" val="Darwin_30790436"/>
</p:tagLst>
</file>

<file path=ppt/tags/tag530.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43931945"/>
  <p:tag name="FAILEDREFRESHICONID" val="Darwin_30790436"/>
</p:tagLst>
</file>

<file path=ppt/tags/tag531.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1824714"/>
  <p:tag name="FAILEDREFRESHICONID" val="Darwin_30790436"/>
</p:tagLst>
</file>

<file path=ppt/tags/tag532.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42499241"/>
  <p:tag name="FAILEDREFRESHICONID" val="Darwin_30790436"/>
</p:tagLst>
</file>

<file path=ppt/tags/tag533.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61828900"/>
  <p:tag name="FAILEDREFRESHICONID" val="Darwin_30790436"/>
</p:tagLst>
</file>

<file path=ppt/tags/tag534.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26605366"/>
  <p:tag name="FAILEDREFRESHICONID" val="Darwin_30790436"/>
</p:tagLst>
</file>

<file path=ppt/tags/tag535.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64708595"/>
  <p:tag name="FAILEDREFRESHICONID" val="Darwin_30790436"/>
</p:tagLst>
</file>

<file path=ppt/tags/tag536.xml><?xml version="1.0" encoding="utf-8"?>
<p:tagLst xmlns:a="http://schemas.openxmlformats.org/drawingml/2006/main" xmlns:r="http://schemas.openxmlformats.org/officeDocument/2006/relationships" xmlns:p="http://schemas.openxmlformats.org/presentationml/2006/main">
  <p:tag name="SPLITORDER" val="0"/>
  <p:tag name="GROUPID" val="Group_81406915"/>
  <p:tag name="DARWINVERSION" val="CSharp"/>
  <p:tag name="STASSIGID" val="StasSigId_6630472"/>
  <p:tag name="SYNQRY" val="SYNQRY#1#$$!$FileVersion--Ver-6o3o2a$!$IsAlias--False$!$Project--523$!$IsNestedSegments--True$!$ProjectSegmentIDs--$!$Survey--396851$!$RequiredColumns--time_period_id@:@time_period_id@:@0%@:@$$segment_0@:@segment_0@:@0%@:@$$AbbVie@:@AbbVie@:@0%@:@$$Digestive Care, Inc@:@Digestive Care, Inc@:@0%@:@$$Nestlé Health Science@:@Nestlé Health Science@:@0%@:@$$Vivus@:@Vivus@:@0%@:@$!$LongFilterCondition--AND$!$Metric--$!$SelectedColumns--segment_0@:@segment_0@:@0%@:@$$AbbVie@:@AbbVie@:@0%@:@$$Digestive Care, Inc@:@Digestive Care, Inc@:@0%@:@$$Nestlé Health Science@:@Nestlé Health Science@:@0%@:@$$Vivus@:@Vivus@:@0%@:@$!$PivotFilterCondition--AND$!$Analysis--229049$!$SelectedRows--ALL$!$AddLatestColumnToFirst--False$!$RecentWave--W2#6$!$ChartSplit--$!$IsClientDeliverable--True$!$SelectedWave--79110,76142,72577,69745,66768,62088$!$Transpose--False$!$ClientDeliverableID--96$!$SelectedSeg--$!$IsOverlapping--False$!$ClientDeliverableSegmentIDs--12140,11580,10823,10014,9519,8970$!$SelectedGp--wave$!$IsSorted--True$!$ChartType--Line$!$SelectedMulRolling--$!$SortedField--time_period_id$$Ascending$$$!$FetchOverallData--False$!$Relative--True$!$IsAddQuestionText--False$!$StatisticsSignificance--[]$!$LiveWave--False$!$IsNonOverlapping--False$!$StatisticsSignificanceNValue--30$!$IsSplit--False$!$LastUpdate--06-03-2025 11:43:34$!$AddSplitObjectsToSingleSlide--False$!$LongFilterFields--$!$TableHeader--0$!$PivotEntry--1$!$TopNRows--0$!$IsProjectAnalysis--False$!$SelectAllColumns--False$!$PivotFilterFields--$!$IsAddLegend--False$!$xField--time_period_id,segment_0$!$Status--Create:Success$!$yField--question$!$MoveFirst--$!$vField--decimal$!$MoveLast--$!$fnField--Average"/>
  <p:tag name="VISUALISATION_ID" val="Darwin_89528784"/>
  <p:tag name="FAILEDREFRESHICONID" val="Darwin_30790436"/>
</p:tagLst>
</file>

<file path=ppt/tags/tag537.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42487828"/>
  <p:tag name="STASSIGID" val="StasSigId_35386594"/>
  <p:tag name="SYNQRY" val="SYNQRY#1#$$!$FileVersion--1.4.0$!$IsAlias--True$!$Project--523$!$IsNestedSegments--True$!$ProjectSegmentIDs--$!$Survey--482371$!$RequiredColumns--value@:@value@:@@:@$$title@:@title@:@@:@$$W28@:@W28@:@0%@:@$$W27@:@W27@:@0%@:@$!$LongFilterCondition--AND$!$Metric--none$!$SelectedColumns--value@:@value@:@@:@$$W28@:@W28@:@0%@:@$$W27@:@W27@:@0%@:@$!$PivotFilterCondition--AND$!$Analysis--502549$!$SelectedRows--ALL$!$AddLatestColumnToFirst--False$!$RecentWave--W2#2$!$ChartSplit--$!$IsClientDeliverable--True$!$SelectedWave--105134,102306$!$Transpose--False$!$ClientDeliverableID--96$!$SelectedSeg--$!$IsOverlapping--False$!$ClientDeliverableSegmentIDs--10823,10014$!$SelectedGp--wave$!$IsSorted--True$!$ChartType--Clustered Bar$!$SelectedMulRolling--$!$SortedField--value$$Ascending$$3K;6k;12k;15K;24K;30K;36K;50K;80K;I don’t remember;No specific dosing options were discussed$!$FetchOverallData--False$!$Relative--True$!$IsAddQuestionText--False$!$StatisticsSignificance--[]$!$LiveWave--False$!$IsNonOverlapping--False$!$StatisticsSignificanceNValue--30$!$IsSplit--False$!$LastUpdate--12-05-2025 16:37:00$!$AddSplitObjectsToSingleSlide--False$!$LongFilterFields--$!$TableHeader--1$!$PivotEntry--1$!$TopNRows--0$!$IsProjectAnalysis--False$!$SelectAllColumns--False$!$PivotFilterFields--$!$IsAddLegend--False$!$xField--value,title$!$Status--Create:Success$!$yField--segment_0$!$MoveFirst--$!$vField--penetration$!$MoveLast--$!$fnField--Average"/>
  <p:tag name="VISUALISATION_ID" val="Darwin_22059267"/>
  <p:tag name="REPORTCONFIGHASH" val="9ddba404fc841feabc6de052d3f165b261742447a6ad6f69aef8457e1d7a5bc9"/>
  <p:tag name="REPORTCONFIGHASH_BACKUP" val="{&quot;AnalysisIds&quot;:[502549],&quot;DynamicTimePeriod&quot;:{&quot;IncludeLiveWave&quot;:false,&quot;LatestNDeliverables&quot;:2},&quot;IncludeAlias&quot;:true,&quot;IncludeOverallSegment&quot;:false,&quot;NestSegments&quot;:false,&quot;ProjectId&quot;:523,&quot;ReportingPlanId&quot;:96,&quot;RollUpDeliverables&quot;:false,&quot;SegmentIds&quot;:[],&quot;SurveyId&quot;:482371,&quot;TimePeriodType&quot;:1}"/>
  <p:tag name="DATAFRAMECONFIGHASH" val="ec2c5daa3b5b05c8abb21e50e87869a7c37d34b96f5ef330241fdd53bf0ce6a9"/>
  <p:tag name="DATAFRAMECONFIGHASH_BACKUP" val="{&quot;AggregationType&quot;:1,&quot;ColumnFields&quot;:[&quot;time_period_name&quot;],&quot;FilterCondition&quot;:0,&quot;Filters&quot;:[],&quot;LatestColumnsFirst&quot;:false,&quot;RowFields&quot;:[&quot;value&quot;,&quot;title&quot;],&quot;ValueFields&quot;:[&quot;penetration&quot;],&quot;columnDefinitions&quot;:[{&quot;Format&quot;:&quot;&quot;,&quot;Formula&quot;:&quot;&quot;,&quot;IsDefaultAlias&quot;:false,&quot;Name&quot;:&quot;value&quot;,&quot;sortCriteria&quot;:{&quot;CustomList&quot;:[&quot;3K&quot;,&quot;6k&quot;,&quot;12k&quot;,&quot;15K&quot;,&quot;24K&quot;,&quot;30K&quot;,&quot;36K&quot;,&quot;50K&quot;,&quot;80K&quot;,&quot;I don’t remember&quot;,&quot;No specific dosing options were discussed&quot;],&quot;Level&quot;:1,&quot;Order&quot;:0}},{&quot;Format&quot;:&quot;&quot;,&quot;Formula&quot;:&quot;&quot;,&quot;IsDefaultAlias&quot;:false,&quot;Name&quot;:&quot;title&quot;},{&quot;Format&quot;:&quot;0%&quot;,&quot;Formula&quot;:&quot;&quot;,&quot;IsDefaultAlias&quot;:false,&quot;Name&quot;:&quot;Jan-Feb 2026&quot;},{&quot;Format&quot;:&quot;0%&quot;,&quot;Formula&quot;:&quot;&quot;,&quot;IsDefaultAlias&quot;:false,&quot;Name&quot;:&quot;W32&quot;}]}"/>
  <p:tag name="MAPPINGCONFIG" val="{&quot;selectedColumns&quot;:[&quot;value&quot;,&quot;Jan-Feb 2026&quot;,&quot;W32&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538.xml><?xml version="1.0" encoding="utf-8"?>
<p:tagLst xmlns:a="http://schemas.openxmlformats.org/drawingml/2006/main" xmlns:r="http://schemas.openxmlformats.org/officeDocument/2006/relationships" xmlns:p="http://schemas.openxmlformats.org/presentationml/2006/main">
  <p:tag name="DARWINVERSION" val="CSharp"/>
  <p:tag name="UPDATE" val="unlock"/>
  <p:tag name="FAILEDREFRESHICONID" val="Darwin_50348306"/>
  <p:tag name="STASSIGID" val="StasSigId_95234755"/>
  <p:tag name="SYNQRY" val="SYNQRY#1#$$!$FileVersion--1.4.0$!$IsAlias--True$!$Project--523$!$IsNestedSegments--True$!$ProjectSegmentIDs--$!$Survey--482371$!$RequiredColumns--value@:@value@:@@:@$$W28@:@W28@:@0%@:@$$W27@:@W27@:@0%@:@$!$LongFilterCondition--AND$!$Metric--none$!$SelectedColumns--value@:@value@:@@:@$$W28@:@W28@:@0%@:@$$W27@:@W27@:@0%@:@$!$PivotFilterCondition--AND$!$Analysis--499929$!$SelectedRows--ALL$!$AddLatestColumnToFirst--False$!$RecentWave--W2#2$!$ChartSplit--$!$IsClientDeliverable--True$!$SelectedWave--105134,102306$!$Transpose--False$!$ClientDeliverableID--96$!$SelectedSeg--$!$IsOverlapping--False$!$ClientDeliverableSegmentIDs--10823,10014$!$SelectedGp--wave$!$IsSorted--True$!$ChartType--Clustered Bar$!$SelectedMulRolling--$!$SortedField--value$$Ascending$$3K;5K;10K;15K;20K;25K;30K;40K;50K;60K;80K;I don’t remember;No specific dosing options were discussed$!$FetchOverallData--False$!$Relative--True$!$IsAddQuestionText--False$!$StatisticsSignificance--[]$!$LiveWave--False$!$IsNonOverlapping--False$!$StatisticsSignificanceNValue--30$!$IsSplit--False$!$LastUpdate--24-09-2024 13:08:09$!$AddSplitObjectsToSingleSlide--False$!$LongFilterFields--$!$TableHeader--1$!$PivotEntry--1$!$TopNRows--0$!$IsProjectAnalysis--False$!$SelectAllColumns--True$!$PivotFilterFields--$!$IsAddLegend--False$!$xField--value$!$Status--Create:Success$!$yField--segment_0$!$MoveFirst--$!$vField--penetration$!$MoveLast--$!$fnField--Average"/>
  <p:tag name="VISUALISATION_ID" val="Darwin_3226176"/>
  <p:tag name="REPORTCONFIGHASH" val="0c7ca63c413881ba2dc955a4a81f85e22ca751ce811989a08bc5b15210d441a7"/>
  <p:tag name="REPORTCONFIGHASH_BACKUP" val="{&quot;AnalysisIds&quot;:[499929],&quot;DynamicTimePeriod&quot;:{&quot;IncludeLiveWave&quot;:false,&quot;LatestNDeliverables&quot;:2},&quot;IncludeAlias&quot;:true,&quot;IncludeOverallSegment&quot;:false,&quot;NestSegments&quot;:false,&quot;ProjectId&quot;:523,&quot;ReportingPlanId&quot;:96,&quot;RollUpDeliverables&quot;:false,&quot;SegmentIds&quot;:[],&quot;SurveyId&quot;:482371,&quot;TimePeriodType&quot;:1}"/>
  <p:tag name="DATAFRAMECONFIGHASH" val="f2eb95471b901050be46003b3ab40932dcdbfa072500739789196f2a8998b13a"/>
  <p:tag name="DATAFRAMECONFIGHASH_BACKUP" val="{&quot;AggregationType&quot;:1,&quot;ColumnFields&quot;:[&quot;time_period_name&quot;],&quot;FilterCondition&quot;:0,&quot;Filters&quot;:[],&quot;LatestColumnsFirst&quot;:false,&quot;RowFields&quot;:[&quot;value&quot;],&quot;ValueFields&quot;:[&quot;penetration&quot;],&quot;columnDefinitions&quot;:[{&quot;Format&quot;:&quot;&quot;,&quot;Formula&quot;:&quot;&quot;,&quot;IsDefaultAlias&quot;:false,&quot;Name&quot;:&quot;value&quot;,&quot;sortCriteria&quot;:{&quot;CustomList&quot;:[&quot;3K&quot;,&quot;5K&quot;,&quot;10K&quot;,&quot;15K&quot;,&quot;20K&quot;,&quot;25K&quot;,&quot;30K&quot;,&quot;40K&quot;,&quot;50K&quot;,&quot;60K&quot;,&quot;80K&quot;,&quot;I don’t remember&quot;,&quot;No specific dosing options were discussed&quot;],&quot;Level&quot;:1,&quot;Order&quot;:0}},{&quot;Format&quot;:&quot;0%&quot;,&quot;Formula&quot;:&quot;&quot;,&quot;IsDefaultAlias&quot;:false,&quot;Name&quot;:&quot;Jan-Feb 2026&quot;},{&quot;Format&quot;:&quot;0%&quot;,&quot;Formula&quot;:&quot;&quot;,&quot;IsDefaultAlias&quot;:false,&quot;Name&quot;:&quot;W32&quot;}]}"/>
  <p:tag name="MAPPINGCONFIG" val="{&quot;selectedColumns&quot;:[&quot;value&quot;,&quot;Jan-Feb 2026&quot;,&quot;W32&quot;],&quot;selectedRows&quot;:[],&quot;selectAllRows&quot;:true,&quot;addQuestionText&quot;:false,&quot;applyTranspose&quot;:false,&quot;addLegend&quot;:false,&quot;rowsPerObject&quot;:null,&quot;addSplitObjectsToSingleSlide&quot;:false,&quot;topNRows&quot;:0,&quot;rowIdentifierColumnName&quot;:null,&quot;customChartType&quot;:null,&quot;tableHeaderMode&quot;:null,&quot;insertEmptyColumnsAt&quot;:null,&quot;moveRowsToFirst&quot;:[],&quot;moveRowsToLast&quot;:[]}"/>
  <p:tag name="MIGRATIONPHASE" val="Phase0"/>
</p:tagLst>
</file>

<file path=ppt/tags/tag539.xml><?xml version="1.0" encoding="utf-8"?>
<p:tagLst xmlns:a="http://schemas.openxmlformats.org/drawingml/2006/main" xmlns:r="http://schemas.openxmlformats.org/officeDocument/2006/relationships" xmlns:p="http://schemas.openxmlformats.org/presentationml/2006/main">
  <p:tag name="NON_CONNECTED_SHAPE_ID" val="28265226"/>
  <p:tag name="UPDATE" val="unlock"/>
</p:tagLst>
</file>

<file path=ppt/tags/tag540.xml><?xml version="1.0" encoding="utf-8"?>
<p:tagLst xmlns:a="http://schemas.openxmlformats.org/drawingml/2006/main" xmlns:r="http://schemas.openxmlformats.org/officeDocument/2006/relationships" xmlns:p="http://schemas.openxmlformats.org/presentationml/2006/main">
  <p:tag name="NON_CONNECTED_SHAPE_ID" val="28265226"/>
  <p:tag name="UPDATE" val="unlock"/>
</p:tagLst>
</file>

<file path=ppt/theme/theme1.xml><?xml version="1.0" encoding="utf-8"?>
<a:theme xmlns:a="http://schemas.openxmlformats.org/drawingml/2006/main" name="Apex">
  <a:themeElements>
    <a:clrScheme name="Apex">
      <a:dk1>
        <a:srgbClr val="4C4C51"/>
      </a:dk1>
      <a:lt1>
        <a:sysClr val="window" lastClr="FFFFFF"/>
      </a:lt1>
      <a:dk2>
        <a:srgbClr val="7F7F7F"/>
      </a:dk2>
      <a:lt2>
        <a:srgbClr val="EDF0FF"/>
      </a:lt2>
      <a:accent1>
        <a:srgbClr val="071D49"/>
      </a:accent1>
      <a:accent2>
        <a:srgbClr val="0066F5"/>
      </a:accent2>
      <a:accent3>
        <a:srgbClr val="CF451C"/>
      </a:accent3>
      <a:accent4>
        <a:srgbClr val="8A2ECC"/>
      </a:accent4>
      <a:accent5>
        <a:srgbClr val="45AB00"/>
      </a:accent5>
      <a:accent6>
        <a:srgbClr val="00A2FF"/>
      </a:accent6>
      <a:hlink>
        <a:srgbClr val="FFC000"/>
      </a:hlink>
      <a:folHlink>
        <a:srgbClr val="071D49"/>
      </a:folHlink>
    </a:clrScheme>
    <a:fontScheme name="AbbVie 2024">
      <a:majorFont>
        <a:latin typeface="F37 Lineca"/>
        <a:ea typeface=""/>
        <a:cs typeface=""/>
      </a:majorFont>
      <a:minorFont>
        <a:latin typeface="Robo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
      <a:dk1>
        <a:srgbClr val="000000"/>
      </a:dk1>
      <a:lt1>
        <a:srgbClr val="FFFFFF"/>
      </a:lt1>
      <a:dk2>
        <a:srgbClr val="B69404"/>
      </a:dk2>
      <a:lt2>
        <a:srgbClr val="C0C0C0"/>
      </a:lt2>
      <a:accent1>
        <a:srgbClr val="0000FF"/>
      </a:accent1>
      <a:accent2>
        <a:srgbClr val="E2E1C0"/>
      </a:accent2>
      <a:accent3>
        <a:srgbClr val="FFFFFF"/>
      </a:accent3>
      <a:accent4>
        <a:srgbClr val="000000"/>
      </a:accent4>
      <a:accent5>
        <a:srgbClr val="AAAAFF"/>
      </a:accent5>
      <a:accent6>
        <a:srgbClr val="CDCCAE"/>
      </a:accent6>
      <a:hlink>
        <a:srgbClr val="3D97AF"/>
      </a:hlink>
      <a:folHlink>
        <a:srgbClr val="B72C0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6">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53448585-7634-4BE4-BA59-32130204E584}">
  <we:reference id="wa104038830" version="1.0.0.3" store="en-US" storeType="OMEX"/>
  <we:alternateReferences>
    <we:reference id="WA104038830" version="1.0.0.3" store="WA104038830"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AddinData xmlns="http://connector.synapse.com/">
  <ReportConfig>
    <Entry xmlns="http://connector.synapse.com/" key="6251a7e5c51ed6fa4f9782367cf9bd69429fa677368d61107c60bb6a8dd77448">
      <Data>
        <Value xmlns=""><![CDATA[{"AnalysisIds":[641205],"DynamicTimePeriod":{"IncludeLiveWave":false,"LatestNDeliverables":2},"IncludeAlias":true,"IncludeOverallSegment":true,"NestSegments":false,"ProjectId":523,"ReportingPlanId":1143,"RollUpDeliverables":false,"SegmentIds":[],"SurveyId":482371,"TimePeriodType":1}]]></Value>
      </Data>
    </Entry>
    <Entry xmlns="http://connector.synapse.com/" key="787fd2b5a1f93cad3ab94891cb823e7d843796d97480b92c85592be4ad7884e6">
      <Data>
        <Value xmlns=""><![CDATA[{"AnalysisIds":[641211],"DynamicTimePeriod":{"IncludeLiveWave":false,"LatestNDeliverables":2},"IncludeAlias":true,"IncludeOverallSegment":true,"NestSegments":false,"ProjectId":523,"ReportingPlanId":1143,"RollUpDeliverables":false,"SegmentIds":[],"SurveyId":482371,"TimePeriodType":1}]]></Value>
      </Data>
    </Entry>
    <Entry xmlns="http://connector.synapse.com/" key="8a0baccf7fb0c17914879b71690032d3390f6a2f52f2ebc0868ff192742fc256">
      <Data>
        <Value xmlns=""><![CDATA[{"AnalysisIds":[689321],"IncludeAlias":true,"IncludeOverallSegment":true,"NestSegments":false,"ProjectId":523,"ReportingPlanId":1143,"RollUpDeliverables":false,"SegmentIds":[],"StaticTimePeriodIds":[15186,15187,15188,25373,25374,25375],"SurveyId":396851,"TimePeriodType":0}]]></Value>
      </Data>
    </Entry>
    <Entry xmlns="http://connector.synapse.com/" key="c089c9dd4b1c941818578c9156c669a59c13f807bd6cac1ce2675e1493b8853f">
      <Data>
        <Value xmlns=""><![CDATA[{"AnalysisIds":[651720],"DynamicTimePeriod":{"IncludeLiveWave":false,"LatestNDeliverables":6},"IncludeAlias":false,"IncludeOverallSegment":false,"NestSegments":false,"ProjectId":523,"ReportingPlanId":96,"RollUpDeliverables":false,"SegmentIds":[],"SurveyId":482371,"TimePeriodType":1}]]></Value>
      </Data>
    </Entry>
    <Entry xmlns="http://connector.synapse.com/" key="1d268709f1cd608f2c4fbd521d8ea8a4f28168493fe60041d1d2898bdb6fcb53">
      <Data>
        <Value xmlns=""><![CDATA[{"AnalysisIds":[654353],"DynamicTimePeriod":{"IncludeLiveWave":false,"LatestNDeliverables":6},"IncludeAlias":true,"IncludeOverallSegment":false,"NestSegments":false,"ProjectId":523,"ReportingPlanId":1602,"RollUpDeliverables":false,"SegmentIds":[],"SurveyId":482371,"TimePeriodType":1}]]></Value>
      </Data>
    </Entry>
    <Entry xmlns="http://connector.synapse.com/" key="8e5a080ada4a456ad3750d143bc9d7784c1e8beb29d6748325c583e5b5de60ae">
      <Data>
        <Value xmlns=""><![CDATA[{"AnalysisIds":[654352],"DynamicTimePeriod":{"IncludeLiveWave":false,"LatestNDeliverables":6},"IncludeAlias":true,"IncludeOverallSegment":false,"NestSegments":false,"ProjectId":523,"ReportingPlanId":96,"RollUpDeliverables":false,"SegmentIds":[],"SurveyId":482371,"TimePeriodType":1}]]></Value>
      </Data>
    </Entry>
    <Entry xmlns="http://connector.synapse.com/" key="174c333f9826b4597d5fe3ca1725990a47d7128b58a121f46f03906beed2e45b">
      <Data>
        <Value xmlns=""><![CDATA[{"AnalysisIds":[654353],"DynamicTimePeriod":{"IncludeLiveWave":false,"LatestNDeliverables":6},"IncludeAlias":false,"IncludeOverallSegment":false,"NestSegments":false,"ProjectId":523,"ReportingPlanId":96,"RollUpDeliverables":false,"SegmentIds":[],"SurveyId":396851,"TimePeriodType":1}]]></Value>
      </Data>
    </Entry>
    <Entry xmlns="http://connector.synapse.com/" key="a676d9af2f29b63fe7a34b47d51465b072ff8eb573797c3b4fe96e9346d22e43">
      <Data>
        <Value xmlns=""><![CDATA[{"AnalysisIds":[654352],"DynamicTimePeriod":{"IncludeLiveWave":false,"LatestNDeliverables":6},"IncludeAlias":false,"IncludeOverallSegment":false,"NestSegments":false,"ProjectId":523,"ReportingPlanId":96,"RollUpDeliverables":false,"SegmentIds":[],"SurveyId":396851,"TimePeriodType":1}]]></Value>
      </Data>
    </Entry>
    <Entry xmlns="http://connector.synapse.com/" key="02522cb480d7d0425dac60628b34a0332c5b06b7c572aaafc8fcde4962db8e6b">
      <Data>
        <Value xmlns=""><![CDATA[{"AnalysisIds":[654353],"DynamicTimePeriod":{"IncludeLiveWave":false,"LatestNDeliverables":1},"IncludeAlias":true,"IncludeOverallSegment":false,"NestSegments":false,"ProjectId":523,"ReportingPlanId":1602,"RollUpDeliverables":false,"SegmentIds":[],"SurveyId":482371,"TimePeriodType":1}]]></Value>
      </Data>
    </Entry>
    <Entry xmlns="http://connector.synapse.com/" key="f411afb8abdb2f43968a07501f8366209db01a5468305e575b4c7c58cfa92711">
      <Data>
        <Value xmlns=""><![CDATA[{"AnalysisIds":[651720],"DynamicTimePeriod":{"IncludeLiveWave":false,"LatestNDeliverables":6},"IncludeAlias":false,"IncludeOverallSegment":false,"NestSegments":false,"ProjectId":523,"ReportingPlanId":96,"RollUpDeliverables":false,"SegmentIds":[2447],"SurveyId":482371,"TimePeriodType":1}]]></Value>
      </Data>
    </Entry>
    <Entry xmlns="http://connector.synapse.com/" key="bb62fd23d87917e4272a115f5bf393242f71dc9bab41749175afec6efd35456c">
      <Data>
        <Value xmlns=""><![CDATA[{"AnalysisIds":[651669],"DynamicTimePeriod":{"IncludeLiveWave":false,"LatestNDeliverables":6},"IncludeAlias":false,"IncludeOverallSegment":false,"NestSegments":false,"ProjectId":523,"ReportingPlanId":96,"RollUpDeliverables":false,"SegmentIds":[],"SurveyId":482371,"TimePeriodType":1}]]></Value>
      </Data>
    </Entry>
    <Entry xmlns="http://connector.synapse.com/" key="cb971ae16e682331827d6a7ed279783731e0aa94cb63426b22b939876a26e6a1">
      <Data>
        <Value xmlns=""><![CDATA[{"AnalysisIds":[651669],"DynamicTimePeriod":{"IncludeLiveWave":false,"LatestNDeliverables":6},"IncludeAlias":false,"IncludeOverallSegment":false,"NestSegments":false,"ProjectId":523,"ReportingPlanId":96,"RollUpDeliverables":false,"SegmentIds":[2447],"SurveyId":482371,"TimePeriodType":1}]]></Value>
      </Data>
    </Entry>
    <Entry xmlns="http://connector.synapse.com/" key="e9952114cd3a7dcb110630a8f9deccc77efaa34458d3c8319481de3e22c17a2a">
      <Data>
        <Value xmlns=""><![CDATA[{"AnalysisIds":[651783],"DynamicTimePeriod":{"IncludeLiveWave":false,"LatestNDeliverables":6},"IncludeAlias":true,"IncludeOverallSegment":false,"NestSegments":false,"ProjectId":523,"ReportingPlanId":96,"RollUpDeliverables":false,"SegmentIds":[2447],"SurveyId":482371,"TimePeriodType":1}]]></Value>
      </Data>
    </Entry>
    <Entry xmlns="http://connector.synapse.com/" key="9f56c050b58ae0051006d4312dcf0702d7c2fc030bbff7be5b28d3000184d8bb">
      <Data>
        <Value xmlns=""><![CDATA[{"AnalysisIds":[651720],"DynamicTimePeriod":{"IncludeLiveWave":false,"LatestNDeliverables":6},"IncludeAlias":true,"IncludeOverallSegment":false,"NestSegments":false,"ProjectId":523,"ReportingPlanId":1602,"RollUpDeliverables":false,"SegmentIds":[2447],"SurveyId":482371,"TimePeriodType":1}]]></Value>
      </Data>
    </Entry>
    <Entry xmlns="http://connector.synapse.com/" key="6738fcecee2045247701ec03a45655c441dff341a0a5b0fef3f9590655c08ca4">
      <Data>
        <Value xmlns=""><![CDATA[{"AnalysisIds":[651669],"DynamicTimePeriod":{"IncludeLiveWave":false,"LatestNDeliverables":6},"IncludeAlias":true,"IncludeOverallSegment":false,"NestSegments":false,"ProjectId":523,"ReportingPlanId":96,"RollUpDeliverables":false,"SegmentIds":[],"SurveyId":482371,"TimePeriodType":1}]]></Value>
      </Data>
    </Entry>
    <Entry xmlns="http://connector.synapse.com/" key="008a063414191a7472177968e425eb7e40bb3a062abdf81d4e49dd45224583d8">
      <Data>
        <Value xmlns=""><![CDATA[{"AnalysisIds":[651783],"DynamicTimePeriod":{"IncludeLiveWave":false,"LatestNDeliverables":6},"IncludeAlias":true,"IncludeOverallSegment":false,"NestSegments":false,"ProjectId":523,"ReportingPlanId":96,"RollUpDeliverables":false,"SegmentIds":[],"SurveyId":482371,"TimePeriodType":1}]]></Value>
      </Data>
    </Entry>
    <Entry xmlns="http://connector.synapse.com/" key="9ddba404fc841feabc6de052d3f165b261742447a6ad6f69aef8457e1d7a5bc9">
      <Data>
        <Value xmlns=""><![CDATA[{"AnalysisIds":[502549],"DynamicTimePeriod":{"IncludeLiveWave":false,"LatestNDeliverables":2},"IncludeAlias":true,"IncludeOverallSegment":false,"NestSegments":false,"ProjectId":523,"ReportingPlanId":96,"RollUpDeliverables":false,"SegmentIds":[],"SurveyId":482371,"TimePeriodType":1}]]></Value>
      </Data>
    </Entry>
    <Entry xmlns="http://connector.synapse.com/" key="0c7ca63c413881ba2dc955a4a81f85e22ca751ce811989a08bc5b15210d441a7">
      <Data>
        <Value xmlns=""><![CDATA[{"AnalysisIds":[499929],"DynamicTimePeriod":{"IncludeLiveWave":false,"LatestNDeliverables":2},"IncludeAlias":true,"IncludeOverallSegment":false,"NestSegments":false,"ProjectId":523,"ReportingPlanId":96,"RollUpDeliverables":false,"SegmentIds":[],"SurveyId":482371,"TimePeriodType":1}]]></Value>
      </Data>
    </Entry>
    <Entry xmlns="http://connector.synapse.com/" key="cd54a93a0514e7be83829fa39c1c22f09c7ac7c8bd97fe4864c6ac69c010b505">
      <Data>
        <Value xmlns=""><![CDATA[{"AnalysisIds":[654353],"DynamicTimePeriod":{"IncludeLiveWave":false,"LatestNDeliverables":6},"IncludeAlias":false,"IncludeOverallSegment":false,"NestSegments":false,"ProjectId":523,"ReportingPlanId":96,"RollUpDeliverables":false,"SegmentIds":[2447],"SurveyId":482371,"TimePeriodType":1}]]></Value>
      </Data>
    </Entry>
    <Entry xmlns="http://connector.synapse.com/" key="480714a8ae118b82692f38e45c1cff28cd70a5430c421e0db757b12ad42d2f4e">
      <Data>
        <Value xmlns=""><![CDATA[{"AnalysisIds":[654352],"DynamicTimePeriod":{"IncludeLiveWave":false,"LatestNDeliverables":6},"IncludeAlias":false,"IncludeOverallSegment":false,"NestSegments":false,"ProjectId":523,"ReportingPlanId":96,"RollUpDeliverables":false,"SegmentIds":[2447],"SurveyId":482371,"TimePeriodType":1}]]></Value>
      </Data>
    </Entry>
    <Entry xmlns="http://connector.synapse.com/" key="805ecd44af05071b0d4d029dba1b79aa4a65420ad8086ff663d7bbbbd2b8787b">
      <Data>
        <Value xmlns=""><![CDATA[{"AnalysisIds":[117414],"DynamicTimePeriod":{"IncludeLiveWave":false,"LatestNDeliverables":6},"IncludeAlias":true,"IncludeOverallSegment":false,"NestSegments":false,"ProjectId":523,"ReportingPlanId":96,"RollUpDeliverables":false,"SegmentIds":[2447],"SurveyId":482371,"TimePeriodType":1}]]></Value>
      </Data>
    </Entry>
    <Entry xmlns="http://connector.synapse.com/" key="dc51faeea8ba61bc3a9fc231b912d8d431547167420f409e646df6f8c5dde34d">
      <Data>
        <Value xmlns=""><![CDATA[{"AnalysisIds":[117414],"DynamicTimePeriod":{"IncludeLiveWave":false,"LatestNDeliverables":6},"IncludeAlias":false,"IncludeOverallSegment":false,"NestSegments":false,"ProjectId":523,"ReportingPlanId":96,"RollUpDeliverables":false,"SegmentIds":[2447],"SurveyId":482371,"TimePeriodType":1}]]></Value>
      </Data>
    </Entry>
    <Entry xmlns="http://connector.synapse.com/" key="e2f26ff6c86b5dffd347cc38b2a9322c1c0061ab5cae129198b419449571c663">
      <Data>
        <Value xmlns=""><![CDATA[{"AnalysisIds":[654353],"DynamicTimePeriod":{"IncludeLiveWave":false,"LatestNDeliverables":6},"IncludeAlias":false,"IncludeOverallSegment":false,"NestSegments":false,"ProjectId":523,"ReportingPlanId":96,"RollUpDeliverables":false,"SegmentIds":[2447],"SurveyId":396851,"TimePeriodType":1}]]></Value>
      </Data>
    </Entry>
    <Entry xmlns="http://connector.synapse.com/" key="82d174d9bb487a97af5d2c8a7da663492d1d593d113d20f97b5b894ff0bd041a">
      <Data>
        <Value xmlns=""><![CDATA[{"AnalysisIds":[654353],"DynamicTimePeriod":{"IncludeLiveWave":false,"LatestNDeliverables":6},"IncludeAlias":true,"IncludeOverallSegment":false,"NestSegments":false,"ProjectId":523,"ReportingPlanId":96,"RollUpDeliverables":false,"SegmentIds":[2447],"SurveyId":482371,"TimePeriodType":1}]]></Value>
      </Data>
    </Entry>
    <Entry xmlns="http://connector.synapse.com/" key="80edf0d2eb0203301790d854d1e7546f71ae68cdf4905bff0f1784f6cc10e600">
      <Data>
        <Value xmlns=""><![CDATA[{"AnalysisIds":[654352],"DynamicTimePeriod":{"IncludeLiveWave":false,"LatestNDeliverables":6},"IncludeAlias":false,"IncludeOverallSegment":false,"NestSegments":false,"ProjectId":523,"ReportingPlanId":96,"RollUpDeliverables":false,"SegmentIds":[2447],"SurveyId":396851,"TimePeriodType":1}]]></Value>
      </Data>
    </Entry>
    <Entry xmlns="http://connector.synapse.com/" key="d663e8ff8271000ac33db6703abab78b6fb704fe479308f3fefa158feaff313d">
      <Data>
        <Value xmlns=""><![CDATA[{"AnalysisIds":[654352],"DynamicTimePeriod":{"IncludeLiveWave":false,"LatestNDeliverables":6},"IncludeAlias":true,"IncludeOverallSegment":false,"NestSegments":false,"ProjectId":523,"ReportingPlanId":96,"RollUpDeliverables":false,"SegmentIds":[2447],"SurveyId":482371,"TimePeriodType":1}]]></Value>
      </Data>
    </Entry>
    <Entry xmlns="http://connector.synapse.com/" key="bd25459098108f998cd96fc7a165b8f1383ac642b9da6f4f7906a77e75a429e9">
      <Data>
        <Value xmlns=""><![CDATA[{"AnalysisIds":[654352],"DynamicTimePeriod":{"IncludeLiveWave":false,"LatestNDeliverables":1},"IncludeAlias":false,"IncludeOverallSegment":false,"NestSegments":false,"ProjectId":523,"ReportingPlanId":96,"RollUpDeliverables":false,"SegmentIds":[2447],"SurveyId":396851,"TimePeriodType":1}]]></Value>
      </Data>
    </Entry>
    <Entry xmlns="http://connector.synapse.com/" key="c7e4355e37aa9661ccf959e9a8a10b52ca3f8f4eebed967e44508b845a8c7e29">
      <Data>
        <Value xmlns=""><![CDATA[{"AnalysisIds":[117394],"DynamicTimePeriod":{"IncludeLiveWave":false,"LatestNDeliverables":6},"IncludeAlias":true,"IncludeOverallSegment":false,"NestSegments":false,"ProjectId":523,"ReportingPlanId":96,"RollUpDeliverables":false,"SegmentIds":[2447],"SurveyId":482371,"TimePeriodType":1}]]></Value>
      </Data>
    </Entry>
    <Entry xmlns="http://connector.synapse.com/" key="2beddced1246acf7cd8bcd80c416d60ec7d5c1e61e0e6e353185d1ec07fb3560">
      <Data>
        <Value xmlns=""><![CDATA[{"AnalysisIds":[632091],"DynamicTimePeriod":{"IncludeLiveWave":false,"LatestNDeliverables":6},"IncludeAlias":true,"IncludeOverallSegment":true,"NestSegments":false,"ProjectId":523,"ReportingPlanId":1143,"RollUpDeliverables":false,"SegmentIds":[2445],"SurveyId":396851,"TimePeriodType":1}]]></Value>
      </Data>
    </Entry>
    <Entry xmlns="http://connector.synapse.com/" key="f37fb54163bc097905823f77cc881376f456dde11dcd9de14a60330257d4c6ca">
      <Data>
        <Value xmlns=""><![CDATA[{"AnalysisIds":[641432],"DynamicTimePeriod":{"IncludeLiveWave":false,"LatestNDeliverables":6},"IncludeAlias":true,"IncludeOverallSegment":true,"NestSegments":false,"ProjectId":523,"ReportingPlanId":1143,"RollUpDeliverables":false,"SegmentIds":[],"SurveyId":396851,"TimePeriodType":1}]]></Value>
      </Data>
    </Entry>
    <Entry xmlns="http://connector.synapse.com/" key="f743c2dcd411e96dfce832bf2ba1533d0a20c4017d9d092344e63a9d9628d78f">
      <Data>
        <Value xmlns=""><![CDATA[{"AnalysisIds":[690483],"DynamicTimePeriod":{"IncludeLiveWave":false,"LatestNDeliverables":6},"IncludeAlias":true,"IncludeOverallSegment":true,"NestSegments":false,"ProjectId":523,"ReportingPlanId":1143,"RollUpDeliverables":false,"SegmentIds":[],"SurveyId":396851,"TimePeriodType":1}]]></Value>
      </Data>
    </Entry>
    <Entry xmlns="http://connector.synapse.com/" key="85eab2d3af3711885ee4064f5f53f2b07bc64cacb0d410fe39542e2c5d2da981">
      <Data>
        <Value xmlns=""><![CDATA[{"AnalysisIds":[690503],"DynamicTimePeriod":{"IncludeLiveWave":false,"LatestNDeliverables":1},"IncludeAlias":true,"IncludeOverallSegment":true,"NestSegments":false,"ProjectId":523,"ReportingPlanId":1143,"RollUpDeliverables":false,"SegmentIds":[],"SurveyId":396851,"TimePeriodType":1}]]></Value>
      </Data>
    </Entry>
    <Entry xmlns="http://connector.synapse.com/" key="4f24f241eced144c2e1182786aef361ccf3a205f2696a97b8e693c7d4234e26b">
      <Data>
        <Value xmlns=""><![CDATA[{"AnalysisIds":[690515],"DynamicTimePeriod":{"IncludeLiveWave":false,"LatestNDeliverables":6},"IncludeAlias":true,"IncludeOverallSegment":true,"NestSegments":false,"ProjectId":523,"ReportingPlanId":1143,"RollUpDeliverables":false,"SegmentIds":[],"SurveyId":396851,"TimePeriodType":1}]]></Value>
      </Data>
    </Entry>
    <Entry xmlns="http://connector.synapse.com/" key="302c8a40e25ef298092fc97b936a0cbb2984618f90a155183e023b44faf4dd0f">
      <Data>
        <Value xmlns=""><![CDATA[{"AnalysisIds":[690510],"DynamicTimePeriod":{"IncludeLiveWave":false,"LatestNDeliverables":6},"IncludeAlias":true,"IncludeOverallSegment":true,"NestSegments":false,"ProjectId":523,"ReportingPlanId":1143,"RollUpDeliverables":false,"SegmentIds":[],"SurveyId":396851,"TimePeriodType":1}]]></Value>
      </Data>
    </Entry>
    <Entry xmlns="http://connector.synapse.com/" key="48466f8ac4fc177a0cf386b67af04270b34d5588505d3c254695f62269dbe180">
      <Data>
        <Value xmlns=""><![CDATA[{"AnalysisIds":[691709],"DynamicTimePeriod":{"IncludeLiveWave":false,"LatestNDeliverables":2},"IncludeAlias":true,"IncludeOverallSegment":true,"NestSegments":false,"ProjectId":523,"ReportingPlanId":1143,"RollUpDeliverables":false,"SegmentIds":[],"SurveyId":482371,"TimePeriodType":1}]]></Value>
      </Data>
    </Entry>
    <Entry xmlns="http://connector.synapse.com/" key="2a1b95d3f643d6d1adde040d39d859b58756c771cbd815455d91e6ae61d4f937">
      <Data>
        <Value xmlns=""><![CDATA[{"AnalysisIds":[691709],"DynamicTimePeriod":{"IncludeLiveWave":false,"LatestNDeliverables":1},"IncludeAlias":true,"IncludeOverallSegment":true,"NestSegments":false,"ProjectId":523,"ReportingPlanId":1143,"RollUpDeliverables":false,"SegmentIds":[],"SurveyId":482371,"TimePeriodType":1}]]></Value>
      </Data>
    </Entry>
    <Entry xmlns="http://connector.synapse.com/" key="af3afd06e668db11e59d1752dfa1e87d36c1a0023e0004ddb6723775db95feb6">
      <Data>
        <Value xmlns=""><![CDATA[{"AnalysisIds":[691710],"DynamicTimePeriod":{"IncludeLiveWave":false,"LatestNDeliverables":1},"IncludeAlias":true,"IncludeOverallSegment":true,"NestSegments":false,"ProjectId":523,"ReportingPlanId":1143,"RollUpDeliverables":false,"SegmentIds":[],"SurveyId":396851,"TimePeriodType":1}]]></Value>
      </Data>
    </Entry>
    <Entry xmlns="http://connector.synapse.com/" key="18f4c51d083537e1f513e5dd8c0751ddc6e907b901e1968742bfad69c11eaacf">
      <Data>
        <Value xmlns=""><![CDATA[{"AnalysisIds":[691710],"DynamicTimePeriod":{"IncludeLiveWave":false,"LatestNDeliverables":2},"IncludeAlias":true,"IncludeOverallSegment":true,"NestSegments":false,"ProjectId":523,"ReportingPlanId":1143,"RollUpDeliverables":false,"SegmentIds":[],"SurveyId":396851,"TimePeriodType":1}]]></Value>
      </Data>
    </Entry>
    <Entry xmlns="http://connector.synapse.com/" key="669df3f44e3d6fdcf17c8f58991f6dfd8330e42cceea1ee14952fcf622a354f0">
      <Data>
        <Value xmlns=""><![CDATA[{"AnalysisIds":[632076],"DynamicTimePeriod":{"IncludeLiveWave":false,"LatestNDeliverables":6},"IncludeAlias":true,"IncludeOverallSegment":true,"NestSegments":false,"ProjectId":523,"ReportingPlanId":1143,"RollUpDeliverables":false,"SegmentIds":[],"SurveyId":482371,"TimePeriodType":1}]]></Value>
      </Data>
    </Entry>
    <Entry xmlns="http://connector.synapse.com/" key="ce4d5e673d3184c135b62055977a491b90b4f8a671f410af7dad530d379a91b7">
      <Data>
        <Value xmlns=""><![CDATA[{"AnalysisIds":[691706],"DynamicTimePeriod":{"IncludeLiveWave":false,"LatestNDeliverables":6},"IncludeAlias":true,"IncludeOverallSegment":true,"NestSegments":false,"ProjectId":523,"ReportingPlanId":1143,"RollUpDeliverables":false,"SegmentIds":[],"SurveyId":482371,"TimePeriodType":1}]]></Value>
      </Data>
    </Entry>
    <Entry xmlns="http://connector.synapse.com/" key="986948a0acbdb15b651a107fd4c2d17ac0ccf74b42c346fcbb94d88903a7d3bb">
      <Data>
        <Value xmlns=""><![CDATA[{"AnalysisIds":[632090],"DynamicTimePeriod":{"IncludeLiveWave":false,"LatestNDeliverables":6},"IncludeAlias":true,"IncludeOverallSegment":true,"NestSegments":false,"ProjectId":523,"ReportingPlanId":1143,"RollUpDeliverables":false,"SegmentIds":[],"SurveyId":396851,"TimePeriodType":1}]]></Value>
      </Data>
    </Entry>
    <Entry xmlns="http://connector.synapse.com/" key="f3f575dbbe81d1f857a508435771ec45746edd387f3ca6a80bbc8435caadfdd6">
      <Data>
        <Value xmlns=""><![CDATA[{"AnalysisIds":[691708],"DynamicTimePeriod":{"IncludeLiveWave":false,"LatestNDeliverables":6},"IncludeAlias":true,"IncludeOverallSegment":true,"NestSegments":false,"ProjectId":523,"ReportingPlanId":1143,"RollUpDeliverables":false,"SegmentIds":[],"SurveyId":396851,"TimePeriodType":1}]]></Value>
      </Data>
    </Entry>
  </ReportConfig>
  <DataFrameConfigKey>
    <Entry xmlns="http://connector.synapse.com/" key="a774bef2ee17e9fb02cc3528dae13617b4ff7edad9f86fc50edcd727996a1e1c">
      <Data>
        <Value xmlns=""><![CDATA[{"AggregationType":0,"ColumnFields":["option"],"FilterCondition":0,"Filters":[],"LatestColumnsFirst":false,"RowFields":["time_period_name"],"ValueFields":["decimal"],"columnDefinitions":[{"IsDefaultAlias":true,"Name":"time_period_name"},{"IsDefaultAlias":true,"Name":"Family Medicine (PCP)"},{"IsDefaultAlias":true,"Name":"Gastroenterology"},{"IsDefaultAlias":true,"Name":"General Medicine / Practice (PCP)"},{"IsDefaultAlias":true,"Name":"Internal Medicine (PCP)"}]}]]></Value>
      </Data>
    </Entry>
    <Entry xmlns="http://connector.synapse.com/" key="a5b6a1091580e425bcfe7348474b80c9d96cb8f59daeb9073bdeb9cd59625964">
      <Data>
        <Value xmlns=""><![CDATA[{"AggregationType":0,"ColumnFields":["option"],"FilterCondition":0,"Filters":[],"LatestColumnsFirst":false,"RowFields":["time_period_name"],"ValueFields":["decimal"],"columnDefinitions":[{"IsDefaultAlias":true,"Name":"time_period_name","sortCriteria":{"CustomList":["Feb'26","Mar'26"],"Level":1,"Order":0}},{"Format":"0%","Formula":"","IsDefaultAlias":true,"Name":"Community hospital (Non-teaching)"},{"Format":"0%","IsDefaultAlias":true,"Name":"Community teaching hospital"},{"Format":"0%","IsDefaultAlias":true,"Name":"Major academic center group practice"},{"Format":"0%","IsDefaultAlias":true,"Name":"Major academic center hospital"},{"Format":"0%","IsDefaultAlias":true,"Name":"Private practice (group)"},{"Format":"0%","IsDefaultAlias":true,"Name":"Private practice (solo)"},{"Format":"0%","IsDefaultAlias":true,"Name":"University teaching hospital"}]}]]></Value>
      </Data>
    </Entry>
    <Entry xmlns="http://connector.synapse.com/" key="638a40c8b6f800702c332ea66486fc2f0add40bbca73691fdb6faace78ea6fd3">
      <Data>
        <Value xmlns=""><![CDATA[{"AggregationType":1,"ColumnFields":["time_period_name","alias_label"],"FilterCondition":0,"Filters":[],"LatestColumnsFirst":false,"RowFields":["Code","title"],"ValueFields":["decimal","ME"],"columnDefinitions":[{"Format":"","Formula":"","IsDefaultAlias":false,"Name":"Code"},{"Format":"","Formula":"","IsDefaultAlias":false,"Name":"title"},{"Format":"0%","Formula":"","IsDefaultAlias":false,"Name":"Project Wave 28 - C_MR - Average of decimal"},{"Format":"0%","Formula":"","IsDefaultAlias":false,"Name":"Project Wave 29 - C_MR - Average of decimal"},{"Format":"0%","Formula":"","IsDefaultAlias":false,"Name":"Project Wave 30 - C_MR - Average of decimal"},{"Format":"0%","Formula":"","IsDefaultAlias":false,"Name":"Project Wave 31 - C_MR - Average of decimal"},{"Format":"0%","Formula":"","IsDefaultAlias":false,"Name":"Project Wave 32 - C_MR - Average of decimal"},{"Format":"0%","Formula":"","IsDefaultAlias":false,"Name":"Project Wave 33 - C_MR - Average of decimal","sortCriteria":{"CustomList":[],"Level":1,"Order":1}},{"Format":"0%","Formula":"","IsDefaultAlias":false,"Name":"Project Wave 33 - C_ME - Average of ME"}]}]]></Value>
      </Data>
    </Entry>
    <Entry xmlns="http://connector.synapse.com/" key="23ef2c1eade537d5eca332d1a24c256c02e020e9365149d61c60334d95d8739d">
      <Data>
        <Value xmlns=""><![CDATA[{"AggregationType":1,"ColumnFields":["time_period_name","alias_label"],"FilterCondition":0,"Filters":[],"LatestColumnsFirst":false,"RowFields":["title","code"],"ValueFields":["decimal","ME"],"columnDefinitions":[{"Format":"0%","Formula":"","IsDefaultAlias":false,"Name":"title"},{"Format":"0%","Formula":"","IsDefaultAlias":false,"Name":"code"},{"Format":"0%","Formula":"","IsDefaultAlias":false,"Name":"W28 - Z_MR - Average of decimal"},{"Format":"0%","Formula":"","IsDefaultAlias":false,"Name":"W29 - Z_MR - Average of decimal"},{"Format":"0%","Formula":"","IsDefaultAlias":false,"Name":"W30 - Z_MR - Average of decimal"},{"Format":"0%","Formula":"","IsDefaultAlias":false,"Name":"W31 - Z_MR - Average of decimal"},{"Format":"0%","Formula":"","IsDefaultAlias":false,"Name":"W32 - Z_MR - Average of decimal"},{"Format":"","Formula":"","IsDefaultAlias":false,"Name":"Jan-Feb 2026 - Z_MR - Average of decimal","sortCriteria":{"CustomList":[],"Level":1,"Order":1}}]}]]></Value>
      </Data>
    </Entry>
    <Entry xmlns="http://connector.synapse.com/" key="ed3f3e8b84c37af34886cb48639665365d9396d05659fda5cb3f0fd1840e1db6">
      <Data>
        <Value xmlns=""><![CDATA[{"AggregationType":1,"ColumnFields":["time_period_name","alias_label"],"FilterCondition":0,"Filters":[],"LatestColumnsFirst":false,"RowFields":["title","code"],"ValueFields":["decimal","ME"],"columnDefinitions":[{"Format":"0%","Formula":"","IsDefaultAlias":false,"Name":"title"},{"Format":"0%","Formula":"","IsDefaultAlias":false,"Name":"code"},{"Format":"0%","Formula":"","IsDefaultAlias":false,"Name":"W28 - Z_MR - Average of decimal"},{"Format":"0%","Formula":"","IsDefaultAlias":false,"Name":"W29 - Z_MR - Average of decimal"},{"Format":"0%","Formula":"","IsDefaultAlias":false,"Name":"W30 - Z_MR - Average of decimal"},{"Format":"0%","Formula":"","IsDefaultAlias":false,"Name":"W31 - Z_MR - Average of decimal"},{"Format":"0%","Formula":"","IsDefaultAlias":false,"Name":"W32 - Z_MR - Average of decimal"},{"Format":"0%","Formula":"","IsDefaultAlias":false,"Name":"Jan-Feb 2026 - Z_MR - Average of decimal","sortCriteria":{"CustomList":[],"Level":1,"Order":1}},{"Format":"0%","Formula":"","IsDefaultAlias":false,"Name":"Jan-Feb 2026 - Z_ME - Average of ME"}]}]]></Value>
      </Data>
    </Entry>
    <Entry xmlns="http://connector.synapse.com/" key="4ce25558daf9a082588905e3de954db2bd3b206e15e5f586bc8b9c8861e8fdd3">
      <Data>
        <Value xmlns=""><![CDATA[{"AggregationType":1,"ColumnFields":["time_period_name"],"FilterCondition":0,"Filters":[],"LatestColumnsFirst":false,"RowFields":["title","Code"],"ValueFields":["ME"],"columnDefinitions":[{"Format":"","Formula":"","IsDefaultAlias":false,"Name":"title"},{"Format":"","Formula":"","IsDefaultAlias":false,"Name":"Code"},{"Format":"","Formula":"","IsDefaultAlias":false,"Name":"W28"},{"Format":"","Formula":"","IsDefaultAlias":false,"Name":"W29"},{"Format":"","Formula":"","IsDefaultAlias":false,"Name":"W30"},{"Format":"","Formula":"","IsDefaultAlias":false,"Name":"W31"},{"Format":"","Formula":"","IsDefaultAlias":false,"Name":"W32"},{"Format":"","Formula":"","IsDefaultAlias":false,"Name":"Jan-Feb 2026","sortCriteria":{"CustomList":[],"Level":1,"Order":1}}]}]]></Value>
      </Data>
    </Entry>
    <Entry xmlns="http://connector.synapse.com/" key="180887ac6ecc98d9eee5629971f7907d1cc34bf6bbcee532bb07b95337fb595a">
      <Data>
        <Value xmlns=""><![CDATA[{"AggregationType":1,"ColumnFields":["time_period_name"],"FilterCondition":0,"Filters":[],"LatestColumnsFirst":false,"RowFields":["title","Code"],"ValueFields":["ME"],"columnDefinitions":[{"Format":"","Formula":"","IsDefaultAlias":false,"Name":"title"},{"Format":"","Formula":"","IsDefaultAlias":false,"Name":"Cod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247bfffcc8c94b52746b937950a2d9cff22a1b8b136dd9850f44b3262fb6890e">
      <Data>
        <Value xmlns=""><![CDATA[{"AggregationType":1,"ColumnFields":["time_period_name"],"FilterCondition":0,"Filters":[],"LatestColumnsFirst":false,"RowFields":["code","title"],"ValueFields":["ME"],"columnDefinitions":[{"Format":"","Formula":"","IsDefaultAlias":false,"Name":"code"},{"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sortCriteria":{"CustomList":[],"Level":1,"Order":1}}]}]]></Value>
      </Data>
    </Entry>
    <Entry xmlns="http://connector.synapse.com/" key="8ce98b38ade02d52ed74042a43e612098eae0ccf2615c95a210c5898caec265e">
      <Data>
        <Value xmlns=""><![CDATA[{"AggregationType":1,"ColumnFields":["alias_label","time_period_name"],"FilterCondition":0,"Filters":[{"ColumnKey":"alias_label","Type":1,"Value":"C_MR","filterCriteria":1}],"LatestColumnsFirst":false,"RowFields":["title","Code"],"ValueFields":["decimal"],"columnDefinitions":[{"Format":"","Formula":"","IsDefaultAlias":false,"Name":"title"},{"Format":"","Formula":"","IsDefaultAlias":false,"Name":"Code"},{"Format":"","Formula":"","IsDefaultAlias":false,"Name":"C_MR - Project Wave 33","sortCriteria":{"CustomList":[],"Level":1,"Order":1}}]}]]></Value>
      </Data>
    </Entry>
    <Entry xmlns="http://connector.synapse.com/" key="8ecfcf9ca510c3f878aeb944cefbb19e314494373258259751b24eea8e0dcf10">
      <Data>
        <Value xmlns=""><![CDATA[{"AggregationType":1,"ColumnFields":["alias_label"],"FilterCondition":0,"Filters":[{"ColumnKey":"segment_1","Type":1,"Value":"PCPs","filterCriteria":0}],"LatestColumnsFirst":false,"RowFields":["time_period_name","time_period_id"],"ValueFields":["decimal"],"columnDefinitions":[{"Format":"0%","Formula":"","IsDefaultAlias":false,"Name":"time_period_name"},{"IsDefaultAlias":false,"Name":"time_period_id"},{"Format":"0%","Formula":"","IsDefaultAlias":false,"Name":"EPI Deepdive Module - 482371 - 2_100bz_c895297"},{"Format":"0%","Formula":"","IsDefaultAlias":false,"Name":"EPI Deepdive Module - 482371 - 2_100bz_z895450"}]}]]></Value>
      </Data>
    </Entry>
    <Entry xmlns="http://connector.synapse.com/" key="585ce743b10058c74ccd6e57d9b5a87e242cfe227b98b40fc168e99ddc338a1f">
      <Data>
        <Value xmlns=""><![CDATA[{"AggregationType":1,"ColumnFields":["alias_label"],"FilterCondition":0,"Filters":[],"LatestColumnsFirst":false,"RowFields":["title","time_period_name","time_period_id"],"ValueFields":["decimal"],"columnDefinitions":[{"IsDefaultAlias":false,"Name":"title"},{"Format":"@","Formula":"","IsDefaultAlias":false,"Name":"time_period_name"},{"Format":"@","Formula":"","IsDefaultAlias":false,"Name":"time_period_id","sortCriteria":{"CustomList":[],"Level":1,"Order":0}},{"Format":"0%","Formula":"","IsDefaultAlias":false,"Name":"EPI Deepdive Module - 482371 - 2_100bz_c895297"},{"Format":"0%","Formula":"","IsDefaultAlias":false,"Name":"EPI Deepdive Module - 482371 - 2_100bz_z895450"}]}]]></Value>
      </Data>
    </Entry>
    <Entry xmlns="http://connector.synapse.com/" key="56cb3a3bd8fa1bce4ba3442d964a0098bf324dc6a1a0fa20e8648027b82c1240">
      <Data>
        <Value xmlns=""><![CDATA[{"AggregationType":1,"ColumnFields":["alias_label"],"FilterCondition":0,"Filters":[{"ColumnKey":"title","Type":1,"Value":"overall","filterCriteria":0}],"LatestColumnsFirst":false,"RowFields":["title","time_period_id","time_period_name"],"ValueFields":["decimal"],"columnDefinitions":[{"IsDefaultAlias":false,"Name":"title"},{"IsDefaultAlias":false,"Name":"time_period_id"},{"Format":"0%","Formula":"","IsDefaultAlias":false,"Name":"time_period_name"},{"Format":"0%","Formula":"","IsDefaultAlias":false,"Name":"EPI Deepdive Module - 482371 - Q2_40BZ_C1895288"},{"Format":"0%","Formula":"","IsDefaultAlias":false,"Name":"EPI Deepdive Module - 482371 - Q2_40BZ_Z1895441"}]}]]></Value>
      </Data>
    </Entry>
    <Entry xmlns="http://connector.synapse.com/" key="8b157e750ba3ecfe7150954268b220500afc632803268c81ed0d0798f1337771">
      <Data>
        <Value xmlns=""><![CDATA[{"AggregationType":1,"ColumnFields":["alias_label"],"FilterCondition":0,"Filters":[{"ColumnKey":"segment_1","Type":1,"Value":"Gastro","filterCriteria":0},{"ColumnKey":"title","Type":1,"Value":"overall","filterCriteria":0}],"LatestColumnsFirst":false,"RowFields":["title","time_period_name","time_period_id"],"ValueFields":["decimal"],"columnDefinitions":[{"IsDefaultAlias":false,"Name":"title"},{"Format":"0%","Formula":"","IsDefaultAlias":false,"Name":"time_period_name"},{"IsDefaultAlias":false,"Name":"time_period_id"},{"Format":"0%","Formula":"","IsDefaultAlias":false,"Name":"EPI Deepdive Module - 482371 - Q2_40BZ_C1895288"},{"Format":"0%","Formula":"","IsDefaultAlias":false,"Name":"EPI Deepdive Module - 482371 - Q2_40BZ_Z1895441"}]}]]></Value>
      </Data>
    </Entry>
    <Entry xmlns="http://connector.synapse.com/" key="67be6f0e1258b00daa26fb0178eaceaa25b9776aa47143465f469be0e8e17402">
      <Data>
        <Value xmlns=""><![CDATA[{"AggregationType":1,"ColumnFields":["alias_label"],"FilterCondition":0,"Filters":[{"ColumnKey":"segment_1","Type":1,"Value":"Gastro","filterCriteria":0}],"LatestColumnsFirst":false,"RowFields":["title","time_period_name","time_period_id"],"ValueFields":["decimal"],"columnDefinitions":[{"IsDefaultAlias":false,"Name":"title"},{"Format":"0%","Formula":"","IsDefaultAlias":false,"Name":"time_period_name"},{"IsDefaultAlias":false,"Name":"time_period_id"},{"Format":"0%","Formula":"","IsDefaultAlias":false,"Name":"EPI Deepdive Module - 482371 - 2_100bz_c895297"},{"Format":"0%","Formula":"","IsDefaultAlias":false,"Name":"EPI Deepdive Module - 482371 - 2_100bz_z895450"}]}]]></Value>
      </Data>
    </Entry>
    <Entry xmlns="http://connector.synapse.com/" key="23cc557f3da2f4c2751698c699decdc50b9a3c79022da1f611da5bf3e41f58d7">
      <Data>
        <Value xmlns=""><![CDATA[{"AggregationType":1,"ColumnFields":["alias_label"],"FilterCondition":0,"Filters":[{"ColumnKey":"segment_1","Type":1,"Value":"PCPs","filterCriteria":0},{"ColumnKey":"title","Type":1,"Value":"overall","filterCriteria":0}],"LatestColumnsFirst":false,"RowFields":["title","time_period_name","time_period_id"],"ValueFields":["decimal"],"columnDefinitions":[{"IsDefaultAlias":false,"Name":"title"},{"Format":"0%","Formula":"","IsDefaultAlias":false,"Name":"time_period_name"},{"IsDefaultAlias":false,"Name":"time_period_id"},{"Format":"0%","Formula":"","IsDefaultAlias":false,"Name":"EPI Deepdive Module - 482371 - Q2_40BZ_C1895288"},{"Format":"0%","Formula":"","IsDefaultAlias":false,"Name":"EPI Deepdive Module - 482371 - Q2_40BZ_Z1895441"}]}]]></Value>
      </Data>
    </Entry>
    <Entry xmlns="http://connector.synapse.com/" key="8dfedb1e8329c8d749134e72dc57d6ee0ea9e8233c056892ef979c1506c8013f">
      <Data>
        <Value xmlns=""><![CDATA[{"AggregationType":1,"ColumnFields":["segment_1","time_period_name"],"FilterCondition":0,"Filters":[{"ColumnKey":"segment_1","Type":1,"Value":"Speciality - NP/PA","filterCriteria":1},{"ColumnKey":"title","Type":1,"Value":"The overall quality of the rep’s interaction","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17baf0828e43d618b407083eacb8d48ffeb822e55eec10327b10a18b4d14ee6d">
      <Data>
        <Value xmlns=""><![CDATA[{"AggregationType":1,"ColumnFields":["alias_label"],"FilterCondition":0,"Filters":[{"ColumnKey":"segment_1","Type":1,"Value":"Speciality - NP/PA","filterCriteria":1}],"LatestColumnsFirst":false,"RowFields":["time_period_name"],"ValueFields":["decimal"],"columnDefinitions":[{"Format":"","Formula":"","IsDefaultAlias":false,"Name":"time_period_name"},{"Format":"0%","Formula":"","IsDefaultAlias":false,"Name":"EPI Deepdive Module - 482371 - 2_100bz_c895297"},{"Format":"0%","Formula":"","IsDefaultAlias":false,"Name":"EPI Deepdive Module - 482371 - 2_100bz_z895450"}]}]]></Value>
      </Data>
    </Entry>
    <Entry xmlns="http://connector.synapse.com/" key="09eb37047ffb401effe6f7cd9576aaaeca7ef90d440f2d2bc544fca42c333d73">
      <Data>
        <Value xmlns=""><![CDATA[{"AggregationType":1,"ColumnFields":["alias_label"],"FilterCondition":0,"Filters":[{"ColumnKey":"title","Type":1,"Value":"reason","filterCriteria":0}],"LatestColumnsFirst":false,"RowFields":["title","time_period_name","time_period_id"],"ValueFields":["decimal"],"columnDefinitions":[{"IsDefaultAlias":false,"Name":"title"},{"Format":"0%","Formula":"","IsDefaultAlias":false,"Name":"time_period_name"},{"Format":"0%","Formula":"","IsDefaultAlias":false,"Name":"time_period_id","sortCriteria":{"CustomList":[],"Level":1,"Order":0}},{"Format":"0%","Formula":"","IsDefaultAlias":false,"Name":"EPI Deepdive Module - 482371 - Q2_40BZ_C1895288"},{"Format":"0%","Formula":"","IsDefaultAlias":false,"Name":"EPI Deepdive Module - 482371 - Q2_40BZ_Z1895441"}]}]]></Value>
      </Data>
    </Entry>
    <Entry xmlns="http://connector.synapse.com/" key="115d8a30d8c36bb67b00dba46353ca8524c5da67ed300b170bff5403483211a7">
      <Data>
        <Value xmlns=""><![CDATA[{"AggregationType":1,"ColumnFields":["alias_label"],"FilterCondition":0,"Filters":[{"ColumnKey":"title","Type":1,"Value":"overall","filterCriteria":0}],"LatestColumnsFirst":false,"RowFields":["title","time_period_name","time_period_id"],"ValueFields":["decimal"],"columnDefinitions":[{"IsDefaultAlias":false,"Name":"title"},{"Format":"0%","Formula":"","IsDefaultAlias":false,"Name":"time_period_name"},{"Format":"0%","Formula":"","IsDefaultAlias":false,"Name":"time_period_id","sortCriteria":{"CustomList":[],"Level":1,"Order":0}},{"Format":"0%","Formula":"","IsDefaultAlias":false,"Name":"EPI Deepdive Module - 482371 - Q2_40BZ_C1895288"},{"Format":"0%","Formula":"","IsDefaultAlias":false,"Name":"EPI Deepdive Module - 482371 - Q2_40BZ_Z1895441"}]}]]></Value>
      </Data>
    </Entry>
    <Entry xmlns="http://connector.synapse.com/" key="1669a328aeb2f0e3f6f9ff7b949843e0149474a6d4a201527b2f41e744148c8f">
      <Data>
        <Value xmlns=""><![CDATA[{"AggregationType":1,"ColumnFields":["alias_label"],"FilterCondition":0,"Filters":[{"ColumnKey":"title","Type":1,"Value":"The rep’s knowledge of the product being discussed","filterCriteria":1}],"LatestColumnsFirst":false,"RowFields":["time_period_name","title"],"ValueFields":["decimal"],"columnDefinitions":[{"Format":"","Formula":"","IsDefaultAlias":false,"Name":"time_period_name"},{"Format":"","Formula":"","IsDefaultAlias":false,"Name":"title"},{"Format":"0%","Formula":"","IsDefaultAlias":false,"Name":"EPI Deepdive Module - 482371 - Q2_40BZ_C1895288"},{"Format":"0%","Formula":"","IsDefaultAlias":false,"Name":"EPI Deepdive Module - 482371 - Q2_40BZ_Z1895441"}]}]]></Value>
      </Data>
    </Entry>
    <Entry xmlns="http://connector.synapse.com/" key="99e3d4ff774d4d7485cb1da66ec83461d293dbe4c293f8a26a580f769dd5f6e1">
      <Data>
        <Value xmlns=""><![CDATA[{"AggregationType":1,"ColumnFields":["alias_label"],"FilterCondition":0,"Filters":[{"ColumnKey":"title","Type":1,"Value":"The rep’s preparedness","filterCriteria":1}],"LatestColumnsFirst":false,"RowFields":["time_period_name","title"],"ValueFields":["decimal"],"columnDefinitions":[{"Format":"","Formula":"","IsDefaultAlias":false,"Name":"time_period_name"},{"Format":"","Formula":"","IsDefaultAlias":false,"Name":"title"},{"Format":"0%","Formula":"","IsDefaultAlias":false,"Name":"CREON"},{"Format":"0%","Formula":"","IsDefaultAlias":false,"Name":"ZENPEP"}]}]]></Value>
      </Data>
    </Entry>
    <Entry xmlns="http://connector.synapse.com/" key="5120fb4d936079520460ee4297bd5807f12056ee436b3ae5d2dd6d8394756f19">
      <Data>
        <Value xmlns=""><![CDATA[{"AggregationType":1,"ColumnFields":["alias_label"],"FilterCondition":0,"Filters":[{"ColumnKey":"title","Type":1,"Value":"The rep’s ability to execute a smooth interaction","filterCriteria":1}],"LatestColumnsFirst":false,"RowFields":["title","time_period_name","time_period_id"],"ValueFields":["decimal"],"columnDefinitions":[{"IsDefaultAlias":false,"Name":"title"},{"Format":"","Formula":"","IsDefaultAlias":false,"Name":"time_period_name"},{"Format":"","Formula":"","IsDefaultAlias":false,"Name":"time_period_id"},{"Format":"0%","Formula":"","IsDefaultAlias":false,"Name":"EPI Deepdive Module - 482371 - Q2_40BZ_C1895288"},{"Format":"0%","Formula":"","IsDefaultAlias":false,"Name":"EPI Deepdive Module - 482371 - Q2_40BZ_Z1895441"}]}]]></Value>
      </Data>
    </Entry>
    <Entry xmlns="http://connector.synapse.com/" key="a5a689011ffd9a79a2d3815dd13b722d36acfb8628416add066886bd6e46084e">
      <Data>
        <Value xmlns=""><![CDATA[{"AggregationType":1,"ColumnFields":["alias_label"],"FilterCondition":0,"Filters":[{"ColumnKey":"title","Type":1,"Value":"coverage","filterCriteria":0}],"LatestColumnsFirst":false,"RowFields":["title","time_period_name","time_period_id"],"ValueFields":["decimal"],"columnDefinitions":[{"IsDefaultAlias":false,"Name":"title"},{"Format":"0%","Formula":"","IsDefaultAlias":false,"Name":"time_period_name"},{"Format":"0%","Formula":"","IsDefaultAlias":false,"Name":"time_period_id","sortCriteria":{"CustomList":[],"Level":1,"Order":0}},{"Format":"0%","Formula":"","IsDefaultAlias":false,"Name":"EPI Deepdive Module - 482371 - Q2_40BZ_C1895288"},{"Format":"0%","Formula":"","IsDefaultAlias":false,"Name":"EPI Deepdive Module - 482371 - Q2_40BZ_Z1895441"}]}]]></Value>
      </Data>
    </Entry>
    <Entry xmlns="http://connector.synapse.com/" key="751f16e212a3bbbf9acc2cc1965f0e7f6b1de3b243a42f125f6f9c1de8190e31">
      <Data>
        <Value xmlns=""><![CDATA[{"AggregationType":1,"ColumnFields":["time_period_name"],"FilterCondition":0,"Filters":[{"ColumnKey":"title","Type":1,"Value":"How well the rep performed in discussing efficacy","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522a6fa9a017a1942acef5f11ea90566e58cfef90fb87e7ff3b8455415cddbe3">
      <Data>
        <Value xmlns=""><![CDATA[{"AggregationType":1,"ColumnFields":["time_period_name"],"FilterCondition":0,"Filters":[{"ColumnKey":"title","Type":1,"Value":"How well the rep performed on providing credible support for product claims","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579e2e5cbcc20b377d45843e4be1f22df2c39716110a2788bd2d08fe6f1f8136">
      <Data>
        <Value xmlns=""><![CDATA[{"AggregationType":1,"ColumnFields":["time_period_name"],"FilterCondition":0,"Filters":[{"ColumnKey":"title","Type":1,"Value":"The rep’s knowledge of EPI and its associated illnesses","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65a181f65296248cc5df847f8fed3ea7b33ad1e6b87a80c3c3844bedde584e41">
      <Data>
        <Value xmlns=""><![CDATA[{"AggregationType":1,"ColumnFields":["time_period_name"],"FilterCondition":0,"Filters":[{"ColumnKey":"title","Type":1,"Value":"How well the rep explained dosing guidelines and considerations","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090625fa15f2c5ac387b00b76528010e9f22631a0d762cc4237baee5d27161ec">
      <Data>
        <Value xmlns=""><![CDATA[{"AggregationType":1,"ColumnFields":["time_period_name"],"FilterCondition":0,"Filters":[{"ColumnKey":"title","Type":1,"Value":"How well the rep performed in discussing safety","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9287c6f6d7b504edf218ef6f244857774b994d41c22e60da6ef9cd444d459789">
      <Data>
        <Value xmlns=""><![CDATA[{"AggregationType":1,"ColumnFields":["time_period_name"],"FilterCondition":0,"Filters":[{"ColumnKey":"title","Type":1,"Value":"How well the rep articulated differentiation as a treatment for exocrine pancreatic insufficiency (EPI)","filterCriteria":1}],"LatestColumnsFirst":false,"RowFields":["alias_label","title"],"ValueFields":["decimal"],"columnDefinitions":[{"Format":"","Formula":"","IsDefaultAlias":false,"Name":"alias_label"},{"Format":"","Formula":"","IsDefaultAlias":false,"Name":"title"},{"Format":"0%","Formula":"","IsDefaultAlias":false,"Name":"W28"},{"Format":"0%","Formula":"","IsDefaultAlias":false,"Name":"W29"},{"Format":"0%","Formula":"","IsDefaultAlias":false,"Name":"W30"},{"Format":"0%","Formula":"","IsDefaultAlias":false,"Name":"W31"},{"Format":"0%","Formula":"","IsDefaultAlias":false,"Name":"W32"},{"Format":"0%","Formula":"","IsDefaultAlias":false,"Name":"Jan-Feb 2026"}]}]]></Value>
      </Data>
    </Entry>
    <Entry xmlns="http://connector.synapse.com/" key="b858e5242800da4848a9755390f9c0e9f04d331c95a0a3c9ad3c55bc79e143fb">
      <Data>
        <Value xmlns=""><![CDATA[{"AggregationType":1,"ColumnFields":["time_period_name","segment_1"],"FilterCondition":0,"Filters":[{"ColumnKey":"segment_1","Type":1,"Value":"Speciality - Gastro","filterCriteria":1},{"ColumnKey":"title","Type":1,"Value":"The overall quality of the rep’s interaction","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cde95db35dc94f98efdf00f02b7f0acafa2df33244f069ff5a44e1ed23fb5ae0">
      <Data>
        <Value xmlns=""><![CDATA[{"AggregationType":1,"ColumnFields":["time_period_name","segment_1"],"FilterCondition":0,"Filters":[{"ColumnKey":"segment_1","Type":1,"Value":"Speciality - Gastro","filterCriteria":1},{"ColumnKey":"title","Type":1,"Value":"The rep’s preparedness","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d7ed22e7a1a2ecaf15d1b48b42c2a29e09cf9aa5368e63cba4588fdacbc54d1d">
      <Data>
        <Value xmlns=""><![CDATA[{"AggregationType":1,"ColumnFields":["time_period_name","segment_1"],"FilterCondition":0,"Filters":[{"ColumnKey":"segment_1","Type":1,"Value":"Speciality - Gastro","filterCriteria":1},{"ColumnKey":"title","Type":1,"Value":"The rep’s understanding of insurance and access","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54d153a23e97e3a28d478f388ad250c587a9e3f61b3c7a39e781c43e231458d7">
      <Data>
        <Value xmlns=""><![CDATA[{"AggregationType":1,"ColumnFields":["time_period_name","segment_1"],"FilterCondition":0,"Filters":[{"ColumnKey":"segment_1","Type":1,"Value":"Speciality - Gastro","filterCriteria":1},{"ColumnKey":"title","Type":1,"Value":"How well the rep performed in providing a compelling reason to prescribe CREON","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f88c7975008aece1b1388da3da1ffc076b484a137b3be1f732d460c15b7f7881">
      <Data>
        <Value xmlns=""><![CDATA[{"AggregationType":1,"ColumnFields":["time_period_name","segment_1"],"FilterCondition":0,"Filters":[{"ColumnKey":"segment_1","Type":1,"Value":"Speciality - Gastro","filterCriteria":1},{"ColumnKey":"title","Type":1,"Value":"The rep’s knowledge of the product being discussed","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5d1ec62e47bf9eb78eddf2119fa926000bb7150927f24fbaf75437ff8e0c1896">
      <Data>
        <Value xmlns=""><![CDATA[{"AggregationType":1,"ColumnFields":["time_period_name","segment_1"],"FilterCondition":0,"Filters":[{"ColumnKey":"segment_1","Type":1,"Value":"Speciality - Gastro","filterCriteria":1},{"ColumnKey":"title","Type":1,"Value":"The rep’s ability to execute a smooth interaction","filterCriteria":1}],"LatestColumnsFirst":false,"RowFields":["alias_label","title"],"ValueFields":["decimal"],"columnDefinitions":[{"Format":"","Formula":"","IsDefaultAlias":false,"Name":"alias_label"},{"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Value>
      </Data>
    </Entry>
    <Entry xmlns="http://connector.synapse.com/" key="c328e5e00920e20783f14047a49a89621761cce5a755675906171e67fdecb64f">
      <Data>
        <Value xmlns=""><![CDATA[{"AggregationType":1,"ColumnFields":["time_period_name","segment_1"],"FilterCondition":0,"Filters":[{"ColumnKey":"segment_1","Type":1,"Value":"Speciality - PCPs","filterCriteria":1},{"ColumnKey":"title","Type":1,"Value":"The overall quality of the rep’s interaction","filterCriteria":1}],"LatestColumnsFirst":false,"RowFields":["title","alias_label"],"ValueFields":["decimal"],"columnDefinitions":[{"Format":"","Formula":"","IsDefaultAlias":false,"Name":"title"},{"Format":"","Formula":"","IsDefaultAlias":false,"Name":"alias_label"},{"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0f5ba0ef0bdb3ab55dc8adfaf65bbb11ad2cc2549294edf3751ccec4b3e11d56">
      <Data>
        <Value xmlns=""><![CDATA[{"AggregationType":1,"ColumnFields":["time_period_name","segment_1"],"FilterCondition":0,"Filters":[{"ColumnKey":"segment_1","Type":1,"Value":"Speciality - PCPs","filterCriteria":1},{"ColumnKey":"title","Type":1,"Value":"The rep’s preparedness","filterCriteria":1}],"LatestColumnsFirst":false,"RowFields":["alias_label","title"],"ValueFields":["decimal"],"columnDefinitions":[{"Format":"","Formula":"","IsDefaultAlias":false,"Name":"alias_label"},{"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477fd207df0b48a1b1b97fa4fecc1b0067914338ab09f003057f5788c73a92e5">
      <Data>
        <Value xmlns=""><![CDATA[{"AggregationType":1,"ColumnFields":["time_period_name","segment_1"],"FilterCondition":0,"Filters":[{"ColumnKey":"segment_1","Type":1,"Value":"Speciality - PCPs","filterCriteria":1},{"ColumnKey":"title","Type":1,"Value":"The rep’s understanding of insurance and access","filterCriteria":1}],"LatestColumnsFirst":false,"RowFields":["alias_label","title"],"ValueFields":["decimal"],"columnDefinitions":[{"Format":"","Formula":"","IsDefaultAlias":false,"Name":"alias_label"},{"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bcaa2344fd27d67be2f0a155b1b99093d2cfeb333a463d8edf219f8f5e88e3aa">
      <Data>
        <Value xmlns=""><![CDATA[{"AggregationType":1,"ColumnFields":["time_period_name","segment_1"],"FilterCondition":0,"Filters":[{"ColumnKey":"segment_1","Type":1,"Value":"Speciality - PCPs","filterCriteria":1},{"ColumnKey":"title","Type":1,"Value":"How well the rep performed in providing a compelling reason to prescribe CREON","filterCriteria":1}],"LatestColumnsFirst":false,"RowFields":["alias_label","title"],"ValueFields":["decimal"],"columnDefinitions":[{"Format":"","Formula":"","IsDefaultAlias":false,"Name":"alias_label"},{"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aa4dec50bb924b3bc11b5f73f66e32497ffeb68b3583acc5c4afcb2c10f2856f">
      <Data>
        <Value xmlns=""><![CDATA[{"AggregationType":1,"ColumnFields":["time_period_name","segment_1"],"FilterCondition":0,"Filters":[{"ColumnKey":"segment_1","Type":1,"Value":"Speciality - PCPs","filterCriteria":1},{"ColumnKey":"title","Type":1,"Value":"The rep’s knowledge of the product being discussed","filterCriteria":1}],"LatestColumnsFirst":false,"RowFields":["alias_label","title"],"ValueFields":["decimal"],"columnDefinitions":[{"Format":"","Formula":"","IsDefaultAlias":false,"Name":"alias_label"},{"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876f3e360120bd08e6ef9ca00919082b483fe2f9809240cf806eb7dd046e516a">
      <Data>
        <Value xmlns=""><![CDATA[{"AggregationType":1,"ColumnFields":["time_period_name","segment_1"],"FilterCondition":0,"Filters":[{"ColumnKey":"segment_1","Type":1,"Value":"Speciality - PCPs","filterCriteria":1},{"ColumnKey":"title","Type":1,"Value":"The rep’s ability to execute a smooth interaction","filterCriteria":1}],"LatestColumnsFirst":false,"RowFields":["alias_label","title"],"ValueFields":["decimal"],"columnDefinitions":[{"Format":"","Formula":"","IsDefaultAlias":false,"Name":"alias_label"},{"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Value>
      </Data>
    </Entry>
    <Entry xmlns="http://connector.synapse.com/" key="510586e54f18d7c96f68dd3c78eeac51768578f4301bc93b9aa3f7244b73b904">
      <Data>
        <Value xmlns=""><![CDATA[{"AggregationType":1,"ColumnFields":["segment_1","time_period_name"],"FilterCondition":0,"Filters":[{"ColumnKey":"segment_1","Type":1,"Value":"Speciality - NP/PA","filterCriteria":1},{"ColumnKey":"title","Type":1,"Value":"The rep’s preparedness","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413a3e3345f3c1c42dcef9f8b5a10bb1a30753b8d5eb451376659c78b630835a">
      <Data>
        <Value xmlns=""><![CDATA[{"AggregationType":1,"ColumnFields":["segment_1","time_period_name"],"FilterCondition":0,"Filters":[{"ColumnKey":"segment_1","Type":1,"Value":"Speciality - NP/PA","filterCriteria":1},{"ColumnKey":"title","Type":1,"Value":"The rep’s understanding of insurance and access","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a9133df990232aa5ecfae3b9f95ecb202da6b9758758cbd265462d52a463dd7f">
      <Data>
        <Value xmlns=""><![CDATA[{"AggregationType":1,"ColumnFields":["segment_1","time_period_name"],"FilterCondition":0,"Filters":[{"ColumnKey":"segment_1","Type":1,"Value":"Speciality - NP/PA","filterCriteria":1},{"ColumnKey":"title","Type":1,"Value":"How well the rep performed in providing a compelling reason to prescribe CREON","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5ea090f7eb272810c071cfc0b8892bef4f919a8841de7095bf01693d284effe2">
      <Data>
        <Value xmlns=""><![CDATA[{"AggregationType":1,"ColumnFields":["segment_1","time_period_name"],"FilterCondition":0,"Filters":[{"ColumnKey":"segment_1","Type":1,"Value":"Speciality - NP/PA","filterCriteria":1},{"ColumnKey":"title","Type":1,"Value":"The rep’s knowledge of the product being discussed","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fbfceb8030702c12215b8ea8e581d2abefebdb1f6d806ca88e0da7fd1b2c7c43">
      <Data>
        <Value xmlns=""><![CDATA[{"AggregationType":1,"ColumnFields":["segment_1","time_period_name"],"FilterCondition":0,"Filters":[{"ColumnKey":"segment_1","Type":1,"Value":"Speciality - NP/PA","filterCriteria":1},{"ColumnKey":"title","Type":1,"Value":"The rep’s ability to execute a smooth interaction","filterCriteria":1}],"LatestColumnsFirst":false,"RowFields":["alias_label","title"],"ValueFields":["decimal"],"columnDefinitions":[{"Format":"","Formula":"","IsDefaultAlias":false,"Name":"alias_label"},{"Format":"","Formula":"","IsDefaultAlias":false,"Name":"title"},{"Format":"0%","Formula":"","IsDefaultAlias":false,"Name":"Speciality - NP/PA - W28"},{"Format":"0%","Formula":"","IsDefaultAlias":false,"Name":"Speciality - NP/PA - W29"},{"Format":"0%","Formula":"","IsDefaultAlias":false,"Name":"Speciality - NP/PA - W30"},{"Format":"0%","Formula":"","IsDefaultAlias":false,"Name":"Speciality - NP/PA - W31"},{"Format":"0%","Formula":"","IsDefaultAlias":false,"Name":"Speciality - NP/PA - W32"},{"Format":"0%","Formula":"","IsDefaultAlias":false,"Name":"Speciality - NP/PA - Jan-Feb 2026"}]}]]></Value>
      </Data>
    </Entry>
    <Entry xmlns="http://connector.synapse.com/" key="ec2c5daa3b5b05c8abb21e50e87869a7c37d34b96f5ef330241fdd53bf0ce6a9">
      <Data>
        <Value xmlns=""><![CDATA[{"AggregationType":1,"ColumnFields":["time_period_name"],"FilterCondition":0,"Filters":[],"LatestColumnsFirst":false,"RowFields":["value","title"],"ValueFields":["penetration"],"columnDefinitions":[{"Format":"","Formula":"","IsDefaultAlias":false,"Name":"value","sortCriteria":{"CustomList":["3K","6k","12k","15K","24K","30K","36K","50K","80K","I don’t remember","No specific dosing options were discussed"],"Level":1,"Order":0}},{"Format":"","Formula":"","IsDefaultAlias":false,"Name":"title"},{"Format":"0%","Formula":"","IsDefaultAlias":false,"Name":"Jan-Feb 2026"},{"Format":"0%","Formula":"","IsDefaultAlias":false,"Name":"W32"}]}]]></Value>
      </Data>
    </Entry>
    <Entry xmlns="http://connector.synapse.com/" key="f2eb95471b901050be46003b3ab40932dcdbfa072500739789196f2a8998b13a">
      <Data>
        <Value xmlns=""><![CDATA[{"AggregationType":1,"ColumnFields":["time_period_name"],"FilterCondition":0,"Filters":[],"LatestColumnsFirst":false,"RowFields":["value"],"ValueFields":["penetration"],"columnDefinitions":[{"Format":"","Formula":"","IsDefaultAlias":false,"Name":"value","sortCriteria":{"CustomList":["3K","5K","10K","15K","20K","25K","30K","40K","50K","60K","80K","I don’t remember","No specific dosing options were discussed"],"Level":1,"Order":0}},{"Format":"0%","Formula":"","IsDefaultAlias":false,"Name":"Jan-Feb 2026"},{"Format":"0%","Formula":"","IsDefaultAlias":false,"Name":"W32"}]}]]></Value>
      </Data>
    </Entry>
    <Entry xmlns="http://connector.synapse.com/" key="c3093b4899c777dd0504623b4cfd17250dd26a6515709ce5b2c206e89690a6cd">
      <Data>
        <Value xmlns=""><![CDATA[{"AggregationType":1,"ColumnFields":["time_period_name"],"FilterCondition":0,"Filters":[],"LatestColumnsFirst":false,"RowFields":["value"],"ValueFields":["penetration"],"columnDefinitions":[{"Format":"","Formula":"","IsDefaultAlias":false,"Name":"value","sortCriteria":{"CustomList":["3K","6k","12k","15K","24K","30K","36K","50K","80K","I don’t remember","No specific dosing options were discussed"],"Level":1,"Order":0}},{"Format":"0%","Formula":"","IsDefaultAlias":false,"Name":"Jan-Feb 2026"},{"Format":"0%","Formula":"","IsDefaultAlias":false,"Name":"W32"}]}]]></Value>
      </Data>
    </Entry>
    <Entry xmlns="http://connector.synapse.com/" key="888dde05e963323c989daaa68528ca4df6980ac2886cb43cf4e83bd9b34b1e65">
      <Data>
        <Value xmlns=""><![CDATA[{"AggregationType":1,"ColumnFields":["time_period_name","segment_2"],"FilterCondition":0,"Filters":[{"ColumnKey":"segment_1","Type":1,"Value":"Speciality - Gastro","filterCriteria":1}],"LatestColumnsFirst":false,"RowFields":["Code","title"],"ValueFields":["decimal"],"columnDefinitions":[{"Format":"","Formula":"","IsDefaultAlias":false,"Name":"Code"},{"Format":"","Formula":"","IsDefaultAlias":false,"Name":"title"},{"Format":"0%","Formula":"","IsDefaultAlias":false,"Name":"Jan-Feb 2026 - (blank)","sortCriteria":{"CustomList":[],"Level":1,"Order":1}},{"Format":"0%","Formula":"","IsDefaultAlias":false,"Name":"Jan-Feb 2026 - Options - Motivating to Prescribe"},{"Format":"0%","Formula":"","IsDefaultAlias":false,"Name":"Jan-Feb 2026 - Options - Differentiated"},{"Format":"0%","Formula":"","IsDefaultAlias":false,"Name":"Jan-Feb 2026 - Options - Believable"},{"Alias":"ME","Format":"0%","Formula":"=GEOMEAN(D2:D2, E2:E2, F2:F2)","IsDefaultAlias":false,"Name":"<blank:ME>"}]}]]></Value>
      </Data>
    </Entry>
    <Entry xmlns="http://connector.synapse.com/" key="de37d59b6c5e011b7972299480335973a932c984db3c2f44c4394a6b63db2a39">
      <Data>
        <Value xmlns=""><![CDATA[{"AggregationType":1,"ColumnFields":["time_period_name","segment_2"],"FilterCondition":0,"Filters":[{"ColumnKey":"segment_1","Type":1,"Value":"Speciality - Gastro","filterCriteria":1}],"LatestColumnsFirst":false,"RowFields":["Code","title"],"ValueFields":["decimal"],"columnDefinitions":[{"Format":"","Formula":"","IsDefaultAlias":false,"Name":"Code"},{"IsDefaultAlias":false,"Name":"title"},{"Format":"0%","Formula":"","IsDefaultAlias":false,"Name":"W28 - (blank)"},{"Format":"0%","Formula":"","IsDefaultAlias":false,"Name":"W29 - (blank)"},{"Format":"0%","Formula":"","IsDefaultAlias":false,"Name":"W30 - (blank)"},{"Format":"0%","Formula":"","IsDefaultAlias":false,"Name":"W31 - (blank)"},{"Format":"0%","Formula":"","IsDefaultAlias":false,"Name":"W32 - (blank)"},{"Format":"0%","Formula":"","IsDefaultAlias":false,"Name":"Jan-Feb 2026 - (blank)","sortCriteria":{"CustomList":[],"Level":1,"Order":1}}]}]]></Value>
      </Data>
    </Entry>
    <Entry xmlns="http://connector.synapse.com/" key="f3e8638554c47bee933093ae7e7aaf8db4198055af52bc8f26707a73bc6f33df">
      <Data>
        <Value xmlns=""><![CDATA[{"AggregationType":1,"ColumnFields":["time_period_name","segment_2"],"FilterCondition":0,"Filters":[{"ColumnKey":"segment_1","Type":1,"Value":"Speciality - PCPs","filterCriteria":1}],"LatestColumnsFirst":false,"RowFields":["Code","title"],"ValueFields":["decimal"],"columnDefinitions":[{"Format":"","Formula":"","IsDefaultAlias":false,"Name":"Code"},{"Format":"","Formula":"","IsDefaultAlias":false,"Name":"title"},{"Format":"0%","Formula":"","IsDefaultAlias":false,"Name":"Jan-Feb 2026 - (blank)","sortCriteria":{"CustomList":[],"Level":1,"Order":1}},{"Format":"0%","Formula":"","IsDefaultAlias":false,"Name":"Jan-Feb 2026 - Options - Motivating to Prescribe"},{"Format":"0%","Formula":"","IsDefaultAlias":false,"Name":"Jan-Feb 2026 - Options - Differentiated"},{"Format":"0%","Formula":"","IsDefaultAlias":false,"Name":"Jan-Feb 2026 - Options - Believable"},{"Alias":"ME","Format":"0%","Formula":"=GEOMEAN(D2:D2, E2:E2, F2:F2)","IsDefaultAlias":false,"Name":"<blank:ME>"}]}]]></Value>
      </Data>
    </Entry>
    <Entry xmlns="http://connector.synapse.com/" key="90375bc03bdc895a4bc7f2ce6d5c7a17c6113aac006c2513b872acc783253ba1">
      <Data>
        <Value xmlns=""><![CDATA[{"AggregationType":1,"ColumnFields":["time_period_name","segment_2"],"FilterCondition":0,"Filters":[{"ColumnKey":"segment_1","Type":1,"Value":"Speciality - PCPs","filterCriteria":1}],"LatestColumnsFirst":false,"RowFields":["Code","title"],"ValueFields":["decimal"],"columnDefinitions":[{"Format":"","Formula":"","IsDefaultAlias":false,"Name":"Code"},{"Format":"","Formula":"","IsDefaultAlias":false,"Name":"title"},{"Format":"0%","Formula":"","IsDefaultAlias":false,"Name":"W28 - (blank)"},{"Format":"0%","Formula":"","IsDefaultAlias":false,"Name":"W29 - (blank)"},{"Format":"0%","Formula":"","IsDefaultAlias":false,"Name":"W30 - (blank)"},{"Format":"0%","Formula":"","IsDefaultAlias":false,"Name":"W31 - (blank)"},{"Format":"0%","Formula":"","IsDefaultAlias":false,"Name":"W32 - (blank)"},{"Format":"0%","Formula":"","IsDefaultAlias":false,"Name":"Jan-Feb 2026 - (blank)","sortCriteria":{"CustomList":[],"Level":1,"Order":1}}]}]]></Value>
      </Data>
    </Entry>
    <Entry xmlns="http://connector.synapse.com/" key="b5a094e28a7aee7315cafde97f997537e1a42c884327e94a4d0a6c7043700013">
      <Data>
        <Value xmlns=""><![CDATA[{"AggregationType":1,"ColumnFields":["time_period_name","segment_2"],"FilterCondition":0,"Filters":[{"ColumnKey":"segment_1","Type":1,"Value":"Speciality - NP/PA","filterCriteria":1}],"LatestColumnsFirst":false,"RowFields":["Code","title"],"ValueFields":["decimal"],"columnDefinitions":[{"Format":"","Formula":"","IsDefaultAlias":false,"Name":"Code"},{"Format":"","Formula":"","IsDefaultAlias":false,"Name":"title"},{"Format":"0%","Formula":"","IsDefaultAlias":false,"Name":"W28 - (blank)"},{"Format":"0%","Formula":"","IsDefaultAlias":false,"Name":"W29 - (blank)"},{"Format":"0%","Formula":"","IsDefaultAlias":false,"Name":"W30 - (blank)"},{"Format":"0%","Formula":"","IsDefaultAlias":false,"Name":"W31 - (blank)"},{"Format":"0%","Formula":"","IsDefaultAlias":false,"Name":"W32 - (blank)"},{"Format":"0%","Formula":"","IsDefaultAlias":false,"Name":"Jan-Feb 2026 - (blank)","sortCriteria":{"CustomList":[],"Level":1,"Order":1}}]}]]></Value>
      </Data>
    </Entry>
    <Entry xmlns="http://connector.synapse.com/" key="cd67c7e653fde02cc25be9530408d9d1fe09340309966eea99c6b2c6fd0d9b3b">
      <Data>
        <Value xmlns=""><![CDATA[{"AggregationType":1,"ColumnFields":["time_period_name","segment_2"],"FilterCondition":0,"Filters":[{"ColumnKey":"segment_1","Type":1,"Value":"Speciality - NP/PA","filterCriteria":1}],"LatestColumnsFirst":false,"RowFields":["Code","title"],"ValueFields":["decimal"],"columnDefinitions":[{"Format":"","Formula":"","IsDefaultAlias":false,"Name":"Code"},{"Format":"","Formula":"","IsDefaultAlias":false,"Name":"title"},{"Format":"","Formula":"","IsDefaultAlias":false,"Name":"W28 - Options - Believable"},{"Format":"","Formula":"","IsDefaultAlias":false,"Name":"W28 - Options - Differentiated"},{"Format":"","Formula":"","IsDefaultAlias":false,"Name":"W28 - Options - Motivating to Prescribe"},{"Format":"","Formula":"","IsDefaultAlias":false,"Name":"W28 - (blank)"},{"Format":"","Formula":"","IsDefaultAlias":false,"Name":"W29 - Options - Believable"},{"Format":"","Formula":"","IsDefaultAlias":false,"Name":"W29 - Options - Differentiated"},{"Format":"","Formula":"","IsDefaultAlias":false,"Name":"W29 - Options - Motivating to Prescribe"},{"Format":"","Formula":"","IsDefaultAlias":false,"Name":"W29 - (blank)"},{"Format":"","Formula":"","IsDefaultAlias":false,"Name":"W30 - Options - Believable"},{"Format":"","Formula":"","IsDefaultAlias":false,"Name":"W30 - Options - Differentiated"},{"Format":"","Formula":"","IsDefaultAlias":false,"Name":"W30 - Options - Motivating to Prescribe"},{"Format":"","Formula":"","IsDefaultAlias":false,"Name":"W30 - (blank)"},{"Format":"","Formula":"","IsDefaultAlias":false,"Name":"W31 - Options - Believable"},{"Format":"","Formula":"","IsDefaultAlias":false,"Name":"W31 - Options - Differentiated"},{"Format":"","Formula":"","IsDefaultAlias":false,"Name":"W31 - Options - Motivating to Prescribe"},{"Format":"","Formula":"","IsDefaultAlias":false,"Name":"W31 - (blank)"},{"Format":"","Formula":"","IsDefaultAlias":false,"Name":"W32 - Options - Believable"},{"Format":"","Formula":"","IsDefaultAlias":false,"Name":"W32 - Options - Differentiated"},{"Format":"","Formula":"","IsDefaultAlias":false,"Name":"W32 - Options - Motivating to Prescribe"},{"Format":"","Formula":"","IsDefaultAlias":false,"Name":"W32 - (blank)"},{"Format":"","Formula":"","IsDefaultAlias":false,"Name":"Jan-Feb 2026 - Options - Believable"},{"Format":"","Formula":"","IsDefaultAlias":false,"Name":"Jan-Feb 2026 - Options - Differentiated"},{"Format":"","Formula":"","IsDefaultAlias":false,"Name":"Jan-Feb 2026 - Options - Motivating to Prescribe"},{"Format":"0%","Formula":"","IsDefaultAlias":false,"Name":"Jan-Feb 2026 - (blank)","sortCriteria":{"CustomList":[],"Level":1,"Order":1}}]}]]></Value>
      </Data>
    </Entry>
    <Entry xmlns="http://connector.synapse.com/" key="4403dcae4125a3f1021df72aa3e9ca292f624f84a090d7a906f450ca95647fd6">
      <Data>
        <Value xmlns=""><![CDATA[{"AggregationType":1,"ColumnFields":["time_period_name","segment_2"],"FilterCondition":0,"Filters":[{"ColumnKey":"segment_1","Type":1,"Value":"Speciality - Gastro","filterCriteria":1}],"LatestColumnsFirst":false,"RowFields":["code","title"],"ValueFields":["decimal"],"columnDefinitions":[{"Format":"","Formula":"","IsDefaultAlias":false,"Name":"code"},{"Format":"","Formula":"","IsDefaultAlias":false,"Name":"title"},{"Format":"0%","Formula":"","IsDefaultAlias":false,"Name":"W28 - (blank)"},{"Format":"0%","Formula":"","IsDefaultAlias":false,"Name":"W29 - (blank)"},{"Format":"0%","Formula":"","IsDefaultAlias":false,"Name":"W30 - (blank)"},{"Format":"0%","Formula":"","IsDefaultAlias":false,"Name":"W31 - (blank)"},{"Format":"0%","Formula":"","IsDefaultAlias":false,"Name":"W32 - (blank)"},{"Format":"0%","Formula":"","IsDefaultAlias":false,"Name":"Jan-Feb 2026 - (blank)","sortCriteria":{"CustomList":[],"Level":1,"Order":1}},{"Format":"0%","Formula":"","IsDefaultAlias":false,"Name":"Jan-Feb 2026 - Options - Believable"},{"Format":"0%","Formula":"","IsDefaultAlias":false,"Name":"Jan-Feb 2026 - Options - Differentiated"},{"Format":"0%","Formula":"","IsDefaultAlias":false,"Name":"Jan-Feb 2026 - Options - Motivating to Prescribe"},{"Alias":"ME","Format":"0%","Formula":"=GEOMEAN(I2:I2, J2:J2, K2:K2)","IsDefaultAlias":false,"Name":"<blank:ME>"}]}]]></Value>
      </Data>
    </Entry>
    <Entry xmlns="http://connector.synapse.com/" key="82660ca25b72ef321dcd31534981a5242ba1fe0d57344e71d08f30514b114cb1">
      <Data>
        <Value xmlns=""><![CDATA[{"AggregationType":1,"ColumnFields":["time_period_name","segment_2"],"FilterCondition":0,"Filters":[{"ColumnKey":"segment_1","Type":1,"Value":"Speciality - PCPs","filterCriteria":1}],"LatestColumnsFirst":false,"RowFields":["code","title"],"ValueFields":["decimal"],"columnDefinitions":[{"Format":"","Formula":"","IsDefaultAlias":false,"Name":"code"},{"Format":"","Formula":"","IsDefaultAlias":false,"Name":"title"},{"Format":"0%","Formula":"","IsDefaultAlias":false,"Name":"W28 - (blank)"},{"Format":"0%","Formula":"","IsDefaultAlias":false,"Name":"W29 - (blank)"},{"Format":"0%","Formula":"","IsDefaultAlias":false,"Name":"W30 - (blank)"},{"Format":"0%","Formula":"","IsDefaultAlias":false,"Name":"W31 - (blank)"},{"Format":"0%","Formula":"","IsDefaultAlias":false,"Name":"W32 - (blank)"},{"Format":"0%","Formula":"","IsDefaultAlias":false,"Name":"Jan-Feb 2026 - (blank)","sortCriteria":{"CustomList":[],"Level":1,"Order":1}},{"Format":"0%","Formula":"","IsDefaultAlias":false,"Name":"Jan-Feb 2026 - Options - Believable"},{"Format":"0%","Formula":"","IsDefaultAlias":false,"Name":"Jan-Feb 2026 - Options - Differentiated"},{"Format":"0%","Formula":"","IsDefaultAlias":false,"Name":"Jan-Feb 2026 - Options - Motivating to Prescribe"},{"Alias":"ME","Format":"0%","Formula":"=GEOMEAN(I2:I2, J2:J2, K2:K2)","IsDefaultAlias":false,"Name":"<blank:ME>"}]}]]></Value>
      </Data>
    </Entry>
    <Entry xmlns="http://connector.synapse.com/" key="d72f9111b33b73e2fecbcdedee4d911e4216e26098ccd4560c339167e949c915">
      <Data>
        <Value xmlns=""><![CDATA[{"AggregationType":1,"ColumnFields":["time_period_name","segment_1"],"FilterCondition":0,"Filters":[{"ColumnKey":"segment_1","Type":1,"Value":"Speciality - PCPs","filterCriteria":1}],"LatestColumnsFirst":false,"RowFields":["title"],"ValueFields":["decimal"],"columnDefinitions":[{"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sortCriteria":{"CustomList":[],"Level":1,"Order":1}}]}]]></Value>
      </Data>
    </Entry>
    <Entry xmlns="http://connector.synapse.com/" key="c3fe147a0a69c46c667d4125c040de89f6f9dd0f71b09ccb8717630c13f53f68">
      <Data>
        <Value xmlns=""><![CDATA[{"AggregationType":1,"ColumnFields":["time_period_name","segment_2"],"FilterCondition":0,"Filters":[{"ColumnKey":"segment_1","Type":1,"Value":"Speciality - NP/PA","filterCriteria":1}],"LatestColumnsFirst":false,"RowFields":["code","title"],"ValueFields":["decimal"],"columnDefinitions":[{"Format":"","Formula":"","IsDefaultAlias":false,"Name":"code"},{"Format":"","Formula":"","IsDefaultAlias":false,"Name":"title"},{"Format":"","Formula":"","IsDefaultAlias":false,"Name":"W28 - Options - Believable"},{"Format":"","Formula":"","IsDefaultAlias":false,"Name":"W28 - Options - Differentiated"},{"Format":"","Formula":"","IsDefaultAlias":false,"Name":"W28 - Options - Motivating to Prescribe"},{"Format":"","Formula":"","IsDefaultAlias":false,"Name":"W28 - (blank)"},{"Format":"","Formula":"","IsDefaultAlias":false,"Name":"W29 - Options - Believable"},{"Format":"","Formula":"","IsDefaultAlias":false,"Name":"W29 - Options - Differentiated"},{"Format":"","Formula":"","IsDefaultAlias":false,"Name":"W29 - Options - Motivating to Prescribe"},{"Format":"","Formula":"","IsDefaultAlias":false,"Name":"W29 - (blank)"},{"Format":"","Formula":"","IsDefaultAlias":false,"Name":"W30 - Options - Believable"},{"Format":"","Formula":"","IsDefaultAlias":false,"Name":"W30 - Options - Differentiated"},{"Format":"","Formula":"","IsDefaultAlias":false,"Name":"W30 - Options - Motivating to Prescribe"},{"Format":"","Formula":"","IsDefaultAlias":false,"Name":"W30 - (blank)"},{"Format":"","Formula":"","IsDefaultAlias":false,"Name":"W31 - Options - Believable"},{"Format":"","Formula":"","IsDefaultAlias":false,"Name":"W31 - Options - Differentiated"},{"Format":"","Formula":"","IsDefaultAlias":false,"Name":"W31 - Options - Motivating to Prescribe"},{"Format":"","Formula":"","IsDefaultAlias":false,"Name":"W31 - (blank)"},{"Format":"","Formula":"","IsDefaultAlias":false,"Name":"W32 - Options - Believable"},{"Format":"","Formula":"","IsDefaultAlias":false,"Name":"W32 - Options - Differentiated"},{"Format":"","Formula":"","IsDefaultAlias":false,"Name":"W32 - Options - Motivating to Prescribe"},{"Format":"","Formula":"","IsDefaultAlias":false,"Name":"W32 - (blank)"},{"Format":"","Formula":"","IsDefaultAlias":false,"Name":"Jan-Feb 2026 - Options - Believable"},{"Format":"","Formula":"","IsDefaultAlias":false,"Name":"Jan-Feb 2026 - Options - Differentiated"},{"Format":"","Formula":"","IsDefaultAlias":false,"Name":"Jan-Feb 2026 - Options - Motivating to Prescribe"},{"Format":"0%","Formula":"","IsDefaultAlias":false,"Name":"Jan-Feb 2026 - (blank)","sortCriteria":{"CustomList":[],"Level":1,"Order":1}}]}]]></Value>
      </Data>
    </Entry>
    <Entry xmlns="http://connector.synapse.com/" key="81746c6b4784b86105a4cfc6e281fdb476064d3eb961ee16dedf2b6d9f73cd3c">
      <Data>
        <Value xmlns=""><![CDATA[{"AggregationType":1,"ColumnFields":["time_period_name","segment_1"],"FilterCondition":0,"Filters":[{"ColumnKey":"segment_1","Type":1,"Value":"Speciality - NP/PA","filterCriteria":1}],"LatestColumnsFirst":false,"RowFields":["title"],"ValueFields":["decimal"],"columnDefinitions":[{"Format":"","Formula":"","IsDefaultAlias":false,"Name":"title"},{"Format":"0%","Formula":"","IsDefaultAlias":false,"Name":"W28 - Speciality - NP/PA"},{"Format":"0%","Formula":"","IsDefaultAlias":false,"Name":"W29 - Speciality - NP/PA"},{"Format":"0%","Formula":"","IsDefaultAlias":false,"Name":"W30 - Speciality - NP/PA"},{"Format":"0%","Formula":"","IsDefaultAlias":false,"Name":"W31 - Speciality - NP/PA"},{"Format":"0%","Formula":"","IsDefaultAlias":false,"Name":"W32 - Speciality - NP/PA"},{"Format":"0%","Formula":"","IsDefaultAlias":false,"Name":"Jan-Feb 2026 - Speciality - NP/PA","sortCriteria":{"CustomList":[],"Level":1,"Order":1}}]}]]></Value>
      </Data>
    </Entry>
    <Entry xmlns="http://connector.synapse.com/" key="303c2354f42a9c2c08944c9caebc9f2f35006d5eaa353af26822515219b5d76b">
      <Data>
        <Value xmlns=""><![CDATA[{"AggregationType":1,"ColumnFields":["time_period_name","segment_1"],"FilterCondition":0,"Filters":[{"ColumnKey":"segment_1","Type":1,"Value":"Speciality - Gastro","filterCriteria":1}],"LatestColumnsFirst":false,"RowFields":["Code","title"],"ValueFields":["ME"],"columnDefinitions":[{"Format":"","Formula":"","IsDefaultAlias":false,"Name":"Code"},{"Format":"","Formula":"","IsDefaultAlias":false,"Name":"title"},{"Format":"","Formula":"","IsDefaultAlias":false,"Name":"W28 - Speciality - Gastro"},{"Format":"","Formula":"","IsDefaultAlias":false,"Name":"W29 - Speciality - Gastro"},{"Format":"","Formula":"","IsDefaultAlias":false,"Name":"W30 - Speciality - Gastro"},{"Format":"","Formula":"","IsDefaultAlias":false,"Name":"W31 - Speciality - Gastro"},{"Format":"","Formula":"","IsDefaultAlias":false,"Name":"W32 - Speciality - Gastro"},{"Format":"0%","Formula":"","IsDefaultAlias":false,"Name":"Jan-Feb 2026 - Speciality - Gastro","sortCriteria":{"CustomList":[],"Level":1,"Order":1}}]}]]></Value>
      </Data>
    </Entry>
    <Entry xmlns="http://connector.synapse.com/" key="cd1da6e1b2cef103c6b239b8875e48c90c68776402b099bddd0c2aa1da2b739e">
      <Data>
        <Value xmlns=""><![CDATA[{"AggregationType":1,"ColumnFields":["time_period_name","segment_1"],"FilterCondition":0,"Filters":[{"ColumnKey":"segment_1","Type":1,"Value":"Speciality - Gastro","filterCriteria":1}],"LatestColumnsFirst":false,"RowFields":["Code","title"],"ValueFields":["ME"],"columnDefinitions":[{"Format":"","Formula":"","IsDefaultAlias":false,"Name":"Code"},{"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sortCriteria":{"CustomList":[],"Level":1,"Order":1}}]}]]></Value>
      </Data>
    </Entry>
    <Entry xmlns="http://connector.synapse.com/" key="bbf0fdfe1af5695a33beb0099907575a94963af076b2a9da5c507cc86f3089f7">
      <Data>
        <Value xmlns=""><![CDATA[{"AggregationType":1,"ColumnFields":["time_period_name","segment_1"],"FilterCondition":0,"Filters":[{"ColumnKey":"segment_1","Type":1,"Value":"Speciality - PCPs","filterCriteria":1}],"LatestColumnsFirst":false,"RowFields":["Code","title"],"ValueFields":["ME"],"columnDefinitions":[{"Format":"","Formula":"","IsDefaultAlias":false,"Name":"Code"},{"Format":"","Formula":"","IsDefaultAlias":false,"Name":"title"},{"Format":"","Formula":"","IsDefaultAlias":false,"Name":"W28 - Speciality - PCPs"},{"Format":"","Formula":"","IsDefaultAlias":false,"Name":"W29 - Speciality - PCPs"},{"Format":"","Formula":"","IsDefaultAlias":false,"Name":"W30 - Speciality - PCPs"},{"Format":"","Formula":"","IsDefaultAlias":false,"Name":"W31 - Speciality - PCPs"},{"Format":"","Formula":"","IsDefaultAlias":false,"Name":"W32 - Speciality - PCPs"},{"Format":"0%","Formula":"","IsDefaultAlias":false,"Name":"Jan-Feb 2026 - Speciality - PCPs","sortCriteria":{"CustomList":[],"Level":1,"Order":1}}]}]]></Value>
      </Data>
    </Entry>
    <Entry xmlns="http://connector.synapse.com/" key="be87308dceb72bfb5f61575931557e6d5e15a3acb705dbe525717d7be4e805ca">
      <Data>
        <Value xmlns=""><![CDATA[{"AggregationType":1,"ColumnFields":["time_period_name","segment_1"],"FilterCondition":0,"Filters":[{"ColumnKey":"segment_1","Type":1,"Value":"Speciality - PCPs","filterCriteria":1}],"LatestColumnsFirst":false,"RowFields":["Code","title"],"ValueFields":["ME"],"columnDefinitions":[{"Format":"","Formula":"","IsDefaultAlias":false,"Name":"Code"},{"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sortCriteria":{"CustomList":[],"Level":1,"Order":1}}]}]]></Value>
      </Data>
    </Entry>
    <Entry xmlns="http://connector.synapse.com/" key="3fc97974e8cd7f10cfa0ef120ad0930ab0e421f2bbd82f6188b3ccdf95fb99af">
      <Data>
        <Value xmlns=""><![CDATA[{"AggregationType":1,"ColumnFields":["time_period_name","segment_1"],"FilterCondition":0,"Filters":[{"ColumnKey":"segment_1","Type":1,"Value":"Speciality - NP/PA","filterCriteria":1}],"LatestColumnsFirst":false,"RowFields":["Code","title"],"ValueFields":["ME"],"columnDefinitions":[{"Format":"","Formula":"","IsDefaultAlias":false,"Name":"Code"},{"Format":"","Formula":"","IsDefaultAlias":false,"Name":"title"},{"Format":"","Formula":"","IsDefaultAlias":false,"Name":"W28 - Speciality - NP/PA"},{"Format":"","Formula":"","IsDefaultAlias":false,"Name":"W29 - Speciality - NP/PA"},{"Format":"","Formula":"","IsDefaultAlias":false,"Name":"W30 - Speciality - NP/PA"},{"Format":"","Formula":"","IsDefaultAlias":false,"Name":"W31 - Speciality - NP/PA"},{"Format":"","Formula":"","IsDefaultAlias":false,"Name":"W32 - Speciality - NP/PA"},{"Format":"0%","Formula":"","IsDefaultAlias":false,"Name":"Jan-Feb 2026 - Speciality - NP/PA","sortCriteria":{"CustomList":[],"Level":1,"Order":1}}]}]]></Value>
      </Data>
    </Entry>
    <Entry xmlns="http://connector.synapse.com/" key="7cb589c38b013116041693111a6fd05ffdda14ba2812639c646b0e8c4c7e4f1c">
      <Data>
        <Value xmlns=""><![CDATA[{"AggregationType":1,"ColumnFields":["time_period_name","segment_1"],"FilterCondition":0,"Filters":[{"ColumnKey":"segment_1","Type":1,"Value":"Speciality - NP/PA","filterCriteria":1}],"LatestColumnsFirst":false,"RowFields":["Code","title"],"ValueFields":["ME"],"columnDefinitions":[{"Format":"","Formula":"","IsDefaultAlias":false,"Name":"Code"},{"Format":"","Formula":"","IsDefaultAlias":false,"Name":"title"},{"Format":"0%","Formula":"","IsDefaultAlias":false,"Name":"W28 - Speciality - NP/PA"},{"Format":"0%","Formula":"","IsDefaultAlias":false,"Name":"W29 - Speciality - NP/PA"},{"Format":"0%","Formula":"","IsDefaultAlias":false,"Name":"W30 - Speciality - NP/PA"},{"Format":"0%","Formula":"","IsDefaultAlias":false,"Name":"W31 - Speciality - NP/PA"},{"Format":"0%","Formula":"","IsDefaultAlias":false,"Name":"W32 - Speciality - NP/PA"},{"Format":"0%","Formula":"","IsDefaultAlias":false,"Name":"Jan-Feb 2026 - Speciality - NP/PA","sortCriteria":{"CustomList":[],"Level":1,"Order":1}}]}]]></Value>
      </Data>
    </Entry>
    <Entry xmlns="http://connector.synapse.com/" key="007daeb981607b8b5370a5a9379eb2478310fec55d1a0e6c53274c3b4bbdf605">
      <Data>
        <Value xmlns=""><![CDATA[{"AggregationType":1,"ColumnFields":["time_period_name","segment_1"],"FilterCondition":0,"Filters":[{"ColumnKey":"segment_1","Type":1,"Value":"Speciality - Gastro","filterCriteria":1}],"LatestColumnsFirst":false,"RowFields":["code","title"],"ValueFields":["ME"],"columnDefinitions":[{"Format":"","Formula":"","IsDefaultAlias":false,"Name":"code"},{"Format":"","Formula":"","IsDefaultAlias":false,"Name":"title"},{"Format":"","Formula":"","IsDefaultAlias":false,"Name":"W28 - Speciality - Gastro"},{"Format":"","Formula":"","IsDefaultAlias":false,"Name":"W29 - Speciality - Gastro"},{"Format":"","Formula":"","IsDefaultAlias":false,"Name":"W30 - Speciality - Gastro"},{"Format":"","Formula":"","IsDefaultAlias":false,"Name":"W31 - Speciality - Gastro"},{"Format":"","Formula":"","IsDefaultAlias":false,"Name":"W32 - Speciality - Gastro"},{"Format":"0%","Formula":"","IsDefaultAlias":false,"Name":"Jan-Feb 2026 - Speciality - Gastro","sortCriteria":{"CustomList":[],"Level":1,"Order":1}}]}]]></Value>
      </Data>
    </Entry>
    <Entry xmlns="http://connector.synapse.com/" key="d79130b43f4be9cab92c8591cf9df5180e737fcde2fc43a34c43c37eed4198f2">
      <Data>
        <Value xmlns=""><![CDATA[{"AggregationType":1,"ColumnFields":["time_period_name","segment_1"],"FilterCondition":0,"Filters":[{"ColumnKey":"segment_1","Type":1,"Value":"Speciality - Gastro","filterCriteria":1}],"LatestColumnsFirst":false,"RowFields":["code","title"],"ValueFields":["ME"],"columnDefinitions":[{"Format":"","Formula":"","IsDefaultAlias":false,"Name":"code"},{"Format":"","Formula":"","IsDefaultAlias":false,"Name":"title"},{"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sortCriteria":{"CustomList":[],"Level":1,"Order":1}}]}]]></Value>
      </Data>
    </Entry>
    <Entry xmlns="http://connector.synapse.com/" key="a8b1094720f04312104867fccbe7e9a0f0bdbafbbf7a6f5c3aa1f0bfeb830c82">
      <Data>
        <Value xmlns=""><![CDATA[{"AggregationType":1,"ColumnFields":["time_period_name","segment_1"],"FilterCondition":0,"Filters":[{"ColumnKey":"segment_1","Type":1,"Value":"Speciality - PCPs","filterCriteria":1}],"LatestColumnsFirst":false,"RowFields":["code","title"],"ValueFields":["ME"],"columnDefinitions":[{"Format":"","Formula":"","IsDefaultAlias":false,"Name":"code"},{"Format":"","Formula":"","IsDefaultAlias":false,"Name":"title"},{"Format":"0%","Formula":"","IsDefaultAlias":false,"Name":"Jan-Feb 2026 - Speciality - PCPs","sortCriteria":{"CustomList":[],"Level":1,"Order":1}},{"Format":"","Formula":"","IsDefaultAlias":false,"Name":"Column1"}]}]]></Value>
      </Data>
    </Entry>
    <Entry xmlns="http://connector.synapse.com/" key="559f62a6cf8dff92da451540588d09b12be2b765eadfb41fda50aecf4c1cc772">
      <Data>
        <Value xmlns=""><![CDATA[{"AggregationType":1,"ColumnFields":["time_period_name","segment_1"],"FilterCondition":0,"Filters":[{"ColumnKey":"segment_1","Type":1,"Value":"Speciality - PCPs","filterCriteria":1}],"LatestColumnsFirst":false,"RowFields":["code","title"],"ValueFields":["ME"],"columnDefinitions":[{"Format":"","Formula":"","IsDefaultAlias":false,"Name":"code"},{"Format":"","Formula":"","IsDefaultAlias":false,"Name":"title"},{"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sortCriteria":{"CustomList":[],"Level":1,"Order":1}}]}]]></Value>
      </Data>
    </Entry>
    <Entry xmlns="http://connector.synapse.com/" key="b1ddd3d32d14cccf9a9a73bd2e61662cdbc911d4c8e3898d44e5ecd851ec3508">
      <Data>
        <Value xmlns=""><![CDATA[{"AggregationType":1,"ColumnFields":["time_period_name","segment_1"],"FilterCondition":0,"Filters":[{"ColumnKey":"segment_1","Type":1,"Value":"Speciality - NP/PA","filterCriteria":1}],"LatestColumnsFirst":false,"RowFields":["code","title"],"ValueFields":["ME"],"columnDefinitions":[{"Format":"","Formula":"","IsDefaultAlias":false,"Name":"code"},{"Format":"","Formula":"","IsDefaultAlias":false,"Name":"title"},{"Format":"0%","Formula":"","IsDefaultAlias":false,"Name":"Jan-Feb 2026 - Speciality - NP/PA","sortCriteria":{"CustomList":[],"Level":1,"Order":1}},{"Format":"","Formula":"","IsDefaultAlias":false,"Name":"Column1"}]}]]></Value>
      </Data>
    </Entry>
    <Entry xmlns="http://connector.synapse.com/" key="dea9b94763a6055f983f2475e6ed40d186ba0ce78b034f1d5ef2c0e23b57c407">
      <Data>
        <Value xmlns=""><![CDATA[{"AggregationType":1,"ColumnFields":["time_period_name","segment_1"],"FilterCondition":0,"Filters":[{"ColumnKey":"segment_1","Type":1,"Value":"Speciality - NP/PA","filterCriteria":1}],"LatestColumnsFirst":false,"RowFields":["code","title"],"ValueFields":["ME"],"columnDefinitions":[{"Format":"","Formula":"","IsDefaultAlias":false,"Name":"code"},{"Format":"","Formula":"","IsDefaultAlias":false,"Name":"title"},{"Format":"0%","Formula":"","IsDefaultAlias":false,"Name":"W28 - Speciality - NP/PA"},{"Format":"0%","Formula":"","IsDefaultAlias":false,"Name":"W29 - Speciality - NP/PA"},{"Format":"0%","Formula":"","IsDefaultAlias":false,"Name":"W30 - Speciality - NP/PA"},{"Format":"0%","Formula":"","IsDefaultAlias":false,"Name":"W31 - Speciality - NP/PA"},{"Format":"0%","Formula":"","IsDefaultAlias":false,"Name":"W32 - Speciality - NP/PA"},{"Format":"0%","Formula":"","IsDefaultAlias":false,"Name":"Jan-Feb 2026 - Speciality - NP/PA","sortCriteria":{"CustomList":[],"Level":1,"Order":1}}]}]]></Value>
      </Data>
    </Entry>
    <Entry xmlns="http://connector.synapse.com/" key="9ae9e3a793d13c839ebaaf1aa5dcaa0314e934c461712c5246f01b72efbc5704">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Gastro","filterCriteria":1}],"LatestColumnsFirst":false,"RowFields":["question"],"ValueFields":["decimal"],"columnDefinitions":[{"Format":"","Formula":"","IsDefaultAlias":false,"Name":"question"},{"Format":"0%","Formula":"","IsDefaultAlias":false,"Name":"Jan-Feb 2026 - Speciality - Gastro","sortCriteria":{"CustomList":[],"Level":1,"Order":1}}]}]]></Value>
      </Data>
    </Entry>
    <Entry xmlns="http://connector.synapse.com/" key="781e84ce4648bd5aa63465585c5e41556635694413050e62bcb77e967d6253ce">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Gastro","filterCriteria":1}],"LatestColumnsFirst":false,"RowFields":["question"],"ValueFields":["decimal"],"columnDefinitions":[{"Format":"","Formula":"","IsDefaultAlias":false,"Name":"question"},{"Format":"0%","Formula":"","IsDefaultAlias":false,"Name":"W28 - Speciality - Gastro"},{"Format":"0%","Formula":"","IsDefaultAlias":false,"Name":"W29 - Speciality - Gastro"},{"Format":"0%","Formula":"","IsDefaultAlias":false,"Name":"W30 - Speciality - Gastro"},{"Format":"0%","Formula":"","IsDefaultAlias":false,"Name":"W31 - Speciality - Gastro"},{"Format":"0%","Formula":"","IsDefaultAlias":false,"Name":"W32 - Speciality - Gastro"},{"Format":"0%","Formula":"","IsDefaultAlias":false,"Name":"Jan-Feb 2026 - Speciality - Gastro","sortCriteria":{"CustomList":[],"Level":1,"Order":1}}]}]]></Value>
      </Data>
    </Entry>
    <Entry xmlns="http://connector.synapse.com/" key="8a3e4f64184e08a71e1621a940b8c35c7d07ccef725aa171598efe3b4497a77e">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PCPs","filterCriteria":1}],"LatestColumnsFirst":false,"RowFields":["question"],"ValueFields":["decimal"],"columnDefinitions":[{"Format":"","Formula":"","IsDefaultAlias":false,"Name":"question"},{"Format":"0%","Formula":"","IsDefaultAlias":false,"Name":"W28 - Speciality - PCPs"},{"Format":"0%","Formula":"","IsDefaultAlias":false,"Name":"W29 - Speciality - PCPs"},{"Format":"0%","Formula":"","IsDefaultAlias":false,"Name":"W30 - Speciality - PCPs"},{"Format":"0%","Formula":"","IsDefaultAlias":false,"Name":"W31 - Speciality - PCPs"},{"Format":"0%","Formula":"","IsDefaultAlias":false,"Name":"W32 - Speciality - PCPs"},{"Format":"0%","Formula":"","IsDefaultAlias":false,"Name":"Jan-Feb 2026 - Speciality - PCPs","sortCriteria":{"CustomList":[],"Level":1,"Order":1}}]}]]></Value>
      </Data>
    </Entry>
    <Entry xmlns="http://connector.synapse.com/" key="b52a4d13497b944237e2b600d61a56c06f2d9e9ac6b9aa07a0987ced7983b278">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PCPs","filterCriteria":1}],"LatestColumnsFirst":false,"RowFields":["question"],"ValueFields":["decimal"],"columnDefinitions":[{"Format":"","Formula":"","IsDefaultAlias":false,"Name":"question"},{"Format":"0%","Formula":"","IsDefaultAlias":false,"Name":"Jan-Feb 2026 - Speciality - PCPs","sortCriteria":{"CustomList":[],"Level":1,"Order":1}}]}]]></Value>
      </Data>
    </Entry>
    <Entry xmlns="http://connector.synapse.com/" key="a7849b924fea012049fb1cc2167135c3a5e26dde9afe3f69d520fd9a15abb33a">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NP/PA","filterCriteria":1}],"LatestColumnsFirst":false,"RowFields":["question"],"ValueFields":["decimal"],"columnDefinitions":[{"Format":"","Formula":"","IsDefaultAlias":false,"Name":"question"},{"Format":"0%","Formula":"","IsDefaultAlias":false,"Name":"W28 - Speciality - NP/PA"},{"Format":"0%","Formula":"","IsDefaultAlias":false,"Name":"W29 - Speciality - NP/PA"},{"Format":"0%","Formula":"","IsDefaultAlias":false,"Name":"W30 - Speciality - NP/PA"},{"Format":"0%","Formula":"","IsDefaultAlias":false,"Name":"W31 - Speciality - NP/PA"},{"Format":"0%","Formula":"","IsDefaultAlias":false,"Name":"W32 - Speciality - NP/PA"},{"Format":"0%","Formula":"","IsDefaultAlias":false,"Name":"Jan-Feb 2026 - Speciality - NP/PA","sortCriteria":{"CustomList":[],"Level":1,"Order":1}}]}]]></Value>
      </Data>
    </Entry>
    <Entry xmlns="http://connector.synapse.com/" key="44f429d2b28c90c96d348e9acf4daeaf9d1b85bc40bf9d52d69407e0e1de5b65">
      <Data>
        <Value xmlns=""><![CDATA[{"AggregationType":1,"ColumnFields":["time_period_name","segment_1"],"FilterCondition":0,"Filters":[{"ColumnKey":"question","Type":1,"Value":"The rep’s knowledge of the product being discussed;The overall quality of the rep’s interaction;The rep’s ability to execute a smooth interaction;The rep’s preparedness;How well the rep helped me understand insurance coverage / access for CREON;How well the rep performed in providing a compelling reason to prescribe CREON;The rep’s understanding of my patients needs in light of COVID-19","filterCriteria":2},{"ColumnKey":"segment_1","Type":1,"Value":"Speciality - NP/PA","filterCriteria":1}],"LatestColumnsFirst":false,"RowFields":["question"],"ValueFields":["decimal"],"columnDefinitions":[{"Format":"","Formula":"","IsDefaultAlias":false,"Name":"question"},{"Format":"0%","Formula":"","IsDefaultAlias":false,"Name":"Jan-Feb 2026 - Speciality - NP/PA","sortCriteria":{"CustomList":[],"Level":1,"Order":1}}]}]]></Value>
      </Data>
    </Entry>
    <Entry xmlns="http://connector.synapse.com/" key="92831ce91fab29789a1a049cbf163e288140ba8fba7ed80d7fe3412b632b7460">
      <Data>
        <Value xmlns=""><![CDATA[{"AggregationType":0,"ColumnFields":["y_label","alias_label"],"FilterCondition":0,"Filters":[],"LatestColumnsFirst":false,"RowFields":["time_period_name"],"ValueFields":["decimal"],"columnDefinitions":[{"IsDefaultAlias":true,"Name":"time_period_name","sortCriteria":{"CustomList":["Oct'25","Nov'25","Dec'25","Jan'26","Feb'26","Mar'26"],"Level":1,"Order":0}},{"Format":"0%","IsDefaultAlias":true,"Name":"Benefits patient outcomes beyond symptom relief @:@ CREON"},{"Format":"0%","IsDefaultAlias":true,"Name":"Benefits patient outcomes beyond symptom relief @:@ ZENPEP"},{"Format":"0%","IsDefaultAlias":true,"Name":"Best formulary / insurance coverage @:@ CREON"},{"Format":"0%","IsDefaultAlias":true,"Name":"Best formulary / insurance coverage @:@ ZENPEP"},{"Format":"0%","IsDefaultAlias":true,"Name":"Co-pay assistance @:@ CREON"},{"Format":"0%","IsDefaultAlias":true,"Name":"Co-pay assistance @:@ ZENPEP"},{"Format":"0%","IsDefaultAlias":true,"Name":"Dosing flexibility @:@ CREON"},{"Format":"0%","IsDefaultAlias":true,"Name":"Dosing flexibility @:@ ZENPEP"},{"Format":"0%","IsDefaultAlias":true,"Name":"Easiest to prescribe (less impact on practice resources) @:@ CREON"},{"Format":"0%","IsDefaultAlias":true,"Name":"Easiest to prescribe (less impact on practice resources) @:@ ZENPEP"},{"Format":"0%","IsDefaultAlias":true,"Name":"Highest efficacy @:@ CREON"},{"Format":"0%","IsDefaultAlias":true,"Name":"Highest efficacy @:@ ZENPEP"},{"Format":"0%","IsDefaultAlias":true,"Name":"Improves symptoms @:@ CREON"},{"Format":"0%","IsDefaultAlias":true,"Name":"Improves symptoms @:@ ZENPEP"},{"Format":"0%","IsDefaultAlias":true,"Name":"Lowest treatment cost @:@ CREON"},{"Format":"0%","IsDefaultAlias":true,"Name":"Lowest treatment cost @:@ ZENPEP"},{"Format":"0%","IsDefaultAlias":true,"Name":"Most dosing options @:@ CREON"},{"Format":"0%","IsDefaultAlias":true,"Name":"Most dosing options @:@ ZENPEP"},{"Format":"0%","IsDefaultAlias":true,"Name":"Most favorable safety profile @:@ CREON"},{"Format":"0%","IsDefaultAlias":true,"Name":"Most favorable safety profile @:@ ZENPEP"},{"Format":"0%","IsDefaultAlias":true,"Name":"Patient adherence @:@ CREON"},{"Format":"0%","IsDefaultAlias":true,"Name":"Patient adherence @:@ ZENPEP"},{"Format":"0%","IsDefaultAlias":true,"Name":"Patient support programs @:@ CREON"},{"Format":"0%","IsDefaultAlias":true,"Name":"Patient support programs @:@ ZENPEP"},{"Format":"0%","IsDefaultAlias":true,"Name":"Simplest dosing @:@ CREON"},{"Format":"0%","IsDefaultAlias":true,"Name":"Simplest dosing @:@ ZENPEP"},{"Format":"0%","IsDefaultAlias":true,"Name":"Successful personal experience with treatment @:@ CREON"},{"Format":"0%","IsDefaultAlias":true,"Name":"Successful personal experience with treatment @:@ ZENPEP"},{"Format":"0%","IsDefaultAlias":true,"Name":"Treatment is preferred by patients @:@ CREON"},{"Format":"0%","IsDefaultAlias":true,"Name":"Treatment is preferred by patients @:@ ZENPEP"}]}]]></Value>
      </Data>
    </Entry>
    <Entry xmlns="http://connector.synapse.com/" key="bd2fc55f3cbc3b3e85d5fc4f5e6347d62ee01e0484b4a88fd25f0ff59b46a03b">
      <Data>
        <Value xmlns=""><![CDATA[{"AggregationType":0,"ColumnFields":["time_period_name"],"FilterCondition":0,"Filters":[{"ColumnKey":"segment_1","Type":1,"Value":"Speciality - Gastro","filterCriteria":1}],"LatestColumnsFirst":false,"RowFields":["y_label"],"ValueFields":["decimal"],"columnDefinitions":[{"IsDefaultAlias":true,"Name":"y_label","sortCriteria":{"CustomList":["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Level":1,"Order":0}},{"Format":"0%","IsDefaultAlias":true,"Name":"Oct'25"},{"Format":"0%","IsDefaultAlias":true,"Name":"Nov'25"},{"Format":"0%","IsDefaultAlias":true,"Name":"Dec'25"},{"Format":"0%","IsDefaultAlias":true,"Name":"Mar'26"},{"Format":"0%","IsDefaultAlias":true,"Name":"Feb'26"},{"Format":"0%","IsDefaultAlias":true,"Name":"Jan'26"}]}]]></Value>
      </Data>
    </Entry>
    <Entry xmlns="http://connector.synapse.com/" key="596054c7eb472950fade1d1ae2b16a5f3fbd73d8a7c40f91fb36181f3ec74b4e">
      <Data>
        <Value xmlns=""><![CDATA[{"AggregationType":0,"ColumnFields":["time_period_name"],"FilterCondition":0,"Filters":[{"ColumnKey":"segment_1","Type":1,"Value":"Speciality - PCPs","filterCriteria":1}],"LatestColumnsFirst":false,"RowFields":["y_label"],"ValueFields":["decimal"],"columnDefinitions":[{"IsDefaultAlias":true,"Name":"y_label","sortCriteria":{"CustomList":["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Level":1,"Order":0}},{"Format":"0%","IsDefaultAlias":true,"Name":"Oct'25"},{"Format":"0%","IsDefaultAlias":true,"Name":"Nov'25"},{"Format":"0%","IsDefaultAlias":true,"Name":"Dec'25"},{"Format":"0%","IsDefaultAlias":true,"Name":"Mar'26"},{"Format":"0%","IsDefaultAlias":true,"Name":"Feb'26"},{"Format":"0%","IsDefaultAlias":true,"Name":"Jan'26"}]}]]></Value>
      </Data>
    </Entry>
    <Entry xmlns="http://connector.synapse.com/" key="343e1c5b4cffb9f412877d63883379ace6700dd0ef5d33af0ab649e7af52b6b2">
      <Data>
        <Value xmlns=""><![CDATA[{"AggregationType":0,"ColumnFields":["time_period_name"],"FilterCondition":0,"Filters":[{"ColumnKey":"segment_1","Type":1,"Value":"Speciality - NP/PA","filterCriteria":1}],"LatestColumnsFirst":false,"RowFields":["y_label"],"ValueFields":["decimal"],"columnDefinitions":[{"IsDefaultAlias":true,"Name":"y_label","sortCriteria":{"CustomList":["Improves symptoms","Highest efficacy","Benefits patient outcomes beyond symptom relief","Best formulary / insurance coverage","Easiest to prescribe (less impact on practice resources)","Patient Support Programs","Co-pay assistance","Lowest treatment cost","Simplest dosing","Dosing flexibility","Patient adherence","Most dosing options","Most favorable safety profile","Successful personal experience with treatment","Treatment is preferred by patients"],"Level":1,"Order":0}},{"Format":"0%","IsDefaultAlias":true,"Name":"Oct'25"},{"Format":"0%","IsDefaultAlias":true,"Name":"Nov'25"},{"Format":"0%","IsDefaultAlias":true,"Name":"Dec'25"},{"Format":"0%","IsDefaultAlias":true,"Name":"Mar'26"},{"Format":"0%","IsDefaultAlias":true,"Name":"Feb'26"},{"Format":"0%","IsDefaultAlias":true,"Name":"Jan'26"}]}]]></Value>
      </Data>
    </Entry>
    <Entry xmlns="http://connector.synapse.com/" key="695b701d293ad3645d4cb877637788cc10de7c10d2e4f1d4a281cb31b03c68f7">
      <Data>
        <Value xmlns=""><![CDATA[{"AggregationType":0,"ColumnFields":["y_label"],"FilterCondition":0,"Filters":[],"LatestColumnsFirst":false,"RowFields":["time_period_name"],"ValueFields":["decimal"],"columnDefinitions":[{"IsDefaultAlias":true,"Name":"time_period_name","sortCriteria":{"CustomList":["Oct'25","Nov'25","Dec'25","Jan'26","Feb'26","Mar'26"],"Level":1,"Order":0}},{"Format":"0%","IsDefaultAlias":true,"Name":"AbbVie"},{"Format":"0%","IsDefaultAlias":true,"Name":"Digestive Care, Inc"},{"Format":"0%","IsDefaultAlias":true,"Name":"Nestlé Health Science"},{"Format":"0%","IsDefaultAlias":true,"Name":"Vivus"}]}]]></Value>
      </Data>
    </Entry>
    <Entry xmlns="http://connector.synapse.com/" key="c8b33c79da3c5d4691b01a49efbea6e6791f09ae5015efb3bac8d875017887c6">
      <Data>
        <Value xmlns=""><![CDATA[{"AggregationType":0,"ColumnFields":["y_label","alias_label"],"FilterCondition":0,"Filters":[],"LatestColumnsFirst":false,"RowFields":["time_period_name"],"ValueFields":["decimal"],"columnDefinitions":[{"IsDefaultAlias":true,"Name":"time_period_name","sortCriteria":{"CustomList":["Oct'25","Nov'25","Dec'25","Jan'26","Feb'26","Mar'26"],"Level":1,"Order":0}},{"Format":"0%","IsDefaultAlias":true,"Name":"Company is a leader in the exocrine pancreatic insufficiency (EPI) space. @:@ CREON"},{"Format":"0%","IsDefaultAlias":true,"Name":"Company is a leader in the exocrine pancreatic insufficiency (EPI) space. @:@ ZENPEP"},{"Format":"0%","IsDefaultAlias":true,"Name":"Company is focused on affordability and access (e.g., offers reimbursement support programs, product pricing reflects value, products are well-covered by insurers, etc.) @:@ CREON"},{"Format":"0%","IsDefaultAlias":true,"Name":"Company is focused on affordability and access (e.g., offers reimbursement support programs, product pricing reflects value, products are well-covered by insurers, etc.) @:@ ZENPEP"},{"Format":"0%","IsDefaultAlias":true,"Name":"Company is focused on exocrine pancreatic insufficiency (EPI) patients (e.g., offers patient-focused programs for financial support, treatment logistics, disease education, peer network building, etc.) @:@ CREON"},{"Format":"0%","IsDefaultAlias":true,"Name":"Company is focused on exocrine pancreatic insufficiency (EPI) patients (e.g., offers patient-focused programs for financial support, treatment logistics, disease education, peer network building, etc.) @:@ ZENPEP"},{"Format":"0%","IsDefaultAlias":true,"Name":"Company offers innovative and differentiating exocrine pancreatic insufficiency (EPI) therapies @:@ CREON"},{"Format":"0%","IsDefaultAlias":true,"Name":"Company offers innovative and differentiating exocrine pancreatic insufficiency (EPI) therapies @:@ ZENPEP"},{"Format":"0%","IsDefaultAlias":true,"Name":"Company reps provide better support than the average exocrine pancreatic insufficiency (EPI) rep @:@ CREON"},{"Format":"0%","IsDefaultAlias":true,"Name":"Company reps provide better support than the average exocrine pancreatic insufficiency (EPI) rep @:@ ZENPEP"},{"Format":"0%","IsDefaultAlias":true,"Name":"I consider the Company rep a \"Best in Class\" sales representative. @:@ CREON"},{"Format":"0%","IsDefaultAlias":true,"Name":"I consider the Company rep a \"Best in Class\" sales representative. @:@ ZENPEP"}]}]]></Value>
      </Data>
    </Entry>
    <Entry xmlns="http://connector.synapse.com/" key="631fa6c1d260acf5a464a2bea45efbf2cad4f732567a038d3f2e5f2b6a5a0e96">
      <Data>
        <Value xmlns=""><![CDATA[{"AggregationType":0,"ColumnFields":["time_period_name"],"FilterCondition":0,"Filters":[],"LatestColumnsFirst":false,"RowFields":["y_label"],"ValueFields":["decimal"],"columnDefinitions":[{"IsDefaultAlias":true,"Name":"y_label"},{"Format":"0%","IsDefaultAlias":true,"Name":"Mar'26","sortCriteria":{"CustomList":[],"Level":1,"Order":1}}]}]]></Value>
      </Data>
    </Entry>
    <Entry xmlns="http://connector.synapse.com/" key="f3f3d9c5aaa21a1c335b42a6b4b5ba1466d2b6e3fc54744aadc9db26127aa900">
      <Data>
        <Value xmlns=""><![CDATA[{"AggregationType":0,"ColumnFields":["y_label","alias_label"],"FilterCondition":0,"Filters":[{"ColumnKey":"y_label","Type":1,"Value":"Discussed Product and gave patient a sample and/or prescription for ZENPEP","filterCriteria":1}],"LatestColumnsFirst":false,"RowFields":["time_period_name"],"ValueFields":["share"],"columnDefinitions":[{"IsDefaultAlias":true,"Name":"time_period_name","sortCriteria":{"CustomList":["Oct'25","Nov'25","Dec'25","Jan'26","Feb'26","Mar'26"],"Level":1,"Order":0}},{"Format":"0%","IsDefaultAlias":true,"Name":"Discussed Product and gave patient a sample and/or prescription for ZENPEP @:@ CREON"},{"Format":"0%","IsDefaultAlias":true,"Name":"Discussed Product and gave patient a sample and/or prescription for ZENPEP @:@ PANCREAZE"},{"Format":"0%","IsDefaultAlias":true,"Name":"Discussed Product and gave patient a sample and/or prescription for ZENPEP @:@ PERTZYE"},{"Format":"0%","IsDefaultAlias":true,"Name":"Discussed Product and gave patient a sample and/or prescription for ZENPEP @:@ ZENPEP"}]}]]></Value>
      </Data>
    </Entry>
    <Entry xmlns="http://connector.synapse.com/" key="ba9c4e7f809b8a81752e320f84ef3a6dac60f3feb966b5bb2f10a1804b0803a9">
      <Data>
        <Value xmlns=""><![CDATA[{"AggregationType":0,"ColumnFields":["y_label","alias_label"],"FilterCondition":0,"Filters":[{"ColumnKey":"y_label","Type":1,"Value":"Discussed Product and decided to recommend another Rx PERT medication instead","filterCriteria":1}],"LatestColumnsFirst":false,"RowFields":["time_period_name"],"ValueFields":["share"],"columnDefinitions":[{"IsDefaultAlias":true,"Name":"time_period_name","sortCriteria":{"CustomList":["Oct'25","Nov'25","Dec'25","Jan'26","Feb'26","Mar'26"],"Level":1,"Order":0}},{"Format":"0%","IsDefaultAlias":true,"Name":"Discussed Product and decided to recommend another Rx PERT medication instead @:@ CREON"},{"Format":"0%","IsDefaultAlias":true,"Name":"Discussed Product and decided to recommend another Rx PERT medication instead @:@ PANCREAZE"},{"Format":"0%","IsDefaultAlias":true,"Name":"Discussed Product and decided to recommend another Rx PERT medication instead @:@ PERTZYE"},{"Format":"0%","IsDefaultAlias":true,"Name":"Discussed Product and decided to recommend another Rx PERT medication instead @:@ ZENPEP"}]}]]></Value>
      </Data>
    </Entry>
    <Entry xmlns="http://connector.synapse.com/" key="91de9bdd4f975df77f85f9767713e88862c5e0103820c3012722b93d9665c8a7">
      <Data>
        <Value xmlns=""><![CDATA[{"AggregationType":0,"ColumnFields":["y_label","alias_label"],"FilterCondition":0,"Filters":[{"ColumnKey":"y_label","Type":1,"Value":"Discussed Product and decided to recommend an OTC product or supplement instead","filterCriteria":1}],"LatestColumnsFirst":false,"RowFields":["time_period_name"],"ValueFields":["share"],"columnDefinitions":[{"IsDefaultAlias":true,"Name":"time_period_name","sortCriteria":{"CustomList":["Oct'25","Nov'25","Dec'25","Jan'26","Feb'26","Mar'26"],"Level":1,"Order":0}},{"Format":"0%","IsDefaultAlias":true,"Name":"Discussed Product and decided to recommend an OTC product or supplement instead @:@ CREON"},{"Format":"0%","IsDefaultAlias":true,"Name":"Discussed Product and decided to recommend an OTC product or supplement instead @:@ PANCREAZE"},{"Format":"0%","IsDefaultAlias":true,"Name":"Discussed Product and decided to recommend an OTC product or supplement instead @:@ PERTZYE"},{"Format":"0%","IsDefaultAlias":true,"Name":"Discussed Product and decided to recommend an OTC product or supplement instead @:@ ZENPEP"}]}]]></Value>
      </Data>
    </Entry>
    <Entry xmlns="http://connector.synapse.com/" key="59133c7e2512f5b43e7b970f9eb08f78915d275b54c78452bd0b5b9fda7c0714">
      <Data>
        <Value xmlns=""><![CDATA[{"AggregationType":0,"ColumnFields":["y_label"],"FilterCondition":0,"Filters":[],"LatestColumnsFirst":false,"RowFields":["time_period_name"],"ValueFields":["decimal"],"columnDefinitions":[{"IsDefaultAlias":true,"Name":"time_period_name","sortCriteria":{"CustomList":["Oct'25","Nov'25","Dec'25","Jan'26","Feb'26","Mar'26"],"Level":1,"Order":0}},{"Format":"0%","IsDefaultAlias":true,"Name":"CREON"},{"Format":"0%","IsDefaultAlias":true,"Name":"None of the above"},{"Format":"0%","IsDefaultAlias":true,"Name":"PANCREAZE"},{"Format":"0%","IsDefaultAlias":true,"Name":"PERTZYE"},{"Format":"0%","IsDefaultAlias":true,"Name":"ZENPEP"}]}]]></Value>
      </Data>
    </Entry>
    <Entry xmlns="http://connector.synapse.com/" key="291ae2c0a2a191f51c0f8a7c075025cd09e4e15bed162cc0e88af73c08a75908">
      <Data>
        <Value xmlns=""><![CDATA[{"AggregationType":0,"ColumnFields":["Codes","y_label","decimal"],"FilterCondition":0,"Filters":[{"ColumnKey":"alias_label","Type":1,"Value":"CREON_MR","filterCriteria":1},{"ColumnKey":"time_period_name","Type":1,"Value":"Mar'26","filterCriteria":1},{"ColumnKey":"y_label","Type":1,"Value":"None of the above","filterCriteria":2}],"LatestColumnsFirst":false,"RowFields":[],"ValueFields":[],"columnDefinitions":[{"IsDefaultAlias":true,"Name":"time_period_name"},{"IsDefaultAlias":true,"Name":"base"},{"IsDefaultAlias":true,"Name":"count"},{"IsDefaultAlias":true,"Name":"respondents"},{"IsDefaultAlias":true,"Name":"y_label"},{"Format":"0%","Formula":"","IsDefaultAlias":true,"Name":"decimal","sortCriteria":{"CustomList":[],"Level":1,"Order":1}},{"IsDefaultAlias":true,"Name":"Codes"},{"IsDefaultAlias":true,"Name":"alias_label"},{"IsDefaultAlias":true,"Name":"x_label"},{"IsDefaultAlias":true,"Name":"measure"},{"IsDefaultAlias":true,"Name":"me_score"}]}]]></Value>
      </Data>
    </Entry>
    <Entry xmlns="http://connector.synapse.com/" key="a2cfac0818d38aa26ed597e3356a950400b9d85dd0a41ffd77af072f4036fc5d">
      <Data>
        <Value xmlns=""><![CDATA[{"AggregationType":1,"ColumnFields":["time_period_name","alias_label"],"FilterCondition":0,"Filters":[],"LatestColumnsFirst":false,"RowFields":["Codes"],"ValueFields":["decimal"],"columnDefinitions":[{"IsDefaultAlias":true,"Name":"Codes"},{"Format":"0%","IsDefaultAlias":true,"Name":"Feb'26 @:@ CREON_ME"},{"Format":"0%","IsDefaultAlias":true,"Name":"Feb'26 @:@ CREON_MR"},{"Format":"0%","IsDefaultAlias":true,"Name":"Mar'26 @:@ CREON_ME"},{"Format":"0%","IsDefaultAlias":true,"Name":"Mar'26 @:@ CREON_MR","sortCriteria":{"CustomList":[],"Level":1,"Order":1}}]}]]></Value>
      </Data>
    </Entry>
    <Entry xmlns="http://connector.synapse.com/" key="fff8755cf0d113bb100cf7830cca956cf44a5d745a1b476bd3419e777300fbf8">
      <Data>
        <Value xmlns=""><![CDATA[{"AggregationType":1,"ColumnFields":["time_period_name","x_label","alias_label"],"FilterCondition":0,"Filters":[],"LatestColumnsFirst":false,"RowFields":["Codes"],"ValueFields":["decimal"],"columnDefinitions":[{"IsDefaultAlias":true,"Name":"Codes"},{"Format":"0%","IsDefaultAlias":true,"Name":"Feb'26 @:@ (blank) @:@ CREON_MR"},{"Format":"0%","IsDefaultAlias":true,"Name":"Feb'26 @:@ Believable @:@ CREON_ME"},{"Format":"0%","IsDefaultAlias":true,"Name":"Feb'26 @:@ Differentiated @:@ CREON_ME"},{"Format":"0%","IsDefaultAlias":true,"Name":"Feb'26 @:@ Motivating to Prescribe @:@ CREON_ME"},{"Format":"0%","IsDefaultAlias":true,"Name":"Mar'26 @:@ (blank) @:@ CREON_MR","sortCriteria":{"CustomList":[],"Level":1,"Order":1}},{"Format":"0%","IsDefaultAlias":true,"Name":"Mar'26 @:@ Believable @:@ CREON_ME"},{"Format":"0%","IsDefaultAlias":true,"Name":"Mar'26 @:@ Differentiated @:@ CREON_ME"},{"Format":"0%","IsDefaultAlias":true,"Name":"Mar'26 @:@ Motivating to Prescribe @:@ CREON_ME"}]}]]></Value>
      </Data>
    </Entry>
    <Entry xmlns="http://connector.synapse.com/" key="a590dc9687e92a047870df9499a2f9637b709c415d26b6336d456fd4f4a165f5">
      <Data>
        <Value xmlns=""><![CDATA[{"AggregationType":0,"ColumnFields":["Codes","y_label","decimal"],"FilterCondition":0,"Filters":[{"ColumnKey":"alias_label","Type":1,"Value":"ZENPEP MR","filterCriteria":1}],"LatestColumnsFirst":false,"RowFields":[],"ValueFields":[],"columnDefinitions":[{"IsDefaultAlias":true,"Name":"time_period_name"},{"IsDefaultAlias":true,"Name":"base"},{"IsDefaultAlias":true,"Name":"count"},{"IsDefaultAlias":true,"Name":"respondents"},{"IsDefaultAlias":true,"Name":"y_label"},{"Format":"0%","Formula":"","IsDefaultAlias":true,"Name":"decimal","sortCriteria":{"CustomList":[],"Level":1,"Order":1}},{"IsDefaultAlias":true,"Name":"Codes"},{"IsDefaultAlias":true,"Name":"Short text"},{"IsDefaultAlias":true,"Name":"alias_label"},{"IsDefaultAlias":true,"Name":"x_label"},{"IsDefaultAlias":true,"Name":"measure"},{"IsDefaultAlias":true,"Name":"me_score"}]}]]></Value>
      </Data>
    </Entry>
    <Entry xmlns="http://connector.synapse.com/" key="706a0252dcdf1e2cd0a56efa55a7a30ead2687243f81b0e27f48b814ba634585">
      <Data>
        <Value xmlns=""><![CDATA[{"AggregationType":1,"ColumnFields":["time_period_name","alias_label"],"FilterCondition":0,"Filters":[],"LatestColumnsFirst":false,"RowFields":["Codes"],"ValueFields":["decimal","me_score"],"columnDefinitions":[{"IsDefaultAlias":true,"Name":"Codes"},{"Format":"0%","IsDefaultAlias":true,"Name":"Feb'26 @:@ ZENPEP ME @:@ Average of decimal"},{"Format":"0%","IsDefaultAlias":true,"Name":"Feb'26 @:@ ZENPEP ME @:@ Average of me_score"},{"Format":"0%","IsDefaultAlias":true,"Name":"Feb'26 @:@ ZENPEP MR @:@ Average of decimal"},{"Format":"0%","IsDefaultAlias":true,"Name":"Feb'26 @:@ ZENPEP MR @:@ Average of me_score"},{"Format":"0%","IsDefaultAlias":true,"Name":"Mar'26 @:@ ZENPEP ME @:@ Average of decimal"},{"Format":"0%","IsDefaultAlias":true,"Name":"Mar'26 @:@ ZENPEP ME @:@ Average of me_score"},{"Format":"0%","IsDefaultAlias":true,"Name":"Mar'26 @:@ ZENPEP MR @:@ Average of decimal","sortCriteria":{"CustomList":[],"Level":1,"Order":1}},{"Format":"0%","IsDefaultAlias":true,"Name":"Mar'26 @:@ ZENPEP MR @:@ Average of me_score"}]}]]></Value>
      </Data>
    </Entry>
    <Entry xmlns="http://connector.synapse.com/" key="e6006aee5c634186739432d06ed09c9193527165752bb4345d9c099bcbe63a2b">
      <Data>
        <Value xmlns=""><![CDATA[{"AggregationType":1,"ColumnFields":["time_period_name","x_label","alias_label"],"FilterCondition":0,"Filters":[],"LatestColumnsFirst":false,"RowFields":["Codes"],"ValueFields":["decimal"],"columnDefinitions":[{"IsDefaultAlias":true,"Name":"Codes"},{"Format":"0%","IsDefaultAlias":true,"Name":"Feb'26 @:@ (blank) @:@ ZENPEP MR"},{"Format":"0%","IsDefaultAlias":true,"Name":"Feb'26 @:@ Believable @:@ ZENPEP ME"},{"Format":"0%","IsDefaultAlias":true,"Name":"Feb'26 @:@ Differentiated @:@ ZENPEP ME"},{"Format":"0%","IsDefaultAlias":true,"Name":"Feb'26 @:@ Motivating to Prescribe @:@ ZENPEP ME"},{"Format":"0%","IsDefaultAlias":true,"Name":"Mar'26 @:@ (blank) @:@ ZENPEP MR","sortCriteria":{"CustomList":[],"Level":1,"Order":1}},{"Format":"0%","IsDefaultAlias":true,"Name":"Mar'26 @:@ Believable @:@ ZENPEP ME"},{"Format":"0%","IsDefaultAlias":true,"Name":"Mar'26 @:@ Differentiated @:@ ZENPEP ME"},{"Format":"0%","IsDefaultAlias":true,"Name":"Mar'26 @:@ Motivating to Prescribe @:@ ZENPEP ME"}]}]]></Value>
      </Data>
    </Entry>
    <Entry xmlns="http://connector.synapse.com/" key="da7823009ad18176a4e72ac9bae5fa58ed67bc5ae8661deaee0acb714beb6fd4">
      <Data>
        <Value xmlns=""><![CDATA[{"AggregationType":0,"ColumnFields":["time_period_name"],"FilterCondition":0,"Filters":[],"LatestColumnsFirst":false,"RowFields":["y_code","y_label"],"ValueFields":["decimal"],"columnDefinitions":[{"IsDefaultAlias":true,"Name":"y_code"},{"IsDefaultAlias":true,"Name":"y_label"},{"Format":"0%","IsDefaultAlias":true,"Name":"Oct'25"},{"Format":"0%","IsDefaultAlias":true,"Name":"Nov'25"},{"Format":"0%","IsDefaultAlias":true,"Name":"Dec'25"},{"Format":"0%","IsDefaultAlias":true,"Name":"Jan'26"},{"Format":"0%","IsDefaultAlias":true,"Name":"Feb'26"},{"Format":"0%","IsDefaultAlias":true,"Name":"Mar'26","sortCriteria":{"CustomList":[],"Level":1,"Order":1}}]}]]></Value>
      </Data>
    </Entry>
    <Entry xmlns="http://connector.synapse.com/" key="742ba49fbe8675741860167bb688efae8a320ccefa88075d7619a1ccdd4fb4ae">
      <Data>
        <Value xmlns=""><![CDATA[{"AggregationType":1,"ColumnFields":["time_period_name"],"FilterCondition":0,"Filters":[],"LatestColumnsFirst":false,"RowFields":["y_code","y_label"],"ValueFields":["me_score"],"columnDefinitions":[{"IsDefaultAlias":true,"Name":"y_code"},{"IsDefaultAlias":true,"Name":"y_label"},{"Format":"0%","IsDefaultAlias":true,"Name":"Oct'25"},{"Format":"0%","IsDefaultAlias":true,"Name":"Nov'25"},{"Format":"0%","IsDefaultAlias":true,"Name":"Dec'25"},{"Format":"0%","IsDefaultAlias":true,"Name":"Jan'26"},{"Format":"0%","IsDefaultAlias":true,"Name":"Feb'26"},{"Format":"0%","IsDefaultAlias":true,"Name":"Mar'26","sortCriteria":{"CustomList":[],"Level":1,"Order":1}}]}]]></Value>
      </Data>
    </Entry>
  </DataFrameConfigKey>
  <GlobalConfig>
    <Value xmlns=""><![CDATA[{"ProjectId":523,"SurveyId":null,"ReportingPlanId":1143,"TimePeriodType":1,"StaticTimePeriodIds":null,"DynamicTimePeriod":{"LatestNDeliverables":1,"IncludeLiveWave":false},"RollUpDeliverables":false,"SegmentIds":[],"NestSegments":false}]]></Value>
  </GlobalConfig>
</AddinDat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0C5D39138238E3428482F9AC847CC3B1" ma:contentTypeVersion="26" ma:contentTypeDescription="Create a new document." ma:contentTypeScope="" ma:versionID="dd5192036d17513511aa768119511b92">
  <xsd:schema xmlns:xsd="http://www.w3.org/2001/XMLSchema" xmlns:xs="http://www.w3.org/2001/XMLSchema" xmlns:p="http://schemas.microsoft.com/office/2006/metadata/properties" xmlns:ns1="http://schemas.microsoft.com/sharepoint/v3" xmlns:ns2="457c7519-65f4-4311-98ff-710488d5099d" xmlns:ns3="4c31d0a7-7d65-4455-b0b7-66f65b242358" targetNamespace="http://schemas.microsoft.com/office/2006/metadata/properties" ma:root="true" ma:fieldsID="7f3f13722d454f803d093c8998983f6c" ns1:_="" ns2:_="" ns3:_="">
    <xsd:import namespace="http://schemas.microsoft.com/sharepoint/v3"/>
    <xsd:import namespace="457c7519-65f4-4311-98ff-710488d5099d"/>
    <xsd:import namespace="4c31d0a7-7d65-4455-b0b7-66f65b242358"/>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ServiceGenerationTime" minOccurs="0"/>
                <xsd:element ref="ns2:MediaServiceEventHashCode" minOccurs="0"/>
                <xsd:element ref="ns2:MediaLengthInSeconds" minOccurs="0"/>
                <xsd:element ref="ns2:MediaServiceDateTaken" minOccurs="0"/>
                <xsd:element ref="ns2:lcf76f155ced4ddcb4097134ff3c332f" minOccurs="0"/>
                <xsd:element ref="ns3:TaxCatchAll" minOccurs="0"/>
                <xsd:element ref="ns3:SharedWithUsers" minOccurs="0"/>
                <xsd:element ref="ns3:SharedWithDetails" minOccurs="0"/>
                <xsd:element ref="ns2:MediaServiceOCR" minOccurs="0"/>
                <xsd:element ref="ns2:Link" minOccurs="0"/>
                <xsd:element ref="ns2:MediaServiceSearchProperties" minOccurs="0"/>
                <xsd:element ref="ns2:MediaServiceLocation" minOccurs="0"/>
                <xsd:element ref="ns2:MediaServiceBillingMetadata" minOccurs="0"/>
                <xsd:element ref="ns1:AverageRating" minOccurs="0"/>
                <xsd:element ref="ns1:RatingCount" minOccurs="0"/>
                <xsd:element ref="ns1:RatedBy" minOccurs="0"/>
                <xsd:element ref="ns1:Ratings" minOccurs="0"/>
                <xsd:element ref="ns1:LikesCount" minOccurs="0"/>
                <xsd:element ref="ns1:LikedB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AverageRating" ma:index="25" nillable="true" ma:displayName="Rating (0-5)" ma:decimals="2" ma:description="Average value of all the ratings that have been submitted" ma:internalName="AverageRating" ma:readOnly="true">
      <xsd:simpleType>
        <xsd:restriction base="dms:Number"/>
      </xsd:simpleType>
    </xsd:element>
    <xsd:element name="RatingCount" ma:index="26" nillable="true" ma:displayName="Number of Ratings" ma:decimals="0" ma:description="Number of ratings submitted" ma:internalName="RatingCount" ma:readOnly="true">
      <xsd:simpleType>
        <xsd:restriction base="dms:Number"/>
      </xsd:simpleType>
    </xsd:element>
    <xsd:element name="RatedBy" ma:index="27" nillable="true" ma:displayName="Rated By" ma:description="Users rated the item." ma:hidden="true" ma:list="UserInfo" ma:internalName="RatedBy">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Ratings" ma:index="28" nillable="true" ma:displayName="User ratings" ma:description="User ratings for the item" ma:hidden="true" ma:internalName="Ratings">
      <xsd:simpleType>
        <xsd:restriction base="dms:Note"/>
      </xsd:simpleType>
    </xsd:element>
    <xsd:element name="LikesCount" ma:index="29" nillable="true" ma:displayName="Number of Likes" ma:internalName="LikesCount">
      <xsd:simpleType>
        <xsd:restriction base="dms:Unknown"/>
      </xsd:simpleType>
    </xsd:element>
    <xsd:element name="LikedBy" ma:index="30" nillable="true" ma:displayName="Liked By" ma:hidden="true" ma:list="UserInfo" ma:internalName="LikedBy">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457c7519-65f4-4311-98ff-710488d5099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LengthInSeconds" ma:index="13" nillable="true" ma:displayName="MediaLengthInSeconds" ma:hidden="true" ma:internalName="MediaLengthInSeconds" ma:readOnly="true">
      <xsd:simpleType>
        <xsd:restriction base="dms:Unknown"/>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lcf76f155ced4ddcb4097134ff3c332f" ma:index="16" nillable="true" ma:taxonomy="true" ma:internalName="lcf76f155ced4ddcb4097134ff3c332f" ma:taxonomyFieldName="MediaServiceImageTags" ma:displayName="Image Tags" ma:readOnly="false" ma:fieldId="{5cf76f15-5ced-4ddc-b409-7134ff3c332f}" ma:taxonomyMulti="true" ma:sspId="cfdb820a-fbe5-49ec-8492-f23f1cc1e7d9" ma:termSetId="09814cd3-568e-fe90-9814-8d621ff8fb84" ma:anchorId="fba54fb3-c3e1-fe81-a776-ca4b69148c4d" ma:open="true" ma:isKeyword="false">
      <xsd:complexType>
        <xsd:sequence>
          <xsd:element ref="pc:Terms" minOccurs="0" maxOccurs="1"/>
        </xsd:sequence>
      </xsd:complexType>
    </xsd:element>
    <xsd:element name="MediaServiceOCR" ma:index="20" nillable="true" ma:displayName="Extracted Text" ma:internalName="MediaServiceOCR" ma:readOnly="true">
      <xsd:simpleType>
        <xsd:restriction base="dms:Note">
          <xsd:maxLength value="255"/>
        </xsd:restriction>
      </xsd:simpleType>
    </xsd:element>
    <xsd:element name="Link" ma:index="21" nillable="true" ma:displayName="Link" ma:format="Hyperlink" ma:internalName="Link">
      <xsd:complexType>
        <xsd:complexContent>
          <xsd:extension base="dms:URL">
            <xsd:sequence>
              <xsd:element name="Url" type="dms:ValidUrl" minOccurs="0" nillable="true"/>
              <xsd:element name="Description" type="xsd:string" nillable="true"/>
            </xsd:sequence>
          </xsd:extension>
        </xsd:complexContent>
      </xsd:complex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Location" ma:index="23" nillable="true" ma:displayName="Location" ma:description="" ma:indexed="true" ma:internalName="MediaServiceLocation" ma:readOnly="true">
      <xsd:simpleType>
        <xsd:restriction base="dms:Text"/>
      </xsd:simpleType>
    </xsd:element>
    <xsd:element name="MediaServiceBillingMetadata" ma:index="24"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4c31d0a7-7d65-4455-b0b7-66f65b242358" elementFormDefault="qualified">
    <xsd:import namespace="http://schemas.microsoft.com/office/2006/documentManagement/types"/>
    <xsd:import namespace="http://schemas.microsoft.com/office/infopath/2007/PartnerControls"/>
    <xsd:element name="TaxCatchAll" ma:index="17" nillable="true" ma:displayName="Taxonomy Catch All Column" ma:hidden="true" ma:list="{74b33b4c-756c-484c-a535-e67165055b61}" ma:internalName="TaxCatchAll" ma:showField="CatchAllData" ma:web="4c31d0a7-7d65-4455-b0b7-66f65b242358">
      <xsd:complexType>
        <xsd:complexContent>
          <xsd:extension base="dms:MultiChoiceLookup">
            <xsd:sequence>
              <xsd:element name="Value" type="dms:Lookup" maxOccurs="unbounded" minOccurs="0" nillable="true"/>
            </xsd:sequence>
          </xsd:extension>
        </xsd:complexContent>
      </xsd:complexType>
    </xsd:element>
    <xsd:element name="SharedWithUsers" ma:index="1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9"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p:properties xmlns:p="http://schemas.microsoft.com/office/2006/metadata/properties" xmlns:xsi="http://www.w3.org/2001/XMLSchema-instance" xmlns:pc="http://schemas.microsoft.com/office/infopath/2007/PartnerControls">
  <documentManagement>
    <lcf76f155ced4ddcb4097134ff3c332f xmlns="457c7519-65f4-4311-98ff-710488d5099d">
      <Terms xmlns="http://schemas.microsoft.com/office/infopath/2007/PartnerControls"/>
    </lcf76f155ced4ddcb4097134ff3c332f>
    <TaxCatchAll xmlns="4c31d0a7-7d65-4455-b0b7-66f65b242358" xsi:nil="true"/>
    <Link xmlns="457c7519-65f4-4311-98ff-710488d5099d">
      <Url xsi:nil="true"/>
      <Description xsi:nil="true"/>
    </Link>
    <LikesCount xmlns="http://schemas.microsoft.com/sharepoint/v3" xsi:nil="true"/>
    <Ratings xmlns="http://schemas.microsoft.com/sharepoint/v3" xsi:nil="true"/>
    <LikedBy xmlns="http://schemas.microsoft.com/sharepoint/v3">
      <UserInfo>
        <DisplayName/>
        <AccountId xsi:nil="true"/>
        <AccountType/>
      </UserInfo>
    </LikedBy>
    <RatedBy xmlns="http://schemas.microsoft.com/sharepoint/v3">
      <UserInfo>
        <DisplayName/>
        <AccountId xsi:nil="true"/>
        <AccountType/>
      </UserInfo>
    </RatedBy>
  </documentManagement>
</p:properties>
</file>

<file path=customXml/itemProps1.xml><?xml version="1.0" encoding="utf-8"?>
<ds:datastoreItem xmlns:ds="http://schemas.openxmlformats.org/officeDocument/2006/customXml" ds:itemID="{1A0A8F5F-425A-4A96-8349-354A6CD2FF64}">
  <ds:schemaRefs>
    <ds:schemaRef ds:uri=""/>
    <ds:schemaRef ds:uri="http://connector.synapse.com/"/>
  </ds:schemaRefs>
</ds:datastoreItem>
</file>

<file path=customXml/itemProps2.xml><?xml version="1.0" encoding="utf-8"?>
<ds:datastoreItem xmlns:ds="http://schemas.openxmlformats.org/officeDocument/2006/customXml" ds:itemID="{A678FFBE-3861-4EBD-B0E3-38F06DC22E7F}">
  <ds:schemaRefs>
    <ds:schemaRef ds:uri="http://schemas.microsoft.com/sharepoint/v3/contenttype/forms"/>
  </ds:schemaRefs>
</ds:datastoreItem>
</file>

<file path=customXml/itemProps3.xml><?xml version="1.0" encoding="utf-8"?>
<ds:datastoreItem xmlns:ds="http://schemas.openxmlformats.org/officeDocument/2006/customXml" ds:itemID="{C96DDFF8-EFBA-4792-B288-D4A1C7B44329}">
  <ds:schemaRefs>
    <ds:schemaRef ds:uri="457c7519-65f4-4311-98ff-710488d5099d"/>
    <ds:schemaRef ds:uri="4c31d0a7-7d65-4455-b0b7-66f65b242358"/>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4.xml><?xml version="1.0" encoding="utf-8"?>
<ds:datastoreItem xmlns:ds="http://schemas.openxmlformats.org/officeDocument/2006/customXml" ds:itemID="{4FB6FA66-72A6-47DF-822B-FD32B17C85E0}">
  <ds:schemaRefs>
    <ds:schemaRef ds:uri="457c7519-65f4-4311-98ff-710488d5099d"/>
    <ds:schemaRef ds:uri="4c31d0a7-7d65-4455-b0b7-66f65b242358"/>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microsoft.com/sharepoint/v3"/>
    <ds:schemaRef ds:uri="http://schemas.openxmlformats.org/package/2006/metadata/core-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Application>Microsoft Office PowerPoint</Application>
  <PresentationFormat>On-screen Show (4:3)</PresentationFormat>
  <Slides>91</Slides>
  <Notes>80</Notes>
  <HiddenSlides>7</HiddenSlides>
  <ScaleCrop>false</ScaleCrop>
  <HeadingPairs>
    <vt:vector size="4" baseType="variant">
      <vt:variant>
        <vt:lpstr>Theme</vt:lpstr>
      </vt:variant>
      <vt:variant>
        <vt:i4>1</vt:i4>
      </vt:variant>
      <vt:variant>
        <vt:lpstr>Slide Titles</vt:lpstr>
      </vt:variant>
      <vt:variant>
        <vt:i4>91</vt:i4>
      </vt:variant>
    </vt:vector>
  </HeadingPairs>
  <TitlesOfParts>
    <vt:vector size="92" baseType="lpstr">
      <vt:lpstr>Apex</vt:lpstr>
      <vt:lpstr>CREON Share of Voice Study  Wave 33 [Jan’26 – Mar’26]</vt:lpstr>
      <vt:lpstr>Key Objectives and Study Design</vt:lpstr>
      <vt:lpstr>Key Objectives and Study Design </vt:lpstr>
      <vt:lpstr>PowerPoint Presentation</vt:lpstr>
      <vt:lpstr>Executive Summary</vt:lpstr>
      <vt:lpstr>KBQs and Key Findings (1/2)</vt:lpstr>
      <vt:lpstr>KBQs and Key Findings (2/2)</vt:lpstr>
      <vt:lpstr>Product Performance </vt:lpstr>
      <vt:lpstr>PowerPoint Presentation</vt:lpstr>
      <vt:lpstr>PowerPoint Presentation</vt:lpstr>
      <vt:lpstr>PowerPoint Presentation</vt:lpstr>
      <vt:lpstr>PowerPoint Presentation</vt:lpstr>
      <vt:lpstr>PowerPoint Presentation</vt:lpstr>
      <vt:lpstr>Salesforce Activity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Message Delivery and Effectiveness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Rep Performance</vt:lpstr>
      <vt:lpstr>PowerPoint Presentation</vt:lpstr>
      <vt:lpstr>PowerPoint Presentation</vt:lpstr>
      <vt:lpstr>PowerPoint Presentation</vt:lpstr>
      <vt:lpstr>PowerPoint Presentation</vt:lpstr>
      <vt:lpstr>PowerPoint Presentation</vt:lpstr>
      <vt:lpstr>PowerPoint Presentation</vt:lpstr>
      <vt:lpstr>What are other ways to understand these metrics? OSQ Impact Analysis: This analysis identifies the key drivers of high Overall sales Call Quality (OSQ) ratings for CREON, ranking all available tagged PET metrics by their impact on achieving high ratings (6,7).</vt:lpstr>
      <vt:lpstr>Manufacturer Perceptions</vt:lpstr>
      <vt:lpstr>PowerPoint Presentation</vt:lpstr>
      <vt:lpstr>PowerPoint Presentation</vt:lpstr>
      <vt:lpstr>EPI Patient Share &amp; Dynamics</vt:lpstr>
      <vt:lpstr>PowerPoint Presentation</vt:lpstr>
      <vt:lpstr>PowerPoint Presentation</vt:lpstr>
      <vt:lpstr>PowerPoint Presentation</vt:lpstr>
      <vt:lpstr>PowerPoint Presentation</vt:lpstr>
      <vt:lpstr>PowerPoint Presentation</vt:lpstr>
      <vt:lpstr>PowerPoint Presentation</vt:lpstr>
      <vt:lpstr>Appendix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Messaging Summary (Nov’25 – Dec’25)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zoomrx</dc:creator>
  <cp:revision>2</cp:revision>
  <cp:lastPrinted>2024-02-29T12:32:58Z</cp:lastPrinted>
  <dcterms:modified xsi:type="dcterms:W3CDTF">2026-04-21T16:40:47Z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0x0101000C5D39138238E3428482F9AC847CC3B1</vt:lpwstr>
  </property>
  <property fmtid="{D5CDD505-2E9C-101B-9397-08002B2CF9AE}" pid="3" name="MediaServiceImageTags">
    <vt:lpwstr/>
  </property>
</Properties>
</file>